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Default Extension="jpg" ContentType="image/jpeg"/>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19.xml" ContentType="application/vnd.openxmlformats-officedocument.presentationml.notesSlide+xml"/>
  <Override PartName="/ppt/notesSlides/notesSlide22.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3"/>
  </p:sldMasterIdLst>
  <p:notesMasterIdLst>
    <p:notesMasterId r:id="rId4"/>
  </p:notesMasterIdLst>
  <p:sldIdLst>
    <p:sldId id="256" r:id="rId5"/>
    <p:sldId id="257" r:id="rId6"/>
    <p:sldId id="272" r:id="rId29"/>
    <p:sldId id="258" r:id="rId7"/>
    <p:sldId id="259" r:id="rId8"/>
    <p:sldId id="273" r:id="rId30"/>
    <p:sldId id="275" r:id="rId32"/>
    <p:sldId id="260" r:id="rId9"/>
    <p:sldId id="261" r:id="rId10"/>
    <p:sldId id="262" r:id="rId11"/>
    <p:sldId id="263" r:id="rId12"/>
    <p:sldId id="264" r:id="rId13"/>
    <p:sldId id="265" r:id="rId14"/>
    <p:sldId id="266" r:id="rId15"/>
    <p:sldId id="267" r:id="rId16"/>
    <p:sldId id="268" r:id="rId17"/>
    <p:sldId id="269" r:id="rId18"/>
    <p:sldId id="270" r:id="rId19"/>
    <p:sldId id="276" r:id="rId33"/>
    <p:sldId id="274" r:id="rId31"/>
    <p:sldId id="277" r:id="rId34"/>
    <p:sldId id="271" r:id="rId20"/>
  </p:sldIdLst>
  <p:sldSz cy="6858000" cx="12192000"/>
  <p:notesSz cx="6858000" cy="12192000"/>
  <p:embeddedFontLst>
    <p:embeddedFont>
      <p:font typeface="Playfair Display"/>
      <p:regular r:id="rId21"/>
      <p:bold r:id="rId22"/>
      <p:italic r:id="rId23"/>
      <p:boldItalic r:id="rId24"/>
    </p:embeddedFont>
    <p:embeddedFont>
      <p:font typeface="Inter"/>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font" Target="fonts/PlayfairDisplay-bold.fntdata"/><Relationship Id="rId21" Type="http://schemas.openxmlformats.org/officeDocument/2006/relationships/font" Target="fonts/PlayfairDisplay-regular.fntdata"/><Relationship Id="rId24" Type="http://schemas.openxmlformats.org/officeDocument/2006/relationships/font" Target="fonts/PlayfairDisplay-boldItalic.fntdata"/><Relationship Id="rId23" Type="http://schemas.openxmlformats.org/officeDocument/2006/relationships/font" Target="fonts/PlayfairDisplay-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Inter-bold.fntdata"/><Relationship Id="rId25" Type="http://schemas.openxmlformats.org/officeDocument/2006/relationships/font" Target="fonts/Inter-regular.fntdata"/><Relationship Id="rId28" Type="http://schemas.openxmlformats.org/officeDocument/2006/relationships/font" Target="fonts/Inter-boldItalic.fntdata"/><Relationship Id="rId27" Type="http://schemas.openxmlformats.org/officeDocument/2006/relationships/font" Target="fonts/Inter-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  <Relationship Id="rId29" Type="http://schemas.openxmlformats.org/officeDocument/2006/relationships/slide" Target="slides/slide17.xml"/>
  <Relationship Id="rId30" Type="http://schemas.openxmlformats.org/officeDocument/2006/relationships/slide" Target="slides/slide18.xml"/>
  <Relationship Id="rId31" Type="http://schemas.openxmlformats.org/officeDocument/2006/relationships/slide" Target="slides/slide19.xml"/>
  <Relationship Id="rId32" Type="http://schemas.openxmlformats.org/officeDocument/2006/relationships/slide" Target="slides/slide20.xml"/>
  <Relationship Id="rId33" Type="http://schemas.openxmlformats.org/officeDocument/2006/relationships/slide" Target="slides/slide21.xml"/>
  <Relationship Id="rId34" Type="http://schemas.openxmlformats.org/officeDocument/2006/relationships/slide" Target="slides/slide22.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COLD OPEN — let the room settle on the quote before you speak. Opening line: “She ran the best closer in New York City. Today she comes to work for you.” Housekeeping in one breath: laptops out, Claude desktop installed, workspace invite accepted — anyone missing a piece, flag me now, we fix it while we talk. Set the promise: by 4 PM every one of you owns a working Donna — not a demo, yours, on your own inbox.  WIFI lines on this slide are placeholders: drop in the venue network and password before presenting.</a:t>
            </a:r>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 name="Shape 18"/>
        <p:cNvGrpSpPr/>
        <p:nvPr/>
      </p:nvGrpSpPr>
      <p:grpSpPr>
        <a:xfrm>
          <a:off x="0" y="0"/>
          <a:ext cx="0" cy="0"/>
          <a:chOff x="0" y="0"/>
          <a:chExt cx="0" cy="0"/>
        </a:xfrm>
      </p:grpSpPr>
      <p:sp>
        <p:nvSpPr>
          <p:cNvPr id="19" name="Google Shape;19;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 name="Google Shape;20;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COLD OPEN — let the room settle on the quote before you speak. Opening line: “She ran the best closer in New York City. Today she comes to work for you.” Housekeeping in one breath: laptops out, Claude desktop installed, workspace invite accepted — anyone missing a piece, flag me now, we fix it while we talk. Set the promise: by 4 PM every one of you owns a working Donna — not a demo, yours, on your own inbox.</a:t>
            </a:r>
            <a:endParaRPr/>
          </a:p>
        </p:txBody>
      </p:sp>
      <p:sp>
        <p:nvSpPr>
          <p:cNvPr id="21" name="Google Shape;21;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8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 name="Google Shape;31;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Ask for hands: who actually cleared their inbox this morning? (Nobody.) Who checked email during this slide? (Laughter — someone will have.) The number isn’t the point — the point is that every one of those 300 asks a little tax on attention, and attention is the only thing an executive can’t delegate. Until today.</a:t>
            </a:r>
            <a:endParaRPr/>
          </a:p>
        </p:txBody>
      </p:sp>
      <p:sp>
        <p:nvSpPr>
          <p:cNvPr id="32" name="Google Shape;32;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 name="Shape 38"/>
        <p:cNvGrpSpPr/>
        <p:nvPr/>
      </p:nvGrpSpPr>
      <p:grpSpPr>
        <a:xfrm>
          <a:off x="0" y="0"/>
          <a:ext cx="0" cy="0"/>
          <a:chOff x="0" y="0"/>
          <a:chExt cx="0" cy="0"/>
        </a:xfrm>
      </p:grpSpPr>
      <p:sp>
        <p:nvSpPr>
          <p:cNvPr id="39" name="Google Shape;39;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 name="Google Shape;40;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The want-ad quote is the thesis: the job you’re hiring for isn’t phones and dry cleaning — filters and rules and a tidier inbox are the want-ad version. You’re hiring judgment: something that knows who matters, drafts in your voice, and briefs you once a day. Land the fiction-to-real line and pause — that’s the hook for the next 90 minutes.</a:t>
            </a:r>
            <a:endParaRPr/>
          </a:p>
        </p:txBody>
      </p:sp>
      <p:sp>
        <p:nvSpPr>
          <p:cNvPr id="41" name="Google Shape;41;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 name="Google Shape;50;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Three case files now, one per rung of the ladder they just saw. Walk the arc on the eyebrow out loud: big picture until 2:50, build until 3:30, discussion until 4:00, done at 4:00 with a working Donna. Point at the site (the link from the prep email): same numbers, copy buttons everywhere. Nobody types anything longer than one sentence today.</a:t>
            </a:r>
            <a:endParaRPr/>
          </a:p>
        </p:txBody>
      </p:sp>
      <p:sp>
        <p:nvSpPr>
          <p:cNvPr id="51" name="Google Shape;51;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f5e3eb88d5_1_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 name="Google Shape;78;g3f5e3eb88d5_1_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Ask for hands: who actually cleared their inbox this morning? (Nobody.) Who checked email during this slide? (Laughter — someone will have.) The number isn’t the point — the point is that every one of those 300 asks a little tax on attention, and attention is the only thing an executive can’t delegate. Until today.</a:t>
            </a:r>
            <a:endParaRPr/>
          </a:p>
        </p:txBody>
      </p:sp>
      <p:sp>
        <p:nvSpPr>
          <p:cNvPr id="79" name="Google Shape;79;g3f5e3eb88d5_1_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 name="Google Shape;87;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Project FIRST, then connectors: the desk before the mail. Walk the room during connections; the classic failure is signing into the personal Google account instead of work. Everyone connects Gmail, Calendar, AND Drive now so nothing interrupts the finale. If a connector reads Connected but Claude cannot see mail: quit Claude fully and reopen it. The Setup prompt on this slide is the self-serve fallback for anyone stuck. STOP SIGN at the end of this case file: hold until every laptop passes the checkpoint.</a:t>
            </a:r>
            <a:endParaRPr/>
          </a:p>
        </p:txBody>
      </p:sp>
      <p:sp>
        <p:nvSpPr>
          <p:cNvPr id="88" name="Google Shape;88;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9" name="Google Shape;99;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Walk the room during connections — the classic failure is signing into the personal Google account instead of work. Connectors are pre-enabled workspace-wide, so all they click is Connect. Gmail people: also connect Google Calendar and Drive now (Step 4 needs both). Outlook people: Microsoft 365 covers mail, calendar, OneDrive in one go. Then prompt 1. Give it a beat — the room goes quiet when Claude answers from their real inbox.</a:t>
            </a:r>
            <a:endParaRPr/>
          </a:p>
        </p:txBody>
      </p:sp>
      <p:sp>
        <p:nvSpPr>
          <p:cNvPr id="100" name="Google Shape;100;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8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3" name="Google Shape;113;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Run it live on your own screen first, then hold until every laptop shows five lines and a draft. Nobody moves on until the checkpoint. If a connector is stuck: disconnect, reconnect, confirm the account. If the network is stuck: switch to the backup screenshots (slide 13) and keep the energy up.</a:t>
            </a:r>
            <a:endParaRPr/>
          </a:p>
        </p:txBody>
      </p:sp>
      <p:sp>
        <p:nvSpPr>
          <p:cNvPr id="114" name="Google Shape;114;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3" name="Google Shape;123;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Four blanks now, not three: VIPs, the number-one deal, DELEGATES with their lanes, and voice. The delegates blank is the one the pilot group left empty, so call it out: yellow only works if Donna knows who owns what. Give them 6 to 8 quiet minutes to fill blanks, circulate, then everyone runs: Triage my inbox. Then the green light: yes, draft the reds and the yellow handoffs.</a:t>
            </a:r>
            <a:endParaRPr/>
          </a:p>
        </p:txBody>
      </p:sp>
      <p:sp>
        <p:nvSpPr>
          <p:cNvPr id="124" name="Google Shape;124;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0" name="Google Shape;140;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Everyone runs the one-sentence ritual inside the project. The payoff to name out loud: you will never re-explain your rules again — that’s the difference between a chat and a project. Common wobble: someone triages from OUTSIDE the project and gets generic results — make sure they’re inside Inbox Triage.</a:t>
            </a:r>
            <a:endParaRPr/>
          </a:p>
        </p:txBody>
      </p:sp>
      <p:sp>
        <p:nvSpPr>
          <p:cNvPr id="141" name="Google Shape;141;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3" name="Google Shape;153;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The step the pilot missed lives here, so go slow and demo on screen. Beat one: she writes SKILL.md from the project. Beat two: DOWNLOAD it (the file card has a download arrow). Beat three: open Cowork, then Skills, then Add skill, and UPLOAD the file. Say it plainly: a skill written in chat does not exist in Cowork until you upload it. Wait until every screen shows donna-replies in the skills list before anyone touches Scheduled tasks.</a:t>
            </a:r>
            <a:endParaRPr/>
          </a:p>
        </p:txBody>
      </p:sp>
      <p:sp>
        <p:nvSpPr>
          <p:cNvPr id="154" name="Google Shape;154;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5" name="Google Shape;165;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Slow down here — this is the trust slide, and it answers the fear nobody has said out loud yet: “what if it emails a client?” It can’t. Drafting and sending are different permissions, and this skill only ever drafts. You are the send button. Say it twice, verbatim: she never sends. Ever.</a:t>
            </a:r>
            <a:endParaRPr/>
          </a:p>
        </p:txBody>
      </p:sp>
      <p:sp>
        <p:nvSpPr>
          <p:cNvPr id="166" name="Google Shape;166;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3" name="Google Shape;173;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Scheduled tasks moved areas in a recent update; if someone cannot find it, use the site's trick: ask Claude where. Grab the prompt from the site, not from memory. Gmail attaches a true EMAIL reminder; Outlook gets a calendar notification instead, with upgrades in the site's small print. The last line of the prompt is the finale: a dry run, right now.</a:t>
            </a:r>
            <a:endParaRPr/>
          </a:p>
        </p:txBody>
      </p:sp>
      <p:sp>
        <p:nvSpPr>
          <p:cNvPr id="174" name="Google Shape;174;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6" name="Google Shape;186;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The closing moment of the build: everyone watches the dry run land. Doc in the Donna Briefings folder, event on today's calendar, drafts waiting. Hold the silence while laptops ping. Then the reframe: that 4:54 notification is the only email they now need. Email comes to YOU now, once a day, pre-digested.</a:t>
            </a:r>
            <a:endParaRPr/>
          </a:p>
        </p:txBody>
      </p:sp>
      <p:sp>
        <p:nvSpPr>
          <p:cNvPr id="187" name="Google Shape;187;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5" name="Google Shape;195;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Send-off: the site stays up — every prompt, every fallback, the skill itself. Scan the code, bookmark it, forward it to the colleague you know needs it. Tomorrow at 4:54 the briefing arrives on its own for the first time — when it does, that’s Donna saying she’s got it from here. Questions any time: denise@denisegosnell.ai. You’re weird. We’ll be friends.</a:t>
            </a:r>
            <a:endParaRPr/>
          </a:p>
        </p:txBody>
      </p:sp>
      <p:sp>
        <p:nvSpPr>
          <p:cNvPr id="196" name="Google Shape;196;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5" name="Google Shape;165;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Thirty seconds, not a resume. Two beats: you have run data systems at nine-figure scale, and you build with these exact tools every day (Donna is your actual assistant, not a demo). Then the two-hats line: they will also see you wearing the cooperative-data-system hat this offsite; today is the AI-workflows hat.</a:t>
            </a:r>
            <a:endParaRPr/>
          </a:p>
        </p:txBody>
      </p:sp>
      <p:sp>
        <p:nvSpPr>
          <p:cNvPr id="166" name="Google Shape;166;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5" name="Google Shape;165;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This is the context slide the pilot was missing. The ladder is the mental model for the whole afternoon: say it, write it down, make it portable, put it on the clock. Everything they build today maps onto a rung, and you will name the rung as you enter each case file. Land the bottom line: this is what automating a workflow with natural language means.</a:t>
            </a:r>
            <a:endParaRPr/>
          </a:p>
        </p:txBody>
      </p:sp>
      <p:sp>
        <p:nvSpPr>
          <p:cNvPr id="166" name="Google Shape;166;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5" name="Google Shape;165;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Give one personal story per card; the two-calendar morning shift is your own daily driver, say so. These four are travel-shaped on purpose: calendars, meeting prep, client follow-ups, supplier noise. Plant workshop number two (the calendar edition) without selling it: if the room wants it, we will do it.</a:t>
            </a:r>
            <a:endParaRPr/>
          </a:p>
        </p:txBody>
      </p:sp>
      <p:sp>
        <p:nvSpPr>
          <p:cNvPr id="166" name="Google Shape;166;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5" name="Google Shape;165;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Read all five slowly; this slide buys calm for the next hour. Rules 1 and 2 kill the unspoken fear (nothing sends, nothing deletes). Rule 3 sets pacing so the fast people help instead of racing ahead. After rule 5, say: if anything I just said did not compute, perfect, you are exactly who this workshop is for.</a:t>
            </a:r>
            <a:endParaRPr/>
          </a:p>
        </p:txBody>
      </p:sp>
      <p:sp>
        <p:nvSpPr>
          <p:cNvPr id="166" name="Google Shape;166;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5" name="Google Shape;165;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The pivot into discussion, and the sentence they should quote later. Recap the ladder with THEIR artifacts: instructions they wrote, a skill file they own, a task on their calendar. Then the reframe: email was the rehearsal. Pause here, then go to the next slide and open the floor.</a:t>
            </a:r>
            <a:endParaRPr/>
          </a:p>
        </p:txBody>
      </p:sp>
      <p:sp>
        <p:nvSpPr>
          <p:cNvPr id="166" name="Google Shape;166;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5" name="Google Shape;165;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Facilitate, do not lecture. Take three or four answers per question and map each one onto the ladder out loud, so people hear their own use case become buildable. Close by pointing at the QR on the final slide: the site stays up, the prompts stay up, and the skill file is theirs to keep.</a:t>
            </a:r>
            <a:endParaRPr/>
          </a:p>
        </p:txBody>
      </p:sp>
      <p:sp>
        <p:nvSpPr>
          <p:cNvPr id="166" name="Google Shape;166;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hyperlink" Target="https://denisekgosnell.github.io/Donna/" TargetMode="Externa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9" Type="http://schemas.openxmlformats.org/officeDocument/2006/relationships/image" Target="../media/image7.jpg"/><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8"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213D"/>
        </a:solidFill>
      </p:bgPr>
    </p:bg>
    <p:spTree>
      <p:nvGrpSpPr>
        <p:cNvPr id="11" name="Shape 11"/>
        <p:cNvGrpSpPr/>
        <p:nvPr/>
      </p:nvGrpSpPr>
      <p:grpSpPr>
        <a:xfrm>
          <a:off x="0" y="0"/>
          <a:ext cx="0" cy="0"/>
          <a:chOff x="0" y="0"/>
          <a:chExt cx="0" cy="0"/>
        </a:xfrm>
      </p:grpSpPr>
      <p:pic>
        <p:nvPicPr>
          <p:cNvPr descr="/private/tmp/claude-502/-Users-dev-Documents-production-donna/5de1284d-6f84-43be-a2a5-f3ead80d40bc/scratchpad/monogram-gold-red.png" id="12" name="Google Shape;12;p3"/>
          <p:cNvPicPr preferRelativeResize="0"/>
          <p:nvPr/>
        </p:nvPicPr>
        <p:blipFill rotWithShape="1">
          <a:blip r:embed="rId3">
            <a:alphaModFix/>
          </a:blip>
          <a:srcRect b="0" l="0" r="0" t="0"/>
          <a:stretch/>
        </p:blipFill>
        <p:spPr>
          <a:xfrm>
            <a:off x="5318608" y="566928"/>
            <a:ext cx="1554480" cy="1554480"/>
          </a:xfrm>
          <a:prstGeom prst="rect">
            <a:avLst/>
          </a:prstGeom>
          <a:noFill/>
          <a:ln>
            <a:noFill/>
          </a:ln>
        </p:spPr>
      </p:pic>
      <p:pic>
        <p:nvPicPr>
          <p:cNvPr descr="/private/tmp/claude-502/-Users-dev-Documents-production-donna/5de1284d-6f84-43be-a2a5-f3ead80d40bc/scratchpad/skyline-gold.png" id="13" name="Google Shape;13;p3"/>
          <p:cNvPicPr preferRelativeResize="0"/>
          <p:nvPr/>
        </p:nvPicPr>
        <p:blipFill rotWithShape="1">
          <a:blip r:embed="rId4">
            <a:alphaModFix amt="65000"/>
          </a:blip>
          <a:srcRect b="0" l="0" r="0" t="0"/>
          <a:stretch/>
        </p:blipFill>
        <p:spPr>
          <a:xfrm>
            <a:off x="1981048" y="5897880"/>
            <a:ext cx="8229600" cy="731520"/>
          </a:xfrm>
          <a:prstGeom prst="rect">
            <a:avLst/>
          </a:prstGeom>
          <a:noFill/>
          <a:ln>
            <a:noFill/>
          </a:ln>
        </p:spPr>
      </p:pic>
      <p:sp>
        <p:nvSpPr>
          <p:cNvPr id="14" name="Google Shape;14;p3"/>
          <p:cNvSpPr/>
          <p:nvPr/>
        </p:nvSpPr>
        <p:spPr>
          <a:xfrm>
            <a:off x="510013" y="4796018"/>
            <a:ext cx="4887600" cy="731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7F3E9"/>
              </a:buClr>
              <a:buSzPts val="2000"/>
              <a:buFont typeface="Consolas"/>
              <a:buNone/>
            </a:pPr>
            <a:r>
              <a:rPr b="1" i="0" lang="en-US" sz="2000" u="none" cap="none" strike="noStrike">
                <a:solidFill>
                  <a:srgbClr val="F7F3E9"/>
                </a:solidFill>
                <a:latin typeface="Consolas"/>
                <a:ea typeface="Consolas"/>
                <a:cs typeface="Consolas"/>
                <a:sym typeface="Consolas"/>
              </a:rPr>
              <a:t>WIFI: [VENUE NETWORK]</a:t>
            </a:r>
            <a:endParaRPr b="1" i="0" sz="2000" u="none" cap="none" strike="noStrike">
              <a:solidFill>
                <a:srgbClr val="F7F3E9"/>
              </a:solidFill>
              <a:latin typeface="Consolas"/>
              <a:ea typeface="Consolas"/>
              <a:cs typeface="Consolas"/>
              <a:sym typeface="Consolas"/>
            </a:endParaRPr>
          </a:p>
          <a:p>
            <a:pPr indent="0" lvl="0" marL="0" marR="0" rtl="0" algn="ctr">
              <a:spcBef>
                <a:spcPts val="0"/>
              </a:spcBef>
              <a:spcAft>
                <a:spcPts val="0"/>
              </a:spcAft>
              <a:buClr>
                <a:srgbClr val="F7F3E9"/>
              </a:buClr>
              <a:buSzPts val="2000"/>
              <a:buFont typeface="Consolas"/>
              <a:buNone/>
            </a:pPr>
            <a:r>
              <a:rPr b="1" i="0" lang="en-US" sz="2000" u="none" cap="none" strike="noStrike">
                <a:solidFill>
                  <a:srgbClr val="F7F3E9"/>
                </a:solidFill>
                <a:latin typeface="Consolas"/>
                <a:ea typeface="Consolas"/>
                <a:cs typeface="Consolas"/>
                <a:sym typeface="Consolas"/>
              </a:rPr>
              <a:t>Password: [VENUE PASSWORD]</a:t>
            </a:r>
            <a:endParaRPr b="0" i="0" sz="2000" u="none" cap="none" strike="noStrike">
              <a:solidFill>
                <a:schemeClr val="dk1"/>
              </a:solidFill>
              <a:latin typeface="Consolas"/>
              <a:ea typeface="Consolas"/>
              <a:cs typeface="Consolas"/>
              <a:sym typeface="Consolas"/>
            </a:endParaRPr>
          </a:p>
        </p:txBody>
      </p:sp>
      <p:pic>
        <p:nvPicPr>
          <p:cNvPr descr="A qr code on a white background&#10;&#10;AI-generated content may be incorrect." id="15" name="Google Shape;15;p3"/>
          <p:cNvPicPr preferRelativeResize="0"/>
          <p:nvPr/>
        </p:nvPicPr>
        <p:blipFill rotWithShape="1">
          <a:blip r:embed="rId5">
            <a:alphaModFix/>
          </a:blip>
          <a:srcRect b="52002" l="18314" r="18315" t="18932"/>
          <a:stretch/>
        </p:blipFill>
        <p:spPr>
          <a:xfrm>
            <a:off x="1626977" y="1784571"/>
            <a:ext cx="2653693" cy="2640993"/>
          </a:xfrm>
          <a:prstGeom prst="rect">
            <a:avLst/>
          </a:prstGeom>
          <a:noFill/>
          <a:ln>
            <a:noFill/>
          </a:ln>
        </p:spPr>
      </p:pic>
      <p:sp>
        <p:nvSpPr>
          <p:cNvPr id="16" name="Google Shape;16;p3"/>
          <p:cNvSpPr/>
          <p:nvPr/>
        </p:nvSpPr>
        <p:spPr>
          <a:xfrm>
            <a:off x="6558863" y="4796081"/>
            <a:ext cx="4887600" cy="731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7F3E9"/>
              </a:buClr>
              <a:buSzPts val="2000"/>
              <a:buFont typeface="Consolas"/>
              <a:buNone/>
            </a:pPr>
            <a:r>
              <a:rPr b="1" lang="en-US" sz="2000">
                <a:solidFill>
                  <a:srgbClr val="F7F3E9"/>
                </a:solidFill>
                <a:latin typeface="Consolas"/>
                <a:ea typeface="Consolas"/>
                <a:cs typeface="Consolas"/>
                <a:sym typeface="Consolas"/>
              </a:rPr>
              <a:t>These Slides</a:t>
            </a:r>
            <a:endParaRPr b="0" i="0" sz="2000" u="none" cap="none" strike="noStrike">
              <a:solidFill>
                <a:schemeClr val="dk1"/>
              </a:solidFill>
              <a:latin typeface="Consolas"/>
              <a:ea typeface="Consolas"/>
              <a:cs typeface="Consolas"/>
              <a:sym typeface="Consolas"/>
            </a:endParaRPr>
          </a:p>
        </p:txBody>
      </p:sp>
      <p:pic>
        <p:nvPicPr>
          <p:cNvPr id="17" name="Google Shape;17;p3" title="Qq7t0IYNWfRuevr_donna workshop slides.png"/>
          <p:cNvPicPr preferRelativeResize="0"/>
          <p:nvPr/>
        </p:nvPicPr>
        <p:blipFill rotWithShape="1">
          <a:blip r:embed="rId6">
            <a:alphaModFix/>
          </a:blip>
          <a:srcRect b="239" l="0" r="0" t="239"/>
          <a:stretch/>
        </p:blipFill>
        <p:spPr>
          <a:xfrm>
            <a:off x="7675837" y="1784679"/>
            <a:ext cx="2653680" cy="264099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213D"/>
        </a:solidFill>
      </p:bgPr>
    </p:bg>
    <p:spTree>
      <p:nvGrpSpPr>
        <p:cNvPr id="22" name="Shape 22"/>
        <p:cNvGrpSpPr/>
        <p:nvPr/>
      </p:nvGrpSpPr>
      <p:grpSpPr>
        <a:xfrm>
          <a:off x="0" y="0"/>
          <a:ext cx="0" cy="0"/>
          <a:chOff x="0" y="0"/>
          <a:chExt cx="0" cy="0"/>
        </a:xfrm>
      </p:grpSpPr>
      <p:pic>
        <p:nvPicPr>
          <p:cNvPr descr="/private/tmp/claude-502/-Users-dev-Documents-production-donna/5de1284d-6f84-43be-a2a5-f3ead80d40bc/scratchpad/monogram-gold-red.png" id="23" name="Google Shape;23;p4"/>
          <p:cNvPicPr preferRelativeResize="0"/>
          <p:nvPr/>
        </p:nvPicPr>
        <p:blipFill rotWithShape="1">
          <a:blip r:embed="rId3">
            <a:alphaModFix/>
          </a:blip>
          <a:srcRect b="0" l="0" r="0" t="0"/>
          <a:stretch/>
        </p:blipFill>
        <p:spPr>
          <a:xfrm>
            <a:off x="5318608" y="566928"/>
            <a:ext cx="1554480" cy="1554480"/>
          </a:xfrm>
          <a:prstGeom prst="rect">
            <a:avLst/>
          </a:prstGeom>
          <a:noFill/>
          <a:ln>
            <a:noFill/>
          </a:ln>
        </p:spPr>
      </p:pic>
      <p:sp>
        <p:nvSpPr>
          <p:cNvPr id="24" name="Google Shape;24;p4"/>
          <p:cNvSpPr/>
          <p:nvPr/>
        </p:nvSpPr>
        <p:spPr>
          <a:xfrm>
            <a:off x="2377440" y="2514600"/>
            <a:ext cx="7436815" cy="1783080"/>
          </a:xfrm>
          <a:prstGeom prst="roundRect">
            <a:avLst>
              <a:gd fmla="val 3077" name="adj"/>
            </a:avLst>
          </a:prstGeom>
          <a:solidFill>
            <a:srgbClr val="F7F3E9"/>
          </a:solidFill>
          <a:ln>
            <a:noFill/>
          </a:ln>
          <a:effectLst>
            <a:outerShdw blurRad="203200" rotWithShape="0" algn="bl" dir="5400000" dist="88900">
              <a:srgbClr val="000000">
                <a:alpha val="38039"/>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5" name="Google Shape;25;p4"/>
          <p:cNvSpPr/>
          <p:nvPr/>
        </p:nvSpPr>
        <p:spPr>
          <a:xfrm>
            <a:off x="2788920" y="2651760"/>
            <a:ext cx="6613855" cy="1508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31621"/>
              </a:buClr>
              <a:buSzPts val="3000"/>
              <a:buFont typeface="Playfair Display"/>
              <a:buNone/>
            </a:pPr>
            <a:r>
              <a:rPr b="0" i="1" lang="en-US" sz="3000" u="none" cap="none" strike="noStrike">
                <a:solidFill>
                  <a:srgbClr val="A31621"/>
                </a:solidFill>
                <a:latin typeface="Playfair Display"/>
                <a:ea typeface="Playfair Display"/>
                <a:cs typeface="Playfair Display"/>
                <a:sym typeface="Playfair Display"/>
              </a:rPr>
              <a:t>“I’m Donna. I know everything.”</a:t>
            </a:r>
            <a:endParaRPr b="0" i="0" sz="30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3000"/>
              <a:buFont typeface="Calibri"/>
              <a:buNone/>
            </a:pPr>
            <a:r>
              <a:t/>
            </a:r>
            <a:endParaRPr b="0" i="0" sz="30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14213D"/>
              </a:buClr>
              <a:buSzPts val="1050"/>
              <a:buFont typeface="Inter"/>
              <a:buNone/>
            </a:pPr>
            <a:r>
              <a:rPr b="1" i="0" lang="en-US" sz="1050" u="none" cap="none" strike="noStrike">
                <a:solidFill>
                  <a:srgbClr val="14213D"/>
                </a:solidFill>
                <a:latin typeface="Inter"/>
                <a:ea typeface="Inter"/>
                <a:cs typeface="Inter"/>
                <a:sym typeface="Inter"/>
              </a:rPr>
              <a:t>— DONNA PAULSEN, SUITS</a:t>
            </a:r>
            <a:endParaRPr b="0" i="0" sz="3000" u="none" cap="none" strike="noStrike">
              <a:solidFill>
                <a:srgbClr val="000000"/>
              </a:solidFill>
              <a:latin typeface="Calibri"/>
              <a:ea typeface="Calibri"/>
              <a:cs typeface="Calibri"/>
              <a:sym typeface="Calibri"/>
            </a:endParaRPr>
          </a:p>
        </p:txBody>
      </p:sp>
      <p:sp>
        <p:nvSpPr>
          <p:cNvPr id="26" name="Google Shape;26;p4"/>
          <p:cNvSpPr/>
          <p:nvPr/>
        </p:nvSpPr>
        <p:spPr>
          <a:xfrm>
            <a:off x="914400" y="4617720"/>
            <a:ext cx="10362895" cy="5486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7F3E9"/>
              </a:buClr>
              <a:buSzPts val="2500"/>
              <a:buFont typeface="Playfair Display"/>
              <a:buNone/>
            </a:pPr>
            <a:r>
              <a:rPr b="1" i="0" lang="en-US" sz="2500" u="none" cap="none" strike="noStrike">
                <a:solidFill>
                  <a:srgbClr val="F7F3E9"/>
                </a:solidFill>
                <a:latin typeface="Playfair Display"/>
                <a:ea typeface="Playfair Display"/>
                <a:cs typeface="Playfair Display"/>
                <a:sym typeface="Playfair Display"/>
              </a:rPr>
              <a:t>BUILD YOUR OWN DONNA</a:t>
            </a:r>
            <a:endParaRPr b="0" i="0" sz="2500" u="none" cap="none" strike="noStrike">
              <a:solidFill>
                <a:srgbClr val="000000"/>
              </a:solidFill>
              <a:latin typeface="Calibri"/>
              <a:ea typeface="Calibri"/>
              <a:cs typeface="Calibri"/>
              <a:sym typeface="Calibri"/>
            </a:endParaRPr>
          </a:p>
        </p:txBody>
      </p:sp>
      <p:sp>
        <p:nvSpPr>
          <p:cNvPr id="27" name="Google Shape;27;p4"/>
          <p:cNvSpPr/>
          <p:nvPr/>
        </p:nvSpPr>
        <p:spPr>
          <a:xfrm>
            <a:off x="914400" y="5175504"/>
            <a:ext cx="10362895"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FA893"/>
              </a:buClr>
              <a:buSzPts val="1400"/>
              <a:buFont typeface="Inter"/>
              <a:buNone/>
            </a:pPr>
            <a:r>
              <a:rPr b="0" i="0" lang="en-US" sz="1400" u="none" cap="none" strike="noStrike">
                <a:solidFill>
                  <a:srgbClr val="AFA893"/>
                </a:solidFill>
                <a:latin typeface="Inter"/>
                <a:ea typeface="Inter"/>
                <a:cs typeface="Inter"/>
                <a:sym typeface="Inter"/>
              </a:rPr>
              <a:t>A 90 min workshop for executives who are done reading email</a:t>
            </a:r>
            <a:endParaRPr b="0" i="0" sz="1400" u="none" cap="none" strike="noStrike">
              <a:solidFill>
                <a:srgbClr val="000000"/>
              </a:solidFill>
              <a:latin typeface="Calibri"/>
              <a:ea typeface="Calibri"/>
              <a:cs typeface="Calibri"/>
              <a:sym typeface="Calibri"/>
            </a:endParaRPr>
          </a:p>
        </p:txBody>
      </p:sp>
      <p:pic>
        <p:nvPicPr>
          <p:cNvPr descr="/private/tmp/claude-502/-Users-dev-Documents-production-donna/5de1284d-6f84-43be-a2a5-f3ead80d40bc/scratchpad/skyline-gold.png" id="28" name="Google Shape;28;p4"/>
          <p:cNvPicPr preferRelativeResize="0"/>
          <p:nvPr/>
        </p:nvPicPr>
        <p:blipFill rotWithShape="1">
          <a:blip r:embed="rId4">
            <a:alphaModFix amt="65000"/>
          </a:blip>
          <a:srcRect b="0" l="0" r="0" t="0"/>
          <a:stretch/>
        </p:blipFill>
        <p:spPr>
          <a:xfrm>
            <a:off x="1981048" y="5897880"/>
            <a:ext cx="8229600" cy="73152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213D"/>
        </a:solidFill>
      </p:bgPr>
    </p:bg>
    <p:spTree>
      <p:nvGrpSpPr>
        <p:cNvPr id="33" name="Shape 33"/>
        <p:cNvGrpSpPr/>
        <p:nvPr/>
      </p:nvGrpSpPr>
      <p:grpSpPr>
        <a:xfrm>
          <a:off x="0" y="0"/>
          <a:ext cx="0" cy="0"/>
          <a:chOff x="0" y="0"/>
          <a:chExt cx="0" cy="0"/>
        </a:xfrm>
      </p:grpSpPr>
      <p:sp>
        <p:nvSpPr>
          <p:cNvPr id="34" name="Google Shape;34;p5"/>
          <p:cNvSpPr/>
          <p:nvPr/>
        </p:nvSpPr>
        <p:spPr>
          <a:xfrm>
            <a:off x="822960" y="502920"/>
            <a:ext cx="10545775"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B94A"/>
              </a:buClr>
              <a:buSzPts val="1200"/>
              <a:buFont typeface="Inter"/>
              <a:buNone/>
            </a:pPr>
            <a:r>
              <a:rPr b="1" lang="en-US" sz="1200">
                <a:solidFill>
                  <a:srgbClr val="DDB94A"/>
                </a:solidFill>
                <a:latin typeface="Inter"/>
                <a:ea typeface="Inter"/>
                <a:cs typeface="Inter"/>
                <a:sym typeface="Inter"/>
              </a:rPr>
              <a:t>THE PROBLEM</a:t>
            </a:r>
            <a:endParaRPr sz="1200">
              <a:solidFill>
                <a:schemeClr val="dk1"/>
              </a:solidFill>
              <a:latin typeface="Calibri"/>
              <a:ea typeface="Calibri"/>
              <a:cs typeface="Calibri"/>
              <a:sym typeface="Calibri"/>
            </a:endParaRPr>
          </a:p>
        </p:txBody>
      </p:sp>
      <p:sp>
        <p:nvSpPr>
          <p:cNvPr id="35" name="Google Shape;35;p5"/>
          <p:cNvSpPr/>
          <p:nvPr/>
        </p:nvSpPr>
        <p:spPr>
          <a:xfrm>
            <a:off x="822960" y="1371600"/>
            <a:ext cx="5669280" cy="3291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20000"/>
              <a:buFont typeface="Playfair Display"/>
              <a:buNone/>
            </a:pPr>
            <a:r>
              <a:rPr b="1" lang="en-US" sz="20000">
                <a:solidFill>
                  <a:srgbClr val="C9A227"/>
                </a:solidFill>
                <a:latin typeface="Playfair Display"/>
                <a:ea typeface="Playfair Display"/>
                <a:cs typeface="Playfair Display"/>
                <a:sym typeface="Playfair Display"/>
              </a:rPr>
              <a:t>300</a:t>
            </a:r>
            <a:endParaRPr sz="20000">
              <a:solidFill>
                <a:schemeClr val="dk1"/>
              </a:solidFill>
              <a:latin typeface="Calibri"/>
              <a:ea typeface="Calibri"/>
              <a:cs typeface="Calibri"/>
              <a:sym typeface="Calibri"/>
            </a:endParaRPr>
          </a:p>
        </p:txBody>
      </p:sp>
      <p:sp>
        <p:nvSpPr>
          <p:cNvPr id="36" name="Google Shape;36;p5"/>
          <p:cNvSpPr/>
          <p:nvPr/>
        </p:nvSpPr>
        <p:spPr>
          <a:xfrm>
            <a:off x="6400800" y="2194560"/>
            <a:ext cx="4937760" cy="14630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F7F3E9"/>
              </a:buClr>
              <a:buSzPts val="3000"/>
              <a:buFont typeface="Playfair Display"/>
              <a:buNone/>
            </a:pPr>
            <a:r>
              <a:rPr lang="en-US" sz="3000">
                <a:solidFill>
                  <a:srgbClr val="F7F3E9"/>
                </a:solidFill>
                <a:latin typeface="Playfair Display"/>
                <a:ea typeface="Playfair Display"/>
                <a:cs typeface="Playfair Display"/>
                <a:sym typeface="Playfair Display"/>
              </a:rPr>
              <a:t>emails a day is not a communication strategy.</a:t>
            </a:r>
            <a:endParaRPr sz="3000">
              <a:solidFill>
                <a:schemeClr val="dk1"/>
              </a:solidFill>
              <a:latin typeface="Calibri"/>
              <a:ea typeface="Calibri"/>
              <a:cs typeface="Calibri"/>
              <a:sym typeface="Calibri"/>
            </a:endParaRPr>
          </a:p>
        </p:txBody>
      </p:sp>
      <p:sp>
        <p:nvSpPr>
          <p:cNvPr id="37" name="Google Shape;37;p5"/>
          <p:cNvSpPr/>
          <p:nvPr/>
        </p:nvSpPr>
        <p:spPr>
          <a:xfrm>
            <a:off x="6400800" y="3749040"/>
            <a:ext cx="4754880" cy="10972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AFA893"/>
              </a:buClr>
              <a:buSzPts val="1500"/>
              <a:buFont typeface="Inter"/>
              <a:buNone/>
            </a:pPr>
            <a:r>
              <a:rPr i="1" lang="en-US" sz="1500">
                <a:solidFill>
                  <a:srgbClr val="AFA893"/>
                </a:solidFill>
                <a:latin typeface="Inter"/>
                <a:ea typeface="Inter"/>
                <a:cs typeface="Inter"/>
                <a:sym typeface="Inter"/>
              </a:rPr>
              <a:t>It’s a second job you never applied for.</a:t>
            </a:r>
            <a:endParaRPr sz="15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3E9"/>
        </a:solidFill>
      </p:bgPr>
    </p:bg>
    <p:spTree>
      <p:nvGrpSpPr>
        <p:cNvPr id="42" name="Shape 42"/>
        <p:cNvGrpSpPr/>
        <p:nvPr/>
      </p:nvGrpSpPr>
      <p:grpSpPr>
        <a:xfrm>
          <a:off x="0" y="0"/>
          <a:ext cx="0" cy="0"/>
          <a:chOff x="0" y="0"/>
          <a:chExt cx="0" cy="0"/>
        </a:xfrm>
      </p:grpSpPr>
      <p:sp>
        <p:nvSpPr>
          <p:cNvPr id="43" name="Google Shape;43;p6"/>
          <p:cNvSpPr/>
          <p:nvPr/>
        </p:nvSpPr>
        <p:spPr>
          <a:xfrm>
            <a:off x="822960" y="502920"/>
            <a:ext cx="10545775"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1200"/>
              <a:buFont typeface="Inter"/>
              <a:buNone/>
            </a:pPr>
            <a:r>
              <a:rPr b="1" lang="en-US" sz="1200">
                <a:solidFill>
                  <a:srgbClr val="C9A227"/>
                </a:solidFill>
                <a:latin typeface="Inter"/>
                <a:ea typeface="Inter"/>
                <a:cs typeface="Inter"/>
                <a:sym typeface="Inter"/>
              </a:rPr>
              <a:t>THE FIX</a:t>
            </a:r>
            <a:endParaRPr sz="1200">
              <a:solidFill>
                <a:schemeClr val="dk1"/>
              </a:solidFill>
              <a:latin typeface="Calibri"/>
              <a:ea typeface="Calibri"/>
              <a:cs typeface="Calibri"/>
              <a:sym typeface="Calibri"/>
            </a:endParaRPr>
          </a:p>
        </p:txBody>
      </p:sp>
      <p:sp>
        <p:nvSpPr>
          <p:cNvPr id="44" name="Google Shape;44;p6"/>
          <p:cNvSpPr/>
          <p:nvPr/>
        </p:nvSpPr>
        <p:spPr>
          <a:xfrm>
            <a:off x="822960" y="1051560"/>
            <a:ext cx="10545775" cy="192024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A31621"/>
              </a:buClr>
              <a:buSzPts val="2100"/>
              <a:buFont typeface="Playfair Display"/>
              <a:buNone/>
            </a:pPr>
            <a:r>
              <a:rPr i="1" lang="en-US" sz="2100">
                <a:solidFill>
                  <a:srgbClr val="A31621"/>
                </a:solidFill>
                <a:latin typeface="Playfair Display"/>
                <a:ea typeface="Playfair Display"/>
                <a:cs typeface="Playfair Display"/>
                <a:sym typeface="Playfair Display"/>
              </a:rPr>
              <a:t>“If you want somebody to just sit at her desk, answer your phones and pick up your dry cleaning, then put out a want ad, because that’s not me.”</a:t>
            </a:r>
            <a:endParaRPr sz="21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2100"/>
              <a:buFont typeface="Calibri"/>
              <a:buNone/>
            </a:pPr>
            <a:r>
              <a:t/>
            </a:r>
            <a:endParaRPr sz="2100">
              <a:solidFill>
                <a:schemeClr val="dk1"/>
              </a:solidFill>
              <a:latin typeface="Calibri"/>
              <a:ea typeface="Calibri"/>
              <a:cs typeface="Calibri"/>
              <a:sym typeface="Calibri"/>
            </a:endParaRPr>
          </a:p>
          <a:p>
            <a:pPr indent="0" lvl="0" marL="0" marR="0" rtl="0" algn="l">
              <a:spcBef>
                <a:spcPts val="0"/>
              </a:spcBef>
              <a:spcAft>
                <a:spcPts val="0"/>
              </a:spcAft>
              <a:buClr>
                <a:srgbClr val="14213D"/>
              </a:buClr>
              <a:buSzPts val="1050"/>
              <a:buFont typeface="Inter"/>
              <a:buNone/>
            </a:pPr>
            <a:r>
              <a:rPr b="1" lang="en-US" sz="1050">
                <a:solidFill>
                  <a:srgbClr val="14213D"/>
                </a:solidFill>
                <a:latin typeface="Inter"/>
                <a:ea typeface="Inter"/>
                <a:cs typeface="Inter"/>
                <a:sym typeface="Inter"/>
              </a:rPr>
              <a:t>— DONNA PAULSEN, SUITS</a:t>
            </a:r>
            <a:endParaRPr sz="2100">
              <a:solidFill>
                <a:schemeClr val="dk1"/>
              </a:solidFill>
              <a:latin typeface="Calibri"/>
              <a:ea typeface="Calibri"/>
              <a:cs typeface="Calibri"/>
              <a:sym typeface="Calibri"/>
            </a:endParaRPr>
          </a:p>
        </p:txBody>
      </p:sp>
      <p:sp>
        <p:nvSpPr>
          <p:cNvPr id="45" name="Google Shape;45;p6"/>
          <p:cNvSpPr/>
          <p:nvPr/>
        </p:nvSpPr>
        <p:spPr>
          <a:xfrm>
            <a:off x="822960" y="3291840"/>
            <a:ext cx="10545775"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3600"/>
              <a:buFont typeface="Playfair Display"/>
              <a:buNone/>
            </a:pPr>
            <a:r>
              <a:rPr b="1" lang="en-US" sz="3600">
                <a:solidFill>
                  <a:srgbClr val="14213D"/>
                </a:solidFill>
                <a:latin typeface="Playfair Display"/>
                <a:ea typeface="Playfair Display"/>
                <a:cs typeface="Playfair Display"/>
                <a:sym typeface="Playfair Display"/>
              </a:rPr>
              <a:t>You don’t need a better inbox. You need a Donna.</a:t>
            </a:r>
            <a:endParaRPr sz="3600">
              <a:solidFill>
                <a:schemeClr val="dk1"/>
              </a:solidFill>
              <a:latin typeface="Calibri"/>
              <a:ea typeface="Calibri"/>
              <a:cs typeface="Calibri"/>
              <a:sym typeface="Calibri"/>
            </a:endParaRPr>
          </a:p>
        </p:txBody>
      </p:sp>
      <p:sp>
        <p:nvSpPr>
          <p:cNvPr id="46" name="Google Shape;46;p6"/>
          <p:cNvSpPr/>
          <p:nvPr/>
        </p:nvSpPr>
        <p:spPr>
          <a:xfrm>
            <a:off x="896112" y="4992624"/>
            <a:ext cx="128016" cy="128016"/>
          </a:xfrm>
          <a:prstGeom prst="diamond">
            <a:avLst/>
          </a:prstGeom>
          <a:solidFill>
            <a:srgbClr val="C9A22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 name="Google Shape;47;p6"/>
          <p:cNvSpPr/>
          <p:nvPr/>
        </p:nvSpPr>
        <p:spPr>
          <a:xfrm>
            <a:off x="1234440" y="4526280"/>
            <a:ext cx="9722815" cy="118872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1C2333"/>
              </a:buClr>
              <a:buSzPts val="1800"/>
              <a:buFont typeface="Inter"/>
              <a:buNone/>
            </a:pPr>
            <a:r>
              <a:rPr lang="en-US" sz="1800">
                <a:solidFill>
                  <a:srgbClr val="1C2333"/>
                </a:solidFill>
                <a:latin typeface="Inter"/>
                <a:ea typeface="Inter"/>
                <a:cs typeface="Inter"/>
                <a:sym typeface="Inter"/>
              </a:rPr>
              <a:t>In the show’s final seasons, the firm builds an AI assistant modeled on her. They call it “The Donna.”  </a:t>
            </a:r>
            <a:endParaRPr/>
          </a:p>
          <a:p>
            <a:pPr indent="0" lvl="0" marL="0" marR="0" rtl="0" algn="l">
              <a:lnSpc>
                <a:spcPct val="125000"/>
              </a:lnSpc>
              <a:spcBef>
                <a:spcPts val="0"/>
              </a:spcBef>
              <a:spcAft>
                <a:spcPts val="0"/>
              </a:spcAft>
              <a:buClr>
                <a:srgbClr val="14213D"/>
              </a:buClr>
              <a:buSzPts val="1800"/>
              <a:buFont typeface="Inter"/>
              <a:buNone/>
            </a:pPr>
            <a:r>
              <a:rPr b="1" lang="en-US" sz="1800">
                <a:solidFill>
                  <a:srgbClr val="14213D"/>
                </a:solidFill>
                <a:latin typeface="Inter"/>
                <a:ea typeface="Inter"/>
                <a:cs typeface="Inter"/>
                <a:sym typeface="Inter"/>
              </a:rPr>
              <a:t>The show built The Donna as fiction. You’re going to build yours for real. It’ll take about 90 minutes.</a:t>
            </a:r>
            <a:endParaRPr sz="1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213D"/>
        </a:solidFill>
      </p:bgPr>
    </p:bg>
    <p:spTree>
      <p:nvGrpSpPr>
        <p:cNvPr id="52" name="Shape 52"/>
        <p:cNvGrpSpPr/>
        <p:nvPr/>
      </p:nvGrpSpPr>
      <p:grpSpPr>
        <a:xfrm>
          <a:off x="0" y="0"/>
          <a:ext cx="0" cy="0"/>
          <a:chOff x="0" y="0"/>
          <a:chExt cx="0" cy="0"/>
        </a:xfrm>
      </p:grpSpPr>
      <p:sp>
        <p:nvSpPr>
          <p:cNvPr id="53" name="Google Shape;53;p7"/>
          <p:cNvSpPr/>
          <p:nvPr/>
        </p:nvSpPr>
        <p:spPr>
          <a:xfrm>
            <a:off x="822960" y="502920"/>
            <a:ext cx="10545775"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B94A"/>
              </a:buClr>
              <a:buSzPts val="1200"/>
              <a:buFont typeface="Inter"/>
              <a:buNone/>
            </a:pPr>
            <a:r>
              <a:rPr b="1" lang="en-US" sz="1200">
                <a:solidFill>
                  <a:srgbClr val="DDB94A"/>
                </a:solidFill>
                <a:latin typeface="Inter"/>
                <a:ea typeface="Inter"/>
                <a:cs typeface="Inter"/>
                <a:sym typeface="Inter"/>
              </a:rPr>
              <a:t>THE PLAN · 2:30 CONTEXT → 2:50 BUILD → 3:30 DISCUSSION → 4:00 DONE</a:t>
            </a:r>
          </a:p>
        </p:txBody>
      </p:sp>
      <p:sp>
        <p:nvSpPr>
          <p:cNvPr id="54" name="Google Shape;54;p7"/>
          <p:cNvSpPr/>
          <p:nvPr/>
        </p:nvSpPr>
        <p:spPr>
          <a:xfrm>
            <a:off x="822960" y="868680"/>
            <a:ext cx="10545775"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F3E9"/>
              </a:buClr>
              <a:buSzPts val="3800"/>
              <a:buFont typeface="Playfair Display"/>
              <a:buNone/>
            </a:pPr>
            <a:r>
              <a:rPr b="1" lang="en-US" sz="3800">
                <a:solidFill>
                  <a:srgbClr val="F7F3E9"/>
                </a:solidFill>
                <a:latin typeface="Playfair Display"/>
                <a:ea typeface="Playfair Display"/>
                <a:cs typeface="Playfair Display"/>
                <a:sym typeface="Playfair Display"/>
              </a:rPr>
              <a:t>The hiring arc</a:t>
            </a:r>
            <a:endParaRPr sz="3800">
              <a:solidFill>
                <a:schemeClr val="dk1"/>
              </a:solidFill>
              <a:latin typeface="Calibri"/>
              <a:ea typeface="Calibri"/>
              <a:cs typeface="Calibri"/>
              <a:sym typeface="Calibri"/>
            </a:endParaRPr>
          </a:p>
        </p:txBody>
      </p:sp>
      <p:sp>
        <p:nvSpPr>
          <p:cNvPr id="55" name="Google Shape;55;p7"/>
          <p:cNvSpPr/>
          <p:nvPr/>
        </p:nvSpPr>
        <p:spPr>
          <a:xfrm>
            <a:off x="822960" y="2011680"/>
            <a:ext cx="2542032" cy="3108960"/>
          </a:xfrm>
          <a:prstGeom prst="roundRect">
            <a:avLst>
              <a:gd fmla="val 2158" name="adj"/>
            </a:avLst>
          </a:prstGeom>
          <a:solidFill>
            <a:srgbClr val="1B2A4A"/>
          </a:solidFill>
          <a:ln cap="flat" cmpd="sng" w="9525">
            <a:solidFill>
              <a:srgbClr val="C9A227">
                <a:alpha val="6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 name="Google Shape;56;p7"/>
          <p:cNvSpPr/>
          <p:nvPr/>
        </p:nvSpPr>
        <p:spPr>
          <a:xfrm>
            <a:off x="1097280" y="2108343"/>
            <a:ext cx="1993392"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2600"/>
              <a:buFont typeface="Playfair Display"/>
              <a:buNone/>
            </a:pPr>
            <a:r>
              <a:rPr b="1" lang="en-US" sz="2600">
                <a:solidFill>
                  <a:srgbClr val="C9A227"/>
                </a:solidFill>
                <a:latin typeface="Playfair Display"/>
                <a:ea typeface="Playfair Display"/>
                <a:cs typeface="Playfair Display"/>
                <a:sym typeface="Playfair Display"/>
              </a:rPr>
              <a:t>01</a:t>
            </a:r>
            <a:endParaRPr sz="2600">
              <a:solidFill>
                <a:schemeClr val="dk1"/>
              </a:solidFill>
              <a:latin typeface="Calibri"/>
              <a:ea typeface="Calibri"/>
              <a:cs typeface="Calibri"/>
              <a:sym typeface="Calibri"/>
            </a:endParaRPr>
          </a:p>
        </p:txBody>
      </p:sp>
      <p:sp>
        <p:nvSpPr>
          <p:cNvPr id="57" name="Google Shape;57;p7"/>
          <p:cNvSpPr/>
          <p:nvPr/>
        </p:nvSpPr>
        <p:spPr>
          <a:xfrm>
            <a:off x="1097280" y="2526355"/>
            <a:ext cx="1993392"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F3E9"/>
              </a:buClr>
              <a:buSzPts val="1250"/>
              <a:buFont typeface="Inter"/>
              <a:buNone/>
            </a:pPr>
            <a:r>
              <a:rPr b="1" lang="en-US" sz="1250">
                <a:solidFill>
                  <a:srgbClr val="F7F3E9"/>
                </a:solidFill>
                <a:latin typeface="Inter"/>
                <a:ea typeface="Inter"/>
                <a:cs typeface="Inter"/>
                <a:sym typeface="Inter"/>
              </a:rPr>
              <a:t>FIRST IMPRESSIONS</a:t>
            </a:r>
          </a:p>
          <a:p>
            <a:pPr indent="0" lvl="0" marL="0" marR="0" rtl="0" algn="l">
              <a:spcBef>
                <a:spcPts val="0"/>
              </a:spcBef>
              <a:spcAft>
                <a:spcPts val="0"/>
              </a:spcAft>
              <a:buClr>
                <a:srgbClr val="F7F3E9"/>
              </a:buClr>
              <a:buSzPts val="1250"/>
              <a:buFont typeface="Inter"/>
              <a:buNone/>
            </a:pPr>
            <a:r>
              <a:rPr b="1" lang="en-US" sz="1250">
                <a:solidFill>
                  <a:srgbClr val="F7F3E9"/>
                </a:solidFill>
                <a:latin typeface="Inter"/>
                <a:ea typeface="Inter"/>
                <a:cs typeface="Inter"/>
                <a:sym typeface="Inter"/>
              </a:rPr>
              <a:t>PROJECT · ~15 MIN</a:t>
            </a:r>
          </a:p>
        </p:txBody>
      </p:sp>
      <p:sp>
        <p:nvSpPr>
          <p:cNvPr id="58" name="Google Shape;58;p7"/>
          <p:cNvSpPr/>
          <p:nvPr/>
        </p:nvSpPr>
        <p:spPr>
          <a:xfrm>
            <a:off x="1097280" y="3310128"/>
            <a:ext cx="1993392" cy="1235746"/>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AFA893"/>
              </a:buClr>
              <a:buSzPts val="1600"/>
              <a:buFont typeface="Inter"/>
              <a:buNone/>
            </a:pPr>
            <a:r>
              <a:rPr i="1" lang="en-US">
                <a:solidFill>
                  <a:srgbClr val="AFA893"/>
                </a:solidFill>
                <a:latin typeface="Inter"/>
                <a:ea typeface="Inter"/>
                <a:cs typeface="Inter"/>
                <a:sym typeface="Inter"/>
              </a:rPr>
              <a:t>One desk for everything: connect Gmail + Calendar, and she drafts her first reply.</a:t>
            </a:r>
          </a:p>
        </p:txBody>
      </p:sp>
      <p:sp>
        <p:nvSpPr>
          <p:cNvPr id="59" name="Google Shape;59;p7"/>
          <p:cNvSpPr/>
          <p:nvPr/>
        </p:nvSpPr>
        <p:spPr>
          <a:xfrm>
            <a:off x="4813300" y="2011680"/>
            <a:ext cx="2542032" cy="3108960"/>
          </a:xfrm>
          <a:prstGeom prst="roundRect">
            <a:avLst>
              <a:gd fmla="val 2158" name="adj"/>
            </a:avLst>
          </a:prstGeom>
          <a:solidFill>
            <a:srgbClr val="1B2A4A"/>
          </a:solidFill>
          <a:ln cap="flat" cmpd="sng" w="9525">
            <a:solidFill>
              <a:srgbClr val="C9A227">
                <a:alpha val="6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 name="Google Shape;60;p7"/>
          <p:cNvSpPr/>
          <p:nvPr/>
        </p:nvSpPr>
        <p:spPr>
          <a:xfrm>
            <a:off x="5092700" y="2108343"/>
            <a:ext cx="1993392"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2600"/>
              <a:buFont typeface="Playfair Display"/>
              <a:buNone/>
            </a:pPr>
            <a:r>
              <a:rPr b="1" lang="en-US" sz="2600">
                <a:solidFill>
                  <a:srgbClr val="C9A227"/>
                </a:solidFill>
                <a:latin typeface="Playfair Display"/>
                <a:ea typeface="Playfair Display"/>
                <a:cs typeface="Playfair Display"/>
                <a:sym typeface="Playfair Display"/>
              </a:rPr>
              <a:t>02</a:t>
            </a:r>
            <a:endParaRPr sz="2600">
              <a:solidFill>
                <a:schemeClr val="dk1"/>
              </a:solidFill>
              <a:latin typeface="Calibri"/>
              <a:ea typeface="Calibri"/>
              <a:cs typeface="Calibri"/>
              <a:sym typeface="Calibri"/>
            </a:endParaRPr>
          </a:p>
        </p:txBody>
      </p:sp>
      <p:sp>
        <p:nvSpPr>
          <p:cNvPr id="61" name="Google Shape;61;p7"/>
          <p:cNvSpPr/>
          <p:nvPr/>
        </p:nvSpPr>
        <p:spPr>
          <a:xfrm>
            <a:off x="5092700" y="2526355"/>
            <a:ext cx="1993392"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F3E9"/>
              </a:buClr>
              <a:buSzPts val="1250"/>
              <a:buFont typeface="Inter"/>
              <a:buNone/>
            </a:pPr>
            <a:r>
              <a:rPr b="1" lang="en-US" sz="1250">
                <a:solidFill>
                  <a:srgbClr val="F7F3E9"/>
                </a:solidFill>
                <a:latin typeface="Inter"/>
                <a:ea typeface="Inter"/>
                <a:cs typeface="Inter"/>
                <a:sym typeface="Inter"/>
              </a:rPr>
              <a:t>THE TRIAGE DESK</a:t>
            </a:r>
          </a:p>
          <a:p>
            <a:pPr indent="0" lvl="0" marL="0" marR="0" rtl="0" algn="l">
              <a:spcBef>
                <a:spcPts val="0"/>
              </a:spcBef>
              <a:spcAft>
                <a:spcPts val="0"/>
              </a:spcAft>
              <a:buClr>
                <a:srgbClr val="F7F3E9"/>
              </a:buClr>
              <a:buSzPts val="1250"/>
              <a:buFont typeface="Inter"/>
              <a:buNone/>
            </a:pPr>
            <a:r>
              <a:rPr b="1" lang="en-US" sz="1250">
                <a:solidFill>
                  <a:srgbClr val="F7F3E9"/>
                </a:solidFill>
                <a:latin typeface="Inter"/>
                <a:ea typeface="Inter"/>
                <a:cs typeface="Inter"/>
                <a:sym typeface="Inter"/>
              </a:rPr>
              <a:t>INSTRUCTIONS · ~15 MIN</a:t>
            </a:r>
          </a:p>
        </p:txBody>
      </p:sp>
      <p:sp>
        <p:nvSpPr>
          <p:cNvPr id="62" name="Google Shape;62;p7"/>
          <p:cNvSpPr/>
          <p:nvPr/>
        </p:nvSpPr>
        <p:spPr>
          <a:xfrm>
            <a:off x="5092700" y="3310128"/>
            <a:ext cx="1993392" cy="1235746"/>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AFA893"/>
              </a:buClr>
              <a:buSzPts val="1600"/>
              <a:buFont typeface="Inter"/>
              <a:buNone/>
            </a:pPr>
            <a:r>
              <a:rPr i="1" lang="en-US">
                <a:solidFill>
                  <a:srgbClr val="AFA893"/>
                </a:solidFill>
                <a:latin typeface="Inter"/>
                <a:ea typeface="Inter"/>
                <a:cs typeface="Inter"/>
                <a:sym typeface="Inter"/>
              </a:rPr>
              <a:t>You brief her once: red, yellow, gray. Your people, your priorities, your voice.</a:t>
            </a:r>
          </a:p>
        </p:txBody>
      </p:sp>
      <p:sp>
        <p:nvSpPr>
          <p:cNvPr id="63" name="Google Shape;63;p7"/>
          <p:cNvSpPr/>
          <p:nvPr/>
        </p:nvSpPr>
        <p:spPr>
          <a:xfrm>
            <a:off x="8813800" y="2011680"/>
            <a:ext cx="2542032" cy="3108960"/>
          </a:xfrm>
          <a:prstGeom prst="roundRect">
            <a:avLst>
              <a:gd fmla="val 2158" name="adj"/>
            </a:avLst>
          </a:prstGeom>
          <a:solidFill>
            <a:srgbClr val="1B2A4A"/>
          </a:solidFill>
          <a:ln cap="flat" cmpd="sng" w="9525">
            <a:solidFill>
              <a:srgbClr val="C9A227">
                <a:alpha val="6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 name="Google Shape;64;p7"/>
          <p:cNvSpPr/>
          <p:nvPr/>
        </p:nvSpPr>
        <p:spPr>
          <a:xfrm>
            <a:off x="9093200" y="2108343"/>
            <a:ext cx="1993392"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2600"/>
              <a:buFont typeface="Playfair Display"/>
              <a:buNone/>
            </a:pPr>
            <a:r>
              <a:rPr b="1" lang="en-US" sz="2600">
                <a:solidFill>
                  <a:srgbClr val="C9A227"/>
                </a:solidFill>
                <a:latin typeface="Playfair Display"/>
                <a:ea typeface="Playfair Display"/>
                <a:cs typeface="Playfair Display"/>
                <a:sym typeface="Playfair Display"/>
              </a:rPr>
              <a:t>03</a:t>
            </a:r>
            <a:endParaRPr sz="2600">
              <a:solidFill>
                <a:schemeClr val="dk1"/>
              </a:solidFill>
              <a:latin typeface="Calibri"/>
              <a:ea typeface="Calibri"/>
              <a:cs typeface="Calibri"/>
              <a:sym typeface="Calibri"/>
            </a:endParaRPr>
          </a:p>
        </p:txBody>
      </p:sp>
      <p:sp>
        <p:nvSpPr>
          <p:cNvPr id="65" name="Google Shape;65;p7"/>
          <p:cNvSpPr/>
          <p:nvPr/>
        </p:nvSpPr>
        <p:spPr>
          <a:xfrm>
            <a:off x="9093200" y="2526355"/>
            <a:ext cx="1993392"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F3E9"/>
              </a:buClr>
              <a:buSzPts val="1250"/>
              <a:buFont typeface="Inter"/>
              <a:buNone/>
            </a:pPr>
            <a:r>
              <a:rPr b="1" lang="en-US" sz="1250">
                <a:solidFill>
                  <a:srgbClr val="F7F3E9"/>
                </a:solidFill>
                <a:latin typeface="Inter"/>
                <a:ea typeface="Inter"/>
                <a:cs typeface="Inter"/>
                <a:sym typeface="Inter"/>
              </a:rPr>
              <a:t>DONNA, FULL TIME</a:t>
            </a:r>
          </a:p>
          <a:p>
            <a:pPr indent="0" lvl="0" marL="0" marR="0" rtl="0" algn="l">
              <a:spcBef>
                <a:spcPts val="0"/>
              </a:spcBef>
              <a:spcAft>
                <a:spcPts val="0"/>
              </a:spcAft>
              <a:buClr>
                <a:srgbClr val="F7F3E9"/>
              </a:buClr>
              <a:buSzPts val="1250"/>
              <a:buFont typeface="Inter"/>
              <a:buNone/>
            </a:pPr>
            <a:r>
              <a:rPr b="1" lang="en-US" sz="1250">
                <a:solidFill>
                  <a:srgbClr val="F7F3E9"/>
                </a:solidFill>
                <a:latin typeface="Inter"/>
                <a:ea typeface="Inter"/>
                <a:cs typeface="Inter"/>
                <a:sym typeface="Inter"/>
              </a:rPr>
              <a:t>SKILL + SCHEDULE · ~15 MIN</a:t>
            </a:r>
          </a:p>
        </p:txBody>
      </p:sp>
      <p:sp>
        <p:nvSpPr>
          <p:cNvPr id="66" name="Google Shape;66;p7"/>
          <p:cNvSpPr/>
          <p:nvPr/>
        </p:nvSpPr>
        <p:spPr>
          <a:xfrm>
            <a:off x="9093200" y="3310128"/>
            <a:ext cx="1993392" cy="1235746"/>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AFA893"/>
              </a:buClr>
              <a:buSzPts val="1600"/>
              <a:buFont typeface="Inter"/>
              <a:buNone/>
            </a:pPr>
            <a:r>
              <a:rPr i="1" lang="en-US">
                <a:solidFill>
                  <a:srgbClr val="AFA893"/>
                </a:solidFill>
                <a:latin typeface="Inter"/>
                <a:ea typeface="Inter"/>
                <a:cs typeface="Inter"/>
                <a:sym typeface="Inter"/>
              </a:rPr>
              <a:t>Her playbook becomes a skill she keeps, and she takes the 4:30 evening shift.</a:t>
            </a:r>
          </a:p>
        </p:txBody>
      </p:sp>
      <p:sp>
        <p:nvSpPr>
          <p:cNvPr id="71" name="Google Shape;71;p7"/>
          <p:cNvSpPr/>
          <p:nvPr/>
        </p:nvSpPr>
        <p:spPr>
          <a:xfrm>
            <a:off x="822960" y="5440680"/>
            <a:ext cx="10545775"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FA893"/>
              </a:buClr>
              <a:buSzPts val="2400"/>
              <a:buFont typeface="Inter"/>
              <a:buNone/>
            </a:pPr>
            <a:r>
              <a:rPr i="1" lang="en-US" sz="2400">
                <a:solidFill>
                  <a:srgbClr val="AFA893"/>
                </a:solidFill>
                <a:latin typeface="Inter"/>
                <a:ea typeface="Inter"/>
                <a:cs typeface="Inter"/>
                <a:sym typeface="Inter"/>
              </a:rPr>
              <a:t>Each case file is on the site. Every prompt has a copy button. You paste, she works.</a:t>
            </a:r>
          </a:p>
        </p:txBody>
      </p:sp>
      <p:sp>
        <p:nvSpPr>
          <p:cNvPr id="72" name="Google Shape;72;p7"/>
          <p:cNvSpPr/>
          <p:nvPr/>
        </p:nvSpPr>
        <p:spPr>
          <a:xfrm>
            <a:off x="1090879" y="4526280"/>
            <a:ext cx="1993392"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1600"/>
              <a:buFont typeface="Playfair Display"/>
              <a:buNone/>
            </a:pPr>
            <a:r>
              <a:rPr b="1" lang="en-US" sz="1600">
                <a:solidFill>
                  <a:srgbClr val="C9A227"/>
                </a:solidFill>
                <a:latin typeface="Playfair Display"/>
                <a:ea typeface="Playfair Display"/>
                <a:cs typeface="Playfair Display"/>
                <a:sym typeface="Playfair Display"/>
              </a:rPr>
              <a:t>Topic: Projects + Connectors</a:t>
            </a:r>
          </a:p>
        </p:txBody>
      </p:sp>
      <p:sp>
        <p:nvSpPr>
          <p:cNvPr id="73" name="Google Shape;73;p7"/>
          <p:cNvSpPr/>
          <p:nvPr/>
        </p:nvSpPr>
        <p:spPr>
          <a:xfrm>
            <a:off x="5080000" y="4526280"/>
            <a:ext cx="1993392"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1600"/>
              <a:buFont typeface="Playfair Display"/>
              <a:buNone/>
            </a:pPr>
            <a:r>
              <a:rPr b="1" lang="en-US" sz="1600">
                <a:solidFill>
                  <a:srgbClr val="C9A227"/>
                </a:solidFill>
                <a:latin typeface="Playfair Display"/>
                <a:ea typeface="Playfair Display"/>
                <a:cs typeface="Playfair Display"/>
                <a:sym typeface="Playfair Display"/>
              </a:rPr>
              <a:t>Topic: Instructions</a:t>
            </a:r>
          </a:p>
        </p:txBody>
      </p:sp>
      <p:sp>
        <p:nvSpPr>
          <p:cNvPr id="74" name="Google Shape;74;p7"/>
          <p:cNvSpPr/>
          <p:nvPr/>
        </p:nvSpPr>
        <p:spPr>
          <a:xfrm>
            <a:off x="9080500" y="4526280"/>
            <a:ext cx="1993392"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1600"/>
              <a:buFont typeface="Playfair Display"/>
              <a:buNone/>
            </a:pPr>
            <a:r>
              <a:rPr b="1" lang="en-US" sz="1600">
                <a:solidFill>
                  <a:srgbClr val="C9A227"/>
                </a:solidFill>
                <a:latin typeface="Playfair Display"/>
                <a:ea typeface="Playfair Display"/>
                <a:cs typeface="Playfair Display"/>
                <a:sym typeface="Playfair Display"/>
              </a:rPr>
              <a:t>Topic: Skills + Schedules</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213D"/>
        </a:solidFill>
      </p:bgPr>
    </p:bg>
    <p:spTree>
      <p:nvGrpSpPr>
        <p:cNvPr id="80" name="Shape 80"/>
        <p:cNvGrpSpPr/>
        <p:nvPr/>
      </p:nvGrpSpPr>
      <p:grpSpPr>
        <a:xfrm>
          <a:off x="0" y="0"/>
          <a:ext cx="0" cy="0"/>
          <a:chOff x="0" y="0"/>
          <a:chExt cx="0" cy="0"/>
        </a:xfrm>
      </p:grpSpPr>
      <p:sp>
        <p:nvSpPr>
          <p:cNvPr id="81" name="Google Shape;81;p8"/>
          <p:cNvSpPr/>
          <p:nvPr/>
        </p:nvSpPr>
        <p:spPr>
          <a:xfrm>
            <a:off x="822952" y="1783050"/>
            <a:ext cx="4444800" cy="3291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9A227"/>
              </a:buClr>
              <a:buSzPts val="20000"/>
              <a:buFont typeface="Playfair Display"/>
              <a:buNone/>
            </a:pPr>
            <a:r>
              <a:rPr b="1" lang="en-US" sz="3700">
                <a:solidFill>
                  <a:srgbClr val="C9A227"/>
                </a:solidFill>
                <a:latin typeface="Playfair Display"/>
                <a:ea typeface="Playfair Display"/>
                <a:cs typeface="Playfair Display"/>
                <a:sym typeface="Playfair Display"/>
              </a:rPr>
              <a:t>Instructions</a:t>
            </a:r>
            <a:br>
              <a:rPr b="1" lang="en-US" sz="3700">
                <a:solidFill>
                  <a:srgbClr val="C9A227"/>
                </a:solidFill>
                <a:latin typeface="Playfair Display"/>
                <a:ea typeface="Playfair Display"/>
                <a:cs typeface="Playfair Display"/>
                <a:sym typeface="Playfair Display"/>
              </a:rPr>
            </a:br>
            <a:r>
              <a:rPr b="1" lang="en-US" sz="3700" u="sng">
                <a:solidFill>
                  <a:schemeClr val="hlink"/>
                </a:solidFill>
                <a:latin typeface="Playfair Display"/>
                <a:ea typeface="Playfair Display"/>
                <a:cs typeface="Playfair Display"/>
                <a:sym typeface="Playfair Display"/>
                <a:hlinkClick r:id="rId3"/>
              </a:rPr>
              <a:t>[click here]</a:t>
            </a:r>
            <a:endParaRPr sz="3700">
              <a:solidFill>
                <a:schemeClr val="dk1"/>
              </a:solidFill>
              <a:latin typeface="Calibri"/>
              <a:ea typeface="Calibri"/>
              <a:cs typeface="Calibri"/>
              <a:sym typeface="Calibri"/>
            </a:endParaRPr>
          </a:p>
        </p:txBody>
      </p:sp>
      <p:sp>
        <p:nvSpPr>
          <p:cNvPr id="82" name="Google Shape;82;p8"/>
          <p:cNvSpPr/>
          <p:nvPr/>
        </p:nvSpPr>
        <p:spPr>
          <a:xfrm>
            <a:off x="6400800" y="4663490"/>
            <a:ext cx="4755000" cy="10974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AFA893"/>
              </a:buClr>
              <a:buSzPts val="1500"/>
              <a:buFont typeface="Inter"/>
              <a:buNone/>
            </a:pPr>
            <a:r>
              <a:rPr i="1" lang="en-US" sz="1500">
                <a:solidFill>
                  <a:srgbClr val="AFA893"/>
                </a:solidFill>
                <a:latin typeface="Inter"/>
                <a:ea typeface="Inter"/>
                <a:cs typeface="Inter"/>
                <a:sym typeface="Inter"/>
              </a:rPr>
              <a:t>Or Scan Here</a:t>
            </a:r>
            <a:endParaRPr sz="1500">
              <a:solidFill>
                <a:schemeClr val="dk1"/>
              </a:solidFill>
              <a:latin typeface="Calibri"/>
              <a:ea typeface="Calibri"/>
              <a:cs typeface="Calibri"/>
              <a:sym typeface="Calibri"/>
            </a:endParaRPr>
          </a:p>
        </p:txBody>
      </p:sp>
      <p:pic>
        <p:nvPicPr>
          <p:cNvPr id="83" name="Google Shape;83;p8" title="Qq7t0PrAwZxmZMM_Build Your Own Donna · A two-hour workshop for executives.png"/>
          <p:cNvPicPr preferRelativeResize="0"/>
          <p:nvPr/>
        </p:nvPicPr>
        <p:blipFill>
          <a:blip r:embed="rId4">
            <a:alphaModFix/>
          </a:blip>
          <a:stretch>
            <a:fillRect/>
          </a:stretch>
        </p:blipFill>
        <p:spPr>
          <a:xfrm>
            <a:off x="7171275" y="1648052"/>
            <a:ext cx="3214050" cy="3214050"/>
          </a:xfrm>
          <a:prstGeom prst="rect">
            <a:avLst/>
          </a:prstGeom>
          <a:noFill/>
          <a:ln>
            <a:noFill/>
          </a:ln>
        </p:spPr>
      </p:pic>
      <p:sp>
        <p:nvSpPr>
          <p:cNvPr id="84" name="Google Shape;84;p8"/>
          <p:cNvSpPr/>
          <p:nvPr/>
        </p:nvSpPr>
        <p:spPr>
          <a:xfrm>
            <a:off x="822960" y="502920"/>
            <a:ext cx="105459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B94A"/>
              </a:buClr>
              <a:buSzPts val="1200"/>
              <a:buFont typeface="Inter"/>
              <a:buNone/>
            </a:pPr>
            <a:r>
              <a:rPr b="1" lang="en-US" sz="1200">
                <a:solidFill>
                  <a:srgbClr val="DDB94A"/>
                </a:solidFill>
                <a:latin typeface="Inter"/>
                <a:ea typeface="Inter"/>
                <a:cs typeface="Inter"/>
                <a:sym typeface="Inter"/>
              </a:rPr>
              <a:t>THE PLAN </a:t>
            </a:r>
            <a:endParaRPr sz="12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213D"/>
        </a:solidFill>
      </p:bgPr>
    </p:bg>
    <p:spTree>
      <p:nvGrpSpPr>
        <p:cNvPr id="89" name="Shape 89"/>
        <p:cNvGrpSpPr/>
        <p:nvPr/>
      </p:nvGrpSpPr>
      <p:grpSpPr>
        <a:xfrm>
          <a:off x="0" y="0"/>
          <a:ext cx="0" cy="0"/>
          <a:chOff x="0" y="0"/>
          <a:chExt cx="0" cy="0"/>
        </a:xfrm>
      </p:grpSpPr>
      <p:sp>
        <p:nvSpPr>
          <p:cNvPr id="90" name="Google Shape;90;p9"/>
          <p:cNvSpPr/>
          <p:nvPr/>
        </p:nvSpPr>
        <p:spPr>
          <a:xfrm>
            <a:off x="822960" y="502920"/>
            <a:ext cx="10545775"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B94A"/>
              </a:buClr>
              <a:buSzPts val="1200"/>
              <a:buFont typeface="Inter"/>
              <a:buNone/>
            </a:pPr>
            <a:r>
              <a:rPr b="1" lang="en-US" sz="1200">
                <a:solidFill>
                  <a:srgbClr val="DDB94A"/>
                </a:solidFill>
                <a:latin typeface="Inter"/>
                <a:ea typeface="Inter"/>
                <a:cs typeface="Inter"/>
                <a:sym typeface="Inter"/>
              </a:rPr>
              <a:t>CASE FILE 01 · PROJECT — FIRST IMPRESSIONS</a:t>
            </a:r>
            <a:endParaRPr sz="1200">
              <a:solidFill>
                <a:schemeClr val="dk1"/>
              </a:solidFill>
              <a:latin typeface="Calibri"/>
              <a:ea typeface="Calibri"/>
              <a:cs typeface="Calibri"/>
              <a:sym typeface="Calibri"/>
            </a:endParaRPr>
          </a:p>
        </p:txBody>
      </p:sp>
      <p:sp>
        <p:nvSpPr>
          <p:cNvPr id="91" name="Google Shape;91;p9"/>
          <p:cNvSpPr/>
          <p:nvPr/>
        </p:nvSpPr>
        <p:spPr>
          <a:xfrm>
            <a:off x="822960" y="868680"/>
            <a:ext cx="10545775"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F3E9"/>
              </a:buClr>
              <a:buSzPts val="2800"/>
              <a:buFont typeface="Playfair Display"/>
              <a:buNone/>
            </a:pPr>
            <a:r>
              <a:rPr b="1" lang="en-US" sz="2800">
                <a:solidFill>
                  <a:srgbClr val="F7F3E9"/>
                </a:solidFill>
                <a:latin typeface="Playfair Display"/>
                <a:ea typeface="Playfair Display"/>
                <a:cs typeface="Playfair Display"/>
                <a:sym typeface="Playfair Display"/>
              </a:rPr>
              <a:t>One desk for everything. Create her project, then connect your Google accounts.</a:t>
            </a:r>
            <a:endParaRPr sz="2800">
              <a:solidFill>
                <a:schemeClr val="dk1"/>
              </a:solidFill>
              <a:latin typeface="Calibri"/>
              <a:ea typeface="Calibri"/>
              <a:cs typeface="Calibri"/>
              <a:sym typeface="Calibri"/>
            </a:endParaRPr>
          </a:p>
        </p:txBody>
      </p:sp>
      <p:sp>
        <p:nvSpPr>
          <p:cNvPr id="92" name="Google Shape;92;p9"/>
          <p:cNvSpPr/>
          <p:nvPr/>
        </p:nvSpPr>
        <p:spPr>
          <a:xfrm>
            <a:off x="822960" y="1627632"/>
            <a:ext cx="10545775"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FA893"/>
              </a:buClr>
              <a:buSzPts val="1800"/>
              <a:buFont typeface="Inter"/>
              <a:buNone/>
            </a:pPr>
            <a:r>
              <a:rPr lang="en-US" sz="1800">
                <a:solidFill>
                  <a:srgbClr val="AFA893"/>
                </a:solidFill>
                <a:latin typeface="Inter"/>
                <a:ea typeface="Inter"/>
                <a:cs typeface="Inter"/>
                <a:sym typeface="Inter"/>
              </a:rPr>
              <a:t>Projects → New project → name it Donna. Then: Settings → Connectors → Connect Gmail + Calendar + Drive</a:t>
            </a:r>
            <a:endParaRPr sz="1800">
              <a:solidFill>
                <a:schemeClr val="dk1"/>
              </a:solidFill>
              <a:latin typeface="Calibri"/>
              <a:ea typeface="Calibri"/>
              <a:cs typeface="Calibri"/>
              <a:sym typeface="Calibri"/>
            </a:endParaRPr>
          </a:p>
        </p:txBody>
      </p:sp>
      <p:sp>
        <p:nvSpPr>
          <p:cNvPr id="93" name="Google Shape;93;p9"/>
          <p:cNvSpPr/>
          <p:nvPr/>
        </p:nvSpPr>
        <p:spPr>
          <a:xfrm>
            <a:off x="1280150" y="2286000"/>
            <a:ext cx="9631500" cy="3424500"/>
          </a:xfrm>
          <a:prstGeom prst="roundRect">
            <a:avLst>
              <a:gd fmla="val 2000" name="adj"/>
            </a:avLst>
          </a:prstGeom>
          <a:solidFill>
            <a:srgbClr val="F7F3E9"/>
          </a:solidFill>
          <a:ln>
            <a:noFill/>
          </a:ln>
          <a:effectLst>
            <a:outerShdw blurRad="177800" rotWithShape="0" algn="bl" dir="5400000" dist="762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 name="Google Shape;94;p9"/>
          <p:cNvSpPr/>
          <p:nvPr/>
        </p:nvSpPr>
        <p:spPr>
          <a:xfrm>
            <a:off x="1645920" y="2487168"/>
            <a:ext cx="8899855"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379"/>
              </a:buClr>
              <a:buSzPts val="1000"/>
              <a:buFont typeface="Inter"/>
              <a:buNone/>
            </a:pPr>
            <a:r>
              <a:rPr b="1" lang="en-US" sz="1000">
                <a:solidFill>
                  <a:srgbClr val="5A6379"/>
                </a:solidFill>
                <a:latin typeface="Inter"/>
                <a:ea typeface="Inter"/>
                <a:cs typeface="Inter"/>
                <a:sym typeface="Inter"/>
              </a:rPr>
              <a:t>STUCK CONNECTING? — THE SETUP PROMPT</a:t>
            </a:r>
            <a:endParaRPr sz="1000">
              <a:solidFill>
                <a:schemeClr val="dk1"/>
              </a:solidFill>
              <a:latin typeface="Calibri"/>
              <a:ea typeface="Calibri"/>
              <a:cs typeface="Calibri"/>
              <a:sym typeface="Calibri"/>
            </a:endParaRPr>
          </a:p>
        </p:txBody>
      </p:sp>
      <p:sp>
        <p:nvSpPr>
          <p:cNvPr id="95" name="Google Shape;95;p9"/>
          <p:cNvSpPr/>
          <p:nvPr/>
        </p:nvSpPr>
        <p:spPr>
          <a:xfrm>
            <a:off x="1645920" y="2788920"/>
            <a:ext cx="8899855" cy="155448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chemeClr val="dk1"/>
              </a:buClr>
              <a:buSzPts val="2100"/>
              <a:buFont typeface="Calibri"/>
              <a:buNone/>
            </a:pPr>
            <a:r>
              <a:t/>
            </a:r>
            <a:endParaRPr sz="2100">
              <a:solidFill>
                <a:schemeClr val="dk1"/>
              </a:solidFill>
              <a:latin typeface="Calibri"/>
              <a:ea typeface="Calibri"/>
              <a:cs typeface="Calibri"/>
              <a:sym typeface="Calibri"/>
            </a:endParaRPr>
          </a:p>
        </p:txBody>
      </p:sp>
      <p:sp>
        <p:nvSpPr>
          <p:cNvPr id="96" name="Google Shape;96;p9"/>
          <p:cNvSpPr/>
          <p:nvPr/>
        </p:nvSpPr>
        <p:spPr>
          <a:xfrm>
            <a:off x="1730810" y="3011349"/>
            <a:ext cx="8899800" cy="23289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US" sz="1600">
                <a:latin typeface="Courier New"/>
                <a:ea typeface="Courier New"/>
                <a:cs typeface="Courier New"/>
                <a:sym typeface="Courier New"/>
              </a:rPr>
              <a:t>Walk me through connecting my work email and calendar to Claude — first ask whether I'm on Gmail or Outlook, Mac or Windows, and whether IT manages my account, and check Anthropic's current help docs before answering so the steps match what's actually on my screen today. Then give me numbered steps naming the exact buttons to click, a way to verify it worked, and what to do if the connector isn't listed or I hit an "administrator hasn't approved this" error.</a:t>
            </a:r>
            <a:endParaRPr sz="1600">
              <a:latin typeface="Courier New"/>
              <a:ea typeface="Courier New"/>
              <a:cs typeface="Courier New"/>
              <a:sym typeface="Courier New"/>
            </a:endParaRPr>
          </a:p>
          <a:p>
            <a:pPr indent="0" lvl="0" marL="0" marR="0" rtl="0" algn="l">
              <a:lnSpc>
                <a:spcPct val="115000"/>
              </a:lnSpc>
              <a:spcBef>
                <a:spcPts val="0"/>
              </a:spcBef>
              <a:spcAft>
                <a:spcPts val="0"/>
              </a:spcAft>
              <a:buClr>
                <a:srgbClr val="1C2333"/>
              </a:buClr>
              <a:buSzPts val="2100"/>
              <a:buFont typeface="Courier New"/>
              <a:buNone/>
            </a:pPr>
            <a:r>
              <a:t/>
            </a:r>
            <a:endParaRPr sz="1600">
              <a:latin typeface="Courier New"/>
              <a:ea typeface="Courier New"/>
              <a:cs typeface="Courier New"/>
              <a:sym typeface="Courier New"/>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213D"/>
        </a:solidFill>
      </p:bgPr>
    </p:bg>
    <p:spTree>
      <p:nvGrpSpPr>
        <p:cNvPr id="101" name="Shape 101"/>
        <p:cNvGrpSpPr/>
        <p:nvPr/>
      </p:nvGrpSpPr>
      <p:grpSpPr>
        <a:xfrm>
          <a:off x="0" y="0"/>
          <a:ext cx="0" cy="0"/>
          <a:chOff x="0" y="0"/>
          <a:chExt cx="0" cy="0"/>
        </a:xfrm>
      </p:grpSpPr>
      <p:sp>
        <p:nvSpPr>
          <p:cNvPr id="102" name="Google Shape;102;p10"/>
          <p:cNvSpPr/>
          <p:nvPr/>
        </p:nvSpPr>
        <p:spPr>
          <a:xfrm>
            <a:off x="822960" y="502920"/>
            <a:ext cx="10545775"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DB94A"/>
              </a:buClr>
              <a:buSzPts val="1200"/>
              <a:buFont typeface="Inter"/>
              <a:buNone/>
            </a:pPr>
            <a:r>
              <a:rPr b="1" i="0" lang="en-US" sz="1200" u="none" cap="none" strike="noStrike">
                <a:solidFill>
                  <a:srgbClr val="DDB94A"/>
                </a:solidFill>
                <a:latin typeface="Inter"/>
                <a:ea typeface="Inter"/>
                <a:cs typeface="Inter"/>
                <a:sym typeface="Inter"/>
              </a:rPr>
              <a:t>CASE FILE 01 · PROJECT — FIRST IMPRESSIONS</a:t>
            </a:r>
            <a:endParaRPr b="0" i="0" sz="1200" u="none" cap="none" strike="noStrike">
              <a:solidFill>
                <a:srgbClr val="000000"/>
              </a:solidFill>
              <a:latin typeface="Calibri"/>
              <a:ea typeface="Calibri"/>
              <a:cs typeface="Calibri"/>
              <a:sym typeface="Calibri"/>
            </a:endParaRPr>
          </a:p>
        </p:txBody>
      </p:sp>
      <p:sp>
        <p:nvSpPr>
          <p:cNvPr id="103" name="Google Shape;103;p10"/>
          <p:cNvSpPr/>
          <p:nvPr/>
        </p:nvSpPr>
        <p:spPr>
          <a:xfrm>
            <a:off x="822960" y="868680"/>
            <a:ext cx="10545775" cy="7315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7F3E9"/>
              </a:buClr>
              <a:buSzPts val="2800"/>
              <a:buFont typeface="Playfair Display"/>
              <a:buNone/>
            </a:pPr>
            <a:r>
              <a:rPr b="1" i="0" lang="en-US" sz="2800" u="none" cap="none" strike="noStrike">
                <a:solidFill>
                  <a:srgbClr val="F7F3E9"/>
                </a:solidFill>
                <a:latin typeface="Playfair Display"/>
                <a:ea typeface="Playfair Display"/>
                <a:cs typeface="Playfair Display"/>
                <a:sym typeface="Playfair Display"/>
              </a:rPr>
              <a:t>Inside the Donna project: ask the only question that matters.</a:t>
            </a:r>
            <a:endParaRPr b="0" i="0" sz="2800" u="none" cap="none" strike="noStrike">
              <a:solidFill>
                <a:srgbClr val="000000"/>
              </a:solidFill>
              <a:latin typeface="Calibri"/>
              <a:ea typeface="Calibri"/>
              <a:cs typeface="Calibri"/>
              <a:sym typeface="Calibri"/>
            </a:endParaRPr>
          </a:p>
        </p:txBody>
      </p:sp>
      <p:sp>
        <p:nvSpPr>
          <p:cNvPr id="104" name="Google Shape;104;p10"/>
          <p:cNvSpPr/>
          <p:nvPr/>
        </p:nvSpPr>
        <p:spPr>
          <a:xfrm>
            <a:off x="822960" y="1627632"/>
            <a:ext cx="10545775"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FA893"/>
              </a:buClr>
              <a:buSzPts val="1800"/>
              <a:buFont typeface="Inter"/>
              <a:buNone/>
            </a:pPr>
            <a:r>
              <a:rPr b="0" i="0" lang="en-US" sz="1800" u="none" cap="none" strike="noStrike">
                <a:solidFill>
                  <a:srgbClr val="AFA893"/>
                </a:solidFill>
                <a:latin typeface="Inter"/>
                <a:ea typeface="Inter"/>
                <a:cs typeface="Inter"/>
                <a:sym typeface="Inter"/>
              </a:rPr>
              <a:t>Connected, but she can’t see your inbox? Quit Claude fully and reopen it. Fixes it nine times out of ten.</a:t>
            </a:r>
            <a:endParaRPr b="0" i="0" sz="1800" u="none" cap="none" strike="noStrike">
              <a:solidFill>
                <a:srgbClr val="000000"/>
              </a:solidFill>
              <a:latin typeface="Calibri"/>
              <a:ea typeface="Calibri"/>
              <a:cs typeface="Calibri"/>
              <a:sym typeface="Calibri"/>
            </a:endParaRPr>
          </a:p>
        </p:txBody>
      </p:sp>
      <p:sp>
        <p:nvSpPr>
          <p:cNvPr id="105" name="Google Shape;105;p10"/>
          <p:cNvSpPr/>
          <p:nvPr/>
        </p:nvSpPr>
        <p:spPr>
          <a:xfrm>
            <a:off x="1280160" y="2286000"/>
            <a:ext cx="9631375" cy="2286000"/>
          </a:xfrm>
          <a:prstGeom prst="roundRect">
            <a:avLst>
              <a:gd fmla="val 2000" name="adj"/>
            </a:avLst>
          </a:prstGeom>
          <a:solidFill>
            <a:srgbClr val="F7F3E9"/>
          </a:solidFill>
          <a:ln>
            <a:noFill/>
          </a:ln>
          <a:effectLst>
            <a:outerShdw blurRad="177800" rotWithShape="0" algn="bl" dir="5400000" dist="762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6" name="Google Shape;106;p10"/>
          <p:cNvSpPr/>
          <p:nvPr/>
        </p:nvSpPr>
        <p:spPr>
          <a:xfrm>
            <a:off x="1645920" y="2487168"/>
            <a:ext cx="8899855"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379"/>
              </a:buClr>
              <a:buSzPts val="1000"/>
              <a:buFont typeface="Inter"/>
              <a:buNone/>
            </a:pPr>
            <a:r>
              <a:rPr b="1" i="0" lang="en-US" sz="1000" u="none" cap="none" strike="noStrike">
                <a:solidFill>
                  <a:srgbClr val="5A6379"/>
                </a:solidFill>
                <a:latin typeface="Inter"/>
                <a:ea typeface="Inter"/>
                <a:cs typeface="Inter"/>
                <a:sym typeface="Inter"/>
              </a:rPr>
              <a:t>PROMPT 1 — THE QUESTION</a:t>
            </a:r>
            <a:endParaRPr b="0" i="0" sz="1000" u="none" cap="none" strike="noStrike">
              <a:solidFill>
                <a:srgbClr val="000000"/>
              </a:solidFill>
              <a:latin typeface="Calibri"/>
              <a:ea typeface="Calibri"/>
              <a:cs typeface="Calibri"/>
              <a:sym typeface="Calibri"/>
            </a:endParaRPr>
          </a:p>
        </p:txBody>
      </p:sp>
      <p:sp>
        <p:nvSpPr>
          <p:cNvPr id="107" name="Google Shape;107;p10"/>
          <p:cNvSpPr/>
          <p:nvPr/>
        </p:nvSpPr>
        <p:spPr>
          <a:xfrm>
            <a:off x="1645920" y="2788920"/>
            <a:ext cx="8899855" cy="155448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C2333"/>
              </a:buClr>
              <a:buSzPts val="2100"/>
              <a:buFont typeface="Courier New"/>
              <a:buNone/>
            </a:pPr>
            <a:r>
              <a:rPr b="0" i="0" lang="en-US" sz="2100" u="none" cap="none" strike="noStrike">
                <a:solidFill>
                  <a:srgbClr val="1C2333"/>
                </a:solidFill>
                <a:latin typeface="Courier New"/>
                <a:ea typeface="Courier New"/>
                <a:cs typeface="Courier New"/>
                <a:sym typeface="Courier New"/>
              </a:rPr>
              <a:t>What landed in my inbox in the last 24 hours</a:t>
            </a:r>
            <a:endParaRPr b="0" i="0" sz="2100" u="none" cap="none" strike="noStrike">
              <a:solidFill>
                <a:srgbClr val="000000"/>
              </a:solidFill>
              <a:latin typeface="Calibri"/>
              <a:ea typeface="Calibri"/>
              <a:cs typeface="Calibri"/>
              <a:sym typeface="Calibri"/>
            </a:endParaRPr>
          </a:p>
          <a:p>
            <a:pPr indent="0" lvl="0" marL="0" marR="0" rtl="0" algn="l">
              <a:lnSpc>
                <a:spcPct val="115000"/>
              </a:lnSpc>
              <a:spcBef>
                <a:spcPts val="0"/>
              </a:spcBef>
              <a:spcAft>
                <a:spcPts val="0"/>
              </a:spcAft>
              <a:buClr>
                <a:srgbClr val="1C2333"/>
              </a:buClr>
              <a:buSzPts val="2100"/>
              <a:buFont typeface="Courier New"/>
              <a:buNone/>
            </a:pPr>
            <a:r>
              <a:rPr b="0" i="0" lang="en-US" sz="2100" u="none" cap="none" strike="noStrike">
                <a:solidFill>
                  <a:srgbClr val="1C2333"/>
                </a:solidFill>
                <a:latin typeface="Courier New"/>
                <a:ea typeface="Courier New"/>
                <a:cs typeface="Courier New"/>
                <a:sym typeface="Courier New"/>
              </a:rPr>
              <a:t>that actually needs ME?</a:t>
            </a:r>
            <a:endParaRPr b="0" i="0" sz="2100" u="none" cap="none" strike="noStrike">
              <a:solidFill>
                <a:srgbClr val="000000"/>
              </a:solidFill>
              <a:latin typeface="Calibri"/>
              <a:ea typeface="Calibri"/>
              <a:cs typeface="Calibri"/>
              <a:sym typeface="Calibri"/>
            </a:endParaRPr>
          </a:p>
          <a:p>
            <a:pPr indent="0" lvl="0" marL="0" marR="0" rtl="0" algn="l">
              <a:lnSpc>
                <a:spcPct val="115000"/>
              </a:lnSpc>
              <a:spcBef>
                <a:spcPts val="0"/>
              </a:spcBef>
              <a:spcAft>
                <a:spcPts val="0"/>
              </a:spcAft>
              <a:buClr>
                <a:srgbClr val="1C2333"/>
              </a:buClr>
              <a:buSzPts val="2100"/>
              <a:buFont typeface="Courier New"/>
              <a:buNone/>
            </a:pPr>
            <a:r>
              <a:rPr b="0" i="0" lang="en-US" sz="2100" u="none" cap="none" strike="noStrike">
                <a:solidFill>
                  <a:srgbClr val="1C2333"/>
                </a:solidFill>
                <a:latin typeface="Courier New"/>
                <a:ea typeface="Courier New"/>
                <a:cs typeface="Courier New"/>
                <a:sym typeface="Courier New"/>
              </a:rPr>
              <a:t>Top 5, one line each.</a:t>
            </a:r>
            <a:endParaRPr b="0" i="0" sz="2100" u="none" cap="none" strike="noStrike">
              <a:solidFill>
                <a:srgbClr val="000000"/>
              </a:solidFill>
              <a:latin typeface="Calibri"/>
              <a:ea typeface="Calibri"/>
              <a:cs typeface="Calibri"/>
              <a:sym typeface="Calibri"/>
            </a:endParaRPr>
          </a:p>
        </p:txBody>
      </p:sp>
      <p:sp>
        <p:nvSpPr>
          <p:cNvPr id="108" name="Google Shape;108;p10"/>
          <p:cNvSpPr/>
          <p:nvPr/>
        </p:nvSpPr>
        <p:spPr>
          <a:xfrm>
            <a:off x="1280160" y="4800600"/>
            <a:ext cx="9631375" cy="1554480"/>
          </a:xfrm>
          <a:prstGeom prst="roundRect">
            <a:avLst>
              <a:gd fmla="val 2941" name="adj"/>
            </a:avLst>
          </a:prstGeom>
          <a:solidFill>
            <a:srgbClr val="F7F3E9"/>
          </a:solidFill>
          <a:ln>
            <a:noFill/>
          </a:ln>
          <a:effectLst>
            <a:outerShdw blurRad="177800" rotWithShape="0" algn="bl" dir="5400000" dist="762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9" name="Google Shape;109;p10"/>
          <p:cNvSpPr/>
          <p:nvPr/>
        </p:nvSpPr>
        <p:spPr>
          <a:xfrm>
            <a:off x="1645920" y="5001768"/>
            <a:ext cx="8899855"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379"/>
              </a:buClr>
              <a:buSzPts val="1000"/>
              <a:buFont typeface="Inter"/>
              <a:buNone/>
            </a:pPr>
            <a:r>
              <a:rPr b="1" i="0" lang="en-US" sz="1000" u="none" cap="none" strike="noStrike">
                <a:solidFill>
                  <a:srgbClr val="5A6379"/>
                </a:solidFill>
                <a:latin typeface="Inter"/>
                <a:ea typeface="Inter"/>
                <a:cs typeface="Inter"/>
                <a:sym typeface="Inter"/>
              </a:rPr>
              <a:t>PROMPT 2 — THE FIRST DRAFT</a:t>
            </a:r>
            <a:endParaRPr b="0" i="0" sz="1000" u="none" cap="none" strike="noStrike">
              <a:solidFill>
                <a:srgbClr val="000000"/>
              </a:solidFill>
              <a:latin typeface="Calibri"/>
              <a:ea typeface="Calibri"/>
              <a:cs typeface="Calibri"/>
              <a:sym typeface="Calibri"/>
            </a:endParaRPr>
          </a:p>
        </p:txBody>
      </p:sp>
      <p:sp>
        <p:nvSpPr>
          <p:cNvPr id="110" name="Google Shape;110;p10"/>
          <p:cNvSpPr/>
          <p:nvPr/>
        </p:nvSpPr>
        <p:spPr>
          <a:xfrm>
            <a:off x="1645920" y="5303520"/>
            <a:ext cx="8899855" cy="82296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C2333"/>
              </a:buClr>
              <a:buSzPts val="2000"/>
              <a:buFont typeface="Courier New"/>
              <a:buNone/>
            </a:pPr>
            <a:r>
              <a:rPr b="0" i="0" lang="en-US" sz="2000" u="none" cap="none" strike="noStrike">
                <a:solidFill>
                  <a:srgbClr val="1C2333"/>
                </a:solidFill>
                <a:latin typeface="Courier New"/>
                <a:ea typeface="Courier New"/>
                <a:cs typeface="Courier New"/>
                <a:sym typeface="Courier New"/>
              </a:rPr>
              <a:t>Draft a reply to #1. Under 100 words, warm but decisive.</a:t>
            </a:r>
          </a:p>
          <a:p>
            <a:pPr indent="0" lvl="0" marL="0" marR="0" rtl="0" algn="l">
              <a:lnSpc>
                <a:spcPct val="115000"/>
              </a:lnSpc>
              <a:spcBef>
                <a:spcPts val="0"/>
              </a:spcBef>
              <a:spcAft>
                <a:spcPts val="0"/>
              </a:spcAft>
              <a:buClr>
                <a:srgbClr val="1C2333"/>
              </a:buClr>
              <a:buSzPts val="2000"/>
              <a:buFont typeface="Courier New"/>
              <a:buNone/>
            </a:pPr>
            <a:r>
              <a:rPr b="0" i="0" lang="en-US" sz="2000" u="none" cap="none" strike="noStrike">
                <a:solidFill>
                  <a:srgbClr val="1C2333"/>
                </a:solidFill>
                <a:latin typeface="Courier New"/>
                <a:ea typeface="Courier New"/>
                <a:cs typeface="Courier New"/>
                <a:sym typeface="Courier New"/>
              </a:rPr>
              <a:t>Save it as a draft in my Gmail so I can review it there.</a:t>
            </a:r>
          </a:p>
          <a:p>
            <a:pPr indent="0" lvl="0" marL="0" marR="0" rtl="0" algn="l">
              <a:lnSpc>
                <a:spcPct val="115000"/>
              </a:lnSpc>
              <a:spcBef>
                <a:spcPts val="0"/>
              </a:spcBef>
              <a:spcAft>
                <a:spcPts val="0"/>
              </a:spcAft>
              <a:buClr>
                <a:srgbClr val="1C2333"/>
              </a:buClr>
              <a:buSzPts val="2000"/>
              <a:buFont typeface="Courier New"/>
              <a:buNone/>
            </a:pPr>
            <a:r>
              <a:rPr b="0" i="0" lang="en-US" sz="2000" u="none" cap="none" strike="noStrike">
                <a:solidFill>
                  <a:srgbClr val="1C2333"/>
                </a:solidFill>
                <a:latin typeface="Courier New"/>
                <a:ea typeface="Courier New"/>
                <a:cs typeface="Courier New"/>
                <a:sym typeface="Courier New"/>
              </a:rPr>
              <a:t>Do not send it.</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213D"/>
        </a:solidFill>
      </p:bgPr>
    </p:bg>
    <p:spTree>
      <p:nvGrpSpPr>
        <p:cNvPr id="115" name="Shape 115"/>
        <p:cNvGrpSpPr/>
        <p:nvPr/>
      </p:nvGrpSpPr>
      <p:grpSpPr>
        <a:xfrm>
          <a:off x="0" y="0"/>
          <a:ext cx="0" cy="0"/>
          <a:chOff x="0" y="0"/>
          <a:chExt cx="0" cy="0"/>
        </a:xfrm>
      </p:grpSpPr>
      <p:sp>
        <p:nvSpPr>
          <p:cNvPr id="116" name="Google Shape;116;p11"/>
          <p:cNvSpPr/>
          <p:nvPr/>
        </p:nvSpPr>
        <p:spPr>
          <a:xfrm>
            <a:off x="822960" y="502920"/>
            <a:ext cx="10545775"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B94A"/>
              </a:buClr>
              <a:buSzPts val="1200"/>
              <a:buFont typeface="Inter"/>
              <a:buNone/>
            </a:pPr>
            <a:r>
              <a:rPr b="1" lang="en-US" sz="1200">
                <a:solidFill>
                  <a:srgbClr val="DDB94A"/>
                </a:solidFill>
                <a:latin typeface="Inter"/>
                <a:ea typeface="Inter"/>
                <a:cs typeface="Inter"/>
                <a:sym typeface="Inter"/>
              </a:rPr>
              <a:t>CASE FILE 01 · LIVE DEMO — CHECKPOINT</a:t>
            </a:r>
            <a:endParaRPr sz="1200">
              <a:solidFill>
                <a:schemeClr val="dk1"/>
              </a:solidFill>
              <a:latin typeface="Calibri"/>
              <a:ea typeface="Calibri"/>
              <a:cs typeface="Calibri"/>
              <a:sym typeface="Calibri"/>
            </a:endParaRPr>
          </a:p>
        </p:txBody>
      </p:sp>
      <p:sp>
        <p:nvSpPr>
          <p:cNvPr id="117" name="Google Shape;117;p11"/>
          <p:cNvSpPr/>
          <p:nvPr/>
        </p:nvSpPr>
        <p:spPr>
          <a:xfrm>
            <a:off x="2194560" y="2148840"/>
            <a:ext cx="7802575" cy="1737360"/>
          </a:xfrm>
          <a:prstGeom prst="roundRect">
            <a:avLst>
              <a:gd fmla="val 3158" name="adj"/>
            </a:avLst>
          </a:prstGeom>
          <a:solidFill>
            <a:srgbClr val="C9A227">
              <a:alpha val="10196"/>
            </a:srgbClr>
          </a:solidFill>
          <a:ln cap="flat" cmpd="sng" w="15875">
            <a:solidFill>
              <a:srgbClr val="C9A22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 name="Google Shape;118;p11"/>
          <p:cNvSpPr/>
          <p:nvPr/>
        </p:nvSpPr>
        <p:spPr>
          <a:xfrm>
            <a:off x="2651760" y="2423160"/>
            <a:ext cx="6888175"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B94A"/>
              </a:buClr>
              <a:buSzPts val="1200"/>
              <a:buFont typeface="Inter"/>
              <a:buNone/>
            </a:pPr>
            <a:r>
              <a:rPr b="1" lang="en-US" sz="1200">
                <a:solidFill>
                  <a:srgbClr val="DDB94A"/>
                </a:solidFill>
                <a:latin typeface="Inter"/>
                <a:ea typeface="Inter"/>
                <a:cs typeface="Inter"/>
                <a:sym typeface="Inter"/>
              </a:rPr>
              <a:t>✓  YOU DID IT WHEN…</a:t>
            </a:r>
            <a:endParaRPr sz="1200">
              <a:solidFill>
                <a:schemeClr val="dk1"/>
              </a:solidFill>
              <a:latin typeface="Calibri"/>
              <a:ea typeface="Calibri"/>
              <a:cs typeface="Calibri"/>
              <a:sym typeface="Calibri"/>
            </a:endParaRPr>
          </a:p>
        </p:txBody>
      </p:sp>
      <p:sp>
        <p:nvSpPr>
          <p:cNvPr id="119" name="Google Shape;119;p11"/>
          <p:cNvSpPr/>
          <p:nvPr/>
        </p:nvSpPr>
        <p:spPr>
          <a:xfrm>
            <a:off x="2651760" y="2715768"/>
            <a:ext cx="6888175"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F3E9"/>
              </a:buClr>
              <a:buSzPts val="2400"/>
              <a:buFont typeface="Playfair Display"/>
              <a:buNone/>
            </a:pPr>
            <a:r>
              <a:rPr lang="en-US" sz="2400">
                <a:solidFill>
                  <a:srgbClr val="F7F3E9"/>
                </a:solidFill>
                <a:latin typeface="Playfair Display"/>
                <a:ea typeface="Playfair Display"/>
                <a:cs typeface="Playfair Display"/>
                <a:sym typeface="Playfair Display"/>
              </a:rPr>
              <a:t>A draft you didn’t write is waiting in your Gmail Drafts.</a:t>
            </a:r>
            <a:endParaRPr sz="2400">
              <a:solidFill>
                <a:schemeClr val="dk1"/>
              </a:solidFill>
              <a:latin typeface="Calibri"/>
              <a:ea typeface="Calibri"/>
              <a:cs typeface="Calibri"/>
              <a:sym typeface="Calibri"/>
            </a:endParaRPr>
          </a:p>
        </p:txBody>
      </p:sp>
      <p:sp>
        <p:nvSpPr>
          <p:cNvPr id="120" name="Google Shape;120;p11"/>
          <p:cNvSpPr/>
          <p:nvPr/>
        </p:nvSpPr>
        <p:spPr>
          <a:xfrm>
            <a:off x="914400" y="4434840"/>
            <a:ext cx="10362895"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FA893"/>
              </a:buClr>
              <a:buSzPts val="2400"/>
              <a:buFont typeface="Inter"/>
              <a:buNone/>
            </a:pPr>
            <a:r>
              <a:rPr i="1" lang="en-US" sz="2400">
                <a:solidFill>
                  <a:srgbClr val="AFA893"/>
                </a:solidFill>
                <a:latin typeface="Inter"/>
                <a:ea typeface="Inter"/>
                <a:cs typeface="Inter"/>
                <a:sym typeface="Inter"/>
              </a:rPr>
              <a:t>The interview is over. Donna’s hired. Now we train her.</a:t>
            </a:r>
            <a:endParaRPr sz="24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3E9"/>
        </a:solidFill>
      </p:bgPr>
    </p:bg>
    <p:spTree>
      <p:nvGrpSpPr>
        <p:cNvPr id="125" name="Shape 125"/>
        <p:cNvGrpSpPr/>
        <p:nvPr/>
      </p:nvGrpSpPr>
      <p:grpSpPr>
        <a:xfrm>
          <a:off x="0" y="0"/>
          <a:ext cx="0" cy="0"/>
          <a:chOff x="0" y="0"/>
          <a:chExt cx="0" cy="0"/>
        </a:xfrm>
      </p:grpSpPr>
      <p:sp>
        <p:nvSpPr>
          <p:cNvPr id="126" name="Google Shape;126;p12"/>
          <p:cNvSpPr/>
          <p:nvPr/>
        </p:nvSpPr>
        <p:spPr>
          <a:xfrm>
            <a:off x="822960" y="502920"/>
            <a:ext cx="10545775"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1200"/>
              <a:buFont typeface="Inter"/>
              <a:buNone/>
            </a:pPr>
            <a:r>
              <a:rPr b="1" lang="en-US" sz="1200">
                <a:solidFill>
                  <a:srgbClr val="C9A227"/>
                </a:solidFill>
                <a:latin typeface="Inter"/>
                <a:ea typeface="Inter"/>
                <a:cs typeface="Inter"/>
                <a:sym typeface="Inter"/>
              </a:rPr>
              <a:t>CASE FILE 02 · INSTRUCTIONS — THE TRIAGE DESK</a:t>
            </a:r>
            <a:endParaRPr sz="1200">
              <a:solidFill>
                <a:schemeClr val="dk1"/>
              </a:solidFill>
              <a:latin typeface="Calibri"/>
              <a:ea typeface="Calibri"/>
              <a:cs typeface="Calibri"/>
              <a:sym typeface="Calibri"/>
            </a:endParaRPr>
          </a:p>
        </p:txBody>
      </p:sp>
      <p:sp>
        <p:nvSpPr>
          <p:cNvPr id="127" name="Google Shape;127;p12"/>
          <p:cNvSpPr/>
          <p:nvPr/>
        </p:nvSpPr>
        <p:spPr>
          <a:xfrm>
            <a:off x="822960" y="868680"/>
            <a:ext cx="10545775"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3200"/>
              <a:buFont typeface="Playfair Display"/>
              <a:buNone/>
            </a:pPr>
            <a:r>
              <a:rPr b="1" lang="en-US" sz="3200">
                <a:solidFill>
                  <a:srgbClr val="14213D"/>
                </a:solidFill>
                <a:latin typeface="Playfair Display"/>
                <a:ea typeface="Playfair Display"/>
                <a:cs typeface="Playfair Display"/>
                <a:sym typeface="Playfair Display"/>
              </a:rPr>
              <a:t>Teach her your rules once.</a:t>
            </a:r>
            <a:endParaRPr sz="3200">
              <a:solidFill>
                <a:schemeClr val="dk1"/>
              </a:solidFill>
              <a:latin typeface="Calibri"/>
              <a:ea typeface="Calibri"/>
              <a:cs typeface="Calibri"/>
              <a:sym typeface="Calibri"/>
            </a:endParaRPr>
          </a:p>
        </p:txBody>
      </p:sp>
      <p:sp>
        <p:nvSpPr>
          <p:cNvPr id="128" name="Google Shape;128;p12"/>
          <p:cNvSpPr/>
          <p:nvPr/>
        </p:nvSpPr>
        <p:spPr>
          <a:xfrm>
            <a:off x="822960" y="1691640"/>
            <a:ext cx="6949440" cy="4663440"/>
          </a:xfrm>
          <a:prstGeom prst="roundRect">
            <a:avLst>
              <a:gd fmla="val 980" name="adj"/>
            </a:avLst>
          </a:prstGeom>
          <a:solidFill>
            <a:srgbClr val="14213D"/>
          </a:solidFill>
          <a:ln>
            <a:noFill/>
          </a:ln>
          <a:effectLst>
            <a:outerShdw blurRad="177800" rotWithShape="0" algn="bl" dir="5400000" dist="76200">
              <a:srgbClr val="9A917C">
                <a:alpha val="5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9" name="Google Shape;129;p12"/>
          <p:cNvSpPr/>
          <p:nvPr/>
        </p:nvSpPr>
        <p:spPr>
          <a:xfrm>
            <a:off x="1143000" y="1874520"/>
            <a:ext cx="6309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B94A"/>
              </a:buClr>
              <a:buSzPts val="950"/>
              <a:buFont typeface="Inter"/>
              <a:buNone/>
            </a:pPr>
            <a:r>
              <a:rPr b="1" lang="en-US" sz="950">
                <a:solidFill>
                  <a:srgbClr val="DDB94A"/>
                </a:solidFill>
                <a:latin typeface="Inter"/>
                <a:ea typeface="Inter"/>
                <a:cs typeface="Inter"/>
                <a:sym typeface="Inter"/>
              </a:rPr>
              <a:t>PROJECT INSTRUCTIONS — PASTE FROM THE SITE, FILL 4 BLANKS</a:t>
            </a:r>
            <a:endParaRPr sz="950">
              <a:solidFill>
                <a:schemeClr val="dk1"/>
              </a:solidFill>
              <a:latin typeface="Calibri"/>
              <a:ea typeface="Calibri"/>
              <a:cs typeface="Calibri"/>
              <a:sym typeface="Calibri"/>
            </a:endParaRPr>
          </a:p>
        </p:txBody>
      </p:sp>
      <p:sp>
        <p:nvSpPr>
          <p:cNvPr id="130" name="Google Shape;130;p12"/>
          <p:cNvSpPr/>
          <p:nvPr/>
        </p:nvSpPr>
        <p:spPr>
          <a:xfrm>
            <a:off x="1143000" y="2194560"/>
            <a:ext cx="6309360" cy="388620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F7F3E9"/>
              </a:buClr>
              <a:buSzPts val="1150"/>
              <a:buFont typeface="Courier New"/>
              <a:buNone/>
            </a:pPr>
            <a:r>
              <a:rPr lang="en-US" sz="1150">
                <a:solidFill>
                  <a:srgbClr val="F7F3E9"/>
                </a:solidFill>
                <a:latin typeface="Courier New"/>
                <a:ea typeface="Courier New"/>
                <a:cs typeface="Courier New"/>
                <a:sym typeface="Courier New"/>
              </a:rPr>
              <a:t>You are Donna, my inbox triage assistant. When I say "triage my inbox":</a:t>
            </a:r>
          </a:p>
          <a:p>
            <a:pPr indent="0" lvl="0" marL="0" marR="0" rtl="0" algn="l">
              <a:lnSpc>
                <a:spcPct val="122000"/>
              </a:lnSpc>
              <a:spcBef>
                <a:spcPts val="0"/>
              </a:spcBef>
              <a:spcAft>
                <a:spcPts val="0"/>
              </a:spcAft>
              <a:buClr>
                <a:srgbClr val="F7F3E9"/>
              </a:buClr>
              <a:buSzPts val="1150"/>
              <a:buFont typeface="Courier New"/>
              <a:buNone/>
            </a:pPr>
            <a:r>
              <a:rPr lang="en-US" sz="1150">
                <a:solidFill>
                  <a:srgbClr val="F7F3E9"/>
                </a:solidFill>
                <a:latin typeface="Courier New"/>
                <a:ea typeface="Courier New"/>
                <a:cs typeface="Courier New"/>
                <a:sym typeface="Courier New"/>
              </a:rPr>
              <a:t>1. Review my inbox (default: the last 24 hours).</a:t>
            </a:r>
          </a:p>
          <a:p>
            <a:pPr indent="0" lvl="0" marL="0" marR="0" rtl="0" algn="l">
              <a:lnSpc>
                <a:spcPct val="122000"/>
              </a:lnSpc>
              <a:spcBef>
                <a:spcPts val="0"/>
              </a:spcBef>
              <a:spcAft>
                <a:spcPts val="0"/>
              </a:spcAft>
              <a:buClr>
                <a:srgbClr val="F7F3E9"/>
              </a:buClr>
              <a:buSzPts val="1150"/>
              <a:buFont typeface="Courier New"/>
              <a:buNone/>
            </a:pPr>
            <a:r>
              <a:rPr lang="en-US" sz="1150">
                <a:solidFill>
                  <a:srgbClr val="F7F3E9"/>
                </a:solidFill>
                <a:latin typeface="Courier New"/>
                <a:ea typeface="Courier New"/>
                <a:cs typeface="Courier New"/>
                <a:sym typeface="Courier New"/>
              </a:rPr>
              <a:t>2. Sort every thread into exactly three buckets:</a:t>
            </a:r>
          </a:p>
          <a:p>
            <a:pPr indent="0" lvl="0" marL="0" marR="0" rtl="0" algn="l">
              <a:lnSpc>
                <a:spcPct val="122000"/>
              </a:lnSpc>
              <a:spcBef>
                <a:spcPts val="0"/>
              </a:spcBef>
              <a:spcAft>
                <a:spcPts val="0"/>
              </a:spcAft>
              <a:buClr>
                <a:srgbClr val="F7F3E9"/>
              </a:buClr>
              <a:buSzPts val="1150"/>
              <a:buFont typeface="Courier New"/>
              <a:buNone/>
            </a:pPr>
            <a:r>
              <a:rPr lang="en-US" sz="1150">
                <a:solidFill>
                  <a:srgbClr val="F7F3E9"/>
                </a:solidFill>
                <a:latin typeface="Courier New"/>
                <a:ea typeface="Courier New"/>
                <a:cs typeface="Courier New"/>
                <a:sym typeface="Courier New"/>
              </a:rPr>
              <a:t>   🔴 RED, NEEDS ME · my VIPs, plus my #1 project:</a:t>
            </a:r>
          </a:p>
          <a:p>
            <a:pPr indent="0" lvl="0" marL="0" marR="0" rtl="0" algn="l">
              <a:lnSpc>
                <a:spcPct val="122000"/>
              </a:lnSpc>
              <a:spcBef>
                <a:spcPts val="0"/>
              </a:spcBef>
              <a:spcAft>
                <a:spcPts val="0"/>
              </a:spcAft>
              <a:buClr>
                <a:srgbClr val="DDB94A"/>
              </a:buClr>
              <a:buSzPts val="1150"/>
              <a:buFont typeface="Courier New"/>
              <a:buNone/>
            </a:pPr>
            <a:r>
              <a:rPr b="1" lang="en-US" sz="1150">
                <a:solidFill>
                  <a:srgbClr val="DDB94A"/>
                </a:solidFill>
                <a:latin typeface="Courier New"/>
                <a:ea typeface="Courier New"/>
                <a:cs typeface="Courier New"/>
                <a:sym typeface="Courier New"/>
              </a:rPr>
              <a:t>   [ADD 3-5 NAMES + EMAILS] · [ADD YOUR #1 PROJECT OR DEAL]</a:t>
            </a:r>
          </a:p>
          <a:p>
            <a:pPr indent="0" lvl="0" marL="0" marR="0" rtl="0" algn="l">
              <a:lnSpc>
                <a:spcPct val="122000"/>
              </a:lnSpc>
              <a:spcBef>
                <a:spcPts val="0"/>
              </a:spcBef>
              <a:spcAft>
                <a:spcPts val="0"/>
              </a:spcAft>
              <a:buClr>
                <a:srgbClr val="F7F3E9"/>
              </a:buClr>
              <a:buSzPts val="1150"/>
              <a:buFont typeface="Courier New"/>
              <a:buNone/>
            </a:pPr>
            <a:r>
              <a:rPr lang="en-US" sz="1150">
                <a:solidFill>
                  <a:srgbClr val="F7F3E9"/>
                </a:solidFill>
                <a:latin typeface="Courier New"/>
                <a:ea typeface="Courier New"/>
                <a:cs typeface="Courier New"/>
                <a:sym typeface="Courier New"/>
              </a:rPr>
              <a:t>   🟡 YELLOW, DELEGATE · work my team owns:</a:t>
            </a:r>
          </a:p>
          <a:p>
            <a:pPr indent="0" lvl="0" marL="0" marR="0" rtl="0" algn="l">
              <a:lnSpc>
                <a:spcPct val="122000"/>
              </a:lnSpc>
              <a:spcBef>
                <a:spcPts val="0"/>
              </a:spcBef>
              <a:spcAft>
                <a:spcPts val="0"/>
              </a:spcAft>
              <a:buClr>
                <a:srgbClr val="F7F3E9"/>
              </a:buClr>
              <a:buSzPts val="1150"/>
              <a:buFont typeface="Courier New"/>
              <a:buNone/>
            </a:pPr>
            <a:r>
              <a:rPr lang="en-US" sz="1150">
                <a:solidFill>
                  <a:srgbClr val="F7F3E9"/>
                </a:solidFill>
                <a:latin typeface="Courier New"/>
                <a:ea typeface="Courier New"/>
                <a:cs typeface="Courier New"/>
                <a:sym typeface="Courier New"/>
              </a:rPr>
              <a:t>   [ADD 1-3 DELEGATES + WHAT EACH OWNS, e.g. “Sam: billing”]</a:t>
            </a:r>
          </a:p>
          <a:p>
            <a:pPr indent="0" lvl="0" marL="0" marR="0" rtl="0" algn="l">
              <a:lnSpc>
                <a:spcPct val="122000"/>
              </a:lnSpc>
              <a:spcBef>
                <a:spcPts val="0"/>
              </a:spcBef>
              <a:spcAft>
                <a:spcPts val="0"/>
              </a:spcAft>
              <a:buClr>
                <a:srgbClr val="DDB94A"/>
              </a:buClr>
              <a:buSzPts val="1150"/>
              <a:buFont typeface="Courier New"/>
              <a:buNone/>
            </a:pPr>
            <a:r>
              <a:rPr b="1" lang="en-US" sz="1150">
                <a:solidFill>
                  <a:srgbClr val="DDB94A"/>
                </a:solidFill>
                <a:latin typeface="Courier New"/>
                <a:ea typeface="Courier New"/>
                <a:cs typeface="Courier New"/>
                <a:sym typeface="Courier New"/>
              </a:rPr>
              <a:t>   ⚪ GRAY, IGNORE · newsletters, cold outreach, automated notices.</a:t>
            </a:r>
          </a:p>
          <a:p>
            <a:pPr indent="0" lvl="0" marL="0" marR="0" rtl="0" algn="l">
              <a:lnSpc>
                <a:spcPct val="122000"/>
              </a:lnSpc>
              <a:spcBef>
                <a:spcPts val="0"/>
              </a:spcBef>
              <a:spcAft>
                <a:spcPts val="0"/>
              </a:spcAft>
              <a:buClr>
                <a:srgbClr val="F7F3E9"/>
              </a:buClr>
              <a:buSzPts val="1150"/>
              <a:buFont typeface="Courier New"/>
              <a:buNone/>
            </a:pPr>
            <a:r>
              <a:rPr lang="en-US" sz="1150">
                <a:solidFill>
                  <a:srgbClr val="F7F3E9"/>
                </a:solidFill>
                <a:latin typeface="Courier New"/>
                <a:ea typeface="Courier New"/>
                <a:cs typeface="Courier New"/>
                <a:sym typeface="Courier New"/>
              </a:rPr>
              <a:t>3. Show me ONE table: sender · subject · bucket · why · next move.</a:t>
            </a:r>
          </a:p>
          <a:p>
            <a:pPr indent="0" lvl="0" marL="0" marR="0" rtl="0" algn="l">
              <a:lnSpc>
                <a:spcPct val="122000"/>
              </a:lnSpc>
              <a:spcBef>
                <a:spcPts val="0"/>
              </a:spcBef>
              <a:spcAft>
                <a:spcPts val="0"/>
              </a:spcAft>
              <a:buClr>
                <a:srgbClr val="F7F3E9"/>
              </a:buClr>
              <a:buSzPts val="1150"/>
              <a:buFont typeface="Courier New"/>
              <a:buNone/>
            </a:pPr>
            <a:r>
              <a:rPr lang="en-US" sz="1150">
                <a:solidFill>
                  <a:srgbClr val="F7F3E9"/>
                </a:solidFill>
                <a:latin typeface="Courier New"/>
                <a:ea typeface="Courier New"/>
                <a:cs typeface="Courier New"/>
                <a:sym typeface="Courier New"/>
              </a:rPr>
              <a:t>4. Draft replies for REDs (my voice: [ADD 3 WORDS]) and handoff</a:t>
            </a:r>
          </a:p>
          <a:p>
            <a:pPr indent="0" lvl="0" marL="0" marR="0" rtl="0" algn="l">
              <a:lnSpc>
                <a:spcPct val="122000"/>
              </a:lnSpc>
              <a:spcBef>
                <a:spcPts val="0"/>
              </a:spcBef>
              <a:spcAft>
                <a:spcPts val="0"/>
              </a:spcAft>
              <a:buClr>
                <a:srgbClr val="F7F3E9"/>
              </a:buClr>
              <a:buSzPts val="1150"/>
              <a:buFont typeface="Courier New"/>
              <a:buNone/>
            </a:pPr>
            <a:r>
              <a:rPr lang="en-US" sz="1150">
                <a:solidFill>
                  <a:srgbClr val="F7F3E9"/>
                </a:solidFill>
                <a:latin typeface="Courier New"/>
                <a:ea typeface="Courier New"/>
                <a:cs typeface="Courier New"/>
                <a:sym typeface="Courier New"/>
              </a:rPr>
              <a:t>   notes for YELLOWs. Save everything to my Drafts.</a:t>
            </a:r>
          </a:p>
          <a:p>
            <a:pPr indent="0" lvl="0" marL="0" marR="0" rtl="0" algn="l">
              <a:lnSpc>
                <a:spcPct val="122000"/>
              </a:lnSpc>
              <a:spcBef>
                <a:spcPts val="0"/>
              </a:spcBef>
              <a:spcAft>
                <a:spcPts val="0"/>
              </a:spcAft>
              <a:buClr>
                <a:srgbClr val="DDB94A"/>
              </a:buClr>
              <a:buSzPts val="1150"/>
              <a:buFont typeface="Courier New"/>
              <a:buNone/>
            </a:pPr>
            <a:r>
              <a:rPr b="1" lang="en-US" sz="1150">
                <a:solidFill>
                  <a:srgbClr val="DDB94A"/>
                </a:solidFill>
                <a:latin typeface="Courier New"/>
                <a:ea typeface="Courier New"/>
                <a:cs typeface="Courier New"/>
                <a:sym typeface="Courier New"/>
              </a:rPr>
              <a:t>Never send anything. Never delete anything. Drafts only.</a:t>
            </a:r>
          </a:p>
        </p:txBody>
      </p:sp>
      <p:sp>
        <p:nvSpPr>
          <p:cNvPr id="131" name="Google Shape;131;p12"/>
          <p:cNvSpPr/>
          <p:nvPr/>
        </p:nvSpPr>
        <p:spPr>
          <a:xfrm>
            <a:off x="8092450" y="1828800"/>
            <a:ext cx="3898200" cy="6858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4213D"/>
              </a:buClr>
              <a:buSzPts val="1400"/>
              <a:buFont typeface="Inter"/>
              <a:buNone/>
            </a:pPr>
            <a:r>
              <a:rPr b="1" lang="en-US" sz="1400">
                <a:solidFill>
                  <a:srgbClr val="14213D"/>
                </a:solidFill>
                <a:latin typeface="Inter"/>
                <a:ea typeface="Inter"/>
                <a:cs typeface="Inter"/>
                <a:sym typeface="Inter"/>
              </a:rPr>
              <a:t>The four blanks are the only editing you do:</a:t>
            </a:r>
            <a:endParaRPr sz="1400">
              <a:solidFill>
                <a:schemeClr val="dk1"/>
              </a:solidFill>
              <a:latin typeface="Calibri"/>
              <a:ea typeface="Calibri"/>
              <a:cs typeface="Calibri"/>
              <a:sym typeface="Calibri"/>
            </a:endParaRPr>
          </a:p>
        </p:txBody>
      </p:sp>
      <p:sp>
        <p:nvSpPr>
          <p:cNvPr id="132" name="Google Shape;132;p12"/>
          <p:cNvSpPr/>
          <p:nvPr/>
        </p:nvSpPr>
        <p:spPr>
          <a:xfrm>
            <a:off x="8016222" y="2694425"/>
            <a:ext cx="274200" cy="274200"/>
          </a:xfrm>
          <a:prstGeom prst="diamond">
            <a:avLst/>
          </a:prstGeom>
          <a:solidFill>
            <a:srgbClr val="C9A22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3" name="Google Shape;133;p12"/>
          <p:cNvSpPr/>
          <p:nvPr/>
        </p:nvSpPr>
        <p:spPr>
          <a:xfrm>
            <a:off x="8366760" y="2560320"/>
            <a:ext cx="3200400" cy="100584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14213D"/>
              </a:buClr>
              <a:buSzPts val="1500"/>
              <a:buFont typeface="Playfair Display"/>
              <a:buNone/>
            </a:pPr>
            <a:r>
              <a:rPr b="1" lang="en-US" sz="1800">
                <a:solidFill>
                  <a:srgbClr val="14213D"/>
                </a:solidFill>
                <a:latin typeface="Playfair Display"/>
                <a:ea typeface="Playfair Display"/>
                <a:cs typeface="Playfair Display"/>
                <a:sym typeface="Playfair Display"/>
              </a:rPr>
              <a:t>Your always-red list + #1 deal</a:t>
            </a:r>
          </a:p>
          <a:p>
            <a:pPr indent="0" lvl="0" marL="0" marR="0" rtl="0" algn="l">
              <a:lnSpc>
                <a:spcPct val="112000"/>
              </a:lnSpc>
              <a:spcBef>
                <a:spcPts val="0"/>
              </a:spcBef>
              <a:spcAft>
                <a:spcPts val="0"/>
              </a:spcAft>
              <a:buClr>
                <a:srgbClr val="14213D"/>
              </a:buClr>
              <a:buSzPts val="1500"/>
              <a:buFont typeface="Playfair Display"/>
              <a:buNone/>
            </a:pPr>
            <a:r>
              <a:rPr b="1" lang="en-US" sz="1800">
                <a:solidFill>
                  <a:srgbClr val="14213D"/>
                </a:solidFill>
                <a:latin typeface="Playfair Display"/>
                <a:ea typeface="Playfair Display"/>
                <a:cs typeface="Playfair Display"/>
                <a:sym typeface="Playfair Display"/>
              </a:rPr>
              <a:t>the people and the deal that jump every queue</a:t>
            </a:r>
          </a:p>
        </p:txBody>
      </p:sp>
      <p:sp>
        <p:nvSpPr>
          <p:cNvPr id="134" name="Google Shape;134;p12"/>
          <p:cNvSpPr/>
          <p:nvPr/>
        </p:nvSpPr>
        <p:spPr>
          <a:xfrm>
            <a:off x="8366760" y="3639312"/>
            <a:ext cx="3200400" cy="100584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14213D"/>
              </a:buClr>
              <a:buSzPts val="1500"/>
              <a:buFont typeface="Playfair Display"/>
              <a:buNone/>
            </a:pPr>
            <a:r>
              <a:rPr b="1" lang="en-US" sz="1800">
                <a:solidFill>
                  <a:srgbClr val="14213D"/>
                </a:solidFill>
                <a:latin typeface="Playfair Display"/>
                <a:ea typeface="Playfair Display"/>
                <a:cs typeface="Playfair Display"/>
                <a:sym typeface="Playfair Display"/>
              </a:rPr>
              <a:t>Your delegates and their lanes</a:t>
            </a:r>
          </a:p>
          <a:p>
            <a:pPr indent="0" lvl="0" marL="0" marR="0" rtl="0" algn="l">
              <a:lnSpc>
                <a:spcPct val="112000"/>
              </a:lnSpc>
              <a:spcBef>
                <a:spcPts val="0"/>
              </a:spcBef>
              <a:spcAft>
                <a:spcPts val="0"/>
              </a:spcAft>
              <a:buClr>
                <a:srgbClr val="14213D"/>
              </a:buClr>
              <a:buSzPts val="1500"/>
              <a:buFont typeface="Playfair Display"/>
              <a:buNone/>
            </a:pPr>
            <a:r>
              <a:rPr b="1" lang="en-US" sz="1800">
                <a:solidFill>
                  <a:srgbClr val="14213D"/>
                </a:solidFill>
                <a:latin typeface="Playfair Display"/>
                <a:ea typeface="Playfair Display"/>
                <a:cs typeface="Playfair Display"/>
                <a:sym typeface="Playfair Display"/>
              </a:rPr>
              <a:t>1-3 people and what each owns: “Sam: billing”</a:t>
            </a:r>
          </a:p>
        </p:txBody>
      </p:sp>
      <p:sp>
        <p:nvSpPr>
          <p:cNvPr id="135" name="Google Shape;135;p12"/>
          <p:cNvSpPr/>
          <p:nvPr/>
        </p:nvSpPr>
        <p:spPr>
          <a:xfrm>
            <a:off x="8366760" y="4718304"/>
            <a:ext cx="3200400" cy="100584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14213D"/>
              </a:buClr>
              <a:buSzPts val="1500"/>
              <a:buFont typeface="Playfair Display"/>
              <a:buNone/>
            </a:pPr>
            <a:r>
              <a:rPr b="1" lang="en-US" sz="1800">
                <a:solidFill>
                  <a:srgbClr val="14213D"/>
                </a:solidFill>
                <a:latin typeface="Playfair Display"/>
                <a:ea typeface="Playfair Display"/>
                <a:cs typeface="Playfair Display"/>
                <a:sym typeface="Playfair Display"/>
              </a:rPr>
              <a:t>Your voice, in 3 words</a:t>
            </a:r>
          </a:p>
          <a:p>
            <a:pPr indent="0" lvl="0" marL="0" marR="0" rtl="0" algn="l">
              <a:lnSpc>
                <a:spcPct val="112000"/>
              </a:lnSpc>
              <a:spcBef>
                <a:spcPts val="0"/>
              </a:spcBef>
              <a:spcAft>
                <a:spcPts val="0"/>
              </a:spcAft>
              <a:buClr>
                <a:srgbClr val="14213D"/>
              </a:buClr>
              <a:buSzPts val="1500"/>
              <a:buFont typeface="Playfair Display"/>
              <a:buNone/>
            </a:pPr>
            <a:r>
              <a:rPr b="1" lang="en-US" sz="1800">
                <a:solidFill>
                  <a:srgbClr val="14213D"/>
                </a:solidFill>
                <a:latin typeface="Playfair Display"/>
                <a:ea typeface="Playfair Display"/>
                <a:cs typeface="Playfair Display"/>
                <a:sym typeface="Playfair Display"/>
              </a:rPr>
              <a:t>warm, brief, decisive is a fine start</a:t>
            </a:r>
          </a:p>
        </p:txBody>
      </p:sp>
      <p:sp>
        <p:nvSpPr>
          <p:cNvPr id="136" name="Google Shape;136;p12"/>
          <p:cNvSpPr/>
          <p:nvPr/>
        </p:nvSpPr>
        <p:spPr>
          <a:xfrm>
            <a:off x="8016222" y="3764825"/>
            <a:ext cx="274200" cy="274200"/>
          </a:xfrm>
          <a:prstGeom prst="diamond">
            <a:avLst/>
          </a:prstGeom>
          <a:solidFill>
            <a:srgbClr val="C9A22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7" name="Google Shape;137;p12"/>
          <p:cNvSpPr/>
          <p:nvPr/>
        </p:nvSpPr>
        <p:spPr>
          <a:xfrm>
            <a:off x="8016222" y="4983725"/>
            <a:ext cx="274200" cy="274200"/>
          </a:xfrm>
          <a:prstGeom prst="diamond">
            <a:avLst/>
          </a:prstGeom>
          <a:solidFill>
            <a:srgbClr val="C9A22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213D"/>
        </a:solidFill>
      </p:bgPr>
    </p:bg>
    <p:spTree>
      <p:nvGrpSpPr>
        <p:cNvPr id="142" name="Shape 142"/>
        <p:cNvGrpSpPr/>
        <p:nvPr/>
      </p:nvGrpSpPr>
      <p:grpSpPr>
        <a:xfrm>
          <a:off x="0" y="0"/>
          <a:ext cx="0" cy="0"/>
          <a:chOff x="0" y="0"/>
          <a:chExt cx="0" cy="0"/>
        </a:xfrm>
      </p:grpSpPr>
      <p:sp>
        <p:nvSpPr>
          <p:cNvPr id="143" name="Google Shape;143;p13"/>
          <p:cNvSpPr/>
          <p:nvPr/>
        </p:nvSpPr>
        <p:spPr>
          <a:xfrm>
            <a:off x="822960" y="502920"/>
            <a:ext cx="10545775"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B94A"/>
              </a:buClr>
              <a:buSzPts val="1200"/>
              <a:buFont typeface="Inter"/>
              <a:buNone/>
            </a:pPr>
            <a:r>
              <a:rPr b="1" lang="en-US" sz="1200">
                <a:solidFill>
                  <a:srgbClr val="DDB94A"/>
                </a:solidFill>
                <a:latin typeface="Inter"/>
                <a:ea typeface="Inter"/>
                <a:cs typeface="Inter"/>
                <a:sym typeface="Inter"/>
              </a:rPr>
              <a:t>CASE FILE 02 · LIVE DEMO — CHECKPOINT</a:t>
            </a:r>
            <a:endParaRPr sz="1200">
              <a:solidFill>
                <a:schemeClr val="dk1"/>
              </a:solidFill>
              <a:latin typeface="Calibri"/>
              <a:ea typeface="Calibri"/>
              <a:cs typeface="Calibri"/>
              <a:sym typeface="Calibri"/>
            </a:endParaRPr>
          </a:p>
        </p:txBody>
      </p:sp>
      <p:sp>
        <p:nvSpPr>
          <p:cNvPr id="144" name="Google Shape;144;p13"/>
          <p:cNvSpPr/>
          <p:nvPr/>
        </p:nvSpPr>
        <p:spPr>
          <a:xfrm>
            <a:off x="2194560" y="1920240"/>
            <a:ext cx="7802575" cy="1737360"/>
          </a:xfrm>
          <a:prstGeom prst="roundRect">
            <a:avLst>
              <a:gd fmla="val 3158" name="adj"/>
            </a:avLst>
          </a:prstGeom>
          <a:solidFill>
            <a:srgbClr val="C9A227">
              <a:alpha val="10196"/>
            </a:srgbClr>
          </a:solidFill>
          <a:ln cap="flat" cmpd="sng" w="15875">
            <a:solidFill>
              <a:srgbClr val="C9A22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5" name="Google Shape;145;p13"/>
          <p:cNvSpPr/>
          <p:nvPr/>
        </p:nvSpPr>
        <p:spPr>
          <a:xfrm>
            <a:off x="2651760" y="2194560"/>
            <a:ext cx="6888175"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B94A"/>
              </a:buClr>
              <a:buSzPts val="1200"/>
              <a:buFont typeface="Inter"/>
              <a:buNone/>
            </a:pPr>
            <a:r>
              <a:rPr b="1" lang="en-US" sz="1200">
                <a:solidFill>
                  <a:srgbClr val="DDB94A"/>
                </a:solidFill>
                <a:latin typeface="Inter"/>
                <a:ea typeface="Inter"/>
                <a:cs typeface="Inter"/>
                <a:sym typeface="Inter"/>
              </a:rPr>
              <a:t>✓  YOU DID IT WHEN…</a:t>
            </a:r>
            <a:endParaRPr sz="1200">
              <a:solidFill>
                <a:schemeClr val="dk1"/>
              </a:solidFill>
              <a:latin typeface="Calibri"/>
              <a:ea typeface="Calibri"/>
              <a:cs typeface="Calibri"/>
              <a:sym typeface="Calibri"/>
            </a:endParaRPr>
          </a:p>
        </p:txBody>
      </p:sp>
      <p:sp>
        <p:nvSpPr>
          <p:cNvPr id="146" name="Google Shape;146;p13"/>
          <p:cNvSpPr/>
          <p:nvPr/>
        </p:nvSpPr>
        <p:spPr>
          <a:xfrm>
            <a:off x="2651760" y="2487168"/>
            <a:ext cx="6888175"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F3E9"/>
              </a:buClr>
              <a:buSzPts val="2400"/>
              <a:buFont typeface="Playfair Display"/>
              <a:buNone/>
            </a:pPr>
            <a:r>
              <a:rPr lang="en-US" sz="2400">
                <a:solidFill>
                  <a:srgbClr val="F7F3E9"/>
                </a:solidFill>
                <a:latin typeface="Playfair Display"/>
                <a:ea typeface="Playfair Display"/>
                <a:cs typeface="Playfair Display"/>
                <a:sym typeface="Playfair Display"/>
              </a:rPr>
              <a:t>You get one table instead of an inbox.</a:t>
            </a:r>
            <a:endParaRPr sz="2400">
              <a:solidFill>
                <a:schemeClr val="dk1"/>
              </a:solidFill>
              <a:latin typeface="Calibri"/>
              <a:ea typeface="Calibri"/>
              <a:cs typeface="Calibri"/>
              <a:sym typeface="Calibri"/>
            </a:endParaRPr>
          </a:p>
        </p:txBody>
      </p:sp>
      <p:sp>
        <p:nvSpPr>
          <p:cNvPr id="147" name="Google Shape;147;p13"/>
          <p:cNvSpPr/>
          <p:nvPr/>
        </p:nvSpPr>
        <p:spPr>
          <a:xfrm>
            <a:off x="3992728" y="4160520"/>
            <a:ext cx="4206240" cy="685800"/>
          </a:xfrm>
          <a:prstGeom prst="roundRect">
            <a:avLst>
              <a:gd fmla="val 49333" name="adj"/>
            </a:avLst>
          </a:prstGeom>
          <a:solidFill>
            <a:srgbClr val="F7F3E9"/>
          </a:solidFill>
          <a:ln>
            <a:noFill/>
          </a:ln>
          <a:effectLst>
            <a:outerShdw blurRad="127000" rotWithShape="0" algn="bl" dir="5400000" dist="50800">
              <a:srgbClr val="000000">
                <a:alpha val="3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8" name="Google Shape;148;p13"/>
          <p:cNvSpPr/>
          <p:nvPr/>
        </p:nvSpPr>
        <p:spPr>
          <a:xfrm>
            <a:off x="3992728" y="4160520"/>
            <a:ext cx="420624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333"/>
              </a:buClr>
              <a:buSzPts val="1600"/>
              <a:buFont typeface="Courier New"/>
              <a:buNone/>
            </a:pPr>
            <a:r>
              <a:rPr lang="en-US" sz="1600">
                <a:solidFill>
                  <a:srgbClr val="1C2333"/>
                </a:solidFill>
                <a:latin typeface="Courier New"/>
                <a:ea typeface="Courier New"/>
                <a:cs typeface="Courier New"/>
                <a:sym typeface="Courier New"/>
              </a:rPr>
              <a:t>Triage my inbox.</a:t>
            </a:r>
            <a:endParaRPr sz="1600">
              <a:solidFill>
                <a:schemeClr val="dk1"/>
              </a:solidFill>
              <a:latin typeface="Calibri"/>
              <a:ea typeface="Calibri"/>
              <a:cs typeface="Calibri"/>
              <a:sym typeface="Calibri"/>
            </a:endParaRPr>
          </a:p>
        </p:txBody>
      </p:sp>
      <p:sp>
        <p:nvSpPr>
          <p:cNvPr id="149" name="Google Shape;149;p13"/>
          <p:cNvSpPr/>
          <p:nvPr/>
        </p:nvSpPr>
        <p:spPr>
          <a:xfrm>
            <a:off x="914400" y="5029200"/>
            <a:ext cx="10362895"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FA893"/>
              </a:buClr>
              <a:buSzPts val="1350"/>
              <a:buFont typeface="Inter"/>
              <a:buNone/>
            </a:pPr>
            <a:r>
              <a:rPr i="1" lang="en-US" sz="1350">
                <a:solidFill>
                  <a:srgbClr val="AFA893"/>
                </a:solidFill>
                <a:latin typeface="Inter"/>
                <a:ea typeface="Inter"/>
                <a:cs typeface="Inter"/>
                <a:sym typeface="Inter"/>
              </a:rPr>
              <a:t>— the entire daily ritual, from now on</a:t>
            </a:r>
            <a:endParaRPr sz="1350">
              <a:solidFill>
                <a:schemeClr val="dk1"/>
              </a:solidFill>
              <a:latin typeface="Calibri"/>
              <a:ea typeface="Calibri"/>
              <a:cs typeface="Calibri"/>
              <a:sym typeface="Calibri"/>
            </a:endParaRPr>
          </a:p>
        </p:txBody>
      </p:sp>
      <p:sp>
        <p:nvSpPr>
          <p:cNvPr id="150" name="Google Shape;150;p13"/>
          <p:cNvSpPr/>
          <p:nvPr/>
        </p:nvSpPr>
        <p:spPr>
          <a:xfrm>
            <a:off x="914400" y="5623560"/>
            <a:ext cx="10362895"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DB94A"/>
              </a:buClr>
              <a:buSzPts val="1600"/>
              <a:buFont typeface="Playfair Display"/>
              <a:buNone/>
            </a:pPr>
            <a:r>
              <a:rPr i="1" lang="en-US" sz="2200">
                <a:solidFill>
                  <a:srgbClr val="DDB94A"/>
                </a:solidFill>
                <a:latin typeface="Playfair Display"/>
                <a:ea typeface="Playfair Display"/>
                <a:cs typeface="Playfair Display"/>
                <a:sym typeface="Playfair Display"/>
              </a:rPr>
              <a:t>Chat is a conversation. A project is a standing arrangement.</a:t>
            </a:r>
            <a:endParaRPr sz="22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213D"/>
        </a:solidFill>
      </p:bgPr>
    </p:bg>
    <p:spTree>
      <p:nvGrpSpPr>
        <p:cNvPr id="155" name="Shape 155"/>
        <p:cNvGrpSpPr/>
        <p:nvPr/>
      </p:nvGrpSpPr>
      <p:grpSpPr>
        <a:xfrm>
          <a:off x="0" y="0"/>
          <a:ext cx="0" cy="0"/>
          <a:chOff x="0" y="0"/>
          <a:chExt cx="0" cy="0"/>
        </a:xfrm>
      </p:grpSpPr>
      <p:sp>
        <p:nvSpPr>
          <p:cNvPr id="156" name="Google Shape;156;p14"/>
          <p:cNvSpPr/>
          <p:nvPr/>
        </p:nvSpPr>
        <p:spPr>
          <a:xfrm>
            <a:off x="822960" y="502920"/>
            <a:ext cx="10545775"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B94A"/>
              </a:buClr>
              <a:buSzPts val="1200"/>
              <a:buFont typeface="Inter"/>
              <a:buNone/>
            </a:pPr>
            <a:r>
              <a:rPr b="1" lang="en-US" sz="1200">
                <a:solidFill>
                  <a:srgbClr val="DDB94A"/>
                </a:solidFill>
                <a:latin typeface="Inter"/>
                <a:ea typeface="Inter"/>
                <a:cs typeface="Inter"/>
                <a:sym typeface="Inter"/>
              </a:rPr>
              <a:t>CASE FILE 03 · SKILL + SCHEDULE — DONNA, FULL TIME</a:t>
            </a:r>
            <a:endParaRPr sz="1200">
              <a:solidFill>
                <a:schemeClr val="dk1"/>
              </a:solidFill>
              <a:latin typeface="Calibri"/>
              <a:ea typeface="Calibri"/>
              <a:cs typeface="Calibri"/>
              <a:sym typeface="Calibri"/>
            </a:endParaRPr>
          </a:p>
        </p:txBody>
      </p:sp>
      <p:sp>
        <p:nvSpPr>
          <p:cNvPr id="157" name="Google Shape;157;p14"/>
          <p:cNvSpPr/>
          <p:nvPr/>
        </p:nvSpPr>
        <p:spPr>
          <a:xfrm>
            <a:off x="822960" y="868680"/>
            <a:ext cx="10545775"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F3E9"/>
              </a:buClr>
              <a:buSzPts val="3200"/>
              <a:buFont typeface="Playfair Display"/>
              <a:buNone/>
            </a:pPr>
            <a:r>
              <a:rPr b="1" lang="en-US" sz="3200">
                <a:solidFill>
                  <a:srgbClr val="F7F3E9"/>
                </a:solidFill>
                <a:latin typeface="Playfair Display"/>
                <a:ea typeface="Playfair Display"/>
                <a:cs typeface="Playfair Display"/>
                <a:sym typeface="Playfair Display"/>
              </a:rPr>
              <a:t>She writes her own playbook. You hand it to Cowork.</a:t>
            </a:r>
            <a:endParaRPr sz="3200">
              <a:solidFill>
                <a:schemeClr val="dk1"/>
              </a:solidFill>
              <a:latin typeface="Calibri"/>
              <a:ea typeface="Calibri"/>
              <a:cs typeface="Calibri"/>
              <a:sym typeface="Calibri"/>
            </a:endParaRPr>
          </a:p>
        </p:txBody>
      </p:sp>
      <p:sp>
        <p:nvSpPr>
          <p:cNvPr id="158" name="Google Shape;158;p14"/>
          <p:cNvSpPr/>
          <p:nvPr/>
        </p:nvSpPr>
        <p:spPr>
          <a:xfrm>
            <a:off x="1005840" y="1874520"/>
            <a:ext cx="10180015" cy="2651760"/>
          </a:xfrm>
          <a:prstGeom prst="roundRect">
            <a:avLst>
              <a:gd fmla="val 1724" name="adj"/>
            </a:avLst>
          </a:prstGeom>
          <a:solidFill>
            <a:srgbClr val="F7F3E9"/>
          </a:solidFill>
          <a:ln>
            <a:noFill/>
          </a:ln>
          <a:effectLst>
            <a:outerShdw blurRad="177800" rotWithShape="0" algn="bl" dir="5400000" dist="762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9" name="Google Shape;159;p14"/>
          <p:cNvSpPr/>
          <p:nvPr/>
        </p:nvSpPr>
        <p:spPr>
          <a:xfrm>
            <a:off x="1371600" y="2075688"/>
            <a:ext cx="9448495"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379"/>
              </a:buClr>
              <a:buSzPts val="1000"/>
              <a:buFont typeface="Inter"/>
              <a:buNone/>
            </a:pPr>
            <a:r>
              <a:rPr b="1" lang="en-US" sz="1000">
                <a:solidFill>
                  <a:srgbClr val="5A6379"/>
                </a:solidFill>
                <a:latin typeface="Inter"/>
                <a:ea typeface="Inter"/>
                <a:cs typeface="Inter"/>
                <a:sym typeface="Inter"/>
              </a:rPr>
              <a:t>THE PLAYBOOK — PASTE INSIDE YOUR DONNA PROJECT</a:t>
            </a:r>
            <a:endParaRPr sz="1000">
              <a:solidFill>
                <a:schemeClr val="dk1"/>
              </a:solidFill>
              <a:latin typeface="Calibri"/>
              <a:ea typeface="Calibri"/>
              <a:cs typeface="Calibri"/>
              <a:sym typeface="Calibri"/>
            </a:endParaRPr>
          </a:p>
        </p:txBody>
      </p:sp>
      <p:sp>
        <p:nvSpPr>
          <p:cNvPr id="160" name="Google Shape;160;p14"/>
          <p:cNvSpPr/>
          <p:nvPr/>
        </p:nvSpPr>
        <p:spPr>
          <a:xfrm>
            <a:off x="1371600" y="2377440"/>
            <a:ext cx="9448495" cy="19202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C2333"/>
              </a:buClr>
              <a:buSzPts val="1350"/>
              <a:buFont typeface="Courier New"/>
              <a:buNone/>
            </a:pPr>
            <a:r>
              <a:rPr lang="en-US" sz="1350">
                <a:solidFill>
                  <a:srgbClr val="1C2333"/>
                </a:solidFill>
                <a:latin typeface="Courier New"/>
                <a:ea typeface="Courier New"/>
                <a:cs typeface="Courier New"/>
                <a:sym typeface="Courier New"/>
              </a:rPr>
              <a:t>Turn this project’s triage instructions into a reusable skill file</a:t>
            </a:r>
          </a:p>
          <a:p>
            <a:pPr indent="0" lvl="0" marL="0" marR="0" rtl="0" algn="l">
              <a:lnSpc>
                <a:spcPct val="115000"/>
              </a:lnSpc>
              <a:spcBef>
                <a:spcPts val="0"/>
              </a:spcBef>
              <a:spcAft>
                <a:spcPts val="0"/>
              </a:spcAft>
              <a:buClr>
                <a:srgbClr val="1C2333"/>
              </a:buClr>
              <a:buSzPts val="1350"/>
              <a:buFont typeface="Courier New"/>
              <a:buNone/>
            </a:pPr>
            <a:r>
              <a:rPr lang="en-US" sz="1350">
                <a:solidFill>
                  <a:srgbClr val="1C2333"/>
                </a:solidFill>
                <a:latin typeface="Courier New"/>
                <a:ea typeface="Courier New"/>
                <a:cs typeface="Courier New"/>
                <a:sym typeface="Courier New"/>
              </a:rPr>
              <a:t>called donna-replies, modeled on the template at</a:t>
            </a:r>
          </a:p>
          <a:p>
            <a:pPr indent="0" lvl="0" marL="0" marR="0" rtl="0" algn="l">
              <a:lnSpc>
                <a:spcPct val="115000"/>
              </a:lnSpc>
              <a:spcBef>
                <a:spcPts val="0"/>
              </a:spcBef>
              <a:spcAft>
                <a:spcPts val="0"/>
              </a:spcAft>
              <a:buClr>
                <a:srgbClr val="1C2333"/>
              </a:buClr>
              <a:buSzPts val="1350"/>
              <a:buFont typeface="Courier New"/>
              <a:buNone/>
            </a:pPr>
            <a:r>
              <a:rPr lang="en-US" sz="1350">
                <a:solidFill>
                  <a:srgbClr val="1C2333"/>
                </a:solidFill>
                <a:latin typeface="Courier New"/>
                <a:ea typeface="Courier New"/>
                <a:cs typeface="Courier New"/>
                <a:sym typeface="Courier New"/>
              </a:rPr>
              <a:t>denisekgosnell.github.io/Donna/skills/donna-replies/SKILL.md</a:t>
            </a:r>
          </a:p>
          <a:p>
            <a:pPr indent="0" lvl="0" marL="0" marR="0" rtl="0" algn="l">
              <a:lnSpc>
                <a:spcPct val="115000"/>
              </a:lnSpc>
              <a:spcBef>
                <a:spcPts val="0"/>
              </a:spcBef>
              <a:spcAft>
                <a:spcPts val="0"/>
              </a:spcAft>
              <a:buClr>
                <a:srgbClr val="1C2333"/>
              </a:buClr>
              <a:buSzPts val="1350"/>
              <a:buFont typeface="Courier New"/>
              <a:buNone/>
            </a:pPr>
            <a:r>
              <a:rPr lang="en-US" sz="1350">
                <a:solidFill>
                  <a:srgbClr val="1C2333"/>
                </a:solidFill>
                <a:latin typeface="Courier New"/>
                <a:ea typeface="Courier New"/>
                <a:cs typeface="Courier New"/>
                <a:sym typeface="Courier New"/>
              </a:rPr>
              <a:t>Fill in every placeholder with what you already know from this project.</a:t>
            </a:r>
          </a:p>
          <a:p>
            <a:pPr indent="0" lvl="0" marL="0" marR="0" rtl="0" algn="l">
              <a:lnSpc>
                <a:spcPct val="115000"/>
              </a:lnSpc>
              <a:spcBef>
                <a:spcPts val="0"/>
              </a:spcBef>
              <a:spcAft>
                <a:spcPts val="0"/>
              </a:spcAft>
              <a:buClr>
                <a:srgbClr val="1C2333"/>
              </a:buClr>
              <a:buSzPts val="1350"/>
              <a:buFont typeface="Courier New"/>
              <a:buNone/>
            </a:pPr>
            <a:r>
              <a:rPr lang="en-US" sz="1350">
                <a:solidFill>
                  <a:srgbClr val="1C2333"/>
                </a:solidFill>
                <a:latin typeface="Courier New"/>
                <a:ea typeface="Courier New"/>
                <a:cs typeface="Courier New"/>
                <a:sym typeface="Courier New"/>
              </a:rPr>
              <a:t>Then give me the finished SKILL.md as a file I can download.</a:t>
            </a:r>
          </a:p>
        </p:txBody>
      </p:sp>
      <p:sp>
        <p:nvSpPr>
          <p:cNvPr id="161" name="Google Shape;161;p14"/>
          <p:cNvSpPr/>
          <p:nvPr/>
        </p:nvSpPr>
        <p:spPr>
          <a:xfrm>
            <a:off x="822960" y="4800600"/>
            <a:ext cx="10545775"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FA893"/>
              </a:buClr>
              <a:buSzPts val="1400"/>
              <a:buFont typeface="Inter"/>
              <a:buNone/>
            </a:pPr>
            <a:r>
              <a:rPr lang="en-US" sz="1400">
                <a:solidFill>
                  <a:srgbClr val="AFA893"/>
                </a:solidFill>
                <a:latin typeface="Inter"/>
                <a:ea typeface="Inter"/>
                <a:cs typeface="Inter"/>
                <a:sym typeface="Inter"/>
              </a:rPr>
              <a:t>Then the hand-off: DOWNLOAD the file she gives you. Open Cowork → Skills → Add skill → UPLOAD that SKILL.md.</a:t>
            </a:r>
          </a:p>
        </p:txBody>
      </p:sp>
      <p:sp>
        <p:nvSpPr>
          <p:cNvPr id="162" name="Google Shape;162;p14"/>
          <p:cNvSpPr/>
          <p:nvPr/>
        </p:nvSpPr>
        <p:spPr>
          <a:xfrm>
            <a:off x="822960" y="5349240"/>
            <a:ext cx="10545775"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B94A"/>
              </a:buClr>
              <a:buSzPts val="1400"/>
              <a:buFont typeface="Inter"/>
              <a:buNone/>
            </a:pPr>
            <a:r>
              <a:rPr b="1" lang="en-US" sz="1400">
                <a:solidFill>
                  <a:srgbClr val="DDB94A"/>
                </a:solidFill>
                <a:latin typeface="Inter"/>
                <a:ea typeface="Inter"/>
                <a:cs typeface="Inter"/>
                <a:sym typeface="Inter"/>
              </a:rPr>
              <a:t>You should see: donna-replies in your Cowork skills list.</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31621"/>
        </a:solidFill>
      </p:bgPr>
    </p:bg>
    <p:spTree>
      <p:nvGrpSpPr>
        <p:cNvPr id="167" name="Shape 167"/>
        <p:cNvGrpSpPr/>
        <p:nvPr/>
      </p:nvGrpSpPr>
      <p:grpSpPr>
        <a:xfrm>
          <a:off x="0" y="0"/>
          <a:ext cx="0" cy="0"/>
          <a:chOff x="0" y="0"/>
          <a:chExt cx="0" cy="0"/>
        </a:xfrm>
      </p:grpSpPr>
      <p:sp>
        <p:nvSpPr>
          <p:cNvPr id="168" name="Google Shape;168;p15"/>
          <p:cNvSpPr/>
          <p:nvPr/>
        </p:nvSpPr>
        <p:spPr>
          <a:xfrm>
            <a:off x="822960" y="1554480"/>
            <a:ext cx="10545775" cy="2651760"/>
          </a:xfrm>
          <a:prstGeom prst="rect">
            <a:avLst/>
          </a:prstGeom>
          <a:no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Clr>
                <a:srgbClr val="FFFFFF"/>
              </a:buClr>
              <a:buSzPts val="6600"/>
              <a:buFont typeface="Playfair Display"/>
              <a:buNone/>
            </a:pPr>
            <a:r>
              <a:rPr b="1" lang="en-US" sz="6600">
                <a:solidFill>
                  <a:srgbClr val="FFFFFF"/>
                </a:solidFill>
                <a:latin typeface="Playfair Display"/>
                <a:ea typeface="Playfair Display"/>
                <a:cs typeface="Playfair Display"/>
                <a:sym typeface="Playfair Display"/>
              </a:rPr>
              <a:t>She never sends.</a:t>
            </a:r>
            <a:endParaRPr sz="6600">
              <a:solidFill>
                <a:schemeClr val="dk1"/>
              </a:solidFill>
              <a:latin typeface="Calibri"/>
              <a:ea typeface="Calibri"/>
              <a:cs typeface="Calibri"/>
              <a:sym typeface="Calibri"/>
            </a:endParaRPr>
          </a:p>
          <a:p>
            <a:pPr indent="0" lvl="0" marL="0" marR="0" rtl="0" algn="ctr">
              <a:lnSpc>
                <a:spcPct val="105000"/>
              </a:lnSpc>
              <a:spcBef>
                <a:spcPts val="0"/>
              </a:spcBef>
              <a:spcAft>
                <a:spcPts val="0"/>
              </a:spcAft>
              <a:buClr>
                <a:srgbClr val="FFFFFF"/>
              </a:buClr>
              <a:buSzPts val="6600"/>
              <a:buFont typeface="Playfair Display"/>
              <a:buNone/>
            </a:pPr>
            <a:r>
              <a:rPr b="1" lang="en-US" sz="6600">
                <a:solidFill>
                  <a:srgbClr val="FFFFFF"/>
                </a:solidFill>
                <a:latin typeface="Playfair Display"/>
                <a:ea typeface="Playfair Display"/>
                <a:cs typeface="Playfair Display"/>
                <a:sym typeface="Playfair Display"/>
              </a:rPr>
              <a:t>Ever.</a:t>
            </a:r>
            <a:endParaRPr sz="6600">
              <a:solidFill>
                <a:schemeClr val="dk1"/>
              </a:solidFill>
              <a:latin typeface="Calibri"/>
              <a:ea typeface="Calibri"/>
              <a:cs typeface="Calibri"/>
              <a:sym typeface="Calibri"/>
            </a:endParaRPr>
          </a:p>
        </p:txBody>
      </p:sp>
      <p:sp>
        <p:nvSpPr>
          <p:cNvPr id="169" name="Google Shape;169;p15"/>
          <p:cNvSpPr/>
          <p:nvPr/>
        </p:nvSpPr>
        <p:spPr>
          <a:xfrm>
            <a:off x="1463040" y="4389120"/>
            <a:ext cx="9265615" cy="118872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Clr>
                <a:srgbClr val="F7F3E9"/>
              </a:buClr>
              <a:buSzPts val="1600"/>
              <a:buFont typeface="Inter"/>
              <a:buNone/>
            </a:pPr>
            <a:r>
              <a:rPr lang="en-US" sz="1600">
                <a:solidFill>
                  <a:srgbClr val="F7F3E9"/>
                </a:solidFill>
                <a:latin typeface="Inter"/>
                <a:ea typeface="Inter"/>
                <a:cs typeface="Inter"/>
                <a:sym typeface="Inter"/>
              </a:rPr>
              <a:t>Every reply and every handoff note lands in your Drafts and waits for your say-so. She never deletes anything, either.</a:t>
            </a:r>
          </a:p>
          <a:p>
            <a:pPr indent="0" lvl="0" marL="0" marR="0" rtl="0" algn="ctr">
              <a:lnSpc>
                <a:spcPct val="130000"/>
              </a:lnSpc>
              <a:spcBef>
                <a:spcPts val="0"/>
              </a:spcBef>
              <a:spcAft>
                <a:spcPts val="0"/>
              </a:spcAft>
              <a:buClr>
                <a:srgbClr val="F7F3E9"/>
              </a:buClr>
              <a:buSzPts val="1600"/>
              <a:buFont typeface="Inter"/>
              <a:buNone/>
            </a:pPr>
            <a:r>
              <a:rPr lang="en-US" sz="1600">
                <a:solidFill>
                  <a:srgbClr val="F7F3E9"/>
                </a:solidFill>
                <a:latin typeface="Inter"/>
                <a:ea typeface="Inter"/>
                <a:cs typeface="Inter"/>
                <a:sym typeface="Inter"/>
              </a:rPr>
              <a:t>Written into the skill itself: “Never send. Never delete. No exceptions.”</a:t>
            </a:r>
          </a:p>
        </p:txBody>
      </p:sp>
      <p:sp>
        <p:nvSpPr>
          <p:cNvPr id="170" name="Google Shape;170;p15"/>
          <p:cNvSpPr/>
          <p:nvPr/>
        </p:nvSpPr>
        <p:spPr>
          <a:xfrm>
            <a:off x="6013552" y="1051560"/>
            <a:ext cx="164592" cy="164592"/>
          </a:xfrm>
          <a:prstGeom prst="diamond">
            <a:avLst/>
          </a:prstGeom>
          <a:solidFill>
            <a:srgbClr val="F7F3E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213D"/>
        </a:solidFill>
      </p:bgPr>
    </p:bg>
    <p:spTree>
      <p:nvGrpSpPr>
        <p:cNvPr id="175" name="Shape 175"/>
        <p:cNvGrpSpPr/>
        <p:nvPr/>
      </p:nvGrpSpPr>
      <p:grpSpPr>
        <a:xfrm>
          <a:off x="0" y="0"/>
          <a:ext cx="0" cy="0"/>
          <a:chOff x="0" y="0"/>
          <a:chExt cx="0" cy="0"/>
        </a:xfrm>
      </p:grpSpPr>
      <p:sp>
        <p:nvSpPr>
          <p:cNvPr id="176" name="Google Shape;176;p16"/>
          <p:cNvSpPr/>
          <p:nvPr/>
        </p:nvSpPr>
        <p:spPr>
          <a:xfrm>
            <a:off x="822960" y="502920"/>
            <a:ext cx="10545775"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B94A"/>
              </a:buClr>
              <a:buSzPts val="1200"/>
              <a:buFont typeface="Inter"/>
              <a:buNone/>
            </a:pPr>
            <a:r>
              <a:rPr b="1" lang="en-US" sz="1200">
                <a:solidFill>
                  <a:srgbClr val="DDB94A"/>
                </a:solidFill>
                <a:latin typeface="Inter"/>
                <a:ea typeface="Inter"/>
                <a:cs typeface="Inter"/>
                <a:sym typeface="Inter"/>
              </a:rPr>
              <a:t>CASE FILE 03 · SKILL + SCHEDULE — DONNA, FULL TIME</a:t>
            </a:r>
            <a:endParaRPr sz="1200">
              <a:solidFill>
                <a:schemeClr val="dk1"/>
              </a:solidFill>
              <a:latin typeface="Calibri"/>
              <a:ea typeface="Calibri"/>
              <a:cs typeface="Calibri"/>
              <a:sym typeface="Calibri"/>
            </a:endParaRPr>
          </a:p>
        </p:txBody>
      </p:sp>
      <p:sp>
        <p:nvSpPr>
          <p:cNvPr id="177" name="Google Shape;177;p16"/>
          <p:cNvSpPr/>
          <p:nvPr/>
        </p:nvSpPr>
        <p:spPr>
          <a:xfrm>
            <a:off x="822960" y="868680"/>
            <a:ext cx="10545775"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F3E9"/>
              </a:buClr>
              <a:buSzPts val="3000"/>
              <a:buFont typeface="Playfair Display"/>
              <a:buNone/>
            </a:pPr>
            <a:r>
              <a:rPr b="1" lang="en-US" sz="3000">
                <a:solidFill>
                  <a:srgbClr val="F7F3E9"/>
                </a:solidFill>
                <a:latin typeface="Playfair Display"/>
                <a:ea typeface="Playfair Display"/>
                <a:cs typeface="Playfair Display"/>
                <a:sym typeface="Playfair Display"/>
              </a:rPr>
              <a:t>Give her the evening shift.</a:t>
            </a:r>
            <a:endParaRPr sz="3000">
              <a:solidFill>
                <a:schemeClr val="dk1"/>
              </a:solidFill>
              <a:latin typeface="Calibri"/>
              <a:ea typeface="Calibri"/>
              <a:cs typeface="Calibri"/>
              <a:sym typeface="Calibri"/>
            </a:endParaRPr>
          </a:p>
        </p:txBody>
      </p:sp>
      <p:sp>
        <p:nvSpPr>
          <p:cNvPr id="178" name="Google Shape;178;p16"/>
          <p:cNvSpPr/>
          <p:nvPr/>
        </p:nvSpPr>
        <p:spPr>
          <a:xfrm>
            <a:off x="822960" y="1737360"/>
            <a:ext cx="10545775" cy="3611880"/>
          </a:xfrm>
          <a:prstGeom prst="roundRect">
            <a:avLst>
              <a:gd fmla="val 1266" name="adj"/>
            </a:avLst>
          </a:prstGeom>
          <a:solidFill>
            <a:srgbClr val="F7F3E9"/>
          </a:solidFill>
          <a:ln>
            <a:noFill/>
          </a:ln>
          <a:effectLst>
            <a:outerShdw blurRad="177800" rotWithShape="0" algn="bl" dir="5400000" dist="76200">
              <a:srgbClr val="000000">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9" name="Google Shape;179;p16"/>
          <p:cNvSpPr/>
          <p:nvPr/>
        </p:nvSpPr>
        <p:spPr>
          <a:xfrm>
            <a:off x="1188720" y="1938528"/>
            <a:ext cx="9814255"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379"/>
              </a:buClr>
              <a:buSzPts val="1000"/>
              <a:buFont typeface="Inter"/>
              <a:buNone/>
            </a:pPr>
            <a:r>
              <a:rPr b="1" lang="en-US" sz="1700">
                <a:solidFill>
                  <a:srgbClr val="5A6379"/>
                </a:solidFill>
                <a:latin typeface="Inter"/>
                <a:ea typeface="Inter"/>
                <a:cs typeface="Inter"/>
                <a:sym typeface="Inter"/>
              </a:rPr>
              <a:t>THE STANDING ORDER — COWORK → SCHEDULED TASKS → NEW TASK</a:t>
            </a:r>
            <a:endParaRPr sz="1700">
              <a:solidFill>
                <a:schemeClr val="dk1"/>
              </a:solidFill>
              <a:latin typeface="Calibri"/>
              <a:ea typeface="Calibri"/>
              <a:cs typeface="Calibri"/>
              <a:sym typeface="Calibri"/>
            </a:endParaRPr>
          </a:p>
        </p:txBody>
      </p:sp>
      <p:sp>
        <p:nvSpPr>
          <p:cNvPr id="180" name="Google Shape;180;p16"/>
          <p:cNvSpPr/>
          <p:nvPr/>
        </p:nvSpPr>
        <p:spPr>
          <a:xfrm>
            <a:off x="1188720" y="2240280"/>
            <a:ext cx="9814255" cy="288036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1C2333"/>
              </a:buClr>
              <a:buSzPts val="1200"/>
              <a:buFont typeface="Courier New"/>
              <a:buNone/>
            </a:pPr>
            <a:r>
              <a:rPr lang="en-US">
                <a:solidFill>
                  <a:srgbClr val="1C2333"/>
                </a:solidFill>
                <a:latin typeface="Courier New"/>
                <a:ea typeface="Courier New"/>
                <a:cs typeface="Courier New"/>
                <a:sym typeface="Courier New"/>
              </a:rPr>
              <a:t>Every weekday at 4:30 PM, use my donna-replies skill:</a:t>
            </a:r>
          </a:p>
          <a:p>
            <a:pPr indent="0" lvl="0" marL="0" marR="0" rtl="0" algn="l">
              <a:lnSpc>
                <a:spcPct val="125000"/>
              </a:lnSpc>
              <a:spcBef>
                <a:spcPts val="0"/>
              </a:spcBef>
              <a:spcAft>
                <a:spcPts val="0"/>
              </a:spcAft>
              <a:buClr>
                <a:srgbClr val="1C2333"/>
              </a:buClr>
              <a:buSzPts val="1200"/>
              <a:buFont typeface="Courier New"/>
              <a:buNone/>
            </a:pPr>
            <a:r>
              <a:rPr lang="en-US">
                <a:solidFill>
                  <a:srgbClr val="1C2333"/>
                </a:solidFill>
                <a:latin typeface="Courier New"/>
                <a:ea typeface="Courier New"/>
                <a:cs typeface="Courier New"/>
                <a:sym typeface="Courier New"/>
              </a:rPr>
              <a:t>1. Triage today’s inbox; save red replies + yellow handoffs to my Drafts.</a:t>
            </a:r>
          </a:p>
          <a:p>
            <a:pPr indent="0" lvl="0" marL="0" marR="0" rtl="0" algn="l">
              <a:lnSpc>
                <a:spcPct val="125000"/>
              </a:lnSpc>
              <a:spcBef>
                <a:spcPts val="0"/>
              </a:spcBef>
              <a:spcAft>
                <a:spcPts val="0"/>
              </a:spcAft>
              <a:buClr>
                <a:srgbClr val="1C2333"/>
              </a:buClr>
              <a:buSzPts val="1200"/>
              <a:buFont typeface="Courier New"/>
              <a:buNone/>
            </a:pPr>
            <a:r>
              <a:rPr lang="en-US">
                <a:solidFill>
                  <a:srgbClr val="1C2333"/>
                </a:solidFill>
                <a:latin typeface="Courier New"/>
                <a:ea typeface="Courier New"/>
                <a:cs typeface="Courier New"/>
                <a:sym typeface="Courier New"/>
              </a:rPr>
              <a:t>2. Write my Daily Briefing doc, "Daily Briefing: [today’s date]":</a:t>
            </a:r>
          </a:p>
          <a:p>
            <a:pPr indent="0" lvl="0" marL="0" marR="0" rtl="0" algn="l">
              <a:lnSpc>
                <a:spcPct val="125000"/>
              </a:lnSpc>
              <a:spcBef>
                <a:spcPts val="0"/>
              </a:spcBef>
              <a:spcAft>
                <a:spcPts val="0"/>
              </a:spcAft>
              <a:buClr>
                <a:srgbClr val="1C2333"/>
              </a:buClr>
              <a:buSzPts val="1200"/>
              <a:buFont typeface="Courier New"/>
              <a:buNone/>
            </a:pPr>
            <a:r>
              <a:rPr lang="en-US">
                <a:solidFill>
                  <a:srgbClr val="1C2333"/>
                </a:solidFill>
                <a:latin typeface="Courier New"/>
                <a:ea typeface="Courier New"/>
                <a:cs typeface="Courier New"/>
                <a:sym typeface="Courier New"/>
              </a:rPr>
              <a:t>   • the 5 things that need ME   • the replies you drafted</a:t>
            </a:r>
          </a:p>
          <a:p>
            <a:pPr indent="0" lvl="0" marL="0" marR="0" rtl="0" algn="l">
              <a:lnSpc>
                <a:spcPct val="125000"/>
              </a:lnSpc>
              <a:spcBef>
                <a:spcPts val="0"/>
              </a:spcBef>
              <a:spcAft>
                <a:spcPts val="0"/>
              </a:spcAft>
              <a:buClr>
                <a:srgbClr val="1C2333"/>
              </a:buClr>
              <a:buSzPts val="1200"/>
              <a:buFont typeface="Courier New"/>
              <a:buNone/>
            </a:pPr>
            <a:r>
              <a:rPr lang="en-US">
                <a:solidFill>
                  <a:srgbClr val="1C2333"/>
                </a:solidFill>
                <a:latin typeface="Courier New"/>
                <a:ea typeface="Courier New"/>
                <a:cs typeface="Courier New"/>
                <a:sym typeface="Courier New"/>
              </a:rPr>
              <a:t>   • what you ignored and why   • my first meeting tomorrow</a:t>
            </a:r>
          </a:p>
          <a:p>
            <a:pPr indent="0" lvl="0" marL="0" marR="0" rtl="0" algn="l">
              <a:lnSpc>
                <a:spcPct val="125000"/>
              </a:lnSpc>
              <a:spcBef>
                <a:spcPts val="0"/>
              </a:spcBef>
              <a:spcAft>
                <a:spcPts val="0"/>
              </a:spcAft>
              <a:buClr>
                <a:srgbClr val="1C2333"/>
              </a:buClr>
              <a:buSzPts val="1200"/>
              <a:buFont typeface="Courier New"/>
              <a:buNone/>
            </a:pPr>
            <a:r>
              <a:rPr lang="en-US">
                <a:solidFill>
                  <a:srgbClr val="1C2333"/>
                </a:solidFill>
                <a:latin typeface="Courier New"/>
                <a:ea typeface="Courier New"/>
                <a:cs typeface="Courier New"/>
                <a:sym typeface="Courier New"/>
              </a:rPr>
              <a:t>3. Save it to my Google Drive in a folder called "Donna Briefings".</a:t>
            </a:r>
          </a:p>
          <a:p>
            <a:pPr indent="0" lvl="0" marL="0" marR="0" rtl="0" algn="l">
              <a:lnSpc>
                <a:spcPct val="125000"/>
              </a:lnSpc>
              <a:spcBef>
                <a:spcPts val="0"/>
              </a:spcBef>
              <a:spcAft>
                <a:spcPts val="0"/>
              </a:spcAft>
              <a:buClr>
                <a:srgbClr val="1C2333"/>
              </a:buClr>
              <a:buSzPts val="1200"/>
              <a:buFont typeface="Courier New"/>
              <a:buNone/>
            </a:pPr>
            <a:r>
              <a:rPr lang="en-US">
                <a:solidFill>
                  <a:srgbClr val="1C2333"/>
                </a:solidFill>
                <a:latin typeface="Courier New"/>
                <a:ea typeface="Courier New"/>
                <a:cs typeface="Courier New"/>
                <a:sym typeface="Courier New"/>
              </a:rPr>
              <a:t>4. Create a calendar event today, 4:55-5:00 PM, "📋 Briefing with</a:t>
            </a:r>
          </a:p>
          <a:p>
            <a:pPr indent="0" lvl="0" marL="0" marR="0" rtl="0" algn="l">
              <a:lnSpc>
                <a:spcPct val="125000"/>
              </a:lnSpc>
              <a:spcBef>
                <a:spcPts val="0"/>
              </a:spcBef>
              <a:spcAft>
                <a:spcPts val="0"/>
              </a:spcAft>
              <a:buClr>
                <a:srgbClr val="1C2333"/>
              </a:buClr>
              <a:buSzPts val="1200"/>
              <a:buFont typeface="Courier New"/>
              <a:buNone/>
            </a:pPr>
            <a:r>
              <a:rPr lang="en-US">
                <a:solidFill>
                  <a:srgbClr val="1C2333"/>
                </a:solidFill>
                <a:latin typeface="Courier New"/>
                <a:ea typeface="Courier New"/>
                <a:cs typeface="Courier New"/>
                <a:sym typeface="Courier New"/>
              </a:rPr>
              <a:t>   Donna", doc link in the description, EMAIL reminder 1 minute before.</a:t>
            </a:r>
          </a:p>
          <a:p>
            <a:pPr indent="0" lvl="0" marL="0" marR="0" rtl="0" algn="l">
              <a:lnSpc>
                <a:spcPct val="125000"/>
              </a:lnSpc>
              <a:spcBef>
                <a:spcPts val="0"/>
              </a:spcBef>
              <a:spcAft>
                <a:spcPts val="0"/>
              </a:spcAft>
              <a:buClr>
                <a:srgbClr val="1C2333"/>
              </a:buClr>
              <a:buSzPts val="1200"/>
              <a:buFont typeface="Courier New"/>
              <a:buNone/>
            </a:pPr>
            <a:r>
              <a:rPr lang="en-US">
                <a:solidFill>
                  <a:srgbClr val="1C2333"/>
                </a:solidFill>
                <a:latin typeface="Courier New"/>
                <a:ea typeface="Courier New"/>
                <a:cs typeface="Courier New"/>
                <a:sym typeface="Courier New"/>
              </a:rPr>
              <a:t>Also: do a dry run for today RIGHT NOW so I can check your work.</a:t>
            </a:r>
          </a:p>
        </p:txBody>
      </p:sp>
      <p:sp>
        <p:nvSpPr>
          <p:cNvPr id="181" name="Google Shape;181;p16"/>
          <p:cNvSpPr/>
          <p:nvPr/>
        </p:nvSpPr>
        <p:spPr>
          <a:xfrm>
            <a:off x="1554480" y="5669280"/>
            <a:ext cx="31089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2000"/>
              <a:buFont typeface="Playfair Display"/>
              <a:buNone/>
            </a:pPr>
            <a:r>
              <a:rPr b="1" lang="en-US" sz="2000">
                <a:solidFill>
                  <a:srgbClr val="C9A227"/>
                </a:solidFill>
                <a:latin typeface="Playfair Display"/>
                <a:ea typeface="Playfair Display"/>
                <a:cs typeface="Playfair Display"/>
                <a:sym typeface="Playfair Display"/>
              </a:rPr>
              <a:t>4:30  </a:t>
            </a:r>
            <a:r>
              <a:rPr lang="en-US" sz="1300">
                <a:solidFill>
                  <a:srgbClr val="AFA893"/>
                </a:solidFill>
                <a:latin typeface="Inter"/>
                <a:ea typeface="Inter"/>
                <a:cs typeface="Inter"/>
                <a:sym typeface="Inter"/>
              </a:rPr>
              <a:t>she works</a:t>
            </a:r>
            <a:endParaRPr sz="2000">
              <a:solidFill>
                <a:schemeClr val="dk1"/>
              </a:solidFill>
              <a:latin typeface="Calibri"/>
              <a:ea typeface="Calibri"/>
              <a:cs typeface="Calibri"/>
              <a:sym typeface="Calibri"/>
            </a:endParaRPr>
          </a:p>
        </p:txBody>
      </p:sp>
      <p:sp>
        <p:nvSpPr>
          <p:cNvPr id="182" name="Google Shape;182;p16"/>
          <p:cNvSpPr/>
          <p:nvPr/>
        </p:nvSpPr>
        <p:spPr>
          <a:xfrm>
            <a:off x="4754880" y="5669280"/>
            <a:ext cx="31089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2000"/>
              <a:buFont typeface="Playfair Display"/>
              <a:buNone/>
            </a:pPr>
            <a:r>
              <a:rPr b="1" lang="en-US" sz="2000">
                <a:solidFill>
                  <a:srgbClr val="C9A227"/>
                </a:solidFill>
                <a:latin typeface="Playfair Display"/>
                <a:ea typeface="Playfair Display"/>
                <a:cs typeface="Playfair Display"/>
                <a:sym typeface="Playfair Display"/>
              </a:rPr>
              <a:t>4:54  </a:t>
            </a:r>
            <a:r>
              <a:rPr lang="en-US" sz="1300">
                <a:solidFill>
                  <a:srgbClr val="AFA893"/>
                </a:solidFill>
                <a:latin typeface="Inter"/>
                <a:ea typeface="Inter"/>
                <a:cs typeface="Inter"/>
                <a:sym typeface="Inter"/>
              </a:rPr>
              <a:t>you’re notified</a:t>
            </a:r>
            <a:endParaRPr sz="2000">
              <a:solidFill>
                <a:schemeClr val="dk1"/>
              </a:solidFill>
              <a:latin typeface="Calibri"/>
              <a:ea typeface="Calibri"/>
              <a:cs typeface="Calibri"/>
              <a:sym typeface="Calibri"/>
            </a:endParaRPr>
          </a:p>
        </p:txBody>
      </p:sp>
      <p:sp>
        <p:nvSpPr>
          <p:cNvPr id="183" name="Google Shape;183;p16"/>
          <p:cNvSpPr/>
          <p:nvPr/>
        </p:nvSpPr>
        <p:spPr>
          <a:xfrm>
            <a:off x="7955280" y="5669280"/>
            <a:ext cx="31089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2000"/>
              <a:buFont typeface="Playfair Display"/>
              <a:buNone/>
            </a:pPr>
            <a:r>
              <a:rPr b="1" lang="en-US" sz="2000">
                <a:solidFill>
                  <a:srgbClr val="C9A227"/>
                </a:solidFill>
                <a:latin typeface="Playfair Display"/>
                <a:ea typeface="Playfair Display"/>
                <a:cs typeface="Playfair Display"/>
                <a:sym typeface="Playfair Display"/>
              </a:rPr>
              <a:t>4:55  </a:t>
            </a:r>
            <a:r>
              <a:rPr lang="en-US" sz="1300">
                <a:solidFill>
                  <a:srgbClr val="AFA893"/>
                </a:solidFill>
                <a:latin typeface="Inter"/>
                <a:ea typeface="Inter"/>
                <a:cs typeface="Inter"/>
                <a:sym typeface="Inter"/>
              </a:rPr>
              <a:t>a five-minute read</a:t>
            </a:r>
            <a:endParaRPr sz="20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213D"/>
        </a:solidFill>
      </p:bgPr>
    </p:bg>
    <p:spTree>
      <p:nvGrpSpPr>
        <p:cNvPr id="188" name="Shape 188"/>
        <p:cNvGrpSpPr/>
        <p:nvPr/>
      </p:nvGrpSpPr>
      <p:grpSpPr>
        <a:xfrm>
          <a:off x="0" y="0"/>
          <a:ext cx="0" cy="0"/>
          <a:chOff x="0" y="0"/>
          <a:chExt cx="0" cy="0"/>
        </a:xfrm>
      </p:grpSpPr>
      <p:sp>
        <p:nvSpPr>
          <p:cNvPr id="189" name="Google Shape;189;p17"/>
          <p:cNvSpPr/>
          <p:nvPr/>
        </p:nvSpPr>
        <p:spPr>
          <a:xfrm>
            <a:off x="822960" y="502920"/>
            <a:ext cx="10545775"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B94A"/>
              </a:buClr>
              <a:buSzPts val="1200"/>
              <a:buFont typeface="Inter"/>
              <a:buNone/>
            </a:pPr>
            <a:r>
              <a:rPr b="1" lang="en-US" sz="1200">
                <a:solidFill>
                  <a:srgbClr val="DDB94A"/>
                </a:solidFill>
                <a:latin typeface="Inter"/>
                <a:ea typeface="Inter"/>
                <a:cs typeface="Inter"/>
                <a:sym typeface="Inter"/>
              </a:rPr>
              <a:t>CASE FILE 03 · THE DRY RUN — CHECKPOINT</a:t>
            </a:r>
            <a:endParaRPr sz="1200">
              <a:solidFill>
                <a:schemeClr val="dk1"/>
              </a:solidFill>
              <a:latin typeface="Calibri"/>
              <a:ea typeface="Calibri"/>
              <a:cs typeface="Calibri"/>
              <a:sym typeface="Calibri"/>
            </a:endParaRPr>
          </a:p>
        </p:txBody>
      </p:sp>
      <p:sp>
        <p:nvSpPr>
          <p:cNvPr id="190" name="Google Shape;190;p17"/>
          <p:cNvSpPr/>
          <p:nvPr/>
        </p:nvSpPr>
        <p:spPr>
          <a:xfrm>
            <a:off x="822960" y="1417320"/>
            <a:ext cx="10545775" cy="2286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9A227"/>
              </a:buClr>
              <a:buSzPts val="13000"/>
              <a:buFont typeface="Playfair Display"/>
              <a:buNone/>
            </a:pPr>
            <a:r>
              <a:rPr b="1" lang="en-US" sz="13000">
                <a:solidFill>
                  <a:srgbClr val="C9A227"/>
                </a:solidFill>
                <a:latin typeface="Playfair Display"/>
                <a:ea typeface="Playfair Display"/>
                <a:cs typeface="Playfair Display"/>
                <a:sym typeface="Playfair Display"/>
              </a:rPr>
              <a:t>4:54 PM</a:t>
            </a:r>
          </a:p>
        </p:txBody>
      </p:sp>
      <p:sp>
        <p:nvSpPr>
          <p:cNvPr id="191" name="Google Shape;191;p17"/>
          <p:cNvSpPr/>
          <p:nvPr/>
        </p:nvSpPr>
        <p:spPr>
          <a:xfrm>
            <a:off x="914400" y="3977640"/>
            <a:ext cx="10362895"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7F3E9"/>
              </a:buClr>
              <a:buSzPts val="2400"/>
              <a:buFont typeface="Playfair Display"/>
              <a:buNone/>
            </a:pPr>
            <a:r>
              <a:rPr lang="en-US" sz="2400">
                <a:solidFill>
                  <a:srgbClr val="F7F3E9"/>
                </a:solidFill>
                <a:latin typeface="Playfair Display"/>
                <a:ea typeface="Playfair Display"/>
                <a:cs typeface="Playfair Display"/>
                <a:sym typeface="Playfair Display"/>
              </a:rPr>
              <a:t>Her first briefing arrives before you leave the room.</a:t>
            </a:r>
            <a:endParaRPr sz="2400">
              <a:solidFill>
                <a:schemeClr val="dk1"/>
              </a:solidFill>
              <a:latin typeface="Calibri"/>
              <a:ea typeface="Calibri"/>
              <a:cs typeface="Calibri"/>
              <a:sym typeface="Calibri"/>
            </a:endParaRPr>
          </a:p>
        </p:txBody>
      </p:sp>
      <p:sp>
        <p:nvSpPr>
          <p:cNvPr id="192" name="Google Shape;192;p17"/>
          <p:cNvSpPr/>
          <p:nvPr/>
        </p:nvSpPr>
        <p:spPr>
          <a:xfrm>
            <a:off x="1463040" y="4800600"/>
            <a:ext cx="9265615" cy="731520"/>
          </a:xfrm>
          <a:prstGeom prst="rect">
            <a:avLst/>
          </a:prstGeom>
          <a:noFill/>
          <a:ln>
            <a:noFill/>
          </a:ln>
        </p:spPr>
        <p:txBody>
          <a:bodyPr anchorCtr="0" anchor="ctr" bIns="0" lIns="0" spcFirstLastPara="1" rIns="0" wrap="square" tIns="0">
            <a:noAutofit/>
          </a:bodyPr>
          <a:lstStyle/>
          <a:p>
            <a:pPr indent="0" lvl="0" marL="0" marR="0" rtl="0" algn="ctr">
              <a:lnSpc>
                <a:spcPct val="125000"/>
              </a:lnSpc>
              <a:spcBef>
                <a:spcPts val="0"/>
              </a:spcBef>
              <a:spcAft>
                <a:spcPts val="0"/>
              </a:spcAft>
              <a:buClr>
                <a:srgbClr val="AFA893"/>
              </a:buClr>
              <a:buSzPts val="1450"/>
              <a:buFont typeface="Inter"/>
              <a:buNone/>
            </a:pPr>
            <a:r>
              <a:rPr i="1" lang="en-US" sz="1950">
                <a:solidFill>
                  <a:srgbClr val="AFA893"/>
                </a:solidFill>
                <a:latin typeface="Inter"/>
                <a:ea typeface="Inter"/>
                <a:cs typeface="Inter"/>
                <a:sym typeface="Inter"/>
              </a:rPr>
              <a:t>The trick: Claude never emails you. Your calendar does. </a:t>
            </a:r>
            <a:endParaRPr i="1" sz="1950">
              <a:solidFill>
                <a:srgbClr val="AFA893"/>
              </a:solidFill>
              <a:latin typeface="Inter"/>
              <a:ea typeface="Inter"/>
              <a:cs typeface="Inter"/>
              <a:sym typeface="Inter"/>
            </a:endParaRPr>
          </a:p>
          <a:p>
            <a:pPr indent="0" lvl="0" marL="0" marR="0" rtl="0" algn="ctr">
              <a:lnSpc>
                <a:spcPct val="125000"/>
              </a:lnSpc>
              <a:spcBef>
                <a:spcPts val="0"/>
              </a:spcBef>
              <a:spcAft>
                <a:spcPts val="0"/>
              </a:spcAft>
              <a:buClr>
                <a:srgbClr val="AFA893"/>
              </a:buClr>
              <a:buSzPts val="1450"/>
              <a:buFont typeface="Inter"/>
              <a:buNone/>
            </a:pPr>
            <a:r>
              <a:rPr i="1" lang="en-US" sz="1950">
                <a:solidFill>
                  <a:srgbClr val="AFA893"/>
                </a:solidFill>
                <a:latin typeface="Inter"/>
                <a:ea typeface="Inter"/>
                <a:cs typeface="Inter"/>
                <a:sym typeface="Inter"/>
              </a:rPr>
              <a:t>The briefing lands from a sender you already trust.</a:t>
            </a:r>
            <a:endParaRPr sz="195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213D"/>
        </a:solidFill>
      </p:bgPr>
    </p:bg>
    <p:spTree>
      <p:nvGrpSpPr>
        <p:cNvPr id="197" name="Shape 197"/>
        <p:cNvGrpSpPr/>
        <p:nvPr/>
      </p:nvGrpSpPr>
      <p:grpSpPr>
        <a:xfrm>
          <a:off x="0" y="0"/>
          <a:ext cx="0" cy="0"/>
          <a:chOff x="0" y="0"/>
          <a:chExt cx="0" cy="0"/>
        </a:xfrm>
      </p:grpSpPr>
      <p:pic>
        <p:nvPicPr>
          <p:cNvPr descr="/private/tmp/claude-502/-Users-dev-Documents-production-donna/5de1284d-6f84-43be-a2a5-f3ead80d40bc/scratchpad/monogram-gold-red.png" id="198" name="Google Shape;198;p18"/>
          <p:cNvPicPr preferRelativeResize="0"/>
          <p:nvPr/>
        </p:nvPicPr>
        <p:blipFill rotWithShape="1">
          <a:blip r:embed="rId3">
            <a:alphaModFix/>
          </a:blip>
          <a:srcRect b="0" l="0" r="0" t="0"/>
          <a:stretch/>
        </p:blipFill>
        <p:spPr>
          <a:xfrm>
            <a:off x="5501488" y="457200"/>
            <a:ext cx="1188720" cy="1188720"/>
          </a:xfrm>
          <a:prstGeom prst="rect">
            <a:avLst/>
          </a:prstGeom>
          <a:noFill/>
          <a:ln>
            <a:noFill/>
          </a:ln>
        </p:spPr>
      </p:pic>
      <p:sp>
        <p:nvSpPr>
          <p:cNvPr id="199" name="Google Shape;199;p18"/>
          <p:cNvSpPr/>
          <p:nvPr/>
        </p:nvSpPr>
        <p:spPr>
          <a:xfrm>
            <a:off x="1828800" y="1874520"/>
            <a:ext cx="8534095" cy="1691640"/>
          </a:xfrm>
          <a:prstGeom prst="roundRect">
            <a:avLst>
              <a:gd fmla="val 3243" name="adj"/>
            </a:avLst>
          </a:prstGeom>
          <a:solidFill>
            <a:srgbClr val="F7F3E9"/>
          </a:solidFill>
          <a:ln>
            <a:noFill/>
          </a:ln>
          <a:effectLst>
            <a:outerShdw blurRad="203200" rotWithShape="0" algn="bl" dir="5400000" dist="88900">
              <a:srgbClr val="000000">
                <a:alpha val="38039"/>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0" name="Google Shape;200;p18"/>
          <p:cNvSpPr/>
          <p:nvPr/>
        </p:nvSpPr>
        <p:spPr>
          <a:xfrm>
            <a:off x="2240280" y="2011680"/>
            <a:ext cx="7711135" cy="1417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31621"/>
              </a:buClr>
              <a:buSzPts val="2400"/>
              <a:buFont typeface="Playfair Display"/>
              <a:buNone/>
            </a:pPr>
            <a:r>
              <a:rPr i="1" lang="en-US" sz="2400">
                <a:solidFill>
                  <a:srgbClr val="A31621"/>
                </a:solidFill>
                <a:latin typeface="Playfair Display"/>
                <a:ea typeface="Playfair Display"/>
                <a:cs typeface="Playfair Display"/>
                <a:sym typeface="Playfair Display"/>
              </a:rPr>
              <a:t>“If you were ever lucky enough to have me, you wouldn’t want to share.”</a:t>
            </a:r>
            <a:endParaRPr sz="2400">
              <a:solidFill>
                <a:schemeClr val="dk1"/>
              </a:solidFill>
              <a:latin typeface="Calibri"/>
              <a:ea typeface="Calibri"/>
              <a:cs typeface="Calibri"/>
              <a:sym typeface="Calibri"/>
            </a:endParaRPr>
          </a:p>
          <a:p>
            <a:pPr indent="0" lvl="0" marL="0" marR="0" rtl="0" algn="ctr">
              <a:spcBef>
                <a:spcPts val="0"/>
              </a:spcBef>
              <a:spcAft>
                <a:spcPts val="0"/>
              </a:spcAft>
              <a:buClr>
                <a:schemeClr val="dk1"/>
              </a:buClr>
              <a:buSzPts val="2400"/>
              <a:buFont typeface="Calibri"/>
              <a:buNone/>
            </a:pPr>
            <a:r>
              <a:t/>
            </a:r>
            <a:endParaRPr sz="2400">
              <a:solidFill>
                <a:schemeClr val="dk1"/>
              </a:solidFill>
              <a:latin typeface="Calibri"/>
              <a:ea typeface="Calibri"/>
              <a:cs typeface="Calibri"/>
              <a:sym typeface="Calibri"/>
            </a:endParaRPr>
          </a:p>
          <a:p>
            <a:pPr indent="0" lvl="0" marL="0" marR="0" rtl="0" algn="ctr">
              <a:spcBef>
                <a:spcPts val="0"/>
              </a:spcBef>
              <a:spcAft>
                <a:spcPts val="0"/>
              </a:spcAft>
              <a:buClr>
                <a:srgbClr val="14213D"/>
              </a:buClr>
              <a:buSzPts val="1050"/>
              <a:buFont typeface="Inter"/>
              <a:buNone/>
            </a:pPr>
            <a:r>
              <a:rPr b="1" lang="en-US" sz="1050">
                <a:solidFill>
                  <a:srgbClr val="14213D"/>
                </a:solidFill>
                <a:latin typeface="Inter"/>
                <a:ea typeface="Inter"/>
                <a:cs typeface="Inter"/>
                <a:sym typeface="Inter"/>
              </a:rPr>
              <a:t>— DONNA PAULSEN, SUITS</a:t>
            </a:r>
            <a:endParaRPr sz="2400">
              <a:solidFill>
                <a:schemeClr val="dk1"/>
              </a:solidFill>
              <a:latin typeface="Calibri"/>
              <a:ea typeface="Calibri"/>
              <a:cs typeface="Calibri"/>
              <a:sym typeface="Calibri"/>
            </a:endParaRPr>
          </a:p>
        </p:txBody>
      </p:sp>
      <p:sp>
        <p:nvSpPr>
          <p:cNvPr id="201" name="Google Shape;201;p18"/>
          <p:cNvSpPr/>
          <p:nvPr/>
        </p:nvSpPr>
        <p:spPr>
          <a:xfrm>
            <a:off x="914400" y="3794760"/>
            <a:ext cx="10362895"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7F3E9"/>
              </a:buClr>
              <a:buSzPts val="2200"/>
              <a:buFont typeface="Playfair Display"/>
              <a:buNone/>
            </a:pPr>
            <a:r>
              <a:rPr lang="en-US" sz="2200">
                <a:solidFill>
                  <a:srgbClr val="F7F3E9"/>
                </a:solidFill>
                <a:latin typeface="Playfair Display"/>
                <a:ea typeface="Playfair Display"/>
                <a:cs typeface="Playfair Display"/>
                <a:sym typeface="Playfair Display"/>
              </a:rPr>
              <a:t>Yours starts tomorrow at 4:54.</a:t>
            </a:r>
            <a:endParaRPr sz="2200">
              <a:solidFill>
                <a:schemeClr val="dk1"/>
              </a:solidFill>
              <a:latin typeface="Calibri"/>
              <a:ea typeface="Calibri"/>
              <a:cs typeface="Calibri"/>
              <a:sym typeface="Calibri"/>
            </a:endParaRPr>
          </a:p>
        </p:txBody>
      </p:sp>
      <p:pic>
        <p:nvPicPr>
          <p:cNvPr descr="/private/tmp/claude-502/-Users-dev-Documents-production-donna/5de1284d-6f84-43be-a2a5-f3ead80d40bc/scratchpad/qr.png" id="202" name="Google Shape;202;p18"/>
          <p:cNvPicPr preferRelativeResize="0"/>
          <p:nvPr/>
        </p:nvPicPr>
        <p:blipFill rotWithShape="1">
          <a:blip r:embed="rId4">
            <a:alphaModFix/>
          </a:blip>
          <a:srcRect b="0" l="0" r="0" t="0"/>
          <a:stretch/>
        </p:blipFill>
        <p:spPr>
          <a:xfrm>
            <a:off x="5227168" y="4526280"/>
            <a:ext cx="1737360" cy="1737360"/>
          </a:xfrm>
          <a:prstGeom prst="rect">
            <a:avLst/>
          </a:prstGeom>
          <a:noFill/>
          <a:ln>
            <a:noFill/>
          </a:ln>
        </p:spPr>
      </p:pic>
      <p:sp>
        <p:nvSpPr>
          <p:cNvPr id="203" name="Google Shape;203;p18"/>
          <p:cNvSpPr/>
          <p:nvPr/>
        </p:nvSpPr>
        <p:spPr>
          <a:xfrm>
            <a:off x="914400" y="6355080"/>
            <a:ext cx="10362895"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DB94A"/>
              </a:buClr>
              <a:buSzPts val="1500"/>
              <a:buFont typeface="Inter"/>
              <a:buNone/>
            </a:pPr>
            <a:r>
              <a:rPr b="1" lang="en-US" sz="1500">
                <a:solidFill>
                  <a:srgbClr val="DDB94A"/>
                </a:solidFill>
                <a:latin typeface="Inter"/>
                <a:ea typeface="Inter"/>
                <a:cs typeface="Inter"/>
                <a:sym typeface="Inter"/>
              </a:rPr>
              <a:t>denisekgosnell.github.io/Donna</a:t>
            </a:r>
            <a:endParaRPr sz="15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3E9"/>
        </a:solidFill>
      </p:bgPr>
    </p:bg>
    <p:spTree>
      <p:nvGrpSpPr>
        <p:cNvPr id="42" name="Shape 42"/>
        <p:cNvGrpSpPr/>
        <p:nvPr/>
      </p:nvGrpSpPr>
      <p:grpSpPr>
        <a:xfrm>
          <a:off x="0" y="0"/>
          <a:ext cx="0" cy="0"/>
          <a:chOff x="0" y="0"/>
          <a:chExt cx="0" cy="0"/>
        </a:xfrm>
      </p:grpSpPr>
      <p:sp>
        <p:nvSpPr>
          <p:cNvPr id="43" name="Google Shape;43;p6"/>
          <p:cNvSpPr/>
          <p:nvPr/>
        </p:nvSpPr>
        <p:spPr>
          <a:xfrm>
            <a:off x="822960" y="502920"/>
            <a:ext cx="10545775"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1200"/>
              <a:buFont typeface="Inter"/>
              <a:buNone/>
            </a:pPr>
            <a:r>
              <a:rPr b="1" lang="en-US" sz="1200">
                <a:solidFill>
                  <a:srgbClr val="C9A227"/>
                </a:solidFill>
                <a:latin typeface="Inter"/>
                <a:ea typeface="Inter"/>
                <a:cs typeface="Inter"/>
                <a:sym typeface="Inter"/>
              </a:rPr>
              <a:t>YOUR GUIDE</a:t>
            </a:r>
          </a:p>
        </p:txBody>
      </p:sp>
      <p:sp>
        <p:nvSpPr>
          <p:cNvPr id="44" name="Google Shape;44;p6"/>
          <p:cNvSpPr/>
          <p:nvPr/>
        </p:nvSpPr>
        <p:spPr>
          <a:xfrm>
            <a:off x="822960" y="990600"/>
            <a:ext cx="7112000" cy="81280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A31621"/>
              </a:buClr>
              <a:buSzPts val="2100"/>
              <a:buFont typeface="Playfair Display"/>
              <a:buNone/>
            </a:pPr>
            <a:r>
              <a:rPr i="1" lang="en-US" sz="2100">
                <a:solidFill>
                  <a:srgbClr val="A31621"/>
                </a:solidFill>
                <a:latin typeface="Playfair Display"/>
                <a:ea typeface="Playfair Display"/>
                <a:cs typeface="Playfair Display"/>
                <a:sym typeface="Playfair Display"/>
              </a:rPr>
              <a:t>Denise Gosnell, Ph.D.</a:t>
            </a:r>
          </a:p>
        </p:txBody>
      </p:sp>
      <p:sp>
        <p:nvSpPr>
          <p:cNvPr id="45" name="Google Shape;45;p6"/>
          <p:cNvSpPr/>
          <p:nvPr/>
        </p:nvSpPr>
        <p:spPr>
          <a:xfrm>
            <a:off x="812800" y="1879600"/>
            <a:ext cx="7112000" cy="81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3600"/>
              <a:buFont typeface="Playfair Display"/>
              <a:buNone/>
            </a:pPr>
            <a:r>
              <a:rPr b="1" lang="en-US" sz="3600">
                <a:solidFill>
                  <a:srgbClr val="14213D"/>
                </a:solidFill>
                <a:latin typeface="Playfair Display"/>
                <a:ea typeface="Playfair Display"/>
                <a:cs typeface="Playfair Display"/>
                <a:sym typeface="Playfair Display"/>
              </a:rPr>
              <a:t>Fifteen years in data infrastructure. Now building an AI-first company, and Signature’s cooperative data system.</a:t>
            </a:r>
          </a:p>
        </p:txBody>
      </p:sp>
      <p:sp>
        <p:nvSpPr>
          <p:cNvPr id="47" name="Google Shape;47;p6"/>
          <p:cNvSpPr/>
          <p:nvPr/>
        </p:nvSpPr>
        <p:spPr>
          <a:xfrm>
            <a:off x="812800" y="2895600"/>
            <a:ext cx="7302500" cy="31750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1C2333"/>
              </a:buClr>
              <a:buSzPts val="1800"/>
              <a:buFont typeface="Inter"/>
              <a:buNone/>
            </a:pPr>
            <a:r>
              <a:rPr lang="en-US" sz="1800">
                <a:solidFill>
                  <a:srgbClr val="1C2333"/>
                </a:solidFill>
                <a:latin typeface="Inter"/>
                <a:ea typeface="Inter"/>
                <a:cs typeface="Inter"/>
                <a:sym typeface="Inter"/>
              </a:rPr>
              <a:t>·  Managed P&amp;L for a nine-figure AWS service (2022 to 2025)</a:t>
            </a:r>
          </a:p>
          <a:p>
            <a:pPr indent="0" lvl="0" marL="0" marR="0" rtl="0" algn="l">
              <a:lnSpc>
                <a:spcPct val="125000"/>
              </a:lnSpc>
              <a:spcBef>
                <a:spcPts val="0"/>
              </a:spcBef>
              <a:spcAft>
                <a:spcPts val="0"/>
              </a:spcAft>
              <a:buClr>
                <a:srgbClr val="14213D"/>
              </a:buClr>
              <a:buSzPts val="1800"/>
              <a:buFont typeface="Inter"/>
              <a:buNone/>
            </a:pPr>
            <a:r>
              <a:rPr b="1" lang="en-US" sz="1800">
                <a:solidFill>
                  <a:srgbClr val="14213D"/>
                </a:solidFill>
                <a:latin typeface="Inter"/>
                <a:ea typeface="Inter"/>
                <a:cs typeface="Inter"/>
                <a:sym typeface="Inter"/>
              </a:rPr>
              <a:t>·  Led a top-three AWS re:Invent launch: a new AI engine for enterprise workloads</a:t>
            </a:r>
          </a:p>
          <a:p>
            <a:pPr indent="0" lvl="0" marL="0" marR="0" rtl="0" algn="l">
              <a:lnSpc>
                <a:spcPct val="125000"/>
              </a:lnSpc>
              <a:spcBef>
                <a:spcPts val="0"/>
              </a:spcBef>
              <a:spcAft>
                <a:spcPts val="0"/>
              </a:spcAft>
              <a:buClr>
                <a:srgbClr val="14213D"/>
              </a:buClr>
              <a:buSzPts val="1800"/>
              <a:buFont typeface="Inter"/>
              <a:buNone/>
            </a:pPr>
            <a:r>
              <a:rPr b="1" lang="en-US" sz="1800">
                <a:solidFill>
                  <a:srgbClr val="14213D"/>
                </a:solidFill>
                <a:latin typeface="Inter"/>
                <a:ea typeface="Inter"/>
                <a:cs typeface="Inter"/>
                <a:sym typeface="Inter"/>
              </a:rPr>
              <a:t>·  Chief Data Officer at DataStax, acquired by IBM in May 2025</a:t>
            </a:r>
          </a:p>
          <a:p>
            <a:pPr indent="0" lvl="0" marL="0" marR="0" rtl="0" algn="l">
              <a:lnSpc>
                <a:spcPct val="125000"/>
              </a:lnSpc>
              <a:spcBef>
                <a:spcPts val="0"/>
              </a:spcBef>
              <a:spcAft>
                <a:spcPts val="0"/>
              </a:spcAft>
              <a:buClr>
                <a:srgbClr val="14213D"/>
              </a:buClr>
              <a:buSzPts val="1800"/>
              <a:buFont typeface="Inter"/>
              <a:buNone/>
            </a:pPr>
            <a:r>
              <a:rPr b="1" lang="en-US" sz="1800">
                <a:solidFill>
                  <a:srgbClr val="14213D"/>
                </a:solidFill>
                <a:latin typeface="Inter"/>
                <a:ea typeface="Inter"/>
                <a:cs typeface="Inter"/>
                <a:sym typeface="Inter"/>
              </a:rPr>
              <a:t>·  Bestselling, award-winning author in AI and leadership · patent holder</a:t>
            </a:r>
          </a:p>
          <a:p>
            <a:pPr indent="0" lvl="0" marL="0" marR="0" rtl="0" algn="l">
              <a:lnSpc>
                <a:spcPct val="125000"/>
              </a:lnSpc>
              <a:spcBef>
                <a:spcPts val="0"/>
              </a:spcBef>
              <a:spcAft>
                <a:spcPts val="0"/>
              </a:spcAft>
              <a:buClr>
                <a:srgbClr val="14213D"/>
              </a:buClr>
              <a:buSzPts val="1800"/>
              <a:buFont typeface="Inter"/>
              <a:buNone/>
            </a:pPr>
            <a:r>
              <a:rPr b="1" lang="en-US" sz="1800">
                <a:solidFill>
                  <a:srgbClr val="14213D"/>
                </a:solidFill>
                <a:latin typeface="Inter"/>
                <a:ea typeface="Inter"/>
                <a:cs typeface="Inter"/>
                <a:sym typeface="Inter"/>
              </a:rPr>
              <a:t>·  Ph.D. in machine learning (2014) · Top 50 Women Leaders in SaaS</a:t>
            </a:r>
          </a:p>
          <a:p>
            <a:pPr indent="0" lvl="0" marL="0" marR="0" rtl="0" algn="l">
              <a:lnSpc>
                <a:spcPct val="125000"/>
              </a:lnSpc>
              <a:spcBef>
                <a:spcPts val="0"/>
              </a:spcBef>
              <a:spcAft>
                <a:spcPts val="0"/>
              </a:spcAft>
              <a:buClr>
                <a:srgbClr val="14213D"/>
              </a:buClr>
              <a:buSzPts val="1800"/>
              <a:buFont typeface="Inter"/>
              <a:buNone/>
            </a:pPr>
            <a:r>
              <a:rPr b="1" lang="en-US" sz="1800">
                <a:solidFill>
                  <a:srgbClr val="14213D"/>
                </a:solidFill>
                <a:latin typeface="Inter"/>
                <a:ea typeface="Inter"/>
                <a:cs typeface="Inter"/>
                <a:sym typeface="Inter"/>
              </a:rPr>
              <a:t>·  Builds with these tools every day: Donna is her actual assistant</a:t>
            </a:r>
          </a:p>
        </p:txBody>
      </p:sp>
      <p:pic>
        <p:nvPicPr>
          <p:cNvPr id="901" name="Denise headshot"/>
          <p:cNvPicPr preferRelativeResize="0"/>
          <p:nvPr/>
        </p:nvPicPr>
        <p:blipFill>
          <a:blip r:embed="rId9"/>
          <a:srcRect/>
          <a:stretch>
            <a:fillRect/>
          </a:stretch>
        </p:blipFill>
        <p:spPr>
          <a:xfrm>
            <a:off x="8382000" y="1371600"/>
            <a:ext cx="2997200" cy="2971800"/>
          </a:xfrm>
          <a:prstGeom prst="ellipse">
            <a:avLst/>
          </a:prstGeom>
          <a:ln w="19050">
            <a:solidFill>
              <a:srgbClr val="C9A227"/>
            </a:solid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213D"/>
        </a:solidFill>
      </p:bgPr>
    </p:bg>
    <p:spTree>
      <p:nvGrpSpPr>
        <p:cNvPr id="52" name="Shape 52"/>
        <p:cNvGrpSpPr/>
        <p:nvPr/>
      </p:nvGrpSpPr>
      <p:grpSpPr>
        <a:xfrm>
          <a:off x="0" y="0"/>
          <a:ext cx="0" cy="0"/>
          <a:chOff x="0" y="0"/>
          <a:chExt cx="0" cy="0"/>
        </a:xfrm>
      </p:grpSpPr>
      <p:sp>
        <p:nvSpPr>
          <p:cNvPr id="53" name="Google Shape;53;p7"/>
          <p:cNvSpPr/>
          <p:nvPr/>
        </p:nvSpPr>
        <p:spPr>
          <a:xfrm>
            <a:off x="822960" y="502920"/>
            <a:ext cx="10545775"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B94A"/>
              </a:buClr>
              <a:buSzPts val="1200"/>
              <a:buFont typeface="Inter"/>
              <a:buNone/>
            </a:pPr>
            <a:r>
              <a:rPr b="1" lang="en-US" sz="1200">
                <a:solidFill>
                  <a:srgbClr val="DDB94A"/>
                </a:solidFill>
                <a:latin typeface="Inter"/>
                <a:ea typeface="Inter"/>
                <a:cs typeface="Inter"/>
                <a:sym typeface="Inter"/>
              </a:rPr>
              <a:t>THE BIG PICTURE</a:t>
            </a:r>
          </a:p>
        </p:txBody>
      </p:sp>
      <p:sp>
        <p:nvSpPr>
          <p:cNvPr id="54" name="Google Shape;54;p7"/>
          <p:cNvSpPr/>
          <p:nvPr/>
        </p:nvSpPr>
        <p:spPr>
          <a:xfrm>
            <a:off x="822960" y="868680"/>
            <a:ext cx="10545775"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F3E9"/>
              </a:buClr>
              <a:buSzPts val="3800"/>
              <a:buFont typeface="Playfair Display"/>
              <a:buNone/>
            </a:pPr>
            <a:r>
              <a:rPr b="1" lang="en-US" sz="3800">
                <a:solidFill>
                  <a:srgbClr val="F7F3E9"/>
                </a:solidFill>
                <a:latin typeface="Playfair Display"/>
                <a:ea typeface="Playfair Display"/>
                <a:cs typeface="Playfair Display"/>
                <a:sym typeface="Playfair Display"/>
              </a:rPr>
              <a:t>You already speak the language</a:t>
            </a:r>
          </a:p>
        </p:txBody>
      </p:sp>
      <p:sp>
        <p:nvSpPr>
          <p:cNvPr id="55" name="Google Shape;55;p7"/>
          <p:cNvSpPr/>
          <p:nvPr/>
        </p:nvSpPr>
        <p:spPr>
          <a:xfrm>
            <a:off x="822960" y="2011680"/>
            <a:ext cx="2542032" cy="3108960"/>
          </a:xfrm>
          <a:prstGeom prst="roundRect">
            <a:avLst>
              <a:gd fmla="val 2158" name="adj"/>
            </a:avLst>
          </a:prstGeom>
          <a:solidFill>
            <a:srgbClr val="1B2A4A"/>
          </a:solidFill>
          <a:ln cap="flat" cmpd="sng" w="9525">
            <a:solidFill>
              <a:srgbClr val="C9A227">
                <a:alpha val="6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 name="Google Shape;56;p7"/>
          <p:cNvSpPr/>
          <p:nvPr/>
        </p:nvSpPr>
        <p:spPr>
          <a:xfrm>
            <a:off x="1097280" y="2108343"/>
            <a:ext cx="1993392"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2600"/>
              <a:buFont typeface="Playfair Display"/>
              <a:buNone/>
            </a:pPr>
            <a:r>
              <a:rPr b="1" lang="en-US" sz="2600">
                <a:solidFill>
                  <a:srgbClr val="C9A227"/>
                </a:solidFill>
                <a:latin typeface="Playfair Display"/>
                <a:ea typeface="Playfair Display"/>
                <a:cs typeface="Playfair Display"/>
                <a:sym typeface="Playfair Display"/>
              </a:rPr>
              <a:t>01</a:t>
            </a:r>
            <a:endParaRPr sz="2600">
              <a:solidFill>
                <a:schemeClr val="dk1"/>
              </a:solidFill>
              <a:latin typeface="Calibri"/>
              <a:ea typeface="Calibri"/>
              <a:cs typeface="Calibri"/>
              <a:sym typeface="Calibri"/>
            </a:endParaRPr>
          </a:p>
        </p:txBody>
      </p:sp>
      <p:sp>
        <p:nvSpPr>
          <p:cNvPr id="57" name="Google Shape;57;p7"/>
          <p:cNvSpPr/>
          <p:nvPr/>
        </p:nvSpPr>
        <p:spPr>
          <a:xfrm>
            <a:off x="1097280" y="2526355"/>
            <a:ext cx="1993392"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F3E9"/>
              </a:buClr>
              <a:buSzPts val="1250"/>
              <a:buFont typeface="Inter"/>
              <a:buNone/>
            </a:pPr>
            <a:r>
              <a:rPr b="1" lang="en-US" sz="1250">
                <a:solidFill>
                  <a:srgbClr val="F7F3E9"/>
                </a:solidFill>
                <a:latin typeface="Inter"/>
                <a:ea typeface="Inter"/>
                <a:cs typeface="Inter"/>
                <a:sym typeface="Inter"/>
              </a:rPr>
              <a:t>SAY IT</a:t>
            </a:r>
          </a:p>
          <a:p>
            <a:pPr indent="0" lvl="0" marL="0" marR="0" rtl="0" algn="l">
              <a:spcBef>
                <a:spcPts val="0"/>
              </a:spcBef>
              <a:spcAft>
                <a:spcPts val="0"/>
              </a:spcAft>
              <a:buClr>
                <a:srgbClr val="F7F3E9"/>
              </a:buClr>
              <a:buSzPts val="1250"/>
              <a:buFont typeface="Inter"/>
              <a:buNone/>
            </a:pPr>
            <a:r>
              <a:rPr b="1" lang="en-US" sz="1250">
                <a:solidFill>
                  <a:srgbClr val="F7F3E9"/>
                </a:solidFill>
                <a:latin typeface="Inter"/>
                <a:ea typeface="Inter"/>
                <a:cs typeface="Inter"/>
                <a:sym typeface="Inter"/>
              </a:rPr>
              <a:t>A CHAT</a:t>
            </a:r>
          </a:p>
        </p:txBody>
      </p:sp>
      <p:sp>
        <p:nvSpPr>
          <p:cNvPr id="58" name="Google Shape;58;p7"/>
          <p:cNvSpPr/>
          <p:nvPr/>
        </p:nvSpPr>
        <p:spPr>
          <a:xfrm>
            <a:off x="1097280" y="3310128"/>
            <a:ext cx="1993392" cy="1235746"/>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AFA893"/>
              </a:buClr>
              <a:buSzPts val="1600"/>
              <a:buFont typeface="Inter"/>
              <a:buNone/>
            </a:pPr>
            <a:r>
              <a:rPr i="1" lang="en-US">
                <a:solidFill>
                  <a:srgbClr val="AFA893"/>
                </a:solidFill>
                <a:latin typeface="Inter"/>
                <a:ea typeface="Inter"/>
                <a:cs typeface="Inter"/>
                <a:sym typeface="Inter"/>
              </a:rPr>
              <a:t>Ask the way you’d ask a person. Plain English is the whole interface.</a:t>
            </a:r>
          </a:p>
        </p:txBody>
      </p:sp>
      <p:sp>
        <p:nvSpPr>
          <p:cNvPr id="59" name="Google Shape;59;p7"/>
          <p:cNvSpPr/>
          <p:nvPr/>
        </p:nvSpPr>
        <p:spPr>
          <a:xfrm>
            <a:off x="3584448" y="2011680"/>
            <a:ext cx="2542032" cy="3108960"/>
          </a:xfrm>
          <a:prstGeom prst="roundRect">
            <a:avLst>
              <a:gd fmla="val 2158" name="adj"/>
            </a:avLst>
          </a:prstGeom>
          <a:solidFill>
            <a:srgbClr val="1B2A4A"/>
          </a:solidFill>
          <a:ln cap="flat" cmpd="sng" w="9525">
            <a:solidFill>
              <a:srgbClr val="C9A227">
                <a:alpha val="6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 name="Google Shape;60;p7"/>
          <p:cNvSpPr/>
          <p:nvPr/>
        </p:nvSpPr>
        <p:spPr>
          <a:xfrm>
            <a:off x="3858768" y="2108343"/>
            <a:ext cx="1993392"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2600"/>
              <a:buFont typeface="Playfair Display"/>
              <a:buNone/>
            </a:pPr>
            <a:r>
              <a:rPr b="1" lang="en-US" sz="2600">
                <a:solidFill>
                  <a:srgbClr val="C9A227"/>
                </a:solidFill>
                <a:latin typeface="Playfair Display"/>
                <a:ea typeface="Playfair Display"/>
                <a:cs typeface="Playfair Display"/>
                <a:sym typeface="Playfair Display"/>
              </a:rPr>
              <a:t>02</a:t>
            </a:r>
            <a:endParaRPr sz="2600">
              <a:solidFill>
                <a:schemeClr val="dk1"/>
              </a:solidFill>
              <a:latin typeface="Calibri"/>
              <a:ea typeface="Calibri"/>
              <a:cs typeface="Calibri"/>
              <a:sym typeface="Calibri"/>
            </a:endParaRPr>
          </a:p>
        </p:txBody>
      </p:sp>
      <p:sp>
        <p:nvSpPr>
          <p:cNvPr id="61" name="Google Shape;61;p7"/>
          <p:cNvSpPr/>
          <p:nvPr/>
        </p:nvSpPr>
        <p:spPr>
          <a:xfrm>
            <a:off x="3858768" y="2526355"/>
            <a:ext cx="1993392"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F3E9"/>
              </a:buClr>
              <a:buSzPts val="1250"/>
              <a:buFont typeface="Inter"/>
              <a:buNone/>
            </a:pPr>
            <a:r>
              <a:rPr b="1" lang="en-US" sz="1250">
                <a:solidFill>
                  <a:srgbClr val="F7F3E9"/>
                </a:solidFill>
                <a:latin typeface="Inter"/>
                <a:ea typeface="Inter"/>
                <a:cs typeface="Inter"/>
                <a:sym typeface="Inter"/>
              </a:rPr>
              <a:t>WRITE IT DOWN</a:t>
            </a:r>
          </a:p>
          <a:p>
            <a:pPr indent="0" lvl="0" marL="0" marR="0" rtl="0" algn="l">
              <a:spcBef>
                <a:spcPts val="0"/>
              </a:spcBef>
              <a:spcAft>
                <a:spcPts val="0"/>
              </a:spcAft>
              <a:buClr>
                <a:srgbClr val="F7F3E9"/>
              </a:buClr>
              <a:buSzPts val="1250"/>
              <a:buFont typeface="Inter"/>
              <a:buNone/>
            </a:pPr>
            <a:r>
              <a:rPr b="1" lang="en-US" sz="1250">
                <a:solidFill>
                  <a:srgbClr val="F7F3E9"/>
                </a:solidFill>
                <a:latin typeface="Inter"/>
                <a:ea typeface="Inter"/>
                <a:cs typeface="Inter"/>
                <a:sym typeface="Inter"/>
              </a:rPr>
              <a:t>INSTRUCTIONS</a:t>
            </a:r>
          </a:p>
        </p:txBody>
      </p:sp>
      <p:sp>
        <p:nvSpPr>
          <p:cNvPr id="62" name="Google Shape;62;p7"/>
          <p:cNvSpPr/>
          <p:nvPr/>
        </p:nvSpPr>
        <p:spPr>
          <a:xfrm>
            <a:off x="3858768" y="3310128"/>
            <a:ext cx="1993392" cy="1235746"/>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AFA893"/>
              </a:buClr>
              <a:buSzPts val="1600"/>
              <a:buFont typeface="Inter"/>
              <a:buNone/>
            </a:pPr>
            <a:r>
              <a:rPr i="1" lang="en-US">
                <a:solidFill>
                  <a:srgbClr val="AFA893"/>
                </a:solidFill>
                <a:latin typeface="Inter"/>
                <a:ea typeface="Inter"/>
                <a:cs typeface="Inter"/>
                <a:sym typeface="Inter"/>
              </a:rPr>
              <a:t>Rules you write once become rules she never forgets.</a:t>
            </a:r>
          </a:p>
        </p:txBody>
      </p:sp>
      <p:sp>
        <p:nvSpPr>
          <p:cNvPr id="63" name="Google Shape;63;p7"/>
          <p:cNvSpPr/>
          <p:nvPr/>
        </p:nvSpPr>
        <p:spPr>
          <a:xfrm>
            <a:off x="6345936" y="2011680"/>
            <a:ext cx="2542032" cy="3108960"/>
          </a:xfrm>
          <a:prstGeom prst="roundRect">
            <a:avLst>
              <a:gd fmla="val 2158" name="adj"/>
            </a:avLst>
          </a:prstGeom>
          <a:solidFill>
            <a:srgbClr val="1B2A4A"/>
          </a:solidFill>
          <a:ln cap="flat" cmpd="sng" w="9525">
            <a:solidFill>
              <a:srgbClr val="C9A227">
                <a:alpha val="6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 name="Google Shape;64;p7"/>
          <p:cNvSpPr/>
          <p:nvPr/>
        </p:nvSpPr>
        <p:spPr>
          <a:xfrm>
            <a:off x="6620256" y="2108343"/>
            <a:ext cx="1993392"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2600"/>
              <a:buFont typeface="Playfair Display"/>
              <a:buNone/>
            </a:pPr>
            <a:r>
              <a:rPr b="1" lang="en-US" sz="2600">
                <a:solidFill>
                  <a:srgbClr val="C9A227"/>
                </a:solidFill>
                <a:latin typeface="Playfair Display"/>
                <a:ea typeface="Playfair Display"/>
                <a:cs typeface="Playfair Display"/>
                <a:sym typeface="Playfair Display"/>
              </a:rPr>
              <a:t>03</a:t>
            </a:r>
            <a:endParaRPr sz="2600">
              <a:solidFill>
                <a:schemeClr val="dk1"/>
              </a:solidFill>
              <a:latin typeface="Calibri"/>
              <a:ea typeface="Calibri"/>
              <a:cs typeface="Calibri"/>
              <a:sym typeface="Calibri"/>
            </a:endParaRPr>
          </a:p>
        </p:txBody>
      </p:sp>
      <p:sp>
        <p:nvSpPr>
          <p:cNvPr id="65" name="Google Shape;65;p7"/>
          <p:cNvSpPr/>
          <p:nvPr/>
        </p:nvSpPr>
        <p:spPr>
          <a:xfrm>
            <a:off x="6620256" y="2526355"/>
            <a:ext cx="1993392"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F3E9"/>
              </a:buClr>
              <a:buSzPts val="1250"/>
              <a:buFont typeface="Inter"/>
              <a:buNone/>
            </a:pPr>
            <a:r>
              <a:rPr b="1" lang="en-US" sz="1250">
                <a:solidFill>
                  <a:srgbClr val="F7F3E9"/>
                </a:solidFill>
                <a:latin typeface="Inter"/>
                <a:ea typeface="Inter"/>
                <a:cs typeface="Inter"/>
                <a:sym typeface="Inter"/>
              </a:rPr>
              <a:t>MAKE IT PORTABLE</a:t>
            </a:r>
          </a:p>
          <a:p>
            <a:pPr indent="0" lvl="0" marL="0" marR="0" rtl="0" algn="l">
              <a:spcBef>
                <a:spcPts val="0"/>
              </a:spcBef>
              <a:spcAft>
                <a:spcPts val="0"/>
              </a:spcAft>
              <a:buClr>
                <a:srgbClr val="F7F3E9"/>
              </a:buClr>
              <a:buSzPts val="1250"/>
              <a:buFont typeface="Inter"/>
              <a:buNone/>
            </a:pPr>
            <a:r>
              <a:rPr b="1" lang="en-US" sz="1250">
                <a:solidFill>
                  <a:srgbClr val="F7F3E9"/>
                </a:solidFill>
                <a:latin typeface="Inter"/>
                <a:ea typeface="Inter"/>
                <a:cs typeface="Inter"/>
                <a:sym typeface="Inter"/>
              </a:rPr>
              <a:t>A SKILL FILE</a:t>
            </a:r>
          </a:p>
        </p:txBody>
      </p:sp>
      <p:sp>
        <p:nvSpPr>
          <p:cNvPr id="66" name="Google Shape;66;p7"/>
          <p:cNvSpPr/>
          <p:nvPr/>
        </p:nvSpPr>
        <p:spPr>
          <a:xfrm>
            <a:off x="6620256" y="3310128"/>
            <a:ext cx="1993392" cy="1235746"/>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AFA893"/>
              </a:buClr>
              <a:buSzPts val="1600"/>
              <a:buFont typeface="Inter"/>
              <a:buNone/>
            </a:pPr>
            <a:r>
              <a:rPr i="1" lang="en-US">
                <a:solidFill>
                  <a:srgbClr val="AFA893"/>
                </a:solidFill>
                <a:latin typeface="Inter"/>
                <a:ea typeface="Inter"/>
                <a:cs typeface="Inter"/>
                <a:sym typeface="Inter"/>
              </a:rPr>
              <a:t>Your rules become a file you own. It works anywhere Claude works.</a:t>
            </a:r>
          </a:p>
        </p:txBody>
      </p:sp>
      <p:sp>
        <p:nvSpPr>
          <p:cNvPr id="67" name="Google Shape;67;p7"/>
          <p:cNvSpPr/>
          <p:nvPr/>
        </p:nvSpPr>
        <p:spPr>
          <a:xfrm>
            <a:off x="9107424" y="2011680"/>
            <a:ext cx="2542032" cy="3108960"/>
          </a:xfrm>
          <a:prstGeom prst="roundRect">
            <a:avLst>
              <a:gd fmla="val 2158" name="adj"/>
            </a:avLst>
          </a:prstGeom>
          <a:solidFill>
            <a:srgbClr val="1B2A4A"/>
          </a:solidFill>
          <a:ln cap="flat" cmpd="sng" w="9525">
            <a:solidFill>
              <a:srgbClr val="C9A227">
                <a:alpha val="6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 name="Google Shape;68;p7"/>
          <p:cNvSpPr/>
          <p:nvPr/>
        </p:nvSpPr>
        <p:spPr>
          <a:xfrm>
            <a:off x="9381744" y="2108343"/>
            <a:ext cx="1993392"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2600"/>
              <a:buFont typeface="Playfair Display"/>
              <a:buNone/>
            </a:pPr>
            <a:r>
              <a:rPr b="1" lang="en-US" sz="2600">
                <a:solidFill>
                  <a:srgbClr val="C9A227"/>
                </a:solidFill>
                <a:latin typeface="Playfair Display"/>
                <a:ea typeface="Playfair Display"/>
                <a:cs typeface="Playfair Display"/>
                <a:sym typeface="Playfair Display"/>
              </a:rPr>
              <a:t>04</a:t>
            </a:r>
            <a:endParaRPr sz="2600">
              <a:solidFill>
                <a:schemeClr val="dk1"/>
              </a:solidFill>
              <a:latin typeface="Calibri"/>
              <a:ea typeface="Calibri"/>
              <a:cs typeface="Calibri"/>
              <a:sym typeface="Calibri"/>
            </a:endParaRPr>
          </a:p>
        </p:txBody>
      </p:sp>
      <p:sp>
        <p:nvSpPr>
          <p:cNvPr id="69" name="Google Shape;69;p7"/>
          <p:cNvSpPr/>
          <p:nvPr/>
        </p:nvSpPr>
        <p:spPr>
          <a:xfrm>
            <a:off x="9381744" y="2526355"/>
            <a:ext cx="1993392"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F3E9"/>
              </a:buClr>
              <a:buSzPts val="1250"/>
              <a:buFont typeface="Inter"/>
              <a:buNone/>
            </a:pPr>
            <a:r>
              <a:rPr b="1" lang="en-US" sz="1250">
                <a:solidFill>
                  <a:srgbClr val="F7F3E9"/>
                </a:solidFill>
                <a:latin typeface="Inter"/>
                <a:ea typeface="Inter"/>
                <a:cs typeface="Inter"/>
                <a:sym typeface="Inter"/>
              </a:rPr>
              <a:t>PUT IT ON THE CLOCK</a:t>
            </a:r>
          </a:p>
          <a:p>
            <a:pPr indent="0" lvl="0" marL="0" marR="0" rtl="0" algn="l">
              <a:spcBef>
                <a:spcPts val="0"/>
              </a:spcBef>
              <a:spcAft>
                <a:spcPts val="0"/>
              </a:spcAft>
              <a:buClr>
                <a:srgbClr val="F7F3E9"/>
              </a:buClr>
              <a:buSzPts val="1250"/>
              <a:buFont typeface="Inter"/>
              <a:buNone/>
            </a:pPr>
            <a:r>
              <a:rPr b="1" lang="en-US" sz="1250">
                <a:solidFill>
                  <a:srgbClr val="F7F3E9"/>
                </a:solidFill>
                <a:latin typeface="Inter"/>
                <a:ea typeface="Inter"/>
                <a:cs typeface="Inter"/>
                <a:sym typeface="Inter"/>
              </a:rPr>
              <a:t>A SCHEDULE</a:t>
            </a:r>
          </a:p>
        </p:txBody>
      </p:sp>
      <p:sp>
        <p:nvSpPr>
          <p:cNvPr id="70" name="Google Shape;70;p7"/>
          <p:cNvSpPr/>
          <p:nvPr/>
        </p:nvSpPr>
        <p:spPr>
          <a:xfrm>
            <a:off x="9381744" y="3310128"/>
            <a:ext cx="1993392" cy="1235746"/>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AFA893"/>
              </a:buClr>
              <a:buSzPts val="1600"/>
              <a:buFont typeface="Inter"/>
              <a:buNone/>
            </a:pPr>
            <a:r>
              <a:rPr i="1" lang="en-US">
                <a:solidFill>
                  <a:srgbClr val="AFA893"/>
                </a:solidFill>
                <a:latin typeface="Inter"/>
                <a:ea typeface="Inter"/>
                <a:cs typeface="Inter"/>
                <a:sym typeface="Inter"/>
              </a:rPr>
              <a:t>She runs the whole workflow without you, every single day.</a:t>
            </a:r>
          </a:p>
        </p:txBody>
      </p:sp>
      <p:sp>
        <p:nvSpPr>
          <p:cNvPr id="71" name="Google Shape;71;p7"/>
          <p:cNvSpPr/>
          <p:nvPr/>
        </p:nvSpPr>
        <p:spPr>
          <a:xfrm>
            <a:off x="822960" y="5440680"/>
            <a:ext cx="10545775"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FA893"/>
              </a:buClr>
              <a:buSzPts val="2400"/>
              <a:buFont typeface="Inter"/>
              <a:buNone/>
            </a:pPr>
            <a:r>
              <a:rPr i="1" lang="en-US" sz="2400">
                <a:solidFill>
                  <a:srgbClr val="AFA893"/>
                </a:solidFill>
                <a:latin typeface="Inter"/>
                <a:ea typeface="Inter"/>
                <a:cs typeface="Inter"/>
                <a:sym typeface="Inter"/>
              </a:rPr>
              <a:t>That ladder is the entire discipline of AI workflow automation. Today you climb it once, on your inbox.</a:t>
            </a:r>
          </a:p>
        </p:txBody>
      </p:sp>
      <p:sp>
        <p:nvSpPr>
          <p:cNvPr id="72" name="Google Shape;72;p7"/>
          <p:cNvSpPr/>
          <p:nvPr/>
        </p:nvSpPr>
        <p:spPr>
          <a:xfrm>
            <a:off x="1090879" y="4526280"/>
            <a:ext cx="1993392"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1600"/>
              <a:buFont typeface="Playfair Display"/>
              <a:buNone/>
            </a:pPr>
            <a:r>
              <a:rPr b="1" lang="en-US" sz="1600">
                <a:solidFill>
                  <a:srgbClr val="C9A227"/>
                </a:solidFill>
                <a:latin typeface="Playfair Display"/>
                <a:ea typeface="Playfair Display"/>
                <a:cs typeface="Playfair Display"/>
                <a:sym typeface="Playfair Display"/>
              </a:rPr>
              <a:t>Today: your prompts</a:t>
            </a:r>
          </a:p>
        </p:txBody>
      </p:sp>
      <p:sp>
        <p:nvSpPr>
          <p:cNvPr id="73" name="Google Shape;73;p7"/>
          <p:cNvSpPr/>
          <p:nvPr/>
        </p:nvSpPr>
        <p:spPr>
          <a:xfrm>
            <a:off x="3852367" y="4526280"/>
            <a:ext cx="1993392"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1600"/>
              <a:buFont typeface="Playfair Display"/>
              <a:buNone/>
            </a:pPr>
            <a:r>
              <a:rPr b="1" lang="en-US" sz="1600">
                <a:solidFill>
                  <a:srgbClr val="C9A227"/>
                </a:solidFill>
                <a:latin typeface="Playfair Display"/>
                <a:ea typeface="Playfair Display"/>
                <a:cs typeface="Playfair Display"/>
                <a:sym typeface="Playfair Display"/>
              </a:rPr>
              <a:t>Today: the desk manual</a:t>
            </a:r>
          </a:p>
        </p:txBody>
      </p:sp>
      <p:sp>
        <p:nvSpPr>
          <p:cNvPr id="74" name="Google Shape;74;p7"/>
          <p:cNvSpPr/>
          <p:nvPr/>
        </p:nvSpPr>
        <p:spPr>
          <a:xfrm>
            <a:off x="6613855" y="4526280"/>
            <a:ext cx="1993392"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1600"/>
              <a:buFont typeface="Playfair Display"/>
              <a:buNone/>
            </a:pPr>
            <a:r>
              <a:rPr b="1" lang="en-US" sz="1600">
                <a:solidFill>
                  <a:srgbClr val="C9A227"/>
                </a:solidFill>
                <a:latin typeface="Playfair Display"/>
                <a:ea typeface="Playfair Display"/>
                <a:cs typeface="Playfair Display"/>
                <a:sym typeface="Playfair Display"/>
              </a:rPr>
              <a:t>Today: donna-replies</a:t>
            </a:r>
          </a:p>
        </p:txBody>
      </p:sp>
      <p:sp>
        <p:nvSpPr>
          <p:cNvPr id="75" name="Google Shape;75;p7"/>
          <p:cNvSpPr/>
          <p:nvPr/>
        </p:nvSpPr>
        <p:spPr>
          <a:xfrm>
            <a:off x="9375343" y="4526280"/>
            <a:ext cx="1993392"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1600"/>
              <a:buFont typeface="Playfair Display"/>
              <a:buNone/>
            </a:pPr>
            <a:r>
              <a:rPr b="1" lang="en-US" sz="1600">
                <a:solidFill>
                  <a:srgbClr val="C9A227"/>
                </a:solidFill>
                <a:latin typeface="Playfair Display"/>
                <a:ea typeface="Playfair Display"/>
                <a:cs typeface="Playfair Display"/>
                <a:sym typeface="Playfair Display"/>
              </a:rPr>
              <a:t>Today: the 4:30 shift</a:t>
            </a: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213D"/>
        </a:solidFill>
      </p:bgPr>
    </p:bg>
    <p:spTree>
      <p:nvGrpSpPr>
        <p:cNvPr id="52" name="Shape 52"/>
        <p:cNvGrpSpPr/>
        <p:nvPr/>
      </p:nvGrpSpPr>
      <p:grpSpPr>
        <a:xfrm>
          <a:off x="0" y="0"/>
          <a:ext cx="0" cy="0"/>
          <a:chOff x="0" y="0"/>
          <a:chExt cx="0" cy="0"/>
        </a:xfrm>
      </p:grpSpPr>
      <p:sp>
        <p:nvSpPr>
          <p:cNvPr id="53" name="Google Shape;53;p7"/>
          <p:cNvSpPr/>
          <p:nvPr/>
        </p:nvSpPr>
        <p:spPr>
          <a:xfrm>
            <a:off x="822960" y="502920"/>
            <a:ext cx="10545775"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B94A"/>
              </a:buClr>
              <a:buSzPts val="1200"/>
              <a:buFont typeface="Inter"/>
              <a:buNone/>
            </a:pPr>
            <a:r>
              <a:rPr b="1" lang="en-US" sz="1200">
                <a:solidFill>
                  <a:srgbClr val="DDB94A"/>
                </a:solidFill>
                <a:latin typeface="Inter"/>
                <a:ea typeface="Inter"/>
                <a:cs typeface="Inter"/>
                <a:sym typeface="Inter"/>
              </a:rPr>
              <a:t>WHERE ELSE SHE WORKS</a:t>
            </a:r>
          </a:p>
        </p:txBody>
      </p:sp>
      <p:sp>
        <p:nvSpPr>
          <p:cNvPr id="54" name="Google Shape;54;p7"/>
          <p:cNvSpPr/>
          <p:nvPr/>
        </p:nvSpPr>
        <p:spPr>
          <a:xfrm>
            <a:off x="822960" y="868680"/>
            <a:ext cx="10545775"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F3E9"/>
              </a:buClr>
              <a:buSzPts val="3800"/>
              <a:buFont typeface="Playfair Display"/>
              <a:buNone/>
            </a:pPr>
            <a:r>
              <a:rPr b="1" lang="en-US" sz="3800">
                <a:solidFill>
                  <a:srgbClr val="F7F3E9"/>
                </a:solidFill>
                <a:latin typeface="Playfair Display"/>
                <a:ea typeface="Playfair Display"/>
                <a:cs typeface="Playfair Display"/>
                <a:sym typeface="Playfair Display"/>
              </a:rPr>
              <a:t>Same ladder, different workflows</a:t>
            </a:r>
          </a:p>
        </p:txBody>
      </p:sp>
      <p:sp>
        <p:nvSpPr>
          <p:cNvPr id="55" name="Google Shape;55;p7"/>
          <p:cNvSpPr/>
          <p:nvPr/>
        </p:nvSpPr>
        <p:spPr>
          <a:xfrm>
            <a:off x="822960" y="2011680"/>
            <a:ext cx="2542032" cy="3108960"/>
          </a:xfrm>
          <a:prstGeom prst="roundRect">
            <a:avLst>
              <a:gd fmla="val 2158" name="adj"/>
            </a:avLst>
          </a:prstGeom>
          <a:solidFill>
            <a:srgbClr val="1B2A4A"/>
          </a:solidFill>
          <a:ln cap="flat" cmpd="sng" w="9525">
            <a:solidFill>
              <a:srgbClr val="C9A227">
                <a:alpha val="6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 name="Google Shape;56;p7"/>
          <p:cNvSpPr/>
          <p:nvPr/>
        </p:nvSpPr>
        <p:spPr>
          <a:xfrm>
            <a:off x="1097280" y="2108343"/>
            <a:ext cx="1993392"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2600"/>
              <a:buFont typeface="Playfair Display"/>
              <a:buNone/>
            </a:pPr>
            <a:r>
              <a:rPr b="1" lang="en-US" sz="2600">
                <a:solidFill>
                  <a:srgbClr val="C9A227"/>
                </a:solidFill>
                <a:latin typeface="Playfair Display"/>
                <a:ea typeface="Playfair Display"/>
                <a:cs typeface="Playfair Display"/>
                <a:sym typeface="Playfair Display"/>
              </a:rPr>
              <a:t>01</a:t>
            </a:r>
            <a:endParaRPr sz="2600">
              <a:solidFill>
                <a:schemeClr val="dk1"/>
              </a:solidFill>
              <a:latin typeface="Calibri"/>
              <a:ea typeface="Calibri"/>
              <a:cs typeface="Calibri"/>
              <a:sym typeface="Calibri"/>
            </a:endParaRPr>
          </a:p>
        </p:txBody>
      </p:sp>
      <p:sp>
        <p:nvSpPr>
          <p:cNvPr id="57" name="Google Shape;57;p7"/>
          <p:cNvSpPr/>
          <p:nvPr/>
        </p:nvSpPr>
        <p:spPr>
          <a:xfrm>
            <a:off x="1097280" y="2526355"/>
            <a:ext cx="1993392"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F3E9"/>
              </a:buClr>
              <a:buSzPts val="1250"/>
              <a:buFont typeface="Inter"/>
              <a:buNone/>
            </a:pPr>
            <a:r>
              <a:rPr b="1" lang="en-US" sz="1250">
                <a:solidFill>
                  <a:srgbClr val="F7F3E9"/>
                </a:solidFill>
                <a:latin typeface="Inter"/>
                <a:ea typeface="Inter"/>
                <a:cs typeface="Inter"/>
                <a:sym typeface="Inter"/>
              </a:rPr>
              <a:t>TWO CALENDARS</a:t>
            </a:r>
          </a:p>
          <a:p>
            <a:pPr indent="0" lvl="0" marL="0" marR="0" rtl="0" algn="l">
              <a:spcBef>
                <a:spcPts val="0"/>
              </a:spcBef>
              <a:spcAft>
                <a:spcPts val="0"/>
              </a:spcAft>
              <a:buClr>
                <a:srgbClr val="F7F3E9"/>
              </a:buClr>
              <a:buSzPts val="1250"/>
              <a:buFont typeface="Inter"/>
              <a:buNone/>
            </a:pPr>
            <a:r>
              <a:rPr b="1" lang="en-US" sz="1250">
                <a:solidFill>
                  <a:srgbClr val="F7F3E9"/>
                </a:solidFill>
                <a:latin typeface="Inter"/>
                <a:ea typeface="Inter"/>
                <a:cs typeface="Inter"/>
                <a:sym typeface="Inter"/>
              </a:rPr>
              <a:t>THE MORNING SHIFT</a:t>
            </a:r>
          </a:p>
        </p:txBody>
      </p:sp>
      <p:sp>
        <p:nvSpPr>
          <p:cNvPr id="58" name="Google Shape;58;p7"/>
          <p:cNvSpPr/>
          <p:nvPr/>
        </p:nvSpPr>
        <p:spPr>
          <a:xfrm>
            <a:off x="1097280" y="3310128"/>
            <a:ext cx="1993392" cy="1235746"/>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AFA893"/>
              </a:buClr>
              <a:buSzPts val="1600"/>
              <a:buFont typeface="Inter"/>
              <a:buNone/>
            </a:pPr>
            <a:r>
              <a:rPr i="1" lang="en-US">
                <a:solidFill>
                  <a:srgbClr val="AFA893"/>
                </a:solidFill>
                <a:latin typeface="Inter"/>
                <a:ea typeface="Inter"/>
                <a:cs typeface="Inter"/>
                <a:sym typeface="Inter"/>
              </a:rPr>
              <a:t>She reads every calendar you have, writes one unified day, flags the conflicts.</a:t>
            </a:r>
          </a:p>
        </p:txBody>
      </p:sp>
      <p:sp>
        <p:nvSpPr>
          <p:cNvPr id="59" name="Google Shape;59;p7"/>
          <p:cNvSpPr/>
          <p:nvPr/>
        </p:nvSpPr>
        <p:spPr>
          <a:xfrm>
            <a:off x="3584448" y="2011680"/>
            <a:ext cx="2542032" cy="3108960"/>
          </a:xfrm>
          <a:prstGeom prst="roundRect">
            <a:avLst>
              <a:gd fmla="val 2158" name="adj"/>
            </a:avLst>
          </a:prstGeom>
          <a:solidFill>
            <a:srgbClr val="1B2A4A"/>
          </a:solidFill>
          <a:ln cap="flat" cmpd="sng" w="9525">
            <a:solidFill>
              <a:srgbClr val="C9A227">
                <a:alpha val="6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 name="Google Shape;60;p7"/>
          <p:cNvSpPr/>
          <p:nvPr/>
        </p:nvSpPr>
        <p:spPr>
          <a:xfrm>
            <a:off x="3858768" y="2108343"/>
            <a:ext cx="1993392"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2600"/>
              <a:buFont typeface="Playfair Display"/>
              <a:buNone/>
            </a:pPr>
            <a:r>
              <a:rPr b="1" lang="en-US" sz="2600">
                <a:solidFill>
                  <a:srgbClr val="C9A227"/>
                </a:solidFill>
                <a:latin typeface="Playfair Display"/>
                <a:ea typeface="Playfair Display"/>
                <a:cs typeface="Playfair Display"/>
                <a:sym typeface="Playfair Display"/>
              </a:rPr>
              <a:t>02</a:t>
            </a:r>
            <a:endParaRPr sz="2600">
              <a:solidFill>
                <a:schemeClr val="dk1"/>
              </a:solidFill>
              <a:latin typeface="Calibri"/>
              <a:ea typeface="Calibri"/>
              <a:cs typeface="Calibri"/>
              <a:sym typeface="Calibri"/>
            </a:endParaRPr>
          </a:p>
        </p:txBody>
      </p:sp>
      <p:sp>
        <p:nvSpPr>
          <p:cNvPr id="61" name="Google Shape;61;p7"/>
          <p:cNvSpPr/>
          <p:nvPr/>
        </p:nvSpPr>
        <p:spPr>
          <a:xfrm>
            <a:off x="3858768" y="2526355"/>
            <a:ext cx="1993392"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F3E9"/>
              </a:buClr>
              <a:buSzPts val="1250"/>
              <a:buFont typeface="Inter"/>
              <a:buNone/>
            </a:pPr>
            <a:r>
              <a:rPr b="1" lang="en-US" sz="1250">
                <a:solidFill>
                  <a:srgbClr val="F7F3E9"/>
                </a:solidFill>
                <a:latin typeface="Inter"/>
                <a:ea typeface="Inter"/>
                <a:cs typeface="Inter"/>
                <a:sym typeface="Inter"/>
              </a:rPr>
              <a:t>MEETING PREP</a:t>
            </a:r>
          </a:p>
          <a:p>
            <a:pPr indent="0" lvl="0" marL="0" marR="0" rtl="0" algn="l">
              <a:spcBef>
                <a:spcPts val="0"/>
              </a:spcBef>
              <a:spcAft>
                <a:spcPts val="0"/>
              </a:spcAft>
              <a:buClr>
                <a:srgbClr val="F7F3E9"/>
              </a:buClr>
              <a:buSzPts val="1250"/>
              <a:buFont typeface="Inter"/>
              <a:buNone/>
            </a:pPr>
            <a:r>
              <a:rPr b="1" lang="en-US" sz="1250">
                <a:solidFill>
                  <a:srgbClr val="F7F3E9"/>
                </a:solidFill>
                <a:latin typeface="Inter"/>
                <a:ea typeface="Inter"/>
                <a:cs typeface="Inter"/>
                <a:sym typeface="Inter"/>
              </a:rPr>
              <a:t>THE BRIEFING</a:t>
            </a:r>
          </a:p>
        </p:txBody>
      </p:sp>
      <p:sp>
        <p:nvSpPr>
          <p:cNvPr id="62" name="Google Shape;62;p7"/>
          <p:cNvSpPr/>
          <p:nvPr/>
        </p:nvSpPr>
        <p:spPr>
          <a:xfrm>
            <a:off x="3858768" y="3310128"/>
            <a:ext cx="1993392" cy="1235746"/>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AFA893"/>
              </a:buClr>
              <a:buSzPts val="1600"/>
              <a:buFont typeface="Inter"/>
              <a:buNone/>
            </a:pPr>
            <a:r>
              <a:rPr i="1" lang="en-US">
                <a:solidFill>
                  <a:srgbClr val="AFA893"/>
                </a:solidFill>
                <a:latin typeface="Inter"/>
                <a:ea typeface="Inter"/>
                <a:cs typeface="Inter"/>
                <a:sym typeface="Inter"/>
              </a:rPr>
              <a:t>Before each meeting: who’s in the room, open items, last emails. One page.</a:t>
            </a:r>
          </a:p>
        </p:txBody>
      </p:sp>
      <p:sp>
        <p:nvSpPr>
          <p:cNvPr id="63" name="Google Shape;63;p7"/>
          <p:cNvSpPr/>
          <p:nvPr/>
        </p:nvSpPr>
        <p:spPr>
          <a:xfrm>
            <a:off x="6345936" y="2011680"/>
            <a:ext cx="2542032" cy="3108960"/>
          </a:xfrm>
          <a:prstGeom prst="roundRect">
            <a:avLst>
              <a:gd fmla="val 2158" name="adj"/>
            </a:avLst>
          </a:prstGeom>
          <a:solidFill>
            <a:srgbClr val="1B2A4A"/>
          </a:solidFill>
          <a:ln cap="flat" cmpd="sng" w="9525">
            <a:solidFill>
              <a:srgbClr val="C9A227">
                <a:alpha val="6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 name="Google Shape;64;p7"/>
          <p:cNvSpPr/>
          <p:nvPr/>
        </p:nvSpPr>
        <p:spPr>
          <a:xfrm>
            <a:off x="6620256" y="2108343"/>
            <a:ext cx="1993392"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2600"/>
              <a:buFont typeface="Playfair Display"/>
              <a:buNone/>
            </a:pPr>
            <a:r>
              <a:rPr b="1" lang="en-US" sz="2600">
                <a:solidFill>
                  <a:srgbClr val="C9A227"/>
                </a:solidFill>
                <a:latin typeface="Playfair Display"/>
                <a:ea typeface="Playfair Display"/>
                <a:cs typeface="Playfair Display"/>
                <a:sym typeface="Playfair Display"/>
              </a:rPr>
              <a:t>03</a:t>
            </a:r>
            <a:endParaRPr sz="2600">
              <a:solidFill>
                <a:schemeClr val="dk1"/>
              </a:solidFill>
              <a:latin typeface="Calibri"/>
              <a:ea typeface="Calibri"/>
              <a:cs typeface="Calibri"/>
              <a:sym typeface="Calibri"/>
            </a:endParaRPr>
          </a:p>
        </p:txBody>
      </p:sp>
      <p:sp>
        <p:nvSpPr>
          <p:cNvPr id="65" name="Google Shape;65;p7"/>
          <p:cNvSpPr/>
          <p:nvPr/>
        </p:nvSpPr>
        <p:spPr>
          <a:xfrm>
            <a:off x="6620256" y="2526355"/>
            <a:ext cx="1993392"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F3E9"/>
              </a:buClr>
              <a:buSzPts val="1250"/>
              <a:buFont typeface="Inter"/>
              <a:buNone/>
            </a:pPr>
            <a:r>
              <a:rPr b="1" lang="en-US" sz="1250">
                <a:solidFill>
                  <a:srgbClr val="F7F3E9"/>
                </a:solidFill>
                <a:latin typeface="Inter"/>
                <a:ea typeface="Inter"/>
                <a:cs typeface="Inter"/>
                <a:sym typeface="Inter"/>
              </a:rPr>
              <a:t>CLIENT FOLLOW-UPS</a:t>
            </a:r>
          </a:p>
          <a:p>
            <a:pPr indent="0" lvl="0" marL="0" marR="0" rtl="0" algn="l">
              <a:spcBef>
                <a:spcPts val="0"/>
              </a:spcBef>
              <a:spcAft>
                <a:spcPts val="0"/>
              </a:spcAft>
              <a:buClr>
                <a:srgbClr val="F7F3E9"/>
              </a:buClr>
              <a:buSzPts val="1250"/>
              <a:buFont typeface="Inter"/>
              <a:buNone/>
            </a:pPr>
            <a:r>
              <a:rPr b="1" lang="en-US" sz="1250">
                <a:solidFill>
                  <a:srgbClr val="F7F3E9"/>
                </a:solidFill>
                <a:latin typeface="Inter"/>
                <a:ea typeface="Inter"/>
                <a:cs typeface="Inter"/>
                <a:sym typeface="Inter"/>
              </a:rPr>
              <a:t>THE SWEEP</a:t>
            </a:r>
          </a:p>
        </p:txBody>
      </p:sp>
      <p:sp>
        <p:nvSpPr>
          <p:cNvPr id="66" name="Google Shape;66;p7"/>
          <p:cNvSpPr/>
          <p:nvPr/>
        </p:nvSpPr>
        <p:spPr>
          <a:xfrm>
            <a:off x="6620256" y="3310128"/>
            <a:ext cx="1993392" cy="1235746"/>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AFA893"/>
              </a:buClr>
              <a:buSzPts val="1600"/>
              <a:buFont typeface="Inter"/>
              <a:buNone/>
            </a:pPr>
            <a:r>
              <a:rPr i="1" lang="en-US">
                <a:solidFill>
                  <a:srgbClr val="AFA893"/>
                </a:solidFill>
                <a:latin typeface="Inter"/>
                <a:ea typeface="Inter"/>
                <a:cs typeface="Inter"/>
                <a:sym typeface="Inter"/>
              </a:rPr>
              <a:t>A weekly pass over every thread still waiting on you, drafts included.</a:t>
            </a:r>
          </a:p>
        </p:txBody>
      </p:sp>
      <p:sp>
        <p:nvSpPr>
          <p:cNvPr id="67" name="Google Shape;67;p7"/>
          <p:cNvSpPr/>
          <p:nvPr/>
        </p:nvSpPr>
        <p:spPr>
          <a:xfrm>
            <a:off x="9107424" y="2011680"/>
            <a:ext cx="2542032" cy="3108960"/>
          </a:xfrm>
          <a:prstGeom prst="roundRect">
            <a:avLst>
              <a:gd fmla="val 2158" name="adj"/>
            </a:avLst>
          </a:prstGeom>
          <a:solidFill>
            <a:srgbClr val="1B2A4A"/>
          </a:solidFill>
          <a:ln cap="flat" cmpd="sng" w="9525">
            <a:solidFill>
              <a:srgbClr val="C9A227">
                <a:alpha val="6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 name="Google Shape;68;p7"/>
          <p:cNvSpPr/>
          <p:nvPr/>
        </p:nvSpPr>
        <p:spPr>
          <a:xfrm>
            <a:off x="9381744" y="2108343"/>
            <a:ext cx="1993392"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2600"/>
              <a:buFont typeface="Playfair Display"/>
              <a:buNone/>
            </a:pPr>
            <a:r>
              <a:rPr b="1" lang="en-US" sz="2600">
                <a:solidFill>
                  <a:srgbClr val="C9A227"/>
                </a:solidFill>
                <a:latin typeface="Playfair Display"/>
                <a:ea typeface="Playfair Display"/>
                <a:cs typeface="Playfair Display"/>
                <a:sym typeface="Playfair Display"/>
              </a:rPr>
              <a:t>04</a:t>
            </a:r>
            <a:endParaRPr sz="2600">
              <a:solidFill>
                <a:schemeClr val="dk1"/>
              </a:solidFill>
              <a:latin typeface="Calibri"/>
              <a:ea typeface="Calibri"/>
              <a:cs typeface="Calibri"/>
              <a:sym typeface="Calibri"/>
            </a:endParaRPr>
          </a:p>
        </p:txBody>
      </p:sp>
      <p:sp>
        <p:nvSpPr>
          <p:cNvPr id="69" name="Google Shape;69;p7"/>
          <p:cNvSpPr/>
          <p:nvPr/>
        </p:nvSpPr>
        <p:spPr>
          <a:xfrm>
            <a:off x="9381744" y="2526355"/>
            <a:ext cx="1993392"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F3E9"/>
              </a:buClr>
              <a:buSzPts val="1250"/>
              <a:buFont typeface="Inter"/>
              <a:buNone/>
            </a:pPr>
            <a:r>
              <a:rPr b="1" lang="en-US" sz="1250">
                <a:solidFill>
                  <a:srgbClr val="F7F3E9"/>
                </a:solidFill>
                <a:latin typeface="Inter"/>
                <a:ea typeface="Inter"/>
                <a:cs typeface="Inter"/>
                <a:sym typeface="Inter"/>
              </a:rPr>
              <a:t>SUPPLIER NOISE</a:t>
            </a:r>
          </a:p>
          <a:p>
            <a:pPr indent="0" lvl="0" marL="0" marR="0" rtl="0" algn="l">
              <a:spcBef>
                <a:spcPts val="0"/>
              </a:spcBef>
              <a:spcAft>
                <a:spcPts val="0"/>
              </a:spcAft>
              <a:buClr>
                <a:srgbClr val="F7F3E9"/>
              </a:buClr>
              <a:buSzPts val="1250"/>
              <a:buFont typeface="Inter"/>
              <a:buNone/>
            </a:pPr>
            <a:r>
              <a:rPr b="1" lang="en-US" sz="1250">
                <a:solidFill>
                  <a:srgbClr val="F7F3E9"/>
                </a:solidFill>
                <a:latin typeface="Inter"/>
                <a:ea typeface="Inter"/>
                <a:cs typeface="Inter"/>
                <a:sym typeface="Inter"/>
              </a:rPr>
              <a:t>THE DIGEST</a:t>
            </a:r>
          </a:p>
        </p:txBody>
      </p:sp>
      <p:sp>
        <p:nvSpPr>
          <p:cNvPr id="70" name="Google Shape;70;p7"/>
          <p:cNvSpPr/>
          <p:nvPr/>
        </p:nvSpPr>
        <p:spPr>
          <a:xfrm>
            <a:off x="9381744" y="3310128"/>
            <a:ext cx="1993392" cy="1235746"/>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AFA893"/>
              </a:buClr>
              <a:buSzPts val="1600"/>
              <a:buFont typeface="Inter"/>
              <a:buNone/>
            </a:pPr>
            <a:r>
              <a:rPr i="1" lang="en-US">
                <a:solidFill>
                  <a:srgbClr val="AFA893"/>
                </a:solidFill>
                <a:latin typeface="Inter"/>
                <a:ea typeface="Inter"/>
                <a:cs typeface="Inter"/>
                <a:sym typeface="Inter"/>
              </a:rPr>
              <a:t>Promos, rate sheets, program updates: one Monday digest, not forty emails.</a:t>
            </a:r>
          </a:p>
        </p:txBody>
      </p:sp>
      <p:sp>
        <p:nvSpPr>
          <p:cNvPr id="71" name="Google Shape;71;p7"/>
          <p:cNvSpPr/>
          <p:nvPr/>
        </p:nvSpPr>
        <p:spPr>
          <a:xfrm>
            <a:off x="822960" y="5440680"/>
            <a:ext cx="10545775"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FA893"/>
              </a:buClr>
              <a:buSzPts val="2400"/>
              <a:buFont typeface="Inter"/>
              <a:buNone/>
            </a:pPr>
            <a:r>
              <a:rPr i="1" lang="en-US" sz="2400">
                <a:solidFill>
                  <a:srgbClr val="AFA893"/>
                </a:solidFill>
                <a:latin typeface="Inter"/>
                <a:ea typeface="Inter"/>
                <a:cs typeface="Inter"/>
                <a:sym typeface="Inter"/>
              </a:rPr>
              <a:t>Each one is the ladder again: describe it in English, write it down, make it a skill, put it on the clock.</a:t>
            </a:r>
          </a:p>
        </p:txBody>
      </p:sp>
      <p:sp>
        <p:nvSpPr>
          <p:cNvPr id="72" name="Google Shape;72;p7"/>
          <p:cNvSpPr/>
          <p:nvPr/>
        </p:nvSpPr>
        <p:spPr>
          <a:xfrm>
            <a:off x="1090879" y="4526280"/>
            <a:ext cx="1993392"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1600"/>
              <a:buFont typeface="Playfair Display"/>
              <a:buNone/>
            </a:pPr>
            <a:r>
              <a:rPr b="1" lang="en-US" sz="1600">
                <a:solidFill>
                  <a:srgbClr val="C9A227"/>
                </a:solidFill>
                <a:latin typeface="Playfair Display"/>
                <a:ea typeface="Playfair Display"/>
                <a:cs typeface="Playfair Display"/>
                <a:sym typeface="Playfair Display"/>
              </a:rPr>
              <a:t>A morning task</a:t>
            </a:r>
          </a:p>
        </p:txBody>
      </p:sp>
      <p:sp>
        <p:nvSpPr>
          <p:cNvPr id="73" name="Google Shape;73;p7"/>
          <p:cNvSpPr/>
          <p:nvPr/>
        </p:nvSpPr>
        <p:spPr>
          <a:xfrm>
            <a:off x="3852367" y="4526280"/>
            <a:ext cx="1993392"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1600"/>
              <a:buFont typeface="Playfair Display"/>
              <a:buNone/>
            </a:pPr>
            <a:r>
              <a:rPr b="1" lang="en-US" sz="1600">
                <a:solidFill>
                  <a:srgbClr val="C9A227"/>
                </a:solidFill>
                <a:latin typeface="Playfair Display"/>
                <a:ea typeface="Playfair Display"/>
                <a:cs typeface="Playfair Display"/>
                <a:sym typeface="Playfair Display"/>
              </a:rPr>
              <a:t>A second project</a:t>
            </a:r>
          </a:p>
        </p:txBody>
      </p:sp>
      <p:sp>
        <p:nvSpPr>
          <p:cNvPr id="74" name="Google Shape;74;p7"/>
          <p:cNvSpPr/>
          <p:nvPr/>
        </p:nvSpPr>
        <p:spPr>
          <a:xfrm>
            <a:off x="6613855" y="4526280"/>
            <a:ext cx="1993392"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1600"/>
              <a:buFont typeface="Playfair Display"/>
              <a:buNone/>
            </a:pPr>
            <a:r>
              <a:rPr b="1" lang="en-US" sz="1600">
                <a:solidFill>
                  <a:srgbClr val="C9A227"/>
                </a:solidFill>
                <a:latin typeface="Playfair Display"/>
                <a:ea typeface="Playfair Display"/>
                <a:cs typeface="Playfair Display"/>
                <a:sym typeface="Playfair Display"/>
              </a:rPr>
              <a:t>One new skill</a:t>
            </a:r>
          </a:p>
        </p:txBody>
      </p:sp>
      <p:sp>
        <p:nvSpPr>
          <p:cNvPr id="75" name="Google Shape;75;p7"/>
          <p:cNvSpPr/>
          <p:nvPr/>
        </p:nvSpPr>
        <p:spPr>
          <a:xfrm>
            <a:off x="9375343" y="4526280"/>
            <a:ext cx="1993392"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1600"/>
              <a:buFont typeface="Playfair Display"/>
              <a:buNone/>
            </a:pPr>
            <a:r>
              <a:rPr b="1" lang="en-US" sz="1600">
                <a:solidFill>
                  <a:srgbClr val="C9A227"/>
                </a:solidFill>
                <a:latin typeface="Playfair Display"/>
                <a:ea typeface="Playfair Display"/>
                <a:cs typeface="Playfair Display"/>
                <a:sym typeface="Playfair Display"/>
              </a:rPr>
              <a:t>A weekly schedule</a:t>
            </a: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31621"/>
        </a:solidFill>
      </p:bgPr>
    </p:bg>
    <p:spTree>
      <p:nvGrpSpPr>
        <p:cNvPr id="167" name="Shape 167"/>
        <p:cNvGrpSpPr/>
        <p:nvPr/>
      </p:nvGrpSpPr>
      <p:grpSpPr>
        <a:xfrm>
          <a:off x="0" y="0"/>
          <a:ext cx="0" cy="0"/>
          <a:chOff x="0" y="0"/>
          <a:chExt cx="0" cy="0"/>
        </a:xfrm>
      </p:grpSpPr>
      <p:sp>
        <p:nvSpPr>
          <p:cNvPr id="168" name="Google Shape;168;p15"/>
          <p:cNvSpPr/>
          <p:nvPr/>
        </p:nvSpPr>
        <p:spPr>
          <a:xfrm>
            <a:off x="822960" y="1092200"/>
            <a:ext cx="10545775" cy="2159000"/>
          </a:xfrm>
          <a:prstGeom prst="rect">
            <a:avLst/>
          </a:prstGeom>
          <a:no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Clr>
                <a:srgbClr val="FFFFFF"/>
              </a:buClr>
              <a:buSzPts val="6600"/>
              <a:buFont typeface="Playfair Display"/>
              <a:buNone/>
            </a:pPr>
            <a:r>
              <a:rPr b="1" lang="en-US" sz="6600">
                <a:solidFill>
                  <a:srgbClr val="FFFFFF"/>
                </a:solidFill>
                <a:latin typeface="Playfair Display"/>
                <a:ea typeface="Playfair Display"/>
                <a:cs typeface="Playfair Display"/>
                <a:sym typeface="Playfair Display"/>
              </a:rPr>
              <a:t>House rules.</a:t>
            </a:r>
          </a:p>
          <a:p>
            <a:pPr indent="0" lvl="0" marL="0" marR="0" rtl="0" algn="ctr">
              <a:lnSpc>
                <a:spcPct val="105000"/>
              </a:lnSpc>
              <a:spcBef>
                <a:spcPts val="0"/>
              </a:spcBef>
              <a:spcAft>
                <a:spcPts val="0"/>
              </a:spcAft>
              <a:buClr>
                <a:srgbClr val="FFFFFF"/>
              </a:buClr>
              <a:buSzPts val="6600"/>
              <a:buFont typeface="Playfair Display"/>
              <a:buNone/>
            </a:pPr>
            <a:r>
              <a:rPr b="1" lang="en-US" sz="6600">
                <a:solidFill>
                  <a:srgbClr val="FFFFFF"/>
                </a:solidFill>
                <a:latin typeface="Playfair Display"/>
                <a:ea typeface="Playfair Display"/>
                <a:cs typeface="Playfair Display"/>
                <a:sym typeface="Playfair Display"/>
              </a:rPr>
              <a:t>Five of them.</a:t>
            </a:r>
          </a:p>
        </p:txBody>
      </p:sp>
      <p:sp>
        <p:nvSpPr>
          <p:cNvPr id="169" name="Google Shape;169;p15"/>
          <p:cNvSpPr/>
          <p:nvPr/>
        </p:nvSpPr>
        <p:spPr>
          <a:xfrm>
            <a:off x="1778000" y="3581400"/>
            <a:ext cx="8636000" cy="26670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Clr>
                <a:srgbClr val="F7F3E9"/>
              </a:buClr>
              <a:buSzPts val="1600"/>
              <a:buFont typeface="Inter"/>
              <a:buNone/>
            </a:pPr>
            <a:r>
              <a:rPr lang="en-US" sz="1600">
                <a:solidFill>
                  <a:srgbClr val="F7F3E9"/>
                </a:solidFill>
                <a:latin typeface="Inter"/>
                <a:ea typeface="Inter"/>
                <a:cs typeface="Inter"/>
                <a:sym typeface="Inter"/>
              </a:rPr>
              <a:t>1 · She never sends. Drafts only: you are the send button.</a:t>
            </a:r>
          </a:p>
          <a:p>
            <a:pPr indent="0" lvl="0" marL="0" marR="0" rtl="0" algn="ctr">
              <a:lnSpc>
                <a:spcPct val="130000"/>
              </a:lnSpc>
              <a:spcBef>
                <a:spcPts val="0"/>
              </a:spcBef>
              <a:spcAft>
                <a:spcPts val="0"/>
              </a:spcAft>
              <a:buClr>
                <a:srgbClr val="F7F3E9"/>
              </a:buClr>
              <a:buSzPts val="1600"/>
              <a:buFont typeface="Inter"/>
              <a:buNone/>
            </a:pPr>
            <a:r>
              <a:rPr lang="en-US" sz="1600">
                <a:solidFill>
                  <a:srgbClr val="F7F3E9"/>
                </a:solidFill>
                <a:latin typeface="Inter"/>
                <a:ea typeface="Inter"/>
                <a:cs typeface="Inter"/>
                <a:sym typeface="Inter"/>
              </a:rPr>
              <a:t>2 · She never deletes. Nothing we do today is destructive.</a:t>
            </a:r>
          </a:p>
          <a:p>
            <a:pPr indent="0" lvl="0" marL="0" marR="0" rtl="0" algn="ctr">
              <a:lnSpc>
                <a:spcPct val="130000"/>
              </a:lnSpc>
              <a:spcBef>
                <a:spcPts val="0"/>
              </a:spcBef>
              <a:spcAft>
                <a:spcPts val="0"/>
              </a:spcAft>
              <a:buClr>
                <a:srgbClr val="F7F3E9"/>
              </a:buClr>
              <a:buSzPts val="1600"/>
              <a:buFont typeface="Inter"/>
              <a:buNone/>
            </a:pPr>
            <a:r>
              <a:rPr lang="en-US" sz="1600">
                <a:solidFill>
                  <a:srgbClr val="F7F3E9"/>
                </a:solidFill>
                <a:latin typeface="Inter"/>
                <a:ea typeface="Inter"/>
                <a:cs typeface="Inter"/>
                <a:sym typeface="Inter"/>
              </a:rPr>
              <a:t>3 · We move together. Every case file ends at a red STOP sign.</a:t>
            </a:r>
          </a:p>
          <a:p>
            <a:pPr indent="0" lvl="0" marL="0" marR="0" rtl="0" algn="ctr">
              <a:lnSpc>
                <a:spcPct val="130000"/>
              </a:lnSpc>
              <a:spcBef>
                <a:spcPts val="0"/>
              </a:spcBef>
              <a:spcAft>
                <a:spcPts val="0"/>
              </a:spcAft>
              <a:buClr>
                <a:srgbClr val="F7F3E9"/>
              </a:buClr>
              <a:buSzPts val="1600"/>
              <a:buFont typeface="Inter"/>
              <a:buNone/>
            </a:pPr>
            <a:r>
              <a:rPr lang="en-US" sz="1600">
                <a:solidFill>
                  <a:srgbClr val="F7F3E9"/>
                </a:solidFill>
                <a:latin typeface="Inter"/>
                <a:ea typeface="Inter"/>
                <a:cs typeface="Inter"/>
                <a:sym typeface="Inter"/>
              </a:rPr>
              <a:t>4 · Copy buttons everywhere. Nobody types more than a sentence.</a:t>
            </a:r>
          </a:p>
          <a:p>
            <a:pPr indent="0" lvl="0" marL="0" marR="0" rtl="0" algn="ctr">
              <a:lnSpc>
                <a:spcPct val="130000"/>
              </a:lnSpc>
              <a:spcBef>
                <a:spcPts val="0"/>
              </a:spcBef>
              <a:spcAft>
                <a:spcPts val="0"/>
              </a:spcAft>
              <a:buClr>
                <a:srgbClr val="F7F3E9"/>
              </a:buClr>
              <a:buSzPts val="1600"/>
              <a:buFont typeface="Inter"/>
              <a:buNone/>
            </a:pPr>
            <a:r>
              <a:rPr lang="en-US" sz="1600">
                <a:solidFill>
                  <a:srgbClr val="F7F3E9"/>
                </a:solidFill>
                <a:latin typeface="Inter"/>
                <a:ea typeface="Inter"/>
                <a:cs typeface="Inter"/>
                <a:sym typeface="Inter"/>
              </a:rPr>
              <a:t>5 · No question is too small. Stuck for 60 seconds? Hand up.</a:t>
            </a:r>
          </a:p>
        </p:txBody>
      </p:sp>
      <p:sp>
        <p:nvSpPr>
          <p:cNvPr id="170" name="Google Shape;170;p15"/>
          <p:cNvSpPr/>
          <p:nvPr/>
        </p:nvSpPr>
        <p:spPr>
          <a:xfrm>
            <a:off x="6013552" y="1051560"/>
            <a:ext cx="164592" cy="164592"/>
          </a:xfrm>
          <a:prstGeom prst="diamond">
            <a:avLst/>
          </a:prstGeom>
          <a:solidFill>
            <a:srgbClr val="F7F3E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31621"/>
        </a:solidFill>
      </p:bgPr>
    </p:bg>
    <p:spTree>
      <p:nvGrpSpPr>
        <p:cNvPr id="167" name="Shape 167"/>
        <p:cNvGrpSpPr/>
        <p:nvPr/>
      </p:nvGrpSpPr>
      <p:grpSpPr>
        <a:xfrm>
          <a:off x="0" y="0"/>
          <a:ext cx="0" cy="0"/>
          <a:chOff x="0" y="0"/>
          <a:chExt cx="0" cy="0"/>
        </a:xfrm>
      </p:grpSpPr>
      <p:sp>
        <p:nvSpPr>
          <p:cNvPr id="168" name="Google Shape;168;p15"/>
          <p:cNvSpPr/>
          <p:nvPr/>
        </p:nvSpPr>
        <p:spPr>
          <a:xfrm>
            <a:off x="822960" y="1554480"/>
            <a:ext cx="10545775" cy="2651760"/>
          </a:xfrm>
          <a:prstGeom prst="rect">
            <a:avLst/>
          </a:prstGeom>
          <a:no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Clr>
                <a:srgbClr val="FFFFFF"/>
              </a:buClr>
              <a:buSzPts val="6600"/>
              <a:buFont typeface="Playfair Display"/>
              <a:buNone/>
            </a:pPr>
            <a:r>
              <a:rPr b="1" lang="en-US" sz="6600">
                <a:solidFill>
                  <a:srgbClr val="FFFFFF"/>
                </a:solidFill>
                <a:latin typeface="Playfair Display"/>
                <a:ea typeface="Playfair Display"/>
                <a:cs typeface="Playfair Display"/>
                <a:sym typeface="Playfair Display"/>
              </a:rPr>
              <a:t>This was never</a:t>
            </a:r>
          </a:p>
          <a:p>
            <a:pPr indent="0" lvl="0" marL="0" marR="0" rtl="0" algn="ctr">
              <a:lnSpc>
                <a:spcPct val="105000"/>
              </a:lnSpc>
              <a:spcBef>
                <a:spcPts val="0"/>
              </a:spcBef>
              <a:spcAft>
                <a:spcPts val="0"/>
              </a:spcAft>
              <a:buClr>
                <a:srgbClr val="FFFFFF"/>
              </a:buClr>
              <a:buSzPts val="6600"/>
              <a:buFont typeface="Playfair Display"/>
              <a:buNone/>
            </a:pPr>
            <a:r>
              <a:rPr b="1" lang="en-US" sz="6600">
                <a:solidFill>
                  <a:srgbClr val="FFFFFF"/>
                </a:solidFill>
                <a:latin typeface="Playfair Display"/>
                <a:ea typeface="Playfair Display"/>
                <a:cs typeface="Playfair Display"/>
                <a:sym typeface="Playfair Display"/>
              </a:rPr>
              <a:t>about email.</a:t>
            </a:r>
          </a:p>
        </p:txBody>
      </p:sp>
      <p:sp>
        <p:nvSpPr>
          <p:cNvPr id="169" name="Google Shape;169;p15"/>
          <p:cNvSpPr/>
          <p:nvPr/>
        </p:nvSpPr>
        <p:spPr>
          <a:xfrm>
            <a:off x="1463040" y="4389120"/>
            <a:ext cx="9265615" cy="118872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Clr>
                <a:srgbClr val="F7F3E9"/>
              </a:buClr>
              <a:buSzPts val="1600"/>
              <a:buFont typeface="Inter"/>
              <a:buNone/>
            </a:pPr>
            <a:r>
              <a:rPr lang="en-US" sz="1600">
                <a:solidFill>
                  <a:srgbClr val="F7F3E9"/>
                </a:solidFill>
                <a:latin typeface="Inter"/>
                <a:ea typeface="Inter"/>
                <a:cs typeface="Inter"/>
                <a:sym typeface="Inter"/>
              </a:rPr>
              <a:t>You automated a workflow today by writing plain English: rules became a project, the project became a skill, the skill got a schedule.</a:t>
            </a:r>
          </a:p>
          <a:p>
            <a:pPr indent="0" lvl="0" marL="0" marR="0" rtl="0" algn="ctr">
              <a:lnSpc>
                <a:spcPct val="130000"/>
              </a:lnSpc>
              <a:spcBef>
                <a:spcPts val="0"/>
              </a:spcBef>
              <a:spcAft>
                <a:spcPts val="0"/>
              </a:spcAft>
              <a:buClr>
                <a:srgbClr val="F7F3E9"/>
              </a:buClr>
              <a:buSzPts val="1600"/>
              <a:buFont typeface="Inter"/>
              <a:buNone/>
            </a:pPr>
            <a:r>
              <a:rPr lang="en-US" sz="1600">
                <a:solidFill>
                  <a:srgbClr val="F7F3E9"/>
                </a:solidFill>
                <a:latin typeface="Inter"/>
                <a:ea typeface="Inter"/>
                <a:cs typeface="Inter"/>
                <a:sym typeface="Inter"/>
              </a:rPr>
              <a:t>Email was the rehearsal. The same ladder runs any workflow you can describe in words.</a:t>
            </a:r>
          </a:p>
        </p:txBody>
      </p:sp>
      <p:sp>
        <p:nvSpPr>
          <p:cNvPr id="170" name="Google Shape;170;p15"/>
          <p:cNvSpPr/>
          <p:nvPr/>
        </p:nvSpPr>
        <p:spPr>
          <a:xfrm>
            <a:off x="6013552" y="1051560"/>
            <a:ext cx="164592" cy="164592"/>
          </a:xfrm>
          <a:prstGeom prst="diamond">
            <a:avLst/>
          </a:prstGeom>
          <a:solidFill>
            <a:srgbClr val="F7F3E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213D"/>
        </a:solidFill>
      </p:bgPr>
    </p:bg>
    <p:spTree>
      <p:nvGrpSpPr>
        <p:cNvPr id="188" name="Shape 188"/>
        <p:cNvGrpSpPr/>
        <p:nvPr/>
      </p:nvGrpSpPr>
      <p:grpSpPr>
        <a:xfrm>
          <a:off x="0" y="0"/>
          <a:ext cx="0" cy="0"/>
          <a:chOff x="0" y="0"/>
          <a:chExt cx="0" cy="0"/>
        </a:xfrm>
      </p:grpSpPr>
      <p:sp>
        <p:nvSpPr>
          <p:cNvPr id="189" name="Google Shape;189;p17"/>
          <p:cNvSpPr/>
          <p:nvPr/>
        </p:nvSpPr>
        <p:spPr>
          <a:xfrm>
            <a:off x="822960" y="502920"/>
            <a:ext cx="10545775"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B94A"/>
              </a:buClr>
              <a:buSzPts val="1200"/>
              <a:buFont typeface="Inter"/>
              <a:buNone/>
            </a:pPr>
            <a:r>
              <a:rPr b="1" lang="en-US" sz="1200">
                <a:solidFill>
                  <a:srgbClr val="DDB94A"/>
                </a:solidFill>
                <a:latin typeface="Inter"/>
                <a:ea typeface="Inter"/>
                <a:cs typeface="Inter"/>
                <a:sym typeface="Inter"/>
              </a:rPr>
              <a:t>THE DISCUSSION — UNTIL 4:00</a:t>
            </a:r>
          </a:p>
        </p:txBody>
      </p:sp>
      <p:sp>
        <p:nvSpPr>
          <p:cNvPr id="190" name="Google Shape;190;p17"/>
          <p:cNvSpPr/>
          <p:nvPr/>
        </p:nvSpPr>
        <p:spPr>
          <a:xfrm>
            <a:off x="822960" y="1417320"/>
            <a:ext cx="10545775" cy="2286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9A227"/>
              </a:buClr>
              <a:buSzPts val="13000"/>
              <a:buFont typeface="Playfair Display"/>
              <a:buNone/>
            </a:pPr>
            <a:r>
              <a:rPr b="1" lang="en-US" sz="13000">
                <a:solidFill>
                  <a:srgbClr val="C9A227"/>
                </a:solidFill>
                <a:latin typeface="Playfair Display"/>
                <a:ea typeface="Playfair Display"/>
                <a:cs typeface="Playfair Display"/>
                <a:sym typeface="Playfair Display"/>
              </a:rPr>
              <a:t>Over to you.</a:t>
            </a:r>
          </a:p>
        </p:txBody>
      </p:sp>
      <p:sp>
        <p:nvSpPr>
          <p:cNvPr id="191" name="Google Shape;191;p17"/>
          <p:cNvSpPr/>
          <p:nvPr/>
        </p:nvSpPr>
        <p:spPr>
          <a:xfrm>
            <a:off x="914400" y="3810000"/>
            <a:ext cx="10362895"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7F3E9"/>
              </a:buClr>
              <a:buSzPts val="2400"/>
              <a:buFont typeface="Playfair Display"/>
              <a:buNone/>
            </a:pPr>
            <a:r>
              <a:rPr lang="en-US" sz="2400">
                <a:solidFill>
                  <a:srgbClr val="F7F3E9"/>
                </a:solidFill>
                <a:latin typeface="Playfair Display"/>
                <a:ea typeface="Playfair Display"/>
                <a:cs typeface="Playfair Display"/>
                <a:sym typeface="Playfair Display"/>
              </a:rPr>
              <a:t>Three questions to open the floor:</a:t>
            </a:r>
          </a:p>
        </p:txBody>
      </p:sp>
      <p:sp>
        <p:nvSpPr>
          <p:cNvPr id="192" name="Google Shape;192;p17"/>
          <p:cNvSpPr/>
          <p:nvPr/>
        </p:nvSpPr>
        <p:spPr>
          <a:xfrm>
            <a:off x="1463040" y="4470400"/>
            <a:ext cx="9265615" cy="1524000"/>
          </a:xfrm>
          <a:prstGeom prst="rect">
            <a:avLst/>
          </a:prstGeom>
          <a:noFill/>
          <a:ln>
            <a:noFill/>
          </a:ln>
        </p:spPr>
        <p:txBody>
          <a:bodyPr anchorCtr="0" anchor="ctr" bIns="0" lIns="0" spcFirstLastPara="1" rIns="0" wrap="square" tIns="0">
            <a:noAutofit/>
          </a:bodyPr>
          <a:lstStyle/>
          <a:p>
            <a:pPr indent="0" lvl="0" marL="0" marR="0" rtl="0" algn="ctr">
              <a:lnSpc>
                <a:spcPct val="125000"/>
              </a:lnSpc>
              <a:spcBef>
                <a:spcPts val="0"/>
              </a:spcBef>
              <a:spcAft>
                <a:spcPts val="0"/>
              </a:spcAft>
              <a:buClr>
                <a:srgbClr val="AFA893"/>
              </a:buClr>
              <a:buSzPts val="1450"/>
              <a:buFont typeface="Inter"/>
              <a:buNone/>
            </a:pPr>
            <a:r>
              <a:rPr i="1" lang="en-US" sz="1950">
                <a:solidFill>
                  <a:srgbClr val="AFA893"/>
                </a:solidFill>
                <a:latin typeface="Inter"/>
                <a:ea typeface="Inter"/>
                <a:cs typeface="Inter"/>
                <a:sym typeface="Inter"/>
              </a:rPr>
              <a:t>1 · What do you re-explain to someone every single week?</a:t>
            </a:r>
          </a:p>
          <a:p>
            <a:pPr indent="0" lvl="0" marL="0" marR="0" rtl="0" algn="ctr">
              <a:lnSpc>
                <a:spcPct val="125000"/>
              </a:lnSpc>
              <a:spcBef>
                <a:spcPts val="0"/>
              </a:spcBef>
              <a:spcAft>
                <a:spcPts val="0"/>
              </a:spcAft>
              <a:buClr>
                <a:srgbClr val="AFA893"/>
              </a:buClr>
              <a:buSzPts val="1450"/>
              <a:buFont typeface="Inter"/>
              <a:buNone/>
            </a:pPr>
            <a:r>
              <a:rPr i="1" lang="en-US" sz="1950">
                <a:solidFill>
                  <a:srgbClr val="AFA893"/>
                </a:solidFill>
                <a:latin typeface="Inter"/>
                <a:ea typeface="Inter"/>
                <a:cs typeface="Inter"/>
                <a:sym typeface="Inter"/>
              </a:rPr>
              <a:t>2 · What arrives daily that someone else summarizes for you?</a:t>
            </a:r>
          </a:p>
          <a:p>
            <a:pPr indent="0" lvl="0" marL="0" marR="0" rtl="0" algn="ctr">
              <a:lnSpc>
                <a:spcPct val="125000"/>
              </a:lnSpc>
              <a:spcBef>
                <a:spcPts val="0"/>
              </a:spcBef>
              <a:spcAft>
                <a:spcPts val="0"/>
              </a:spcAft>
              <a:buClr>
                <a:srgbClr val="AFA893"/>
              </a:buClr>
              <a:buSzPts val="1450"/>
              <a:buFont typeface="Inter"/>
              <a:buNone/>
            </a:pPr>
            <a:r>
              <a:rPr i="1" lang="en-US" sz="1950">
                <a:solidFill>
                  <a:srgbClr val="AFA893"/>
                </a:solidFill>
                <a:latin typeface="Inter"/>
                <a:ea typeface="Inter"/>
                <a:cs typeface="Inter"/>
                <a:sym typeface="Inter"/>
              </a:rPr>
              <a:t>3 · Which decision waits on you only because the data is scattered?</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