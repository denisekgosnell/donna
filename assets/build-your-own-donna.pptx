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Lst>
  <p:sldSz cy="6858000" cx="12192000"/>
  <p:notesSz cx="6858000" cy="12192000"/>
  <p:embeddedFontLst>
    <p:embeddedFont>
      <p:font typeface="Playfair Display"/>
      <p:regular r:id="rId21"/>
      <p:bold r:id="rId22"/>
      <p:italic r:id="rId23"/>
      <p:boldItalic r:id="rId24"/>
    </p:embeddedFont>
    <p:embeddedFont>
      <p:font typeface="Inter"/>
      <p:regular r:id="rId25"/>
      <p:bold r:id="rId26"/>
      <p:italic r:id="rId27"/>
      <p:boldItalic r:id="rId2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22" Type="http://schemas.openxmlformats.org/officeDocument/2006/relationships/font" Target="fonts/PlayfairDisplay-bold.fntdata"/><Relationship Id="rId21" Type="http://schemas.openxmlformats.org/officeDocument/2006/relationships/font" Target="fonts/PlayfairDisplay-regular.fntdata"/><Relationship Id="rId24" Type="http://schemas.openxmlformats.org/officeDocument/2006/relationships/font" Target="fonts/PlayfairDisplay-boldItalic.fntdata"/><Relationship Id="rId23" Type="http://schemas.openxmlformats.org/officeDocument/2006/relationships/font" Target="fonts/PlayfairDisplay-italic.fntdata"/><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26" Type="http://schemas.openxmlformats.org/officeDocument/2006/relationships/font" Target="fonts/Inter-bold.fntdata"/><Relationship Id="rId25" Type="http://schemas.openxmlformats.org/officeDocument/2006/relationships/font" Target="fonts/Inter-regular.fntdata"/><Relationship Id="rId28" Type="http://schemas.openxmlformats.org/officeDocument/2006/relationships/font" Target="fonts/Inter-boldItalic.fntdata"/><Relationship Id="rId27" Type="http://schemas.openxmlformats.org/officeDocument/2006/relationships/font" Target="fonts/Inter-italic.fntdata"/><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11" Type="http://schemas.openxmlformats.org/officeDocument/2006/relationships/slide" Target="slides/slide7.xml"/><Relationship Id="rId10" Type="http://schemas.openxmlformats.org/officeDocument/2006/relationships/slide" Target="slides/slide6.xml"/><Relationship Id="rId13" Type="http://schemas.openxmlformats.org/officeDocument/2006/relationships/slide" Target="slides/slide9.xml"/><Relationship Id="rId12" Type="http://schemas.openxmlformats.org/officeDocument/2006/relationships/slide" Target="slides/slide8.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19" Type="http://schemas.openxmlformats.org/officeDocument/2006/relationships/slide" Target="slides/slide15.xml"/><Relationship Id="rId18"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225" y="914400"/>
            <a:ext cx="4572225" cy="4572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5791200"/>
            <a:ext cx="5486400" cy="54864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 name="Shape 7"/>
        <p:cNvGrpSpPr/>
        <p:nvPr/>
      </p:nvGrpSpPr>
      <p:grpSpPr>
        <a:xfrm>
          <a:off x="0" y="0"/>
          <a:ext cx="0" cy="0"/>
          <a:chOff x="0" y="0"/>
          <a:chExt cx="0" cy="0"/>
        </a:xfrm>
      </p:grpSpPr>
      <p:sp>
        <p:nvSpPr>
          <p:cNvPr id="8" name="Google Shape;8;p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 name="Google Shape;9;p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i="0" lang="en-US" sz="1200" u="none" cap="none" strike="noStrike">
                <a:solidFill>
                  <a:schemeClr val="dk1"/>
                </a:solidFill>
                <a:latin typeface="Arial"/>
                <a:ea typeface="Arial"/>
                <a:cs typeface="Arial"/>
                <a:sym typeface="Arial"/>
              </a:rPr>
              <a:t>COLD OPEN — let the room settle on the quote before you speak. Opening line: “She ran the best closer in New York City. Today she comes to work for you.” Housekeeping in one breath: laptops out, Claude desktop installed, workspace invite accepted — anyone missing a piece, flag me now, we fix it while we talk. Set the promise: by 4 PM every one of you owns a working Donna — not a demo, yours, on your own inbox.</a:t>
            </a:r>
            <a:endParaRPr/>
          </a:p>
        </p:txBody>
      </p:sp>
      <p:sp>
        <p:nvSpPr>
          <p:cNvPr id="10" name="Google Shape;10;p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800" u="none" cap="none" strike="noStrike">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 name="Shape 18"/>
        <p:cNvGrpSpPr/>
        <p:nvPr/>
      </p:nvGrpSpPr>
      <p:grpSpPr>
        <a:xfrm>
          <a:off x="0" y="0"/>
          <a:ext cx="0" cy="0"/>
          <a:chOff x="0" y="0"/>
          <a:chExt cx="0" cy="0"/>
        </a:xfrm>
      </p:grpSpPr>
      <p:sp>
        <p:nvSpPr>
          <p:cNvPr id="19" name="Google Shape;19;p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 name="Google Shape;20;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COLD OPEN — let the room settle on the quote before you speak. Opening line: “She ran the best closer in New York City. Today she comes to work for you.” Housekeeping in one breath: laptops out, Claude desktop installed, workspace invite accepted — anyone missing a piece, flag me now, we fix it while we talk. Set the promise: by 4 PM every one of you owns a working Donna — not a demo, yours, on your own inbox.</a:t>
            </a:r>
            <a:endParaRPr/>
          </a:p>
        </p:txBody>
      </p:sp>
      <p:sp>
        <p:nvSpPr>
          <p:cNvPr id="21" name="Google Shape;21;p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fld id="{00000000-1234-1234-1234-123412341234}" type="slidenum">
              <a:rPr b="0" i="0" lang="en-US" sz="1800" u="none" cap="none" strike="noStrike">
                <a:solidFill>
                  <a:srgbClr val="000000"/>
                </a:solidFill>
                <a:latin typeface="Arial"/>
                <a:ea typeface="Arial"/>
                <a:cs typeface="Arial"/>
                <a:sym typeface="Arial"/>
              </a:rPr>
              <a:t>‹#›</a:t>
            </a:fld>
            <a:endParaRPr b="0" i="0" sz="1800" u="none" cap="none" strike="noStrike">
              <a:solidFill>
                <a:srgbClr val="000000"/>
              </a:solidFill>
              <a:latin typeface="Arial"/>
              <a:ea typeface="Arial"/>
              <a:cs typeface="Arial"/>
              <a:sym typeface="Arial"/>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 name="Shape 29"/>
        <p:cNvGrpSpPr/>
        <p:nvPr/>
      </p:nvGrpSpPr>
      <p:grpSpPr>
        <a:xfrm>
          <a:off x="0" y="0"/>
          <a:ext cx="0" cy="0"/>
          <a:chOff x="0" y="0"/>
          <a:chExt cx="0" cy="0"/>
        </a:xfrm>
      </p:grpSpPr>
      <p:sp>
        <p:nvSpPr>
          <p:cNvPr id="30" name="Google Shape;30;p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1" name="Google Shape;31;p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Ask for hands: who actually cleared their inbox this morning? (Nobody.) Who checked email during this slide? (Laughter — someone will have.) The number isn’t the point — the point is that every one of those 300 asks a little tax on attention, and attention is the only thing an executive can’t delegate. Until today.</a:t>
            </a:r>
            <a:endParaRPr/>
          </a:p>
        </p:txBody>
      </p:sp>
      <p:sp>
        <p:nvSpPr>
          <p:cNvPr id="32" name="Google Shape;32;p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 name="Shape 38"/>
        <p:cNvGrpSpPr/>
        <p:nvPr/>
      </p:nvGrpSpPr>
      <p:grpSpPr>
        <a:xfrm>
          <a:off x="0" y="0"/>
          <a:ext cx="0" cy="0"/>
          <a:chOff x="0" y="0"/>
          <a:chExt cx="0" cy="0"/>
        </a:xfrm>
      </p:grpSpPr>
      <p:sp>
        <p:nvSpPr>
          <p:cNvPr id="39" name="Google Shape;39;p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0" name="Google Shape;40;p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The want-ad quote is the thesis: the job you’re hiring for isn’t phones and dry cleaning — filters and rules and a tidier inbox are the want-ad version. You’re hiring judgment: something that knows who matters, drafts in your voice, and briefs you once a day. Land the fiction-to-real line and pause — that’s the hook for the next 90 minutes.</a:t>
            </a:r>
            <a:endParaRPr/>
          </a:p>
        </p:txBody>
      </p:sp>
      <p:sp>
        <p:nvSpPr>
          <p:cNvPr id="41" name="Google Shape;41;p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 name="Shape 48"/>
        <p:cNvGrpSpPr/>
        <p:nvPr/>
      </p:nvGrpSpPr>
      <p:grpSpPr>
        <a:xfrm>
          <a:off x="0" y="0"/>
          <a:ext cx="0" cy="0"/>
          <a:chOff x="0" y="0"/>
          <a:chExt cx="0" cy="0"/>
        </a:xfrm>
      </p:grpSpPr>
      <p:sp>
        <p:nvSpPr>
          <p:cNvPr id="49" name="Google Shape;49;p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0" name="Google Shape;50;p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This is the whole afternoon on one slide — interview her, brief her, hand her your playbook, give her the keys. Point at the site now (it’s the link from the prep email): four case files, same numbers, copy buttons everywhere. Nobody types anything longer than one sentence today.</a:t>
            </a:r>
            <a:endParaRPr/>
          </a:p>
        </p:txBody>
      </p:sp>
      <p:sp>
        <p:nvSpPr>
          <p:cNvPr id="51" name="Google Shape;51;p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 name="Shape 76"/>
        <p:cNvGrpSpPr/>
        <p:nvPr/>
      </p:nvGrpSpPr>
      <p:grpSpPr>
        <a:xfrm>
          <a:off x="0" y="0"/>
          <a:ext cx="0" cy="0"/>
          <a:chOff x="0" y="0"/>
          <a:chExt cx="0" cy="0"/>
        </a:xfrm>
      </p:grpSpPr>
      <p:sp>
        <p:nvSpPr>
          <p:cNvPr id="77" name="Google Shape;77;g3f5e3eb88d5_1_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8" name="Google Shape;78;g3f5e3eb88d5_1_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Ask for hands: who actually cleared their inbox this morning? (Nobody.) Who checked email during this slide? (Laughter — someone will have.) The number isn’t the point — the point is that every one of those 300 asks a little tax on attention, and attention is the only thing an executive can’t delegate. Until today.</a:t>
            </a:r>
            <a:endParaRPr/>
          </a:p>
        </p:txBody>
      </p:sp>
      <p:sp>
        <p:nvSpPr>
          <p:cNvPr id="79" name="Google Shape;79;g3f5e3eb88d5_1_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 name="Shape 85"/>
        <p:cNvGrpSpPr/>
        <p:nvPr/>
      </p:nvGrpSpPr>
      <p:grpSpPr>
        <a:xfrm>
          <a:off x="0" y="0"/>
          <a:ext cx="0" cy="0"/>
          <a:chOff x="0" y="0"/>
          <a:chExt cx="0" cy="0"/>
        </a:xfrm>
      </p:grpSpPr>
      <p:sp>
        <p:nvSpPr>
          <p:cNvPr id="86" name="Google Shape;86;p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7" name="Google Shape;87;p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Walk the room during connections — the classic failure is signing into the personal Google account instead of work. Connectors are pre-enabled workspace-wide, so all they click is Connect. Gmail people: also connect Google Calendar and Drive now (Step 4 needs both). Outlook people: Microsoft 365 covers mail, calendar, OneDrive in one go. Then prompt 1. Give it a beat — the room goes quiet when Claude answers from their real inbox.</a:t>
            </a:r>
            <a:endParaRPr/>
          </a:p>
        </p:txBody>
      </p:sp>
      <p:sp>
        <p:nvSpPr>
          <p:cNvPr id="88" name="Google Shape;88;p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9" name="Google Shape;99;p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Walk the room during connections — the classic failure is signing into the personal Google account instead of work. Connectors are pre-enabled workspace-wide, so all they click is Connect. Gmail people: also connect Google Calendar and Drive now (Step 4 needs both). Outlook people: Microsoft 365 covers mail, calendar, OneDrive in one go. Then prompt 1. Give it a beat — the room goes quiet when Claude answers from their real inbox.</a:t>
            </a:r>
            <a:endParaRPr/>
          </a:p>
        </p:txBody>
      </p:sp>
      <p:sp>
        <p:nvSpPr>
          <p:cNvPr id="100" name="Google Shape;100;p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fld id="{00000000-1234-1234-1234-123412341234}" type="slidenum">
              <a:rPr b="0" i="0" lang="en-US" sz="1800" u="none" cap="none" strike="noStrike">
                <a:solidFill>
                  <a:srgbClr val="000000"/>
                </a:solidFill>
                <a:latin typeface="Arial"/>
                <a:ea typeface="Arial"/>
                <a:cs typeface="Arial"/>
                <a:sym typeface="Arial"/>
              </a:rPr>
              <a:t>‹#›</a:t>
            </a:fld>
            <a:endParaRPr b="0" i="0" sz="1800" u="none" cap="none" strike="noStrike">
              <a:solidFill>
                <a:srgbClr val="000000"/>
              </a:solidFill>
              <a:latin typeface="Arial"/>
              <a:ea typeface="Arial"/>
              <a:cs typeface="Arial"/>
              <a:sym typeface="Arial"/>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 name="Shape 111"/>
        <p:cNvGrpSpPr/>
        <p:nvPr/>
      </p:nvGrpSpPr>
      <p:grpSpPr>
        <a:xfrm>
          <a:off x="0" y="0"/>
          <a:ext cx="0" cy="0"/>
          <a:chOff x="0" y="0"/>
          <a:chExt cx="0" cy="0"/>
        </a:xfrm>
      </p:grpSpPr>
      <p:sp>
        <p:nvSpPr>
          <p:cNvPr id="112" name="Google Shape;112;p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13" name="Google Shape;113;p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Run it live on your own screen first, then hold until every laptop shows five lines and a draft. Nobody moves on until the checkpoint. If a connector is stuck: disconnect, reconnect, confirm the account. If the network is stuck: switch to the backup screenshots (slide 13) and keep the energy up.</a:t>
            </a:r>
            <a:endParaRPr/>
          </a:p>
        </p:txBody>
      </p:sp>
      <p:sp>
        <p:nvSpPr>
          <p:cNvPr id="114" name="Google Shape;114;p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23" name="Google Shape;123;p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Projects → New project → name it Inbox Triage → Set project instructions → paste. Give them 6–8 quiet minutes to fill the three blanks — names, the deal, three words. Circulate. The blanks are where this stops being a demo and becomes THEIR assistant. Then everyone types: Triage my inbox.</a:t>
            </a:r>
            <a:endParaRPr/>
          </a:p>
        </p:txBody>
      </p:sp>
      <p:sp>
        <p:nvSpPr>
          <p:cNvPr id="124" name="Google Shape;124;p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 name="Shape 138"/>
        <p:cNvGrpSpPr/>
        <p:nvPr/>
      </p:nvGrpSpPr>
      <p:grpSpPr>
        <a:xfrm>
          <a:off x="0" y="0"/>
          <a:ext cx="0" cy="0"/>
          <a:chOff x="0" y="0"/>
          <a:chExt cx="0" cy="0"/>
        </a:xfrm>
      </p:grpSpPr>
      <p:sp>
        <p:nvSpPr>
          <p:cNvPr id="139" name="Google Shape;139;p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0" name="Google Shape;140;p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Everyone runs the one-sentence ritual inside the project. The payoff to name out loud: you will never re-explain your rules again — that’s the difference between a chat and a project. Common wobble: someone triages from OUTSIDE the project and gets generic results — make sure they’re inside Inbox Triage.</a:t>
            </a:r>
            <a:endParaRPr/>
          </a:p>
        </p:txBody>
      </p:sp>
      <p:sp>
        <p:nvSpPr>
          <p:cNvPr id="141" name="Google Shape;141;p1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 name="Shape 151"/>
        <p:cNvGrpSpPr/>
        <p:nvPr/>
      </p:nvGrpSpPr>
      <p:grpSpPr>
        <a:xfrm>
          <a:off x="0" y="0"/>
          <a:ext cx="0" cy="0"/>
          <a:chOff x="0" y="0"/>
          <a:chExt cx="0" cy="0"/>
        </a:xfrm>
      </p:grpSpPr>
      <p:sp>
        <p:nvSpPr>
          <p:cNvPr id="152" name="Google Shape;152;p1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3" name="Google Shape;153;p1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This is the workshop’s one moment of real magic — Claude building its own tooling. Let them watch it fetch and install. The interview takes 5–10 minutes; encourage real answers (actual VIP names, the true banned phrases). Fallbacks are on the site under small print: the zip upload via Settings → Capabilities, or git clone for the terminal-inclined. Then the test drive — and everyone opens their drafts folder.</a:t>
            </a:r>
            <a:endParaRPr/>
          </a:p>
        </p:txBody>
      </p:sp>
      <p:sp>
        <p:nvSpPr>
          <p:cNvPr id="154" name="Google Shape;154;p1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3" name="Shape 163"/>
        <p:cNvGrpSpPr/>
        <p:nvPr/>
      </p:nvGrpSpPr>
      <p:grpSpPr>
        <a:xfrm>
          <a:off x="0" y="0"/>
          <a:ext cx="0" cy="0"/>
          <a:chOff x="0" y="0"/>
          <a:chExt cx="0" cy="0"/>
        </a:xfrm>
      </p:grpSpPr>
      <p:sp>
        <p:nvSpPr>
          <p:cNvPr id="164" name="Google Shape;164;p1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5" name="Google Shape;165;p1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Slow down here — this is the trust slide, and it answers the fear nobody has said out loud yet: “what if it emails a client?” It can’t. Drafting and sending are different permissions, and this skill only ever drafts. You are the send button. Say it twice, verbatim: she never sends. Ever.</a:t>
            </a:r>
            <a:endParaRPr/>
          </a:p>
        </p:txBody>
      </p:sp>
      <p:sp>
        <p:nvSpPr>
          <p:cNvPr id="166" name="Google Shape;166;p1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1" name="Shape 171"/>
        <p:cNvGrpSpPr/>
        <p:nvPr/>
      </p:nvGrpSpPr>
      <p:grpSpPr>
        <a:xfrm>
          <a:off x="0" y="0"/>
          <a:ext cx="0" cy="0"/>
          <a:chOff x="0" y="0"/>
          <a:chExt cx="0" cy="0"/>
        </a:xfrm>
      </p:grpSpPr>
      <p:sp>
        <p:nvSpPr>
          <p:cNvPr id="172" name="Google Shape;172;p1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3" name="Google Shape;173;p1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Grab the exact prompt from the site — Gmail and Outlook tabs differ on purpose. Gmail: Google Calendar attaches a true EMAIL reminder, so the 4:54 nudge is an email. Outlook: Microsoft’s API only allows pop-up reminders, so the nudge is a calendar notification on laptop and phone — the site’s small print has the one-time Power Automate upgrade for a true email. The last line of the prompt is the finale: a dry run, right now.</a:t>
            </a:r>
            <a:endParaRPr/>
          </a:p>
        </p:txBody>
      </p:sp>
      <p:sp>
        <p:nvSpPr>
          <p:cNvPr id="174" name="Google Shape;174;p1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 name="Shape 184"/>
        <p:cNvGrpSpPr/>
        <p:nvPr/>
      </p:nvGrpSpPr>
      <p:grpSpPr>
        <a:xfrm>
          <a:off x="0" y="0"/>
          <a:ext cx="0" cy="0"/>
          <a:chOff x="0" y="0"/>
          <a:chExt cx="0" cy="0"/>
        </a:xfrm>
      </p:grpSpPr>
      <p:sp>
        <p:nvSpPr>
          <p:cNvPr id="185" name="Google Shape;185;p1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86" name="Google Shape;186;p1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The closing moment — everyone watches the dry run land: doc in the Donna Briefings folder, event on today’s calendar, drafts waiting. Hold the silence while phones buzz. Then the reframe: that notification is the only email they now need — email comes to YOU, once a day, pre-digested. You didn’t just use an assistant today; you hired one.</a:t>
            </a:r>
            <a:endParaRPr/>
          </a:p>
        </p:txBody>
      </p:sp>
      <p:sp>
        <p:nvSpPr>
          <p:cNvPr id="187" name="Google Shape;187;p1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3" name="Shape 193"/>
        <p:cNvGrpSpPr/>
        <p:nvPr/>
      </p:nvGrpSpPr>
      <p:grpSpPr>
        <a:xfrm>
          <a:off x="0" y="0"/>
          <a:ext cx="0" cy="0"/>
          <a:chOff x="0" y="0"/>
          <a:chExt cx="0" cy="0"/>
        </a:xfrm>
      </p:grpSpPr>
      <p:sp>
        <p:nvSpPr>
          <p:cNvPr id="194" name="Google Shape;194;p1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5" name="Google Shape;195;p1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Send-off: the site stays up — every prompt, every fallback, the skill itself. Scan the code, bookmark it, forward it to the colleague you know needs it. Tomorrow at 4:54 the briefing arrives on its own for the first time — when it does, that’s Donna saying she’s got it from here. Questions any time: denise@denisegosnell.ai. You’re weird. We’ll be friends.</a:t>
            </a:r>
            <a:endParaRPr/>
          </a:p>
        </p:txBody>
      </p:sp>
      <p:sp>
        <p:nvSpPr>
          <p:cNvPr id="196" name="Google Shape;196;p1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6" name="Shape 6"/>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 Id="rId4" Type="http://schemas.openxmlformats.org/officeDocument/2006/relationships/image" Target="../media/image5.png"/><Relationship Id="rId5" Type="http://schemas.openxmlformats.org/officeDocument/2006/relationships/image" Target="../media/image4.png"/><Relationship Id="rId6"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3.png"/><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hyperlink" Target="https://denisekgosnell.github.io/Donna/" TargetMode="External"/><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3.png"/><Relationship Id="rId4"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4213D"/>
        </a:solidFill>
      </p:bgPr>
    </p:bg>
    <p:spTree>
      <p:nvGrpSpPr>
        <p:cNvPr id="11" name="Shape 11"/>
        <p:cNvGrpSpPr/>
        <p:nvPr/>
      </p:nvGrpSpPr>
      <p:grpSpPr>
        <a:xfrm>
          <a:off x="0" y="0"/>
          <a:ext cx="0" cy="0"/>
          <a:chOff x="0" y="0"/>
          <a:chExt cx="0" cy="0"/>
        </a:xfrm>
      </p:grpSpPr>
      <p:pic>
        <p:nvPicPr>
          <p:cNvPr descr="/private/tmp/claude-502/-Users-dev-Documents-production-donna/5de1284d-6f84-43be-a2a5-f3ead80d40bc/scratchpad/monogram-gold-red.png" id="12" name="Google Shape;12;p3"/>
          <p:cNvPicPr preferRelativeResize="0"/>
          <p:nvPr/>
        </p:nvPicPr>
        <p:blipFill rotWithShape="1">
          <a:blip r:embed="rId3">
            <a:alphaModFix/>
          </a:blip>
          <a:srcRect b="0" l="0" r="0" t="0"/>
          <a:stretch/>
        </p:blipFill>
        <p:spPr>
          <a:xfrm>
            <a:off x="5318608" y="566928"/>
            <a:ext cx="1554480" cy="1554480"/>
          </a:xfrm>
          <a:prstGeom prst="rect">
            <a:avLst/>
          </a:prstGeom>
          <a:noFill/>
          <a:ln>
            <a:noFill/>
          </a:ln>
        </p:spPr>
      </p:pic>
      <p:pic>
        <p:nvPicPr>
          <p:cNvPr descr="/private/tmp/claude-502/-Users-dev-Documents-production-donna/5de1284d-6f84-43be-a2a5-f3ead80d40bc/scratchpad/skyline-gold.png" id="13" name="Google Shape;13;p3"/>
          <p:cNvPicPr preferRelativeResize="0"/>
          <p:nvPr/>
        </p:nvPicPr>
        <p:blipFill rotWithShape="1">
          <a:blip r:embed="rId4">
            <a:alphaModFix amt="65000"/>
          </a:blip>
          <a:srcRect b="0" l="0" r="0" t="0"/>
          <a:stretch/>
        </p:blipFill>
        <p:spPr>
          <a:xfrm>
            <a:off x="1981048" y="5897880"/>
            <a:ext cx="8229600" cy="731520"/>
          </a:xfrm>
          <a:prstGeom prst="rect">
            <a:avLst/>
          </a:prstGeom>
          <a:noFill/>
          <a:ln>
            <a:noFill/>
          </a:ln>
        </p:spPr>
      </p:pic>
      <p:sp>
        <p:nvSpPr>
          <p:cNvPr id="14" name="Google Shape;14;p3"/>
          <p:cNvSpPr/>
          <p:nvPr/>
        </p:nvSpPr>
        <p:spPr>
          <a:xfrm>
            <a:off x="510013" y="4796018"/>
            <a:ext cx="4887600" cy="731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7F3E9"/>
              </a:buClr>
              <a:buSzPts val="2000"/>
              <a:buFont typeface="Consolas"/>
              <a:buNone/>
            </a:pPr>
            <a:r>
              <a:rPr b="1" i="0" lang="en-US" sz="2000" u="none" cap="none" strike="noStrike">
                <a:solidFill>
                  <a:srgbClr val="F7F3E9"/>
                </a:solidFill>
                <a:latin typeface="Consolas"/>
                <a:ea typeface="Consolas"/>
                <a:cs typeface="Consolas"/>
                <a:sym typeface="Consolas"/>
              </a:rPr>
              <a:t>WIFI: DonnaWorkshop</a:t>
            </a:r>
            <a:endParaRPr b="1" i="0" sz="2000" u="none" cap="none" strike="noStrike">
              <a:solidFill>
                <a:srgbClr val="F7F3E9"/>
              </a:solidFill>
              <a:latin typeface="Consolas"/>
              <a:ea typeface="Consolas"/>
              <a:cs typeface="Consolas"/>
              <a:sym typeface="Consolas"/>
            </a:endParaRPr>
          </a:p>
          <a:p>
            <a:pPr indent="0" lvl="0" marL="0" marR="0" rtl="0" algn="ctr">
              <a:spcBef>
                <a:spcPts val="0"/>
              </a:spcBef>
              <a:spcAft>
                <a:spcPts val="0"/>
              </a:spcAft>
              <a:buClr>
                <a:srgbClr val="F7F3E9"/>
              </a:buClr>
              <a:buSzPts val="2000"/>
              <a:buFont typeface="Consolas"/>
              <a:buNone/>
            </a:pPr>
            <a:r>
              <a:rPr b="1" i="0" lang="en-US" sz="2000" u="none" cap="none" strike="noStrike">
                <a:solidFill>
                  <a:srgbClr val="F7F3E9"/>
                </a:solidFill>
                <a:latin typeface="Consolas"/>
                <a:ea typeface="Consolas"/>
                <a:cs typeface="Consolas"/>
                <a:sym typeface="Consolas"/>
              </a:rPr>
              <a:t>Password: donnapaulsen</a:t>
            </a:r>
            <a:endParaRPr b="0" i="0" sz="2000" u="none" cap="none" strike="noStrike">
              <a:solidFill>
                <a:schemeClr val="dk1"/>
              </a:solidFill>
              <a:latin typeface="Consolas"/>
              <a:ea typeface="Consolas"/>
              <a:cs typeface="Consolas"/>
              <a:sym typeface="Consolas"/>
            </a:endParaRPr>
          </a:p>
        </p:txBody>
      </p:sp>
      <p:pic>
        <p:nvPicPr>
          <p:cNvPr descr="A qr code on a white background&#10;&#10;AI-generated content may be incorrect." id="15" name="Google Shape;15;p3"/>
          <p:cNvPicPr preferRelativeResize="0"/>
          <p:nvPr/>
        </p:nvPicPr>
        <p:blipFill rotWithShape="1">
          <a:blip r:embed="rId5">
            <a:alphaModFix/>
          </a:blip>
          <a:srcRect b="52002" l="18314" r="18315" t="18932"/>
          <a:stretch/>
        </p:blipFill>
        <p:spPr>
          <a:xfrm>
            <a:off x="1626977" y="1784571"/>
            <a:ext cx="2653693" cy="2640993"/>
          </a:xfrm>
          <a:prstGeom prst="rect">
            <a:avLst/>
          </a:prstGeom>
          <a:noFill/>
          <a:ln>
            <a:noFill/>
          </a:ln>
        </p:spPr>
      </p:pic>
      <p:sp>
        <p:nvSpPr>
          <p:cNvPr id="16" name="Google Shape;16;p3"/>
          <p:cNvSpPr/>
          <p:nvPr/>
        </p:nvSpPr>
        <p:spPr>
          <a:xfrm>
            <a:off x="6558863" y="4796081"/>
            <a:ext cx="4887600" cy="731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7F3E9"/>
              </a:buClr>
              <a:buSzPts val="2000"/>
              <a:buFont typeface="Consolas"/>
              <a:buNone/>
            </a:pPr>
            <a:r>
              <a:rPr b="1" lang="en-US" sz="2000">
                <a:solidFill>
                  <a:srgbClr val="F7F3E9"/>
                </a:solidFill>
                <a:latin typeface="Consolas"/>
                <a:ea typeface="Consolas"/>
                <a:cs typeface="Consolas"/>
                <a:sym typeface="Consolas"/>
              </a:rPr>
              <a:t>These Slides</a:t>
            </a:r>
            <a:endParaRPr b="0" i="0" sz="2000" u="none" cap="none" strike="noStrike">
              <a:solidFill>
                <a:schemeClr val="dk1"/>
              </a:solidFill>
              <a:latin typeface="Consolas"/>
              <a:ea typeface="Consolas"/>
              <a:cs typeface="Consolas"/>
              <a:sym typeface="Consolas"/>
            </a:endParaRPr>
          </a:p>
        </p:txBody>
      </p:sp>
      <p:pic>
        <p:nvPicPr>
          <p:cNvPr id="17" name="Google Shape;17;p3" title="Qq7t0IYNWfRuevr_donna workshop slides.png"/>
          <p:cNvPicPr preferRelativeResize="0"/>
          <p:nvPr/>
        </p:nvPicPr>
        <p:blipFill rotWithShape="1">
          <a:blip r:embed="rId6">
            <a:alphaModFix/>
          </a:blip>
          <a:srcRect b="239" l="0" r="0" t="239"/>
          <a:stretch/>
        </p:blipFill>
        <p:spPr>
          <a:xfrm>
            <a:off x="7675837" y="1784679"/>
            <a:ext cx="2653680" cy="264099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4213D"/>
        </a:solidFill>
      </p:bgPr>
    </p:bg>
    <p:spTree>
      <p:nvGrpSpPr>
        <p:cNvPr id="22" name="Shape 22"/>
        <p:cNvGrpSpPr/>
        <p:nvPr/>
      </p:nvGrpSpPr>
      <p:grpSpPr>
        <a:xfrm>
          <a:off x="0" y="0"/>
          <a:ext cx="0" cy="0"/>
          <a:chOff x="0" y="0"/>
          <a:chExt cx="0" cy="0"/>
        </a:xfrm>
      </p:grpSpPr>
      <p:pic>
        <p:nvPicPr>
          <p:cNvPr descr="/private/tmp/claude-502/-Users-dev-Documents-production-donna/5de1284d-6f84-43be-a2a5-f3ead80d40bc/scratchpad/monogram-gold-red.png" id="23" name="Google Shape;23;p4"/>
          <p:cNvPicPr preferRelativeResize="0"/>
          <p:nvPr/>
        </p:nvPicPr>
        <p:blipFill rotWithShape="1">
          <a:blip r:embed="rId3">
            <a:alphaModFix/>
          </a:blip>
          <a:srcRect b="0" l="0" r="0" t="0"/>
          <a:stretch/>
        </p:blipFill>
        <p:spPr>
          <a:xfrm>
            <a:off x="5318608" y="566928"/>
            <a:ext cx="1554480" cy="1554480"/>
          </a:xfrm>
          <a:prstGeom prst="rect">
            <a:avLst/>
          </a:prstGeom>
          <a:noFill/>
          <a:ln>
            <a:noFill/>
          </a:ln>
        </p:spPr>
      </p:pic>
      <p:sp>
        <p:nvSpPr>
          <p:cNvPr id="24" name="Google Shape;24;p4"/>
          <p:cNvSpPr/>
          <p:nvPr/>
        </p:nvSpPr>
        <p:spPr>
          <a:xfrm>
            <a:off x="2377440" y="2514600"/>
            <a:ext cx="7436815" cy="1783080"/>
          </a:xfrm>
          <a:prstGeom prst="roundRect">
            <a:avLst>
              <a:gd fmla="val 3077" name="adj"/>
            </a:avLst>
          </a:prstGeom>
          <a:solidFill>
            <a:srgbClr val="F7F3E9"/>
          </a:solidFill>
          <a:ln>
            <a:noFill/>
          </a:ln>
          <a:effectLst>
            <a:outerShdw blurRad="203200" rotWithShape="0" algn="bl" dir="5400000" dist="88900">
              <a:srgbClr val="000000">
                <a:alpha val="38039"/>
              </a:srgbClr>
            </a:outerShdw>
          </a:effectLst>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Calibri"/>
              <a:buNone/>
            </a:pPr>
            <a:r>
              <a:t/>
            </a:r>
            <a:endParaRPr b="0" i="0" sz="1800" u="none" cap="none" strike="noStrike">
              <a:solidFill>
                <a:srgbClr val="000000"/>
              </a:solidFill>
              <a:latin typeface="Calibri"/>
              <a:ea typeface="Calibri"/>
              <a:cs typeface="Calibri"/>
              <a:sym typeface="Calibri"/>
            </a:endParaRPr>
          </a:p>
        </p:txBody>
      </p:sp>
      <p:sp>
        <p:nvSpPr>
          <p:cNvPr id="25" name="Google Shape;25;p4"/>
          <p:cNvSpPr/>
          <p:nvPr/>
        </p:nvSpPr>
        <p:spPr>
          <a:xfrm>
            <a:off x="2788920" y="2651760"/>
            <a:ext cx="6613855" cy="150876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A31621"/>
              </a:buClr>
              <a:buSzPts val="3000"/>
              <a:buFont typeface="Playfair Display"/>
              <a:buNone/>
            </a:pPr>
            <a:r>
              <a:rPr b="0" i="1" lang="en-US" sz="3000" u="none" cap="none" strike="noStrike">
                <a:solidFill>
                  <a:srgbClr val="A31621"/>
                </a:solidFill>
                <a:latin typeface="Playfair Display"/>
                <a:ea typeface="Playfair Display"/>
                <a:cs typeface="Playfair Display"/>
                <a:sym typeface="Playfair Display"/>
              </a:rPr>
              <a:t>“I’m Donna. I know everything.”</a:t>
            </a:r>
            <a:endParaRPr b="0" i="0" sz="3000" u="none" cap="none" strike="noStrike">
              <a:solidFill>
                <a:srgbClr val="000000"/>
              </a:solidFill>
              <a:latin typeface="Calibri"/>
              <a:ea typeface="Calibri"/>
              <a:cs typeface="Calibri"/>
              <a:sym typeface="Calibri"/>
            </a:endParaRPr>
          </a:p>
          <a:p>
            <a:pPr indent="0" lvl="0" marL="0" marR="0" rtl="0" algn="ctr">
              <a:lnSpc>
                <a:spcPct val="100000"/>
              </a:lnSpc>
              <a:spcBef>
                <a:spcPts val="0"/>
              </a:spcBef>
              <a:spcAft>
                <a:spcPts val="0"/>
              </a:spcAft>
              <a:buClr>
                <a:schemeClr val="dk1"/>
              </a:buClr>
              <a:buSzPts val="3000"/>
              <a:buFont typeface="Calibri"/>
              <a:buNone/>
            </a:pPr>
            <a:r>
              <a:t/>
            </a:r>
            <a:endParaRPr b="0" i="0" sz="3000" u="none" cap="none" strike="noStrike">
              <a:solidFill>
                <a:srgbClr val="000000"/>
              </a:solidFill>
              <a:latin typeface="Calibri"/>
              <a:ea typeface="Calibri"/>
              <a:cs typeface="Calibri"/>
              <a:sym typeface="Calibri"/>
            </a:endParaRPr>
          </a:p>
          <a:p>
            <a:pPr indent="0" lvl="0" marL="0" marR="0" rtl="0" algn="ctr">
              <a:lnSpc>
                <a:spcPct val="100000"/>
              </a:lnSpc>
              <a:spcBef>
                <a:spcPts val="0"/>
              </a:spcBef>
              <a:spcAft>
                <a:spcPts val="0"/>
              </a:spcAft>
              <a:buClr>
                <a:srgbClr val="14213D"/>
              </a:buClr>
              <a:buSzPts val="1050"/>
              <a:buFont typeface="Inter"/>
              <a:buNone/>
            </a:pPr>
            <a:r>
              <a:rPr b="1" i="0" lang="en-US" sz="1050" u="none" cap="none" strike="noStrike">
                <a:solidFill>
                  <a:srgbClr val="14213D"/>
                </a:solidFill>
                <a:latin typeface="Inter"/>
                <a:ea typeface="Inter"/>
                <a:cs typeface="Inter"/>
                <a:sym typeface="Inter"/>
              </a:rPr>
              <a:t>— DONNA PAULSEN, SUITS</a:t>
            </a:r>
            <a:endParaRPr b="0" i="0" sz="3000" u="none" cap="none" strike="noStrike">
              <a:solidFill>
                <a:srgbClr val="000000"/>
              </a:solidFill>
              <a:latin typeface="Calibri"/>
              <a:ea typeface="Calibri"/>
              <a:cs typeface="Calibri"/>
              <a:sym typeface="Calibri"/>
            </a:endParaRPr>
          </a:p>
        </p:txBody>
      </p:sp>
      <p:sp>
        <p:nvSpPr>
          <p:cNvPr id="26" name="Google Shape;26;p4"/>
          <p:cNvSpPr/>
          <p:nvPr/>
        </p:nvSpPr>
        <p:spPr>
          <a:xfrm>
            <a:off x="914400" y="4617720"/>
            <a:ext cx="10362895" cy="5486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7F3E9"/>
              </a:buClr>
              <a:buSzPts val="2500"/>
              <a:buFont typeface="Playfair Display"/>
              <a:buNone/>
            </a:pPr>
            <a:r>
              <a:rPr b="1" i="0" lang="en-US" sz="2500" u="none" cap="none" strike="noStrike">
                <a:solidFill>
                  <a:srgbClr val="F7F3E9"/>
                </a:solidFill>
                <a:latin typeface="Playfair Display"/>
                <a:ea typeface="Playfair Display"/>
                <a:cs typeface="Playfair Display"/>
                <a:sym typeface="Playfair Display"/>
              </a:rPr>
              <a:t>BUILD YOUR OWN DONNA</a:t>
            </a:r>
            <a:endParaRPr b="0" i="0" sz="2500" u="none" cap="none" strike="noStrike">
              <a:solidFill>
                <a:srgbClr val="000000"/>
              </a:solidFill>
              <a:latin typeface="Calibri"/>
              <a:ea typeface="Calibri"/>
              <a:cs typeface="Calibri"/>
              <a:sym typeface="Calibri"/>
            </a:endParaRPr>
          </a:p>
        </p:txBody>
      </p:sp>
      <p:sp>
        <p:nvSpPr>
          <p:cNvPr id="27" name="Google Shape;27;p4"/>
          <p:cNvSpPr/>
          <p:nvPr/>
        </p:nvSpPr>
        <p:spPr>
          <a:xfrm>
            <a:off x="914400" y="5175504"/>
            <a:ext cx="10362895" cy="36576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AFA893"/>
              </a:buClr>
              <a:buSzPts val="1400"/>
              <a:buFont typeface="Inter"/>
              <a:buNone/>
            </a:pPr>
            <a:r>
              <a:rPr b="0" i="0" lang="en-US" sz="1400" u="none" cap="none" strike="noStrike">
                <a:solidFill>
                  <a:srgbClr val="AFA893"/>
                </a:solidFill>
                <a:latin typeface="Inter"/>
                <a:ea typeface="Inter"/>
                <a:cs typeface="Inter"/>
                <a:sym typeface="Inter"/>
              </a:rPr>
              <a:t>A 90 min workshop for executives who are done reading email</a:t>
            </a:r>
            <a:endParaRPr b="0" i="0" sz="1400" u="none" cap="none" strike="noStrike">
              <a:solidFill>
                <a:srgbClr val="000000"/>
              </a:solidFill>
              <a:latin typeface="Calibri"/>
              <a:ea typeface="Calibri"/>
              <a:cs typeface="Calibri"/>
              <a:sym typeface="Calibri"/>
            </a:endParaRPr>
          </a:p>
        </p:txBody>
      </p:sp>
      <p:pic>
        <p:nvPicPr>
          <p:cNvPr descr="/private/tmp/claude-502/-Users-dev-Documents-production-donna/5de1284d-6f84-43be-a2a5-f3ead80d40bc/scratchpad/skyline-gold.png" id="28" name="Google Shape;28;p4"/>
          <p:cNvPicPr preferRelativeResize="0"/>
          <p:nvPr/>
        </p:nvPicPr>
        <p:blipFill rotWithShape="1">
          <a:blip r:embed="rId4">
            <a:alphaModFix amt="65000"/>
          </a:blip>
          <a:srcRect b="0" l="0" r="0" t="0"/>
          <a:stretch/>
        </p:blipFill>
        <p:spPr>
          <a:xfrm>
            <a:off x="1981048" y="5897880"/>
            <a:ext cx="8229600" cy="731520"/>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4213D"/>
        </a:solidFill>
      </p:bgPr>
    </p:bg>
    <p:spTree>
      <p:nvGrpSpPr>
        <p:cNvPr id="33" name="Shape 33"/>
        <p:cNvGrpSpPr/>
        <p:nvPr/>
      </p:nvGrpSpPr>
      <p:grpSpPr>
        <a:xfrm>
          <a:off x="0" y="0"/>
          <a:ext cx="0" cy="0"/>
          <a:chOff x="0" y="0"/>
          <a:chExt cx="0" cy="0"/>
        </a:xfrm>
      </p:grpSpPr>
      <p:sp>
        <p:nvSpPr>
          <p:cNvPr id="34" name="Google Shape;34;p5"/>
          <p:cNvSpPr/>
          <p:nvPr/>
        </p:nvSpPr>
        <p:spPr>
          <a:xfrm>
            <a:off x="822960" y="502920"/>
            <a:ext cx="10545775"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DB94A"/>
              </a:buClr>
              <a:buSzPts val="1200"/>
              <a:buFont typeface="Inter"/>
              <a:buNone/>
            </a:pPr>
            <a:r>
              <a:rPr b="1" lang="en-US" sz="1200">
                <a:solidFill>
                  <a:srgbClr val="DDB94A"/>
                </a:solidFill>
                <a:latin typeface="Inter"/>
                <a:ea typeface="Inter"/>
                <a:cs typeface="Inter"/>
                <a:sym typeface="Inter"/>
              </a:rPr>
              <a:t>THE PROBLEM</a:t>
            </a:r>
            <a:endParaRPr sz="1200">
              <a:solidFill>
                <a:schemeClr val="dk1"/>
              </a:solidFill>
              <a:latin typeface="Calibri"/>
              <a:ea typeface="Calibri"/>
              <a:cs typeface="Calibri"/>
              <a:sym typeface="Calibri"/>
            </a:endParaRPr>
          </a:p>
        </p:txBody>
      </p:sp>
      <p:sp>
        <p:nvSpPr>
          <p:cNvPr id="35" name="Google Shape;35;p5"/>
          <p:cNvSpPr/>
          <p:nvPr/>
        </p:nvSpPr>
        <p:spPr>
          <a:xfrm>
            <a:off x="822960" y="1371600"/>
            <a:ext cx="5669280" cy="32918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9A227"/>
              </a:buClr>
              <a:buSzPts val="20000"/>
              <a:buFont typeface="Playfair Display"/>
              <a:buNone/>
            </a:pPr>
            <a:r>
              <a:rPr b="1" lang="en-US" sz="20000">
                <a:solidFill>
                  <a:srgbClr val="C9A227"/>
                </a:solidFill>
                <a:latin typeface="Playfair Display"/>
                <a:ea typeface="Playfair Display"/>
                <a:cs typeface="Playfair Display"/>
                <a:sym typeface="Playfair Display"/>
              </a:rPr>
              <a:t>300</a:t>
            </a:r>
            <a:endParaRPr sz="20000">
              <a:solidFill>
                <a:schemeClr val="dk1"/>
              </a:solidFill>
              <a:latin typeface="Calibri"/>
              <a:ea typeface="Calibri"/>
              <a:cs typeface="Calibri"/>
              <a:sym typeface="Calibri"/>
            </a:endParaRPr>
          </a:p>
        </p:txBody>
      </p:sp>
      <p:sp>
        <p:nvSpPr>
          <p:cNvPr id="36" name="Google Shape;36;p5"/>
          <p:cNvSpPr/>
          <p:nvPr/>
        </p:nvSpPr>
        <p:spPr>
          <a:xfrm>
            <a:off x="6400800" y="2194560"/>
            <a:ext cx="4937760" cy="1463040"/>
          </a:xfrm>
          <a:prstGeom prst="rect">
            <a:avLst/>
          </a:prstGeom>
          <a:noFill/>
          <a:ln>
            <a:noFill/>
          </a:ln>
        </p:spPr>
        <p:txBody>
          <a:bodyPr anchorCtr="0" anchor="ctr" bIns="0" lIns="0" spcFirstLastPara="1" rIns="0" wrap="square" tIns="0">
            <a:noAutofit/>
          </a:bodyPr>
          <a:lstStyle/>
          <a:p>
            <a:pPr indent="0" lvl="0" marL="0" marR="0" rtl="0" algn="l">
              <a:lnSpc>
                <a:spcPct val="110000"/>
              </a:lnSpc>
              <a:spcBef>
                <a:spcPts val="0"/>
              </a:spcBef>
              <a:spcAft>
                <a:spcPts val="0"/>
              </a:spcAft>
              <a:buClr>
                <a:srgbClr val="F7F3E9"/>
              </a:buClr>
              <a:buSzPts val="3000"/>
              <a:buFont typeface="Playfair Display"/>
              <a:buNone/>
            </a:pPr>
            <a:r>
              <a:rPr lang="en-US" sz="3000">
                <a:solidFill>
                  <a:srgbClr val="F7F3E9"/>
                </a:solidFill>
                <a:latin typeface="Playfair Display"/>
                <a:ea typeface="Playfair Display"/>
                <a:cs typeface="Playfair Display"/>
                <a:sym typeface="Playfair Display"/>
              </a:rPr>
              <a:t>emails a day is not a communication strategy.</a:t>
            </a:r>
            <a:endParaRPr sz="3000">
              <a:solidFill>
                <a:schemeClr val="dk1"/>
              </a:solidFill>
              <a:latin typeface="Calibri"/>
              <a:ea typeface="Calibri"/>
              <a:cs typeface="Calibri"/>
              <a:sym typeface="Calibri"/>
            </a:endParaRPr>
          </a:p>
        </p:txBody>
      </p:sp>
      <p:sp>
        <p:nvSpPr>
          <p:cNvPr id="37" name="Google Shape;37;p5"/>
          <p:cNvSpPr/>
          <p:nvPr/>
        </p:nvSpPr>
        <p:spPr>
          <a:xfrm>
            <a:off x="6400800" y="3749040"/>
            <a:ext cx="4754880" cy="1097280"/>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Clr>
                <a:srgbClr val="AFA893"/>
              </a:buClr>
              <a:buSzPts val="1500"/>
              <a:buFont typeface="Inter"/>
              <a:buNone/>
            </a:pPr>
            <a:r>
              <a:rPr i="1" lang="en-US" sz="1500">
                <a:solidFill>
                  <a:srgbClr val="AFA893"/>
                </a:solidFill>
                <a:latin typeface="Inter"/>
                <a:ea typeface="Inter"/>
                <a:cs typeface="Inter"/>
                <a:sym typeface="Inter"/>
              </a:rPr>
              <a:t>It’s a second job you never applied for.</a:t>
            </a:r>
            <a:endParaRPr sz="1500">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3E9"/>
        </a:solidFill>
      </p:bgPr>
    </p:bg>
    <p:spTree>
      <p:nvGrpSpPr>
        <p:cNvPr id="42" name="Shape 42"/>
        <p:cNvGrpSpPr/>
        <p:nvPr/>
      </p:nvGrpSpPr>
      <p:grpSpPr>
        <a:xfrm>
          <a:off x="0" y="0"/>
          <a:ext cx="0" cy="0"/>
          <a:chOff x="0" y="0"/>
          <a:chExt cx="0" cy="0"/>
        </a:xfrm>
      </p:grpSpPr>
      <p:sp>
        <p:nvSpPr>
          <p:cNvPr id="43" name="Google Shape;43;p6"/>
          <p:cNvSpPr/>
          <p:nvPr/>
        </p:nvSpPr>
        <p:spPr>
          <a:xfrm>
            <a:off x="822960" y="502920"/>
            <a:ext cx="10545775"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9A227"/>
              </a:buClr>
              <a:buSzPts val="1200"/>
              <a:buFont typeface="Inter"/>
              <a:buNone/>
            </a:pPr>
            <a:r>
              <a:rPr b="1" lang="en-US" sz="1200">
                <a:solidFill>
                  <a:srgbClr val="C9A227"/>
                </a:solidFill>
                <a:latin typeface="Inter"/>
                <a:ea typeface="Inter"/>
                <a:cs typeface="Inter"/>
                <a:sym typeface="Inter"/>
              </a:rPr>
              <a:t>THE FIX</a:t>
            </a:r>
            <a:endParaRPr sz="1200">
              <a:solidFill>
                <a:schemeClr val="dk1"/>
              </a:solidFill>
              <a:latin typeface="Calibri"/>
              <a:ea typeface="Calibri"/>
              <a:cs typeface="Calibri"/>
              <a:sym typeface="Calibri"/>
            </a:endParaRPr>
          </a:p>
        </p:txBody>
      </p:sp>
      <p:sp>
        <p:nvSpPr>
          <p:cNvPr id="44" name="Google Shape;44;p6"/>
          <p:cNvSpPr/>
          <p:nvPr/>
        </p:nvSpPr>
        <p:spPr>
          <a:xfrm>
            <a:off x="822960" y="1051560"/>
            <a:ext cx="10545775" cy="1920240"/>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A31621"/>
              </a:buClr>
              <a:buSzPts val="2100"/>
              <a:buFont typeface="Playfair Display"/>
              <a:buNone/>
            </a:pPr>
            <a:r>
              <a:rPr i="1" lang="en-US" sz="2100">
                <a:solidFill>
                  <a:srgbClr val="A31621"/>
                </a:solidFill>
                <a:latin typeface="Playfair Display"/>
                <a:ea typeface="Playfair Display"/>
                <a:cs typeface="Playfair Display"/>
                <a:sym typeface="Playfair Display"/>
              </a:rPr>
              <a:t>“If you want somebody to just sit at her desk, answer your phones and pick up your dry cleaning, then put out a want ad, because that’s not me.”</a:t>
            </a:r>
            <a:endParaRPr sz="2100">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2100"/>
              <a:buFont typeface="Calibri"/>
              <a:buNone/>
            </a:pPr>
            <a:r>
              <a:t/>
            </a:r>
            <a:endParaRPr sz="2100">
              <a:solidFill>
                <a:schemeClr val="dk1"/>
              </a:solidFill>
              <a:latin typeface="Calibri"/>
              <a:ea typeface="Calibri"/>
              <a:cs typeface="Calibri"/>
              <a:sym typeface="Calibri"/>
            </a:endParaRPr>
          </a:p>
          <a:p>
            <a:pPr indent="0" lvl="0" marL="0" marR="0" rtl="0" algn="l">
              <a:spcBef>
                <a:spcPts val="0"/>
              </a:spcBef>
              <a:spcAft>
                <a:spcPts val="0"/>
              </a:spcAft>
              <a:buClr>
                <a:srgbClr val="14213D"/>
              </a:buClr>
              <a:buSzPts val="1050"/>
              <a:buFont typeface="Inter"/>
              <a:buNone/>
            </a:pPr>
            <a:r>
              <a:rPr b="1" lang="en-US" sz="1050">
                <a:solidFill>
                  <a:srgbClr val="14213D"/>
                </a:solidFill>
                <a:latin typeface="Inter"/>
                <a:ea typeface="Inter"/>
                <a:cs typeface="Inter"/>
                <a:sym typeface="Inter"/>
              </a:rPr>
              <a:t>— DONNA PAULSEN, SUITS</a:t>
            </a:r>
            <a:endParaRPr sz="2100">
              <a:solidFill>
                <a:schemeClr val="dk1"/>
              </a:solidFill>
              <a:latin typeface="Calibri"/>
              <a:ea typeface="Calibri"/>
              <a:cs typeface="Calibri"/>
              <a:sym typeface="Calibri"/>
            </a:endParaRPr>
          </a:p>
        </p:txBody>
      </p:sp>
      <p:sp>
        <p:nvSpPr>
          <p:cNvPr id="45" name="Google Shape;45;p6"/>
          <p:cNvSpPr/>
          <p:nvPr/>
        </p:nvSpPr>
        <p:spPr>
          <a:xfrm>
            <a:off x="822960" y="3291840"/>
            <a:ext cx="10545775" cy="10972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4213D"/>
              </a:buClr>
              <a:buSzPts val="3600"/>
              <a:buFont typeface="Playfair Display"/>
              <a:buNone/>
            </a:pPr>
            <a:r>
              <a:rPr b="1" lang="en-US" sz="3600">
                <a:solidFill>
                  <a:srgbClr val="14213D"/>
                </a:solidFill>
                <a:latin typeface="Playfair Display"/>
                <a:ea typeface="Playfair Display"/>
                <a:cs typeface="Playfair Display"/>
                <a:sym typeface="Playfair Display"/>
              </a:rPr>
              <a:t>You don’t need a better inbox. You need a Donna.</a:t>
            </a:r>
            <a:endParaRPr sz="3600">
              <a:solidFill>
                <a:schemeClr val="dk1"/>
              </a:solidFill>
              <a:latin typeface="Calibri"/>
              <a:ea typeface="Calibri"/>
              <a:cs typeface="Calibri"/>
              <a:sym typeface="Calibri"/>
            </a:endParaRPr>
          </a:p>
        </p:txBody>
      </p:sp>
      <p:sp>
        <p:nvSpPr>
          <p:cNvPr id="46" name="Google Shape;46;p6"/>
          <p:cNvSpPr/>
          <p:nvPr/>
        </p:nvSpPr>
        <p:spPr>
          <a:xfrm>
            <a:off x="896112" y="4992624"/>
            <a:ext cx="128016" cy="128016"/>
          </a:xfrm>
          <a:prstGeom prst="diamond">
            <a:avLst/>
          </a:prstGeom>
          <a:solidFill>
            <a:srgbClr val="C9A227"/>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7" name="Google Shape;47;p6"/>
          <p:cNvSpPr/>
          <p:nvPr/>
        </p:nvSpPr>
        <p:spPr>
          <a:xfrm>
            <a:off x="1234440" y="4526280"/>
            <a:ext cx="9722815" cy="1188720"/>
          </a:xfrm>
          <a:prstGeom prst="rect">
            <a:avLst/>
          </a:prstGeom>
          <a:noFill/>
          <a:ln>
            <a:noFill/>
          </a:ln>
        </p:spPr>
        <p:txBody>
          <a:bodyPr anchorCtr="0" anchor="ctr" bIns="0" lIns="0" spcFirstLastPara="1" rIns="0" wrap="square" tIns="0">
            <a:noAutofit/>
          </a:bodyPr>
          <a:lstStyle/>
          <a:p>
            <a:pPr indent="0" lvl="0" marL="0" marR="0" rtl="0" algn="l">
              <a:lnSpc>
                <a:spcPct val="125000"/>
              </a:lnSpc>
              <a:spcBef>
                <a:spcPts val="0"/>
              </a:spcBef>
              <a:spcAft>
                <a:spcPts val="0"/>
              </a:spcAft>
              <a:buClr>
                <a:srgbClr val="1C2333"/>
              </a:buClr>
              <a:buSzPts val="1800"/>
              <a:buFont typeface="Inter"/>
              <a:buNone/>
            </a:pPr>
            <a:r>
              <a:rPr lang="en-US" sz="1800">
                <a:solidFill>
                  <a:srgbClr val="1C2333"/>
                </a:solidFill>
                <a:latin typeface="Inter"/>
                <a:ea typeface="Inter"/>
                <a:cs typeface="Inter"/>
                <a:sym typeface="Inter"/>
              </a:rPr>
              <a:t>In the show’s final seasons, the firm builds an AI assistant modeled on her. They call it “The Donna.”  </a:t>
            </a:r>
            <a:endParaRPr/>
          </a:p>
          <a:p>
            <a:pPr indent="0" lvl="0" marL="0" marR="0" rtl="0" algn="l">
              <a:lnSpc>
                <a:spcPct val="125000"/>
              </a:lnSpc>
              <a:spcBef>
                <a:spcPts val="0"/>
              </a:spcBef>
              <a:spcAft>
                <a:spcPts val="0"/>
              </a:spcAft>
              <a:buClr>
                <a:srgbClr val="14213D"/>
              </a:buClr>
              <a:buSzPts val="1800"/>
              <a:buFont typeface="Inter"/>
              <a:buNone/>
            </a:pPr>
            <a:r>
              <a:rPr b="1" lang="en-US" sz="1800">
                <a:solidFill>
                  <a:srgbClr val="14213D"/>
                </a:solidFill>
                <a:latin typeface="Inter"/>
                <a:ea typeface="Inter"/>
                <a:cs typeface="Inter"/>
                <a:sym typeface="Inter"/>
              </a:rPr>
              <a:t>The show built The Donna as fiction. You’re going to build yours for real. It’ll take about 90 minutes.</a:t>
            </a:r>
            <a:endParaRPr sz="1800">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4213D"/>
        </a:solidFill>
      </p:bgPr>
    </p:bg>
    <p:spTree>
      <p:nvGrpSpPr>
        <p:cNvPr id="52" name="Shape 52"/>
        <p:cNvGrpSpPr/>
        <p:nvPr/>
      </p:nvGrpSpPr>
      <p:grpSpPr>
        <a:xfrm>
          <a:off x="0" y="0"/>
          <a:ext cx="0" cy="0"/>
          <a:chOff x="0" y="0"/>
          <a:chExt cx="0" cy="0"/>
        </a:xfrm>
      </p:grpSpPr>
      <p:sp>
        <p:nvSpPr>
          <p:cNvPr id="53" name="Google Shape;53;p7"/>
          <p:cNvSpPr/>
          <p:nvPr/>
        </p:nvSpPr>
        <p:spPr>
          <a:xfrm>
            <a:off x="822960" y="502920"/>
            <a:ext cx="10545775"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DB94A"/>
              </a:buClr>
              <a:buSzPts val="1200"/>
              <a:buFont typeface="Inter"/>
              <a:buNone/>
            </a:pPr>
            <a:r>
              <a:rPr b="1" lang="en-US" sz="1200">
                <a:solidFill>
                  <a:srgbClr val="DDB94A"/>
                </a:solidFill>
                <a:latin typeface="Inter"/>
                <a:ea typeface="Inter"/>
                <a:cs typeface="Inter"/>
                <a:sym typeface="Inter"/>
              </a:rPr>
              <a:t>THE PLAN </a:t>
            </a:r>
            <a:endParaRPr sz="1200">
              <a:solidFill>
                <a:schemeClr val="dk1"/>
              </a:solidFill>
              <a:latin typeface="Calibri"/>
              <a:ea typeface="Calibri"/>
              <a:cs typeface="Calibri"/>
              <a:sym typeface="Calibri"/>
            </a:endParaRPr>
          </a:p>
        </p:txBody>
      </p:sp>
      <p:sp>
        <p:nvSpPr>
          <p:cNvPr id="54" name="Google Shape;54;p7"/>
          <p:cNvSpPr/>
          <p:nvPr/>
        </p:nvSpPr>
        <p:spPr>
          <a:xfrm>
            <a:off x="822960" y="868680"/>
            <a:ext cx="10545775" cy="7772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7F3E9"/>
              </a:buClr>
              <a:buSzPts val="3800"/>
              <a:buFont typeface="Playfair Display"/>
              <a:buNone/>
            </a:pPr>
            <a:r>
              <a:rPr b="1" lang="en-US" sz="3800">
                <a:solidFill>
                  <a:srgbClr val="F7F3E9"/>
                </a:solidFill>
                <a:latin typeface="Playfair Display"/>
                <a:ea typeface="Playfair Display"/>
                <a:cs typeface="Playfair Display"/>
                <a:sym typeface="Playfair Display"/>
              </a:rPr>
              <a:t>The hiring arc</a:t>
            </a:r>
            <a:endParaRPr sz="3800">
              <a:solidFill>
                <a:schemeClr val="dk1"/>
              </a:solidFill>
              <a:latin typeface="Calibri"/>
              <a:ea typeface="Calibri"/>
              <a:cs typeface="Calibri"/>
              <a:sym typeface="Calibri"/>
            </a:endParaRPr>
          </a:p>
        </p:txBody>
      </p:sp>
      <p:sp>
        <p:nvSpPr>
          <p:cNvPr id="55" name="Google Shape;55;p7"/>
          <p:cNvSpPr/>
          <p:nvPr/>
        </p:nvSpPr>
        <p:spPr>
          <a:xfrm>
            <a:off x="822960" y="2011680"/>
            <a:ext cx="2542032" cy="3108960"/>
          </a:xfrm>
          <a:prstGeom prst="roundRect">
            <a:avLst>
              <a:gd fmla="val 2158" name="adj"/>
            </a:avLst>
          </a:prstGeom>
          <a:solidFill>
            <a:srgbClr val="1B2A4A"/>
          </a:solidFill>
          <a:ln cap="flat" cmpd="sng" w="9525">
            <a:solidFill>
              <a:srgbClr val="C9A227">
                <a:alpha val="65098"/>
              </a:srgbClr>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6" name="Google Shape;56;p7"/>
          <p:cNvSpPr/>
          <p:nvPr/>
        </p:nvSpPr>
        <p:spPr>
          <a:xfrm>
            <a:off x="1097280" y="2108343"/>
            <a:ext cx="1993392"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9A227"/>
              </a:buClr>
              <a:buSzPts val="2600"/>
              <a:buFont typeface="Playfair Display"/>
              <a:buNone/>
            </a:pPr>
            <a:r>
              <a:rPr b="1" lang="en-US" sz="2600">
                <a:solidFill>
                  <a:srgbClr val="C9A227"/>
                </a:solidFill>
                <a:latin typeface="Playfair Display"/>
                <a:ea typeface="Playfair Display"/>
                <a:cs typeface="Playfair Display"/>
                <a:sym typeface="Playfair Display"/>
              </a:rPr>
              <a:t>01</a:t>
            </a:r>
            <a:endParaRPr sz="2600">
              <a:solidFill>
                <a:schemeClr val="dk1"/>
              </a:solidFill>
              <a:latin typeface="Calibri"/>
              <a:ea typeface="Calibri"/>
              <a:cs typeface="Calibri"/>
              <a:sym typeface="Calibri"/>
            </a:endParaRPr>
          </a:p>
        </p:txBody>
      </p:sp>
      <p:sp>
        <p:nvSpPr>
          <p:cNvPr id="57" name="Google Shape;57;p7"/>
          <p:cNvSpPr/>
          <p:nvPr/>
        </p:nvSpPr>
        <p:spPr>
          <a:xfrm>
            <a:off x="1097280" y="2526355"/>
            <a:ext cx="1993392"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7F3E9"/>
              </a:buClr>
              <a:buSzPts val="1250"/>
              <a:buFont typeface="Inter"/>
              <a:buNone/>
            </a:pPr>
            <a:r>
              <a:rPr b="1" lang="en-US" sz="1250">
                <a:solidFill>
                  <a:srgbClr val="F7F3E9"/>
                </a:solidFill>
                <a:latin typeface="Inter"/>
                <a:ea typeface="Inter"/>
                <a:cs typeface="Inter"/>
                <a:sym typeface="Inter"/>
              </a:rPr>
              <a:t>THE INTERVIEW</a:t>
            </a:r>
            <a:endParaRPr sz="1250">
              <a:solidFill>
                <a:schemeClr val="dk1"/>
              </a:solidFill>
              <a:latin typeface="Calibri"/>
              <a:ea typeface="Calibri"/>
              <a:cs typeface="Calibri"/>
              <a:sym typeface="Calibri"/>
            </a:endParaRPr>
          </a:p>
          <a:p>
            <a:pPr indent="0" lvl="0" marL="0" marR="0" rtl="0" algn="l">
              <a:spcBef>
                <a:spcPts val="0"/>
              </a:spcBef>
              <a:spcAft>
                <a:spcPts val="0"/>
              </a:spcAft>
              <a:buClr>
                <a:srgbClr val="F7F3E9"/>
              </a:buClr>
              <a:buSzPts val="1250"/>
              <a:buFont typeface="Inter"/>
              <a:buNone/>
            </a:pPr>
            <a:r>
              <a:rPr b="1" lang="en-US" sz="1250">
                <a:solidFill>
                  <a:srgbClr val="F7F3E9"/>
                </a:solidFill>
                <a:latin typeface="Inter"/>
                <a:ea typeface="Inter"/>
                <a:cs typeface="Inter"/>
                <a:sym typeface="Inter"/>
              </a:rPr>
              <a:t>CHAT · ~10 MIN</a:t>
            </a:r>
            <a:endParaRPr sz="1250">
              <a:solidFill>
                <a:schemeClr val="dk1"/>
              </a:solidFill>
              <a:latin typeface="Calibri"/>
              <a:ea typeface="Calibri"/>
              <a:cs typeface="Calibri"/>
              <a:sym typeface="Calibri"/>
            </a:endParaRPr>
          </a:p>
        </p:txBody>
      </p:sp>
      <p:sp>
        <p:nvSpPr>
          <p:cNvPr id="58" name="Google Shape;58;p7"/>
          <p:cNvSpPr/>
          <p:nvPr/>
        </p:nvSpPr>
        <p:spPr>
          <a:xfrm>
            <a:off x="1097280" y="3310128"/>
            <a:ext cx="1993392" cy="1235746"/>
          </a:xfrm>
          <a:prstGeom prst="rect">
            <a:avLst/>
          </a:prstGeom>
          <a:noFill/>
          <a:ln>
            <a:noFill/>
          </a:ln>
        </p:spPr>
        <p:txBody>
          <a:bodyPr anchorCtr="0" anchor="ctr" bIns="0" lIns="0" spcFirstLastPara="1" rIns="0" wrap="square" tIns="0">
            <a:noAutofit/>
          </a:bodyPr>
          <a:lstStyle/>
          <a:p>
            <a:pPr indent="0" lvl="0" marL="0" marR="0" rtl="0" algn="l">
              <a:lnSpc>
                <a:spcPct val="110000"/>
              </a:lnSpc>
              <a:spcBef>
                <a:spcPts val="0"/>
              </a:spcBef>
              <a:spcAft>
                <a:spcPts val="0"/>
              </a:spcAft>
              <a:buClr>
                <a:srgbClr val="AFA893"/>
              </a:buClr>
              <a:buSzPts val="1600"/>
              <a:buFont typeface="Inter"/>
              <a:buNone/>
            </a:pPr>
            <a:r>
              <a:rPr i="1" lang="en-US">
                <a:solidFill>
                  <a:srgbClr val="AFA893"/>
                </a:solidFill>
                <a:latin typeface="Inter"/>
                <a:ea typeface="Inter"/>
                <a:cs typeface="Inter"/>
                <a:sym typeface="Inter"/>
              </a:rPr>
              <a:t>She reads your inbox and drafts her first reply. You decide if she’s hired.</a:t>
            </a:r>
            <a:endParaRPr>
              <a:solidFill>
                <a:schemeClr val="dk1"/>
              </a:solidFill>
              <a:latin typeface="Calibri"/>
              <a:ea typeface="Calibri"/>
              <a:cs typeface="Calibri"/>
              <a:sym typeface="Calibri"/>
            </a:endParaRPr>
          </a:p>
        </p:txBody>
      </p:sp>
      <p:sp>
        <p:nvSpPr>
          <p:cNvPr id="59" name="Google Shape;59;p7"/>
          <p:cNvSpPr/>
          <p:nvPr/>
        </p:nvSpPr>
        <p:spPr>
          <a:xfrm>
            <a:off x="3584448" y="2011680"/>
            <a:ext cx="2542032" cy="3108960"/>
          </a:xfrm>
          <a:prstGeom prst="roundRect">
            <a:avLst>
              <a:gd fmla="val 2158" name="adj"/>
            </a:avLst>
          </a:prstGeom>
          <a:solidFill>
            <a:srgbClr val="1B2A4A"/>
          </a:solidFill>
          <a:ln cap="flat" cmpd="sng" w="9525">
            <a:solidFill>
              <a:srgbClr val="C9A227">
                <a:alpha val="65098"/>
              </a:srgbClr>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0" name="Google Shape;60;p7"/>
          <p:cNvSpPr/>
          <p:nvPr/>
        </p:nvSpPr>
        <p:spPr>
          <a:xfrm>
            <a:off x="3858768" y="2108343"/>
            <a:ext cx="1993392"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9A227"/>
              </a:buClr>
              <a:buSzPts val="2600"/>
              <a:buFont typeface="Playfair Display"/>
              <a:buNone/>
            </a:pPr>
            <a:r>
              <a:rPr b="1" lang="en-US" sz="2600">
                <a:solidFill>
                  <a:srgbClr val="C9A227"/>
                </a:solidFill>
                <a:latin typeface="Playfair Display"/>
                <a:ea typeface="Playfair Display"/>
                <a:cs typeface="Playfair Display"/>
                <a:sym typeface="Playfair Display"/>
              </a:rPr>
              <a:t>02</a:t>
            </a:r>
            <a:endParaRPr sz="2600">
              <a:solidFill>
                <a:schemeClr val="dk1"/>
              </a:solidFill>
              <a:latin typeface="Calibri"/>
              <a:ea typeface="Calibri"/>
              <a:cs typeface="Calibri"/>
              <a:sym typeface="Calibri"/>
            </a:endParaRPr>
          </a:p>
        </p:txBody>
      </p:sp>
      <p:sp>
        <p:nvSpPr>
          <p:cNvPr id="61" name="Google Shape;61;p7"/>
          <p:cNvSpPr/>
          <p:nvPr/>
        </p:nvSpPr>
        <p:spPr>
          <a:xfrm>
            <a:off x="3858768" y="2526355"/>
            <a:ext cx="1993392"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7F3E9"/>
              </a:buClr>
              <a:buSzPts val="1250"/>
              <a:buFont typeface="Inter"/>
              <a:buNone/>
            </a:pPr>
            <a:r>
              <a:rPr b="1" lang="en-US" sz="1250">
                <a:solidFill>
                  <a:srgbClr val="F7F3E9"/>
                </a:solidFill>
                <a:latin typeface="Inter"/>
                <a:ea typeface="Inter"/>
                <a:cs typeface="Inter"/>
                <a:sym typeface="Inter"/>
              </a:rPr>
              <a:t>FIRST</a:t>
            </a:r>
            <a:r>
              <a:rPr lang="en-US" sz="1250">
                <a:solidFill>
                  <a:schemeClr val="dk1"/>
                </a:solidFill>
                <a:latin typeface="Calibri"/>
                <a:ea typeface="Calibri"/>
                <a:cs typeface="Calibri"/>
                <a:sym typeface="Calibri"/>
              </a:rPr>
              <a:t> </a:t>
            </a:r>
            <a:r>
              <a:rPr b="1" lang="en-US" sz="1250">
                <a:solidFill>
                  <a:srgbClr val="F7F3E9"/>
                </a:solidFill>
                <a:latin typeface="Inter"/>
                <a:ea typeface="Inter"/>
                <a:cs typeface="Inter"/>
                <a:sym typeface="Inter"/>
              </a:rPr>
              <a:t>PROJECT · </a:t>
            </a:r>
            <a:endParaRPr/>
          </a:p>
          <a:p>
            <a:pPr indent="0" lvl="0" marL="0" marR="0" rtl="0" algn="l">
              <a:spcBef>
                <a:spcPts val="0"/>
              </a:spcBef>
              <a:spcAft>
                <a:spcPts val="0"/>
              </a:spcAft>
              <a:buClr>
                <a:srgbClr val="F7F3E9"/>
              </a:buClr>
              <a:buSzPts val="1250"/>
              <a:buFont typeface="Inter"/>
              <a:buNone/>
            </a:pPr>
            <a:r>
              <a:rPr b="1" lang="en-US" sz="1250">
                <a:solidFill>
                  <a:srgbClr val="F7F3E9"/>
                </a:solidFill>
                <a:latin typeface="Inter"/>
                <a:ea typeface="Inter"/>
                <a:cs typeface="Inter"/>
                <a:sym typeface="Inter"/>
              </a:rPr>
              <a:t>~15 MIN</a:t>
            </a:r>
            <a:endParaRPr sz="1250">
              <a:solidFill>
                <a:schemeClr val="dk1"/>
              </a:solidFill>
              <a:latin typeface="Calibri"/>
              <a:ea typeface="Calibri"/>
              <a:cs typeface="Calibri"/>
              <a:sym typeface="Calibri"/>
            </a:endParaRPr>
          </a:p>
        </p:txBody>
      </p:sp>
      <p:sp>
        <p:nvSpPr>
          <p:cNvPr id="62" name="Google Shape;62;p7"/>
          <p:cNvSpPr/>
          <p:nvPr/>
        </p:nvSpPr>
        <p:spPr>
          <a:xfrm>
            <a:off x="3858768" y="3310128"/>
            <a:ext cx="1993392" cy="1235746"/>
          </a:xfrm>
          <a:prstGeom prst="rect">
            <a:avLst/>
          </a:prstGeom>
          <a:noFill/>
          <a:ln>
            <a:noFill/>
          </a:ln>
        </p:spPr>
        <p:txBody>
          <a:bodyPr anchorCtr="0" anchor="ctr" bIns="0" lIns="0" spcFirstLastPara="1" rIns="0" wrap="square" tIns="0">
            <a:noAutofit/>
          </a:bodyPr>
          <a:lstStyle/>
          <a:p>
            <a:pPr indent="0" lvl="0" marL="0" marR="0" rtl="0" algn="l">
              <a:lnSpc>
                <a:spcPct val="110000"/>
              </a:lnSpc>
              <a:spcBef>
                <a:spcPts val="0"/>
              </a:spcBef>
              <a:spcAft>
                <a:spcPts val="0"/>
              </a:spcAft>
              <a:buClr>
                <a:srgbClr val="AFA893"/>
              </a:buClr>
              <a:buSzPts val="1600"/>
              <a:buFont typeface="Inter"/>
              <a:buNone/>
            </a:pPr>
            <a:r>
              <a:rPr i="1" lang="en-US">
                <a:solidFill>
                  <a:srgbClr val="AFA893"/>
                </a:solidFill>
                <a:latin typeface="Inter"/>
                <a:ea typeface="Inter"/>
                <a:cs typeface="Inter"/>
                <a:sym typeface="Inter"/>
              </a:rPr>
              <a:t>You brief her once: your people, your priorities, your voice. She remembers.</a:t>
            </a:r>
            <a:endParaRPr>
              <a:solidFill>
                <a:schemeClr val="dk1"/>
              </a:solidFill>
              <a:latin typeface="Calibri"/>
              <a:ea typeface="Calibri"/>
              <a:cs typeface="Calibri"/>
              <a:sym typeface="Calibri"/>
            </a:endParaRPr>
          </a:p>
        </p:txBody>
      </p:sp>
      <p:sp>
        <p:nvSpPr>
          <p:cNvPr id="63" name="Google Shape;63;p7"/>
          <p:cNvSpPr/>
          <p:nvPr/>
        </p:nvSpPr>
        <p:spPr>
          <a:xfrm>
            <a:off x="6345936" y="2011680"/>
            <a:ext cx="2542032" cy="3108960"/>
          </a:xfrm>
          <a:prstGeom prst="roundRect">
            <a:avLst>
              <a:gd fmla="val 2158" name="adj"/>
            </a:avLst>
          </a:prstGeom>
          <a:solidFill>
            <a:srgbClr val="1B2A4A"/>
          </a:solidFill>
          <a:ln cap="flat" cmpd="sng" w="9525">
            <a:solidFill>
              <a:srgbClr val="C9A227">
                <a:alpha val="65098"/>
              </a:srgbClr>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4" name="Google Shape;64;p7"/>
          <p:cNvSpPr/>
          <p:nvPr/>
        </p:nvSpPr>
        <p:spPr>
          <a:xfrm>
            <a:off x="6620256" y="2108343"/>
            <a:ext cx="1993392"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9A227"/>
              </a:buClr>
              <a:buSzPts val="2600"/>
              <a:buFont typeface="Playfair Display"/>
              <a:buNone/>
            </a:pPr>
            <a:r>
              <a:rPr b="1" lang="en-US" sz="2600">
                <a:solidFill>
                  <a:srgbClr val="C9A227"/>
                </a:solidFill>
                <a:latin typeface="Playfair Display"/>
                <a:ea typeface="Playfair Display"/>
                <a:cs typeface="Playfair Display"/>
                <a:sym typeface="Playfair Display"/>
              </a:rPr>
              <a:t>03</a:t>
            </a:r>
            <a:endParaRPr sz="2600">
              <a:solidFill>
                <a:schemeClr val="dk1"/>
              </a:solidFill>
              <a:latin typeface="Calibri"/>
              <a:ea typeface="Calibri"/>
              <a:cs typeface="Calibri"/>
              <a:sym typeface="Calibri"/>
            </a:endParaRPr>
          </a:p>
        </p:txBody>
      </p:sp>
      <p:sp>
        <p:nvSpPr>
          <p:cNvPr id="65" name="Google Shape;65;p7"/>
          <p:cNvSpPr/>
          <p:nvPr/>
        </p:nvSpPr>
        <p:spPr>
          <a:xfrm>
            <a:off x="6620256" y="2526355"/>
            <a:ext cx="1993392"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7F3E9"/>
              </a:buClr>
              <a:buSzPts val="1250"/>
              <a:buFont typeface="Inter"/>
              <a:buNone/>
            </a:pPr>
            <a:r>
              <a:rPr b="1" lang="en-US" sz="1250">
                <a:solidFill>
                  <a:srgbClr val="F7F3E9"/>
                </a:solidFill>
                <a:latin typeface="Inter"/>
                <a:ea typeface="Inter"/>
                <a:cs typeface="Inter"/>
                <a:sym typeface="Inter"/>
              </a:rPr>
              <a:t>HER PLAYBOOK</a:t>
            </a:r>
            <a:r>
              <a:rPr lang="en-US" sz="1250">
                <a:solidFill>
                  <a:schemeClr val="dk1"/>
                </a:solidFill>
                <a:latin typeface="Calibri"/>
                <a:ea typeface="Calibri"/>
                <a:cs typeface="Calibri"/>
                <a:sym typeface="Calibri"/>
              </a:rPr>
              <a:t> </a:t>
            </a:r>
            <a:r>
              <a:rPr b="1" lang="en-US" sz="1250">
                <a:solidFill>
                  <a:srgbClr val="F7F3E9"/>
                </a:solidFill>
                <a:latin typeface="Inter"/>
                <a:ea typeface="Inter"/>
                <a:cs typeface="Inter"/>
                <a:sym typeface="Inter"/>
              </a:rPr>
              <a:t>· </a:t>
            </a:r>
            <a:endParaRPr/>
          </a:p>
          <a:p>
            <a:pPr indent="0" lvl="0" marL="0" marR="0" rtl="0" algn="l">
              <a:spcBef>
                <a:spcPts val="0"/>
              </a:spcBef>
              <a:spcAft>
                <a:spcPts val="0"/>
              </a:spcAft>
              <a:buClr>
                <a:srgbClr val="F7F3E9"/>
              </a:buClr>
              <a:buSzPts val="1250"/>
              <a:buFont typeface="Inter"/>
              <a:buNone/>
            </a:pPr>
            <a:r>
              <a:rPr b="1" lang="en-US" sz="1250">
                <a:solidFill>
                  <a:srgbClr val="F7F3E9"/>
                </a:solidFill>
                <a:latin typeface="Inter"/>
                <a:ea typeface="Inter"/>
                <a:cs typeface="Inter"/>
                <a:sym typeface="Inter"/>
              </a:rPr>
              <a:t>~20 MIN</a:t>
            </a:r>
            <a:endParaRPr sz="1250">
              <a:solidFill>
                <a:schemeClr val="dk1"/>
              </a:solidFill>
              <a:latin typeface="Calibri"/>
              <a:ea typeface="Calibri"/>
              <a:cs typeface="Calibri"/>
              <a:sym typeface="Calibri"/>
            </a:endParaRPr>
          </a:p>
        </p:txBody>
      </p:sp>
      <p:sp>
        <p:nvSpPr>
          <p:cNvPr id="66" name="Google Shape;66;p7"/>
          <p:cNvSpPr/>
          <p:nvPr/>
        </p:nvSpPr>
        <p:spPr>
          <a:xfrm>
            <a:off x="6620256" y="3310128"/>
            <a:ext cx="1993392" cy="1235746"/>
          </a:xfrm>
          <a:prstGeom prst="rect">
            <a:avLst/>
          </a:prstGeom>
          <a:noFill/>
          <a:ln>
            <a:noFill/>
          </a:ln>
        </p:spPr>
        <p:txBody>
          <a:bodyPr anchorCtr="0" anchor="ctr" bIns="0" lIns="0" spcFirstLastPara="1" rIns="0" wrap="square" tIns="0">
            <a:noAutofit/>
          </a:bodyPr>
          <a:lstStyle/>
          <a:p>
            <a:pPr indent="0" lvl="0" marL="0" marR="0" rtl="0" algn="l">
              <a:lnSpc>
                <a:spcPct val="110000"/>
              </a:lnSpc>
              <a:spcBef>
                <a:spcPts val="0"/>
              </a:spcBef>
              <a:spcAft>
                <a:spcPts val="0"/>
              </a:spcAft>
              <a:buClr>
                <a:srgbClr val="AFA893"/>
              </a:buClr>
              <a:buSzPts val="1600"/>
              <a:buFont typeface="Inter"/>
              <a:buNone/>
            </a:pPr>
            <a:r>
              <a:rPr i="1" lang="en-US">
                <a:solidFill>
                  <a:srgbClr val="AFA893"/>
                </a:solidFill>
                <a:latin typeface="Inter"/>
                <a:ea typeface="Inter"/>
                <a:cs typeface="Inter"/>
                <a:sym typeface="Inter"/>
              </a:rPr>
              <a:t>Your reply rules become a skill she carries everywhere. Drafts only, never sends.</a:t>
            </a:r>
            <a:endParaRPr>
              <a:solidFill>
                <a:schemeClr val="dk1"/>
              </a:solidFill>
              <a:latin typeface="Calibri"/>
              <a:ea typeface="Calibri"/>
              <a:cs typeface="Calibri"/>
              <a:sym typeface="Calibri"/>
            </a:endParaRPr>
          </a:p>
        </p:txBody>
      </p:sp>
      <p:sp>
        <p:nvSpPr>
          <p:cNvPr id="67" name="Google Shape;67;p7"/>
          <p:cNvSpPr/>
          <p:nvPr/>
        </p:nvSpPr>
        <p:spPr>
          <a:xfrm>
            <a:off x="9107424" y="2011680"/>
            <a:ext cx="2542032" cy="3108960"/>
          </a:xfrm>
          <a:prstGeom prst="roundRect">
            <a:avLst>
              <a:gd fmla="val 2158" name="adj"/>
            </a:avLst>
          </a:prstGeom>
          <a:solidFill>
            <a:srgbClr val="1B2A4A"/>
          </a:solidFill>
          <a:ln cap="flat" cmpd="sng" w="9525">
            <a:solidFill>
              <a:srgbClr val="C9A227">
                <a:alpha val="65098"/>
              </a:srgbClr>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8" name="Google Shape;68;p7"/>
          <p:cNvSpPr/>
          <p:nvPr/>
        </p:nvSpPr>
        <p:spPr>
          <a:xfrm>
            <a:off x="9381744" y="2108343"/>
            <a:ext cx="1993392"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9A227"/>
              </a:buClr>
              <a:buSzPts val="2600"/>
              <a:buFont typeface="Playfair Display"/>
              <a:buNone/>
            </a:pPr>
            <a:r>
              <a:rPr b="1" lang="en-US" sz="2600">
                <a:solidFill>
                  <a:srgbClr val="C9A227"/>
                </a:solidFill>
                <a:latin typeface="Playfair Display"/>
                <a:ea typeface="Playfair Display"/>
                <a:cs typeface="Playfair Display"/>
                <a:sym typeface="Playfair Display"/>
              </a:rPr>
              <a:t>04</a:t>
            </a:r>
            <a:endParaRPr sz="2600">
              <a:solidFill>
                <a:schemeClr val="dk1"/>
              </a:solidFill>
              <a:latin typeface="Calibri"/>
              <a:ea typeface="Calibri"/>
              <a:cs typeface="Calibri"/>
              <a:sym typeface="Calibri"/>
            </a:endParaRPr>
          </a:p>
        </p:txBody>
      </p:sp>
      <p:sp>
        <p:nvSpPr>
          <p:cNvPr id="69" name="Google Shape;69;p7"/>
          <p:cNvSpPr/>
          <p:nvPr/>
        </p:nvSpPr>
        <p:spPr>
          <a:xfrm>
            <a:off x="9381744" y="2526355"/>
            <a:ext cx="1993392"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7F3E9"/>
              </a:buClr>
              <a:buSzPts val="1250"/>
              <a:buFont typeface="Inter"/>
              <a:buNone/>
            </a:pPr>
            <a:r>
              <a:rPr b="1" lang="en-US" sz="1250">
                <a:solidFill>
                  <a:srgbClr val="F7F3E9"/>
                </a:solidFill>
                <a:latin typeface="Inter"/>
                <a:ea typeface="Inter"/>
                <a:cs typeface="Inter"/>
                <a:sym typeface="Inter"/>
              </a:rPr>
              <a:t>THE KEYS</a:t>
            </a:r>
            <a:r>
              <a:rPr lang="en-US" sz="1250">
                <a:solidFill>
                  <a:schemeClr val="dk1"/>
                </a:solidFill>
                <a:latin typeface="Calibri"/>
                <a:ea typeface="Calibri"/>
                <a:cs typeface="Calibri"/>
                <a:sym typeface="Calibri"/>
              </a:rPr>
              <a:t> </a:t>
            </a:r>
            <a:r>
              <a:rPr b="1" lang="en-US" sz="1250">
                <a:solidFill>
                  <a:srgbClr val="F7F3E9"/>
                </a:solidFill>
                <a:latin typeface="Inter"/>
                <a:ea typeface="Inter"/>
                <a:cs typeface="Inter"/>
                <a:sym typeface="Inter"/>
              </a:rPr>
              <a:t>AGENT · </a:t>
            </a:r>
            <a:endParaRPr/>
          </a:p>
          <a:p>
            <a:pPr indent="0" lvl="0" marL="0" marR="0" rtl="0" algn="l">
              <a:spcBef>
                <a:spcPts val="0"/>
              </a:spcBef>
              <a:spcAft>
                <a:spcPts val="0"/>
              </a:spcAft>
              <a:buClr>
                <a:srgbClr val="F7F3E9"/>
              </a:buClr>
              <a:buSzPts val="1250"/>
              <a:buFont typeface="Inter"/>
              <a:buNone/>
            </a:pPr>
            <a:r>
              <a:rPr b="1" lang="en-US" sz="1250">
                <a:solidFill>
                  <a:srgbClr val="F7F3E9"/>
                </a:solidFill>
                <a:latin typeface="Inter"/>
                <a:ea typeface="Inter"/>
                <a:cs typeface="Inter"/>
                <a:sym typeface="Inter"/>
              </a:rPr>
              <a:t>~20 MIN</a:t>
            </a:r>
            <a:endParaRPr sz="1250">
              <a:solidFill>
                <a:schemeClr val="dk1"/>
              </a:solidFill>
              <a:latin typeface="Calibri"/>
              <a:ea typeface="Calibri"/>
              <a:cs typeface="Calibri"/>
              <a:sym typeface="Calibri"/>
            </a:endParaRPr>
          </a:p>
        </p:txBody>
      </p:sp>
      <p:sp>
        <p:nvSpPr>
          <p:cNvPr id="70" name="Google Shape;70;p7"/>
          <p:cNvSpPr/>
          <p:nvPr/>
        </p:nvSpPr>
        <p:spPr>
          <a:xfrm>
            <a:off x="9381744" y="3310128"/>
            <a:ext cx="1993392" cy="1235746"/>
          </a:xfrm>
          <a:prstGeom prst="rect">
            <a:avLst/>
          </a:prstGeom>
          <a:noFill/>
          <a:ln>
            <a:noFill/>
          </a:ln>
        </p:spPr>
        <p:txBody>
          <a:bodyPr anchorCtr="0" anchor="ctr" bIns="0" lIns="0" spcFirstLastPara="1" rIns="0" wrap="square" tIns="0">
            <a:noAutofit/>
          </a:bodyPr>
          <a:lstStyle/>
          <a:p>
            <a:pPr indent="0" lvl="0" marL="0" marR="0" rtl="0" algn="l">
              <a:lnSpc>
                <a:spcPct val="110000"/>
              </a:lnSpc>
              <a:spcBef>
                <a:spcPts val="0"/>
              </a:spcBef>
              <a:spcAft>
                <a:spcPts val="0"/>
              </a:spcAft>
              <a:buClr>
                <a:srgbClr val="AFA893"/>
              </a:buClr>
              <a:buSzPts val="1600"/>
              <a:buFont typeface="Inter"/>
              <a:buNone/>
            </a:pPr>
            <a:r>
              <a:rPr i="1" lang="en-US">
                <a:solidFill>
                  <a:srgbClr val="AFA893"/>
                </a:solidFill>
                <a:latin typeface="Inter"/>
                <a:ea typeface="Inter"/>
                <a:cs typeface="Inter"/>
                <a:sym typeface="Inter"/>
              </a:rPr>
              <a:t>She takes the evening shift: briefing written, calendar booked, 4:54 PM notification.</a:t>
            </a:r>
            <a:endParaRPr>
              <a:solidFill>
                <a:schemeClr val="dk1"/>
              </a:solidFill>
              <a:latin typeface="Calibri"/>
              <a:ea typeface="Calibri"/>
              <a:cs typeface="Calibri"/>
              <a:sym typeface="Calibri"/>
            </a:endParaRPr>
          </a:p>
        </p:txBody>
      </p:sp>
      <p:sp>
        <p:nvSpPr>
          <p:cNvPr id="71" name="Google Shape;71;p7"/>
          <p:cNvSpPr/>
          <p:nvPr/>
        </p:nvSpPr>
        <p:spPr>
          <a:xfrm>
            <a:off x="822960" y="5440680"/>
            <a:ext cx="10545775"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FA893"/>
              </a:buClr>
              <a:buSzPts val="2400"/>
              <a:buFont typeface="Inter"/>
              <a:buNone/>
            </a:pPr>
            <a:r>
              <a:rPr i="1" lang="en-US" sz="2400">
                <a:solidFill>
                  <a:srgbClr val="AFA893"/>
                </a:solidFill>
                <a:latin typeface="Inter"/>
                <a:ea typeface="Inter"/>
                <a:cs typeface="Inter"/>
                <a:sym typeface="Inter"/>
              </a:rPr>
              <a:t>Each case file is on the site . Every prompt has a copy button. You paste, She works.</a:t>
            </a:r>
            <a:endParaRPr sz="2400">
              <a:solidFill>
                <a:schemeClr val="dk1"/>
              </a:solidFill>
              <a:latin typeface="Calibri"/>
              <a:ea typeface="Calibri"/>
              <a:cs typeface="Calibri"/>
              <a:sym typeface="Calibri"/>
            </a:endParaRPr>
          </a:p>
        </p:txBody>
      </p:sp>
      <p:sp>
        <p:nvSpPr>
          <p:cNvPr id="72" name="Google Shape;72;p7"/>
          <p:cNvSpPr/>
          <p:nvPr/>
        </p:nvSpPr>
        <p:spPr>
          <a:xfrm>
            <a:off x="1090879" y="4526280"/>
            <a:ext cx="1993392"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9A227"/>
              </a:buClr>
              <a:buSzPts val="1600"/>
              <a:buFont typeface="Playfair Display"/>
              <a:buNone/>
            </a:pPr>
            <a:r>
              <a:rPr b="1" lang="en-US" sz="1600">
                <a:solidFill>
                  <a:srgbClr val="C9A227"/>
                </a:solidFill>
                <a:latin typeface="Playfair Display"/>
                <a:ea typeface="Playfair Display"/>
                <a:cs typeface="Playfair Display"/>
                <a:sym typeface="Playfair Display"/>
              </a:rPr>
              <a:t>Topic: Integrations</a:t>
            </a:r>
            <a:endParaRPr sz="1600">
              <a:solidFill>
                <a:schemeClr val="dk1"/>
              </a:solidFill>
              <a:latin typeface="Calibri"/>
              <a:ea typeface="Calibri"/>
              <a:cs typeface="Calibri"/>
              <a:sym typeface="Calibri"/>
            </a:endParaRPr>
          </a:p>
        </p:txBody>
      </p:sp>
      <p:sp>
        <p:nvSpPr>
          <p:cNvPr id="73" name="Google Shape;73;p7"/>
          <p:cNvSpPr/>
          <p:nvPr/>
        </p:nvSpPr>
        <p:spPr>
          <a:xfrm>
            <a:off x="3852367" y="4526280"/>
            <a:ext cx="1993392"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9A227"/>
              </a:buClr>
              <a:buSzPts val="1600"/>
              <a:buFont typeface="Playfair Display"/>
              <a:buNone/>
            </a:pPr>
            <a:r>
              <a:rPr b="1" lang="en-US" sz="1600">
                <a:solidFill>
                  <a:srgbClr val="C9A227"/>
                </a:solidFill>
                <a:latin typeface="Playfair Display"/>
                <a:ea typeface="Playfair Display"/>
                <a:cs typeface="Playfair Display"/>
                <a:sym typeface="Playfair Display"/>
              </a:rPr>
              <a:t>Topic: Projects</a:t>
            </a:r>
            <a:endParaRPr sz="1600">
              <a:solidFill>
                <a:schemeClr val="dk1"/>
              </a:solidFill>
              <a:latin typeface="Calibri"/>
              <a:ea typeface="Calibri"/>
              <a:cs typeface="Calibri"/>
              <a:sym typeface="Calibri"/>
            </a:endParaRPr>
          </a:p>
        </p:txBody>
      </p:sp>
      <p:sp>
        <p:nvSpPr>
          <p:cNvPr id="74" name="Google Shape;74;p7"/>
          <p:cNvSpPr/>
          <p:nvPr/>
        </p:nvSpPr>
        <p:spPr>
          <a:xfrm>
            <a:off x="6613855" y="4526280"/>
            <a:ext cx="1993392"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9A227"/>
              </a:buClr>
              <a:buSzPts val="1600"/>
              <a:buFont typeface="Playfair Display"/>
              <a:buNone/>
            </a:pPr>
            <a:r>
              <a:rPr b="1" lang="en-US" sz="1600">
                <a:solidFill>
                  <a:srgbClr val="C9A227"/>
                </a:solidFill>
                <a:latin typeface="Playfair Display"/>
                <a:ea typeface="Playfair Display"/>
                <a:cs typeface="Playfair Display"/>
                <a:sym typeface="Playfair Display"/>
              </a:rPr>
              <a:t>Topic: Skills</a:t>
            </a:r>
            <a:endParaRPr sz="1600">
              <a:solidFill>
                <a:schemeClr val="dk1"/>
              </a:solidFill>
              <a:latin typeface="Calibri"/>
              <a:ea typeface="Calibri"/>
              <a:cs typeface="Calibri"/>
              <a:sym typeface="Calibri"/>
            </a:endParaRPr>
          </a:p>
        </p:txBody>
      </p:sp>
      <p:sp>
        <p:nvSpPr>
          <p:cNvPr id="75" name="Google Shape;75;p7"/>
          <p:cNvSpPr/>
          <p:nvPr/>
        </p:nvSpPr>
        <p:spPr>
          <a:xfrm>
            <a:off x="9375343" y="4526280"/>
            <a:ext cx="1993392"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9A227"/>
              </a:buClr>
              <a:buSzPts val="1600"/>
              <a:buFont typeface="Playfair Display"/>
              <a:buNone/>
            </a:pPr>
            <a:r>
              <a:rPr b="1" lang="en-US" sz="1600">
                <a:solidFill>
                  <a:srgbClr val="C9A227"/>
                </a:solidFill>
                <a:latin typeface="Playfair Display"/>
                <a:ea typeface="Playfair Display"/>
                <a:cs typeface="Playfair Display"/>
                <a:sym typeface="Playfair Display"/>
              </a:rPr>
              <a:t>Topic: Agents</a:t>
            </a:r>
            <a:endParaRPr sz="1600">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4213D"/>
        </a:solidFill>
      </p:bgPr>
    </p:bg>
    <p:spTree>
      <p:nvGrpSpPr>
        <p:cNvPr id="80" name="Shape 80"/>
        <p:cNvGrpSpPr/>
        <p:nvPr/>
      </p:nvGrpSpPr>
      <p:grpSpPr>
        <a:xfrm>
          <a:off x="0" y="0"/>
          <a:ext cx="0" cy="0"/>
          <a:chOff x="0" y="0"/>
          <a:chExt cx="0" cy="0"/>
        </a:xfrm>
      </p:grpSpPr>
      <p:sp>
        <p:nvSpPr>
          <p:cNvPr id="81" name="Google Shape;81;p8"/>
          <p:cNvSpPr/>
          <p:nvPr/>
        </p:nvSpPr>
        <p:spPr>
          <a:xfrm>
            <a:off x="822952" y="1783050"/>
            <a:ext cx="4444800" cy="3291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C9A227"/>
              </a:buClr>
              <a:buSzPts val="20000"/>
              <a:buFont typeface="Playfair Display"/>
              <a:buNone/>
            </a:pPr>
            <a:r>
              <a:rPr b="1" lang="en-US" sz="3700">
                <a:solidFill>
                  <a:srgbClr val="C9A227"/>
                </a:solidFill>
                <a:latin typeface="Playfair Display"/>
                <a:ea typeface="Playfair Display"/>
                <a:cs typeface="Playfair Display"/>
                <a:sym typeface="Playfair Display"/>
              </a:rPr>
              <a:t>Instructions</a:t>
            </a:r>
            <a:br>
              <a:rPr b="1" lang="en-US" sz="3700">
                <a:solidFill>
                  <a:srgbClr val="C9A227"/>
                </a:solidFill>
                <a:latin typeface="Playfair Display"/>
                <a:ea typeface="Playfair Display"/>
                <a:cs typeface="Playfair Display"/>
                <a:sym typeface="Playfair Display"/>
              </a:rPr>
            </a:br>
            <a:r>
              <a:rPr b="1" lang="en-US" sz="3700" u="sng">
                <a:solidFill>
                  <a:schemeClr val="hlink"/>
                </a:solidFill>
                <a:latin typeface="Playfair Display"/>
                <a:ea typeface="Playfair Display"/>
                <a:cs typeface="Playfair Display"/>
                <a:sym typeface="Playfair Display"/>
                <a:hlinkClick r:id="rId3"/>
              </a:rPr>
              <a:t>[click here]</a:t>
            </a:r>
            <a:endParaRPr sz="3700">
              <a:solidFill>
                <a:schemeClr val="dk1"/>
              </a:solidFill>
              <a:latin typeface="Calibri"/>
              <a:ea typeface="Calibri"/>
              <a:cs typeface="Calibri"/>
              <a:sym typeface="Calibri"/>
            </a:endParaRPr>
          </a:p>
        </p:txBody>
      </p:sp>
      <p:sp>
        <p:nvSpPr>
          <p:cNvPr id="82" name="Google Shape;82;p8"/>
          <p:cNvSpPr/>
          <p:nvPr/>
        </p:nvSpPr>
        <p:spPr>
          <a:xfrm>
            <a:off x="6400800" y="4663490"/>
            <a:ext cx="4755000" cy="1097400"/>
          </a:xfrm>
          <a:prstGeom prst="rect">
            <a:avLst/>
          </a:prstGeom>
          <a:noFill/>
          <a:ln>
            <a:noFill/>
          </a:ln>
        </p:spPr>
        <p:txBody>
          <a:bodyPr anchorCtr="0" anchor="ctr" bIns="0" lIns="0" spcFirstLastPara="1" rIns="0" wrap="square" tIns="0">
            <a:noAutofit/>
          </a:bodyPr>
          <a:lstStyle/>
          <a:p>
            <a:pPr indent="0" lvl="0" marL="0" marR="0" rtl="0" algn="ctr">
              <a:lnSpc>
                <a:spcPct val="120000"/>
              </a:lnSpc>
              <a:spcBef>
                <a:spcPts val="0"/>
              </a:spcBef>
              <a:spcAft>
                <a:spcPts val="0"/>
              </a:spcAft>
              <a:buClr>
                <a:srgbClr val="AFA893"/>
              </a:buClr>
              <a:buSzPts val="1500"/>
              <a:buFont typeface="Inter"/>
              <a:buNone/>
            </a:pPr>
            <a:r>
              <a:rPr i="1" lang="en-US" sz="1500">
                <a:solidFill>
                  <a:srgbClr val="AFA893"/>
                </a:solidFill>
                <a:latin typeface="Inter"/>
                <a:ea typeface="Inter"/>
                <a:cs typeface="Inter"/>
                <a:sym typeface="Inter"/>
              </a:rPr>
              <a:t>Or Scan Here</a:t>
            </a:r>
            <a:endParaRPr sz="1500">
              <a:solidFill>
                <a:schemeClr val="dk1"/>
              </a:solidFill>
              <a:latin typeface="Calibri"/>
              <a:ea typeface="Calibri"/>
              <a:cs typeface="Calibri"/>
              <a:sym typeface="Calibri"/>
            </a:endParaRPr>
          </a:p>
        </p:txBody>
      </p:sp>
      <p:pic>
        <p:nvPicPr>
          <p:cNvPr id="83" name="Google Shape;83;p8" title="Qq7t0PrAwZxmZMM_Build Your Own Donna · A two-hour workshop for executives.png"/>
          <p:cNvPicPr preferRelativeResize="0"/>
          <p:nvPr/>
        </p:nvPicPr>
        <p:blipFill>
          <a:blip r:embed="rId4">
            <a:alphaModFix/>
          </a:blip>
          <a:stretch>
            <a:fillRect/>
          </a:stretch>
        </p:blipFill>
        <p:spPr>
          <a:xfrm>
            <a:off x="7171275" y="1648052"/>
            <a:ext cx="3214050" cy="3214050"/>
          </a:xfrm>
          <a:prstGeom prst="rect">
            <a:avLst/>
          </a:prstGeom>
          <a:noFill/>
          <a:ln>
            <a:noFill/>
          </a:ln>
        </p:spPr>
      </p:pic>
      <p:sp>
        <p:nvSpPr>
          <p:cNvPr id="84" name="Google Shape;84;p8"/>
          <p:cNvSpPr/>
          <p:nvPr/>
        </p:nvSpPr>
        <p:spPr>
          <a:xfrm>
            <a:off x="822960" y="502920"/>
            <a:ext cx="1054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DB94A"/>
              </a:buClr>
              <a:buSzPts val="1200"/>
              <a:buFont typeface="Inter"/>
              <a:buNone/>
            </a:pPr>
            <a:r>
              <a:rPr b="1" lang="en-US" sz="1200">
                <a:solidFill>
                  <a:srgbClr val="DDB94A"/>
                </a:solidFill>
                <a:latin typeface="Inter"/>
                <a:ea typeface="Inter"/>
                <a:cs typeface="Inter"/>
                <a:sym typeface="Inter"/>
              </a:rPr>
              <a:t>THE PLAN </a:t>
            </a:r>
            <a:endParaRPr sz="1200">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4213D"/>
        </a:solidFill>
      </p:bgPr>
    </p:bg>
    <p:spTree>
      <p:nvGrpSpPr>
        <p:cNvPr id="89" name="Shape 89"/>
        <p:cNvGrpSpPr/>
        <p:nvPr/>
      </p:nvGrpSpPr>
      <p:grpSpPr>
        <a:xfrm>
          <a:off x="0" y="0"/>
          <a:ext cx="0" cy="0"/>
          <a:chOff x="0" y="0"/>
          <a:chExt cx="0" cy="0"/>
        </a:xfrm>
      </p:grpSpPr>
      <p:sp>
        <p:nvSpPr>
          <p:cNvPr id="90" name="Google Shape;90;p9"/>
          <p:cNvSpPr/>
          <p:nvPr/>
        </p:nvSpPr>
        <p:spPr>
          <a:xfrm>
            <a:off x="822960" y="502920"/>
            <a:ext cx="10545775"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DB94A"/>
              </a:buClr>
              <a:buSzPts val="1200"/>
              <a:buFont typeface="Inter"/>
              <a:buNone/>
            </a:pPr>
            <a:r>
              <a:rPr b="1" lang="en-US" sz="1200">
                <a:solidFill>
                  <a:srgbClr val="DDB94A"/>
                </a:solidFill>
                <a:latin typeface="Inter"/>
                <a:ea typeface="Inter"/>
                <a:cs typeface="Inter"/>
                <a:sym typeface="Inter"/>
              </a:rPr>
              <a:t>CASE FILE 01 · CHAT — FIRST IMPRESSIONS</a:t>
            </a:r>
            <a:endParaRPr sz="1200">
              <a:solidFill>
                <a:schemeClr val="dk1"/>
              </a:solidFill>
              <a:latin typeface="Calibri"/>
              <a:ea typeface="Calibri"/>
              <a:cs typeface="Calibri"/>
              <a:sym typeface="Calibri"/>
            </a:endParaRPr>
          </a:p>
        </p:txBody>
      </p:sp>
      <p:sp>
        <p:nvSpPr>
          <p:cNvPr id="91" name="Google Shape;91;p9"/>
          <p:cNvSpPr/>
          <p:nvPr/>
        </p:nvSpPr>
        <p:spPr>
          <a:xfrm>
            <a:off x="822960" y="868680"/>
            <a:ext cx="10545775"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7F3E9"/>
              </a:buClr>
              <a:buSzPts val="2800"/>
              <a:buFont typeface="Playfair Display"/>
              <a:buNone/>
            </a:pPr>
            <a:r>
              <a:rPr b="1" lang="en-US" sz="2800">
                <a:solidFill>
                  <a:srgbClr val="F7F3E9"/>
                </a:solidFill>
                <a:latin typeface="Playfair Display"/>
                <a:ea typeface="Playfair Display"/>
                <a:cs typeface="Playfair Display"/>
                <a:sym typeface="Playfair Display"/>
              </a:rPr>
              <a:t>Connect your email. Then ask the only question that matters.</a:t>
            </a:r>
            <a:endParaRPr sz="2800">
              <a:solidFill>
                <a:schemeClr val="dk1"/>
              </a:solidFill>
              <a:latin typeface="Calibri"/>
              <a:ea typeface="Calibri"/>
              <a:cs typeface="Calibri"/>
              <a:sym typeface="Calibri"/>
            </a:endParaRPr>
          </a:p>
        </p:txBody>
      </p:sp>
      <p:sp>
        <p:nvSpPr>
          <p:cNvPr id="92" name="Google Shape;92;p9"/>
          <p:cNvSpPr/>
          <p:nvPr/>
        </p:nvSpPr>
        <p:spPr>
          <a:xfrm>
            <a:off x="822960" y="1627632"/>
            <a:ext cx="10545775"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FA893"/>
              </a:buClr>
              <a:buSzPts val="1800"/>
              <a:buFont typeface="Inter"/>
              <a:buNone/>
            </a:pPr>
            <a:r>
              <a:rPr lang="en-US" sz="1800">
                <a:solidFill>
                  <a:srgbClr val="AFA893"/>
                </a:solidFill>
                <a:latin typeface="Inter"/>
                <a:ea typeface="Inter"/>
                <a:cs typeface="Inter"/>
                <a:sym typeface="Inter"/>
              </a:rPr>
              <a:t>Settings → Connectors → Connect Gmail or Microsoft 365 (one click, one sign-in)</a:t>
            </a:r>
            <a:endParaRPr sz="1800">
              <a:solidFill>
                <a:schemeClr val="dk1"/>
              </a:solidFill>
              <a:latin typeface="Calibri"/>
              <a:ea typeface="Calibri"/>
              <a:cs typeface="Calibri"/>
              <a:sym typeface="Calibri"/>
            </a:endParaRPr>
          </a:p>
        </p:txBody>
      </p:sp>
      <p:sp>
        <p:nvSpPr>
          <p:cNvPr id="93" name="Google Shape;93;p9"/>
          <p:cNvSpPr/>
          <p:nvPr/>
        </p:nvSpPr>
        <p:spPr>
          <a:xfrm>
            <a:off x="1280150" y="2286000"/>
            <a:ext cx="9631500" cy="3424500"/>
          </a:xfrm>
          <a:prstGeom prst="roundRect">
            <a:avLst>
              <a:gd fmla="val 2000" name="adj"/>
            </a:avLst>
          </a:prstGeom>
          <a:solidFill>
            <a:srgbClr val="F7F3E9"/>
          </a:solidFill>
          <a:ln>
            <a:noFill/>
          </a:ln>
          <a:effectLst>
            <a:outerShdw blurRad="177800" rotWithShape="0" algn="bl" dir="5400000" dist="76200">
              <a:srgbClr val="000000">
                <a:alpha val="34902"/>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94" name="Google Shape;94;p9"/>
          <p:cNvSpPr/>
          <p:nvPr/>
        </p:nvSpPr>
        <p:spPr>
          <a:xfrm>
            <a:off x="1645920" y="2487168"/>
            <a:ext cx="8899855"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379"/>
              </a:buClr>
              <a:buSzPts val="1000"/>
              <a:buFont typeface="Inter"/>
              <a:buNone/>
            </a:pPr>
            <a:r>
              <a:rPr b="1" lang="en-US" sz="1000">
                <a:solidFill>
                  <a:srgbClr val="5A6379"/>
                </a:solidFill>
                <a:latin typeface="Inter"/>
                <a:ea typeface="Inter"/>
                <a:cs typeface="Inter"/>
                <a:sym typeface="Inter"/>
              </a:rPr>
              <a:t>PROMPT 1 — THE SETUP </a:t>
            </a:r>
            <a:endParaRPr sz="1000">
              <a:solidFill>
                <a:schemeClr val="dk1"/>
              </a:solidFill>
              <a:latin typeface="Calibri"/>
              <a:ea typeface="Calibri"/>
              <a:cs typeface="Calibri"/>
              <a:sym typeface="Calibri"/>
            </a:endParaRPr>
          </a:p>
        </p:txBody>
      </p:sp>
      <p:sp>
        <p:nvSpPr>
          <p:cNvPr id="95" name="Google Shape;95;p9"/>
          <p:cNvSpPr/>
          <p:nvPr/>
        </p:nvSpPr>
        <p:spPr>
          <a:xfrm>
            <a:off x="1645920" y="2788920"/>
            <a:ext cx="8899855" cy="155448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chemeClr val="dk1"/>
              </a:buClr>
              <a:buSzPts val="2100"/>
              <a:buFont typeface="Calibri"/>
              <a:buNone/>
            </a:pPr>
            <a:r>
              <a:t/>
            </a:r>
            <a:endParaRPr sz="2100">
              <a:solidFill>
                <a:schemeClr val="dk1"/>
              </a:solidFill>
              <a:latin typeface="Calibri"/>
              <a:ea typeface="Calibri"/>
              <a:cs typeface="Calibri"/>
              <a:sym typeface="Calibri"/>
            </a:endParaRPr>
          </a:p>
        </p:txBody>
      </p:sp>
      <p:sp>
        <p:nvSpPr>
          <p:cNvPr id="96" name="Google Shape;96;p9"/>
          <p:cNvSpPr/>
          <p:nvPr/>
        </p:nvSpPr>
        <p:spPr>
          <a:xfrm>
            <a:off x="1730810" y="3011349"/>
            <a:ext cx="8899800" cy="2328900"/>
          </a:xfrm>
          <a:prstGeom prst="rect">
            <a:avLst/>
          </a:prstGeom>
          <a:noFill/>
          <a:ln>
            <a:noFill/>
          </a:ln>
        </p:spPr>
        <p:txBody>
          <a:bodyPr anchorCtr="0" anchor="ctr" bIns="0" lIns="0" spcFirstLastPara="1" rIns="0" wrap="square" tIns="0">
            <a:noAutofit/>
          </a:bodyPr>
          <a:lstStyle/>
          <a:p>
            <a:pPr indent="0" lvl="0" marL="0" rtl="0" algn="l">
              <a:lnSpc>
                <a:spcPct val="115000"/>
              </a:lnSpc>
              <a:spcBef>
                <a:spcPts val="0"/>
              </a:spcBef>
              <a:spcAft>
                <a:spcPts val="0"/>
              </a:spcAft>
              <a:buClr>
                <a:schemeClr val="dk1"/>
              </a:buClr>
              <a:buSzPts val="1100"/>
              <a:buFont typeface="Arial"/>
              <a:buNone/>
            </a:pPr>
            <a:r>
              <a:rPr lang="en-US" sz="1600">
                <a:latin typeface="Courier New"/>
                <a:ea typeface="Courier New"/>
                <a:cs typeface="Courier New"/>
                <a:sym typeface="Courier New"/>
              </a:rPr>
              <a:t>Walk me through connecting my work email and calendar to Claude — first ask whether I'm on Gmail or Outlook, Mac or Windows, and whether IT manages my account, and check Anthropic's current help docs before answering so the steps match what's actually on my screen today. Then give me numbered steps naming the exact buttons to click, a way to verify it worked, and what to do if the connector isn't listed or I hit an "administrator hasn't approved this" error.</a:t>
            </a:r>
            <a:endParaRPr sz="1600">
              <a:latin typeface="Courier New"/>
              <a:ea typeface="Courier New"/>
              <a:cs typeface="Courier New"/>
              <a:sym typeface="Courier New"/>
            </a:endParaRPr>
          </a:p>
          <a:p>
            <a:pPr indent="0" lvl="0" marL="0" marR="0" rtl="0" algn="l">
              <a:lnSpc>
                <a:spcPct val="115000"/>
              </a:lnSpc>
              <a:spcBef>
                <a:spcPts val="0"/>
              </a:spcBef>
              <a:spcAft>
                <a:spcPts val="0"/>
              </a:spcAft>
              <a:buClr>
                <a:srgbClr val="1C2333"/>
              </a:buClr>
              <a:buSzPts val="2100"/>
              <a:buFont typeface="Courier New"/>
              <a:buNone/>
            </a:pPr>
            <a:r>
              <a:t/>
            </a:r>
            <a:endParaRPr sz="1600">
              <a:latin typeface="Courier New"/>
              <a:ea typeface="Courier New"/>
              <a:cs typeface="Courier New"/>
              <a:sym typeface="Courier New"/>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4213D"/>
        </a:solidFill>
      </p:bgPr>
    </p:bg>
    <p:spTree>
      <p:nvGrpSpPr>
        <p:cNvPr id="101" name="Shape 101"/>
        <p:cNvGrpSpPr/>
        <p:nvPr/>
      </p:nvGrpSpPr>
      <p:grpSpPr>
        <a:xfrm>
          <a:off x="0" y="0"/>
          <a:ext cx="0" cy="0"/>
          <a:chOff x="0" y="0"/>
          <a:chExt cx="0" cy="0"/>
        </a:xfrm>
      </p:grpSpPr>
      <p:sp>
        <p:nvSpPr>
          <p:cNvPr id="102" name="Google Shape;102;p10"/>
          <p:cNvSpPr/>
          <p:nvPr/>
        </p:nvSpPr>
        <p:spPr>
          <a:xfrm>
            <a:off x="822960" y="502920"/>
            <a:ext cx="10545775"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DB94A"/>
              </a:buClr>
              <a:buSzPts val="1200"/>
              <a:buFont typeface="Inter"/>
              <a:buNone/>
            </a:pPr>
            <a:r>
              <a:rPr b="1" i="0" lang="en-US" sz="1200" u="none" cap="none" strike="noStrike">
                <a:solidFill>
                  <a:srgbClr val="DDB94A"/>
                </a:solidFill>
                <a:latin typeface="Inter"/>
                <a:ea typeface="Inter"/>
                <a:cs typeface="Inter"/>
                <a:sym typeface="Inter"/>
              </a:rPr>
              <a:t>CASE FILE 01 · CHAT — FIRST IMPRESSIONS</a:t>
            </a:r>
            <a:endParaRPr b="0" i="0" sz="1200" u="none" cap="none" strike="noStrike">
              <a:solidFill>
                <a:srgbClr val="000000"/>
              </a:solidFill>
              <a:latin typeface="Calibri"/>
              <a:ea typeface="Calibri"/>
              <a:cs typeface="Calibri"/>
              <a:sym typeface="Calibri"/>
            </a:endParaRPr>
          </a:p>
        </p:txBody>
      </p:sp>
      <p:sp>
        <p:nvSpPr>
          <p:cNvPr id="103" name="Google Shape;103;p10"/>
          <p:cNvSpPr/>
          <p:nvPr/>
        </p:nvSpPr>
        <p:spPr>
          <a:xfrm>
            <a:off x="822960" y="868680"/>
            <a:ext cx="10545775" cy="7315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7F3E9"/>
              </a:buClr>
              <a:buSzPts val="2800"/>
              <a:buFont typeface="Playfair Display"/>
              <a:buNone/>
            </a:pPr>
            <a:r>
              <a:rPr b="1" i="0" lang="en-US" sz="2800" u="none" cap="none" strike="noStrike">
                <a:solidFill>
                  <a:srgbClr val="F7F3E9"/>
                </a:solidFill>
                <a:latin typeface="Playfair Display"/>
                <a:ea typeface="Playfair Display"/>
                <a:cs typeface="Playfair Display"/>
                <a:sym typeface="Playfair Display"/>
              </a:rPr>
              <a:t>Connect your email. Then ask the only question that matters.</a:t>
            </a:r>
            <a:endParaRPr b="0" i="0" sz="2800" u="none" cap="none" strike="noStrike">
              <a:solidFill>
                <a:srgbClr val="000000"/>
              </a:solidFill>
              <a:latin typeface="Calibri"/>
              <a:ea typeface="Calibri"/>
              <a:cs typeface="Calibri"/>
              <a:sym typeface="Calibri"/>
            </a:endParaRPr>
          </a:p>
        </p:txBody>
      </p:sp>
      <p:sp>
        <p:nvSpPr>
          <p:cNvPr id="104" name="Google Shape;104;p10"/>
          <p:cNvSpPr/>
          <p:nvPr/>
        </p:nvSpPr>
        <p:spPr>
          <a:xfrm>
            <a:off x="822960" y="1627632"/>
            <a:ext cx="10545775"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AFA893"/>
              </a:buClr>
              <a:buSzPts val="1800"/>
              <a:buFont typeface="Inter"/>
              <a:buNone/>
            </a:pPr>
            <a:r>
              <a:rPr b="0" i="0" lang="en-US" sz="1800" u="none" cap="none" strike="noStrike">
                <a:solidFill>
                  <a:srgbClr val="AFA893"/>
                </a:solidFill>
                <a:latin typeface="Inter"/>
                <a:ea typeface="Inter"/>
                <a:cs typeface="Inter"/>
                <a:sym typeface="Inter"/>
              </a:rPr>
              <a:t>Settings → Connectors → Connect Gmail or Microsoft 365 (they’re pre-enabled: one click, one sign-in)</a:t>
            </a:r>
            <a:endParaRPr b="0" i="0" sz="1800" u="none" cap="none" strike="noStrike">
              <a:solidFill>
                <a:srgbClr val="000000"/>
              </a:solidFill>
              <a:latin typeface="Calibri"/>
              <a:ea typeface="Calibri"/>
              <a:cs typeface="Calibri"/>
              <a:sym typeface="Calibri"/>
            </a:endParaRPr>
          </a:p>
        </p:txBody>
      </p:sp>
      <p:sp>
        <p:nvSpPr>
          <p:cNvPr id="105" name="Google Shape;105;p10"/>
          <p:cNvSpPr/>
          <p:nvPr/>
        </p:nvSpPr>
        <p:spPr>
          <a:xfrm>
            <a:off x="1280160" y="2286000"/>
            <a:ext cx="9631375" cy="2286000"/>
          </a:xfrm>
          <a:prstGeom prst="roundRect">
            <a:avLst>
              <a:gd fmla="val 2000" name="adj"/>
            </a:avLst>
          </a:prstGeom>
          <a:solidFill>
            <a:srgbClr val="F7F3E9"/>
          </a:solidFill>
          <a:ln>
            <a:noFill/>
          </a:ln>
          <a:effectLst>
            <a:outerShdw blurRad="177800" rotWithShape="0" algn="bl" dir="5400000" dist="76200">
              <a:srgbClr val="000000">
                <a:alpha val="34902"/>
              </a:srgbClr>
            </a:outerShdw>
          </a:effectLst>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Calibri"/>
              <a:buNone/>
            </a:pPr>
            <a:r>
              <a:t/>
            </a:r>
            <a:endParaRPr b="0" i="0" sz="1800" u="none" cap="none" strike="noStrike">
              <a:solidFill>
                <a:srgbClr val="000000"/>
              </a:solidFill>
              <a:latin typeface="Calibri"/>
              <a:ea typeface="Calibri"/>
              <a:cs typeface="Calibri"/>
              <a:sym typeface="Calibri"/>
            </a:endParaRPr>
          </a:p>
        </p:txBody>
      </p:sp>
      <p:sp>
        <p:nvSpPr>
          <p:cNvPr id="106" name="Google Shape;106;p10"/>
          <p:cNvSpPr/>
          <p:nvPr/>
        </p:nvSpPr>
        <p:spPr>
          <a:xfrm>
            <a:off x="1645920" y="2487168"/>
            <a:ext cx="8899855"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5A6379"/>
              </a:buClr>
              <a:buSzPts val="1000"/>
              <a:buFont typeface="Inter"/>
              <a:buNone/>
            </a:pPr>
            <a:r>
              <a:rPr b="1" i="0" lang="en-US" sz="1000" u="none" cap="none" strike="noStrike">
                <a:solidFill>
                  <a:srgbClr val="5A6379"/>
                </a:solidFill>
                <a:latin typeface="Inter"/>
                <a:ea typeface="Inter"/>
                <a:cs typeface="Inter"/>
                <a:sym typeface="Inter"/>
              </a:rPr>
              <a:t>PROMPT 2 — THE QUESTION</a:t>
            </a:r>
            <a:endParaRPr b="0" i="0" sz="1000" u="none" cap="none" strike="noStrike">
              <a:solidFill>
                <a:srgbClr val="000000"/>
              </a:solidFill>
              <a:latin typeface="Calibri"/>
              <a:ea typeface="Calibri"/>
              <a:cs typeface="Calibri"/>
              <a:sym typeface="Calibri"/>
            </a:endParaRPr>
          </a:p>
        </p:txBody>
      </p:sp>
      <p:sp>
        <p:nvSpPr>
          <p:cNvPr id="107" name="Google Shape;107;p10"/>
          <p:cNvSpPr/>
          <p:nvPr/>
        </p:nvSpPr>
        <p:spPr>
          <a:xfrm>
            <a:off x="1645920" y="2788920"/>
            <a:ext cx="8899855" cy="155448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1C2333"/>
              </a:buClr>
              <a:buSzPts val="2100"/>
              <a:buFont typeface="Courier New"/>
              <a:buNone/>
            </a:pPr>
            <a:r>
              <a:rPr b="0" i="0" lang="en-US" sz="2100" u="none" cap="none" strike="noStrike">
                <a:solidFill>
                  <a:srgbClr val="1C2333"/>
                </a:solidFill>
                <a:latin typeface="Courier New"/>
                <a:ea typeface="Courier New"/>
                <a:cs typeface="Courier New"/>
                <a:sym typeface="Courier New"/>
              </a:rPr>
              <a:t>What landed in my inbox in the last 24 hours</a:t>
            </a:r>
            <a:endParaRPr b="0" i="0" sz="2100" u="none" cap="none" strike="noStrike">
              <a:solidFill>
                <a:srgbClr val="000000"/>
              </a:solidFill>
              <a:latin typeface="Calibri"/>
              <a:ea typeface="Calibri"/>
              <a:cs typeface="Calibri"/>
              <a:sym typeface="Calibri"/>
            </a:endParaRPr>
          </a:p>
          <a:p>
            <a:pPr indent="0" lvl="0" marL="0" marR="0" rtl="0" algn="l">
              <a:lnSpc>
                <a:spcPct val="115000"/>
              </a:lnSpc>
              <a:spcBef>
                <a:spcPts val="0"/>
              </a:spcBef>
              <a:spcAft>
                <a:spcPts val="0"/>
              </a:spcAft>
              <a:buClr>
                <a:srgbClr val="1C2333"/>
              </a:buClr>
              <a:buSzPts val="2100"/>
              <a:buFont typeface="Courier New"/>
              <a:buNone/>
            </a:pPr>
            <a:r>
              <a:rPr b="0" i="0" lang="en-US" sz="2100" u="none" cap="none" strike="noStrike">
                <a:solidFill>
                  <a:srgbClr val="1C2333"/>
                </a:solidFill>
                <a:latin typeface="Courier New"/>
                <a:ea typeface="Courier New"/>
                <a:cs typeface="Courier New"/>
                <a:sym typeface="Courier New"/>
              </a:rPr>
              <a:t>that actually needs ME?</a:t>
            </a:r>
            <a:endParaRPr b="0" i="0" sz="2100" u="none" cap="none" strike="noStrike">
              <a:solidFill>
                <a:srgbClr val="000000"/>
              </a:solidFill>
              <a:latin typeface="Calibri"/>
              <a:ea typeface="Calibri"/>
              <a:cs typeface="Calibri"/>
              <a:sym typeface="Calibri"/>
            </a:endParaRPr>
          </a:p>
          <a:p>
            <a:pPr indent="0" lvl="0" marL="0" marR="0" rtl="0" algn="l">
              <a:lnSpc>
                <a:spcPct val="115000"/>
              </a:lnSpc>
              <a:spcBef>
                <a:spcPts val="0"/>
              </a:spcBef>
              <a:spcAft>
                <a:spcPts val="0"/>
              </a:spcAft>
              <a:buClr>
                <a:srgbClr val="1C2333"/>
              </a:buClr>
              <a:buSzPts val="2100"/>
              <a:buFont typeface="Courier New"/>
              <a:buNone/>
            </a:pPr>
            <a:r>
              <a:rPr b="0" i="0" lang="en-US" sz="2100" u="none" cap="none" strike="noStrike">
                <a:solidFill>
                  <a:srgbClr val="1C2333"/>
                </a:solidFill>
                <a:latin typeface="Courier New"/>
                <a:ea typeface="Courier New"/>
                <a:cs typeface="Courier New"/>
                <a:sym typeface="Courier New"/>
              </a:rPr>
              <a:t>Top 5, one line each.</a:t>
            </a:r>
            <a:endParaRPr b="0" i="0" sz="2100" u="none" cap="none" strike="noStrike">
              <a:solidFill>
                <a:srgbClr val="000000"/>
              </a:solidFill>
              <a:latin typeface="Calibri"/>
              <a:ea typeface="Calibri"/>
              <a:cs typeface="Calibri"/>
              <a:sym typeface="Calibri"/>
            </a:endParaRPr>
          </a:p>
        </p:txBody>
      </p:sp>
      <p:sp>
        <p:nvSpPr>
          <p:cNvPr id="108" name="Google Shape;108;p10"/>
          <p:cNvSpPr/>
          <p:nvPr/>
        </p:nvSpPr>
        <p:spPr>
          <a:xfrm>
            <a:off x="1280160" y="4800600"/>
            <a:ext cx="9631375" cy="1554480"/>
          </a:xfrm>
          <a:prstGeom prst="roundRect">
            <a:avLst>
              <a:gd fmla="val 2941" name="adj"/>
            </a:avLst>
          </a:prstGeom>
          <a:solidFill>
            <a:srgbClr val="F7F3E9"/>
          </a:solidFill>
          <a:ln>
            <a:noFill/>
          </a:ln>
          <a:effectLst>
            <a:outerShdw blurRad="177800" rotWithShape="0" algn="bl" dir="5400000" dist="76200">
              <a:srgbClr val="000000">
                <a:alpha val="34902"/>
              </a:srgbClr>
            </a:outerShdw>
          </a:effectLst>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Calibri"/>
              <a:buNone/>
            </a:pPr>
            <a:r>
              <a:t/>
            </a:r>
            <a:endParaRPr b="0" i="0" sz="1800" u="none" cap="none" strike="noStrike">
              <a:solidFill>
                <a:srgbClr val="000000"/>
              </a:solidFill>
              <a:latin typeface="Calibri"/>
              <a:ea typeface="Calibri"/>
              <a:cs typeface="Calibri"/>
              <a:sym typeface="Calibri"/>
            </a:endParaRPr>
          </a:p>
        </p:txBody>
      </p:sp>
      <p:sp>
        <p:nvSpPr>
          <p:cNvPr id="109" name="Google Shape;109;p10"/>
          <p:cNvSpPr/>
          <p:nvPr/>
        </p:nvSpPr>
        <p:spPr>
          <a:xfrm>
            <a:off x="1645920" y="5001768"/>
            <a:ext cx="8899855"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5A6379"/>
              </a:buClr>
              <a:buSzPts val="1000"/>
              <a:buFont typeface="Inter"/>
              <a:buNone/>
            </a:pPr>
            <a:r>
              <a:rPr b="1" i="0" lang="en-US" sz="1000" u="none" cap="none" strike="noStrike">
                <a:solidFill>
                  <a:srgbClr val="5A6379"/>
                </a:solidFill>
                <a:latin typeface="Inter"/>
                <a:ea typeface="Inter"/>
                <a:cs typeface="Inter"/>
                <a:sym typeface="Inter"/>
              </a:rPr>
              <a:t>PROMPT 3 — THE FIRST DRAFT</a:t>
            </a:r>
            <a:endParaRPr b="0" i="0" sz="1000" u="none" cap="none" strike="noStrike">
              <a:solidFill>
                <a:srgbClr val="000000"/>
              </a:solidFill>
              <a:latin typeface="Calibri"/>
              <a:ea typeface="Calibri"/>
              <a:cs typeface="Calibri"/>
              <a:sym typeface="Calibri"/>
            </a:endParaRPr>
          </a:p>
        </p:txBody>
      </p:sp>
      <p:sp>
        <p:nvSpPr>
          <p:cNvPr id="110" name="Google Shape;110;p10"/>
          <p:cNvSpPr/>
          <p:nvPr/>
        </p:nvSpPr>
        <p:spPr>
          <a:xfrm>
            <a:off x="1645920" y="5303520"/>
            <a:ext cx="8899855" cy="82296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1C2333"/>
              </a:buClr>
              <a:buSzPts val="2000"/>
              <a:buFont typeface="Courier New"/>
              <a:buNone/>
            </a:pPr>
            <a:r>
              <a:rPr b="0" i="0" lang="en-US" sz="2000" u="none" cap="none" strike="noStrike">
                <a:solidFill>
                  <a:srgbClr val="1C2333"/>
                </a:solidFill>
                <a:latin typeface="Courier New"/>
                <a:ea typeface="Courier New"/>
                <a:cs typeface="Courier New"/>
                <a:sym typeface="Courier New"/>
              </a:rPr>
              <a:t>Draft a reply to #1. Under 100 words, warm but decisive.</a:t>
            </a:r>
            <a:endParaRPr b="0" i="0" sz="2000" u="none" cap="none" strike="noStrike">
              <a:solidFill>
                <a:srgbClr val="000000"/>
              </a:solidFill>
              <a:latin typeface="Calibri"/>
              <a:ea typeface="Calibri"/>
              <a:cs typeface="Calibri"/>
              <a:sym typeface="Calibri"/>
            </a:endParaRPr>
          </a:p>
          <a:p>
            <a:pPr indent="0" lvl="0" marL="0" marR="0" rtl="0" algn="l">
              <a:lnSpc>
                <a:spcPct val="115000"/>
              </a:lnSpc>
              <a:spcBef>
                <a:spcPts val="0"/>
              </a:spcBef>
              <a:spcAft>
                <a:spcPts val="0"/>
              </a:spcAft>
              <a:buClr>
                <a:srgbClr val="1C2333"/>
              </a:buClr>
              <a:buSzPts val="2000"/>
              <a:buFont typeface="Courier New"/>
              <a:buNone/>
            </a:pPr>
            <a:r>
              <a:rPr b="0" i="0" lang="en-US" sz="2000" u="none" cap="none" strike="noStrike">
                <a:solidFill>
                  <a:srgbClr val="1C2333"/>
                </a:solidFill>
                <a:latin typeface="Courier New"/>
                <a:ea typeface="Courier New"/>
                <a:cs typeface="Courier New"/>
                <a:sym typeface="Courier New"/>
              </a:rPr>
              <a:t>Don’t send it — just show me.</a:t>
            </a:r>
            <a:endParaRPr b="0" i="0" sz="2000" u="none" cap="none" strike="noStrike">
              <a:solidFill>
                <a:srgbClr val="000000"/>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4213D"/>
        </a:solidFill>
      </p:bgPr>
    </p:bg>
    <p:spTree>
      <p:nvGrpSpPr>
        <p:cNvPr id="115" name="Shape 115"/>
        <p:cNvGrpSpPr/>
        <p:nvPr/>
      </p:nvGrpSpPr>
      <p:grpSpPr>
        <a:xfrm>
          <a:off x="0" y="0"/>
          <a:ext cx="0" cy="0"/>
          <a:chOff x="0" y="0"/>
          <a:chExt cx="0" cy="0"/>
        </a:xfrm>
      </p:grpSpPr>
      <p:sp>
        <p:nvSpPr>
          <p:cNvPr id="116" name="Google Shape;116;p11"/>
          <p:cNvSpPr/>
          <p:nvPr/>
        </p:nvSpPr>
        <p:spPr>
          <a:xfrm>
            <a:off x="822960" y="502920"/>
            <a:ext cx="10545775"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DB94A"/>
              </a:buClr>
              <a:buSzPts val="1200"/>
              <a:buFont typeface="Inter"/>
              <a:buNone/>
            </a:pPr>
            <a:r>
              <a:rPr b="1" lang="en-US" sz="1200">
                <a:solidFill>
                  <a:srgbClr val="DDB94A"/>
                </a:solidFill>
                <a:latin typeface="Inter"/>
                <a:ea typeface="Inter"/>
                <a:cs typeface="Inter"/>
                <a:sym typeface="Inter"/>
              </a:rPr>
              <a:t>CASE FILE 01 · LIVE DEMO — CHECKPOINT</a:t>
            </a:r>
            <a:endParaRPr sz="1200">
              <a:solidFill>
                <a:schemeClr val="dk1"/>
              </a:solidFill>
              <a:latin typeface="Calibri"/>
              <a:ea typeface="Calibri"/>
              <a:cs typeface="Calibri"/>
              <a:sym typeface="Calibri"/>
            </a:endParaRPr>
          </a:p>
        </p:txBody>
      </p:sp>
      <p:sp>
        <p:nvSpPr>
          <p:cNvPr id="117" name="Google Shape;117;p11"/>
          <p:cNvSpPr/>
          <p:nvPr/>
        </p:nvSpPr>
        <p:spPr>
          <a:xfrm>
            <a:off x="2194560" y="2148840"/>
            <a:ext cx="7802575" cy="1737360"/>
          </a:xfrm>
          <a:prstGeom prst="roundRect">
            <a:avLst>
              <a:gd fmla="val 3158" name="adj"/>
            </a:avLst>
          </a:prstGeom>
          <a:solidFill>
            <a:srgbClr val="C9A227">
              <a:alpha val="10196"/>
            </a:srgbClr>
          </a:solidFill>
          <a:ln cap="flat" cmpd="sng" w="15875">
            <a:solidFill>
              <a:srgbClr val="C9A227"/>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18" name="Google Shape;118;p11"/>
          <p:cNvSpPr/>
          <p:nvPr/>
        </p:nvSpPr>
        <p:spPr>
          <a:xfrm>
            <a:off x="2651760" y="2423160"/>
            <a:ext cx="6888175"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DB94A"/>
              </a:buClr>
              <a:buSzPts val="1200"/>
              <a:buFont typeface="Inter"/>
              <a:buNone/>
            </a:pPr>
            <a:r>
              <a:rPr b="1" lang="en-US" sz="1200">
                <a:solidFill>
                  <a:srgbClr val="DDB94A"/>
                </a:solidFill>
                <a:latin typeface="Inter"/>
                <a:ea typeface="Inter"/>
                <a:cs typeface="Inter"/>
                <a:sym typeface="Inter"/>
              </a:rPr>
              <a:t>✓  YOU DID IT WHEN…</a:t>
            </a:r>
            <a:endParaRPr sz="1200">
              <a:solidFill>
                <a:schemeClr val="dk1"/>
              </a:solidFill>
              <a:latin typeface="Calibri"/>
              <a:ea typeface="Calibri"/>
              <a:cs typeface="Calibri"/>
              <a:sym typeface="Calibri"/>
            </a:endParaRPr>
          </a:p>
        </p:txBody>
      </p:sp>
      <p:sp>
        <p:nvSpPr>
          <p:cNvPr id="119" name="Google Shape;119;p11"/>
          <p:cNvSpPr/>
          <p:nvPr/>
        </p:nvSpPr>
        <p:spPr>
          <a:xfrm>
            <a:off x="2651760" y="2715768"/>
            <a:ext cx="6888175" cy="914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7F3E9"/>
              </a:buClr>
              <a:buSzPts val="2400"/>
              <a:buFont typeface="Playfair Display"/>
              <a:buNone/>
            </a:pPr>
            <a:r>
              <a:rPr lang="en-US" sz="2400">
                <a:solidFill>
                  <a:srgbClr val="F7F3E9"/>
                </a:solidFill>
                <a:latin typeface="Playfair Display"/>
                <a:ea typeface="Playfair Display"/>
                <a:cs typeface="Playfair Display"/>
                <a:sym typeface="Playfair Display"/>
              </a:rPr>
              <a:t>Claude shows a draft you’d actually send.</a:t>
            </a:r>
            <a:endParaRPr sz="2400">
              <a:solidFill>
                <a:schemeClr val="dk1"/>
              </a:solidFill>
              <a:latin typeface="Calibri"/>
              <a:ea typeface="Calibri"/>
              <a:cs typeface="Calibri"/>
              <a:sym typeface="Calibri"/>
            </a:endParaRPr>
          </a:p>
        </p:txBody>
      </p:sp>
      <p:sp>
        <p:nvSpPr>
          <p:cNvPr id="120" name="Google Shape;120;p11"/>
          <p:cNvSpPr/>
          <p:nvPr/>
        </p:nvSpPr>
        <p:spPr>
          <a:xfrm>
            <a:off x="914400" y="4434840"/>
            <a:ext cx="10362895"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AFA893"/>
              </a:buClr>
              <a:buSzPts val="2400"/>
              <a:buFont typeface="Inter"/>
              <a:buNone/>
            </a:pPr>
            <a:r>
              <a:rPr i="1" lang="en-US" sz="2400">
                <a:solidFill>
                  <a:srgbClr val="AFA893"/>
                </a:solidFill>
                <a:latin typeface="Inter"/>
                <a:ea typeface="Inter"/>
                <a:cs typeface="Inter"/>
                <a:sym typeface="Inter"/>
              </a:rPr>
              <a:t>Chat is the job interview. Donna’s hired — now we train her.</a:t>
            </a:r>
            <a:endParaRPr sz="2400">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3E9"/>
        </a:solidFill>
      </p:bgPr>
    </p:bg>
    <p:spTree>
      <p:nvGrpSpPr>
        <p:cNvPr id="125" name="Shape 125"/>
        <p:cNvGrpSpPr/>
        <p:nvPr/>
      </p:nvGrpSpPr>
      <p:grpSpPr>
        <a:xfrm>
          <a:off x="0" y="0"/>
          <a:ext cx="0" cy="0"/>
          <a:chOff x="0" y="0"/>
          <a:chExt cx="0" cy="0"/>
        </a:xfrm>
      </p:grpSpPr>
      <p:sp>
        <p:nvSpPr>
          <p:cNvPr id="126" name="Google Shape;126;p12"/>
          <p:cNvSpPr/>
          <p:nvPr/>
        </p:nvSpPr>
        <p:spPr>
          <a:xfrm>
            <a:off x="822960" y="502920"/>
            <a:ext cx="10545775"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9A227"/>
              </a:buClr>
              <a:buSzPts val="1200"/>
              <a:buFont typeface="Inter"/>
              <a:buNone/>
            </a:pPr>
            <a:r>
              <a:rPr b="1" lang="en-US" sz="1200">
                <a:solidFill>
                  <a:srgbClr val="C9A227"/>
                </a:solidFill>
                <a:latin typeface="Inter"/>
                <a:ea typeface="Inter"/>
                <a:cs typeface="Inter"/>
                <a:sym typeface="Inter"/>
              </a:rPr>
              <a:t>CASE FILE 02 · PROJECT — THE TRIAGE DESK</a:t>
            </a:r>
            <a:endParaRPr sz="1200">
              <a:solidFill>
                <a:schemeClr val="dk1"/>
              </a:solidFill>
              <a:latin typeface="Calibri"/>
              <a:ea typeface="Calibri"/>
              <a:cs typeface="Calibri"/>
              <a:sym typeface="Calibri"/>
            </a:endParaRPr>
          </a:p>
        </p:txBody>
      </p:sp>
      <p:sp>
        <p:nvSpPr>
          <p:cNvPr id="127" name="Google Shape;127;p12"/>
          <p:cNvSpPr/>
          <p:nvPr/>
        </p:nvSpPr>
        <p:spPr>
          <a:xfrm>
            <a:off x="822960" y="868680"/>
            <a:ext cx="10545775"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4213D"/>
              </a:buClr>
              <a:buSzPts val="3200"/>
              <a:buFont typeface="Playfair Display"/>
              <a:buNone/>
            </a:pPr>
            <a:r>
              <a:rPr b="1" lang="en-US" sz="3200">
                <a:solidFill>
                  <a:srgbClr val="14213D"/>
                </a:solidFill>
                <a:latin typeface="Playfair Display"/>
                <a:ea typeface="Playfair Display"/>
                <a:cs typeface="Playfair Display"/>
                <a:sym typeface="Playfair Display"/>
              </a:rPr>
              <a:t>Teach her your rules once.</a:t>
            </a:r>
            <a:endParaRPr sz="3200">
              <a:solidFill>
                <a:schemeClr val="dk1"/>
              </a:solidFill>
              <a:latin typeface="Calibri"/>
              <a:ea typeface="Calibri"/>
              <a:cs typeface="Calibri"/>
              <a:sym typeface="Calibri"/>
            </a:endParaRPr>
          </a:p>
        </p:txBody>
      </p:sp>
      <p:sp>
        <p:nvSpPr>
          <p:cNvPr id="128" name="Google Shape;128;p12"/>
          <p:cNvSpPr/>
          <p:nvPr/>
        </p:nvSpPr>
        <p:spPr>
          <a:xfrm>
            <a:off x="822960" y="1691640"/>
            <a:ext cx="6949440" cy="4663440"/>
          </a:xfrm>
          <a:prstGeom prst="roundRect">
            <a:avLst>
              <a:gd fmla="val 980" name="adj"/>
            </a:avLst>
          </a:prstGeom>
          <a:solidFill>
            <a:srgbClr val="14213D"/>
          </a:solidFill>
          <a:ln>
            <a:noFill/>
          </a:ln>
          <a:effectLst>
            <a:outerShdw blurRad="177800" rotWithShape="0" algn="bl" dir="5400000" dist="76200">
              <a:srgbClr val="9A917C">
                <a:alpha val="50196"/>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29" name="Google Shape;129;p12"/>
          <p:cNvSpPr/>
          <p:nvPr/>
        </p:nvSpPr>
        <p:spPr>
          <a:xfrm>
            <a:off x="1143000" y="1874520"/>
            <a:ext cx="630936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DB94A"/>
              </a:buClr>
              <a:buSzPts val="950"/>
              <a:buFont typeface="Inter"/>
              <a:buNone/>
            </a:pPr>
            <a:r>
              <a:rPr b="1" lang="en-US" sz="950">
                <a:solidFill>
                  <a:srgbClr val="DDB94A"/>
                </a:solidFill>
                <a:latin typeface="Inter"/>
                <a:ea typeface="Inter"/>
                <a:cs typeface="Inter"/>
                <a:sym typeface="Inter"/>
              </a:rPr>
              <a:t>PROJECT INSTRUCTIONS — PASTE FROM THE SITE, FILL 3 BLANKS</a:t>
            </a:r>
            <a:endParaRPr sz="950">
              <a:solidFill>
                <a:schemeClr val="dk1"/>
              </a:solidFill>
              <a:latin typeface="Calibri"/>
              <a:ea typeface="Calibri"/>
              <a:cs typeface="Calibri"/>
              <a:sym typeface="Calibri"/>
            </a:endParaRPr>
          </a:p>
        </p:txBody>
      </p:sp>
      <p:sp>
        <p:nvSpPr>
          <p:cNvPr id="130" name="Google Shape;130;p12"/>
          <p:cNvSpPr/>
          <p:nvPr/>
        </p:nvSpPr>
        <p:spPr>
          <a:xfrm>
            <a:off x="1143000" y="2194560"/>
            <a:ext cx="6309360" cy="3886200"/>
          </a:xfrm>
          <a:prstGeom prst="rect">
            <a:avLst/>
          </a:prstGeom>
          <a:noFill/>
          <a:ln>
            <a:noFill/>
          </a:ln>
        </p:spPr>
        <p:txBody>
          <a:bodyPr anchorCtr="0" anchor="t" bIns="0" lIns="0" spcFirstLastPara="1" rIns="0" wrap="square" tIns="0">
            <a:noAutofit/>
          </a:bodyPr>
          <a:lstStyle/>
          <a:p>
            <a:pPr indent="0" lvl="0" marL="0" marR="0" rtl="0" algn="l">
              <a:lnSpc>
                <a:spcPct val="122000"/>
              </a:lnSpc>
              <a:spcBef>
                <a:spcPts val="0"/>
              </a:spcBef>
              <a:spcAft>
                <a:spcPts val="0"/>
              </a:spcAft>
              <a:buClr>
                <a:srgbClr val="F7F3E9"/>
              </a:buClr>
              <a:buSzPts val="1150"/>
              <a:buFont typeface="Courier New"/>
              <a:buNone/>
            </a:pPr>
            <a:r>
              <a:rPr lang="en-US" sz="1150">
                <a:solidFill>
                  <a:srgbClr val="F7F3E9"/>
                </a:solidFill>
                <a:latin typeface="Courier New"/>
                <a:ea typeface="Courier New"/>
                <a:cs typeface="Courier New"/>
                <a:sym typeface="Courier New"/>
              </a:rPr>
              <a:t>You are my inbox triage assistant. Whenever I ask you to triage:</a:t>
            </a:r>
            <a:endParaRPr sz="1150">
              <a:solidFill>
                <a:schemeClr val="dk1"/>
              </a:solidFill>
              <a:latin typeface="Calibri"/>
              <a:ea typeface="Calibri"/>
              <a:cs typeface="Calibri"/>
              <a:sym typeface="Calibri"/>
            </a:endParaRPr>
          </a:p>
          <a:p>
            <a:pPr indent="0" lvl="0" marL="0" marR="0" rtl="0" algn="l">
              <a:lnSpc>
                <a:spcPct val="122000"/>
              </a:lnSpc>
              <a:spcBef>
                <a:spcPts val="0"/>
              </a:spcBef>
              <a:spcAft>
                <a:spcPts val="0"/>
              </a:spcAft>
              <a:buClr>
                <a:srgbClr val="F7F3E9"/>
              </a:buClr>
              <a:buSzPts val="1150"/>
              <a:buFont typeface="Courier New"/>
              <a:buNone/>
            </a:pPr>
            <a:r>
              <a:rPr lang="en-US" sz="1150">
                <a:solidFill>
                  <a:srgbClr val="F7F3E9"/>
                </a:solidFill>
                <a:latin typeface="Courier New"/>
                <a:ea typeface="Courier New"/>
                <a:cs typeface="Courier New"/>
                <a:sym typeface="Courier New"/>
              </a:rPr>
              <a:t>1. Review my inbox for the period I mention (default: last 24 hours).</a:t>
            </a:r>
            <a:endParaRPr sz="1150">
              <a:solidFill>
                <a:schemeClr val="dk1"/>
              </a:solidFill>
              <a:latin typeface="Calibri"/>
              <a:ea typeface="Calibri"/>
              <a:cs typeface="Calibri"/>
              <a:sym typeface="Calibri"/>
            </a:endParaRPr>
          </a:p>
          <a:p>
            <a:pPr indent="0" lvl="0" marL="0" marR="0" rtl="0" algn="l">
              <a:lnSpc>
                <a:spcPct val="122000"/>
              </a:lnSpc>
              <a:spcBef>
                <a:spcPts val="0"/>
              </a:spcBef>
              <a:spcAft>
                <a:spcPts val="0"/>
              </a:spcAft>
              <a:buClr>
                <a:srgbClr val="F7F3E9"/>
              </a:buClr>
              <a:buSzPts val="1150"/>
              <a:buFont typeface="Courier New"/>
              <a:buNone/>
            </a:pPr>
            <a:r>
              <a:rPr lang="en-US" sz="1150">
                <a:solidFill>
                  <a:srgbClr val="F7F3E9"/>
                </a:solidFill>
                <a:latin typeface="Courier New"/>
                <a:ea typeface="Courier New"/>
                <a:cs typeface="Courier New"/>
                <a:sym typeface="Courier New"/>
              </a:rPr>
              <a:t>2. Sort every thread into: 🔴 NEEDS ME TODAY · 🟡 DELEGATE · 🔵 FYI · ⚪ IGNORE</a:t>
            </a:r>
            <a:endParaRPr sz="1150">
              <a:solidFill>
                <a:schemeClr val="dk1"/>
              </a:solidFill>
              <a:latin typeface="Calibri"/>
              <a:ea typeface="Calibri"/>
              <a:cs typeface="Calibri"/>
              <a:sym typeface="Calibri"/>
            </a:endParaRPr>
          </a:p>
          <a:p>
            <a:pPr indent="0" lvl="0" marL="0" marR="0" rtl="0" algn="l">
              <a:lnSpc>
                <a:spcPct val="122000"/>
              </a:lnSpc>
              <a:spcBef>
                <a:spcPts val="0"/>
              </a:spcBef>
              <a:spcAft>
                <a:spcPts val="0"/>
              </a:spcAft>
              <a:buClr>
                <a:srgbClr val="F7F3E9"/>
              </a:buClr>
              <a:buSzPts val="1150"/>
              <a:buFont typeface="Courier New"/>
              <a:buNone/>
            </a:pPr>
            <a:r>
              <a:rPr lang="en-US" sz="1150">
                <a:solidFill>
                  <a:srgbClr val="F7F3E9"/>
                </a:solidFill>
                <a:latin typeface="Courier New"/>
                <a:ea typeface="Courier New"/>
                <a:cs typeface="Courier New"/>
                <a:sym typeface="Courier New"/>
              </a:rPr>
              <a:t>   - These people are ALWAYS 🔴 unless pure FYI: </a:t>
            </a:r>
            <a:endParaRPr sz="1150">
              <a:solidFill>
                <a:schemeClr val="dk1"/>
              </a:solidFill>
              <a:latin typeface="Calibri"/>
              <a:ea typeface="Calibri"/>
              <a:cs typeface="Calibri"/>
              <a:sym typeface="Calibri"/>
            </a:endParaRPr>
          </a:p>
          <a:p>
            <a:pPr indent="0" lvl="0" marL="0" marR="0" rtl="0" algn="l">
              <a:lnSpc>
                <a:spcPct val="122000"/>
              </a:lnSpc>
              <a:spcBef>
                <a:spcPts val="0"/>
              </a:spcBef>
              <a:spcAft>
                <a:spcPts val="0"/>
              </a:spcAft>
              <a:buClr>
                <a:srgbClr val="DDB94A"/>
              </a:buClr>
              <a:buSzPts val="1150"/>
              <a:buFont typeface="Courier New"/>
              <a:buNone/>
            </a:pPr>
            <a:r>
              <a:rPr b="1" lang="en-US" sz="1150">
                <a:solidFill>
                  <a:srgbClr val="DDB94A"/>
                </a:solidFill>
                <a:latin typeface="Courier New"/>
                <a:ea typeface="Courier New"/>
                <a:cs typeface="Courier New"/>
                <a:sym typeface="Courier New"/>
              </a:rPr>
              <a:t>[ADD 3–5 NAMES + EMAILS]</a:t>
            </a:r>
            <a:endParaRPr sz="1150">
              <a:solidFill>
                <a:schemeClr val="dk1"/>
              </a:solidFill>
              <a:latin typeface="Calibri"/>
              <a:ea typeface="Calibri"/>
              <a:cs typeface="Calibri"/>
              <a:sym typeface="Calibri"/>
            </a:endParaRPr>
          </a:p>
          <a:p>
            <a:pPr indent="0" lvl="0" marL="0" marR="0" rtl="0" algn="l">
              <a:lnSpc>
                <a:spcPct val="122000"/>
              </a:lnSpc>
              <a:spcBef>
                <a:spcPts val="0"/>
              </a:spcBef>
              <a:spcAft>
                <a:spcPts val="0"/>
              </a:spcAft>
              <a:buClr>
                <a:srgbClr val="F7F3E9"/>
              </a:buClr>
              <a:buSzPts val="1150"/>
              <a:buFont typeface="Courier New"/>
              <a:buNone/>
            </a:pPr>
            <a:r>
              <a:rPr lang="en-US" sz="1150">
                <a:solidFill>
                  <a:srgbClr val="F7F3E9"/>
                </a:solidFill>
                <a:latin typeface="Courier New"/>
                <a:ea typeface="Courier New"/>
                <a:cs typeface="Courier New"/>
                <a:sym typeface="Courier New"/>
              </a:rPr>
              <a:t>   - Newsletters, cold outreach, automated notices → ⚪</a:t>
            </a:r>
            <a:endParaRPr sz="1150">
              <a:solidFill>
                <a:schemeClr val="dk1"/>
              </a:solidFill>
              <a:latin typeface="Calibri"/>
              <a:ea typeface="Calibri"/>
              <a:cs typeface="Calibri"/>
              <a:sym typeface="Calibri"/>
            </a:endParaRPr>
          </a:p>
          <a:p>
            <a:pPr indent="0" lvl="0" marL="0" marR="0" rtl="0" algn="l">
              <a:lnSpc>
                <a:spcPct val="122000"/>
              </a:lnSpc>
              <a:spcBef>
                <a:spcPts val="0"/>
              </a:spcBef>
              <a:spcAft>
                <a:spcPts val="0"/>
              </a:spcAft>
              <a:buClr>
                <a:srgbClr val="F7F3E9"/>
              </a:buClr>
              <a:buSzPts val="1150"/>
              <a:buFont typeface="Courier New"/>
              <a:buNone/>
            </a:pPr>
            <a:r>
              <a:rPr lang="en-US" sz="1150">
                <a:solidFill>
                  <a:srgbClr val="F7F3E9"/>
                </a:solidFill>
                <a:latin typeface="Courier New"/>
                <a:ea typeface="Courier New"/>
                <a:cs typeface="Courier New"/>
                <a:sym typeface="Courier New"/>
              </a:rPr>
              <a:t>   - Anything about </a:t>
            </a:r>
            <a:endParaRPr sz="1150">
              <a:solidFill>
                <a:schemeClr val="dk1"/>
              </a:solidFill>
              <a:latin typeface="Calibri"/>
              <a:ea typeface="Calibri"/>
              <a:cs typeface="Calibri"/>
              <a:sym typeface="Calibri"/>
            </a:endParaRPr>
          </a:p>
          <a:p>
            <a:pPr indent="0" lvl="0" marL="0" marR="0" rtl="0" algn="l">
              <a:lnSpc>
                <a:spcPct val="122000"/>
              </a:lnSpc>
              <a:spcBef>
                <a:spcPts val="0"/>
              </a:spcBef>
              <a:spcAft>
                <a:spcPts val="0"/>
              </a:spcAft>
              <a:buClr>
                <a:srgbClr val="DDB94A"/>
              </a:buClr>
              <a:buSzPts val="1150"/>
              <a:buFont typeface="Courier New"/>
              <a:buNone/>
            </a:pPr>
            <a:r>
              <a:rPr b="1" lang="en-US" sz="1150">
                <a:solidFill>
                  <a:srgbClr val="DDB94A"/>
                </a:solidFill>
                <a:latin typeface="Courier New"/>
                <a:ea typeface="Courier New"/>
                <a:cs typeface="Courier New"/>
                <a:sym typeface="Courier New"/>
              </a:rPr>
              <a:t>[ADD YOUR #1 PROJECT OR DEAL]</a:t>
            </a:r>
            <a:r>
              <a:rPr lang="en-US" sz="1150">
                <a:solidFill>
                  <a:srgbClr val="F7F3E9"/>
                </a:solidFill>
                <a:latin typeface="Courier New"/>
                <a:ea typeface="Courier New"/>
                <a:cs typeface="Courier New"/>
                <a:sym typeface="Courier New"/>
              </a:rPr>
              <a:t> → 🔴</a:t>
            </a:r>
            <a:endParaRPr sz="1150">
              <a:solidFill>
                <a:schemeClr val="dk1"/>
              </a:solidFill>
              <a:latin typeface="Calibri"/>
              <a:ea typeface="Calibri"/>
              <a:cs typeface="Calibri"/>
              <a:sym typeface="Calibri"/>
            </a:endParaRPr>
          </a:p>
          <a:p>
            <a:pPr indent="0" lvl="0" marL="0" marR="0" rtl="0" algn="l">
              <a:lnSpc>
                <a:spcPct val="122000"/>
              </a:lnSpc>
              <a:spcBef>
                <a:spcPts val="0"/>
              </a:spcBef>
              <a:spcAft>
                <a:spcPts val="0"/>
              </a:spcAft>
              <a:buClr>
                <a:srgbClr val="F7F3E9"/>
              </a:buClr>
              <a:buSzPts val="1150"/>
              <a:buFont typeface="Courier New"/>
              <a:buNone/>
            </a:pPr>
            <a:r>
              <a:rPr lang="en-US" sz="1150">
                <a:solidFill>
                  <a:srgbClr val="F7F3E9"/>
                </a:solidFill>
                <a:latin typeface="Courier New"/>
                <a:ea typeface="Courier New"/>
                <a:cs typeface="Courier New"/>
                <a:sym typeface="Courier New"/>
              </a:rPr>
              <a:t>3. Give me ONE table: sender · subject · category · one-line why ·</a:t>
            </a:r>
            <a:endParaRPr sz="1150">
              <a:solidFill>
                <a:schemeClr val="dk1"/>
              </a:solidFill>
              <a:latin typeface="Calibri"/>
              <a:ea typeface="Calibri"/>
              <a:cs typeface="Calibri"/>
              <a:sym typeface="Calibri"/>
            </a:endParaRPr>
          </a:p>
          <a:p>
            <a:pPr indent="0" lvl="0" marL="0" marR="0" rtl="0" algn="l">
              <a:lnSpc>
                <a:spcPct val="122000"/>
              </a:lnSpc>
              <a:spcBef>
                <a:spcPts val="0"/>
              </a:spcBef>
              <a:spcAft>
                <a:spcPts val="0"/>
              </a:spcAft>
              <a:buClr>
                <a:srgbClr val="F7F3E9"/>
              </a:buClr>
              <a:buSzPts val="1150"/>
              <a:buFont typeface="Courier New"/>
              <a:buNone/>
            </a:pPr>
            <a:r>
              <a:rPr lang="en-US" sz="1150">
                <a:solidFill>
                  <a:srgbClr val="F7F3E9"/>
                </a:solidFill>
                <a:latin typeface="Courier New"/>
                <a:ea typeface="Courier New"/>
                <a:cs typeface="Courier New"/>
                <a:sym typeface="Courier New"/>
              </a:rPr>
              <a:t>   suggested action.</a:t>
            </a:r>
            <a:endParaRPr sz="1150">
              <a:solidFill>
                <a:schemeClr val="dk1"/>
              </a:solidFill>
              <a:latin typeface="Calibri"/>
              <a:ea typeface="Calibri"/>
              <a:cs typeface="Calibri"/>
              <a:sym typeface="Calibri"/>
            </a:endParaRPr>
          </a:p>
          <a:p>
            <a:pPr indent="0" lvl="0" marL="0" marR="0" rtl="0" algn="l">
              <a:lnSpc>
                <a:spcPct val="122000"/>
              </a:lnSpc>
              <a:spcBef>
                <a:spcPts val="0"/>
              </a:spcBef>
              <a:spcAft>
                <a:spcPts val="0"/>
              </a:spcAft>
              <a:buClr>
                <a:srgbClr val="F7F3E9"/>
              </a:buClr>
              <a:buSzPts val="1150"/>
              <a:buFont typeface="Courier New"/>
              <a:buNone/>
            </a:pPr>
            <a:r>
              <a:rPr lang="en-US" sz="1150">
                <a:solidFill>
                  <a:srgbClr val="F7F3E9"/>
                </a:solidFill>
                <a:latin typeface="Courier New"/>
                <a:ea typeface="Courier New"/>
                <a:cs typeface="Courier New"/>
                <a:sym typeface="Courier New"/>
              </a:rPr>
              <a:t>4. Offer to draft replies for the 🔴 rows. My voice: </a:t>
            </a:r>
            <a:endParaRPr sz="1150">
              <a:solidFill>
                <a:schemeClr val="dk1"/>
              </a:solidFill>
              <a:latin typeface="Calibri"/>
              <a:ea typeface="Calibri"/>
              <a:cs typeface="Calibri"/>
              <a:sym typeface="Calibri"/>
            </a:endParaRPr>
          </a:p>
          <a:p>
            <a:pPr indent="0" lvl="0" marL="0" marR="0" rtl="0" algn="l">
              <a:lnSpc>
                <a:spcPct val="122000"/>
              </a:lnSpc>
              <a:spcBef>
                <a:spcPts val="0"/>
              </a:spcBef>
              <a:spcAft>
                <a:spcPts val="0"/>
              </a:spcAft>
              <a:buClr>
                <a:srgbClr val="DDB94A"/>
              </a:buClr>
              <a:buSzPts val="1150"/>
              <a:buFont typeface="Courier New"/>
              <a:buNone/>
            </a:pPr>
            <a:r>
              <a:rPr b="1" lang="en-US" sz="1150">
                <a:solidFill>
                  <a:srgbClr val="DDB94A"/>
                </a:solidFill>
                <a:latin typeface="Courier New"/>
                <a:ea typeface="Courier New"/>
                <a:cs typeface="Courier New"/>
                <a:sym typeface="Courier New"/>
              </a:rPr>
              <a:t>[ADD 3 WORDS]</a:t>
            </a:r>
            <a:r>
              <a:rPr lang="en-US" sz="1150">
                <a:solidFill>
                  <a:srgbClr val="F7F3E9"/>
                </a:solidFill>
                <a:latin typeface="Courier New"/>
                <a:ea typeface="Courier New"/>
                <a:cs typeface="Courier New"/>
                <a:sym typeface="Courier New"/>
              </a:rPr>
              <a:t>.</a:t>
            </a:r>
            <a:endParaRPr sz="1150">
              <a:solidFill>
                <a:schemeClr val="dk1"/>
              </a:solidFill>
              <a:latin typeface="Calibri"/>
              <a:ea typeface="Calibri"/>
              <a:cs typeface="Calibri"/>
              <a:sym typeface="Calibri"/>
            </a:endParaRPr>
          </a:p>
          <a:p>
            <a:pPr indent="0" lvl="0" marL="0" marR="0" rtl="0" algn="l">
              <a:lnSpc>
                <a:spcPct val="122000"/>
              </a:lnSpc>
              <a:spcBef>
                <a:spcPts val="0"/>
              </a:spcBef>
              <a:spcAft>
                <a:spcPts val="0"/>
              </a:spcAft>
              <a:buClr>
                <a:srgbClr val="F7F3E9"/>
              </a:buClr>
              <a:buSzPts val="1150"/>
              <a:buFont typeface="Courier New"/>
              <a:buNone/>
            </a:pPr>
            <a:r>
              <a:rPr lang="en-US" sz="1150">
                <a:solidFill>
                  <a:srgbClr val="F7F3E9"/>
                </a:solidFill>
                <a:latin typeface="Courier New"/>
                <a:ea typeface="Courier New"/>
                <a:cs typeface="Courier New"/>
                <a:sym typeface="Courier New"/>
              </a:rPr>
              <a:t>Never send anything.</a:t>
            </a:r>
            <a:endParaRPr sz="1150">
              <a:solidFill>
                <a:schemeClr val="dk1"/>
              </a:solidFill>
              <a:latin typeface="Calibri"/>
              <a:ea typeface="Calibri"/>
              <a:cs typeface="Calibri"/>
              <a:sym typeface="Calibri"/>
            </a:endParaRPr>
          </a:p>
        </p:txBody>
      </p:sp>
      <p:sp>
        <p:nvSpPr>
          <p:cNvPr id="131" name="Google Shape;131;p12"/>
          <p:cNvSpPr/>
          <p:nvPr/>
        </p:nvSpPr>
        <p:spPr>
          <a:xfrm>
            <a:off x="8092450" y="1828800"/>
            <a:ext cx="3898200" cy="6858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14213D"/>
              </a:buClr>
              <a:buSzPts val="1400"/>
              <a:buFont typeface="Inter"/>
              <a:buNone/>
            </a:pPr>
            <a:r>
              <a:rPr b="1" lang="en-US" sz="1400">
                <a:solidFill>
                  <a:srgbClr val="14213D"/>
                </a:solidFill>
                <a:latin typeface="Inter"/>
                <a:ea typeface="Inter"/>
                <a:cs typeface="Inter"/>
                <a:sym typeface="Inter"/>
              </a:rPr>
              <a:t>The three blanks are the only editing you do:</a:t>
            </a:r>
            <a:endParaRPr sz="1400">
              <a:solidFill>
                <a:schemeClr val="dk1"/>
              </a:solidFill>
              <a:latin typeface="Calibri"/>
              <a:ea typeface="Calibri"/>
              <a:cs typeface="Calibri"/>
              <a:sym typeface="Calibri"/>
            </a:endParaRPr>
          </a:p>
        </p:txBody>
      </p:sp>
      <p:sp>
        <p:nvSpPr>
          <p:cNvPr id="132" name="Google Shape;132;p12"/>
          <p:cNvSpPr/>
          <p:nvPr/>
        </p:nvSpPr>
        <p:spPr>
          <a:xfrm>
            <a:off x="8016222" y="2694425"/>
            <a:ext cx="274200" cy="274200"/>
          </a:xfrm>
          <a:prstGeom prst="diamond">
            <a:avLst/>
          </a:prstGeom>
          <a:solidFill>
            <a:srgbClr val="C9A227"/>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33" name="Google Shape;133;p12"/>
          <p:cNvSpPr/>
          <p:nvPr/>
        </p:nvSpPr>
        <p:spPr>
          <a:xfrm>
            <a:off x="8366760" y="2560320"/>
            <a:ext cx="3200400" cy="1005840"/>
          </a:xfrm>
          <a:prstGeom prst="rect">
            <a:avLst/>
          </a:prstGeom>
          <a:noFill/>
          <a:ln>
            <a:noFill/>
          </a:ln>
        </p:spPr>
        <p:txBody>
          <a:bodyPr anchorCtr="0" anchor="ctr" bIns="0" lIns="0" spcFirstLastPara="1" rIns="0" wrap="square" tIns="0">
            <a:noAutofit/>
          </a:bodyPr>
          <a:lstStyle/>
          <a:p>
            <a:pPr indent="0" lvl="0" marL="0" marR="0" rtl="0" algn="l">
              <a:lnSpc>
                <a:spcPct val="112000"/>
              </a:lnSpc>
              <a:spcBef>
                <a:spcPts val="0"/>
              </a:spcBef>
              <a:spcAft>
                <a:spcPts val="0"/>
              </a:spcAft>
              <a:buClr>
                <a:srgbClr val="14213D"/>
              </a:buClr>
              <a:buSzPts val="1500"/>
              <a:buFont typeface="Playfair Display"/>
              <a:buNone/>
            </a:pPr>
            <a:r>
              <a:rPr b="1" lang="en-US" sz="1800">
                <a:solidFill>
                  <a:srgbClr val="14213D"/>
                </a:solidFill>
                <a:latin typeface="Playfair Display"/>
                <a:ea typeface="Playfair Display"/>
                <a:cs typeface="Playfair Display"/>
                <a:sym typeface="Playfair Display"/>
              </a:rPr>
              <a:t>Your always-red list</a:t>
            </a:r>
            <a:br>
              <a:rPr b="1" lang="en-US" sz="1800">
                <a:solidFill>
                  <a:srgbClr val="14213D"/>
                </a:solidFill>
                <a:latin typeface="Playfair Display"/>
                <a:ea typeface="Playfair Display"/>
                <a:cs typeface="Playfair Display"/>
                <a:sym typeface="Playfair Display"/>
              </a:rPr>
            </a:br>
            <a:r>
              <a:rPr lang="en-US" sz="1500">
                <a:solidFill>
                  <a:srgbClr val="5A6379"/>
                </a:solidFill>
                <a:latin typeface="Inter"/>
                <a:ea typeface="Inter"/>
                <a:cs typeface="Inter"/>
                <a:sym typeface="Inter"/>
              </a:rPr>
              <a:t>the 3–5 people whose email always needs you</a:t>
            </a:r>
            <a:endParaRPr sz="1800">
              <a:solidFill>
                <a:schemeClr val="dk1"/>
              </a:solidFill>
              <a:latin typeface="Calibri"/>
              <a:ea typeface="Calibri"/>
              <a:cs typeface="Calibri"/>
              <a:sym typeface="Calibri"/>
            </a:endParaRPr>
          </a:p>
        </p:txBody>
      </p:sp>
      <p:sp>
        <p:nvSpPr>
          <p:cNvPr id="134" name="Google Shape;134;p12"/>
          <p:cNvSpPr/>
          <p:nvPr/>
        </p:nvSpPr>
        <p:spPr>
          <a:xfrm>
            <a:off x="8366760" y="3639312"/>
            <a:ext cx="3200400" cy="1005840"/>
          </a:xfrm>
          <a:prstGeom prst="rect">
            <a:avLst/>
          </a:prstGeom>
          <a:noFill/>
          <a:ln>
            <a:noFill/>
          </a:ln>
        </p:spPr>
        <p:txBody>
          <a:bodyPr anchorCtr="0" anchor="ctr" bIns="0" lIns="0" spcFirstLastPara="1" rIns="0" wrap="square" tIns="0">
            <a:noAutofit/>
          </a:bodyPr>
          <a:lstStyle/>
          <a:p>
            <a:pPr indent="0" lvl="0" marL="0" marR="0" rtl="0" algn="l">
              <a:lnSpc>
                <a:spcPct val="112000"/>
              </a:lnSpc>
              <a:spcBef>
                <a:spcPts val="0"/>
              </a:spcBef>
              <a:spcAft>
                <a:spcPts val="0"/>
              </a:spcAft>
              <a:buClr>
                <a:srgbClr val="14213D"/>
              </a:buClr>
              <a:buSzPts val="1500"/>
              <a:buFont typeface="Playfair Display"/>
              <a:buNone/>
            </a:pPr>
            <a:r>
              <a:rPr b="1" lang="en-US" sz="1800">
                <a:solidFill>
                  <a:srgbClr val="14213D"/>
                </a:solidFill>
                <a:latin typeface="Playfair Display"/>
                <a:ea typeface="Playfair Display"/>
                <a:cs typeface="Playfair Display"/>
                <a:sym typeface="Playfair Display"/>
              </a:rPr>
              <a:t>Your #1 deal</a:t>
            </a:r>
            <a:br>
              <a:rPr b="1" lang="en-US" sz="1800">
                <a:solidFill>
                  <a:srgbClr val="14213D"/>
                </a:solidFill>
                <a:latin typeface="Playfair Display"/>
                <a:ea typeface="Playfair Display"/>
                <a:cs typeface="Playfair Display"/>
                <a:sym typeface="Playfair Display"/>
              </a:rPr>
            </a:br>
            <a:r>
              <a:rPr lang="en-US" sz="1500">
                <a:solidFill>
                  <a:srgbClr val="5A6379"/>
                </a:solidFill>
                <a:latin typeface="Inter"/>
                <a:ea typeface="Inter"/>
                <a:cs typeface="Inter"/>
                <a:sym typeface="Inter"/>
              </a:rPr>
              <a:t>the thing that jumps every queue right now</a:t>
            </a:r>
            <a:endParaRPr sz="1800">
              <a:solidFill>
                <a:schemeClr val="dk1"/>
              </a:solidFill>
              <a:latin typeface="Calibri"/>
              <a:ea typeface="Calibri"/>
              <a:cs typeface="Calibri"/>
              <a:sym typeface="Calibri"/>
            </a:endParaRPr>
          </a:p>
        </p:txBody>
      </p:sp>
      <p:sp>
        <p:nvSpPr>
          <p:cNvPr id="135" name="Google Shape;135;p12"/>
          <p:cNvSpPr/>
          <p:nvPr/>
        </p:nvSpPr>
        <p:spPr>
          <a:xfrm>
            <a:off x="8366760" y="4718304"/>
            <a:ext cx="3200400" cy="1005840"/>
          </a:xfrm>
          <a:prstGeom prst="rect">
            <a:avLst/>
          </a:prstGeom>
          <a:noFill/>
          <a:ln>
            <a:noFill/>
          </a:ln>
        </p:spPr>
        <p:txBody>
          <a:bodyPr anchorCtr="0" anchor="ctr" bIns="0" lIns="0" spcFirstLastPara="1" rIns="0" wrap="square" tIns="0">
            <a:noAutofit/>
          </a:bodyPr>
          <a:lstStyle/>
          <a:p>
            <a:pPr indent="0" lvl="0" marL="0" marR="0" rtl="0" algn="l">
              <a:lnSpc>
                <a:spcPct val="112000"/>
              </a:lnSpc>
              <a:spcBef>
                <a:spcPts val="0"/>
              </a:spcBef>
              <a:spcAft>
                <a:spcPts val="0"/>
              </a:spcAft>
              <a:buClr>
                <a:srgbClr val="14213D"/>
              </a:buClr>
              <a:buSzPts val="1500"/>
              <a:buFont typeface="Playfair Display"/>
              <a:buNone/>
            </a:pPr>
            <a:r>
              <a:rPr b="1" lang="en-US" sz="1800">
                <a:solidFill>
                  <a:srgbClr val="14213D"/>
                </a:solidFill>
                <a:latin typeface="Playfair Display"/>
                <a:ea typeface="Playfair Display"/>
                <a:cs typeface="Playfair Display"/>
                <a:sym typeface="Playfair Display"/>
              </a:rPr>
              <a:t>Your voice, in 3 words</a:t>
            </a:r>
            <a:br>
              <a:rPr b="1" lang="en-US" sz="1800">
                <a:solidFill>
                  <a:srgbClr val="14213D"/>
                </a:solidFill>
                <a:latin typeface="Playfair Display"/>
                <a:ea typeface="Playfair Display"/>
                <a:cs typeface="Playfair Display"/>
                <a:sym typeface="Playfair Display"/>
              </a:rPr>
            </a:br>
            <a:r>
              <a:rPr lang="en-US" sz="1500">
                <a:solidFill>
                  <a:srgbClr val="5A6379"/>
                </a:solidFill>
                <a:latin typeface="Inter"/>
                <a:ea typeface="Inter"/>
                <a:cs typeface="Inter"/>
                <a:sym typeface="Inter"/>
              </a:rPr>
              <a:t>warm, brief, decisive is a fine start</a:t>
            </a:r>
            <a:endParaRPr sz="1800">
              <a:solidFill>
                <a:schemeClr val="dk1"/>
              </a:solidFill>
              <a:latin typeface="Calibri"/>
              <a:ea typeface="Calibri"/>
              <a:cs typeface="Calibri"/>
              <a:sym typeface="Calibri"/>
            </a:endParaRPr>
          </a:p>
        </p:txBody>
      </p:sp>
      <p:sp>
        <p:nvSpPr>
          <p:cNvPr id="136" name="Google Shape;136;p12"/>
          <p:cNvSpPr/>
          <p:nvPr/>
        </p:nvSpPr>
        <p:spPr>
          <a:xfrm>
            <a:off x="8016222" y="3764825"/>
            <a:ext cx="274200" cy="274200"/>
          </a:xfrm>
          <a:prstGeom prst="diamond">
            <a:avLst/>
          </a:prstGeom>
          <a:solidFill>
            <a:srgbClr val="C9A227"/>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37" name="Google Shape;137;p12"/>
          <p:cNvSpPr/>
          <p:nvPr/>
        </p:nvSpPr>
        <p:spPr>
          <a:xfrm>
            <a:off x="8016222" y="4983725"/>
            <a:ext cx="274200" cy="274200"/>
          </a:xfrm>
          <a:prstGeom prst="diamond">
            <a:avLst/>
          </a:prstGeom>
          <a:solidFill>
            <a:srgbClr val="C9A227"/>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4213D"/>
        </a:solidFill>
      </p:bgPr>
    </p:bg>
    <p:spTree>
      <p:nvGrpSpPr>
        <p:cNvPr id="142" name="Shape 142"/>
        <p:cNvGrpSpPr/>
        <p:nvPr/>
      </p:nvGrpSpPr>
      <p:grpSpPr>
        <a:xfrm>
          <a:off x="0" y="0"/>
          <a:ext cx="0" cy="0"/>
          <a:chOff x="0" y="0"/>
          <a:chExt cx="0" cy="0"/>
        </a:xfrm>
      </p:grpSpPr>
      <p:sp>
        <p:nvSpPr>
          <p:cNvPr id="143" name="Google Shape;143;p13"/>
          <p:cNvSpPr/>
          <p:nvPr/>
        </p:nvSpPr>
        <p:spPr>
          <a:xfrm>
            <a:off x="822960" y="502920"/>
            <a:ext cx="10545775"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DB94A"/>
              </a:buClr>
              <a:buSzPts val="1200"/>
              <a:buFont typeface="Inter"/>
              <a:buNone/>
            </a:pPr>
            <a:r>
              <a:rPr b="1" lang="en-US" sz="1200">
                <a:solidFill>
                  <a:srgbClr val="DDB94A"/>
                </a:solidFill>
                <a:latin typeface="Inter"/>
                <a:ea typeface="Inter"/>
                <a:cs typeface="Inter"/>
                <a:sym typeface="Inter"/>
              </a:rPr>
              <a:t>CASE FILE 02 · LIVE DEMO — CHECKPOINT</a:t>
            </a:r>
            <a:endParaRPr sz="1200">
              <a:solidFill>
                <a:schemeClr val="dk1"/>
              </a:solidFill>
              <a:latin typeface="Calibri"/>
              <a:ea typeface="Calibri"/>
              <a:cs typeface="Calibri"/>
              <a:sym typeface="Calibri"/>
            </a:endParaRPr>
          </a:p>
        </p:txBody>
      </p:sp>
      <p:sp>
        <p:nvSpPr>
          <p:cNvPr id="144" name="Google Shape;144;p13"/>
          <p:cNvSpPr/>
          <p:nvPr/>
        </p:nvSpPr>
        <p:spPr>
          <a:xfrm>
            <a:off x="2194560" y="1920240"/>
            <a:ext cx="7802575" cy="1737360"/>
          </a:xfrm>
          <a:prstGeom prst="roundRect">
            <a:avLst>
              <a:gd fmla="val 3158" name="adj"/>
            </a:avLst>
          </a:prstGeom>
          <a:solidFill>
            <a:srgbClr val="C9A227">
              <a:alpha val="10196"/>
            </a:srgbClr>
          </a:solidFill>
          <a:ln cap="flat" cmpd="sng" w="15875">
            <a:solidFill>
              <a:srgbClr val="C9A227"/>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45" name="Google Shape;145;p13"/>
          <p:cNvSpPr/>
          <p:nvPr/>
        </p:nvSpPr>
        <p:spPr>
          <a:xfrm>
            <a:off x="2651760" y="2194560"/>
            <a:ext cx="6888175"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DB94A"/>
              </a:buClr>
              <a:buSzPts val="1200"/>
              <a:buFont typeface="Inter"/>
              <a:buNone/>
            </a:pPr>
            <a:r>
              <a:rPr b="1" lang="en-US" sz="1200">
                <a:solidFill>
                  <a:srgbClr val="DDB94A"/>
                </a:solidFill>
                <a:latin typeface="Inter"/>
                <a:ea typeface="Inter"/>
                <a:cs typeface="Inter"/>
                <a:sym typeface="Inter"/>
              </a:rPr>
              <a:t>✓  YOU DID IT WHEN…</a:t>
            </a:r>
            <a:endParaRPr sz="1200">
              <a:solidFill>
                <a:schemeClr val="dk1"/>
              </a:solidFill>
              <a:latin typeface="Calibri"/>
              <a:ea typeface="Calibri"/>
              <a:cs typeface="Calibri"/>
              <a:sym typeface="Calibri"/>
            </a:endParaRPr>
          </a:p>
        </p:txBody>
      </p:sp>
      <p:sp>
        <p:nvSpPr>
          <p:cNvPr id="146" name="Google Shape;146;p13"/>
          <p:cNvSpPr/>
          <p:nvPr/>
        </p:nvSpPr>
        <p:spPr>
          <a:xfrm>
            <a:off x="2651760" y="2487168"/>
            <a:ext cx="6888175" cy="914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7F3E9"/>
              </a:buClr>
              <a:buSzPts val="2400"/>
              <a:buFont typeface="Playfair Display"/>
              <a:buNone/>
            </a:pPr>
            <a:r>
              <a:rPr lang="en-US" sz="2400">
                <a:solidFill>
                  <a:srgbClr val="F7F3E9"/>
                </a:solidFill>
                <a:latin typeface="Playfair Display"/>
                <a:ea typeface="Playfair Display"/>
                <a:cs typeface="Playfair Display"/>
                <a:sym typeface="Playfair Display"/>
              </a:rPr>
              <a:t>You get one table instead of an inbox.</a:t>
            </a:r>
            <a:endParaRPr sz="2400">
              <a:solidFill>
                <a:schemeClr val="dk1"/>
              </a:solidFill>
              <a:latin typeface="Calibri"/>
              <a:ea typeface="Calibri"/>
              <a:cs typeface="Calibri"/>
              <a:sym typeface="Calibri"/>
            </a:endParaRPr>
          </a:p>
        </p:txBody>
      </p:sp>
      <p:sp>
        <p:nvSpPr>
          <p:cNvPr id="147" name="Google Shape;147;p13"/>
          <p:cNvSpPr/>
          <p:nvPr/>
        </p:nvSpPr>
        <p:spPr>
          <a:xfrm>
            <a:off x="3992728" y="4160520"/>
            <a:ext cx="4206240" cy="685800"/>
          </a:xfrm>
          <a:prstGeom prst="roundRect">
            <a:avLst>
              <a:gd fmla="val 49333" name="adj"/>
            </a:avLst>
          </a:prstGeom>
          <a:solidFill>
            <a:srgbClr val="F7F3E9"/>
          </a:solidFill>
          <a:ln>
            <a:noFill/>
          </a:ln>
          <a:effectLst>
            <a:outerShdw blurRad="127000" rotWithShape="0" algn="bl" dir="5400000" dist="50800">
              <a:srgbClr val="000000">
                <a:alpha val="30196"/>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48" name="Google Shape;148;p13"/>
          <p:cNvSpPr/>
          <p:nvPr/>
        </p:nvSpPr>
        <p:spPr>
          <a:xfrm>
            <a:off x="3992728" y="4160520"/>
            <a:ext cx="4206240" cy="685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C2333"/>
              </a:buClr>
              <a:buSzPts val="1600"/>
              <a:buFont typeface="Courier New"/>
              <a:buNone/>
            </a:pPr>
            <a:r>
              <a:rPr lang="en-US" sz="1600">
                <a:solidFill>
                  <a:srgbClr val="1C2333"/>
                </a:solidFill>
                <a:latin typeface="Courier New"/>
                <a:ea typeface="Courier New"/>
                <a:cs typeface="Courier New"/>
                <a:sym typeface="Courier New"/>
              </a:rPr>
              <a:t>Triage my inbox.</a:t>
            </a:r>
            <a:endParaRPr sz="1600">
              <a:solidFill>
                <a:schemeClr val="dk1"/>
              </a:solidFill>
              <a:latin typeface="Calibri"/>
              <a:ea typeface="Calibri"/>
              <a:cs typeface="Calibri"/>
              <a:sym typeface="Calibri"/>
            </a:endParaRPr>
          </a:p>
        </p:txBody>
      </p:sp>
      <p:sp>
        <p:nvSpPr>
          <p:cNvPr id="149" name="Google Shape;149;p13"/>
          <p:cNvSpPr/>
          <p:nvPr/>
        </p:nvSpPr>
        <p:spPr>
          <a:xfrm>
            <a:off x="914400" y="5029200"/>
            <a:ext cx="10362895" cy="36576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AFA893"/>
              </a:buClr>
              <a:buSzPts val="1350"/>
              <a:buFont typeface="Inter"/>
              <a:buNone/>
            </a:pPr>
            <a:r>
              <a:rPr i="1" lang="en-US" sz="1350">
                <a:solidFill>
                  <a:srgbClr val="AFA893"/>
                </a:solidFill>
                <a:latin typeface="Inter"/>
                <a:ea typeface="Inter"/>
                <a:cs typeface="Inter"/>
                <a:sym typeface="Inter"/>
              </a:rPr>
              <a:t>— the entire daily ritual, from now on</a:t>
            </a:r>
            <a:endParaRPr sz="1350">
              <a:solidFill>
                <a:schemeClr val="dk1"/>
              </a:solidFill>
              <a:latin typeface="Calibri"/>
              <a:ea typeface="Calibri"/>
              <a:cs typeface="Calibri"/>
              <a:sym typeface="Calibri"/>
            </a:endParaRPr>
          </a:p>
        </p:txBody>
      </p:sp>
      <p:sp>
        <p:nvSpPr>
          <p:cNvPr id="150" name="Google Shape;150;p13"/>
          <p:cNvSpPr/>
          <p:nvPr/>
        </p:nvSpPr>
        <p:spPr>
          <a:xfrm>
            <a:off x="914400" y="5623560"/>
            <a:ext cx="10362895"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DDB94A"/>
              </a:buClr>
              <a:buSzPts val="1600"/>
              <a:buFont typeface="Playfair Display"/>
              <a:buNone/>
            </a:pPr>
            <a:r>
              <a:rPr i="1" lang="en-US" sz="2200">
                <a:solidFill>
                  <a:srgbClr val="DDB94A"/>
                </a:solidFill>
                <a:latin typeface="Playfair Display"/>
                <a:ea typeface="Playfair Display"/>
                <a:cs typeface="Playfair Display"/>
                <a:sym typeface="Playfair Display"/>
              </a:rPr>
              <a:t>Chat is a conversation. A project is a standing arrangement.</a:t>
            </a:r>
            <a:endParaRPr sz="2200">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4213D"/>
        </a:solidFill>
      </p:bgPr>
    </p:bg>
    <p:spTree>
      <p:nvGrpSpPr>
        <p:cNvPr id="155" name="Shape 155"/>
        <p:cNvGrpSpPr/>
        <p:nvPr/>
      </p:nvGrpSpPr>
      <p:grpSpPr>
        <a:xfrm>
          <a:off x="0" y="0"/>
          <a:ext cx="0" cy="0"/>
          <a:chOff x="0" y="0"/>
          <a:chExt cx="0" cy="0"/>
        </a:xfrm>
      </p:grpSpPr>
      <p:sp>
        <p:nvSpPr>
          <p:cNvPr id="156" name="Google Shape;156;p14"/>
          <p:cNvSpPr/>
          <p:nvPr/>
        </p:nvSpPr>
        <p:spPr>
          <a:xfrm>
            <a:off x="822960" y="502920"/>
            <a:ext cx="10545775"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DB94A"/>
              </a:buClr>
              <a:buSzPts val="1200"/>
              <a:buFont typeface="Inter"/>
              <a:buNone/>
            </a:pPr>
            <a:r>
              <a:rPr b="1" lang="en-US" sz="1200">
                <a:solidFill>
                  <a:srgbClr val="DDB94A"/>
                </a:solidFill>
                <a:latin typeface="Inter"/>
                <a:ea typeface="Inter"/>
                <a:cs typeface="Inter"/>
                <a:sym typeface="Inter"/>
              </a:rPr>
              <a:t>CASE FILE 03 · SKILL — DONNA’S PLAYBOOK</a:t>
            </a:r>
            <a:endParaRPr sz="1200">
              <a:solidFill>
                <a:schemeClr val="dk1"/>
              </a:solidFill>
              <a:latin typeface="Calibri"/>
              <a:ea typeface="Calibri"/>
              <a:cs typeface="Calibri"/>
              <a:sym typeface="Calibri"/>
            </a:endParaRPr>
          </a:p>
        </p:txBody>
      </p:sp>
      <p:sp>
        <p:nvSpPr>
          <p:cNvPr id="157" name="Google Shape;157;p14"/>
          <p:cNvSpPr/>
          <p:nvPr/>
        </p:nvSpPr>
        <p:spPr>
          <a:xfrm>
            <a:off x="822960" y="868680"/>
            <a:ext cx="10545775"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7F3E9"/>
              </a:buClr>
              <a:buSzPts val="3200"/>
              <a:buFont typeface="Playfair Display"/>
              <a:buNone/>
            </a:pPr>
            <a:r>
              <a:rPr b="1" lang="en-US" sz="3200">
                <a:solidFill>
                  <a:srgbClr val="F7F3E9"/>
                </a:solidFill>
                <a:latin typeface="Playfair Display"/>
                <a:ea typeface="Playfair Display"/>
                <a:cs typeface="Playfair Display"/>
                <a:sym typeface="Playfair Display"/>
              </a:rPr>
              <a:t>One paste. She does the rest.</a:t>
            </a:r>
            <a:endParaRPr sz="3200">
              <a:solidFill>
                <a:schemeClr val="dk1"/>
              </a:solidFill>
              <a:latin typeface="Calibri"/>
              <a:ea typeface="Calibri"/>
              <a:cs typeface="Calibri"/>
              <a:sym typeface="Calibri"/>
            </a:endParaRPr>
          </a:p>
        </p:txBody>
      </p:sp>
      <p:sp>
        <p:nvSpPr>
          <p:cNvPr id="158" name="Google Shape;158;p14"/>
          <p:cNvSpPr/>
          <p:nvPr/>
        </p:nvSpPr>
        <p:spPr>
          <a:xfrm>
            <a:off x="1005840" y="1874520"/>
            <a:ext cx="10180015" cy="2651760"/>
          </a:xfrm>
          <a:prstGeom prst="roundRect">
            <a:avLst>
              <a:gd fmla="val 1724" name="adj"/>
            </a:avLst>
          </a:prstGeom>
          <a:solidFill>
            <a:srgbClr val="F7F3E9"/>
          </a:solidFill>
          <a:ln>
            <a:noFill/>
          </a:ln>
          <a:effectLst>
            <a:outerShdw blurRad="177800" rotWithShape="0" algn="bl" dir="5400000" dist="76200">
              <a:srgbClr val="000000">
                <a:alpha val="34902"/>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59" name="Google Shape;159;p14"/>
          <p:cNvSpPr/>
          <p:nvPr/>
        </p:nvSpPr>
        <p:spPr>
          <a:xfrm>
            <a:off x="1371600" y="2075688"/>
            <a:ext cx="9448495"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379"/>
              </a:buClr>
              <a:buSzPts val="1000"/>
              <a:buFont typeface="Inter"/>
              <a:buNone/>
            </a:pPr>
            <a:r>
              <a:rPr b="1" lang="en-US" sz="1000">
                <a:solidFill>
                  <a:srgbClr val="5A6379"/>
                </a:solidFill>
                <a:latin typeface="Inter"/>
                <a:ea typeface="Inter"/>
                <a:cs typeface="Inter"/>
                <a:sym typeface="Inter"/>
              </a:rPr>
              <a:t>THE INSTALLER — ONE PASTE</a:t>
            </a:r>
            <a:endParaRPr sz="1000">
              <a:solidFill>
                <a:schemeClr val="dk1"/>
              </a:solidFill>
              <a:latin typeface="Calibri"/>
              <a:ea typeface="Calibri"/>
              <a:cs typeface="Calibri"/>
              <a:sym typeface="Calibri"/>
            </a:endParaRPr>
          </a:p>
        </p:txBody>
      </p:sp>
      <p:sp>
        <p:nvSpPr>
          <p:cNvPr id="160" name="Google Shape;160;p14"/>
          <p:cNvSpPr/>
          <p:nvPr/>
        </p:nvSpPr>
        <p:spPr>
          <a:xfrm>
            <a:off x="1371600" y="2377440"/>
            <a:ext cx="9448495" cy="192024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1C2333"/>
              </a:buClr>
              <a:buSzPts val="1350"/>
              <a:buFont typeface="Courier New"/>
              <a:buNone/>
            </a:pPr>
            <a:r>
              <a:rPr lang="en-US" sz="1350">
                <a:solidFill>
                  <a:srgbClr val="1C2333"/>
                </a:solidFill>
                <a:latin typeface="Courier New"/>
                <a:ea typeface="Courier New"/>
                <a:cs typeface="Courier New"/>
                <a:sym typeface="Courier New"/>
              </a:rPr>
              <a:t>Fetch https://denisekgosnell.github.io/Donna/skills/donna-replies/SKILL.md</a:t>
            </a:r>
            <a:endParaRPr sz="1350">
              <a:solidFill>
                <a:schemeClr val="dk1"/>
              </a:solidFill>
              <a:latin typeface="Calibri"/>
              <a:ea typeface="Calibri"/>
              <a:cs typeface="Calibri"/>
              <a:sym typeface="Calibri"/>
            </a:endParaRPr>
          </a:p>
          <a:p>
            <a:pPr indent="0" lvl="0" marL="0" marR="0" rtl="0" algn="l">
              <a:lnSpc>
                <a:spcPct val="115000"/>
              </a:lnSpc>
              <a:spcBef>
                <a:spcPts val="0"/>
              </a:spcBef>
              <a:spcAft>
                <a:spcPts val="0"/>
              </a:spcAft>
              <a:buClr>
                <a:srgbClr val="1C2333"/>
              </a:buClr>
              <a:buSzPts val="1350"/>
              <a:buFont typeface="Courier New"/>
              <a:buNone/>
            </a:pPr>
            <a:r>
              <a:rPr lang="en-US" sz="1350">
                <a:solidFill>
                  <a:srgbClr val="1C2333"/>
                </a:solidFill>
                <a:latin typeface="Courier New"/>
                <a:ea typeface="Courier New"/>
                <a:cs typeface="Courier New"/>
                <a:sym typeface="Courier New"/>
              </a:rPr>
              <a:t>and install it for me as a skill named donna-replies.</a:t>
            </a:r>
            <a:endParaRPr sz="1350">
              <a:solidFill>
                <a:schemeClr val="dk1"/>
              </a:solidFill>
              <a:latin typeface="Calibri"/>
              <a:ea typeface="Calibri"/>
              <a:cs typeface="Calibri"/>
              <a:sym typeface="Calibri"/>
            </a:endParaRPr>
          </a:p>
          <a:p>
            <a:pPr indent="0" lvl="0" marL="0" marR="0" rtl="0" algn="l">
              <a:lnSpc>
                <a:spcPct val="115000"/>
              </a:lnSpc>
              <a:spcBef>
                <a:spcPts val="0"/>
              </a:spcBef>
              <a:spcAft>
                <a:spcPts val="0"/>
              </a:spcAft>
              <a:buClr>
                <a:srgbClr val="1C2333"/>
              </a:buClr>
              <a:buSzPts val="1350"/>
              <a:buFont typeface="Courier New"/>
              <a:buNone/>
            </a:pPr>
            <a:r>
              <a:rPr lang="en-US" sz="1350">
                <a:solidFill>
                  <a:srgbClr val="1C2333"/>
                </a:solidFill>
                <a:latin typeface="Courier New"/>
                <a:ea typeface="Courier New"/>
                <a:cs typeface="Courier New"/>
                <a:sym typeface="Courier New"/>
              </a:rPr>
              <a:t>Then interview me, one question at a time, to replace every {{PLACEHOLDER}}:</a:t>
            </a:r>
            <a:endParaRPr sz="1350">
              <a:solidFill>
                <a:schemeClr val="dk1"/>
              </a:solidFill>
              <a:latin typeface="Calibri"/>
              <a:ea typeface="Calibri"/>
              <a:cs typeface="Calibri"/>
              <a:sym typeface="Calibri"/>
            </a:endParaRPr>
          </a:p>
          <a:p>
            <a:pPr indent="0" lvl="0" marL="0" marR="0" rtl="0" algn="l">
              <a:lnSpc>
                <a:spcPct val="115000"/>
              </a:lnSpc>
              <a:spcBef>
                <a:spcPts val="0"/>
              </a:spcBef>
              <a:spcAft>
                <a:spcPts val="0"/>
              </a:spcAft>
              <a:buClr>
                <a:srgbClr val="1C2333"/>
              </a:buClr>
              <a:buSzPts val="1350"/>
              <a:buFont typeface="Courier New"/>
              <a:buNone/>
            </a:pPr>
            <a:r>
              <a:rPr lang="en-US" sz="1350">
                <a:solidFill>
                  <a:srgbClr val="1C2333"/>
                </a:solidFill>
                <a:latin typeface="Courier New"/>
                <a:ea typeface="Courier New"/>
                <a:cs typeface="Courier New"/>
                <a:sym typeface="Courier New"/>
              </a:rPr>
              <a:t>my VIP list, my voice, my reply rules.</a:t>
            </a:r>
            <a:endParaRPr sz="1350">
              <a:solidFill>
                <a:schemeClr val="dk1"/>
              </a:solidFill>
              <a:latin typeface="Calibri"/>
              <a:ea typeface="Calibri"/>
              <a:cs typeface="Calibri"/>
              <a:sym typeface="Calibri"/>
            </a:endParaRPr>
          </a:p>
          <a:p>
            <a:pPr indent="0" lvl="0" marL="0" marR="0" rtl="0" algn="l">
              <a:lnSpc>
                <a:spcPct val="115000"/>
              </a:lnSpc>
              <a:spcBef>
                <a:spcPts val="0"/>
              </a:spcBef>
              <a:spcAft>
                <a:spcPts val="0"/>
              </a:spcAft>
              <a:buClr>
                <a:srgbClr val="1C2333"/>
              </a:buClr>
              <a:buSzPts val="1350"/>
              <a:buFont typeface="Courier New"/>
              <a:buNone/>
            </a:pPr>
            <a:r>
              <a:rPr lang="en-US" sz="1350">
                <a:solidFill>
                  <a:srgbClr val="1C2333"/>
                </a:solidFill>
                <a:latin typeface="Courier New"/>
                <a:ea typeface="Courier New"/>
                <a:cs typeface="Courier New"/>
                <a:sym typeface="Courier New"/>
              </a:rPr>
              <a:t>When it’s active, tell me the one sentence I say to use it.</a:t>
            </a:r>
            <a:endParaRPr sz="1350">
              <a:solidFill>
                <a:schemeClr val="dk1"/>
              </a:solidFill>
              <a:latin typeface="Calibri"/>
              <a:ea typeface="Calibri"/>
              <a:cs typeface="Calibri"/>
              <a:sym typeface="Calibri"/>
            </a:endParaRPr>
          </a:p>
        </p:txBody>
      </p:sp>
      <p:sp>
        <p:nvSpPr>
          <p:cNvPr id="161" name="Google Shape;161;p14"/>
          <p:cNvSpPr/>
          <p:nvPr/>
        </p:nvSpPr>
        <p:spPr>
          <a:xfrm>
            <a:off x="822960" y="4800600"/>
            <a:ext cx="10545775"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FA893"/>
              </a:buClr>
              <a:buSzPts val="1400"/>
              <a:buFont typeface="Inter"/>
              <a:buNone/>
            </a:pPr>
            <a:r>
              <a:rPr lang="en-US" sz="1400">
                <a:solidFill>
                  <a:srgbClr val="AFA893"/>
                </a:solidFill>
                <a:latin typeface="Inter"/>
                <a:ea typeface="Inter"/>
                <a:cs typeface="Inter"/>
                <a:sym typeface="Inter"/>
              </a:rPr>
              <a:t>She fetches her own playbook, installs it, then interviews you for the blanks — VIPs, voice, rules.</a:t>
            </a:r>
            <a:endParaRPr sz="1400">
              <a:solidFill>
                <a:schemeClr val="dk1"/>
              </a:solidFill>
              <a:latin typeface="Calibri"/>
              <a:ea typeface="Calibri"/>
              <a:cs typeface="Calibri"/>
              <a:sym typeface="Calibri"/>
            </a:endParaRPr>
          </a:p>
        </p:txBody>
      </p:sp>
      <p:sp>
        <p:nvSpPr>
          <p:cNvPr id="162" name="Google Shape;162;p14"/>
          <p:cNvSpPr/>
          <p:nvPr/>
        </p:nvSpPr>
        <p:spPr>
          <a:xfrm>
            <a:off x="822960" y="5349240"/>
            <a:ext cx="10545775"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DB94A"/>
              </a:buClr>
              <a:buSzPts val="1400"/>
              <a:buFont typeface="Inter"/>
              <a:buNone/>
            </a:pPr>
            <a:r>
              <a:rPr b="1" lang="en-US" sz="1400">
                <a:solidFill>
                  <a:srgbClr val="DDB94A"/>
                </a:solidFill>
                <a:latin typeface="Inter"/>
                <a:ea typeface="Inter"/>
                <a:cs typeface="Inter"/>
                <a:sym typeface="Inter"/>
              </a:rPr>
              <a:t>Test drive:  </a:t>
            </a:r>
            <a:r>
              <a:rPr lang="en-US" sz="1400">
                <a:solidFill>
                  <a:srgbClr val="F7F3E9"/>
                </a:solidFill>
                <a:latin typeface="Courier New"/>
                <a:ea typeface="Courier New"/>
                <a:cs typeface="Courier New"/>
                <a:sym typeface="Courier New"/>
              </a:rPr>
              <a:t>Use donna-replies on my inbox.</a:t>
            </a:r>
            <a:endParaRPr sz="1400">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A31621"/>
        </a:solidFill>
      </p:bgPr>
    </p:bg>
    <p:spTree>
      <p:nvGrpSpPr>
        <p:cNvPr id="167" name="Shape 167"/>
        <p:cNvGrpSpPr/>
        <p:nvPr/>
      </p:nvGrpSpPr>
      <p:grpSpPr>
        <a:xfrm>
          <a:off x="0" y="0"/>
          <a:ext cx="0" cy="0"/>
          <a:chOff x="0" y="0"/>
          <a:chExt cx="0" cy="0"/>
        </a:xfrm>
      </p:grpSpPr>
      <p:sp>
        <p:nvSpPr>
          <p:cNvPr id="168" name="Google Shape;168;p15"/>
          <p:cNvSpPr/>
          <p:nvPr/>
        </p:nvSpPr>
        <p:spPr>
          <a:xfrm>
            <a:off x="822960" y="1554480"/>
            <a:ext cx="10545775" cy="2651760"/>
          </a:xfrm>
          <a:prstGeom prst="rect">
            <a:avLst/>
          </a:prstGeom>
          <a:noFill/>
          <a:ln>
            <a:noFill/>
          </a:ln>
        </p:spPr>
        <p:txBody>
          <a:bodyPr anchorCtr="0" anchor="ctr" bIns="0" lIns="0" spcFirstLastPara="1" rIns="0" wrap="square" tIns="0">
            <a:noAutofit/>
          </a:bodyPr>
          <a:lstStyle/>
          <a:p>
            <a:pPr indent="0" lvl="0" marL="0" marR="0" rtl="0" algn="ctr">
              <a:lnSpc>
                <a:spcPct val="105000"/>
              </a:lnSpc>
              <a:spcBef>
                <a:spcPts val="0"/>
              </a:spcBef>
              <a:spcAft>
                <a:spcPts val="0"/>
              </a:spcAft>
              <a:buClr>
                <a:srgbClr val="FFFFFF"/>
              </a:buClr>
              <a:buSzPts val="6600"/>
              <a:buFont typeface="Playfair Display"/>
              <a:buNone/>
            </a:pPr>
            <a:r>
              <a:rPr b="1" lang="en-US" sz="6600">
                <a:solidFill>
                  <a:srgbClr val="FFFFFF"/>
                </a:solidFill>
                <a:latin typeface="Playfair Display"/>
                <a:ea typeface="Playfair Display"/>
                <a:cs typeface="Playfair Display"/>
                <a:sym typeface="Playfair Display"/>
              </a:rPr>
              <a:t>She never sends.</a:t>
            </a:r>
            <a:endParaRPr sz="6600">
              <a:solidFill>
                <a:schemeClr val="dk1"/>
              </a:solidFill>
              <a:latin typeface="Calibri"/>
              <a:ea typeface="Calibri"/>
              <a:cs typeface="Calibri"/>
              <a:sym typeface="Calibri"/>
            </a:endParaRPr>
          </a:p>
          <a:p>
            <a:pPr indent="0" lvl="0" marL="0" marR="0" rtl="0" algn="ctr">
              <a:lnSpc>
                <a:spcPct val="105000"/>
              </a:lnSpc>
              <a:spcBef>
                <a:spcPts val="0"/>
              </a:spcBef>
              <a:spcAft>
                <a:spcPts val="0"/>
              </a:spcAft>
              <a:buClr>
                <a:srgbClr val="FFFFFF"/>
              </a:buClr>
              <a:buSzPts val="6600"/>
              <a:buFont typeface="Playfair Display"/>
              <a:buNone/>
            </a:pPr>
            <a:r>
              <a:rPr b="1" lang="en-US" sz="6600">
                <a:solidFill>
                  <a:srgbClr val="FFFFFF"/>
                </a:solidFill>
                <a:latin typeface="Playfair Display"/>
                <a:ea typeface="Playfair Display"/>
                <a:cs typeface="Playfair Display"/>
                <a:sym typeface="Playfair Display"/>
              </a:rPr>
              <a:t>Ever.</a:t>
            </a:r>
            <a:endParaRPr sz="6600">
              <a:solidFill>
                <a:schemeClr val="dk1"/>
              </a:solidFill>
              <a:latin typeface="Calibri"/>
              <a:ea typeface="Calibri"/>
              <a:cs typeface="Calibri"/>
              <a:sym typeface="Calibri"/>
            </a:endParaRPr>
          </a:p>
        </p:txBody>
      </p:sp>
      <p:sp>
        <p:nvSpPr>
          <p:cNvPr id="169" name="Google Shape;169;p15"/>
          <p:cNvSpPr/>
          <p:nvPr/>
        </p:nvSpPr>
        <p:spPr>
          <a:xfrm>
            <a:off x="1463040" y="4389120"/>
            <a:ext cx="9265615" cy="1188720"/>
          </a:xfrm>
          <a:prstGeom prst="rect">
            <a:avLst/>
          </a:prstGeom>
          <a:noFill/>
          <a:ln>
            <a:noFill/>
          </a:ln>
        </p:spPr>
        <p:txBody>
          <a:bodyPr anchorCtr="0" anchor="ctr" bIns="0" lIns="0" spcFirstLastPara="1" rIns="0" wrap="square" tIns="0">
            <a:noAutofit/>
          </a:bodyPr>
          <a:lstStyle/>
          <a:p>
            <a:pPr indent="0" lvl="0" marL="0" marR="0" rtl="0" algn="ctr">
              <a:lnSpc>
                <a:spcPct val="130000"/>
              </a:lnSpc>
              <a:spcBef>
                <a:spcPts val="0"/>
              </a:spcBef>
              <a:spcAft>
                <a:spcPts val="0"/>
              </a:spcAft>
              <a:buClr>
                <a:srgbClr val="F7F3E9"/>
              </a:buClr>
              <a:buSzPts val="1600"/>
              <a:buFont typeface="Inter"/>
              <a:buNone/>
            </a:pPr>
            <a:r>
              <a:rPr lang="en-US" sz="1600">
                <a:solidFill>
                  <a:srgbClr val="F7F3E9"/>
                </a:solidFill>
                <a:latin typeface="Inter"/>
                <a:ea typeface="Inter"/>
                <a:cs typeface="Inter"/>
                <a:sym typeface="Inter"/>
              </a:rPr>
              <a:t>Every reply lands in your drafts folder and waits for your say-so.</a:t>
            </a:r>
            <a:endParaRPr sz="1600">
              <a:solidFill>
                <a:schemeClr val="dk1"/>
              </a:solidFill>
              <a:latin typeface="Calibri"/>
              <a:ea typeface="Calibri"/>
              <a:cs typeface="Calibri"/>
              <a:sym typeface="Calibri"/>
            </a:endParaRPr>
          </a:p>
          <a:p>
            <a:pPr indent="0" lvl="0" marL="0" marR="0" rtl="0" algn="ctr">
              <a:lnSpc>
                <a:spcPct val="130000"/>
              </a:lnSpc>
              <a:spcBef>
                <a:spcPts val="0"/>
              </a:spcBef>
              <a:spcAft>
                <a:spcPts val="0"/>
              </a:spcAft>
              <a:buClr>
                <a:srgbClr val="F7F3E9"/>
              </a:buClr>
              <a:buSzPts val="1600"/>
              <a:buFont typeface="Inter"/>
              <a:buNone/>
            </a:pPr>
            <a:r>
              <a:rPr lang="en-US" sz="1600">
                <a:solidFill>
                  <a:srgbClr val="F7F3E9"/>
                </a:solidFill>
                <a:latin typeface="Inter"/>
                <a:ea typeface="Inter"/>
                <a:cs typeface="Inter"/>
                <a:sym typeface="Inter"/>
              </a:rPr>
              <a:t>The rule is written into the skill itself: “Save every reply as a DRAFT. Never send. No exceptions.”</a:t>
            </a:r>
            <a:endParaRPr sz="1600">
              <a:solidFill>
                <a:schemeClr val="dk1"/>
              </a:solidFill>
              <a:latin typeface="Calibri"/>
              <a:ea typeface="Calibri"/>
              <a:cs typeface="Calibri"/>
              <a:sym typeface="Calibri"/>
            </a:endParaRPr>
          </a:p>
        </p:txBody>
      </p:sp>
      <p:sp>
        <p:nvSpPr>
          <p:cNvPr id="170" name="Google Shape;170;p15"/>
          <p:cNvSpPr/>
          <p:nvPr/>
        </p:nvSpPr>
        <p:spPr>
          <a:xfrm>
            <a:off x="6013552" y="1051560"/>
            <a:ext cx="164592" cy="164592"/>
          </a:xfrm>
          <a:prstGeom prst="diamond">
            <a:avLst/>
          </a:prstGeom>
          <a:solidFill>
            <a:srgbClr val="F7F3E9"/>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4213D"/>
        </a:solidFill>
      </p:bgPr>
    </p:bg>
    <p:spTree>
      <p:nvGrpSpPr>
        <p:cNvPr id="175" name="Shape 175"/>
        <p:cNvGrpSpPr/>
        <p:nvPr/>
      </p:nvGrpSpPr>
      <p:grpSpPr>
        <a:xfrm>
          <a:off x="0" y="0"/>
          <a:ext cx="0" cy="0"/>
          <a:chOff x="0" y="0"/>
          <a:chExt cx="0" cy="0"/>
        </a:xfrm>
      </p:grpSpPr>
      <p:sp>
        <p:nvSpPr>
          <p:cNvPr id="176" name="Google Shape;176;p16"/>
          <p:cNvSpPr/>
          <p:nvPr/>
        </p:nvSpPr>
        <p:spPr>
          <a:xfrm>
            <a:off x="822960" y="502920"/>
            <a:ext cx="10545775"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DB94A"/>
              </a:buClr>
              <a:buSzPts val="1200"/>
              <a:buFont typeface="Inter"/>
              <a:buNone/>
            </a:pPr>
            <a:r>
              <a:rPr b="1" lang="en-US" sz="1200">
                <a:solidFill>
                  <a:srgbClr val="DDB94A"/>
                </a:solidFill>
                <a:latin typeface="Inter"/>
                <a:ea typeface="Inter"/>
                <a:cs typeface="Inter"/>
                <a:sym typeface="Inter"/>
              </a:rPr>
              <a:t>CASE FILE 04 · AGENT — DONNA, FULL TIME</a:t>
            </a:r>
            <a:endParaRPr sz="1200">
              <a:solidFill>
                <a:schemeClr val="dk1"/>
              </a:solidFill>
              <a:latin typeface="Calibri"/>
              <a:ea typeface="Calibri"/>
              <a:cs typeface="Calibri"/>
              <a:sym typeface="Calibri"/>
            </a:endParaRPr>
          </a:p>
        </p:txBody>
      </p:sp>
      <p:sp>
        <p:nvSpPr>
          <p:cNvPr id="177" name="Google Shape;177;p16"/>
          <p:cNvSpPr/>
          <p:nvPr/>
        </p:nvSpPr>
        <p:spPr>
          <a:xfrm>
            <a:off x="822960" y="868680"/>
            <a:ext cx="10545775"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7F3E9"/>
              </a:buClr>
              <a:buSzPts val="3000"/>
              <a:buFont typeface="Playfair Display"/>
              <a:buNone/>
            </a:pPr>
            <a:r>
              <a:rPr b="1" lang="en-US" sz="3000">
                <a:solidFill>
                  <a:srgbClr val="F7F3E9"/>
                </a:solidFill>
                <a:latin typeface="Playfair Display"/>
                <a:ea typeface="Playfair Display"/>
                <a:cs typeface="Playfair Display"/>
                <a:sym typeface="Playfair Display"/>
              </a:rPr>
              <a:t>Give her the evening shift.</a:t>
            </a:r>
            <a:endParaRPr sz="3000">
              <a:solidFill>
                <a:schemeClr val="dk1"/>
              </a:solidFill>
              <a:latin typeface="Calibri"/>
              <a:ea typeface="Calibri"/>
              <a:cs typeface="Calibri"/>
              <a:sym typeface="Calibri"/>
            </a:endParaRPr>
          </a:p>
        </p:txBody>
      </p:sp>
      <p:sp>
        <p:nvSpPr>
          <p:cNvPr id="178" name="Google Shape;178;p16"/>
          <p:cNvSpPr/>
          <p:nvPr/>
        </p:nvSpPr>
        <p:spPr>
          <a:xfrm>
            <a:off x="822960" y="1737360"/>
            <a:ext cx="10545775" cy="3611880"/>
          </a:xfrm>
          <a:prstGeom prst="roundRect">
            <a:avLst>
              <a:gd fmla="val 1266" name="adj"/>
            </a:avLst>
          </a:prstGeom>
          <a:solidFill>
            <a:srgbClr val="F7F3E9"/>
          </a:solidFill>
          <a:ln>
            <a:noFill/>
          </a:ln>
          <a:effectLst>
            <a:outerShdw blurRad="177800" rotWithShape="0" algn="bl" dir="5400000" dist="76200">
              <a:srgbClr val="000000">
                <a:alpha val="34902"/>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79" name="Google Shape;179;p16"/>
          <p:cNvSpPr/>
          <p:nvPr/>
        </p:nvSpPr>
        <p:spPr>
          <a:xfrm>
            <a:off x="1188720" y="1938528"/>
            <a:ext cx="9814255"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379"/>
              </a:buClr>
              <a:buSzPts val="1000"/>
              <a:buFont typeface="Inter"/>
              <a:buNone/>
            </a:pPr>
            <a:r>
              <a:rPr b="1" lang="en-US" sz="1700">
                <a:solidFill>
                  <a:srgbClr val="5A6379"/>
                </a:solidFill>
                <a:latin typeface="Inter"/>
                <a:ea typeface="Inter"/>
                <a:cs typeface="Inter"/>
                <a:sym typeface="Inter"/>
              </a:rPr>
              <a:t>THE STANDING ORDER — SCHEDULED TASKS → NEW TASK</a:t>
            </a:r>
            <a:endParaRPr sz="1700">
              <a:solidFill>
                <a:schemeClr val="dk1"/>
              </a:solidFill>
              <a:latin typeface="Calibri"/>
              <a:ea typeface="Calibri"/>
              <a:cs typeface="Calibri"/>
              <a:sym typeface="Calibri"/>
            </a:endParaRPr>
          </a:p>
        </p:txBody>
      </p:sp>
      <p:sp>
        <p:nvSpPr>
          <p:cNvPr id="180" name="Google Shape;180;p16"/>
          <p:cNvSpPr/>
          <p:nvPr/>
        </p:nvSpPr>
        <p:spPr>
          <a:xfrm>
            <a:off x="1188720" y="2240280"/>
            <a:ext cx="9814255" cy="2880360"/>
          </a:xfrm>
          <a:prstGeom prst="rect">
            <a:avLst/>
          </a:prstGeom>
          <a:noFill/>
          <a:ln>
            <a:noFill/>
          </a:ln>
        </p:spPr>
        <p:txBody>
          <a:bodyPr anchorCtr="0" anchor="ctr" bIns="0" lIns="0" spcFirstLastPara="1" rIns="0" wrap="square" tIns="0">
            <a:noAutofit/>
          </a:bodyPr>
          <a:lstStyle/>
          <a:p>
            <a:pPr indent="0" lvl="0" marL="0" marR="0" rtl="0" algn="l">
              <a:lnSpc>
                <a:spcPct val="125000"/>
              </a:lnSpc>
              <a:spcBef>
                <a:spcPts val="0"/>
              </a:spcBef>
              <a:spcAft>
                <a:spcPts val="0"/>
              </a:spcAft>
              <a:buClr>
                <a:srgbClr val="1C2333"/>
              </a:buClr>
              <a:buSzPts val="1200"/>
              <a:buFont typeface="Courier New"/>
              <a:buNone/>
            </a:pPr>
            <a:r>
              <a:rPr lang="en-US">
                <a:solidFill>
                  <a:srgbClr val="1C2333"/>
                </a:solidFill>
                <a:latin typeface="Courier New"/>
                <a:ea typeface="Courier New"/>
                <a:cs typeface="Courier New"/>
                <a:sym typeface="Courier New"/>
              </a:rPr>
              <a:t>Every weekday at 2:24 PM:</a:t>
            </a:r>
            <a:endParaRPr>
              <a:solidFill>
                <a:schemeClr val="dk1"/>
              </a:solidFill>
              <a:latin typeface="Calibri"/>
              <a:ea typeface="Calibri"/>
              <a:cs typeface="Calibri"/>
              <a:sym typeface="Calibri"/>
            </a:endParaRPr>
          </a:p>
          <a:p>
            <a:pPr indent="0" lvl="0" marL="0" marR="0" rtl="0" algn="l">
              <a:lnSpc>
                <a:spcPct val="125000"/>
              </a:lnSpc>
              <a:spcBef>
                <a:spcPts val="0"/>
              </a:spcBef>
              <a:spcAft>
                <a:spcPts val="0"/>
              </a:spcAft>
              <a:buClr>
                <a:srgbClr val="1C2333"/>
              </a:buClr>
              <a:buSzPts val="1200"/>
              <a:buFont typeface="Courier New"/>
              <a:buNone/>
            </a:pPr>
            <a:r>
              <a:rPr lang="en-US">
                <a:solidFill>
                  <a:srgbClr val="1C2333"/>
                </a:solidFill>
                <a:latin typeface="Courier New"/>
                <a:ea typeface="Courier New"/>
                <a:cs typeface="Courier New"/>
                <a:sym typeface="Courier New"/>
              </a:rPr>
              <a:t>1. Run my donna-replies skill on today’s inbox.</a:t>
            </a:r>
            <a:endParaRPr>
              <a:solidFill>
                <a:schemeClr val="dk1"/>
              </a:solidFill>
              <a:latin typeface="Calibri"/>
              <a:ea typeface="Calibri"/>
              <a:cs typeface="Calibri"/>
              <a:sym typeface="Calibri"/>
            </a:endParaRPr>
          </a:p>
          <a:p>
            <a:pPr indent="0" lvl="0" marL="0" marR="0" rtl="0" algn="l">
              <a:lnSpc>
                <a:spcPct val="125000"/>
              </a:lnSpc>
              <a:spcBef>
                <a:spcPts val="0"/>
              </a:spcBef>
              <a:spcAft>
                <a:spcPts val="0"/>
              </a:spcAft>
              <a:buClr>
                <a:srgbClr val="1C2333"/>
              </a:buClr>
              <a:buSzPts val="1200"/>
              <a:buFont typeface="Courier New"/>
              <a:buNone/>
            </a:pPr>
            <a:r>
              <a:rPr lang="en-US">
                <a:solidFill>
                  <a:srgbClr val="1C2333"/>
                </a:solidFill>
                <a:latin typeface="Courier New"/>
                <a:ea typeface="Courier New"/>
                <a:cs typeface="Courier New"/>
                <a:sym typeface="Courier New"/>
              </a:rPr>
              <a:t>2. Write my Daily Briefing as a document titled "Daily Briefing — [today’s date]":</a:t>
            </a:r>
            <a:endParaRPr>
              <a:solidFill>
                <a:schemeClr val="dk1"/>
              </a:solidFill>
              <a:latin typeface="Calibri"/>
              <a:ea typeface="Calibri"/>
              <a:cs typeface="Calibri"/>
              <a:sym typeface="Calibri"/>
            </a:endParaRPr>
          </a:p>
          <a:p>
            <a:pPr indent="0" lvl="0" marL="0" marR="0" rtl="0" algn="l">
              <a:lnSpc>
                <a:spcPct val="125000"/>
              </a:lnSpc>
              <a:spcBef>
                <a:spcPts val="0"/>
              </a:spcBef>
              <a:spcAft>
                <a:spcPts val="0"/>
              </a:spcAft>
              <a:buClr>
                <a:srgbClr val="1C2333"/>
              </a:buClr>
              <a:buSzPts val="1200"/>
              <a:buFont typeface="Courier New"/>
              <a:buNone/>
            </a:pPr>
            <a:r>
              <a:rPr lang="en-US">
                <a:solidFill>
                  <a:srgbClr val="1C2333"/>
                </a:solidFill>
                <a:latin typeface="Courier New"/>
                <a:ea typeface="Courier New"/>
                <a:cs typeface="Courier New"/>
                <a:sym typeface="Courier New"/>
              </a:rPr>
              <a:t>   • the 5 things in my inbox that need ME  • the replies you drafted today</a:t>
            </a:r>
            <a:endParaRPr>
              <a:solidFill>
                <a:schemeClr val="dk1"/>
              </a:solidFill>
              <a:latin typeface="Calibri"/>
              <a:ea typeface="Calibri"/>
              <a:cs typeface="Calibri"/>
              <a:sym typeface="Calibri"/>
            </a:endParaRPr>
          </a:p>
          <a:p>
            <a:pPr indent="0" lvl="0" marL="0" marR="0" rtl="0" algn="l">
              <a:lnSpc>
                <a:spcPct val="125000"/>
              </a:lnSpc>
              <a:spcBef>
                <a:spcPts val="0"/>
              </a:spcBef>
              <a:spcAft>
                <a:spcPts val="0"/>
              </a:spcAft>
              <a:buClr>
                <a:srgbClr val="1C2333"/>
              </a:buClr>
              <a:buSzPts val="1200"/>
              <a:buFont typeface="Courier New"/>
              <a:buNone/>
            </a:pPr>
            <a:r>
              <a:rPr lang="en-US">
                <a:solidFill>
                  <a:srgbClr val="1C2333"/>
                </a:solidFill>
                <a:latin typeface="Courier New"/>
                <a:ea typeface="Courier New"/>
                <a:cs typeface="Courier New"/>
                <a:sym typeface="Courier New"/>
              </a:rPr>
              <a:t>   • what you ignored and why  • my first meeting tomorrow</a:t>
            </a:r>
            <a:endParaRPr>
              <a:solidFill>
                <a:schemeClr val="dk1"/>
              </a:solidFill>
              <a:latin typeface="Calibri"/>
              <a:ea typeface="Calibri"/>
              <a:cs typeface="Calibri"/>
              <a:sym typeface="Calibri"/>
            </a:endParaRPr>
          </a:p>
          <a:p>
            <a:pPr indent="0" lvl="0" marL="0" marR="0" rtl="0" algn="l">
              <a:lnSpc>
                <a:spcPct val="125000"/>
              </a:lnSpc>
              <a:spcBef>
                <a:spcPts val="0"/>
              </a:spcBef>
              <a:spcAft>
                <a:spcPts val="0"/>
              </a:spcAft>
              <a:buClr>
                <a:srgbClr val="1C2333"/>
              </a:buClr>
              <a:buSzPts val="1200"/>
              <a:buFont typeface="Courier New"/>
              <a:buNone/>
            </a:pPr>
            <a:r>
              <a:rPr lang="en-US">
                <a:solidFill>
                  <a:srgbClr val="1C2333"/>
                </a:solidFill>
                <a:latin typeface="Courier New"/>
                <a:ea typeface="Courier New"/>
                <a:cs typeface="Courier New"/>
                <a:sym typeface="Courier New"/>
              </a:rPr>
              <a:t>3. Save it to my Google Drive / OneDrive in a folder called "Donna Briefings".</a:t>
            </a:r>
            <a:endParaRPr>
              <a:solidFill>
                <a:schemeClr val="dk1"/>
              </a:solidFill>
              <a:latin typeface="Calibri"/>
              <a:ea typeface="Calibri"/>
              <a:cs typeface="Calibri"/>
              <a:sym typeface="Calibri"/>
            </a:endParaRPr>
          </a:p>
          <a:p>
            <a:pPr indent="0" lvl="0" marL="0" marR="0" rtl="0" algn="l">
              <a:lnSpc>
                <a:spcPct val="125000"/>
              </a:lnSpc>
              <a:spcBef>
                <a:spcPts val="0"/>
              </a:spcBef>
              <a:spcAft>
                <a:spcPts val="0"/>
              </a:spcAft>
              <a:buClr>
                <a:srgbClr val="1C2333"/>
              </a:buClr>
              <a:buSzPts val="1200"/>
              <a:buFont typeface="Courier New"/>
              <a:buNone/>
            </a:pPr>
            <a:r>
              <a:rPr lang="en-US">
                <a:solidFill>
                  <a:srgbClr val="1C2333"/>
                </a:solidFill>
                <a:latin typeface="Courier New"/>
                <a:ea typeface="Courier New"/>
                <a:cs typeface="Courier New"/>
                <a:sym typeface="Courier New"/>
              </a:rPr>
              <a:t>4. Create a calendar event today, 4:55–5:00 PM, called "📋 Briefing with Donna",</a:t>
            </a:r>
            <a:endParaRPr>
              <a:solidFill>
                <a:schemeClr val="dk1"/>
              </a:solidFill>
              <a:latin typeface="Calibri"/>
              <a:ea typeface="Calibri"/>
              <a:cs typeface="Calibri"/>
              <a:sym typeface="Calibri"/>
            </a:endParaRPr>
          </a:p>
          <a:p>
            <a:pPr indent="0" lvl="0" marL="0" marR="0" rtl="0" algn="l">
              <a:lnSpc>
                <a:spcPct val="125000"/>
              </a:lnSpc>
              <a:spcBef>
                <a:spcPts val="0"/>
              </a:spcBef>
              <a:spcAft>
                <a:spcPts val="0"/>
              </a:spcAft>
              <a:buClr>
                <a:srgbClr val="1C2333"/>
              </a:buClr>
              <a:buSzPts val="1200"/>
              <a:buFont typeface="Courier New"/>
              <a:buNone/>
            </a:pPr>
            <a:r>
              <a:rPr lang="en-US">
                <a:solidFill>
                  <a:srgbClr val="1C2333"/>
                </a:solidFill>
                <a:latin typeface="Courier New"/>
                <a:ea typeface="Courier New"/>
                <a:cs typeface="Courier New"/>
                <a:sym typeface="Courier New"/>
              </a:rPr>
              <a:t>   with the document link in the description and an EMAIL reminder 1 minute</a:t>
            </a:r>
            <a:endParaRPr>
              <a:solidFill>
                <a:schemeClr val="dk1"/>
              </a:solidFill>
              <a:latin typeface="Calibri"/>
              <a:ea typeface="Calibri"/>
              <a:cs typeface="Calibri"/>
              <a:sym typeface="Calibri"/>
            </a:endParaRPr>
          </a:p>
          <a:p>
            <a:pPr indent="0" lvl="0" marL="0" marR="0" rtl="0" algn="l">
              <a:lnSpc>
                <a:spcPct val="125000"/>
              </a:lnSpc>
              <a:spcBef>
                <a:spcPts val="0"/>
              </a:spcBef>
              <a:spcAft>
                <a:spcPts val="0"/>
              </a:spcAft>
              <a:buClr>
                <a:srgbClr val="1C2333"/>
              </a:buClr>
              <a:buSzPts val="1200"/>
              <a:buFont typeface="Courier New"/>
              <a:buNone/>
            </a:pPr>
            <a:r>
              <a:rPr lang="en-US">
                <a:solidFill>
                  <a:srgbClr val="1C2333"/>
                </a:solidFill>
                <a:latin typeface="Courier New"/>
                <a:ea typeface="Courier New"/>
                <a:cs typeface="Courier New"/>
                <a:sym typeface="Courier New"/>
              </a:rPr>
              <a:t>   before the event. (Outlook: a calendar notification instead.)</a:t>
            </a:r>
            <a:endParaRPr>
              <a:solidFill>
                <a:schemeClr val="dk1"/>
              </a:solidFill>
              <a:latin typeface="Calibri"/>
              <a:ea typeface="Calibri"/>
              <a:cs typeface="Calibri"/>
              <a:sym typeface="Calibri"/>
            </a:endParaRPr>
          </a:p>
          <a:p>
            <a:pPr indent="0" lvl="0" marL="0" marR="0" rtl="0" algn="l">
              <a:lnSpc>
                <a:spcPct val="125000"/>
              </a:lnSpc>
              <a:spcBef>
                <a:spcPts val="0"/>
              </a:spcBef>
              <a:spcAft>
                <a:spcPts val="0"/>
              </a:spcAft>
              <a:buClr>
                <a:srgbClr val="1C2333"/>
              </a:buClr>
              <a:buSzPts val="1200"/>
              <a:buFont typeface="Courier New"/>
              <a:buNone/>
            </a:pPr>
            <a:r>
              <a:rPr lang="en-US">
                <a:solidFill>
                  <a:srgbClr val="1C2333"/>
                </a:solidFill>
                <a:latin typeface="Courier New"/>
                <a:ea typeface="Courier New"/>
                <a:cs typeface="Courier New"/>
                <a:sym typeface="Courier New"/>
              </a:rPr>
              <a:t>Also: do a dry run for today RIGHT NOW so I can check your work.</a:t>
            </a:r>
            <a:endParaRPr>
              <a:solidFill>
                <a:schemeClr val="dk1"/>
              </a:solidFill>
              <a:latin typeface="Calibri"/>
              <a:ea typeface="Calibri"/>
              <a:cs typeface="Calibri"/>
              <a:sym typeface="Calibri"/>
            </a:endParaRPr>
          </a:p>
        </p:txBody>
      </p:sp>
      <p:sp>
        <p:nvSpPr>
          <p:cNvPr id="181" name="Google Shape;181;p16"/>
          <p:cNvSpPr/>
          <p:nvPr/>
        </p:nvSpPr>
        <p:spPr>
          <a:xfrm>
            <a:off x="1554480" y="5669280"/>
            <a:ext cx="31089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9A227"/>
              </a:buClr>
              <a:buSzPts val="2000"/>
              <a:buFont typeface="Playfair Display"/>
              <a:buNone/>
            </a:pPr>
            <a:r>
              <a:rPr b="1" lang="en-US" sz="2000">
                <a:solidFill>
                  <a:srgbClr val="C9A227"/>
                </a:solidFill>
                <a:latin typeface="Playfair Display"/>
                <a:ea typeface="Playfair Display"/>
                <a:cs typeface="Playfair Display"/>
                <a:sym typeface="Playfair Display"/>
              </a:rPr>
              <a:t>4:30  </a:t>
            </a:r>
            <a:r>
              <a:rPr lang="en-US" sz="1300">
                <a:solidFill>
                  <a:srgbClr val="AFA893"/>
                </a:solidFill>
                <a:latin typeface="Inter"/>
                <a:ea typeface="Inter"/>
                <a:cs typeface="Inter"/>
                <a:sym typeface="Inter"/>
              </a:rPr>
              <a:t>she works</a:t>
            </a:r>
            <a:endParaRPr sz="2000">
              <a:solidFill>
                <a:schemeClr val="dk1"/>
              </a:solidFill>
              <a:latin typeface="Calibri"/>
              <a:ea typeface="Calibri"/>
              <a:cs typeface="Calibri"/>
              <a:sym typeface="Calibri"/>
            </a:endParaRPr>
          </a:p>
        </p:txBody>
      </p:sp>
      <p:sp>
        <p:nvSpPr>
          <p:cNvPr id="182" name="Google Shape;182;p16"/>
          <p:cNvSpPr/>
          <p:nvPr/>
        </p:nvSpPr>
        <p:spPr>
          <a:xfrm>
            <a:off x="4754880" y="5669280"/>
            <a:ext cx="31089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9A227"/>
              </a:buClr>
              <a:buSzPts val="2000"/>
              <a:buFont typeface="Playfair Display"/>
              <a:buNone/>
            </a:pPr>
            <a:r>
              <a:rPr b="1" lang="en-US" sz="2000">
                <a:solidFill>
                  <a:srgbClr val="C9A227"/>
                </a:solidFill>
                <a:latin typeface="Playfair Display"/>
                <a:ea typeface="Playfair Display"/>
                <a:cs typeface="Playfair Display"/>
                <a:sym typeface="Playfair Display"/>
              </a:rPr>
              <a:t>4:54  </a:t>
            </a:r>
            <a:r>
              <a:rPr lang="en-US" sz="1300">
                <a:solidFill>
                  <a:srgbClr val="AFA893"/>
                </a:solidFill>
                <a:latin typeface="Inter"/>
                <a:ea typeface="Inter"/>
                <a:cs typeface="Inter"/>
                <a:sym typeface="Inter"/>
              </a:rPr>
              <a:t>you’re notified</a:t>
            </a:r>
            <a:endParaRPr sz="2000">
              <a:solidFill>
                <a:schemeClr val="dk1"/>
              </a:solidFill>
              <a:latin typeface="Calibri"/>
              <a:ea typeface="Calibri"/>
              <a:cs typeface="Calibri"/>
              <a:sym typeface="Calibri"/>
            </a:endParaRPr>
          </a:p>
        </p:txBody>
      </p:sp>
      <p:sp>
        <p:nvSpPr>
          <p:cNvPr id="183" name="Google Shape;183;p16"/>
          <p:cNvSpPr/>
          <p:nvPr/>
        </p:nvSpPr>
        <p:spPr>
          <a:xfrm>
            <a:off x="7955280" y="5669280"/>
            <a:ext cx="31089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9A227"/>
              </a:buClr>
              <a:buSzPts val="2000"/>
              <a:buFont typeface="Playfair Display"/>
              <a:buNone/>
            </a:pPr>
            <a:r>
              <a:rPr b="1" lang="en-US" sz="2000">
                <a:solidFill>
                  <a:srgbClr val="C9A227"/>
                </a:solidFill>
                <a:latin typeface="Playfair Display"/>
                <a:ea typeface="Playfair Display"/>
                <a:cs typeface="Playfair Display"/>
                <a:sym typeface="Playfair Display"/>
              </a:rPr>
              <a:t>4:55  </a:t>
            </a:r>
            <a:r>
              <a:rPr lang="en-US" sz="1300">
                <a:solidFill>
                  <a:srgbClr val="AFA893"/>
                </a:solidFill>
                <a:latin typeface="Inter"/>
                <a:ea typeface="Inter"/>
                <a:cs typeface="Inter"/>
                <a:sym typeface="Inter"/>
              </a:rPr>
              <a:t>a five-minute read</a:t>
            </a:r>
            <a:endParaRPr sz="2000">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4213D"/>
        </a:solidFill>
      </p:bgPr>
    </p:bg>
    <p:spTree>
      <p:nvGrpSpPr>
        <p:cNvPr id="188" name="Shape 188"/>
        <p:cNvGrpSpPr/>
        <p:nvPr/>
      </p:nvGrpSpPr>
      <p:grpSpPr>
        <a:xfrm>
          <a:off x="0" y="0"/>
          <a:ext cx="0" cy="0"/>
          <a:chOff x="0" y="0"/>
          <a:chExt cx="0" cy="0"/>
        </a:xfrm>
      </p:grpSpPr>
      <p:sp>
        <p:nvSpPr>
          <p:cNvPr id="189" name="Google Shape;189;p17"/>
          <p:cNvSpPr/>
          <p:nvPr/>
        </p:nvSpPr>
        <p:spPr>
          <a:xfrm>
            <a:off x="822960" y="502920"/>
            <a:ext cx="10545775"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DB94A"/>
              </a:buClr>
              <a:buSzPts val="1200"/>
              <a:buFont typeface="Inter"/>
              <a:buNone/>
            </a:pPr>
            <a:r>
              <a:rPr b="1" lang="en-US" sz="1200">
                <a:solidFill>
                  <a:srgbClr val="DDB94A"/>
                </a:solidFill>
                <a:latin typeface="Inter"/>
                <a:ea typeface="Inter"/>
                <a:cs typeface="Inter"/>
                <a:sym typeface="Inter"/>
              </a:rPr>
              <a:t>CASE FILE 04 · THE DRY RUN — CHECKPOINT</a:t>
            </a:r>
            <a:endParaRPr sz="1200">
              <a:solidFill>
                <a:schemeClr val="dk1"/>
              </a:solidFill>
              <a:latin typeface="Calibri"/>
              <a:ea typeface="Calibri"/>
              <a:cs typeface="Calibri"/>
              <a:sym typeface="Calibri"/>
            </a:endParaRPr>
          </a:p>
        </p:txBody>
      </p:sp>
      <p:sp>
        <p:nvSpPr>
          <p:cNvPr id="190" name="Google Shape;190;p17"/>
          <p:cNvSpPr/>
          <p:nvPr/>
        </p:nvSpPr>
        <p:spPr>
          <a:xfrm>
            <a:off x="822960" y="1417320"/>
            <a:ext cx="10545775" cy="2286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C9A227"/>
              </a:buClr>
              <a:buSzPts val="13000"/>
              <a:buFont typeface="Playfair Display"/>
              <a:buNone/>
            </a:pPr>
            <a:r>
              <a:rPr b="1" lang="en-US" sz="13000">
                <a:solidFill>
                  <a:srgbClr val="C9A227"/>
                </a:solidFill>
                <a:latin typeface="Playfair Display"/>
                <a:ea typeface="Playfair Display"/>
                <a:cs typeface="Playfair Display"/>
                <a:sym typeface="Playfair Display"/>
              </a:rPr>
              <a:t>2</a:t>
            </a:r>
            <a:r>
              <a:rPr b="1" lang="en-US" sz="13000">
                <a:solidFill>
                  <a:srgbClr val="C9A227"/>
                </a:solidFill>
                <a:latin typeface="Playfair Display"/>
                <a:ea typeface="Playfair Display"/>
                <a:cs typeface="Playfair Display"/>
                <a:sym typeface="Playfair Display"/>
              </a:rPr>
              <a:t>:24 PM</a:t>
            </a:r>
            <a:endParaRPr sz="13000">
              <a:solidFill>
                <a:schemeClr val="dk1"/>
              </a:solidFill>
              <a:latin typeface="Calibri"/>
              <a:ea typeface="Calibri"/>
              <a:cs typeface="Calibri"/>
              <a:sym typeface="Calibri"/>
            </a:endParaRPr>
          </a:p>
        </p:txBody>
      </p:sp>
      <p:sp>
        <p:nvSpPr>
          <p:cNvPr id="191" name="Google Shape;191;p17"/>
          <p:cNvSpPr/>
          <p:nvPr/>
        </p:nvSpPr>
        <p:spPr>
          <a:xfrm>
            <a:off x="914400" y="3977640"/>
            <a:ext cx="10362895" cy="6400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7F3E9"/>
              </a:buClr>
              <a:buSzPts val="2400"/>
              <a:buFont typeface="Playfair Display"/>
              <a:buNone/>
            </a:pPr>
            <a:r>
              <a:rPr lang="en-US" sz="2400">
                <a:solidFill>
                  <a:srgbClr val="F7F3E9"/>
                </a:solidFill>
                <a:latin typeface="Playfair Display"/>
                <a:ea typeface="Playfair Display"/>
                <a:cs typeface="Playfair Display"/>
                <a:sym typeface="Playfair Display"/>
              </a:rPr>
              <a:t>Her first briefing arrives before you leave the room.</a:t>
            </a:r>
            <a:endParaRPr sz="2400">
              <a:solidFill>
                <a:schemeClr val="dk1"/>
              </a:solidFill>
              <a:latin typeface="Calibri"/>
              <a:ea typeface="Calibri"/>
              <a:cs typeface="Calibri"/>
              <a:sym typeface="Calibri"/>
            </a:endParaRPr>
          </a:p>
        </p:txBody>
      </p:sp>
      <p:sp>
        <p:nvSpPr>
          <p:cNvPr id="192" name="Google Shape;192;p17"/>
          <p:cNvSpPr/>
          <p:nvPr/>
        </p:nvSpPr>
        <p:spPr>
          <a:xfrm>
            <a:off x="1463040" y="4800600"/>
            <a:ext cx="9265615" cy="731520"/>
          </a:xfrm>
          <a:prstGeom prst="rect">
            <a:avLst/>
          </a:prstGeom>
          <a:noFill/>
          <a:ln>
            <a:noFill/>
          </a:ln>
        </p:spPr>
        <p:txBody>
          <a:bodyPr anchorCtr="0" anchor="ctr" bIns="0" lIns="0" spcFirstLastPara="1" rIns="0" wrap="square" tIns="0">
            <a:noAutofit/>
          </a:bodyPr>
          <a:lstStyle/>
          <a:p>
            <a:pPr indent="0" lvl="0" marL="0" marR="0" rtl="0" algn="ctr">
              <a:lnSpc>
                <a:spcPct val="125000"/>
              </a:lnSpc>
              <a:spcBef>
                <a:spcPts val="0"/>
              </a:spcBef>
              <a:spcAft>
                <a:spcPts val="0"/>
              </a:spcAft>
              <a:buClr>
                <a:srgbClr val="AFA893"/>
              </a:buClr>
              <a:buSzPts val="1450"/>
              <a:buFont typeface="Inter"/>
              <a:buNone/>
            </a:pPr>
            <a:r>
              <a:rPr i="1" lang="en-US" sz="1950">
                <a:solidFill>
                  <a:srgbClr val="AFA893"/>
                </a:solidFill>
                <a:latin typeface="Inter"/>
                <a:ea typeface="Inter"/>
                <a:cs typeface="Inter"/>
                <a:sym typeface="Inter"/>
              </a:rPr>
              <a:t>The trick: Claude never emails you. Your calendar does. </a:t>
            </a:r>
            <a:endParaRPr i="1" sz="1950">
              <a:solidFill>
                <a:srgbClr val="AFA893"/>
              </a:solidFill>
              <a:latin typeface="Inter"/>
              <a:ea typeface="Inter"/>
              <a:cs typeface="Inter"/>
              <a:sym typeface="Inter"/>
            </a:endParaRPr>
          </a:p>
          <a:p>
            <a:pPr indent="0" lvl="0" marL="0" marR="0" rtl="0" algn="ctr">
              <a:lnSpc>
                <a:spcPct val="125000"/>
              </a:lnSpc>
              <a:spcBef>
                <a:spcPts val="0"/>
              </a:spcBef>
              <a:spcAft>
                <a:spcPts val="0"/>
              </a:spcAft>
              <a:buClr>
                <a:srgbClr val="AFA893"/>
              </a:buClr>
              <a:buSzPts val="1450"/>
              <a:buFont typeface="Inter"/>
              <a:buNone/>
            </a:pPr>
            <a:r>
              <a:rPr i="1" lang="en-US" sz="1950">
                <a:solidFill>
                  <a:srgbClr val="AFA893"/>
                </a:solidFill>
                <a:latin typeface="Inter"/>
                <a:ea typeface="Inter"/>
                <a:cs typeface="Inter"/>
                <a:sym typeface="Inter"/>
              </a:rPr>
              <a:t>The briefing lands from a sender you already trust.</a:t>
            </a:r>
            <a:endParaRPr sz="1950">
              <a:solidFill>
                <a:schemeClr val="dk1"/>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4213D"/>
        </a:solidFill>
      </p:bgPr>
    </p:bg>
    <p:spTree>
      <p:nvGrpSpPr>
        <p:cNvPr id="197" name="Shape 197"/>
        <p:cNvGrpSpPr/>
        <p:nvPr/>
      </p:nvGrpSpPr>
      <p:grpSpPr>
        <a:xfrm>
          <a:off x="0" y="0"/>
          <a:ext cx="0" cy="0"/>
          <a:chOff x="0" y="0"/>
          <a:chExt cx="0" cy="0"/>
        </a:xfrm>
      </p:grpSpPr>
      <p:pic>
        <p:nvPicPr>
          <p:cNvPr descr="/private/tmp/claude-502/-Users-dev-Documents-production-donna/5de1284d-6f84-43be-a2a5-f3ead80d40bc/scratchpad/monogram-gold-red.png" id="198" name="Google Shape;198;p18"/>
          <p:cNvPicPr preferRelativeResize="0"/>
          <p:nvPr/>
        </p:nvPicPr>
        <p:blipFill rotWithShape="1">
          <a:blip r:embed="rId3">
            <a:alphaModFix/>
          </a:blip>
          <a:srcRect b="0" l="0" r="0" t="0"/>
          <a:stretch/>
        </p:blipFill>
        <p:spPr>
          <a:xfrm>
            <a:off x="5501488" y="457200"/>
            <a:ext cx="1188720" cy="1188720"/>
          </a:xfrm>
          <a:prstGeom prst="rect">
            <a:avLst/>
          </a:prstGeom>
          <a:noFill/>
          <a:ln>
            <a:noFill/>
          </a:ln>
        </p:spPr>
      </p:pic>
      <p:sp>
        <p:nvSpPr>
          <p:cNvPr id="199" name="Google Shape;199;p18"/>
          <p:cNvSpPr/>
          <p:nvPr/>
        </p:nvSpPr>
        <p:spPr>
          <a:xfrm>
            <a:off x="1828800" y="1874520"/>
            <a:ext cx="8534095" cy="1691640"/>
          </a:xfrm>
          <a:prstGeom prst="roundRect">
            <a:avLst>
              <a:gd fmla="val 3243" name="adj"/>
            </a:avLst>
          </a:prstGeom>
          <a:solidFill>
            <a:srgbClr val="F7F3E9"/>
          </a:solidFill>
          <a:ln>
            <a:noFill/>
          </a:ln>
          <a:effectLst>
            <a:outerShdw blurRad="203200" rotWithShape="0" algn="bl" dir="5400000" dist="88900">
              <a:srgbClr val="000000">
                <a:alpha val="38039"/>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00" name="Google Shape;200;p18"/>
          <p:cNvSpPr/>
          <p:nvPr/>
        </p:nvSpPr>
        <p:spPr>
          <a:xfrm>
            <a:off x="2240280" y="2011680"/>
            <a:ext cx="7711135" cy="1417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A31621"/>
              </a:buClr>
              <a:buSzPts val="2400"/>
              <a:buFont typeface="Playfair Display"/>
              <a:buNone/>
            </a:pPr>
            <a:r>
              <a:rPr i="1" lang="en-US" sz="2400">
                <a:solidFill>
                  <a:srgbClr val="A31621"/>
                </a:solidFill>
                <a:latin typeface="Playfair Display"/>
                <a:ea typeface="Playfair Display"/>
                <a:cs typeface="Playfair Display"/>
                <a:sym typeface="Playfair Display"/>
              </a:rPr>
              <a:t>“If you were ever lucky enough to have me, you wouldn’t want to share.”</a:t>
            </a:r>
            <a:endParaRPr sz="2400">
              <a:solidFill>
                <a:schemeClr val="dk1"/>
              </a:solidFill>
              <a:latin typeface="Calibri"/>
              <a:ea typeface="Calibri"/>
              <a:cs typeface="Calibri"/>
              <a:sym typeface="Calibri"/>
            </a:endParaRPr>
          </a:p>
          <a:p>
            <a:pPr indent="0" lvl="0" marL="0" marR="0" rtl="0" algn="ctr">
              <a:spcBef>
                <a:spcPts val="0"/>
              </a:spcBef>
              <a:spcAft>
                <a:spcPts val="0"/>
              </a:spcAft>
              <a:buClr>
                <a:schemeClr val="dk1"/>
              </a:buClr>
              <a:buSzPts val="2400"/>
              <a:buFont typeface="Calibri"/>
              <a:buNone/>
            </a:pPr>
            <a:r>
              <a:t/>
            </a:r>
            <a:endParaRPr sz="2400">
              <a:solidFill>
                <a:schemeClr val="dk1"/>
              </a:solidFill>
              <a:latin typeface="Calibri"/>
              <a:ea typeface="Calibri"/>
              <a:cs typeface="Calibri"/>
              <a:sym typeface="Calibri"/>
            </a:endParaRPr>
          </a:p>
          <a:p>
            <a:pPr indent="0" lvl="0" marL="0" marR="0" rtl="0" algn="ctr">
              <a:spcBef>
                <a:spcPts val="0"/>
              </a:spcBef>
              <a:spcAft>
                <a:spcPts val="0"/>
              </a:spcAft>
              <a:buClr>
                <a:srgbClr val="14213D"/>
              </a:buClr>
              <a:buSzPts val="1050"/>
              <a:buFont typeface="Inter"/>
              <a:buNone/>
            </a:pPr>
            <a:r>
              <a:rPr b="1" lang="en-US" sz="1050">
                <a:solidFill>
                  <a:srgbClr val="14213D"/>
                </a:solidFill>
                <a:latin typeface="Inter"/>
                <a:ea typeface="Inter"/>
                <a:cs typeface="Inter"/>
                <a:sym typeface="Inter"/>
              </a:rPr>
              <a:t>— DONNA PAULSEN, SUITS</a:t>
            </a:r>
            <a:endParaRPr sz="2400">
              <a:solidFill>
                <a:schemeClr val="dk1"/>
              </a:solidFill>
              <a:latin typeface="Calibri"/>
              <a:ea typeface="Calibri"/>
              <a:cs typeface="Calibri"/>
              <a:sym typeface="Calibri"/>
            </a:endParaRPr>
          </a:p>
        </p:txBody>
      </p:sp>
      <p:sp>
        <p:nvSpPr>
          <p:cNvPr id="201" name="Google Shape;201;p18"/>
          <p:cNvSpPr/>
          <p:nvPr/>
        </p:nvSpPr>
        <p:spPr>
          <a:xfrm>
            <a:off x="914400" y="3794760"/>
            <a:ext cx="10362895"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7F3E9"/>
              </a:buClr>
              <a:buSzPts val="2200"/>
              <a:buFont typeface="Playfair Display"/>
              <a:buNone/>
            </a:pPr>
            <a:r>
              <a:rPr lang="en-US" sz="2200">
                <a:solidFill>
                  <a:srgbClr val="F7F3E9"/>
                </a:solidFill>
                <a:latin typeface="Playfair Display"/>
                <a:ea typeface="Playfair Display"/>
                <a:cs typeface="Playfair Display"/>
                <a:sym typeface="Playfair Display"/>
              </a:rPr>
              <a:t>Yours starts tomorrow at 2:24.</a:t>
            </a:r>
            <a:endParaRPr sz="2200">
              <a:solidFill>
                <a:schemeClr val="dk1"/>
              </a:solidFill>
              <a:latin typeface="Calibri"/>
              <a:ea typeface="Calibri"/>
              <a:cs typeface="Calibri"/>
              <a:sym typeface="Calibri"/>
            </a:endParaRPr>
          </a:p>
        </p:txBody>
      </p:sp>
      <p:pic>
        <p:nvPicPr>
          <p:cNvPr descr="/private/tmp/claude-502/-Users-dev-Documents-production-donna/5de1284d-6f84-43be-a2a5-f3ead80d40bc/scratchpad/qr.png" id="202" name="Google Shape;202;p18"/>
          <p:cNvPicPr preferRelativeResize="0"/>
          <p:nvPr/>
        </p:nvPicPr>
        <p:blipFill rotWithShape="1">
          <a:blip r:embed="rId4">
            <a:alphaModFix/>
          </a:blip>
          <a:srcRect b="0" l="0" r="0" t="0"/>
          <a:stretch/>
        </p:blipFill>
        <p:spPr>
          <a:xfrm>
            <a:off x="5227168" y="4526280"/>
            <a:ext cx="1737360" cy="1737360"/>
          </a:xfrm>
          <a:prstGeom prst="rect">
            <a:avLst/>
          </a:prstGeom>
          <a:noFill/>
          <a:ln>
            <a:noFill/>
          </a:ln>
        </p:spPr>
      </p:pic>
      <p:sp>
        <p:nvSpPr>
          <p:cNvPr id="203" name="Google Shape;203;p18"/>
          <p:cNvSpPr/>
          <p:nvPr/>
        </p:nvSpPr>
        <p:spPr>
          <a:xfrm>
            <a:off x="914400" y="6355080"/>
            <a:ext cx="10362895" cy="36576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DDB94A"/>
              </a:buClr>
              <a:buSzPts val="1500"/>
              <a:buFont typeface="Inter"/>
              <a:buNone/>
            </a:pPr>
            <a:r>
              <a:rPr b="1" lang="en-US" sz="1500">
                <a:solidFill>
                  <a:srgbClr val="DDB94A"/>
                </a:solidFill>
                <a:latin typeface="Inter"/>
                <a:ea typeface="Inter"/>
                <a:cs typeface="Inter"/>
                <a:sym typeface="Inter"/>
              </a:rPr>
              <a:t>denisekgosnell.github.io/Donna</a:t>
            </a:r>
            <a:endParaRPr sz="1500">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