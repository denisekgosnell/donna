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COLD OPEN — let the room settle on the quote before you speak. Opening line: “She ran the best closer in New York City. Today she comes to work for you.” Housekeeping in one breath: laptops out, Claude desktop installed, workspace invite accepted — anyone missing a piece, flag me now, we fix it while we talk. Set the promise: by 3 PM every one of you owns a working Donna — not a demo, yours, on your own inbox.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for hands: who actually cleared their inbox this morning? (Nobody.) Who checked email during this slide? (Laughter — someone will have.) The number isn’t the point — the point is that every one of those 300 asks a little tax on attention, and attention is the only thing an executive can’t delegate. Until today.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want-ad quote is the thesis: the job you’re hiring for isn’t phones and dry cleaning — filters and rules and a tidier inbox are the want-ad version. You’re hiring judgment: something that knows who matters, drafts in your voice, and briefs you once a day. Land the fiction-to-real line and pause — that’s the hook for the next two hours.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whole afternoon on one slide — interview her, brief her, hand her your playbook, give her the keys. Point at the site now (it’s the link from the prep email): four case files, same numbers, copy buttons everywhere. Nobody types anything longer than one sentence today.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the room during connections — the classic failure is signing into the personal Google account instead of work. Connectors are pre-enabled workspace-wide, so all they click is Connect. Gmail people: also connect Google Calendar and Drive now (Step 4 needs both). Outlook people: Microsoft 365 covers mail, calendar, OneDrive in one go. Then prompt 1. Give it a beat — the room goes quiet when Claude answers from their real inbox.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Run it live on your own screen first, then hold until every laptop shows five lines and a draft. Nobody moves on until the checkpoint. If a connector is stuck: disconnect, reconnect, confirm the account. If the network is stuck: switch to the backup screenshots (slide 13) and keep the energy 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Projects → New project → name it Inbox Triage → Set project instructions → paste. Give them 6–8 quiet minutes to fill the three blanks — names, the deal, three words. Circulate. The blanks are where this stops being a demo and becomes THEIR assistant. Then everyone types: Triage my inbox.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Everyone runs the one-sentence ritual inside the project. The payoff to name out loud: you will never re-explain your rules again — that’s the difference between a chat and a project. Common wobble: someone triages from OUTSIDE the project and gets generic results — make sure they’re inside Inbox Triage.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workshop’s one moment of real magic — Claude building its own tooling. Let them watch it fetch and install. The interview takes 5–10 minutes; encourage real answers (actual VIP names, the true banned phrases). Fallbacks are on the site under small print: the zip upload via Settings → Capabilities, or git clone for the terminal-inclined. Then the test drive — and everyone opens their drafts folder.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Slow down here — this is the trust slide, and it answers the fear nobody has said out loud yet: “what if it emails a client?” It can’t. Drafting and sending are different permissions, and this skill only ever drafts. You are the send button. Say it twice, verbatim: she never sends. Ever.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Grab the exact prompt from the site — Gmail and Outlook tabs differ on purpose. Gmail: Google Calendar attaches a true EMAIL reminder, so the 4:54 nudge is an email. Outlook: Microsoft’s API only allows pop-up reminders, so the nudge is a calendar notification on laptop and phone — the site’s small print has the one-time Power Automate upgrade for a true email. The last line of the prompt is the finale: a dry run, right now.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closing moment — everyone watches the dry run land: doc in the Donna Briefings folder, event on today’s calendar, drafts waiting. Hold the silence while phones buzz. Then the reframe: that notification is the only email they now need — email comes to YOU, once a day, pre-digested. You didn’t just use an assistant today; you hired 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Only show this slide if something breaks — otherwise skip straight past it. Hotspot name and password are printed on the Wi-Fi cards. Connector re-auth fixes most hiccups; workspace settings already allow every connector we use today. The step-by-step screenshots come from your pre-workshop dry run (it's on the README checklist) — capture them then, keep them in your presenter folder, and narrate over them to keep the room moving.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Send-off: the site stays up — every prompt, every fallback, the skill itself. Scan the code, bookmark it, forward it to the colleague you know needs it. Tomorrow at 4:54 the briefing arrives on its own for the first time — when it does, that’s Donna saying she’s got it from here. Questions any time: denise@denisegosnell.ai. You’re weird. We’ll be friends.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claude-502/-Users-dev-Documents-production-donna/5de1284d-6f84-43be-a2a5-f3ead80d40bc/scratchpad/monogram-gold-r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18608" y="566928"/>
            <a:ext cx="1554480" cy="15544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2377440" y="2514600"/>
            <a:ext cx="7436815" cy="1783080"/>
          </a:xfrm>
          <a:prstGeom prst="roundRect">
            <a:avLst>
              <a:gd name="adj" fmla="val 3077"/>
            </a:avLst>
          </a:prstGeom>
          <a:solidFill>
            <a:srgbClr val="F7F3E9"/>
          </a:solidFill>
          <a:ln/>
          <a:effectLst>
            <a:outerShdw sx="100000" sy="100000" kx="0" ky="0" algn="bl" rotWithShape="0" blurRad="203200" dist="88900" dir="5400000">
              <a:srgbClr val="000000">
                <a:alpha val="38000"/>
              </a:srgbClr>
            </a:outerShdw>
          </a:effectLst>
        </p:spPr>
      </p:sp>
      <p:sp>
        <p:nvSpPr>
          <p:cNvPr id="4" name="Text 1"/>
          <p:cNvSpPr/>
          <p:nvPr/>
        </p:nvSpPr>
        <p:spPr>
          <a:xfrm>
            <a:off x="2788920" y="2651760"/>
            <a:ext cx="6613855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i="1" dirty="0">
                <a:solidFill>
                  <a:srgbClr val="A31621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“I’m Donna. I know everything.”</a:t>
            </a:r>
            <a:endParaRPr lang="en-US" sz="3000" dirty="0"/>
          </a:p>
          <a:p>
            <a:pPr algn="ctr" indent="0" marL="0">
              <a:buNone/>
            </a:pPr>
            <a:endParaRPr lang="en-US" sz="3000" dirty="0"/>
          </a:p>
          <a:p>
            <a:pPr algn="ctr" indent="0" marL="0">
              <a:buNone/>
            </a:pPr>
            <a:r>
              <a:rPr lang="en-US" sz="1050" b="1" spc="300" kern="0" dirty="0">
                <a:solidFill>
                  <a:srgbClr val="1421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 DONNA PAULSEN, SUITS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914400" y="4617720"/>
            <a:ext cx="103628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spc="500" kern="0" dirty="0">
                <a:solidFill>
                  <a:srgbClr val="F7F3E9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BUILD YOUR OWN DONNA</a:t>
            </a:r>
            <a:endParaRPr lang="en-US" sz="2500" dirty="0"/>
          </a:p>
        </p:txBody>
      </p:sp>
      <p:sp>
        <p:nvSpPr>
          <p:cNvPr id="6" name="Text 3"/>
          <p:cNvSpPr/>
          <p:nvPr/>
        </p:nvSpPr>
        <p:spPr>
          <a:xfrm>
            <a:off x="914400" y="5175504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AFA8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two-hour workshop for executives who are done reading email</a:t>
            </a:r>
            <a:endParaRPr lang="en-US" sz="1400" dirty="0"/>
          </a:p>
        </p:txBody>
      </p:sp>
      <p:pic>
        <p:nvPicPr>
          <p:cNvPr id="7" name="Image 1" descr="/private/tmp/claude-502/-Users-dev-Documents-production-donna/5de1284d-6f84-43be-a2a5-f3ead80d40bc/scratchpad/skyline-gold.png">    </p:cNvPr>
          <p:cNvPicPr>
            <a:picLocks noChangeAspect="1"/>
          </p:cNvPicPr>
          <p:nvPr/>
        </p:nvPicPr>
        <p:blipFill>
          <a:blip r:embed="rId2">
            <a:alphaModFix amt="65000"/>
          </a:blip>
          <a:stretch>
            <a:fillRect/>
          </a:stretch>
        </p:blipFill>
        <p:spPr>
          <a:xfrm>
            <a:off x="1981048" y="5897880"/>
            <a:ext cx="8229600" cy="7315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105457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DDB9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1371600"/>
            <a:ext cx="56692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0" b="1" dirty="0">
                <a:solidFill>
                  <a:srgbClr val="C9A227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300</a:t>
            </a:r>
            <a:endParaRPr lang="en-US" sz="20000" dirty="0"/>
          </a:p>
        </p:txBody>
      </p:sp>
      <p:sp>
        <p:nvSpPr>
          <p:cNvPr id="4" name="Text 2"/>
          <p:cNvSpPr/>
          <p:nvPr/>
        </p:nvSpPr>
        <p:spPr>
          <a:xfrm>
            <a:off x="6400800" y="2194560"/>
            <a:ext cx="4937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000" dirty="0">
                <a:solidFill>
                  <a:srgbClr val="F7F3E9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emails a day is not a communication strategy.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0" y="3749040"/>
            <a:ext cx="4754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i="1" dirty="0">
                <a:solidFill>
                  <a:srgbClr val="AFA8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It’s a second job you never applied for — read, sort, apologize for the delay, repeat.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105457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C9A2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FIX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1051560"/>
            <a:ext cx="10545775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100" i="1" dirty="0">
                <a:solidFill>
                  <a:srgbClr val="A31621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“If you want somebody to just sit at her desk, answer your phones and pick up your dry cleaning, then put out a want ad, because that’s not me.”</a:t>
            </a:r>
            <a:endParaRPr lang="en-US" sz="2100" dirty="0"/>
          </a:p>
          <a:p>
            <a:pPr indent="0" marL="0">
              <a:buNone/>
            </a:pPr>
            <a:endParaRPr lang="en-US" sz="2100" dirty="0"/>
          </a:p>
          <a:p>
            <a:pPr indent="0" marL="0">
              <a:buNone/>
            </a:pPr>
            <a:r>
              <a:rPr lang="en-US" sz="1050" b="1" spc="300" kern="0" dirty="0">
                <a:solidFill>
                  <a:srgbClr val="1421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 DONNA PAULSEN, SUITS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822960" y="3291840"/>
            <a:ext cx="1054577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213D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You don’t need a better inbox. You need a Donna.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896112" y="4736592"/>
            <a:ext cx="128016" cy="128016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6" name="Text 4"/>
          <p:cNvSpPr/>
          <p:nvPr/>
        </p:nvSpPr>
        <p:spPr>
          <a:xfrm>
            <a:off x="1234440" y="4526280"/>
            <a:ext cx="97228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C2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 the show’s final seasons, the firm builds an AI assistant modeled on her — they call it “The Donna.”  </a:t>
            </a:r>
            <a:pPr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1421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show built The Donna as fiction. You’re going to build yours for real. It’ll take about two hours.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105457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DDB9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PLAN — HIRING HER IN FOUR MOVES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868680"/>
            <a:ext cx="105457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7F3E9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The hiring arc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822960" y="2011680"/>
            <a:ext cx="2542032" cy="3108960"/>
          </a:xfrm>
          <a:prstGeom prst="roundRect">
            <a:avLst>
              <a:gd name="adj" fmla="val 2158"/>
            </a:avLst>
          </a:prstGeom>
          <a:solidFill>
            <a:srgbClr val="1B2A4A"/>
          </a:solidFill>
          <a:ln w="9525">
            <a:solidFill>
              <a:srgbClr val="C9A227">
                <a:alpha val="65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97280" y="2212848"/>
            <a:ext cx="19933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9A227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01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097280" y="2761488"/>
            <a:ext cx="199339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50" kern="0" dirty="0">
                <a:solidFill>
                  <a:srgbClr val="F7F3E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INTERVIEW</a:t>
            </a:r>
            <a:endParaRPr lang="en-US" sz="1250" dirty="0"/>
          </a:p>
          <a:p>
            <a:pPr indent="0" marL="0">
              <a:buNone/>
            </a:pPr>
            <a:r>
              <a:rPr lang="en-US" sz="1250" b="1" spc="150" kern="0" dirty="0">
                <a:solidFill>
                  <a:srgbClr val="F7F3E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CHAT · ~15 MIN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1097280" y="3310128"/>
            <a:ext cx="199339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i="1" dirty="0">
                <a:solidFill>
                  <a:srgbClr val="AFA8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She reads your inbox and drafts her first reply. You decide if she’s hired.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584448" y="2011680"/>
            <a:ext cx="2542032" cy="3108960"/>
          </a:xfrm>
          <a:prstGeom prst="roundRect">
            <a:avLst>
              <a:gd name="adj" fmla="val 2158"/>
            </a:avLst>
          </a:prstGeom>
          <a:solidFill>
            <a:srgbClr val="1B2A4A"/>
          </a:solidFill>
          <a:ln w="9525">
            <a:solidFill>
              <a:srgbClr val="C9A227">
                <a:alpha val="65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858768" y="2212848"/>
            <a:ext cx="19933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9A227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02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3858768" y="2761488"/>
            <a:ext cx="199339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50" kern="0" dirty="0">
                <a:solidFill>
                  <a:srgbClr val="F7F3E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FIRST DAY</a:t>
            </a:r>
            <a:endParaRPr lang="en-US" sz="1250" dirty="0"/>
          </a:p>
          <a:p>
            <a:pPr indent="0" marL="0">
              <a:buNone/>
            </a:pPr>
            <a:r>
              <a:rPr lang="en-US" sz="1250" b="1" spc="150" kern="0" dirty="0">
                <a:solidFill>
                  <a:srgbClr val="F7F3E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· ~25 MIN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3858768" y="3310128"/>
            <a:ext cx="199339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i="1" dirty="0">
                <a:solidFill>
                  <a:srgbClr val="AFA8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 brief her once — your people, your priorities, your voice. She remembers.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345936" y="2011680"/>
            <a:ext cx="2542032" cy="3108960"/>
          </a:xfrm>
          <a:prstGeom prst="roundRect">
            <a:avLst>
              <a:gd name="adj" fmla="val 2158"/>
            </a:avLst>
          </a:prstGeom>
          <a:solidFill>
            <a:srgbClr val="1B2A4A"/>
          </a:solidFill>
          <a:ln w="9525">
            <a:solidFill>
              <a:srgbClr val="C9A227">
                <a:alpha val="65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620256" y="2212848"/>
            <a:ext cx="19933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9A227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03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6620256" y="2761488"/>
            <a:ext cx="199339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50" kern="0" dirty="0">
                <a:solidFill>
                  <a:srgbClr val="F7F3E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PLAYBOOK</a:t>
            </a:r>
            <a:endParaRPr lang="en-US" sz="1250" dirty="0"/>
          </a:p>
          <a:p>
            <a:pPr indent="0" marL="0">
              <a:buNone/>
            </a:pPr>
            <a:r>
              <a:rPr lang="en-US" sz="1250" b="1" spc="150" kern="0" dirty="0">
                <a:solidFill>
                  <a:srgbClr val="F7F3E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SKILL · ~30 MIN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620256" y="3310128"/>
            <a:ext cx="199339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i="1" dirty="0">
                <a:solidFill>
                  <a:srgbClr val="AFA8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reply rules become a skill she carries everywhere. Drafts only, never sends.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9107424" y="2011680"/>
            <a:ext cx="2542032" cy="3108960"/>
          </a:xfrm>
          <a:prstGeom prst="roundRect">
            <a:avLst>
              <a:gd name="adj" fmla="val 2158"/>
            </a:avLst>
          </a:prstGeom>
          <a:solidFill>
            <a:srgbClr val="1B2A4A"/>
          </a:solidFill>
          <a:ln w="9525">
            <a:solidFill>
              <a:srgbClr val="C9A227">
                <a:alpha val="6500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381744" y="2212848"/>
            <a:ext cx="19933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9A227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04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9381744" y="2761488"/>
            <a:ext cx="199339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50" kern="0" dirty="0">
                <a:solidFill>
                  <a:srgbClr val="F7F3E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KEYS</a:t>
            </a:r>
            <a:endParaRPr lang="en-US" sz="1250" dirty="0"/>
          </a:p>
          <a:p>
            <a:pPr indent="0" marL="0">
              <a:buNone/>
            </a:pPr>
            <a:r>
              <a:rPr lang="en-US" sz="1250" b="1" spc="150" kern="0" dirty="0">
                <a:solidFill>
                  <a:srgbClr val="F7F3E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 · ~40 MIN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9381744" y="3310128"/>
            <a:ext cx="199339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i="1" dirty="0">
                <a:solidFill>
                  <a:srgbClr val="AFA8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She takes the evening shift: briefing written, calendar booked, 4:54 PM notification.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822960" y="5440680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AFA8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case file is on the site — every prompt has a copy button. You paste, she works.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105457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DDB9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CASE FILE 01 · CHAT — FIRST IMPRESSIONS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868680"/>
            <a:ext cx="105457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7F3E9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Connect your email. Then ask the only question that matters.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" y="1627632"/>
            <a:ext cx="105457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AFA8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Settings → Connectors → Connect Gmail or Microsoft 365 (they’re pre-enabled — one click, one sign-in)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1280160" y="2286000"/>
            <a:ext cx="9631375" cy="2286000"/>
          </a:xfrm>
          <a:prstGeom prst="roundRect">
            <a:avLst>
              <a:gd name="adj" fmla="val 2000"/>
            </a:avLst>
          </a:prstGeom>
          <a:solidFill>
            <a:srgbClr val="F7F3E9"/>
          </a:solidFill>
          <a:ln/>
          <a:effectLst>
            <a:outerShdw sx="100000" sy="100000" kx="0" ky="0" algn="bl" rotWithShape="0" blurRad="177800" dist="76200" dir="5400000">
              <a:srgbClr val="000000">
                <a:alpha val="3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1645920" y="2487168"/>
            <a:ext cx="8899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5A637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PROMPT 1 — THE QUESTION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645920" y="2788920"/>
            <a:ext cx="889985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100" dirty="0">
                <a:solidFill>
                  <a:srgbClr val="1C2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 landed in my inbox in the last 24 hours</a:t>
            </a:r>
            <a:endParaRPr lang="en-US" sz="21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2100" dirty="0">
                <a:solidFill>
                  <a:srgbClr val="1C2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that actually needs ME?</a:t>
            </a:r>
            <a:endParaRPr lang="en-US" sz="21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2100" dirty="0">
                <a:solidFill>
                  <a:srgbClr val="1C2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Top 5, one line each.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1280160" y="4800600"/>
            <a:ext cx="9631375" cy="1554480"/>
          </a:xfrm>
          <a:prstGeom prst="roundRect">
            <a:avLst>
              <a:gd name="adj" fmla="val 2941"/>
            </a:avLst>
          </a:prstGeom>
          <a:solidFill>
            <a:srgbClr val="F7F3E9"/>
          </a:solidFill>
          <a:ln/>
          <a:effectLst>
            <a:outerShdw sx="100000" sy="100000" kx="0" ky="0" algn="bl" rotWithShape="0" blurRad="177800" dist="76200" dir="5400000">
              <a:srgbClr val="000000">
                <a:alpha val="3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1645920" y="5001768"/>
            <a:ext cx="8899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5A637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PROMPT 2 — THE FIRST DRAFT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645920" y="5303520"/>
            <a:ext cx="88998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C2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Draft a reply to #1. Under 100 words, warm but decisive.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C2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Don’t send it — just show me.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105457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DDB9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CASE FILE 01 · LIVE DEMO — CHECKPOINT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2194560" y="2148840"/>
            <a:ext cx="7802575" cy="1737360"/>
          </a:xfrm>
          <a:prstGeom prst="roundRect">
            <a:avLst>
              <a:gd name="adj" fmla="val 3158"/>
            </a:avLst>
          </a:prstGeom>
          <a:solidFill>
            <a:srgbClr val="C9A227">
              <a:alpha val="10000"/>
            </a:srgbClr>
          </a:solidFill>
          <a:ln w="15875">
            <a:solidFill>
              <a:srgbClr val="C9A22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651760" y="2423160"/>
            <a:ext cx="688817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DDB9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✓  YOU DID IT WHEN…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2651760" y="2715768"/>
            <a:ext cx="68881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7F3E9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Claude shows a draft you’d actually send.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914400" y="4434840"/>
            <a:ext cx="10362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AFA8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Chat is the job interview. Donna’s hired — now we train her.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105457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C9A2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CASE FILE 02 · PROJECT — THE TRIAGE DESK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868680"/>
            <a:ext cx="105457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Teach her your rules once.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22960" y="1691640"/>
            <a:ext cx="6949440" cy="4663440"/>
          </a:xfrm>
          <a:prstGeom prst="roundRect">
            <a:avLst>
              <a:gd name="adj" fmla="val 980"/>
            </a:avLst>
          </a:prstGeom>
          <a:solidFill>
            <a:srgbClr val="14213D"/>
          </a:solidFill>
          <a:ln/>
          <a:effectLst>
            <a:outerShdw sx="100000" sy="100000" kx="0" ky="0" algn="bl" rotWithShape="0" blurRad="177800" dist="76200" dir="5400000">
              <a:srgbClr val="9A917C">
                <a:alpha val="5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143000" y="1874520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50" kern="0" dirty="0">
                <a:solidFill>
                  <a:srgbClr val="DDB9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INSTRUCTIONS — PASTE FROM THE SITE, FILL 3 BLANKS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1143000" y="2194560"/>
            <a:ext cx="630936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F7F3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You are my inbox triage assistant. Whenever I ask you to triage:</a:t>
            </a:r>
            <a:endParaRPr lang="en-US" sz="11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F7F3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 Review my inbox for the period I mention (default: last 24 hours).</a:t>
            </a:r>
            <a:endParaRPr lang="en-US" sz="11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F7F3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 Sort every thread into: 🔴 NEEDS ME TODAY · 🟡 DELEGATE · 🔵 FYI · ⚪ IGNORE</a:t>
            </a:r>
            <a:endParaRPr lang="en-US" sz="11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F7F3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- These people are ALWAYS 🔴 unless pure FYI: </a:t>
            </a:r>
            <a:endParaRPr lang="en-US" sz="11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150" b="1" dirty="0">
                <a:solidFill>
                  <a:srgbClr val="DDB9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[ADD 3–5 NAMES + EMAILS]</a:t>
            </a:r>
            <a:pPr indent="0" marL="0">
              <a:lnSpc>
                <a:spcPct val="122000"/>
              </a:lnSpc>
              <a:buNone/>
            </a:pPr>
            <a:endParaRPr lang="en-US" sz="11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F7F3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- Newsletters, cold outreach, automated notices → ⚪</a:t>
            </a:r>
            <a:endParaRPr lang="en-US" sz="11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F7F3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- Anything about </a:t>
            </a:r>
            <a:endParaRPr lang="en-US" sz="11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150" b="1" dirty="0">
                <a:solidFill>
                  <a:srgbClr val="DDB9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[ADD YOUR #1 PROJECT OR DEAL]</a:t>
            </a:r>
            <a:pPr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F7F3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→ 🔴</a:t>
            </a:r>
            <a:endParaRPr lang="en-US" sz="11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F7F3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3. Give me ONE table: sender · subject · category · one-line why ·</a:t>
            </a:r>
            <a:endParaRPr lang="en-US" sz="11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F7F3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suggested action.</a:t>
            </a:r>
            <a:endParaRPr lang="en-US" sz="11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F7F3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4. Offer to draft replies for the 🔴 rows. My voice: </a:t>
            </a:r>
            <a:endParaRPr lang="en-US" sz="11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150" b="1" dirty="0">
                <a:solidFill>
                  <a:srgbClr val="DDB9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[ADD 3 WORDS]</a:t>
            </a:r>
            <a:pPr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F7F3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1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F7F3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Never send anything.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8092440" y="182880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421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three blanks are the only editing you do all day: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8110728" y="2724912"/>
            <a:ext cx="109728" cy="109728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9" name="Text 7"/>
          <p:cNvSpPr/>
          <p:nvPr/>
        </p:nvSpPr>
        <p:spPr>
          <a:xfrm>
            <a:off x="8366760" y="256032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14213D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Your always-red list
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A637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3–5 people whose email always needs you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110728" y="3803904"/>
            <a:ext cx="109728" cy="109728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11" name="Text 9"/>
          <p:cNvSpPr/>
          <p:nvPr/>
        </p:nvSpPr>
        <p:spPr>
          <a:xfrm>
            <a:off x="8366760" y="3639312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14213D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Your #1 deal
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A637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thing that jumps every queue right now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110728" y="4882896"/>
            <a:ext cx="109728" cy="109728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13" name="Text 11"/>
          <p:cNvSpPr/>
          <p:nvPr/>
        </p:nvSpPr>
        <p:spPr>
          <a:xfrm>
            <a:off x="8366760" y="4718304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14213D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Your voice, in 3 words
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A637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warm, brief, decisive is a fine start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105457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DDB9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CASE FILE 02 · LIVE DEMO — CHECKPOINT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2194560" y="1920240"/>
            <a:ext cx="7802575" cy="1737360"/>
          </a:xfrm>
          <a:prstGeom prst="roundRect">
            <a:avLst>
              <a:gd name="adj" fmla="val 3158"/>
            </a:avLst>
          </a:prstGeom>
          <a:solidFill>
            <a:srgbClr val="C9A227">
              <a:alpha val="10000"/>
            </a:srgbClr>
          </a:solidFill>
          <a:ln w="15875">
            <a:solidFill>
              <a:srgbClr val="C9A22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651760" y="2194560"/>
            <a:ext cx="688817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DDB9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✓  YOU DID IT WHEN…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2651760" y="2487168"/>
            <a:ext cx="68881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7F3E9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You get one table instead of an inbox.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3992728" y="4160520"/>
            <a:ext cx="4206240" cy="685800"/>
          </a:xfrm>
          <a:prstGeom prst="roundRect">
            <a:avLst>
              <a:gd name="adj" fmla="val 49333"/>
            </a:avLst>
          </a:prstGeom>
          <a:solidFill>
            <a:srgbClr val="F7F3E9"/>
          </a:solidFill>
          <a:ln/>
          <a:effectLst>
            <a:outerShdw sx="100000" sy="100000" kx="0" ky="0" algn="bl" rotWithShape="0" blurRad="127000" dist="50800" dir="5400000">
              <a:srgbClr val="000000">
                <a:alpha val="3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3992728" y="4160520"/>
            <a:ext cx="4206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C2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Triage my inbox.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914400" y="502920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i="1" dirty="0">
                <a:solidFill>
                  <a:srgbClr val="AFA8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 the entire daily ritual, from now on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914400" y="5623560"/>
            <a:ext cx="10362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DDB94A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Chat is a conversation. A project is a standing arrangement.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105457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DDB9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CASE FILE 03 · SKILL — DONNA’S PLAYBOOK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868680"/>
            <a:ext cx="105457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7F3E9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One paste. She does the rest.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1005840" y="1874520"/>
            <a:ext cx="10180015" cy="2651760"/>
          </a:xfrm>
          <a:prstGeom prst="roundRect">
            <a:avLst>
              <a:gd name="adj" fmla="val 1724"/>
            </a:avLst>
          </a:prstGeom>
          <a:solidFill>
            <a:srgbClr val="F7F3E9"/>
          </a:solidFill>
          <a:ln/>
          <a:effectLst>
            <a:outerShdw sx="100000" sy="100000" kx="0" ky="0" algn="bl" rotWithShape="0" blurRad="177800" dist="76200" dir="5400000">
              <a:srgbClr val="000000">
                <a:alpha val="3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371600" y="2075688"/>
            <a:ext cx="94484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5A637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INSTALLER — ONE PASTE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371600" y="2377440"/>
            <a:ext cx="9448495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C2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Fetch https://denisekgosnell.github.io/Donna/skills/donna-replies/SKILL.md</a:t>
            </a:r>
            <a:endParaRPr lang="en-US" sz="13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C2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and install it for me as a skill named donna-replies.</a:t>
            </a:r>
            <a:endParaRPr lang="en-US" sz="13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C2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Then interview me, one question at a time, to replace every {{PLACEHOLDER}}:</a:t>
            </a:r>
            <a:endParaRPr lang="en-US" sz="13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C2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my VIP list, my voice, my reply rules.</a:t>
            </a:r>
            <a:endParaRPr lang="en-US" sz="13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C2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When it’s active, tell me the one sentence I say to use it.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822960" y="4800600"/>
            <a:ext cx="105457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FA8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She fetches her own playbook, installs it, then interviews you for the blanks — VIPs, voice, rules.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22960" y="5349240"/>
            <a:ext cx="105457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DB9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Test drive:  </a:t>
            </a:r>
            <a:pPr indent="0" marL="0">
              <a:buNone/>
            </a:pPr>
            <a:r>
              <a:rPr lang="en-US" sz="1400" dirty="0">
                <a:solidFill>
                  <a:srgbClr val="F7F3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 donna-replies on my inbox.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A316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554480"/>
            <a:ext cx="10545775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66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She never sends.</a:t>
            </a:r>
            <a:endParaRPr lang="en-US" sz="66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66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Ever.</a:t>
            </a:r>
            <a:endParaRPr lang="en-US" sz="6600" dirty="0"/>
          </a:p>
        </p:txBody>
      </p:sp>
      <p:sp>
        <p:nvSpPr>
          <p:cNvPr id="3" name="Text 1"/>
          <p:cNvSpPr/>
          <p:nvPr/>
        </p:nvSpPr>
        <p:spPr>
          <a:xfrm>
            <a:off x="1463040" y="4389120"/>
            <a:ext cx="92656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F7F3E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reply lands in your drafts folder and waits for your say-so.</a:t>
            </a:r>
            <a:endParaRPr lang="en-US" sz="16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F7F3E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rule is written into the skill itself: “Save every reply as a DRAFT. Never send. No exceptions.”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6013552" y="1051560"/>
            <a:ext cx="164592" cy="164592"/>
          </a:xfrm>
          <a:prstGeom prst="diamond">
            <a:avLst/>
          </a:prstGeom>
          <a:solidFill>
            <a:srgbClr val="F7F3E9"/>
          </a:solidFill>
          <a:ln/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105457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DDB9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CASE FILE 04 · AGENT — DONNA, FULL TIME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868680"/>
            <a:ext cx="105457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7F3E9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Give her the evening shift.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22960" y="1737360"/>
            <a:ext cx="10545775" cy="3611880"/>
          </a:xfrm>
          <a:prstGeom prst="roundRect">
            <a:avLst>
              <a:gd name="adj" fmla="val 1266"/>
            </a:avLst>
          </a:prstGeom>
          <a:solidFill>
            <a:srgbClr val="F7F3E9"/>
          </a:solidFill>
          <a:ln/>
          <a:effectLst>
            <a:outerShdw sx="100000" sy="100000" kx="0" ky="0" algn="bl" rotWithShape="0" blurRad="177800" dist="76200" dir="5400000">
              <a:srgbClr val="000000">
                <a:alpha val="3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188720" y="1938528"/>
            <a:ext cx="98142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5A637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STANDING ORDER — SCHEDULED TASKS → NEW TASK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88720" y="2240280"/>
            <a:ext cx="9814255" cy="2880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C2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Every weekday at 4:30 PM: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C2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 Run my donna-replies skill on today’s inbox.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C2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 Write my Daily Briefing as a document titled "Daily Briefing — [today’s date]":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C2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• the 5 things in my inbox that need ME  • the replies you drafted today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C2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• what you ignored and why  • my first meeting tomorrow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C2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3. Save it to my Google Drive / OneDrive in a folder called "Donna Briefings".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C2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4. Create a calendar event today, 4:55–5:00 PM, called "📋 Briefing with Donna",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C2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with the document link in the description and an EMAIL reminder 1 minute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C2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before the event. (Outlook: a calendar notification instead.)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C2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Also: do a dry run for today RIGHT NOW so I can check your work.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554480" y="566928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9A227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4:30  </a:t>
            </a:r>
            <a:pPr indent="0" marL="0">
              <a:buNone/>
            </a:pPr>
            <a:r>
              <a:rPr lang="en-US" sz="1300" dirty="0">
                <a:solidFill>
                  <a:srgbClr val="AFA8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she works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4754880" y="566928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9A227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4:54  </a:t>
            </a:r>
            <a:pPr indent="0" marL="0">
              <a:buNone/>
            </a:pPr>
            <a:r>
              <a:rPr lang="en-US" sz="1300" dirty="0">
                <a:solidFill>
                  <a:srgbClr val="AFA8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you’re notified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7955280" y="566928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9A227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4:55  </a:t>
            </a:r>
            <a:pPr indent="0" marL="0">
              <a:buNone/>
            </a:pPr>
            <a:r>
              <a:rPr lang="en-US" sz="1300" dirty="0">
                <a:solidFill>
                  <a:srgbClr val="AFA8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five-minute read</a:t>
            </a:r>
            <a:endParaRPr lang="en-US" sz="2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105457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DDB9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CASE FILE 04 · THE DRY RUN — CHECKPOINT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1417320"/>
            <a:ext cx="10545775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0" b="1" dirty="0">
                <a:solidFill>
                  <a:srgbClr val="C9A227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4:54 PM</a:t>
            </a:r>
            <a:endParaRPr lang="en-US" sz="13000" dirty="0"/>
          </a:p>
        </p:txBody>
      </p:sp>
      <p:sp>
        <p:nvSpPr>
          <p:cNvPr id="4" name="Text 2"/>
          <p:cNvSpPr/>
          <p:nvPr/>
        </p:nvSpPr>
        <p:spPr>
          <a:xfrm>
            <a:off x="914400" y="3977640"/>
            <a:ext cx="103628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F7F3E9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Her first briefing arrives before you leave the room.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463040" y="4800600"/>
            <a:ext cx="92656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50" i="1" dirty="0">
                <a:solidFill>
                  <a:srgbClr val="AFA8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trick: Claude never emails you — your calendar does. The briefing lands from a sender you already trust.</a:t>
            </a:r>
            <a:endParaRPr lang="en-US" sz="14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105457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C9A2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BACKUP PLANS — WHEN DEMOS MEET REALITY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868680"/>
            <a:ext cx="105457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Nothing today depends on luck.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22960" y="1920240"/>
            <a:ext cx="3383280" cy="3108960"/>
          </a:xfrm>
          <a:prstGeom prst="roundRect">
            <a:avLst>
              <a:gd name="adj" fmla="val 176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63500" dir="5400000">
              <a:srgbClr val="9A917C">
                <a:alpha val="4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143000" y="219456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9A227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01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27432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Wi-Fi dies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143000" y="3246120"/>
            <a:ext cx="27889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C2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Hotspot is already on the counter — network and password are on your Wi-Fi card. Reconnect, carry on.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480560" y="1920240"/>
            <a:ext cx="3383280" cy="3108960"/>
          </a:xfrm>
          <a:prstGeom prst="roundRect">
            <a:avLst>
              <a:gd name="adj" fmla="val 176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63500" dir="5400000">
              <a:srgbClr val="9A917C">
                <a:alpha val="4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800600" y="219456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9A227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02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4800600" y="27432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A connector balks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4800600" y="3246120"/>
            <a:ext cx="27889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C2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Disconnect, reconnect, and check the account — nine times out of ten it’s the personal address instead of work.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138160" y="1920240"/>
            <a:ext cx="3383280" cy="3108960"/>
          </a:xfrm>
          <a:prstGeom prst="roundRect">
            <a:avLst>
              <a:gd name="adj" fmla="val 176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63500" dir="5400000">
              <a:srgbClr val="9A917C">
                <a:alpha val="4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458200" y="219456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9A227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03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8458200" y="27432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The network is truly gone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8458200" y="3246120"/>
            <a:ext cx="27889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C2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Denise switches to pre-made screenshots of every step and the walkthrough continues — you finish the setup tonight at home.</a:t>
            </a:r>
            <a:endParaRPr lang="en-US" sz="12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claude-502/-Users-dev-Documents-production-donna/5de1284d-6f84-43be-a2a5-f3ead80d40bc/scratchpad/monogram-gold-r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01488" y="457200"/>
            <a:ext cx="1188720" cy="11887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828800" y="1874520"/>
            <a:ext cx="8534095" cy="1691640"/>
          </a:xfrm>
          <a:prstGeom prst="roundRect">
            <a:avLst>
              <a:gd name="adj" fmla="val 3243"/>
            </a:avLst>
          </a:prstGeom>
          <a:solidFill>
            <a:srgbClr val="F7F3E9"/>
          </a:solidFill>
          <a:ln/>
          <a:effectLst>
            <a:outerShdw sx="100000" sy="100000" kx="0" ky="0" algn="bl" rotWithShape="0" blurRad="203200" dist="88900" dir="5400000">
              <a:srgbClr val="000000">
                <a:alpha val="38000"/>
              </a:srgbClr>
            </a:outerShdw>
          </a:effectLst>
        </p:spPr>
      </p:sp>
      <p:sp>
        <p:nvSpPr>
          <p:cNvPr id="4" name="Text 1"/>
          <p:cNvSpPr/>
          <p:nvPr/>
        </p:nvSpPr>
        <p:spPr>
          <a:xfrm>
            <a:off x="2240280" y="2011680"/>
            <a:ext cx="7711135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i="1" dirty="0">
                <a:solidFill>
                  <a:srgbClr val="A31621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“If you were ever lucky enough to have me, you wouldn’t want to share.”</a:t>
            </a:r>
            <a:endParaRPr lang="en-US" sz="2400" dirty="0"/>
          </a:p>
          <a:p>
            <a:pPr algn="ctr" indent="0" marL="0">
              <a:buNone/>
            </a:pPr>
            <a:endParaRPr lang="en-US" sz="2400" dirty="0"/>
          </a:p>
          <a:p>
            <a:pPr algn="ctr" indent="0" marL="0">
              <a:buNone/>
            </a:pPr>
            <a:r>
              <a:rPr lang="en-US" sz="1050" b="1" spc="300" kern="0" dirty="0">
                <a:solidFill>
                  <a:srgbClr val="1421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 DONNA PAULSEN, SUITS</a:t>
            </a:r>
            <a:endParaRPr lang="en-US" sz="2400" dirty="0"/>
          </a:p>
        </p:txBody>
      </p:sp>
      <p:sp>
        <p:nvSpPr>
          <p:cNvPr id="5" name="Text 2"/>
          <p:cNvSpPr/>
          <p:nvPr/>
        </p:nvSpPr>
        <p:spPr>
          <a:xfrm>
            <a:off x="914400" y="3794760"/>
            <a:ext cx="103628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7F3E9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Yours starts tomorrow at 4:54.</a:t>
            </a:r>
            <a:endParaRPr lang="en-US" sz="2200" dirty="0"/>
          </a:p>
        </p:txBody>
      </p:sp>
      <p:pic>
        <p:nvPicPr>
          <p:cNvPr id="6" name="Image 1" descr="/private/tmp/claude-502/-Users-dev-Documents-production-donna/5de1284d-6f84-43be-a2a5-f3ead80d40bc/scratchpad/q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27168" y="4526280"/>
            <a:ext cx="1737360" cy="173736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914400" y="635508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150" kern="0" dirty="0">
                <a:solidFill>
                  <a:srgbClr val="DDB9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denisekgosnell.github.io/Donna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Build Your Own Donna</dc:title>
  <dc:subject>PptxGenJS Presentation</dc:subject>
  <dc:creator>Denise Gosnell</dc:creator>
  <cp:lastModifiedBy>Denise Gosnell</cp:lastModifiedBy>
  <cp:revision>1</cp:revision>
  <dcterms:created xsi:type="dcterms:W3CDTF">2026-07-24T17:37:00Z</dcterms:created>
  <dcterms:modified xsi:type="dcterms:W3CDTF">2026-07-24T17:37:00Z</dcterms:modified>
</cp:coreProperties>
</file>