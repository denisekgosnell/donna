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72" r:id="rId29"/>
    <p:sldId id="278" r:id="rId35"/>
    <p:sldId id="279" r:id="rId36"/>
    <p:sldId id="280" r:id="rId37"/>
    <p:sldId id="281" r:id="rId38"/>
    <p:sldId id="282" r:id="rId39"/>
    <p:sldId id="283" r:id="rId40"/>
    <p:sldId id="284" r:id="rId41"/>
    <p:sldId id="258" r:id="rId7"/>
    <p:sldId id="259" r:id="rId8"/>
    <p:sldId id="275" r:id="rId32"/>
    <p:sldId id="260" r:id="rId9"/>
    <p:sldId id="261" r:id="rId10"/>
    <p:sldId id="262" r:id="rId11"/>
    <p:sldId id="263" r:id="rId12"/>
    <p:sldId id="264" r:id="rId13"/>
    <p:sldId id="265" r:id="rId14"/>
    <p:sldId id="266" r:id="rId15"/>
    <p:sldId id="267" r:id="rId16"/>
    <p:sldId id="268" r:id="rId17"/>
    <p:sldId id="269" r:id="rId18"/>
    <p:sldId id="270" r:id="rId19"/>
    <p:sldId id="276" r:id="rId33"/>
    <p:sldId id="274" r:id="rId31"/>
    <p:sldId id="277" r:id="rId34"/>
    <p:sldId id="271" r:id="rId20"/>
  </p:sldIdLst>
  <p:sldSz cy="6858000" cx="12192000"/>
  <p:notesSz cx="6858000" cy="12192000"/>
  <p:embeddedFontLst>
    <p:embeddedFont>
      <p:font typeface="Playfair Display"/>
      <p:regular r:id="rId21"/>
      <p:bold r:id="rId22"/>
      <p:italic r:id="rId23"/>
      <p:boldItalic r:id="rId24"/>
    </p:embeddedFont>
    <p:embeddedFont>
      <p:font typeface="Inter"/>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11.xml"/><Relationship Id="rId8" Type="http://schemas.openxmlformats.org/officeDocument/2006/relationships/slide" Target="slides/slide12.xml"/><Relationship Id="rId9" Type="http://schemas.openxmlformats.org/officeDocument/2006/relationships/slide" Target="slides/slide14.xml"/><Relationship Id="rId10" Type="http://schemas.openxmlformats.org/officeDocument/2006/relationships/slide" Target="slides/slide15.xml"/><Relationship Id="rId11" Type="http://schemas.openxmlformats.org/officeDocument/2006/relationships/slide" Target="slides/slide16.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8.xml"/><Relationship Id="rId21" Type="http://schemas.openxmlformats.org/officeDocument/2006/relationships/font" Target="fonts/PlayfairDisplay-regular.fntdata"/><Relationship Id="rId22" Type="http://schemas.openxmlformats.org/officeDocument/2006/relationships/font" Target="fonts/PlayfairDisplay-bold.fntdata"/><Relationship Id="rId23" Type="http://schemas.openxmlformats.org/officeDocument/2006/relationships/font" Target="fonts/PlayfairDisplay-italic.fntdata"/><Relationship Id="rId24" Type="http://schemas.openxmlformats.org/officeDocument/2006/relationships/font" Target="fonts/PlayfairDisplay-boldItalic.fntdata"/><Relationship Id="rId25" Type="http://schemas.openxmlformats.org/officeDocument/2006/relationships/font" Target="fonts/Inter-regular.fntdata"/><Relationship Id="rId26" Type="http://schemas.openxmlformats.org/officeDocument/2006/relationships/font" Target="fonts/Inter-bold.fntdata"/><Relationship Id="rId27" Type="http://schemas.openxmlformats.org/officeDocument/2006/relationships/font" Target="fonts/Inter-italic.fntdata"/><Relationship Id="rId28" Type="http://schemas.openxmlformats.org/officeDocument/2006/relationships/font" Target="fonts/Inter-boldItalic.fntdata"/><Relationship Id="rId29" Type="http://schemas.openxmlformats.org/officeDocument/2006/relationships/slide" Target="slides/slide3.xml"/><Relationship Id="rId31" Type="http://schemas.openxmlformats.org/officeDocument/2006/relationships/slide" Target="slides/slide26.xml"/><Relationship Id="rId32" Type="http://schemas.openxmlformats.org/officeDocument/2006/relationships/slide" Target="slides/slide13.xml"/><Relationship Id="rId33" Type="http://schemas.openxmlformats.org/officeDocument/2006/relationships/slide" Target="slides/slide25.xml"/><Relationship Id="rId34" Type="http://schemas.openxmlformats.org/officeDocument/2006/relationships/slide" Target="slides/slide27.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COLD OPEN — let the room settle on the quote before you speak. Opening line: “She ran the best closer in New York City. Today she comes to work for you.” Housekeeping in one breath: laptops out, Claude desktop installed, workspace invite accepted — anyone missing a piece, flag me now, we fix it while we talk. Set the promise: by 4 PM every one of you owns a working Donna — not a demo, yours, on your own inbox.  WIFI lines on this slide are placeholders: drop in the venue network and password before presenting.</a:t>
            </a: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 name="Google Shape;2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COLD OPEN — let the room settle on the quote before you speak. Opening line: “She ran the best closer in New York City. Today she comes to work for you.” Housekeeping in one breath: laptops out, Claude desktop installed, workspace invite accepted — anyone missing a piece, flag me now, we fix it while we talk. Set the promise: by 4 PM every one of you owns a working Donna — not a demo, yours, on your own inbox.</a:t>
            </a:r>
            <a:endParaRPr/>
          </a:p>
        </p:txBody>
      </p:sp>
      <p:sp>
        <p:nvSpPr>
          <p:cNvPr id="21" name="Google Shape;2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 name="Google Shape;3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Ask for hands: who actually cleared their inbox this morning? (Nobody.) Who checked email during this slide? (Laughter — someone will have.) The number isn’t the point — the point is that every one of those 300 asks a little tax on attention, and attention is the only thing an executive can’t delegate. Until today.</a:t>
            </a:r>
            <a:endParaRPr/>
          </a:p>
        </p:txBody>
      </p:sp>
      <p:sp>
        <p:nvSpPr>
          <p:cNvPr id="32" name="Google Shape;3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want-ad quote is the thesis: the job you’re hiring for isn’t phones and dry cleaning — filters and rules and a tidier inbox are the want-ad version. You’re hiring judgment: something that knows who matters, drafts in your voice, and briefs you once a day. Land the fiction-to-real line and pause — that’s the hook for the next 90 minutes.</a:t>
            </a:r>
            <a:endParaRPr/>
          </a:p>
        </p:txBody>
      </p:sp>
      <p:sp>
        <p:nvSpPr>
          <p:cNvPr id="41" name="Google Shape;41;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 name="Google Shape;50;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Three case files, one per stretch of the flywheel they just saw. Say the arc out loud: context until 2:50, build until 3:30, discussion until 4:00, done at 4:00 with a working Donna. Point at the site, the link from the prep email. Nobody types anything longer than one sentence today.</a:t>
            </a:r>
          </a:p>
        </p:txBody>
      </p:sp>
      <p:sp>
        <p:nvSpPr>
          <p:cNvPr id="51" name="Google Shape;51;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f5e3eb88d5_1_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 name="Google Shape;78;g3f5e3eb88d5_1_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Ask for hands: who actually cleared their inbox this morning? (Nobody.) Who checked email during this slide? (Laughter — someone will have.) The number isn’t the point — the point is that every one of those 300 asks a little tax on attention, and attention is the only thing an executive can’t delegate. Until today.</a:t>
            </a:r>
            <a:endParaRPr/>
          </a:p>
        </p:txBody>
      </p:sp>
      <p:sp>
        <p:nvSpPr>
          <p:cNvPr id="79" name="Google Shape;79;g3f5e3eb88d5_1_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 name="Google Shape;8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Project FIRST, then connectors: the desk before the mail. Walk the room during connections; the classic failure is signing into the personal Google account instead of work. Everyone connects Gmail, Calendar, AND Drive now so nothing interrupts the finale. If a connector reads Connected but Claude cannot see mail: quit Claude fully and reopen it. The Setup prompt on this slide is the self-serve fallback for anyone stuck. STOP SIGN at the end of this case file: hold until every laptop passes the checkpoint.</a:t>
            </a:r>
            <a:endParaRPr/>
          </a:p>
        </p:txBody>
      </p:sp>
      <p:sp>
        <p:nvSpPr>
          <p:cNvPr id="88" name="Google Shape;88;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room during connections — the classic failure is signing into the personal Google account instead of work. Connectors are pre-enabled workspace-wide, so all they click is Connect. Gmail people: also connect Google Calendar and Drive now (Step 4 needs both). Outlook people: Microsoft 365 covers mail, calendar, OneDrive in one go. Then prompt 1. Give it a beat — the room goes quiet when Claude answers from their real inbox.</a:t>
            </a:r>
            <a:endParaRPr/>
          </a:p>
        </p:txBody>
      </p:sp>
      <p:sp>
        <p:nvSpPr>
          <p:cNvPr id="100" name="Google Shape;100;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Run it live on your own screen first, then hold until every laptop shows five lines and a draft. Nobody moves on until the checkpoint. If a connector is stuck: disconnect, reconnect, confirm the account. If the network is stuck: switch to the backup screenshots (slide 13) and keep the energy up.</a:t>
            </a:r>
            <a:endParaRPr/>
          </a:p>
        </p:txBody>
      </p:sp>
      <p:sp>
        <p:nvSpPr>
          <p:cNvPr id="114" name="Google Shape;11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Four blanks now, not three: VIPs, the number-one deal, DELEGATES with their lanes, and voice. The delegates blank is the one the pilot group left empty, so call it out: yellow only works if Donna knows who owns what. Give them 6 to 8 quiet minutes to fill blanks, circulate, then everyone runs: Triage my inbox. Then the green light: yes, draft the reds and the yellow handoffs.</a:t>
            </a:r>
            <a:endParaRPr/>
          </a:p>
        </p:txBody>
      </p:sp>
      <p:sp>
        <p:nvSpPr>
          <p:cNvPr id="124" name="Google Shape;124;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Everyone runs the one-sentence ritual inside the project. The payoff to name out loud: you will never re-explain your rules again — that’s the difference between a chat and a project. Common wobble: someone triages from OUTSIDE the project and gets generic results — make sure they’re inside Inbox Triage.</a:t>
            </a:r>
            <a:endParaRPr/>
          </a:p>
        </p:txBody>
      </p:sp>
      <p:sp>
        <p:nvSpPr>
          <p:cNvPr id="141" name="Google Shape;14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step the pilot missed lives here, so go slow and demo on screen. Beat one: she writes SKILL.md from the project. Beat two: DOWNLOAD it (the file card has a download arrow). Beat three: open Cowork, then Skills, then Add skill, and UPLOAD the file. Say it plainly: a skill written in chat does not exist in Cowork until you upload it. Wait until every screen shows donna-replies in the skills list before anyone touches Scheduled tasks.</a:t>
            </a:r>
            <a:endParaRPr/>
          </a:p>
        </p:txBody>
      </p:sp>
      <p:sp>
        <p:nvSpPr>
          <p:cNvPr id="154" name="Google Shape;15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Slow down here — this is the trust slide, and it answers the fear nobody has said out loud yet: “what if it emails a client?” It can’t. Drafting and sending are different permissions, and this skill only ever drafts. You are the send button. Say it twice, verbatim: she never sends. Ever.</a:t>
            </a:r>
            <a:endParaRP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Scheduled tasks moved areas in a recent update; if someone cannot find it, use the site's trick: ask Claude where. Grab the prompt from the site, not from memory. Gmail attaches a true EMAIL reminder; Outlook gets a calendar notification instead, with upgrades in the site's small print. The last line of the prompt is the finale: a dry run, right now.</a:t>
            </a:r>
            <a:endParaRPr/>
          </a:p>
        </p:txBody>
      </p:sp>
      <p:sp>
        <p:nvSpPr>
          <p:cNvPr id="174" name="Google Shape;174;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The closing moment of the build: everyone watches the dry run land. Doc in the Donna Briefings folder, event on today's calendar, drafts waiting. Hold the silence while laptops ping. Then the reframe: that 4:54 notification is the only email they now need. Email comes to YOU now, once a day, pre-digested.</a:t>
            </a:r>
            <a:endParaRPr/>
          </a:p>
        </p:txBody>
      </p:sp>
      <p:sp>
        <p:nvSpPr>
          <p:cNvPr id="187" name="Google Shape;187;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5" name="Google Shape;19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Send-off: the site stays up — every prompt, every fallback, the skill itself. Scan the code, bookmark it, forward it to the colleague you know needs it. Tomorrow at 4:54 the briefing arrives on its own for the first time — when it does, that’s Donna saying she’s got it from here. Questions any time: denise@denisegosnell.ai. You’re weird. We’ll be friends.</a:t>
            </a:r>
            <a:endParaRPr/>
          </a:p>
        </p:txBody>
      </p:sp>
      <p:sp>
        <p:nvSpPr>
          <p:cNvPr id="196" name="Google Shape;196;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Thirty seconds, not a resume. Two beats: you have run data systems at nine-figure scale, and you build with these exact tools every day (Donna is your actual assistant, not a demo). Then the two-hats line: they will also see you wearing the cooperative-data-system hat this offsite; today is the AI-workflows hat.</a:t>
            </a:r>
            <a:endParaRP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Thirty seconds, no statistics yet. Establish that their job is a loop of information in and judgment out, not a to-do list. The kicker is the setup for the entire framing act: everything from here answers how judgment travels out of one head and into an organization.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Give one personal story per card; the two-calendar morning shift is your own daily driver, so say so. These four are travel-shaped on purpose. Then the bottom line: every one of them is the same flywheel they just ran, which is the whole point of teaching the flywheel rather than the tool. Plant workshop number two without selling it.</a:t>
            </a: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Read all five slowly; this slide buys calm for the next hour. Rules 1 and 2 kill the unspoken fear (nothing sends, nothing deletes). Rule 3 sets pacing so the fast people help instead of racing ahead. After rule 5, say: if anything I just said did not compute, perfect, you are exactly who this workshop is for.</a:t>
            </a:r>
            <a:endParaRP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The pivot into discussion, and the sentence they should quote later. Recap the flywheel with THEIR artifacts: the document they wrote, the skill file they own, the schedule it now runs on. They did not learn a tool today. They ran the same mechanism that ran AWS, on their own inbox. Then the reframe: email was the rehearsal. Pause here, then go to the next slide and open the floor.</a:t>
            </a: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5" name="Google Shape;16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Facilitate, do not lecture. Take three or four answers per question and map each one onto the flywheel out loud, so people hear their own use case become buildable. Question four is the harvest: it pulls the quadrant framing and the document framing together, and the answers are your pipeline for the next workshop. Close by pointing at the QR on the final slide.</a:t>
            </a:r>
          </a:p>
        </p:txBody>
      </p:sp>
      <p:sp>
        <p:nvSpPr>
          <p:cNvPr id="166" name="Google Shape;16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three of the four numbers out loud, not all four. The 2012 date on the email figure is the joke: that study predates most of the tools people blame for the problem. The footer is the hinge into the flywheel, so land it and turn the page immediately. If you are running long, this is the first slide to cut and you can speak two of these numbers over the cockpit slide instead.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full minutes; this is the spine of the whole workshop. Walk all six nodes once so the room has the vocabulary. The credibility beat is that you watched this operate at nine-figure scale, so speak from the inside. The point to land: this is not culture, it is a mechanism, and its entire purpose is converting one person's judgment into something an organization can execute without that person in the room. Nonaka called that tacit to explicit conversion in 1995 and it is still the only way anyone scales. Then set up the turn: the flywheel never changed. Only the artifact did.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payoff, and the sentence people repeat afterward. Overlay it literally: same wheel, new hub. Then map the afternoon onto it out loud, because it reframes the build from tool training to executive practice. Case File 02 is WRITE. Running triage is READ and CHALLENGE. Editing the blanks is REVISE. Approving drafts is DECIDE. The scheduled task is OPERATE. Say plainly: the skill you are actually learning today is document management, and it is the same skill that ran AWS.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slide to quote back during the 3:30 discussion. Make the escalation concrete: an unclear process used to cost you a bad meeting. Now you have hired something that executes that unclear process perfectly and tirelessly, all day. Which is why the unglamorous middle of this workshop, writing the rules down, is the part that actually matters. Then hand to the quadrants: before we write anything, you should know what kind of executive is holding the pen.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hands per quadrant; it wakes the room and tells you who you are teaching. Do not let it become a personality test, it is a setup for the next slide. The bridge: whichever quadrant you sit in, the flywheel is identical. What differs is which node you will care about, and therefore what you should optimize for in the next hour.</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permission slide and the fix for the pilot attendee who got frustrated and concluded the room was not for her. Read the Watch out line for each quadrant; they are the most useful sentences on the slide and they preempt the four ways this hour goes sideways. DELIVER THE HAND-IT-OFF OFFER VERBALLY HERE, ON THE TIME QUADRANT. That is the Closed and Tell move and it belongs to the executive who wants it closed rather than explained. There is no call-to-action slide by design. Two sentences, in your own words, roughly: some of you should not be building this yourself, and that is a legitimate answer; if you would rather have it done for you, find me at the break and I will point you at the right person. Then the band: nobody has to become a builder today, the instructions stay online, and handing them to a chief of staff or an EA is a completely valid outcome. Then the one non-negotiable: whoever runs it, somebody has to write the document, and that somebody has to be the person whose judgment it encodes. That is why you are in this room and not your assistant.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notesSlide" Target="../notesSlides/notesSlide17.xml"/><Relationship Id="rId9" Type="http://schemas.openxmlformats.org/officeDocument/2006/relationships/image" Target="../media/image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denisekgosnell.github.io/Donna/" TargetMode="Externa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1" name="Shape 11"/>
        <p:cNvGrpSpPr/>
        <p:nvPr/>
      </p:nvGrpSpPr>
      <p:grpSpPr>
        <a:xfrm>
          <a:off x="0" y="0"/>
          <a:ext cx="0" cy="0"/>
          <a:chOff x="0" y="0"/>
          <a:chExt cx="0" cy="0"/>
        </a:xfrm>
      </p:grpSpPr>
      <p:pic>
        <p:nvPicPr>
          <p:cNvPr descr="/private/tmp/claude-502/-Users-dev-Documents-production-donna/5de1284d-6f84-43be-a2a5-f3ead80d40bc/scratchpad/monogram-gold-red.png" id="12" name="Google Shape;12;p3"/>
          <p:cNvPicPr preferRelativeResize="0"/>
          <p:nvPr/>
        </p:nvPicPr>
        <p:blipFill rotWithShape="1">
          <a:blip r:embed="rId3">
            <a:alphaModFix/>
          </a:blip>
          <a:srcRect b="0" l="0" r="0" t="0"/>
          <a:stretch/>
        </p:blipFill>
        <p:spPr>
          <a:xfrm>
            <a:off x="5318608" y="566928"/>
            <a:ext cx="1554480" cy="1554480"/>
          </a:xfrm>
          <a:prstGeom prst="rect">
            <a:avLst/>
          </a:prstGeom>
          <a:noFill/>
          <a:ln>
            <a:noFill/>
          </a:ln>
        </p:spPr>
      </p:pic>
      <p:pic>
        <p:nvPicPr>
          <p:cNvPr descr="/private/tmp/claude-502/-Users-dev-Documents-production-donna/5de1284d-6f84-43be-a2a5-f3ead80d40bc/scratchpad/skyline-gold.png" id="13" name="Google Shape;13;p3"/>
          <p:cNvPicPr preferRelativeResize="0"/>
          <p:nvPr/>
        </p:nvPicPr>
        <p:blipFill rotWithShape="1">
          <a:blip r:embed="rId4">
            <a:alphaModFix amt="65000"/>
          </a:blip>
          <a:srcRect b="0" l="0" r="0" t="0"/>
          <a:stretch/>
        </p:blipFill>
        <p:spPr>
          <a:xfrm>
            <a:off x="1981048" y="5897880"/>
            <a:ext cx="8229600" cy="731520"/>
          </a:xfrm>
          <a:prstGeom prst="rect">
            <a:avLst/>
          </a:prstGeom>
          <a:noFill/>
          <a:ln>
            <a:noFill/>
          </a:ln>
        </p:spPr>
      </p:pic>
      <p:sp>
        <p:nvSpPr>
          <p:cNvPr id="14" name="Google Shape;14;p3"/>
          <p:cNvSpPr/>
          <p:nvPr/>
        </p:nvSpPr>
        <p:spPr>
          <a:xfrm>
            <a:off x="510013" y="4796018"/>
            <a:ext cx="4887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000"/>
              <a:buFont typeface="Consolas"/>
              <a:buNone/>
            </a:pPr>
            <a:r>
              <a:rPr b="1" i="0" lang="en-US" sz="2000" u="none" cap="none" strike="noStrike">
                <a:solidFill>
                  <a:srgbClr val="F7F3E9"/>
                </a:solidFill>
                <a:latin typeface="Consolas"/>
                <a:ea typeface="Consolas"/>
                <a:cs typeface="Consolas"/>
                <a:sym typeface="Consolas"/>
              </a:rPr>
              <a:t>WIFI: [VENUE NETWORK]</a:t>
            </a:r>
            <a:endParaRPr b="1" i="0" sz="2000" u="none" cap="none" strike="noStrike">
              <a:solidFill>
                <a:srgbClr val="F7F3E9"/>
              </a:solidFill>
              <a:latin typeface="Consolas"/>
              <a:ea typeface="Consolas"/>
              <a:cs typeface="Consolas"/>
              <a:sym typeface="Consolas"/>
            </a:endParaRPr>
          </a:p>
          <a:p>
            <a:pPr indent="0" lvl="0" marL="0" marR="0" rtl="0" algn="ctr">
              <a:spcBef>
                <a:spcPts val="0"/>
              </a:spcBef>
              <a:spcAft>
                <a:spcPts val="0"/>
              </a:spcAft>
              <a:buClr>
                <a:srgbClr val="F7F3E9"/>
              </a:buClr>
              <a:buSzPts val="2000"/>
              <a:buFont typeface="Consolas"/>
              <a:buNone/>
            </a:pPr>
            <a:r>
              <a:rPr b="1" i="0" lang="en-US" sz="2000" u="none" cap="none" strike="noStrike">
                <a:solidFill>
                  <a:srgbClr val="F7F3E9"/>
                </a:solidFill>
                <a:latin typeface="Consolas"/>
                <a:ea typeface="Consolas"/>
                <a:cs typeface="Consolas"/>
                <a:sym typeface="Consolas"/>
              </a:rPr>
              <a:t>Password: [VENUE PASSWORD]</a:t>
            </a:r>
            <a:endParaRPr b="0" i="0" sz="2000" u="none" cap="none" strike="noStrike">
              <a:solidFill>
                <a:schemeClr val="dk1"/>
              </a:solidFill>
              <a:latin typeface="Consolas"/>
              <a:ea typeface="Consolas"/>
              <a:cs typeface="Consolas"/>
              <a:sym typeface="Consolas"/>
            </a:endParaRPr>
          </a:p>
        </p:txBody>
      </p:sp>
      <p:pic>
        <p:nvPicPr>
          <p:cNvPr descr="A qr code on a white background&#10;&#10;AI-generated content may be incorrect." id="15" name="Google Shape;15;p3"/>
          <p:cNvPicPr preferRelativeResize="0"/>
          <p:nvPr/>
        </p:nvPicPr>
        <p:blipFill rotWithShape="1">
          <a:blip r:embed="rId5">
            <a:alphaModFix/>
          </a:blip>
          <a:srcRect b="52002" l="18314" r="18315" t="18932"/>
          <a:stretch/>
        </p:blipFill>
        <p:spPr>
          <a:xfrm>
            <a:off x="1626977" y="1784571"/>
            <a:ext cx="2653693" cy="2640993"/>
          </a:xfrm>
          <a:prstGeom prst="rect">
            <a:avLst/>
          </a:prstGeom>
          <a:noFill/>
          <a:ln>
            <a:noFill/>
          </a:ln>
        </p:spPr>
      </p:pic>
      <p:sp>
        <p:nvSpPr>
          <p:cNvPr id="16" name="Google Shape;16;p3"/>
          <p:cNvSpPr/>
          <p:nvPr/>
        </p:nvSpPr>
        <p:spPr>
          <a:xfrm>
            <a:off x="6558863" y="4796081"/>
            <a:ext cx="4887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000"/>
              <a:buFont typeface="Consolas"/>
              <a:buNone/>
            </a:pPr>
            <a:r>
              <a:rPr b="1" lang="en-US" sz="2000">
                <a:solidFill>
                  <a:srgbClr val="F7F3E9"/>
                </a:solidFill>
                <a:latin typeface="Consolas"/>
                <a:ea typeface="Consolas"/>
                <a:cs typeface="Consolas"/>
                <a:sym typeface="Consolas"/>
              </a:rPr>
              <a:t>These Slides</a:t>
            </a:r>
            <a:endParaRPr b="0" i="0" sz="2000" u="none" cap="none" strike="noStrike">
              <a:solidFill>
                <a:schemeClr val="dk1"/>
              </a:solidFill>
              <a:latin typeface="Consolas"/>
              <a:ea typeface="Consolas"/>
              <a:cs typeface="Consolas"/>
              <a:sym typeface="Consolas"/>
            </a:endParaRPr>
          </a:p>
        </p:txBody>
      </p:sp>
      <p:pic>
        <p:nvPicPr>
          <p:cNvPr id="17" name="Google Shape;17;p3" title="Qq7t0IYNWfRuevr_donna workshop slides.png"/>
          <p:cNvPicPr preferRelativeResize="0"/>
          <p:nvPr/>
        </p:nvPicPr>
        <p:blipFill rotWithShape="1">
          <a:blip r:embed="rId6">
            <a:alphaModFix/>
          </a:blip>
          <a:srcRect b="239" l="0" r="0" t="239"/>
          <a:stretch/>
        </p:blipFill>
        <p:spPr>
          <a:xfrm>
            <a:off x="7675837" y="1784679"/>
            <a:ext cx="2653680" cy="26409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22" name="Shape 22"/>
        <p:cNvGrpSpPr/>
        <p:nvPr/>
      </p:nvGrpSpPr>
      <p:grpSpPr>
        <a:xfrm>
          <a:off x="0" y="0"/>
          <a:ext cx="0" cy="0"/>
          <a:chOff x="0" y="0"/>
          <a:chExt cx="0" cy="0"/>
        </a:xfrm>
      </p:grpSpPr>
      <p:pic>
        <p:nvPicPr>
          <p:cNvPr descr="/private/tmp/claude-502/-Users-dev-Documents-production-donna/5de1284d-6f84-43be-a2a5-f3ead80d40bc/scratchpad/monogram-gold-red.png" id="23" name="Google Shape;23;p4"/>
          <p:cNvPicPr preferRelativeResize="0"/>
          <p:nvPr/>
        </p:nvPicPr>
        <p:blipFill rotWithShape="1">
          <a:blip r:embed="rId3">
            <a:alphaModFix/>
          </a:blip>
          <a:srcRect b="0" l="0" r="0" t="0"/>
          <a:stretch/>
        </p:blipFill>
        <p:spPr>
          <a:xfrm>
            <a:off x="5318608" y="566928"/>
            <a:ext cx="1554480" cy="1554480"/>
          </a:xfrm>
          <a:prstGeom prst="rect">
            <a:avLst/>
          </a:prstGeom>
          <a:noFill/>
          <a:ln>
            <a:noFill/>
          </a:ln>
        </p:spPr>
      </p:pic>
      <p:sp>
        <p:nvSpPr>
          <p:cNvPr id="24" name="Google Shape;24;p4"/>
          <p:cNvSpPr/>
          <p:nvPr/>
        </p:nvSpPr>
        <p:spPr>
          <a:xfrm>
            <a:off x="2377440" y="2514600"/>
            <a:ext cx="7436815" cy="1783080"/>
          </a:xfrm>
          <a:prstGeom prst="roundRect">
            <a:avLst>
              <a:gd fmla="val 3077" name="adj"/>
            </a:avLst>
          </a:prstGeom>
          <a:solidFill>
            <a:srgbClr val="F7F3E9"/>
          </a:solidFill>
          <a:ln>
            <a:noFill/>
          </a:ln>
          <a:effectLst>
            <a:outerShdw blurRad="203200" rotWithShape="0" algn="bl" dir="5400000" dist="88900">
              <a:srgbClr val="000000">
                <a:alpha val="38039"/>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25" name="Google Shape;25;p4"/>
          <p:cNvSpPr/>
          <p:nvPr/>
        </p:nvSpPr>
        <p:spPr>
          <a:xfrm>
            <a:off x="2788920" y="2651760"/>
            <a:ext cx="6613855" cy="1508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31621"/>
              </a:buClr>
              <a:buSzPts val="3000"/>
              <a:buFont typeface="Playfair Display"/>
              <a:buNone/>
            </a:pPr>
            <a:r>
              <a:rPr b="0" i="1" lang="en-US" sz="3000" u="none" cap="none" strike="noStrike">
                <a:solidFill>
                  <a:srgbClr val="A31621"/>
                </a:solidFill>
                <a:latin typeface="Playfair Display"/>
                <a:ea typeface="Playfair Display"/>
                <a:cs typeface="Playfair Display"/>
                <a:sym typeface="Playfair Display"/>
              </a:rPr>
              <a:t>“I’m Donna. I know everything.”</a:t>
            </a:r>
            <a:endParaRPr b="0" i="0" sz="30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3000"/>
              <a:buFont typeface="Calibri"/>
              <a:buNone/>
            </a:pPr>
            <a:r>
              <a:t/>
            </a:r>
            <a:endParaRPr b="0" i="0" sz="30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rgbClr val="14213D"/>
              </a:buClr>
              <a:buSzPts val="1050"/>
              <a:buFont typeface="Inter"/>
              <a:buNone/>
            </a:pPr>
            <a:r>
              <a:rPr b="1" i="0" lang="en-US" sz="1050" u="none" cap="none" strike="noStrike">
                <a:solidFill>
                  <a:srgbClr val="14213D"/>
                </a:solidFill>
                <a:latin typeface="Inter"/>
                <a:ea typeface="Inter"/>
                <a:cs typeface="Inter"/>
                <a:sym typeface="Inter"/>
              </a:rPr>
              <a:t>— DONNA PAULSEN, SUITS</a:t>
            </a:r>
            <a:endParaRPr b="0" i="0" sz="3000" u="none" cap="none" strike="noStrike">
              <a:solidFill>
                <a:srgbClr val="000000"/>
              </a:solidFill>
              <a:latin typeface="Calibri"/>
              <a:ea typeface="Calibri"/>
              <a:cs typeface="Calibri"/>
              <a:sym typeface="Calibri"/>
            </a:endParaRPr>
          </a:p>
        </p:txBody>
      </p:sp>
      <p:sp>
        <p:nvSpPr>
          <p:cNvPr id="26" name="Google Shape;26;p4"/>
          <p:cNvSpPr/>
          <p:nvPr/>
        </p:nvSpPr>
        <p:spPr>
          <a:xfrm>
            <a:off x="914400" y="4617720"/>
            <a:ext cx="10362895"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7F3E9"/>
              </a:buClr>
              <a:buSzPts val="2500"/>
              <a:buFont typeface="Playfair Display"/>
              <a:buNone/>
            </a:pPr>
            <a:r>
              <a:rPr b="1" i="0" lang="en-US" sz="2500" u="none" cap="none" strike="noStrike">
                <a:solidFill>
                  <a:srgbClr val="F7F3E9"/>
                </a:solidFill>
                <a:latin typeface="Playfair Display"/>
                <a:ea typeface="Playfair Display"/>
                <a:cs typeface="Playfair Display"/>
                <a:sym typeface="Playfair Display"/>
              </a:rPr>
              <a:t>BUILD YOUR OWN DONNA</a:t>
            </a:r>
            <a:endParaRPr b="0" i="0" sz="2500" u="none" cap="none" strike="noStrike">
              <a:solidFill>
                <a:srgbClr val="000000"/>
              </a:solidFill>
              <a:latin typeface="Calibri"/>
              <a:ea typeface="Calibri"/>
              <a:cs typeface="Calibri"/>
              <a:sym typeface="Calibri"/>
            </a:endParaRPr>
          </a:p>
        </p:txBody>
      </p:sp>
      <p:sp>
        <p:nvSpPr>
          <p:cNvPr id="27" name="Google Shape;27;p4"/>
          <p:cNvSpPr/>
          <p:nvPr/>
        </p:nvSpPr>
        <p:spPr>
          <a:xfrm>
            <a:off x="914400" y="5175504"/>
            <a:ext cx="10362895" cy="365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FA893"/>
              </a:buClr>
              <a:buSzPts val="1400"/>
              <a:buFont typeface="Inter"/>
              <a:buNone/>
            </a:pPr>
            <a:r>
              <a:rPr b="0" i="0" lang="en-US" sz="1400" u="none" cap="none" strike="noStrike">
                <a:solidFill>
                  <a:srgbClr val="AFA893"/>
                </a:solidFill>
                <a:latin typeface="Inter"/>
                <a:ea typeface="Inter"/>
                <a:cs typeface="Inter"/>
                <a:sym typeface="Inter"/>
              </a:rPr>
              <a:t>A 90 min workshop for executives who are done reading email</a:t>
            </a:r>
            <a:endParaRPr b="0" i="0" sz="1400" u="none" cap="none" strike="noStrike">
              <a:solidFill>
                <a:srgbClr val="000000"/>
              </a:solidFill>
              <a:latin typeface="Calibri"/>
              <a:ea typeface="Calibri"/>
              <a:cs typeface="Calibri"/>
              <a:sym typeface="Calibri"/>
            </a:endParaRPr>
          </a:p>
        </p:txBody>
      </p:sp>
      <p:pic>
        <p:nvPicPr>
          <p:cNvPr descr="/private/tmp/claude-502/-Users-dev-Documents-production-donna/5de1284d-6f84-43be-a2a5-f3ead80d40bc/scratchpad/skyline-gold.png" id="28" name="Google Shape;28;p4"/>
          <p:cNvPicPr preferRelativeResize="0"/>
          <p:nvPr/>
        </p:nvPicPr>
        <p:blipFill rotWithShape="1">
          <a:blip r:embed="rId4">
            <a:alphaModFix amt="65000"/>
          </a:blip>
          <a:srcRect b="0" l="0" r="0" t="0"/>
          <a:stretch/>
        </p:blipFill>
        <p:spPr>
          <a:xfrm>
            <a:off x="1981048" y="5897880"/>
            <a:ext cx="8229600" cy="73152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42" name="Shape 42"/>
        <p:cNvGrpSpPr/>
        <p:nvPr/>
      </p:nvGrpSpPr>
      <p:grpSpPr>
        <a:xfrm>
          <a:off x="0" y="0"/>
          <a:ext cx="0" cy="0"/>
          <a:chOff x="0" y="0"/>
          <a:chExt cx="0" cy="0"/>
        </a:xfrm>
      </p:grpSpPr>
      <p:sp>
        <p:nvSpPr>
          <p:cNvPr id="43" name="Google Shape;43;p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YOUR GUIDE</a:t>
            </a:r>
          </a:p>
        </p:txBody>
      </p:sp>
      <p:sp>
        <p:nvSpPr>
          <p:cNvPr id="44" name="Google Shape;44;p6"/>
          <p:cNvSpPr/>
          <p:nvPr/>
        </p:nvSpPr>
        <p:spPr>
          <a:xfrm>
            <a:off x="822960" y="990600"/>
            <a:ext cx="7112000" cy="81280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A31621"/>
              </a:buClr>
              <a:buSzPts val="2100"/>
              <a:buFont typeface="Playfair Display"/>
              <a:buNone/>
            </a:pPr>
            <a:r>
              <a:rPr i="1" lang="en-US" sz="2100">
                <a:solidFill>
                  <a:srgbClr val="A31621"/>
                </a:solidFill>
                <a:latin typeface="Playfair Display"/>
                <a:ea typeface="Playfair Display"/>
                <a:cs typeface="Playfair Display"/>
                <a:sym typeface="Playfair Display"/>
              </a:rPr>
              <a:t>Denise Gosnell, Ph.D.</a:t>
            </a:r>
          </a:p>
        </p:txBody>
      </p:sp>
      <p:sp>
        <p:nvSpPr>
          <p:cNvPr id="45" name="Google Shape;45;p6"/>
          <p:cNvSpPr/>
          <p:nvPr/>
        </p:nvSpPr>
        <p:spPr>
          <a:xfrm>
            <a:off x="812800" y="1879600"/>
            <a:ext cx="7112000" cy="81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600"/>
              <a:buFont typeface="Playfair Display"/>
              <a:buNone/>
            </a:pPr>
            <a:r>
              <a:rPr b="1" lang="en-US" sz="3600">
                <a:solidFill>
                  <a:srgbClr val="14213D"/>
                </a:solidFill>
                <a:latin typeface="Playfair Display"/>
                <a:ea typeface="Playfair Display"/>
                <a:cs typeface="Playfair Display"/>
                <a:sym typeface="Playfair Display"/>
              </a:rPr>
              <a:t>Fifteen years in data infrastructure. Now building an AI-first company, and Signature’s cooperative data system.</a:t>
            </a:r>
          </a:p>
        </p:txBody>
      </p:sp>
      <p:sp>
        <p:nvSpPr>
          <p:cNvPr id="47" name="Google Shape;47;p6"/>
          <p:cNvSpPr/>
          <p:nvPr/>
        </p:nvSpPr>
        <p:spPr>
          <a:xfrm>
            <a:off x="812800" y="2895600"/>
            <a:ext cx="7302500" cy="31750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800"/>
              <a:buFont typeface="Inter"/>
              <a:buNone/>
            </a:pPr>
            <a:r>
              <a:rPr lang="en-US" sz="1800">
                <a:solidFill>
                  <a:srgbClr val="1C2333"/>
                </a:solidFill>
                <a:latin typeface="Inter"/>
                <a:ea typeface="Inter"/>
                <a:cs typeface="Inter"/>
                <a:sym typeface="Inter"/>
              </a:rPr>
              <a:t>·  Managed P&amp;L for a nine-figure AWS service (2022 to 2025)</a:t>
            </a: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  Led a top-three AWS re:Invent launch: a new AI engine for enterprise workloads</a:t>
            </a: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  Chief Data Officer at DataStax, acquired by IBM in May 2025</a:t>
            </a: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  Bestselling, award-winning author in AI and leadership · patent holder</a:t>
            </a: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  Ph.D. in machine learning (2014) · Top 50 Women Leaders in SaaS</a:t>
            </a: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  Builds with these tools every day: Donna is her actual assistant</a:t>
            </a:r>
          </a:p>
        </p:txBody>
      </p:sp>
      <p:pic>
        <p:nvPicPr>
          <p:cNvPr id="901" name="Denise headshot"/>
          <p:cNvPicPr preferRelativeResize="0"/>
          <p:nvPr/>
        </p:nvPicPr>
        <p:blipFill>
          <a:blip r:embed="rId9"/>
          <a:srcRect/>
          <a:stretch>
            <a:fillRect/>
          </a:stretch>
        </p:blipFill>
        <p:spPr>
          <a:xfrm>
            <a:off x="8382000" y="1371600"/>
            <a:ext cx="2997200" cy="2971800"/>
          </a:xfrm>
          <a:prstGeom prst="ellipse">
            <a:avLst/>
          </a:prstGeom>
          <a:ln w="19050">
            <a:solidFill>
              <a:srgbClr val="C9A227"/>
            </a:solid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42" name="Shape 42"/>
        <p:cNvGrpSpPr/>
        <p:nvPr/>
      </p:nvGrpSpPr>
      <p:grpSpPr>
        <a:xfrm>
          <a:off x="0" y="0"/>
          <a:ext cx="0" cy="0"/>
          <a:chOff x="0" y="0"/>
          <a:chExt cx="0" cy="0"/>
        </a:xfrm>
      </p:grpSpPr>
      <p:sp>
        <p:nvSpPr>
          <p:cNvPr id="43" name="TextBox 42"/>
          <p:cNvSpPr txBox="1"/>
          <p:nvPr/>
        </p:nvSpPr>
        <p:spPr>
          <a:xfrm>
            <a:off x="812800" y="482600"/>
            <a:ext cx="10566400" cy="254000"/>
          </a:xfrm>
          <a:prstGeom prst="rect">
            <a:avLst/>
          </a:prstGeom>
          <a:noFill/>
        </p:spPr>
        <p:txBody>
          <a:bodyPr wrap="square" lIns="0" rIns="0" tIns="0" bIns="0" anchor="t">
            <a:spAutoFit/>
          </a:bodyPr>
          <a:lstStyle/>
          <a:p>
            <a:pPr algn="l"/>
            <a:r>
              <a:rPr sz="1250" b="1" i="0" spc="220">
                <a:solidFill>
                  <a:srgbClr val="A31621"/>
                </a:solidFill>
                <a:latin typeface="Inter"/>
              </a:rPr>
              <a:t>WHERE YOU SIT NOW</a:t>
            </a:r>
          </a:p>
        </p:txBody>
      </p:sp>
      <p:sp>
        <p:nvSpPr>
          <p:cNvPr id="44" name="TextBox 43"/>
          <p:cNvSpPr txBox="1"/>
          <p:nvPr/>
        </p:nvSpPr>
        <p:spPr>
          <a:xfrm>
            <a:off x="812800" y="889000"/>
            <a:ext cx="10566400" cy="1016000"/>
          </a:xfrm>
          <a:prstGeom prst="rect">
            <a:avLst/>
          </a:prstGeom>
          <a:noFill/>
        </p:spPr>
        <p:txBody>
          <a:bodyPr wrap="square" lIns="0" rIns="0" tIns="0" bIns="0" anchor="t">
            <a:spAutoFit/>
          </a:bodyPr>
          <a:lstStyle/>
          <a:p>
            <a:pPr algn="l">
              <a:lnSpc>
                <a:spcPct val="98000"/>
              </a:lnSpc>
            </a:pPr>
            <a:r>
              <a:rPr sz="5600" b="1" i="0">
                <a:solidFill>
                  <a:srgbClr val="14213D"/>
                </a:solidFill>
                <a:latin typeface="Playfair Display"/>
              </a:rPr>
              <a:t>You run a cockpit.</a:t>
            </a:r>
          </a:p>
        </p:txBody>
      </p:sp>
      <p:sp>
        <p:nvSpPr>
          <p:cNvPr id="45" name="TextBox 44"/>
          <p:cNvSpPr txBox="1"/>
          <p:nvPr/>
        </p:nvSpPr>
        <p:spPr>
          <a:xfrm>
            <a:off x="812800" y="2235200"/>
            <a:ext cx="8890000" cy="1905000"/>
          </a:xfrm>
          <a:prstGeom prst="rect">
            <a:avLst/>
          </a:prstGeom>
          <a:noFill/>
        </p:spPr>
        <p:txBody>
          <a:bodyPr wrap="square" lIns="0" rIns="0" tIns="0" bIns="0" anchor="t">
            <a:spAutoFit/>
          </a:bodyPr>
          <a:lstStyle/>
          <a:p>
            <a:pPr algn="l">
              <a:lnSpc>
                <a:spcPct val="142000"/>
              </a:lnSpc>
            </a:pPr>
            <a:r>
              <a:rPr sz="1800" b="0" i="0">
                <a:solidFill>
                  <a:srgbClr val="2A3244"/>
                </a:solidFill>
                <a:latin typeface="Inter"/>
              </a:rPr>
              <a:t>Eight, nine, ten figures of business line, and the whole thing reaches you through a screen. Every number, every approval, every escalation, every relationship. You are not the person who types the most. You are the person the information has to reach, and the person the decision has to leave.</a:t>
            </a:r>
          </a:p>
        </p:txBody>
      </p:sp>
      <p:cxnSp>
        <p:nvCxnSpPr>
          <p:cNvPr id="46" name="Connector 45"/>
          <p:cNvCxnSpPr/>
          <p:nvPr/>
        </p:nvCxnSpPr>
        <p:spPr>
          <a:xfrm>
            <a:off x="812800" y="4521200"/>
            <a:ext cx="2997200" cy="0"/>
          </a:xfrm>
          <a:prstGeom prst="line">
            <a:avLst/>
          </a:prstGeom>
          <a:ln w="12700">
            <a:solidFill>
              <a:srgbClr val="8A6D14"/>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12800" y="4826000"/>
            <a:ext cx="9652000" cy="1143000"/>
          </a:xfrm>
          <a:prstGeom prst="rect">
            <a:avLst/>
          </a:prstGeom>
          <a:noFill/>
        </p:spPr>
        <p:txBody>
          <a:bodyPr wrap="square" lIns="0" rIns="0" tIns="0" bIns="0" anchor="t">
            <a:spAutoFit/>
          </a:bodyPr>
          <a:lstStyle/>
          <a:p>
            <a:pPr algn="l">
              <a:lnSpc>
                <a:spcPct val="130000"/>
              </a:lnSpc>
            </a:pPr>
            <a:r>
              <a:rPr sz="2500" b="0" i="1">
                <a:solidFill>
                  <a:srgbClr val="A31621"/>
                </a:solidFill>
                <a:latin typeface="Playfair Display"/>
              </a:rPr>
              <a:t>So the real question is not how fast you work. It is how your judgment gets out of your head and into the hands of everyone who needs it.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TextBox 33"/>
          <p:cNvSpPr txBox="1"/>
          <p:nvPr/>
        </p:nvSpPr>
        <p:spPr>
          <a:xfrm>
            <a:off x="812800" y="482600"/>
            <a:ext cx="10566400" cy="254000"/>
          </a:xfrm>
          <a:prstGeom prst="rect">
            <a:avLst/>
          </a:prstGeom>
          <a:noFill/>
        </p:spPr>
        <p:txBody>
          <a:bodyPr wrap="square" lIns="0" rIns="0" tIns="0" bIns="0" anchor="t">
            <a:spAutoFit/>
          </a:bodyPr>
          <a:lstStyle/>
          <a:p>
            <a:pPr algn="l"/>
            <a:r>
              <a:rPr sz="1250" b="1" i="0" spc="220">
                <a:solidFill>
                  <a:srgbClr val="C9A227"/>
                </a:solidFill>
                <a:latin typeface="Inter"/>
              </a:rPr>
              <a:t>WHAT TWENTY YEARS OF TRANSFORMATION BOUGHT</a:t>
            </a:r>
          </a:p>
        </p:txBody>
      </p:sp>
      <p:sp>
        <p:nvSpPr>
          <p:cNvPr id="35" name="TextBox 34"/>
          <p:cNvSpPr txBox="1"/>
          <p:nvPr/>
        </p:nvSpPr>
        <p:spPr>
          <a:xfrm>
            <a:off x="812800" y="812800"/>
            <a:ext cx="10566400" cy="762000"/>
          </a:xfrm>
          <a:prstGeom prst="rect">
            <a:avLst/>
          </a:prstGeom>
          <a:noFill/>
        </p:spPr>
        <p:txBody>
          <a:bodyPr wrap="square" lIns="0" rIns="0" tIns="0" bIns="0" anchor="t">
            <a:spAutoFit/>
          </a:bodyPr>
          <a:lstStyle/>
          <a:p>
            <a:pPr algn="l">
              <a:lnSpc>
                <a:spcPct val="98000"/>
              </a:lnSpc>
            </a:pPr>
            <a:r>
              <a:rPr sz="4000" b="1" i="0">
                <a:solidFill>
                  <a:srgbClr val="F7F3E9"/>
                </a:solidFill>
                <a:latin typeface="Playfair Display"/>
              </a:rPr>
              <a:t>Digital gave you data. It never gave you time.</a:t>
            </a:r>
          </a:p>
        </p:txBody>
      </p:sp>
      <p:sp>
        <p:nvSpPr>
          <p:cNvPr id="36" name="TextBox 35"/>
          <p:cNvSpPr txBox="1"/>
          <p:nvPr/>
        </p:nvSpPr>
        <p:spPr>
          <a:xfrm>
            <a:off x="812800" y="1930400"/>
            <a:ext cx="5080000" cy="939800"/>
          </a:xfrm>
          <a:prstGeom prst="rect">
            <a:avLst/>
          </a:prstGeom>
          <a:noFill/>
        </p:spPr>
        <p:txBody>
          <a:bodyPr wrap="square" lIns="0" rIns="0" tIns="0" bIns="0" anchor="t">
            <a:spAutoFit/>
          </a:bodyPr>
          <a:lstStyle/>
          <a:p>
            <a:pPr algn="l"/>
            <a:r>
              <a:rPr sz="5800" b="1" i="0">
                <a:solidFill>
                  <a:srgbClr val="E7C766"/>
                </a:solidFill>
                <a:latin typeface="Playfair Display"/>
              </a:rPr>
              <a:t>28%</a:t>
            </a:r>
          </a:p>
        </p:txBody>
      </p:sp>
      <p:sp>
        <p:nvSpPr>
          <p:cNvPr id="37" name="TextBox 36"/>
          <p:cNvSpPr txBox="1"/>
          <p:nvPr/>
        </p:nvSpPr>
        <p:spPr>
          <a:xfrm>
            <a:off x="812800" y="2895600"/>
            <a:ext cx="5080000" cy="635000"/>
          </a:xfrm>
          <a:prstGeom prst="rect">
            <a:avLst/>
          </a:prstGeom>
          <a:noFill/>
        </p:spPr>
        <p:txBody>
          <a:bodyPr wrap="square" lIns="0" rIns="0" tIns="0" bIns="0" anchor="t">
            <a:spAutoFit/>
          </a:bodyPr>
          <a:lstStyle/>
          <a:p>
            <a:pPr algn="l">
              <a:lnSpc>
                <a:spcPct val="130000"/>
              </a:lnSpc>
            </a:pPr>
            <a:r>
              <a:rPr sz="1200" b="0" i="0">
                <a:solidFill>
                  <a:srgbClr val="E8E2D2"/>
                </a:solidFill>
                <a:latin typeface="Inter"/>
              </a:rPr>
              <a:t>of the knowledge-worker week goes to email.</a:t>
            </a:r>
          </a:p>
          <a:p>
            <a:pPr algn="l">
              <a:lnSpc>
                <a:spcPct val="130000"/>
              </a:lnSpc>
            </a:pPr>
            <a:r>
              <a:rPr sz="1200" b="0" i="0">
                <a:solidFill>
                  <a:srgbClr val="B8B2A0"/>
                </a:solidFill>
                <a:latin typeface="Inter"/>
              </a:rPr>
              <a:t>McKinsey Global Institute, 2012.</a:t>
            </a:r>
          </a:p>
        </p:txBody>
      </p:sp>
      <p:sp>
        <p:nvSpPr>
          <p:cNvPr id="38" name="TextBox 37"/>
          <p:cNvSpPr txBox="1"/>
          <p:nvPr/>
        </p:nvSpPr>
        <p:spPr>
          <a:xfrm>
            <a:off x="6350000" y="1930400"/>
            <a:ext cx="5080000" cy="939800"/>
          </a:xfrm>
          <a:prstGeom prst="rect">
            <a:avLst/>
          </a:prstGeom>
          <a:noFill/>
        </p:spPr>
        <p:txBody>
          <a:bodyPr wrap="square" lIns="0" rIns="0" tIns="0" bIns="0" anchor="t">
            <a:spAutoFit/>
          </a:bodyPr>
          <a:lstStyle/>
          <a:p>
            <a:pPr algn="l"/>
            <a:r>
              <a:rPr sz="5800" b="1" i="0">
                <a:solidFill>
                  <a:srgbClr val="E7C766"/>
                </a:solidFill>
                <a:latin typeface="Playfair Display"/>
              </a:rPr>
              <a:t>+50%</a:t>
            </a:r>
          </a:p>
        </p:txBody>
      </p:sp>
      <p:sp>
        <p:nvSpPr>
          <p:cNvPr id="39" name="TextBox 38"/>
          <p:cNvSpPr txBox="1"/>
          <p:nvPr/>
        </p:nvSpPr>
        <p:spPr>
          <a:xfrm>
            <a:off x="6350000" y="2895600"/>
            <a:ext cx="5080000" cy="635000"/>
          </a:xfrm>
          <a:prstGeom prst="rect">
            <a:avLst/>
          </a:prstGeom>
          <a:noFill/>
        </p:spPr>
        <p:txBody>
          <a:bodyPr wrap="square" lIns="0" rIns="0" tIns="0" bIns="0" anchor="t">
            <a:spAutoFit/>
          </a:bodyPr>
          <a:lstStyle/>
          <a:p>
            <a:pPr algn="l">
              <a:lnSpc>
                <a:spcPct val="130000"/>
              </a:lnSpc>
            </a:pPr>
            <a:r>
              <a:rPr sz="1200" b="0" i="0">
                <a:solidFill>
                  <a:srgbClr val="E8E2D2"/>
                </a:solidFill>
                <a:latin typeface="Inter"/>
              </a:rPr>
              <a:t>growth in collaborative work over two decades.</a:t>
            </a:r>
          </a:p>
          <a:p>
            <a:pPr algn="l">
              <a:lnSpc>
                <a:spcPct val="130000"/>
              </a:lnSpc>
            </a:pPr>
            <a:r>
              <a:rPr sz="1200" b="0" i="0">
                <a:solidFill>
                  <a:srgbClr val="B8B2A0"/>
                </a:solidFill>
                <a:latin typeface="Inter"/>
              </a:rPr>
              <a:t>Harvard Business Review, 2016.</a:t>
            </a:r>
          </a:p>
        </p:txBody>
      </p:sp>
      <p:sp>
        <p:nvSpPr>
          <p:cNvPr id="40" name="TextBox 39"/>
          <p:cNvSpPr txBox="1"/>
          <p:nvPr/>
        </p:nvSpPr>
        <p:spPr>
          <a:xfrm>
            <a:off x="812800" y="3835400"/>
            <a:ext cx="5080000" cy="939800"/>
          </a:xfrm>
          <a:prstGeom prst="rect">
            <a:avLst/>
          </a:prstGeom>
          <a:noFill/>
        </p:spPr>
        <p:txBody>
          <a:bodyPr wrap="square" lIns="0" rIns="0" tIns="0" bIns="0" anchor="t">
            <a:spAutoFit/>
          </a:bodyPr>
          <a:lstStyle/>
          <a:p>
            <a:pPr algn="l"/>
            <a:r>
              <a:rPr sz="5800" b="1" i="0">
                <a:solidFill>
                  <a:srgbClr val="E7C766"/>
                </a:solidFill>
                <a:latin typeface="Playfair Display"/>
              </a:rPr>
              <a:t>60%</a:t>
            </a:r>
          </a:p>
        </p:txBody>
      </p:sp>
      <p:sp>
        <p:nvSpPr>
          <p:cNvPr id="41" name="TextBox 40"/>
          <p:cNvSpPr txBox="1"/>
          <p:nvPr/>
        </p:nvSpPr>
        <p:spPr>
          <a:xfrm>
            <a:off x="812800" y="4800600"/>
            <a:ext cx="5080000" cy="635000"/>
          </a:xfrm>
          <a:prstGeom prst="rect">
            <a:avLst/>
          </a:prstGeom>
          <a:noFill/>
        </p:spPr>
        <p:txBody>
          <a:bodyPr wrap="square" lIns="0" rIns="0" tIns="0" bIns="0" anchor="t">
            <a:spAutoFit/>
          </a:bodyPr>
          <a:lstStyle/>
          <a:p>
            <a:pPr algn="l">
              <a:lnSpc>
                <a:spcPct val="130000"/>
              </a:lnSpc>
            </a:pPr>
            <a:r>
              <a:rPr sz="1200" b="0" i="0">
                <a:solidFill>
                  <a:srgbClr val="E8E2D2"/>
                </a:solidFill>
                <a:latin typeface="Inter"/>
              </a:rPr>
              <a:t>of the workday is communication. Forty percent</a:t>
            </a:r>
          </a:p>
          <a:p>
            <a:pPr algn="l">
              <a:lnSpc>
                <a:spcPct val="130000"/>
              </a:lnSpc>
            </a:pPr>
            <a:r>
              <a:rPr sz="1200" b="0" i="0">
                <a:solidFill>
                  <a:srgbClr val="B8B2A0"/>
                </a:solidFill>
                <a:latin typeface="Inter"/>
              </a:rPr>
              <a:t>is left to create anything. Microsoft, 2025.</a:t>
            </a:r>
          </a:p>
        </p:txBody>
      </p:sp>
      <p:sp>
        <p:nvSpPr>
          <p:cNvPr id="42" name="TextBox 41"/>
          <p:cNvSpPr txBox="1"/>
          <p:nvPr/>
        </p:nvSpPr>
        <p:spPr>
          <a:xfrm>
            <a:off x="6350000" y="3835400"/>
            <a:ext cx="5080000" cy="939800"/>
          </a:xfrm>
          <a:prstGeom prst="rect">
            <a:avLst/>
          </a:prstGeom>
          <a:noFill/>
        </p:spPr>
        <p:txBody>
          <a:bodyPr wrap="square" lIns="0" rIns="0" tIns="0" bIns="0" anchor="t">
            <a:spAutoFit/>
          </a:bodyPr>
          <a:lstStyle/>
          <a:p>
            <a:pPr algn="l"/>
            <a:r>
              <a:rPr sz="5800" b="1" i="0">
                <a:solidFill>
                  <a:srgbClr val="E7C766"/>
                </a:solidFill>
                <a:latin typeface="Playfair Display"/>
              </a:rPr>
              <a:t>58%</a:t>
            </a:r>
          </a:p>
        </p:txBody>
      </p:sp>
      <p:sp>
        <p:nvSpPr>
          <p:cNvPr id="43" name="TextBox 42"/>
          <p:cNvSpPr txBox="1"/>
          <p:nvPr/>
        </p:nvSpPr>
        <p:spPr>
          <a:xfrm>
            <a:off x="6350000" y="4800600"/>
            <a:ext cx="5080000" cy="635000"/>
          </a:xfrm>
          <a:prstGeom prst="rect">
            <a:avLst/>
          </a:prstGeom>
          <a:noFill/>
        </p:spPr>
        <p:txBody>
          <a:bodyPr wrap="square" lIns="0" rIns="0" tIns="0" bIns="0" anchor="t">
            <a:spAutoFit/>
          </a:bodyPr>
          <a:lstStyle/>
          <a:p>
            <a:pPr algn="l">
              <a:lnSpc>
                <a:spcPct val="130000"/>
              </a:lnSpc>
            </a:pPr>
            <a:r>
              <a:rPr sz="1200" b="0" i="0">
                <a:solidFill>
                  <a:srgbClr val="E8E2D2"/>
                </a:solidFill>
                <a:latin typeface="Inter"/>
              </a:rPr>
              <a:t>of the time your organization spends deciding</a:t>
            </a:r>
          </a:p>
          <a:p>
            <a:pPr algn="l">
              <a:lnSpc>
                <a:spcPct val="130000"/>
              </a:lnSpc>
            </a:pPr>
            <a:r>
              <a:rPr sz="1200" b="0" i="0">
                <a:solidFill>
                  <a:srgbClr val="B8B2A0"/>
                </a:solidFill>
                <a:latin typeface="Inter"/>
              </a:rPr>
              <a:t>is used ineffectively. McKinsey, 2019.</a:t>
            </a:r>
          </a:p>
        </p:txBody>
      </p:sp>
      <p:cxnSp>
        <p:nvCxnSpPr>
          <p:cNvPr id="44" name="Connector 43"/>
          <p:cNvCxnSpPr/>
          <p:nvPr/>
        </p:nvCxnSpPr>
        <p:spPr>
          <a:xfrm>
            <a:off x="812800" y="5740400"/>
            <a:ext cx="10566400" cy="0"/>
          </a:xfrm>
          <a:prstGeom prst="line">
            <a:avLst/>
          </a:prstGeom>
          <a:ln w="9525">
            <a:solidFill>
              <a:srgbClr val="C9A227"/>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12800" y="5918200"/>
            <a:ext cx="10566400" cy="635000"/>
          </a:xfrm>
          <a:prstGeom prst="rect">
            <a:avLst/>
          </a:prstGeom>
          <a:noFill/>
        </p:spPr>
        <p:txBody>
          <a:bodyPr wrap="square" lIns="0" rIns="0" tIns="0" bIns="0" anchor="t">
            <a:spAutoFit/>
          </a:bodyPr>
          <a:lstStyle/>
          <a:p>
            <a:pPr algn="l">
              <a:lnSpc>
                <a:spcPct val="135000"/>
              </a:lnSpc>
            </a:pPr>
            <a:r>
              <a:rPr sz="1400" b="0" i="0">
                <a:solidFill>
                  <a:srgbClr val="E8E2D2"/>
                </a:solidFill>
                <a:latin typeface="Inter"/>
              </a:rPr>
              <a:t>Twenty years of digital transformation made the signal instant. It never touched the synthesis. So the companies that pulled ahead did not buy a better tool. </a:t>
            </a:r>
            <a:r>
              <a:rPr sz="1400" b="1" i="0">
                <a:solidFill>
                  <a:srgbClr val="E7C766"/>
                </a:solidFill>
                <a:latin typeface="Inter"/>
              </a:rPr>
              <a:t>They built a better document.</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TextBox 33"/>
          <p:cNvSpPr txBox="1"/>
          <p:nvPr/>
        </p:nvSpPr>
        <p:spPr>
          <a:xfrm>
            <a:off x="812800" y="482600"/>
            <a:ext cx="10566400" cy="254000"/>
          </a:xfrm>
          <a:prstGeom prst="rect">
            <a:avLst/>
          </a:prstGeom>
          <a:noFill/>
        </p:spPr>
        <p:txBody>
          <a:bodyPr wrap="square" lIns="0" rIns="0" tIns="0" bIns="0" anchor="t">
            <a:spAutoFit/>
          </a:bodyPr>
          <a:lstStyle/>
          <a:p>
            <a:pPr algn="l"/>
            <a:r>
              <a:rPr sz="1250" b="1" i="0" spc="220">
                <a:solidFill>
                  <a:srgbClr val="C9A227"/>
                </a:solidFill>
                <a:latin typeface="Inter"/>
              </a:rPr>
              <a:t>HOW A NINE-FIGURE BUSINESS LINE ACTUALLY RUNS</a:t>
            </a:r>
          </a:p>
        </p:txBody>
      </p:sp>
      <p:sp>
        <p:nvSpPr>
          <p:cNvPr id="35" name="TextBox 34"/>
          <p:cNvSpPr txBox="1"/>
          <p:nvPr/>
        </p:nvSpPr>
        <p:spPr>
          <a:xfrm>
            <a:off x="812800" y="787400"/>
            <a:ext cx="10566400" cy="711200"/>
          </a:xfrm>
          <a:prstGeom prst="rect">
            <a:avLst/>
          </a:prstGeom>
          <a:noFill/>
        </p:spPr>
        <p:txBody>
          <a:bodyPr wrap="square" lIns="0" rIns="0" tIns="0" bIns="0" anchor="t">
            <a:spAutoFit/>
          </a:bodyPr>
          <a:lstStyle/>
          <a:p>
            <a:pPr algn="l">
              <a:lnSpc>
                <a:spcPct val="98000"/>
              </a:lnSpc>
            </a:pPr>
            <a:r>
              <a:rPr sz="3800" b="1" i="0">
                <a:solidFill>
                  <a:srgbClr val="F7F3E9"/>
                </a:solidFill>
                <a:latin typeface="Playfair Display"/>
              </a:rPr>
              <a:t>Amazon did not win on meetings. It won on documents.</a:t>
            </a:r>
          </a:p>
        </p:txBody>
      </p:sp>
      <p:sp>
        <p:nvSpPr>
          <p:cNvPr id="36" name="Oval 35"/>
          <p:cNvSpPr/>
          <p:nvPr/>
        </p:nvSpPr>
        <p:spPr>
          <a:xfrm>
            <a:off x="1981200" y="2235200"/>
            <a:ext cx="2844800" cy="2844800"/>
          </a:xfrm>
          <a:prstGeom prst="ellipse">
            <a:avLst/>
          </a:prstGeom>
          <a:noFill/>
          <a:ln w="1143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Oval 36"/>
          <p:cNvSpPr/>
          <p:nvPr/>
        </p:nvSpPr>
        <p:spPr>
          <a:xfrm>
            <a:off x="3124200" y="19558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01</a:t>
            </a:r>
          </a:p>
        </p:txBody>
      </p:sp>
      <p:sp>
        <p:nvSpPr>
          <p:cNvPr id="38" name="TextBox 37"/>
          <p:cNvSpPr txBox="1"/>
          <p:nvPr/>
        </p:nvSpPr>
        <p:spPr>
          <a:xfrm>
            <a:off x="2641600" y="16002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WRITE</a:t>
            </a:r>
          </a:p>
        </p:txBody>
      </p:sp>
      <p:sp>
        <p:nvSpPr>
          <p:cNvPr id="39" name="Isosceles Triangle 38"/>
          <p:cNvSpPr/>
          <p:nvPr/>
        </p:nvSpPr>
        <p:spPr>
          <a:xfrm rot="7200000">
            <a:off x="4038600" y="2349565"/>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356034" y="26670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02</a:t>
            </a:r>
          </a:p>
        </p:txBody>
      </p:sp>
      <p:sp>
        <p:nvSpPr>
          <p:cNvPr id="41" name="TextBox 40"/>
          <p:cNvSpPr txBox="1"/>
          <p:nvPr/>
        </p:nvSpPr>
        <p:spPr>
          <a:xfrm>
            <a:off x="4335372" y="25781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READ</a:t>
            </a:r>
          </a:p>
        </p:txBody>
      </p:sp>
      <p:sp>
        <p:nvSpPr>
          <p:cNvPr id="42" name="Isosceles Triangle 41"/>
          <p:cNvSpPr/>
          <p:nvPr/>
        </p:nvSpPr>
        <p:spPr>
          <a:xfrm rot="10800000">
            <a:off x="4749800" y="3581400"/>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356034" y="40894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03</a:t>
            </a:r>
          </a:p>
        </p:txBody>
      </p:sp>
      <p:sp>
        <p:nvSpPr>
          <p:cNvPr id="44" name="TextBox 43"/>
          <p:cNvSpPr txBox="1"/>
          <p:nvPr/>
        </p:nvSpPr>
        <p:spPr>
          <a:xfrm>
            <a:off x="4335372" y="45339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CHALLENGE</a:t>
            </a:r>
          </a:p>
        </p:txBody>
      </p:sp>
      <p:sp>
        <p:nvSpPr>
          <p:cNvPr id="45" name="Isosceles Triangle 44"/>
          <p:cNvSpPr/>
          <p:nvPr/>
        </p:nvSpPr>
        <p:spPr>
          <a:xfrm rot="14400000">
            <a:off x="4038600" y="4813234"/>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124200" y="48006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04</a:t>
            </a:r>
          </a:p>
        </p:txBody>
      </p:sp>
      <p:sp>
        <p:nvSpPr>
          <p:cNvPr id="47" name="TextBox 46"/>
          <p:cNvSpPr txBox="1"/>
          <p:nvPr/>
        </p:nvSpPr>
        <p:spPr>
          <a:xfrm>
            <a:off x="2641600" y="55118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REVISE</a:t>
            </a:r>
          </a:p>
        </p:txBody>
      </p:sp>
      <p:sp>
        <p:nvSpPr>
          <p:cNvPr id="48" name="Isosceles Triangle 47"/>
          <p:cNvSpPr/>
          <p:nvPr/>
        </p:nvSpPr>
        <p:spPr>
          <a:xfrm rot="18000000">
            <a:off x="2616200" y="4813234"/>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892365" y="40894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05</a:t>
            </a:r>
          </a:p>
        </p:txBody>
      </p:sp>
      <p:sp>
        <p:nvSpPr>
          <p:cNvPr id="50" name="TextBox 49"/>
          <p:cNvSpPr txBox="1"/>
          <p:nvPr/>
        </p:nvSpPr>
        <p:spPr>
          <a:xfrm>
            <a:off x="947827" y="45339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DECIDE</a:t>
            </a:r>
          </a:p>
        </p:txBody>
      </p:sp>
      <p:sp>
        <p:nvSpPr>
          <p:cNvPr id="51" name="Isosceles Triangle 50"/>
          <p:cNvSpPr/>
          <p:nvPr/>
        </p:nvSpPr>
        <p:spPr>
          <a:xfrm>
            <a:off x="1905000" y="3581400"/>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892365" y="26670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06</a:t>
            </a:r>
          </a:p>
        </p:txBody>
      </p:sp>
      <p:sp>
        <p:nvSpPr>
          <p:cNvPr id="53" name="TextBox 52"/>
          <p:cNvSpPr txBox="1"/>
          <p:nvPr/>
        </p:nvSpPr>
        <p:spPr>
          <a:xfrm>
            <a:off x="947827" y="25781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OPERATE</a:t>
            </a:r>
          </a:p>
        </p:txBody>
      </p:sp>
      <p:sp>
        <p:nvSpPr>
          <p:cNvPr id="54" name="Isosceles Triangle 53"/>
          <p:cNvSpPr/>
          <p:nvPr/>
        </p:nvSpPr>
        <p:spPr>
          <a:xfrm rot="3600000">
            <a:off x="2616199" y="2349565"/>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654300" y="2908300"/>
            <a:ext cx="1498600" cy="1498600"/>
          </a:xfrm>
          <a:prstGeom prst="ellipse">
            <a:avLst/>
          </a:prstGeom>
          <a:no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12000"/>
              </a:lnSpc>
            </a:pPr>
            <a:r>
              <a:rPr sz="1500" b="1" i="0">
                <a:solidFill>
                  <a:srgbClr val="E7C766"/>
                </a:solidFill>
                <a:latin typeface="Playfair Display"/>
              </a:rPr>
              <a:t>THE</a:t>
            </a:r>
          </a:p>
          <a:p>
            <a:pPr algn="ctr">
              <a:lnSpc>
                <a:spcPct val="112000"/>
              </a:lnSpc>
            </a:pPr>
            <a:r>
              <a:rPr sz="1500" b="1" i="0">
                <a:solidFill>
                  <a:srgbClr val="E7C766"/>
                </a:solidFill>
                <a:latin typeface="Playfair Display"/>
              </a:rPr>
              <a:t>DOCUMENT</a:t>
            </a:r>
          </a:p>
        </p:txBody>
      </p:sp>
      <p:sp>
        <p:nvSpPr>
          <p:cNvPr id="56" name="TextBox 55"/>
          <p:cNvSpPr txBox="1"/>
          <p:nvPr/>
        </p:nvSpPr>
        <p:spPr>
          <a:xfrm>
            <a:off x="7061200" y="16256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01  </a:t>
            </a:r>
            <a:r>
              <a:rPr sz="1150" b="1" i="0" spc="100">
                <a:solidFill>
                  <a:srgbClr val="F7F3E9"/>
                </a:solidFill>
                <a:latin typeface="Inter"/>
              </a:rPr>
              <a:t>WRITE</a:t>
            </a:r>
          </a:p>
          <a:p>
            <a:pPr algn="l">
              <a:lnSpc>
                <a:spcPct val="124000"/>
              </a:lnSpc>
              <a:spcBef>
                <a:spcPts val="200"/>
              </a:spcBef>
            </a:pPr>
            <a:r>
              <a:rPr sz="1050" b="0" i="0">
                <a:solidFill>
                  <a:srgbClr val="B8B2A0"/>
                </a:solidFill>
                <a:latin typeface="Inter"/>
              </a:rPr>
              <a:t>One person converts what they know into prose. A PR/FAQ. A six-pager.</a:t>
            </a:r>
          </a:p>
        </p:txBody>
      </p:sp>
      <p:sp>
        <p:nvSpPr>
          <p:cNvPr id="57" name="TextBox 56"/>
          <p:cNvSpPr txBox="1"/>
          <p:nvPr/>
        </p:nvSpPr>
        <p:spPr>
          <a:xfrm>
            <a:off x="7061200" y="23114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02  </a:t>
            </a:r>
            <a:r>
              <a:rPr sz="1150" b="1" i="0" spc="100">
                <a:solidFill>
                  <a:srgbClr val="F7F3E9"/>
                </a:solidFill>
                <a:latin typeface="Inter"/>
              </a:rPr>
              <a:t>READ</a:t>
            </a:r>
          </a:p>
          <a:p>
            <a:pPr algn="l">
              <a:lnSpc>
                <a:spcPct val="124000"/>
              </a:lnSpc>
              <a:spcBef>
                <a:spcPts val="200"/>
              </a:spcBef>
            </a:pPr>
            <a:r>
              <a:rPr sz="1050" b="0" i="0">
                <a:solidFill>
                  <a:srgbClr val="B8B2A0"/>
                </a:solidFill>
                <a:latin typeface="Inter"/>
              </a:rPr>
              <a:t>The room reads it in silence. Nobody presents, so nobody wins on delivery.</a:t>
            </a:r>
          </a:p>
        </p:txBody>
      </p:sp>
      <p:sp>
        <p:nvSpPr>
          <p:cNvPr id="58" name="TextBox 57"/>
          <p:cNvSpPr txBox="1"/>
          <p:nvPr/>
        </p:nvSpPr>
        <p:spPr>
          <a:xfrm>
            <a:off x="7061200" y="29972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03  </a:t>
            </a:r>
            <a:r>
              <a:rPr sz="1150" b="1" i="0" spc="100">
                <a:solidFill>
                  <a:srgbClr val="F7F3E9"/>
                </a:solidFill>
                <a:latin typeface="Inter"/>
              </a:rPr>
              <a:t>CHALLENGE</a:t>
            </a:r>
          </a:p>
          <a:p>
            <a:pPr algn="l">
              <a:lnSpc>
                <a:spcPct val="124000"/>
              </a:lnSpc>
              <a:spcBef>
                <a:spcPts val="200"/>
              </a:spcBef>
            </a:pPr>
            <a:r>
              <a:rPr sz="1050" b="0" i="0">
                <a:solidFill>
                  <a:srgbClr val="B8B2A0"/>
                </a:solidFill>
                <a:latin typeface="Inter"/>
              </a:rPr>
              <a:t>The questions attack the document, not the person.</a:t>
            </a:r>
          </a:p>
        </p:txBody>
      </p:sp>
      <p:sp>
        <p:nvSpPr>
          <p:cNvPr id="59" name="TextBox 58"/>
          <p:cNvSpPr txBox="1"/>
          <p:nvPr/>
        </p:nvSpPr>
        <p:spPr>
          <a:xfrm>
            <a:off x="7061200" y="36830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04  </a:t>
            </a:r>
            <a:r>
              <a:rPr sz="1150" b="1" i="0" spc="100">
                <a:solidFill>
                  <a:srgbClr val="F7F3E9"/>
                </a:solidFill>
                <a:latin typeface="Inter"/>
              </a:rPr>
              <a:t>REVISE</a:t>
            </a:r>
          </a:p>
          <a:p>
            <a:pPr algn="l">
              <a:lnSpc>
                <a:spcPct val="124000"/>
              </a:lnSpc>
              <a:spcBef>
                <a:spcPts val="200"/>
              </a:spcBef>
            </a:pPr>
            <a:r>
              <a:rPr sz="1050" b="0" i="0">
                <a:solidFill>
                  <a:srgbClr val="B8B2A0"/>
                </a:solidFill>
                <a:latin typeface="Inter"/>
              </a:rPr>
              <a:t>It absorbs the debate. Five to fifteen hours of writing over one to three weeks.</a:t>
            </a:r>
          </a:p>
        </p:txBody>
      </p:sp>
      <p:sp>
        <p:nvSpPr>
          <p:cNvPr id="60" name="TextBox 59"/>
          <p:cNvSpPr txBox="1"/>
          <p:nvPr/>
        </p:nvSpPr>
        <p:spPr>
          <a:xfrm>
            <a:off x="7061200" y="43688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05  </a:t>
            </a:r>
            <a:r>
              <a:rPr sz="1150" b="1" i="0" spc="100">
                <a:solidFill>
                  <a:srgbClr val="F7F3E9"/>
                </a:solidFill>
                <a:latin typeface="Inter"/>
              </a:rPr>
              <a:t>DECIDE</a:t>
            </a:r>
          </a:p>
          <a:p>
            <a:pPr algn="l">
              <a:lnSpc>
                <a:spcPct val="124000"/>
              </a:lnSpc>
              <a:spcBef>
                <a:spcPts val="200"/>
              </a:spcBef>
            </a:pPr>
            <a:r>
              <a:rPr sz="1050" b="0" i="0">
                <a:solidFill>
                  <a:srgbClr val="B8B2A0"/>
                </a:solidFill>
                <a:latin typeface="Inter"/>
              </a:rPr>
              <a:t>Go or no go. The document becomes the spec.</a:t>
            </a:r>
          </a:p>
        </p:txBody>
      </p:sp>
      <p:sp>
        <p:nvSpPr>
          <p:cNvPr id="61" name="TextBox 60"/>
          <p:cNvSpPr txBox="1"/>
          <p:nvPr/>
        </p:nvSpPr>
        <p:spPr>
          <a:xfrm>
            <a:off x="7061200" y="50546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06  </a:t>
            </a:r>
            <a:r>
              <a:rPr sz="1150" b="1" i="0" spc="100">
                <a:solidFill>
                  <a:srgbClr val="F7F3E9"/>
                </a:solidFill>
                <a:latin typeface="Inter"/>
              </a:rPr>
              <a:t>OPERATE</a:t>
            </a:r>
          </a:p>
          <a:p>
            <a:pPr algn="l">
              <a:lnSpc>
                <a:spcPct val="124000"/>
              </a:lnSpc>
              <a:spcBef>
                <a:spcPts val="200"/>
              </a:spcBef>
            </a:pPr>
            <a:r>
              <a:rPr sz="1050" b="0" i="0">
                <a:solidFill>
                  <a:srgbClr val="B8B2A0"/>
                </a:solidFill>
                <a:latin typeface="Inter"/>
              </a:rPr>
              <a:t>Teams work backwards from it. The Weekly Business Review measures against it, every metric with a named owner.</a:t>
            </a:r>
          </a:p>
        </p:txBody>
      </p:sp>
      <p:cxnSp>
        <p:nvCxnSpPr>
          <p:cNvPr id="62" name="Connector 61"/>
          <p:cNvCxnSpPr/>
          <p:nvPr/>
        </p:nvCxnSpPr>
        <p:spPr>
          <a:xfrm>
            <a:off x="812800" y="5740400"/>
            <a:ext cx="10566400" cy="0"/>
          </a:xfrm>
          <a:prstGeom prst="line">
            <a:avLst/>
          </a:prstGeom>
          <a:ln w="9525">
            <a:solidFill>
              <a:srgbClr val="C9A227"/>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12800" y="5892800"/>
            <a:ext cx="10566400" cy="558800"/>
          </a:xfrm>
          <a:prstGeom prst="rect">
            <a:avLst/>
          </a:prstGeom>
          <a:noFill/>
        </p:spPr>
        <p:txBody>
          <a:bodyPr wrap="square" lIns="0" rIns="0" tIns="0" bIns="0" anchor="t">
            <a:spAutoFit/>
          </a:bodyPr>
          <a:lstStyle/>
          <a:p>
            <a:pPr algn="l">
              <a:lnSpc>
                <a:spcPct val="128000"/>
              </a:lnSpc>
            </a:pPr>
            <a:r>
              <a:rPr sz="1700" b="0" i="1">
                <a:solidFill>
                  <a:srgbClr val="E7C766"/>
                </a:solidFill>
                <a:latin typeface="Playfair Display"/>
              </a:rPr>
              <a:t>Bezos took PowerPoint out of the S-Team room. What replaced it was not a better meeting. It was an artifact that outlives the meeting.</a:t>
            </a:r>
          </a:p>
        </p:txBody>
      </p:sp>
      <p:sp>
        <p:nvSpPr>
          <p:cNvPr id="64" name="TextBox 63"/>
          <p:cNvSpPr txBox="1"/>
          <p:nvPr/>
        </p:nvSpPr>
        <p:spPr>
          <a:xfrm>
            <a:off x="812800" y="6502400"/>
            <a:ext cx="10566400" cy="177800"/>
          </a:xfrm>
          <a:prstGeom prst="rect">
            <a:avLst/>
          </a:prstGeom>
          <a:noFill/>
        </p:spPr>
        <p:txBody>
          <a:bodyPr wrap="square" lIns="0" rIns="0" tIns="0" bIns="0" anchor="t">
            <a:spAutoFit/>
          </a:bodyPr>
          <a:lstStyle/>
          <a:p>
            <a:pPr algn="r"/>
            <a:r>
              <a:rPr sz="850" b="0" i="1">
                <a:solidFill>
                  <a:srgbClr val="B8B2A0"/>
                </a:solidFill>
                <a:latin typeface="Inter"/>
              </a:rPr>
              <a:t>Bryar &amp; Carr, Working Backwards (2021)  ·  Nonaka &amp; Takeuchi, The Knowledge-Creating Company (1995).</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TextBox 33"/>
          <p:cNvSpPr txBox="1"/>
          <p:nvPr/>
        </p:nvSpPr>
        <p:spPr>
          <a:xfrm>
            <a:off x="812800" y="482600"/>
            <a:ext cx="10566400" cy="254000"/>
          </a:xfrm>
          <a:prstGeom prst="rect">
            <a:avLst/>
          </a:prstGeom>
          <a:noFill/>
        </p:spPr>
        <p:txBody>
          <a:bodyPr wrap="square" lIns="0" rIns="0" tIns="0" bIns="0" anchor="t">
            <a:spAutoFit/>
          </a:bodyPr>
          <a:lstStyle/>
          <a:p>
            <a:pPr algn="l"/>
            <a:r>
              <a:rPr sz="1250" b="1" i="0" spc="220">
                <a:solidFill>
                  <a:srgbClr val="C9A227"/>
                </a:solidFill>
                <a:latin typeface="Inter"/>
              </a:rPr>
              <a:t>WHAT CHANGED</a:t>
            </a:r>
          </a:p>
        </p:txBody>
      </p:sp>
      <p:sp>
        <p:nvSpPr>
          <p:cNvPr id="35" name="TextBox 34"/>
          <p:cNvSpPr txBox="1"/>
          <p:nvPr/>
        </p:nvSpPr>
        <p:spPr>
          <a:xfrm>
            <a:off x="812800" y="787400"/>
            <a:ext cx="10566400" cy="711200"/>
          </a:xfrm>
          <a:prstGeom prst="rect">
            <a:avLst/>
          </a:prstGeom>
          <a:noFill/>
        </p:spPr>
        <p:txBody>
          <a:bodyPr wrap="square" lIns="0" rIns="0" tIns="0" bIns="0" anchor="t">
            <a:spAutoFit/>
          </a:bodyPr>
          <a:lstStyle/>
          <a:p>
            <a:pPr algn="l">
              <a:lnSpc>
                <a:spcPct val="98000"/>
              </a:lnSpc>
            </a:pPr>
            <a:r>
              <a:rPr sz="3800" b="1" i="0">
                <a:solidFill>
                  <a:srgbClr val="F7F3E9"/>
                </a:solidFill>
                <a:latin typeface="Playfair Display"/>
              </a:rPr>
              <a:t>The artifact is now a skill file.</a:t>
            </a:r>
          </a:p>
        </p:txBody>
      </p:sp>
      <p:sp>
        <p:nvSpPr>
          <p:cNvPr id="36" name="Oval 35"/>
          <p:cNvSpPr/>
          <p:nvPr/>
        </p:nvSpPr>
        <p:spPr>
          <a:xfrm>
            <a:off x="1981200" y="2235200"/>
            <a:ext cx="2844800" cy="2844800"/>
          </a:xfrm>
          <a:prstGeom prst="ellipse">
            <a:avLst/>
          </a:prstGeom>
          <a:noFill/>
          <a:ln w="1143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Oval 36"/>
          <p:cNvSpPr/>
          <p:nvPr/>
        </p:nvSpPr>
        <p:spPr>
          <a:xfrm>
            <a:off x="3124200" y="19558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01</a:t>
            </a:r>
          </a:p>
        </p:txBody>
      </p:sp>
      <p:sp>
        <p:nvSpPr>
          <p:cNvPr id="38" name="TextBox 37"/>
          <p:cNvSpPr txBox="1"/>
          <p:nvPr/>
        </p:nvSpPr>
        <p:spPr>
          <a:xfrm>
            <a:off x="2641600" y="16002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WRITE</a:t>
            </a:r>
          </a:p>
        </p:txBody>
      </p:sp>
      <p:sp>
        <p:nvSpPr>
          <p:cNvPr id="39" name="Isosceles Triangle 38"/>
          <p:cNvSpPr/>
          <p:nvPr/>
        </p:nvSpPr>
        <p:spPr>
          <a:xfrm rot="7200000">
            <a:off x="4038600" y="2349565"/>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356034" y="26670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02</a:t>
            </a:r>
          </a:p>
        </p:txBody>
      </p:sp>
      <p:sp>
        <p:nvSpPr>
          <p:cNvPr id="41" name="TextBox 40"/>
          <p:cNvSpPr txBox="1"/>
          <p:nvPr/>
        </p:nvSpPr>
        <p:spPr>
          <a:xfrm>
            <a:off x="4335372" y="25781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READ</a:t>
            </a:r>
          </a:p>
        </p:txBody>
      </p:sp>
      <p:sp>
        <p:nvSpPr>
          <p:cNvPr id="42" name="Isosceles Triangle 41"/>
          <p:cNvSpPr/>
          <p:nvPr/>
        </p:nvSpPr>
        <p:spPr>
          <a:xfrm rot="10800000">
            <a:off x="4749800" y="3581400"/>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356034" y="40894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03</a:t>
            </a:r>
          </a:p>
        </p:txBody>
      </p:sp>
      <p:sp>
        <p:nvSpPr>
          <p:cNvPr id="44" name="TextBox 43"/>
          <p:cNvSpPr txBox="1"/>
          <p:nvPr/>
        </p:nvSpPr>
        <p:spPr>
          <a:xfrm>
            <a:off x="4335372" y="45339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CHALLENGE</a:t>
            </a:r>
          </a:p>
        </p:txBody>
      </p:sp>
      <p:sp>
        <p:nvSpPr>
          <p:cNvPr id="45" name="Isosceles Triangle 44"/>
          <p:cNvSpPr/>
          <p:nvPr/>
        </p:nvSpPr>
        <p:spPr>
          <a:xfrm rot="14400000">
            <a:off x="4038600" y="4813234"/>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124200" y="48006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04</a:t>
            </a:r>
          </a:p>
        </p:txBody>
      </p:sp>
      <p:sp>
        <p:nvSpPr>
          <p:cNvPr id="47" name="TextBox 46"/>
          <p:cNvSpPr txBox="1"/>
          <p:nvPr/>
        </p:nvSpPr>
        <p:spPr>
          <a:xfrm>
            <a:off x="2641600" y="55118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REVISE</a:t>
            </a:r>
          </a:p>
        </p:txBody>
      </p:sp>
      <p:sp>
        <p:nvSpPr>
          <p:cNvPr id="48" name="Isosceles Triangle 47"/>
          <p:cNvSpPr/>
          <p:nvPr/>
        </p:nvSpPr>
        <p:spPr>
          <a:xfrm rot="18000000">
            <a:off x="2616200" y="4813234"/>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892365" y="40894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05</a:t>
            </a:r>
          </a:p>
        </p:txBody>
      </p:sp>
      <p:sp>
        <p:nvSpPr>
          <p:cNvPr id="50" name="TextBox 49"/>
          <p:cNvSpPr txBox="1"/>
          <p:nvPr/>
        </p:nvSpPr>
        <p:spPr>
          <a:xfrm>
            <a:off x="947827" y="45339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DECIDE</a:t>
            </a:r>
          </a:p>
        </p:txBody>
      </p:sp>
      <p:sp>
        <p:nvSpPr>
          <p:cNvPr id="51" name="Isosceles Triangle 50"/>
          <p:cNvSpPr/>
          <p:nvPr/>
        </p:nvSpPr>
        <p:spPr>
          <a:xfrm>
            <a:off x="1905000" y="3581400"/>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892365" y="2667000"/>
            <a:ext cx="558800" cy="558800"/>
          </a:xfrm>
          <a:prstGeom prst="ellipse">
            <a:avLst/>
          </a:prstGeom>
          <a:solidFill>
            <a:srgbClr val="14213D"/>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E7C766"/>
                </a:solidFill>
                <a:latin typeface="Playfair Display"/>
              </a:rPr>
              <a:t>06</a:t>
            </a:r>
          </a:p>
        </p:txBody>
      </p:sp>
      <p:sp>
        <p:nvSpPr>
          <p:cNvPr id="53" name="TextBox 52"/>
          <p:cNvSpPr txBox="1"/>
          <p:nvPr/>
        </p:nvSpPr>
        <p:spPr>
          <a:xfrm>
            <a:off x="947827" y="2578100"/>
            <a:ext cx="1524000" cy="203200"/>
          </a:xfrm>
          <a:prstGeom prst="rect">
            <a:avLst/>
          </a:prstGeom>
          <a:noFill/>
        </p:spPr>
        <p:txBody>
          <a:bodyPr wrap="square" lIns="0" rIns="0" tIns="0" bIns="0" anchor="t">
            <a:spAutoFit/>
          </a:bodyPr>
          <a:lstStyle/>
          <a:p>
            <a:pPr algn="ctr"/>
            <a:r>
              <a:rPr sz="900" b="1" i="0" spc="110">
                <a:solidFill>
                  <a:srgbClr val="E7C766"/>
                </a:solidFill>
                <a:latin typeface="Inter"/>
              </a:rPr>
              <a:t>OPERATE</a:t>
            </a:r>
          </a:p>
        </p:txBody>
      </p:sp>
      <p:sp>
        <p:nvSpPr>
          <p:cNvPr id="54" name="Isosceles Triangle 53"/>
          <p:cNvSpPr/>
          <p:nvPr/>
        </p:nvSpPr>
        <p:spPr>
          <a:xfrm rot="3600000">
            <a:off x="2616199" y="2349565"/>
            <a:ext cx="152400" cy="1524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654300" y="2908300"/>
            <a:ext cx="1498600" cy="1498600"/>
          </a:xfrm>
          <a:prstGeom prst="ellipse">
            <a:avLst/>
          </a:prstGeom>
          <a:solidFill>
            <a:srgbClr val="A31621"/>
          </a:solidFill>
          <a:ln w="15875">
            <a:solidFill>
              <a:srgbClr val="A31621"/>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a:lstStyle/>
          <a:p>
            <a:pPr algn="ctr">
              <a:lnSpc>
                <a:spcPct val="112000"/>
              </a:lnSpc>
            </a:pPr>
            <a:r>
              <a:rPr sz="1500" b="1" i="0">
                <a:solidFill>
                  <a:srgbClr val="F7F3E9"/>
                </a:solidFill>
                <a:latin typeface="Playfair Display"/>
              </a:rPr>
              <a:t>SKILL</a:t>
            </a:r>
          </a:p>
          <a:p>
            <a:pPr algn="ctr">
              <a:lnSpc>
                <a:spcPct val="112000"/>
              </a:lnSpc>
            </a:pPr>
            <a:r>
              <a:rPr sz="1500" b="1" i="0">
                <a:solidFill>
                  <a:srgbClr val="F7F3E9"/>
                </a:solidFill>
                <a:latin typeface="Playfair Display"/>
              </a:rPr>
              <a:t>FILE</a:t>
            </a:r>
          </a:p>
        </p:txBody>
      </p:sp>
      <p:sp>
        <p:nvSpPr>
          <p:cNvPr id="56" name="TextBox 55"/>
          <p:cNvSpPr txBox="1"/>
          <p:nvPr/>
        </p:nvSpPr>
        <p:spPr>
          <a:xfrm>
            <a:off x="7061200" y="16256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01  </a:t>
            </a:r>
            <a:r>
              <a:rPr sz="1150" b="1" i="0" spc="100">
                <a:solidFill>
                  <a:srgbClr val="F7F3E9"/>
                </a:solidFill>
                <a:latin typeface="Inter"/>
              </a:rPr>
              <a:t>WRITE</a:t>
            </a:r>
          </a:p>
          <a:p>
            <a:pPr algn="l">
              <a:lnSpc>
                <a:spcPct val="124000"/>
              </a:lnSpc>
              <a:spcBef>
                <a:spcPts val="200"/>
              </a:spcBef>
            </a:pPr>
            <a:r>
              <a:rPr sz="1050" b="0" i="0">
                <a:solidFill>
                  <a:srgbClr val="B8B2A0"/>
                </a:solidFill>
                <a:latin typeface="Inter"/>
              </a:rPr>
              <a:t>You write the file. Your VIPs, your delegates, your rules, your voice. Plain English.</a:t>
            </a:r>
          </a:p>
        </p:txBody>
      </p:sp>
      <p:sp>
        <p:nvSpPr>
          <p:cNvPr id="57" name="TextBox 56"/>
          <p:cNvSpPr txBox="1"/>
          <p:nvPr/>
        </p:nvSpPr>
        <p:spPr>
          <a:xfrm>
            <a:off x="7061200" y="23114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02  </a:t>
            </a:r>
            <a:r>
              <a:rPr sz="1150" b="1" i="0" spc="100">
                <a:solidFill>
                  <a:srgbClr val="F7F3E9"/>
                </a:solidFill>
                <a:latin typeface="Inter"/>
              </a:rPr>
              <a:t>READ</a:t>
            </a:r>
          </a:p>
          <a:p>
            <a:pPr algn="l">
              <a:lnSpc>
                <a:spcPct val="124000"/>
              </a:lnSpc>
              <a:spcBef>
                <a:spcPts val="200"/>
              </a:spcBef>
            </a:pPr>
            <a:r>
              <a:rPr sz="1050" b="0" i="0">
                <a:solidFill>
                  <a:srgbClr val="B8B2A0"/>
                </a:solidFill>
                <a:latin typeface="Inter"/>
              </a:rPr>
              <a:t>The agent reads it. It cannot be charmed and it does not skim.</a:t>
            </a:r>
          </a:p>
        </p:txBody>
      </p:sp>
      <p:sp>
        <p:nvSpPr>
          <p:cNvPr id="58" name="TextBox 57"/>
          <p:cNvSpPr txBox="1"/>
          <p:nvPr/>
        </p:nvSpPr>
        <p:spPr>
          <a:xfrm>
            <a:off x="7061200" y="29972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03  </a:t>
            </a:r>
            <a:r>
              <a:rPr sz="1150" b="1" i="0" spc="100">
                <a:solidFill>
                  <a:srgbClr val="F7F3E9"/>
                </a:solidFill>
                <a:latin typeface="Inter"/>
              </a:rPr>
              <a:t>CHALLENGE</a:t>
            </a:r>
          </a:p>
          <a:p>
            <a:pPr algn="l">
              <a:lnSpc>
                <a:spcPct val="124000"/>
              </a:lnSpc>
              <a:spcBef>
                <a:spcPts val="200"/>
              </a:spcBef>
            </a:pPr>
            <a:r>
              <a:rPr sz="1050" b="0" i="0">
                <a:solidFill>
                  <a:srgbClr val="B8B2A0"/>
                </a:solidFill>
                <a:latin typeface="Inter"/>
              </a:rPr>
              <a:t>You run it against a real inbox and watch exactly where it is wrong.</a:t>
            </a:r>
          </a:p>
        </p:txBody>
      </p:sp>
      <p:sp>
        <p:nvSpPr>
          <p:cNvPr id="59" name="TextBox 58"/>
          <p:cNvSpPr txBox="1"/>
          <p:nvPr/>
        </p:nvSpPr>
        <p:spPr>
          <a:xfrm>
            <a:off x="7061200" y="36830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04  </a:t>
            </a:r>
            <a:r>
              <a:rPr sz="1150" b="1" i="0" spc="100">
                <a:solidFill>
                  <a:srgbClr val="F7F3E9"/>
                </a:solidFill>
                <a:latin typeface="Inter"/>
              </a:rPr>
              <a:t>REVISE</a:t>
            </a:r>
          </a:p>
          <a:p>
            <a:pPr algn="l">
              <a:lnSpc>
                <a:spcPct val="124000"/>
              </a:lnSpc>
              <a:spcBef>
                <a:spcPts val="200"/>
              </a:spcBef>
            </a:pPr>
            <a:r>
              <a:rPr sz="1050" b="0" i="0">
                <a:solidFill>
                  <a:srgbClr val="B8B2A0"/>
                </a:solidFill>
                <a:latin typeface="Inter"/>
              </a:rPr>
              <a:t>You edit the file. Not the model. The file.</a:t>
            </a:r>
          </a:p>
        </p:txBody>
      </p:sp>
      <p:sp>
        <p:nvSpPr>
          <p:cNvPr id="60" name="TextBox 59"/>
          <p:cNvSpPr txBox="1"/>
          <p:nvPr/>
        </p:nvSpPr>
        <p:spPr>
          <a:xfrm>
            <a:off x="7061200" y="43688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05  </a:t>
            </a:r>
            <a:r>
              <a:rPr sz="1150" b="1" i="0" spc="100">
                <a:solidFill>
                  <a:srgbClr val="F7F3E9"/>
                </a:solidFill>
                <a:latin typeface="Inter"/>
              </a:rPr>
              <a:t>DECIDE</a:t>
            </a:r>
          </a:p>
          <a:p>
            <a:pPr algn="l">
              <a:lnSpc>
                <a:spcPct val="124000"/>
              </a:lnSpc>
              <a:spcBef>
                <a:spcPts val="200"/>
              </a:spcBef>
            </a:pPr>
            <a:r>
              <a:rPr sz="1050" b="0" i="0">
                <a:solidFill>
                  <a:srgbClr val="B8B2A0"/>
                </a:solidFill>
                <a:latin typeface="Inter"/>
              </a:rPr>
              <a:t>You approve the drafts. You are still the send button.</a:t>
            </a:r>
          </a:p>
        </p:txBody>
      </p:sp>
      <p:sp>
        <p:nvSpPr>
          <p:cNvPr id="61" name="TextBox 60"/>
          <p:cNvSpPr txBox="1"/>
          <p:nvPr/>
        </p:nvSpPr>
        <p:spPr>
          <a:xfrm>
            <a:off x="7061200" y="5054600"/>
            <a:ext cx="4368800" cy="635000"/>
          </a:xfrm>
          <a:prstGeom prst="rect">
            <a:avLst/>
          </a:prstGeom>
          <a:noFill/>
        </p:spPr>
        <p:txBody>
          <a:bodyPr wrap="square" lIns="0" rIns="0" tIns="0" bIns="0" anchor="t">
            <a:spAutoFit/>
          </a:bodyPr>
          <a:lstStyle/>
          <a:p>
            <a:pPr algn="l">
              <a:lnSpc>
                <a:spcPct val="115000"/>
              </a:lnSpc>
            </a:pPr>
            <a:r>
              <a:rPr sz="1400" b="1" i="0">
                <a:solidFill>
                  <a:srgbClr val="E7C766"/>
                </a:solidFill>
                <a:latin typeface="Playfair Display"/>
              </a:rPr>
              <a:t>06  </a:t>
            </a:r>
            <a:r>
              <a:rPr sz="1150" b="1" i="0" spc="100">
                <a:solidFill>
                  <a:srgbClr val="F7F3E9"/>
                </a:solidFill>
                <a:latin typeface="Inter"/>
              </a:rPr>
              <a:t>OPERATE</a:t>
            </a:r>
          </a:p>
          <a:p>
            <a:pPr algn="l">
              <a:lnSpc>
                <a:spcPct val="124000"/>
              </a:lnSpc>
              <a:spcBef>
                <a:spcPts val="200"/>
              </a:spcBef>
            </a:pPr>
            <a:r>
              <a:rPr sz="1050" b="0" i="0">
                <a:solidFill>
                  <a:srgbClr val="B8B2A0"/>
                </a:solidFill>
                <a:latin typeface="Inter"/>
              </a:rPr>
              <a:t>You put it on a schedule. It runs at 4:30 every weekday without you.</a:t>
            </a:r>
          </a:p>
        </p:txBody>
      </p:sp>
      <p:cxnSp>
        <p:nvCxnSpPr>
          <p:cNvPr id="62" name="Connector 61"/>
          <p:cNvCxnSpPr/>
          <p:nvPr/>
        </p:nvCxnSpPr>
        <p:spPr>
          <a:xfrm>
            <a:off x="812800" y="5740400"/>
            <a:ext cx="10566400" cy="0"/>
          </a:xfrm>
          <a:prstGeom prst="line">
            <a:avLst/>
          </a:prstGeom>
          <a:ln w="9525">
            <a:solidFill>
              <a:srgbClr val="C9A227"/>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12800" y="5892800"/>
            <a:ext cx="10566400" cy="558800"/>
          </a:xfrm>
          <a:prstGeom prst="rect">
            <a:avLst/>
          </a:prstGeom>
          <a:noFill/>
        </p:spPr>
        <p:txBody>
          <a:bodyPr wrap="square" lIns="0" rIns="0" tIns="0" bIns="0" anchor="t">
            <a:spAutoFit/>
          </a:bodyPr>
          <a:lstStyle/>
          <a:p>
            <a:pPr algn="l">
              <a:lnSpc>
                <a:spcPct val="128000"/>
              </a:lnSpc>
            </a:pPr>
            <a:r>
              <a:rPr sz="1700" b="0" i="1">
                <a:solidFill>
                  <a:srgbClr val="E7C766"/>
                </a:solidFill>
                <a:latin typeface="Playfair Display"/>
              </a:rPr>
              <a:t>Same six steps. The reader used to be a room. Now it is an agent. </a:t>
            </a:r>
            <a:r>
              <a:rPr sz="1700" b="1" i="1">
                <a:solidFill>
                  <a:srgbClr val="F7F3E9"/>
                </a:solidFill>
                <a:latin typeface="Playfair Display"/>
              </a:rPr>
              <a:t>That is the entire difference, and it is the whole workshop.</a:t>
            </a:r>
          </a:p>
        </p:txBody>
      </p:sp>
      <p:sp>
        <p:nvSpPr>
          <p:cNvPr id="64" name="TextBox 63"/>
          <p:cNvSpPr txBox="1"/>
          <p:nvPr/>
        </p:nvSpPr>
        <p:spPr>
          <a:xfrm>
            <a:off x="812800" y="6502400"/>
            <a:ext cx="10566400" cy="177800"/>
          </a:xfrm>
          <a:prstGeom prst="rect">
            <a:avLst/>
          </a:prstGeom>
          <a:noFill/>
        </p:spPr>
        <p:txBody>
          <a:bodyPr wrap="square" lIns="0" rIns="0" tIns="0" bIns="0" anchor="t">
            <a:spAutoFit/>
          </a:bodyPr>
          <a:lstStyle/>
          <a:p>
            <a:pPr algn="r"/>
            <a:r>
              <a:rPr sz="850" b="0" i="1">
                <a:solidFill>
                  <a:srgbClr val="B8B2A0"/>
                </a:solidFill>
                <a:latin typeface="Inter"/>
              </a:rPr>
              <a:t>Every case file this afternoon is one of these nodes. You are not learning a chatbot. You are managing a document.</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31621"/>
        </a:solidFill>
      </p:bgPr>
    </p:bg>
    <p:spTree>
      <p:nvGrpSpPr>
        <p:cNvPr id="167" name="Shape 167"/>
        <p:cNvGrpSpPr/>
        <p:nvPr/>
      </p:nvGrpSpPr>
      <p:grpSpPr>
        <a:xfrm>
          <a:off x="0" y="0"/>
          <a:ext cx="0" cy="0"/>
          <a:chOff x="0" y="0"/>
          <a:chExt cx="0" cy="0"/>
        </a:xfrm>
      </p:grpSpPr>
      <p:sp>
        <p:nvSpPr>
          <p:cNvPr id="168" name="TextBox 167"/>
          <p:cNvSpPr txBox="1"/>
          <p:nvPr/>
        </p:nvSpPr>
        <p:spPr>
          <a:xfrm>
            <a:off x="812800" y="965200"/>
            <a:ext cx="10566400" cy="1778000"/>
          </a:xfrm>
          <a:prstGeom prst="rect">
            <a:avLst/>
          </a:prstGeom>
          <a:noFill/>
        </p:spPr>
        <p:txBody>
          <a:bodyPr wrap="square" lIns="0" rIns="0" tIns="0" bIns="0" anchor="t">
            <a:spAutoFit/>
          </a:bodyPr>
          <a:lstStyle/>
          <a:p>
            <a:pPr algn="l">
              <a:lnSpc>
                <a:spcPct val="102000"/>
              </a:lnSpc>
            </a:pPr>
            <a:r>
              <a:rPr sz="5400" b="1" i="0">
                <a:solidFill>
                  <a:srgbClr val="FFFFFF"/>
                </a:solidFill>
                <a:latin typeface="Playfair Display"/>
              </a:rPr>
              <a:t>AI does not fix</a:t>
            </a:r>
          </a:p>
          <a:p>
            <a:pPr algn="l">
              <a:lnSpc>
                <a:spcPct val="102000"/>
              </a:lnSpc>
            </a:pPr>
            <a:r>
              <a:rPr sz="5400" b="1" i="0">
                <a:solidFill>
                  <a:srgbClr val="FFFFFF"/>
                </a:solidFill>
                <a:latin typeface="Playfair Display"/>
              </a:rPr>
              <a:t>a broken process.</a:t>
            </a:r>
          </a:p>
        </p:txBody>
      </p:sp>
      <p:sp>
        <p:nvSpPr>
          <p:cNvPr id="169" name="TextBox 168"/>
          <p:cNvSpPr txBox="1"/>
          <p:nvPr/>
        </p:nvSpPr>
        <p:spPr>
          <a:xfrm>
            <a:off x="812800" y="2717800"/>
            <a:ext cx="10566400" cy="762000"/>
          </a:xfrm>
          <a:prstGeom prst="rect">
            <a:avLst/>
          </a:prstGeom>
          <a:noFill/>
        </p:spPr>
        <p:txBody>
          <a:bodyPr wrap="square" lIns="0" rIns="0" tIns="0" bIns="0" anchor="t">
            <a:spAutoFit/>
          </a:bodyPr>
          <a:lstStyle/>
          <a:p>
            <a:pPr algn="l"/>
            <a:r>
              <a:rPr sz="5400" b="1" i="0">
                <a:solidFill>
                  <a:srgbClr val="FFD96B"/>
                </a:solidFill>
                <a:latin typeface="Playfair Display"/>
              </a:rPr>
              <a:t>It runs it faster.</a:t>
            </a:r>
          </a:p>
        </p:txBody>
      </p:sp>
      <p:sp>
        <p:nvSpPr>
          <p:cNvPr id="170" name="TextBox 169"/>
          <p:cNvSpPr txBox="1"/>
          <p:nvPr/>
        </p:nvSpPr>
        <p:spPr>
          <a:xfrm>
            <a:off x="812800" y="3810000"/>
            <a:ext cx="10566400" cy="1168400"/>
          </a:xfrm>
          <a:prstGeom prst="rect">
            <a:avLst/>
          </a:prstGeom>
          <a:noFill/>
        </p:spPr>
        <p:txBody>
          <a:bodyPr wrap="square" lIns="0" rIns="0" tIns="0" bIns="0" anchor="t">
            <a:spAutoFit/>
          </a:bodyPr>
          <a:lstStyle/>
          <a:p>
            <a:pPr algn="l">
              <a:lnSpc>
                <a:spcPct val="128000"/>
              </a:lnSpc>
            </a:pPr>
            <a:r>
              <a:rPr sz="1500" b="0" i="0">
                <a:solidFill>
                  <a:srgbClr val="F7F3E9"/>
                </a:solidFill>
                <a:latin typeface="Inter"/>
              </a:rPr>
              <a:t>88% of organizations now use AI somewhere. About 39% see any profit impact. About 6% see real impact.</a:t>
            </a:r>
          </a:p>
          <a:p>
            <a:pPr algn="l">
              <a:lnSpc>
                <a:spcPct val="128000"/>
              </a:lnSpc>
              <a:spcBef>
                <a:spcPts val="500"/>
              </a:spcBef>
            </a:pPr>
            <a:r>
              <a:rPr sz="1500" b="0" i="0">
                <a:solidFill>
                  <a:srgbClr val="F7F3E9"/>
                </a:solidFill>
                <a:latin typeface="Inter"/>
              </a:rPr>
              <a:t>Of roughly 25 things McKinsey tested, one predicts profit impact above all others: fundamentally redesigning the workflow.</a:t>
            </a:r>
          </a:p>
          <a:p>
            <a:pPr algn="l">
              <a:lnSpc>
                <a:spcPct val="128000"/>
              </a:lnSpc>
              <a:spcBef>
                <a:spcPts val="500"/>
              </a:spcBef>
            </a:pPr>
            <a:r>
              <a:rPr sz="1500" b="0" i="0">
                <a:solidFill>
                  <a:srgbClr val="F7F3E9"/>
                </a:solidFill>
                <a:latin typeface="Inter"/>
              </a:rPr>
              <a:t>Only 21% of adopters have redesigned a single workflow.</a:t>
            </a:r>
          </a:p>
        </p:txBody>
      </p:sp>
      <p:sp>
        <p:nvSpPr>
          <p:cNvPr id="171" name="TextBox 170"/>
          <p:cNvSpPr txBox="1"/>
          <p:nvPr/>
        </p:nvSpPr>
        <p:spPr>
          <a:xfrm>
            <a:off x="812800" y="5054600"/>
            <a:ext cx="10566400" cy="177800"/>
          </a:xfrm>
          <a:prstGeom prst="rect">
            <a:avLst/>
          </a:prstGeom>
          <a:noFill/>
        </p:spPr>
        <p:txBody>
          <a:bodyPr wrap="square" lIns="0" rIns="0" tIns="0" bIns="0" anchor="t">
            <a:spAutoFit/>
          </a:bodyPr>
          <a:lstStyle/>
          <a:p>
            <a:pPr algn="l"/>
            <a:r>
              <a:rPr sz="850" b="0" i="1">
                <a:solidFill>
                  <a:srgbClr val="F0C9CC"/>
                </a:solidFill>
                <a:latin typeface="Inter"/>
              </a:rPr>
              <a:t>McKinsey, The State of AI (2025).</a:t>
            </a:r>
          </a:p>
        </p:txBody>
      </p:sp>
      <p:cxnSp>
        <p:nvCxnSpPr>
          <p:cNvPr id="172" name="Connector 171"/>
          <p:cNvCxnSpPr/>
          <p:nvPr/>
        </p:nvCxnSpPr>
        <p:spPr>
          <a:xfrm>
            <a:off x="812800" y="5384800"/>
            <a:ext cx="10566400" cy="0"/>
          </a:xfrm>
          <a:prstGeom prst="line">
            <a:avLst/>
          </a:prstGeom>
          <a:ln w="9525">
            <a:solidFill>
              <a:srgbClr val="D88A92"/>
            </a:solidFill>
          </a:ln>
        </p:spPr>
        <p:style>
          <a:lnRef idx="2">
            <a:schemeClr val="accent1"/>
          </a:lnRef>
          <a:fillRef idx="0">
            <a:schemeClr val="accent1"/>
          </a:fillRef>
          <a:effectRef idx="1">
            <a:schemeClr val="accent1"/>
          </a:effectRef>
          <a:fontRef idx="minor">
            <a:schemeClr val="tx1"/>
          </a:fontRef>
        </p:style>
      </p:cxnSp>
      <p:sp>
        <p:nvSpPr>
          <p:cNvPr id="173" name="TextBox 172"/>
          <p:cNvSpPr txBox="1"/>
          <p:nvPr/>
        </p:nvSpPr>
        <p:spPr>
          <a:xfrm>
            <a:off x="812800" y="5588000"/>
            <a:ext cx="10566400" cy="762000"/>
          </a:xfrm>
          <a:prstGeom prst="rect">
            <a:avLst/>
          </a:prstGeom>
          <a:noFill/>
        </p:spPr>
        <p:txBody>
          <a:bodyPr wrap="square" lIns="0" rIns="0" tIns="0" bIns="0" anchor="t">
            <a:spAutoFit/>
          </a:bodyPr>
          <a:lstStyle/>
          <a:p>
            <a:pPr algn="l">
              <a:lnSpc>
                <a:spcPct val="130000"/>
              </a:lnSpc>
            </a:pPr>
            <a:r>
              <a:rPr sz="2200" b="1" i="1">
                <a:solidFill>
                  <a:srgbClr val="FFFFFF"/>
                </a:solidFill>
                <a:latin typeface="Playfair Display"/>
              </a:rPr>
              <a:t>A vague document used to waste a meeting. A vague document now runs ten thousand times a day.</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TextBox 33"/>
          <p:cNvSpPr txBox="1"/>
          <p:nvPr/>
        </p:nvSpPr>
        <p:spPr>
          <a:xfrm>
            <a:off x="812800" y="482600"/>
            <a:ext cx="10566400" cy="254000"/>
          </a:xfrm>
          <a:prstGeom prst="rect">
            <a:avLst/>
          </a:prstGeom>
          <a:noFill/>
        </p:spPr>
        <p:txBody>
          <a:bodyPr wrap="square" lIns="0" rIns="0" tIns="0" bIns="0" anchor="t">
            <a:spAutoFit/>
          </a:bodyPr>
          <a:lstStyle/>
          <a:p>
            <a:pPr algn="l"/>
            <a:r>
              <a:rPr sz="1250" b="1" i="0" spc="220">
                <a:solidFill>
                  <a:srgbClr val="C9A227"/>
                </a:solidFill>
                <a:latin typeface="Inter"/>
              </a:rPr>
              <a:t>BEFORE YOU WRITE ANYTHING, KNOW WHO IS HOLDING THE PEN</a:t>
            </a:r>
          </a:p>
        </p:txBody>
      </p:sp>
      <p:sp>
        <p:nvSpPr>
          <p:cNvPr id="35" name="TextBox 34"/>
          <p:cNvSpPr txBox="1"/>
          <p:nvPr/>
        </p:nvSpPr>
        <p:spPr>
          <a:xfrm>
            <a:off x="812800" y="762000"/>
            <a:ext cx="10566400" cy="558800"/>
          </a:xfrm>
          <a:prstGeom prst="rect">
            <a:avLst/>
          </a:prstGeom>
          <a:noFill/>
        </p:spPr>
        <p:txBody>
          <a:bodyPr wrap="square" lIns="0" rIns="0" tIns="0" bIns="0" anchor="t">
            <a:spAutoFit/>
          </a:bodyPr>
          <a:lstStyle/>
          <a:p>
            <a:pPr algn="l">
              <a:lnSpc>
                <a:spcPct val="98000"/>
              </a:lnSpc>
            </a:pPr>
            <a:r>
              <a:rPr sz="3400" b="1" i="0">
                <a:solidFill>
                  <a:srgbClr val="F7F3E9"/>
                </a:solidFill>
                <a:latin typeface="Playfair Display"/>
              </a:rPr>
              <a:t>Four kinds of executive.</a:t>
            </a:r>
          </a:p>
        </p:txBody>
      </p:sp>
      <p:cxnSp>
        <p:nvCxnSpPr>
          <p:cNvPr id="36" name="Connector 35"/>
          <p:cNvCxnSpPr/>
          <p:nvPr/>
        </p:nvCxnSpPr>
        <p:spPr>
          <a:xfrm>
            <a:off x="3276600" y="3810000"/>
            <a:ext cx="5638800" cy="0"/>
          </a:xfrm>
          <a:prstGeom prst="line">
            <a:avLst/>
          </a:prstGeom>
          <a:ln w="2032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6000" y="1879600"/>
            <a:ext cx="0" cy="3860800"/>
          </a:xfrm>
          <a:prstGeom prst="line">
            <a:avLst/>
          </a:prstGeom>
          <a:ln w="20320">
            <a:solidFill>
              <a:srgbClr val="C9A227"/>
            </a:solidFill>
          </a:ln>
        </p:spPr>
        <p:style>
          <a:lnRef idx="2">
            <a:schemeClr val="accent1"/>
          </a:lnRef>
          <a:fillRef idx="0">
            <a:schemeClr val="accent1"/>
          </a:fillRef>
          <a:effectRef idx="1">
            <a:schemeClr val="accent1"/>
          </a:effectRef>
          <a:fontRef idx="minor">
            <a:schemeClr val="tx1"/>
          </a:fontRef>
        </p:style>
      </p:cxnSp>
      <p:sp>
        <p:nvSpPr>
          <p:cNvPr id="38" name="Isosceles Triangle 37"/>
          <p:cNvSpPr/>
          <p:nvPr/>
        </p:nvSpPr>
        <p:spPr>
          <a:xfrm>
            <a:off x="6026150" y="1809750"/>
            <a:ext cx="139700" cy="1397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sosceles Triangle 38"/>
          <p:cNvSpPr/>
          <p:nvPr/>
        </p:nvSpPr>
        <p:spPr>
          <a:xfrm rot="10800000">
            <a:off x="6026150" y="5670550"/>
            <a:ext cx="139700" cy="1397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sosceles Triangle 39"/>
          <p:cNvSpPr/>
          <p:nvPr/>
        </p:nvSpPr>
        <p:spPr>
          <a:xfrm rot="16200000">
            <a:off x="3206750" y="3740150"/>
            <a:ext cx="139700" cy="1397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sosceles Triangle 40"/>
          <p:cNvSpPr/>
          <p:nvPr/>
        </p:nvSpPr>
        <p:spPr>
          <a:xfrm rot="5400000">
            <a:off x="8845550" y="3740150"/>
            <a:ext cx="139700" cy="139700"/>
          </a:xfrm>
          <a:prstGeom prst="triangl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56000" y="1320800"/>
            <a:ext cx="5080000" cy="431800"/>
          </a:xfrm>
          <a:prstGeom prst="rect">
            <a:avLst/>
          </a:prstGeom>
          <a:noFill/>
        </p:spPr>
        <p:txBody>
          <a:bodyPr wrap="square" lIns="0" rIns="0" tIns="0" bIns="0" anchor="t">
            <a:spAutoFit/>
          </a:bodyPr>
          <a:lstStyle/>
          <a:p>
            <a:pPr algn="ctr"/>
            <a:r>
              <a:rPr sz="1300" b="1" i="0" spc="200">
                <a:solidFill>
                  <a:srgbClr val="E7C766"/>
                </a:solidFill>
                <a:latin typeface="Inter"/>
              </a:rPr>
              <a:t>CLOSED</a:t>
            </a:r>
          </a:p>
          <a:p>
            <a:pPr algn="ctr">
              <a:lnSpc>
                <a:spcPct val="115000"/>
              </a:lnSpc>
              <a:spcBef>
                <a:spcPts val="100"/>
              </a:spcBef>
            </a:pPr>
            <a:r>
              <a:rPr sz="1000" b="0" i="1">
                <a:solidFill>
                  <a:srgbClr val="B8B2A0"/>
                </a:solidFill>
                <a:latin typeface="Inter"/>
              </a:rPr>
              <a:t>you control what you show</a:t>
            </a:r>
          </a:p>
        </p:txBody>
      </p:sp>
      <p:sp>
        <p:nvSpPr>
          <p:cNvPr id="43" name="TextBox 42"/>
          <p:cNvSpPr txBox="1"/>
          <p:nvPr/>
        </p:nvSpPr>
        <p:spPr>
          <a:xfrm>
            <a:off x="3556000" y="5867400"/>
            <a:ext cx="5080000" cy="431800"/>
          </a:xfrm>
          <a:prstGeom prst="rect">
            <a:avLst/>
          </a:prstGeom>
          <a:noFill/>
        </p:spPr>
        <p:txBody>
          <a:bodyPr wrap="square" lIns="0" rIns="0" tIns="0" bIns="0" anchor="t">
            <a:spAutoFit/>
          </a:bodyPr>
          <a:lstStyle/>
          <a:p>
            <a:pPr algn="ctr"/>
            <a:r>
              <a:rPr sz="1300" b="1" i="0" spc="200">
                <a:solidFill>
                  <a:srgbClr val="E7C766"/>
                </a:solidFill>
                <a:latin typeface="Inter"/>
              </a:rPr>
              <a:t>OPEN</a:t>
            </a:r>
          </a:p>
          <a:p>
            <a:pPr algn="ctr">
              <a:lnSpc>
                <a:spcPct val="115000"/>
              </a:lnSpc>
              <a:spcBef>
                <a:spcPts val="100"/>
              </a:spcBef>
            </a:pPr>
            <a:r>
              <a:rPr sz="1000" b="0" i="1">
                <a:solidFill>
                  <a:srgbClr val="B8B2A0"/>
                </a:solidFill>
                <a:latin typeface="Inter"/>
              </a:rPr>
              <a:t>you show what you feel</a:t>
            </a:r>
          </a:p>
        </p:txBody>
      </p:sp>
      <p:sp>
        <p:nvSpPr>
          <p:cNvPr id="44" name="TextBox 43"/>
          <p:cNvSpPr txBox="1"/>
          <p:nvPr/>
        </p:nvSpPr>
        <p:spPr>
          <a:xfrm>
            <a:off x="762000" y="3581400"/>
            <a:ext cx="2362200" cy="431800"/>
          </a:xfrm>
          <a:prstGeom prst="rect">
            <a:avLst/>
          </a:prstGeom>
          <a:noFill/>
        </p:spPr>
        <p:txBody>
          <a:bodyPr wrap="square" lIns="0" rIns="0" tIns="0" bIns="0" anchor="t">
            <a:spAutoFit/>
          </a:bodyPr>
          <a:lstStyle/>
          <a:p>
            <a:pPr algn="r"/>
            <a:r>
              <a:rPr sz="1300" b="1" i="0" spc="200">
                <a:solidFill>
                  <a:srgbClr val="E7C766"/>
                </a:solidFill>
                <a:latin typeface="Inter"/>
              </a:rPr>
              <a:t>ASK</a:t>
            </a:r>
          </a:p>
          <a:p>
            <a:pPr algn="r">
              <a:lnSpc>
                <a:spcPct val="115000"/>
              </a:lnSpc>
              <a:spcBef>
                <a:spcPts val="100"/>
              </a:spcBef>
            </a:pPr>
            <a:r>
              <a:rPr sz="1000" b="0" i="1">
                <a:solidFill>
                  <a:srgbClr val="B8B2A0"/>
                </a:solidFill>
                <a:latin typeface="Inter"/>
              </a:rPr>
              <a:t>you gather, then move</a:t>
            </a:r>
          </a:p>
        </p:txBody>
      </p:sp>
      <p:sp>
        <p:nvSpPr>
          <p:cNvPr id="45" name="TextBox 44"/>
          <p:cNvSpPr txBox="1"/>
          <p:nvPr/>
        </p:nvSpPr>
        <p:spPr>
          <a:xfrm>
            <a:off x="9067800" y="3581400"/>
            <a:ext cx="2362200" cy="431800"/>
          </a:xfrm>
          <a:prstGeom prst="rect">
            <a:avLst/>
          </a:prstGeom>
          <a:noFill/>
        </p:spPr>
        <p:txBody>
          <a:bodyPr wrap="square" lIns="0" rIns="0" tIns="0" bIns="0" anchor="t">
            <a:spAutoFit/>
          </a:bodyPr>
          <a:lstStyle/>
          <a:p>
            <a:pPr algn="l"/>
            <a:r>
              <a:rPr sz="1300" b="1" i="0" spc="200">
                <a:solidFill>
                  <a:srgbClr val="E7C766"/>
                </a:solidFill>
                <a:latin typeface="Inter"/>
              </a:rPr>
              <a:t>TELL</a:t>
            </a:r>
          </a:p>
          <a:p>
            <a:pPr algn="l">
              <a:lnSpc>
                <a:spcPct val="115000"/>
              </a:lnSpc>
              <a:spcBef>
                <a:spcPts val="100"/>
              </a:spcBef>
            </a:pPr>
            <a:r>
              <a:rPr sz="1000" b="0" i="1">
                <a:solidFill>
                  <a:srgbClr val="B8B2A0"/>
                </a:solidFill>
                <a:latin typeface="Inter"/>
              </a:rPr>
              <a:t>you move, then gather</a:t>
            </a:r>
          </a:p>
        </p:txBody>
      </p:sp>
      <p:sp>
        <p:nvSpPr>
          <p:cNvPr id="46" name="TextBox 45"/>
          <p:cNvSpPr txBox="1"/>
          <p:nvPr/>
        </p:nvSpPr>
        <p:spPr>
          <a:xfrm>
            <a:off x="3340100" y="2336800"/>
            <a:ext cx="2692400" cy="838200"/>
          </a:xfrm>
          <a:prstGeom prst="rect">
            <a:avLst/>
          </a:prstGeom>
          <a:noFill/>
        </p:spPr>
        <p:txBody>
          <a:bodyPr wrap="square" lIns="0" rIns="0" tIns="0" bIns="0" anchor="t">
            <a:spAutoFit/>
          </a:bodyPr>
          <a:lstStyle/>
          <a:p>
            <a:pPr algn="ctr"/>
            <a:r>
              <a:rPr sz="3000" b="1" i="0">
                <a:solidFill>
                  <a:srgbClr val="E7C766"/>
                </a:solidFill>
                <a:latin typeface="Playfair Display"/>
              </a:rPr>
              <a:t>ACCURACY</a:t>
            </a:r>
          </a:p>
          <a:p>
            <a:pPr algn="ctr">
              <a:lnSpc>
                <a:spcPct val="120000"/>
              </a:lnSpc>
              <a:spcBef>
                <a:spcPts val="300"/>
              </a:spcBef>
            </a:pPr>
            <a:r>
              <a:rPr sz="1100" b="0" i="0">
                <a:solidFill>
                  <a:srgbClr val="E8E2D2"/>
                </a:solidFill>
                <a:latin typeface="Inter"/>
              </a:rPr>
              <a:t>Show me the reasoning before the recommendation.</a:t>
            </a:r>
          </a:p>
        </p:txBody>
      </p:sp>
      <p:sp>
        <p:nvSpPr>
          <p:cNvPr id="47" name="TextBox 46"/>
          <p:cNvSpPr txBox="1"/>
          <p:nvPr/>
        </p:nvSpPr>
        <p:spPr>
          <a:xfrm>
            <a:off x="6159500" y="2336800"/>
            <a:ext cx="2692400" cy="838200"/>
          </a:xfrm>
          <a:prstGeom prst="rect">
            <a:avLst/>
          </a:prstGeom>
          <a:noFill/>
        </p:spPr>
        <p:txBody>
          <a:bodyPr wrap="square" lIns="0" rIns="0" tIns="0" bIns="0" anchor="t">
            <a:spAutoFit/>
          </a:bodyPr>
          <a:lstStyle/>
          <a:p>
            <a:pPr algn="ctr"/>
            <a:r>
              <a:rPr sz="3000" b="1" i="0">
                <a:solidFill>
                  <a:srgbClr val="E7C766"/>
                </a:solidFill>
                <a:latin typeface="Playfair Display"/>
              </a:rPr>
              <a:t>TIME</a:t>
            </a:r>
          </a:p>
          <a:p>
            <a:pPr algn="ctr">
              <a:lnSpc>
                <a:spcPct val="120000"/>
              </a:lnSpc>
              <a:spcBef>
                <a:spcPts val="300"/>
              </a:spcBef>
            </a:pPr>
            <a:r>
              <a:rPr sz="1100" b="0" i="0">
                <a:solidFill>
                  <a:srgbClr val="E8E2D2"/>
                </a:solidFill>
                <a:latin typeface="Inter"/>
              </a:rPr>
              <a:t>Do not explain it. Close it.</a:t>
            </a:r>
          </a:p>
        </p:txBody>
      </p:sp>
      <p:sp>
        <p:nvSpPr>
          <p:cNvPr id="48" name="TextBox 47"/>
          <p:cNvSpPr txBox="1"/>
          <p:nvPr/>
        </p:nvSpPr>
        <p:spPr>
          <a:xfrm>
            <a:off x="6159500" y="4394200"/>
            <a:ext cx="2692400" cy="838200"/>
          </a:xfrm>
          <a:prstGeom prst="rect">
            <a:avLst/>
          </a:prstGeom>
          <a:noFill/>
        </p:spPr>
        <p:txBody>
          <a:bodyPr wrap="square" lIns="0" rIns="0" tIns="0" bIns="0" anchor="t">
            <a:spAutoFit/>
          </a:bodyPr>
          <a:lstStyle/>
          <a:p>
            <a:pPr algn="ctr"/>
            <a:r>
              <a:rPr sz="3000" b="1" i="0">
                <a:solidFill>
                  <a:srgbClr val="E7C766"/>
                </a:solidFill>
                <a:latin typeface="Playfair Display"/>
              </a:rPr>
              <a:t>VISION</a:t>
            </a:r>
          </a:p>
          <a:p>
            <a:pPr algn="ctr">
              <a:lnSpc>
                <a:spcPct val="120000"/>
              </a:lnSpc>
              <a:spcBef>
                <a:spcPts val="300"/>
              </a:spcBef>
            </a:pPr>
            <a:r>
              <a:rPr sz="1100" b="0" i="0">
                <a:solidFill>
                  <a:srgbClr val="E8E2D2"/>
                </a:solidFill>
                <a:latin typeface="Inter"/>
              </a:rPr>
              <a:t>Where else could this go?</a:t>
            </a:r>
          </a:p>
        </p:txBody>
      </p:sp>
      <p:sp>
        <p:nvSpPr>
          <p:cNvPr id="49" name="TextBox 48"/>
          <p:cNvSpPr txBox="1"/>
          <p:nvPr/>
        </p:nvSpPr>
        <p:spPr>
          <a:xfrm>
            <a:off x="3340100" y="4394200"/>
            <a:ext cx="2692400" cy="838200"/>
          </a:xfrm>
          <a:prstGeom prst="rect">
            <a:avLst/>
          </a:prstGeom>
          <a:noFill/>
        </p:spPr>
        <p:txBody>
          <a:bodyPr wrap="square" lIns="0" rIns="0" tIns="0" bIns="0" anchor="t">
            <a:spAutoFit/>
          </a:bodyPr>
          <a:lstStyle/>
          <a:p>
            <a:pPr algn="ctr"/>
            <a:r>
              <a:rPr sz="3000" b="1" i="0">
                <a:solidFill>
                  <a:srgbClr val="E7C766"/>
                </a:solidFill>
                <a:latin typeface="Playfair Display"/>
              </a:rPr>
              <a:t>TRUST</a:t>
            </a:r>
          </a:p>
          <a:p>
            <a:pPr algn="ctr">
              <a:lnSpc>
                <a:spcPct val="120000"/>
              </a:lnSpc>
              <a:spcBef>
                <a:spcPts val="300"/>
              </a:spcBef>
            </a:pPr>
            <a:r>
              <a:rPr sz="1100" b="0" i="0">
                <a:solidFill>
                  <a:srgbClr val="E8E2D2"/>
                </a:solidFill>
                <a:latin typeface="Inter"/>
              </a:rPr>
              <a:t>Who does this touch, and do they know yet?</a:t>
            </a:r>
          </a:p>
        </p:txBody>
      </p:sp>
      <p:sp>
        <p:nvSpPr>
          <p:cNvPr id="50" name="Rectangle 49"/>
          <p:cNvSpPr/>
          <p:nvPr/>
        </p:nvSpPr>
        <p:spPr>
          <a:xfrm>
            <a:off x="812800" y="6146800"/>
            <a:ext cx="10566400" cy="40640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a:lstStyle/>
          <a:p>
            <a:pPr algn="ctr"/>
            <a:r>
              <a:rPr sz="1050" b="0" i="0">
                <a:solidFill>
                  <a:srgbClr val="14213D"/>
                </a:solidFill>
                <a:latin typeface="Inter"/>
              </a:rPr>
              <a:t>Research from the early 1960s, and still the most useful map of an executive there is. You will recognize yourself in two of these. Most of us are one on a calm day and another on a hard one.</a:t>
            </a:r>
          </a:p>
        </p:txBody>
      </p:sp>
      <p:sp>
        <p:nvSpPr>
          <p:cNvPr id="51" name="TextBox 50"/>
          <p:cNvSpPr txBox="1"/>
          <p:nvPr/>
        </p:nvSpPr>
        <p:spPr>
          <a:xfrm>
            <a:off x="812800" y="6604000"/>
            <a:ext cx="10566400" cy="177800"/>
          </a:xfrm>
          <a:prstGeom prst="rect">
            <a:avLst/>
          </a:prstGeom>
          <a:noFill/>
        </p:spPr>
        <p:txBody>
          <a:bodyPr wrap="square" lIns="0" rIns="0" tIns="0" bIns="0" anchor="t">
            <a:spAutoFit/>
          </a:bodyPr>
          <a:lstStyle/>
          <a:p>
            <a:pPr algn="r"/>
            <a:r>
              <a:rPr sz="850" b="0" i="1">
                <a:solidFill>
                  <a:srgbClr val="B8B2A0"/>
                </a:solidFill>
                <a:latin typeface="Inter"/>
              </a:rPr>
              <a:t>Merrill &amp; Reid, Personal Styles and Effective Performance (1981), from research begun in the early 1960s.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42" name="Shape 42"/>
        <p:cNvGrpSpPr/>
        <p:nvPr/>
      </p:nvGrpSpPr>
      <p:grpSpPr>
        <a:xfrm>
          <a:off x="0" y="0"/>
          <a:ext cx="0" cy="0"/>
          <a:chOff x="0" y="0"/>
          <a:chExt cx="0" cy="0"/>
        </a:xfrm>
      </p:grpSpPr>
      <p:sp>
        <p:nvSpPr>
          <p:cNvPr id="43" name="TextBox 42"/>
          <p:cNvSpPr txBox="1"/>
          <p:nvPr/>
        </p:nvSpPr>
        <p:spPr>
          <a:xfrm>
            <a:off x="812800" y="482600"/>
            <a:ext cx="10566400" cy="254000"/>
          </a:xfrm>
          <a:prstGeom prst="rect">
            <a:avLst/>
          </a:prstGeom>
          <a:noFill/>
        </p:spPr>
        <p:txBody>
          <a:bodyPr wrap="square" lIns="0" rIns="0" tIns="0" bIns="0" anchor="t">
            <a:spAutoFit/>
          </a:bodyPr>
          <a:lstStyle/>
          <a:p>
            <a:pPr algn="l"/>
            <a:r>
              <a:rPr sz="1250" b="1" i="0" spc="220">
                <a:solidFill>
                  <a:srgbClr val="A31621"/>
                </a:solidFill>
                <a:latin typeface="Inter"/>
              </a:rPr>
              <a:t>SO HERE IS YOUR ASSIGNMENT</a:t>
            </a:r>
          </a:p>
        </p:txBody>
      </p:sp>
      <p:sp>
        <p:nvSpPr>
          <p:cNvPr id="44" name="TextBox 43"/>
          <p:cNvSpPr txBox="1"/>
          <p:nvPr/>
        </p:nvSpPr>
        <p:spPr>
          <a:xfrm>
            <a:off x="812800" y="787400"/>
            <a:ext cx="10566400" cy="508000"/>
          </a:xfrm>
          <a:prstGeom prst="rect">
            <a:avLst/>
          </a:prstGeom>
          <a:noFill/>
        </p:spPr>
        <p:txBody>
          <a:bodyPr wrap="square" lIns="0" rIns="0" tIns="0" bIns="0" anchor="t">
            <a:spAutoFit/>
          </a:bodyPr>
          <a:lstStyle/>
          <a:p>
            <a:pPr algn="l">
              <a:lnSpc>
                <a:spcPct val="98000"/>
              </a:lnSpc>
            </a:pPr>
            <a:r>
              <a:rPr sz="3000" b="1" i="0">
                <a:solidFill>
                  <a:srgbClr val="14213D"/>
                </a:solidFill>
                <a:latin typeface="Playfair Display"/>
              </a:rPr>
              <a:t>Four ways to spend the next hour. All four are correct.</a:t>
            </a:r>
          </a:p>
        </p:txBody>
      </p:sp>
      <p:cxnSp>
        <p:nvCxnSpPr>
          <p:cNvPr id="45" name="Connector 44"/>
          <p:cNvCxnSpPr/>
          <p:nvPr/>
        </p:nvCxnSpPr>
        <p:spPr>
          <a:xfrm>
            <a:off x="812800" y="1346200"/>
            <a:ext cx="5130800" cy="0"/>
          </a:xfrm>
          <a:prstGeom prst="line">
            <a:avLst/>
          </a:prstGeom>
          <a:ln w="9525">
            <a:solidFill>
              <a:srgbClr val="8A6D14"/>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12800" y="1422400"/>
            <a:ext cx="5130800" cy="304800"/>
          </a:xfrm>
          <a:prstGeom prst="rect">
            <a:avLst/>
          </a:prstGeom>
          <a:noFill/>
        </p:spPr>
        <p:txBody>
          <a:bodyPr wrap="square" lIns="0" rIns="0" tIns="0" bIns="0" anchor="t">
            <a:spAutoFit/>
          </a:bodyPr>
          <a:lstStyle/>
          <a:p>
            <a:pPr algn="l"/>
            <a:r>
              <a:rPr sz="2100" b="1" i="0">
                <a:solidFill>
                  <a:srgbClr val="14213D"/>
                </a:solidFill>
                <a:latin typeface="Playfair Display"/>
              </a:rPr>
              <a:t>ACCURACY</a:t>
            </a:r>
          </a:p>
        </p:txBody>
      </p:sp>
      <p:sp>
        <p:nvSpPr>
          <p:cNvPr id="47" name="TextBox 46"/>
          <p:cNvSpPr txBox="1"/>
          <p:nvPr/>
        </p:nvSpPr>
        <p:spPr>
          <a:xfrm>
            <a:off x="812800" y="1778000"/>
            <a:ext cx="5130800" cy="1879600"/>
          </a:xfrm>
          <a:prstGeom prst="rect">
            <a:avLst/>
          </a:prstGeom>
          <a:noFill/>
        </p:spPr>
        <p:txBody>
          <a:bodyPr wrap="square" lIns="0" rIns="0" tIns="0" bIns="0" anchor="t">
            <a:spAutoFit/>
          </a:bodyPr>
          <a:lstStyle/>
          <a:p>
            <a:pPr algn="l">
              <a:lnSpc>
                <a:spcPct val="120000"/>
              </a:lnSpc>
            </a:pPr>
            <a:r>
              <a:rPr sz="1050" b="1" i="0">
                <a:solidFill>
                  <a:srgbClr val="8A6D14"/>
                </a:solidFill>
                <a:latin typeface="Inter"/>
              </a:rPr>
              <a:t>You will notice: </a:t>
            </a:r>
            <a:r>
              <a:rPr sz="1050" b="0" i="0">
                <a:solidFill>
                  <a:srgbClr val="2A3244"/>
                </a:solidFill>
                <a:latin typeface="Inter"/>
              </a:rPr>
              <a:t>You will not trust the triage until you know why each email landed where it did.</a:t>
            </a:r>
          </a:p>
          <a:p>
            <a:pPr algn="l">
              <a:lnSpc>
                <a:spcPct val="120000"/>
              </a:lnSpc>
              <a:spcBef>
                <a:spcPts val="400"/>
              </a:spcBef>
            </a:pPr>
            <a:r>
              <a:rPr sz="1050" b="1" i="0">
                <a:solidFill>
                  <a:srgbClr val="8A6D14"/>
                </a:solidFill>
                <a:latin typeface="Inter"/>
              </a:rPr>
              <a:t>Spend your time on: </a:t>
            </a:r>
            <a:r>
              <a:rPr sz="1050" b="0" i="0">
                <a:solidFill>
                  <a:srgbClr val="2A3244"/>
                </a:solidFill>
                <a:latin typeface="Inter"/>
              </a:rPr>
              <a:t>The reasoning. Write the most specific rules in the room.</a:t>
            </a:r>
          </a:p>
          <a:p>
            <a:pPr algn="l">
              <a:lnSpc>
                <a:spcPct val="120000"/>
              </a:lnSpc>
              <a:spcBef>
                <a:spcPts val="400"/>
              </a:spcBef>
            </a:pPr>
            <a:r>
              <a:rPr sz="1050" b="1" i="0">
                <a:solidFill>
                  <a:srgbClr val="8A6D14"/>
                </a:solidFill>
                <a:latin typeface="Inter"/>
              </a:rPr>
              <a:t>You leave with: </a:t>
            </a:r>
            <a:r>
              <a:rPr sz="1050" b="0" i="0">
                <a:solidFill>
                  <a:srgbClr val="2A3244"/>
                </a:solidFill>
                <a:latin typeface="Inter"/>
              </a:rPr>
              <a:t>A skill file precise enough to defend in a review.</a:t>
            </a:r>
          </a:p>
          <a:p>
            <a:pPr algn="l">
              <a:lnSpc>
                <a:spcPct val="120000"/>
              </a:lnSpc>
              <a:spcBef>
                <a:spcPts val="400"/>
              </a:spcBef>
            </a:pPr>
            <a:r>
              <a:rPr sz="1050" b="1" i="0">
                <a:solidFill>
                  <a:srgbClr val="A31621"/>
                </a:solidFill>
                <a:latin typeface="Inter"/>
              </a:rPr>
              <a:t>Watch out: </a:t>
            </a:r>
            <a:r>
              <a:rPr sz="1050" b="0" i="0">
                <a:solidFill>
                  <a:srgbClr val="2A3244"/>
                </a:solidFill>
                <a:latin typeface="Inter"/>
              </a:rPr>
              <a:t>You will want to perfect the file before running it. Run it dirty once. The mistakes are the fastest edit list you will ever get.</a:t>
            </a:r>
          </a:p>
        </p:txBody>
      </p:sp>
      <p:cxnSp>
        <p:nvCxnSpPr>
          <p:cNvPr id="48" name="Connector 47"/>
          <p:cNvCxnSpPr/>
          <p:nvPr/>
        </p:nvCxnSpPr>
        <p:spPr>
          <a:xfrm>
            <a:off x="6248400" y="1346200"/>
            <a:ext cx="5130800" cy="0"/>
          </a:xfrm>
          <a:prstGeom prst="line">
            <a:avLst/>
          </a:prstGeom>
          <a:ln w="9525">
            <a:solidFill>
              <a:srgbClr val="8A6D14"/>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248400" y="1422400"/>
            <a:ext cx="5130800" cy="304800"/>
          </a:xfrm>
          <a:prstGeom prst="rect">
            <a:avLst/>
          </a:prstGeom>
          <a:noFill/>
        </p:spPr>
        <p:txBody>
          <a:bodyPr wrap="square" lIns="0" rIns="0" tIns="0" bIns="0" anchor="t">
            <a:spAutoFit/>
          </a:bodyPr>
          <a:lstStyle/>
          <a:p>
            <a:pPr algn="l"/>
            <a:r>
              <a:rPr sz="2100" b="1" i="0">
                <a:solidFill>
                  <a:srgbClr val="14213D"/>
                </a:solidFill>
                <a:latin typeface="Playfair Display"/>
              </a:rPr>
              <a:t>TIME</a:t>
            </a:r>
          </a:p>
        </p:txBody>
      </p:sp>
      <p:sp>
        <p:nvSpPr>
          <p:cNvPr id="50" name="TextBox 49"/>
          <p:cNvSpPr txBox="1"/>
          <p:nvPr/>
        </p:nvSpPr>
        <p:spPr>
          <a:xfrm>
            <a:off x="6248400" y="1778000"/>
            <a:ext cx="5130800" cy="1879600"/>
          </a:xfrm>
          <a:prstGeom prst="rect">
            <a:avLst/>
          </a:prstGeom>
          <a:noFill/>
        </p:spPr>
        <p:txBody>
          <a:bodyPr wrap="square" lIns="0" rIns="0" tIns="0" bIns="0" anchor="t">
            <a:spAutoFit/>
          </a:bodyPr>
          <a:lstStyle/>
          <a:p>
            <a:pPr algn="l">
              <a:lnSpc>
                <a:spcPct val="120000"/>
              </a:lnSpc>
            </a:pPr>
            <a:r>
              <a:rPr sz="1050" b="1" i="0">
                <a:solidFill>
                  <a:srgbClr val="8A6D14"/>
                </a:solidFill>
                <a:latin typeface="Inter"/>
              </a:rPr>
              <a:t>You will notice: </a:t>
            </a:r>
            <a:r>
              <a:rPr sz="1050" b="0" i="0">
                <a:solidFill>
                  <a:srgbClr val="2A3244"/>
                </a:solidFill>
                <a:latin typeface="Inter"/>
              </a:rPr>
              <a:t>You will want it scheduled and running before I finish the sentence.</a:t>
            </a:r>
          </a:p>
          <a:p>
            <a:pPr algn="l">
              <a:lnSpc>
                <a:spcPct val="120000"/>
              </a:lnSpc>
              <a:spcBef>
                <a:spcPts val="400"/>
              </a:spcBef>
            </a:pPr>
            <a:r>
              <a:rPr sz="1050" b="1" i="0">
                <a:solidFill>
                  <a:srgbClr val="8A6D14"/>
                </a:solidFill>
                <a:latin typeface="Inter"/>
              </a:rPr>
              <a:t>Spend your time on: </a:t>
            </a:r>
            <a:r>
              <a:rPr sz="1050" b="0" i="0">
                <a:solidFill>
                  <a:srgbClr val="2A3244"/>
                </a:solidFill>
                <a:latin typeface="Inter"/>
              </a:rPr>
              <a:t>Getting to the scheduled task. Then come back and tighten the file.</a:t>
            </a:r>
          </a:p>
          <a:p>
            <a:pPr algn="l">
              <a:lnSpc>
                <a:spcPct val="120000"/>
              </a:lnSpc>
              <a:spcBef>
                <a:spcPts val="400"/>
              </a:spcBef>
            </a:pPr>
            <a:r>
              <a:rPr sz="1050" b="1" i="0">
                <a:solidFill>
                  <a:srgbClr val="8A6D14"/>
                </a:solidFill>
                <a:latin typeface="Inter"/>
              </a:rPr>
              <a:t>You leave with: </a:t>
            </a:r>
            <a:r>
              <a:rPr sz="1050" b="0" i="0">
                <a:solidFill>
                  <a:srgbClr val="2A3244"/>
                </a:solidFill>
                <a:latin typeface="Inter"/>
              </a:rPr>
              <a:t>A running agent and a 4:54 briefing, today.</a:t>
            </a:r>
          </a:p>
          <a:p>
            <a:pPr algn="l">
              <a:lnSpc>
                <a:spcPct val="120000"/>
              </a:lnSpc>
              <a:spcBef>
                <a:spcPts val="400"/>
              </a:spcBef>
            </a:pPr>
            <a:r>
              <a:rPr sz="1050" b="1" i="0">
                <a:solidFill>
                  <a:srgbClr val="A31621"/>
                </a:solidFill>
                <a:latin typeface="Inter"/>
              </a:rPr>
              <a:t>Watch out: </a:t>
            </a:r>
            <a:r>
              <a:rPr sz="1050" b="0" i="0">
                <a:solidFill>
                  <a:srgbClr val="2A3244"/>
                </a:solidFill>
                <a:latin typeface="Inter"/>
              </a:rPr>
              <a:t>A thin file scales thin judgment. The ten minutes on your delegates blank is the highest-return ten minutes of the afternoon.</a:t>
            </a:r>
          </a:p>
        </p:txBody>
      </p:sp>
      <p:cxnSp>
        <p:nvCxnSpPr>
          <p:cNvPr id="51" name="Connector 50"/>
          <p:cNvCxnSpPr/>
          <p:nvPr/>
        </p:nvCxnSpPr>
        <p:spPr>
          <a:xfrm>
            <a:off x="812800" y="3683000"/>
            <a:ext cx="5130800" cy="0"/>
          </a:xfrm>
          <a:prstGeom prst="line">
            <a:avLst/>
          </a:prstGeom>
          <a:ln w="9525">
            <a:solidFill>
              <a:srgbClr val="8A6D14"/>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12800" y="3759200"/>
            <a:ext cx="5130800" cy="304800"/>
          </a:xfrm>
          <a:prstGeom prst="rect">
            <a:avLst/>
          </a:prstGeom>
          <a:noFill/>
        </p:spPr>
        <p:txBody>
          <a:bodyPr wrap="square" lIns="0" rIns="0" tIns="0" bIns="0" anchor="t">
            <a:spAutoFit/>
          </a:bodyPr>
          <a:lstStyle/>
          <a:p>
            <a:pPr algn="l"/>
            <a:r>
              <a:rPr sz="2100" b="1" i="0">
                <a:solidFill>
                  <a:srgbClr val="14213D"/>
                </a:solidFill>
                <a:latin typeface="Playfair Display"/>
              </a:rPr>
              <a:t>TRUST</a:t>
            </a:r>
          </a:p>
        </p:txBody>
      </p:sp>
      <p:sp>
        <p:nvSpPr>
          <p:cNvPr id="53" name="TextBox 52"/>
          <p:cNvSpPr txBox="1"/>
          <p:nvPr/>
        </p:nvSpPr>
        <p:spPr>
          <a:xfrm>
            <a:off x="812800" y="4114800"/>
            <a:ext cx="5130800" cy="1879600"/>
          </a:xfrm>
          <a:prstGeom prst="rect">
            <a:avLst/>
          </a:prstGeom>
          <a:noFill/>
        </p:spPr>
        <p:txBody>
          <a:bodyPr wrap="square" lIns="0" rIns="0" tIns="0" bIns="0" anchor="t">
            <a:spAutoFit/>
          </a:bodyPr>
          <a:lstStyle/>
          <a:p>
            <a:pPr algn="l">
              <a:lnSpc>
                <a:spcPct val="120000"/>
              </a:lnSpc>
            </a:pPr>
            <a:r>
              <a:rPr sz="1050" b="1" i="0">
                <a:solidFill>
                  <a:srgbClr val="8A6D14"/>
                </a:solidFill>
                <a:latin typeface="Inter"/>
              </a:rPr>
              <a:t>You will notice: </a:t>
            </a:r>
            <a:r>
              <a:rPr sz="1050" b="0" i="0">
                <a:solidFill>
                  <a:srgbClr val="2A3244"/>
                </a:solidFill>
                <a:latin typeface="Inter"/>
              </a:rPr>
              <a:t>Your first question is who this touches and whether it sounds like you.</a:t>
            </a:r>
          </a:p>
          <a:p>
            <a:pPr algn="l">
              <a:lnSpc>
                <a:spcPct val="120000"/>
              </a:lnSpc>
              <a:spcBef>
                <a:spcPts val="400"/>
              </a:spcBef>
            </a:pPr>
            <a:r>
              <a:rPr sz="1050" b="1" i="0">
                <a:solidFill>
                  <a:srgbClr val="8A6D14"/>
                </a:solidFill>
                <a:latin typeface="Inter"/>
              </a:rPr>
              <a:t>Spend your time on: </a:t>
            </a:r>
            <a:r>
              <a:rPr sz="1050" b="0" i="0">
                <a:solidFill>
                  <a:srgbClr val="2A3244"/>
                </a:solidFill>
                <a:latin typeface="Inter"/>
              </a:rPr>
              <a:t>Voice, and the delegate handoff notes.</a:t>
            </a:r>
          </a:p>
          <a:p>
            <a:pPr algn="l">
              <a:lnSpc>
                <a:spcPct val="120000"/>
              </a:lnSpc>
              <a:spcBef>
                <a:spcPts val="400"/>
              </a:spcBef>
            </a:pPr>
            <a:r>
              <a:rPr sz="1050" b="1" i="0">
                <a:solidFill>
                  <a:srgbClr val="8A6D14"/>
                </a:solidFill>
                <a:latin typeface="Inter"/>
              </a:rPr>
              <a:t>You leave with: </a:t>
            </a:r>
            <a:r>
              <a:rPr sz="1050" b="0" i="0">
                <a:solidFill>
                  <a:srgbClr val="2A3244"/>
                </a:solidFill>
                <a:latin typeface="Inter"/>
              </a:rPr>
              <a:t>Drafts your people would believe you wrote.</a:t>
            </a:r>
          </a:p>
          <a:p>
            <a:pPr algn="l">
              <a:lnSpc>
                <a:spcPct val="120000"/>
              </a:lnSpc>
              <a:spcBef>
                <a:spcPts val="400"/>
              </a:spcBef>
            </a:pPr>
            <a:r>
              <a:rPr sz="1050" b="1" i="0">
                <a:solidFill>
                  <a:srgbClr val="A31621"/>
                </a:solidFill>
                <a:latin typeface="Inter"/>
              </a:rPr>
              <a:t>Watch out: </a:t>
            </a:r>
            <a:r>
              <a:rPr sz="1050" b="0" i="0">
                <a:solidFill>
                  <a:srgbClr val="2A3244"/>
                </a:solidFill>
                <a:latin typeface="Inter"/>
              </a:rPr>
              <a:t>You will hesitate to let it write to real humans. It never sends and it never deletes. Nothing leaves without your click.</a:t>
            </a:r>
          </a:p>
        </p:txBody>
      </p:sp>
      <p:cxnSp>
        <p:nvCxnSpPr>
          <p:cNvPr id="54" name="Connector 53"/>
          <p:cNvCxnSpPr/>
          <p:nvPr/>
        </p:nvCxnSpPr>
        <p:spPr>
          <a:xfrm>
            <a:off x="6248400" y="3683000"/>
            <a:ext cx="5130800" cy="0"/>
          </a:xfrm>
          <a:prstGeom prst="line">
            <a:avLst/>
          </a:prstGeom>
          <a:ln w="9525">
            <a:solidFill>
              <a:srgbClr val="8A6D14"/>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8400" y="3759200"/>
            <a:ext cx="5130800" cy="304800"/>
          </a:xfrm>
          <a:prstGeom prst="rect">
            <a:avLst/>
          </a:prstGeom>
          <a:noFill/>
        </p:spPr>
        <p:txBody>
          <a:bodyPr wrap="square" lIns="0" rIns="0" tIns="0" bIns="0" anchor="t">
            <a:spAutoFit/>
          </a:bodyPr>
          <a:lstStyle/>
          <a:p>
            <a:pPr algn="l"/>
            <a:r>
              <a:rPr sz="2100" b="1" i="0">
                <a:solidFill>
                  <a:srgbClr val="14213D"/>
                </a:solidFill>
                <a:latin typeface="Playfair Display"/>
              </a:rPr>
              <a:t>VISION</a:t>
            </a:r>
          </a:p>
        </p:txBody>
      </p:sp>
      <p:sp>
        <p:nvSpPr>
          <p:cNvPr id="56" name="TextBox 55"/>
          <p:cNvSpPr txBox="1"/>
          <p:nvPr/>
        </p:nvSpPr>
        <p:spPr>
          <a:xfrm>
            <a:off x="6248400" y="4114800"/>
            <a:ext cx="5130800" cy="1879600"/>
          </a:xfrm>
          <a:prstGeom prst="rect">
            <a:avLst/>
          </a:prstGeom>
          <a:noFill/>
        </p:spPr>
        <p:txBody>
          <a:bodyPr wrap="square" lIns="0" rIns="0" tIns="0" bIns="0" anchor="t">
            <a:spAutoFit/>
          </a:bodyPr>
          <a:lstStyle/>
          <a:p>
            <a:pPr algn="l">
              <a:lnSpc>
                <a:spcPct val="120000"/>
              </a:lnSpc>
            </a:pPr>
            <a:r>
              <a:rPr sz="1050" b="1" i="0">
                <a:solidFill>
                  <a:srgbClr val="8A6D14"/>
                </a:solidFill>
                <a:latin typeface="Inter"/>
              </a:rPr>
              <a:t>You will notice: </a:t>
            </a:r>
            <a:r>
              <a:rPr sz="1050" b="0" i="0">
                <a:solidFill>
                  <a:srgbClr val="2A3244"/>
                </a:solidFill>
                <a:latin typeface="Inter"/>
              </a:rPr>
              <a:t>By Case File 02 you will stop thinking about email and start listing everything else.</a:t>
            </a:r>
          </a:p>
          <a:p>
            <a:pPr algn="l">
              <a:lnSpc>
                <a:spcPct val="120000"/>
              </a:lnSpc>
              <a:spcBef>
                <a:spcPts val="400"/>
              </a:spcBef>
            </a:pPr>
            <a:r>
              <a:rPr sz="1050" b="1" i="0">
                <a:solidFill>
                  <a:srgbClr val="8A6D14"/>
                </a:solidFill>
                <a:latin typeface="Inter"/>
              </a:rPr>
              <a:t>Spend your time on: </a:t>
            </a:r>
            <a:r>
              <a:rPr sz="1050" b="0" i="0">
                <a:solidFill>
                  <a:srgbClr val="2A3244"/>
                </a:solidFill>
                <a:latin typeface="Inter"/>
              </a:rPr>
              <a:t>Keeping that list. It is your contribution at 3:30.</a:t>
            </a:r>
          </a:p>
          <a:p>
            <a:pPr algn="l">
              <a:lnSpc>
                <a:spcPct val="120000"/>
              </a:lnSpc>
              <a:spcBef>
                <a:spcPts val="400"/>
              </a:spcBef>
            </a:pPr>
            <a:r>
              <a:rPr sz="1050" b="1" i="0">
                <a:solidFill>
                  <a:srgbClr val="8A6D14"/>
                </a:solidFill>
                <a:latin typeface="Inter"/>
              </a:rPr>
              <a:t>You leave with: </a:t>
            </a:r>
            <a:r>
              <a:rPr sz="1050" b="0" i="0">
                <a:solidFill>
                  <a:srgbClr val="2A3244"/>
                </a:solidFill>
                <a:latin typeface="Inter"/>
              </a:rPr>
              <a:t>A repeatable method and the first three candidates in your business.</a:t>
            </a:r>
          </a:p>
          <a:p>
            <a:pPr algn="l">
              <a:lnSpc>
                <a:spcPct val="120000"/>
              </a:lnSpc>
              <a:spcBef>
                <a:spcPts val="400"/>
              </a:spcBef>
            </a:pPr>
            <a:r>
              <a:rPr sz="1050" b="1" i="0">
                <a:solidFill>
                  <a:srgbClr val="A31621"/>
                </a:solidFill>
                <a:latin typeface="Inter"/>
              </a:rPr>
              <a:t>Watch out: </a:t>
            </a:r>
            <a:r>
              <a:rPr sz="1050" b="0" i="0">
                <a:solidFill>
                  <a:srgbClr val="2A3244"/>
                </a:solidFill>
                <a:latin typeface="Inter"/>
              </a:rPr>
              <a:t>You will want to build the exciting one instead of finishing the boring one. Finish the inbox. It is your reference implementation.</a:t>
            </a:r>
          </a:p>
        </p:txBody>
      </p:sp>
      <p:sp>
        <p:nvSpPr>
          <p:cNvPr id="57" name="Rectangle 56"/>
          <p:cNvSpPr/>
          <p:nvPr/>
        </p:nvSpPr>
        <p:spPr>
          <a:xfrm>
            <a:off x="812800" y="6070600"/>
            <a:ext cx="10566400" cy="1143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2800" y="5867400"/>
            <a:ext cx="3810000" cy="177800"/>
          </a:xfrm>
          <a:prstGeom prst="rect">
            <a:avLst/>
          </a:prstGeom>
          <a:noFill/>
        </p:spPr>
        <p:txBody>
          <a:bodyPr wrap="square" lIns="0" rIns="0" tIns="0" bIns="0" anchor="t">
            <a:spAutoFit/>
          </a:bodyPr>
          <a:lstStyle/>
          <a:p>
            <a:pPr algn="l"/>
            <a:r>
              <a:rPr sz="1000" b="1" i="0" spc="160">
                <a:solidFill>
                  <a:srgbClr val="14213D"/>
                </a:solidFill>
                <a:latin typeface="Inter"/>
              </a:rPr>
              <a:t>I WILL BUILD IT MYSELF</a:t>
            </a:r>
          </a:p>
        </p:txBody>
      </p:sp>
      <p:sp>
        <p:nvSpPr>
          <p:cNvPr id="59" name="TextBox 58"/>
          <p:cNvSpPr txBox="1"/>
          <p:nvPr/>
        </p:nvSpPr>
        <p:spPr>
          <a:xfrm>
            <a:off x="7569200" y="5867400"/>
            <a:ext cx="3810000" cy="177800"/>
          </a:xfrm>
          <a:prstGeom prst="rect">
            <a:avLst/>
          </a:prstGeom>
          <a:noFill/>
        </p:spPr>
        <p:txBody>
          <a:bodyPr wrap="square" lIns="0" rIns="0" tIns="0" bIns="0" anchor="t">
            <a:spAutoFit/>
          </a:bodyPr>
          <a:lstStyle/>
          <a:p>
            <a:pPr algn="r"/>
            <a:r>
              <a:rPr sz="1000" b="1" i="0" spc="160">
                <a:solidFill>
                  <a:srgbClr val="14213D"/>
                </a:solidFill>
                <a:latin typeface="Inter"/>
              </a:rPr>
              <a:t>I WILL HAND IT OFF</a:t>
            </a:r>
          </a:p>
        </p:txBody>
      </p:sp>
      <p:sp>
        <p:nvSpPr>
          <p:cNvPr id="60" name="TextBox 59"/>
          <p:cNvSpPr txBox="1"/>
          <p:nvPr/>
        </p:nvSpPr>
        <p:spPr>
          <a:xfrm>
            <a:off x="812800" y="6299200"/>
            <a:ext cx="10566400" cy="508000"/>
          </a:xfrm>
          <a:prstGeom prst="rect">
            <a:avLst/>
          </a:prstGeom>
          <a:noFill/>
        </p:spPr>
        <p:txBody>
          <a:bodyPr wrap="square" lIns="0" rIns="0" tIns="0" bIns="0" anchor="t">
            <a:spAutoFit/>
          </a:bodyPr>
          <a:lstStyle/>
          <a:p>
            <a:pPr algn="ctr">
              <a:lnSpc>
                <a:spcPct val="122000"/>
              </a:lnSpc>
            </a:pPr>
            <a:r>
              <a:rPr sz="1050" b="0" i="1">
                <a:solidFill>
                  <a:srgbClr val="5A6070"/>
                </a:solidFill>
                <a:latin typeface="Inter"/>
              </a:rPr>
              <a:t>Both ends of this room leave with something. Builders leave with a running agent. Delegators leave with a written specification and the job description of the person who should run it. Neither is the lesser outcome. </a:t>
            </a:r>
            <a:r>
              <a:rPr sz="1050" b="1" i="1">
                <a:solidFill>
                  <a:srgbClr val="A31621"/>
                </a:solidFill>
                <a:latin typeface="Inter"/>
              </a:rPr>
              <a:t>What nobody can skip is the document itself.</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33" name="Shape 33"/>
        <p:cNvGrpSpPr/>
        <p:nvPr/>
      </p:nvGrpSpPr>
      <p:grpSpPr>
        <a:xfrm>
          <a:off x="0" y="0"/>
          <a:ext cx="0" cy="0"/>
          <a:chOff x="0" y="0"/>
          <a:chExt cx="0" cy="0"/>
        </a:xfrm>
      </p:grpSpPr>
      <p:sp>
        <p:nvSpPr>
          <p:cNvPr id="34" name="Google Shape;34;p5"/>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PROBLEM</a:t>
            </a:r>
            <a:endParaRPr sz="1200">
              <a:solidFill>
                <a:schemeClr val="dk1"/>
              </a:solidFill>
              <a:latin typeface="Calibri"/>
              <a:ea typeface="Calibri"/>
              <a:cs typeface="Calibri"/>
              <a:sym typeface="Calibri"/>
            </a:endParaRPr>
          </a:p>
        </p:txBody>
      </p:sp>
      <p:sp>
        <p:nvSpPr>
          <p:cNvPr id="35" name="Google Shape;35;p5"/>
          <p:cNvSpPr/>
          <p:nvPr/>
        </p:nvSpPr>
        <p:spPr>
          <a:xfrm>
            <a:off x="822960" y="1371600"/>
            <a:ext cx="5669280" cy="3291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0"/>
              <a:buFont typeface="Playfair Display"/>
              <a:buNone/>
            </a:pPr>
            <a:r>
              <a:rPr b="1" lang="en-US" sz="20000">
                <a:solidFill>
                  <a:srgbClr val="C9A227"/>
                </a:solidFill>
                <a:latin typeface="Playfair Display"/>
                <a:ea typeface="Playfair Display"/>
                <a:cs typeface="Playfair Display"/>
                <a:sym typeface="Playfair Display"/>
              </a:rPr>
              <a:t>300</a:t>
            </a:r>
            <a:endParaRPr sz="20000">
              <a:solidFill>
                <a:schemeClr val="dk1"/>
              </a:solidFill>
              <a:latin typeface="Calibri"/>
              <a:ea typeface="Calibri"/>
              <a:cs typeface="Calibri"/>
              <a:sym typeface="Calibri"/>
            </a:endParaRPr>
          </a:p>
        </p:txBody>
      </p:sp>
      <p:sp>
        <p:nvSpPr>
          <p:cNvPr id="36" name="Google Shape;36;p5"/>
          <p:cNvSpPr/>
          <p:nvPr/>
        </p:nvSpPr>
        <p:spPr>
          <a:xfrm>
            <a:off x="6400800" y="2194560"/>
            <a:ext cx="4937760" cy="14630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7F3E9"/>
              </a:buClr>
              <a:buSzPts val="3000"/>
              <a:buFont typeface="Playfair Display"/>
              <a:buNone/>
            </a:pPr>
            <a:r>
              <a:rPr lang="en-US" sz="3000">
                <a:solidFill>
                  <a:srgbClr val="F7F3E9"/>
                </a:solidFill>
                <a:latin typeface="Playfair Display"/>
                <a:ea typeface="Playfair Display"/>
                <a:cs typeface="Playfair Display"/>
                <a:sym typeface="Playfair Display"/>
              </a:rPr>
              <a:t>emails a day is not a communication strategy.</a:t>
            </a:r>
            <a:endParaRPr sz="3000">
              <a:solidFill>
                <a:schemeClr val="dk1"/>
              </a:solidFill>
              <a:latin typeface="Calibri"/>
              <a:ea typeface="Calibri"/>
              <a:cs typeface="Calibri"/>
              <a:sym typeface="Calibri"/>
            </a:endParaRPr>
          </a:p>
        </p:txBody>
      </p:sp>
      <p:sp>
        <p:nvSpPr>
          <p:cNvPr id="37" name="Google Shape;37;p5"/>
          <p:cNvSpPr/>
          <p:nvPr/>
        </p:nvSpPr>
        <p:spPr>
          <a:xfrm>
            <a:off x="6400800" y="3749040"/>
            <a:ext cx="4754880" cy="109728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AFA893"/>
              </a:buClr>
              <a:buSzPts val="1500"/>
              <a:buFont typeface="Inter"/>
              <a:buNone/>
            </a:pPr>
            <a:r>
              <a:rPr i="1" lang="en-US" sz="1500">
                <a:solidFill>
                  <a:srgbClr val="AFA893"/>
                </a:solidFill>
                <a:latin typeface="Inter"/>
                <a:ea typeface="Inter"/>
                <a:cs typeface="Inter"/>
                <a:sym typeface="Inter"/>
              </a:rPr>
              <a:t>It’s a second job you never applied for.</a:t>
            </a:r>
            <a:endParaRPr sz="15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42" name="Shape 42"/>
        <p:cNvGrpSpPr/>
        <p:nvPr/>
      </p:nvGrpSpPr>
      <p:grpSpPr>
        <a:xfrm>
          <a:off x="0" y="0"/>
          <a:ext cx="0" cy="0"/>
          <a:chOff x="0" y="0"/>
          <a:chExt cx="0" cy="0"/>
        </a:xfrm>
      </p:grpSpPr>
      <p:sp>
        <p:nvSpPr>
          <p:cNvPr id="43" name="Google Shape;43;p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THE FIX</a:t>
            </a:r>
            <a:endParaRPr sz="1200">
              <a:solidFill>
                <a:schemeClr val="dk1"/>
              </a:solidFill>
              <a:latin typeface="Calibri"/>
              <a:ea typeface="Calibri"/>
              <a:cs typeface="Calibri"/>
              <a:sym typeface="Calibri"/>
            </a:endParaRPr>
          </a:p>
        </p:txBody>
      </p:sp>
      <p:sp>
        <p:nvSpPr>
          <p:cNvPr id="44" name="Google Shape;44;p6"/>
          <p:cNvSpPr/>
          <p:nvPr/>
        </p:nvSpPr>
        <p:spPr>
          <a:xfrm>
            <a:off x="822960" y="1051560"/>
            <a:ext cx="10545775" cy="19202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A31621"/>
              </a:buClr>
              <a:buSzPts val="2100"/>
              <a:buFont typeface="Playfair Display"/>
              <a:buNone/>
            </a:pPr>
            <a:r>
              <a:rPr i="1" lang="en-US" sz="2100">
                <a:solidFill>
                  <a:srgbClr val="A31621"/>
                </a:solidFill>
                <a:latin typeface="Playfair Display"/>
                <a:ea typeface="Playfair Display"/>
                <a:cs typeface="Playfair Display"/>
                <a:sym typeface="Playfair Display"/>
              </a:rPr>
              <a:t>“If you want somebody to just sit at her desk, answer your phones and pick up your dry cleaning, then put out a want ad, because that’s not me.”</a:t>
            </a:r>
            <a:endParaRPr sz="21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2100"/>
              <a:buFont typeface="Calibri"/>
              <a:buNone/>
            </a:pPr>
            <a:r>
              <a:t/>
            </a:r>
            <a:endParaRPr sz="2100">
              <a:solidFill>
                <a:schemeClr val="dk1"/>
              </a:solidFill>
              <a:latin typeface="Calibri"/>
              <a:ea typeface="Calibri"/>
              <a:cs typeface="Calibri"/>
              <a:sym typeface="Calibri"/>
            </a:endParaRPr>
          </a:p>
          <a:p>
            <a:pPr indent="0" lvl="0" marL="0" marR="0" rtl="0" algn="l">
              <a:spcBef>
                <a:spcPts val="0"/>
              </a:spcBef>
              <a:spcAft>
                <a:spcPts val="0"/>
              </a:spcAft>
              <a:buClr>
                <a:srgbClr val="14213D"/>
              </a:buClr>
              <a:buSzPts val="1050"/>
              <a:buFont typeface="Inter"/>
              <a:buNone/>
            </a:pPr>
            <a:r>
              <a:rPr b="1" lang="en-US" sz="1050">
                <a:solidFill>
                  <a:srgbClr val="14213D"/>
                </a:solidFill>
                <a:latin typeface="Inter"/>
                <a:ea typeface="Inter"/>
                <a:cs typeface="Inter"/>
                <a:sym typeface="Inter"/>
              </a:rPr>
              <a:t>— DONNA PAULSEN, SUITS</a:t>
            </a:r>
            <a:endParaRPr sz="2100">
              <a:solidFill>
                <a:schemeClr val="dk1"/>
              </a:solidFill>
              <a:latin typeface="Calibri"/>
              <a:ea typeface="Calibri"/>
              <a:cs typeface="Calibri"/>
              <a:sym typeface="Calibri"/>
            </a:endParaRPr>
          </a:p>
        </p:txBody>
      </p:sp>
      <p:sp>
        <p:nvSpPr>
          <p:cNvPr id="45" name="Google Shape;45;p6"/>
          <p:cNvSpPr/>
          <p:nvPr/>
        </p:nvSpPr>
        <p:spPr>
          <a:xfrm>
            <a:off x="822960" y="3291840"/>
            <a:ext cx="10545775"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600"/>
              <a:buFont typeface="Playfair Display"/>
              <a:buNone/>
            </a:pPr>
            <a:r>
              <a:rPr b="1" lang="en-US" sz="3600">
                <a:solidFill>
                  <a:srgbClr val="14213D"/>
                </a:solidFill>
                <a:latin typeface="Playfair Display"/>
                <a:ea typeface="Playfair Display"/>
                <a:cs typeface="Playfair Display"/>
                <a:sym typeface="Playfair Display"/>
              </a:rPr>
              <a:t>You don’t need a better inbox. You need a Donna.</a:t>
            </a:r>
            <a:endParaRPr sz="3600">
              <a:solidFill>
                <a:schemeClr val="dk1"/>
              </a:solidFill>
              <a:latin typeface="Calibri"/>
              <a:ea typeface="Calibri"/>
              <a:cs typeface="Calibri"/>
              <a:sym typeface="Calibri"/>
            </a:endParaRPr>
          </a:p>
        </p:txBody>
      </p:sp>
      <p:sp>
        <p:nvSpPr>
          <p:cNvPr id="46" name="Google Shape;46;p6"/>
          <p:cNvSpPr/>
          <p:nvPr/>
        </p:nvSpPr>
        <p:spPr>
          <a:xfrm>
            <a:off x="896112" y="4992624"/>
            <a:ext cx="128016" cy="128016"/>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 name="Google Shape;47;p6"/>
          <p:cNvSpPr/>
          <p:nvPr/>
        </p:nvSpPr>
        <p:spPr>
          <a:xfrm>
            <a:off x="1234440" y="4526280"/>
            <a:ext cx="9722815" cy="118872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800"/>
              <a:buFont typeface="Inter"/>
              <a:buNone/>
            </a:pPr>
            <a:r>
              <a:rPr lang="en-US" sz="1800">
                <a:solidFill>
                  <a:srgbClr val="1C2333"/>
                </a:solidFill>
                <a:latin typeface="Inter"/>
                <a:ea typeface="Inter"/>
                <a:cs typeface="Inter"/>
                <a:sym typeface="Inter"/>
              </a:rPr>
              <a:t>In the show’s final seasons, the firm builds an AI assistant modeled on her. They call it “The Donna.”  </a:t>
            </a:r>
            <a:endParaRPr/>
          </a:p>
          <a:p>
            <a:pPr indent="0" lvl="0" marL="0" marR="0" rtl="0" algn="l">
              <a:lnSpc>
                <a:spcPct val="125000"/>
              </a:lnSpc>
              <a:spcBef>
                <a:spcPts val="0"/>
              </a:spcBef>
              <a:spcAft>
                <a:spcPts val="0"/>
              </a:spcAft>
              <a:buClr>
                <a:srgbClr val="14213D"/>
              </a:buClr>
              <a:buSzPts val="1800"/>
              <a:buFont typeface="Inter"/>
              <a:buNone/>
            </a:pPr>
            <a:r>
              <a:rPr b="1" lang="en-US" sz="1800">
                <a:solidFill>
                  <a:srgbClr val="14213D"/>
                </a:solidFill>
                <a:latin typeface="Inter"/>
                <a:ea typeface="Inter"/>
                <a:cs typeface="Inter"/>
                <a:sym typeface="Inter"/>
              </a:rPr>
              <a:t>The show built The Donna as fiction. You’re going to build yours for real. It’ll take about 90 minutes.</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31621"/>
        </a:solidFill>
      </p:bgPr>
    </p:bg>
    <p:spTree>
      <p:nvGrpSpPr>
        <p:cNvPr id="167" name="Shape 167"/>
        <p:cNvGrpSpPr/>
        <p:nvPr/>
      </p:nvGrpSpPr>
      <p:grpSpPr>
        <a:xfrm>
          <a:off x="0" y="0"/>
          <a:ext cx="0" cy="0"/>
          <a:chOff x="0" y="0"/>
          <a:chExt cx="0" cy="0"/>
        </a:xfrm>
      </p:grpSpPr>
      <p:sp>
        <p:nvSpPr>
          <p:cNvPr id="168" name="Google Shape;168;p15"/>
          <p:cNvSpPr/>
          <p:nvPr/>
        </p:nvSpPr>
        <p:spPr>
          <a:xfrm>
            <a:off x="822960" y="1092200"/>
            <a:ext cx="10545775" cy="21590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House rules.</a:t>
            </a:r>
          </a:p>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Five of them.</a:t>
            </a:r>
          </a:p>
        </p:txBody>
      </p:sp>
      <p:sp>
        <p:nvSpPr>
          <p:cNvPr id="169" name="Google Shape;169;p15"/>
          <p:cNvSpPr/>
          <p:nvPr/>
        </p:nvSpPr>
        <p:spPr>
          <a:xfrm>
            <a:off x="1778000" y="3581400"/>
            <a:ext cx="8636000" cy="2667000"/>
          </a:xfrm>
          <a:prstGeom prst="rect">
            <a:avLst/>
          </a:prstGeom>
          <a:noFill/>
          <a:ln>
            <a:noFill/>
          </a:ln>
        </p:spPr>
        <p:txBody>
          <a:bodyPr anchorCtr="0" anchor="ctr" bIns="0" lIns="0" spcFirstLastPara="1" rIns="0" wrap="square" tIns="0">
            <a:noAutofit/>
          </a:bodyPr>
          <a:lstStyle/>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1 · She never sends. Drafts only: you are the send button.</a:t>
            </a: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2 · She never deletes. Nothing we do today is destructive.</a:t>
            </a: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3 · We move together. Every case file ends at a red STOP sign.</a:t>
            </a: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4 · Copy buttons everywhere. Nobody types more than a sentence.</a:t>
            </a: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5 · No question is too small. Stuck for 60 seconds? Hand up.</a:t>
            </a:r>
          </a:p>
        </p:txBody>
      </p:sp>
      <p:sp>
        <p:nvSpPr>
          <p:cNvPr id="170" name="Google Shape;170;p15"/>
          <p:cNvSpPr/>
          <p:nvPr/>
        </p:nvSpPr>
        <p:spPr>
          <a:xfrm>
            <a:off x="6013552" y="1051560"/>
            <a:ext cx="164592" cy="164592"/>
          </a:xfrm>
          <a:prstGeom prst="diamond">
            <a:avLst/>
          </a:prstGeom>
          <a:solidFill>
            <a:srgbClr val="F7F3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52" name="Shape 52"/>
        <p:cNvGrpSpPr/>
        <p:nvPr/>
      </p:nvGrpSpPr>
      <p:grpSpPr>
        <a:xfrm>
          <a:off x="0" y="0"/>
          <a:ext cx="0" cy="0"/>
          <a:chOff x="0" y="0"/>
          <a:chExt cx="0" cy="0"/>
        </a:xfrm>
      </p:grpSpPr>
      <p:sp>
        <p:nvSpPr>
          <p:cNvPr id="53" name="Google Shape;53;p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PLAN · 2:30 CONTEXT → 2:50 BUILD → 3:30 DISCUSSION → 4:00 DONE</a:t>
            </a:r>
          </a:p>
        </p:txBody>
      </p:sp>
      <p:sp>
        <p:nvSpPr>
          <p:cNvPr id="54" name="Google Shape;54;p7"/>
          <p:cNvSpPr/>
          <p:nvPr/>
        </p:nvSpPr>
        <p:spPr>
          <a:xfrm>
            <a:off x="822960" y="868680"/>
            <a:ext cx="10545775"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800"/>
              <a:buFont typeface="Playfair Display"/>
              <a:buNone/>
            </a:pPr>
            <a:r>
              <a:rPr b="1" lang="en-US" sz="3800">
                <a:solidFill>
                  <a:srgbClr val="F7F3E9"/>
                </a:solidFill>
                <a:latin typeface="Playfair Display"/>
                <a:ea typeface="Playfair Display"/>
                <a:cs typeface="Playfair Display"/>
                <a:sym typeface="Playfair Display"/>
              </a:rPr>
              <a:t>The hiring arc</a:t>
            </a:r>
            <a:endParaRPr sz="3800">
              <a:solidFill>
                <a:schemeClr val="dk1"/>
              </a:solidFill>
              <a:latin typeface="Calibri"/>
              <a:ea typeface="Calibri"/>
              <a:cs typeface="Calibri"/>
              <a:sym typeface="Calibri"/>
            </a:endParaRPr>
          </a:p>
        </p:txBody>
      </p:sp>
      <p:sp>
        <p:nvSpPr>
          <p:cNvPr id="55" name="Google Shape;55;p7"/>
          <p:cNvSpPr/>
          <p:nvPr/>
        </p:nvSpPr>
        <p:spPr>
          <a:xfrm>
            <a:off x="822960"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7"/>
          <p:cNvSpPr/>
          <p:nvPr/>
        </p:nvSpPr>
        <p:spPr>
          <a:xfrm>
            <a:off x="1097280"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01</a:t>
            </a:r>
            <a:endParaRPr sz="2600">
              <a:solidFill>
                <a:schemeClr val="dk1"/>
              </a:solidFill>
              <a:latin typeface="Calibri"/>
              <a:ea typeface="Calibri"/>
              <a:cs typeface="Calibri"/>
              <a:sym typeface="Calibri"/>
            </a:endParaRPr>
          </a:p>
        </p:txBody>
      </p:sp>
      <p:sp>
        <p:nvSpPr>
          <p:cNvPr id="57" name="Google Shape;57;p7"/>
          <p:cNvSpPr/>
          <p:nvPr/>
        </p:nvSpPr>
        <p:spPr>
          <a:xfrm>
            <a:off x="1097280"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FIRST IMPRESSIONS</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PROJECT · ~15 MIN</a:t>
            </a:r>
          </a:p>
        </p:txBody>
      </p:sp>
      <p:sp>
        <p:nvSpPr>
          <p:cNvPr id="58" name="Google Shape;58;p7"/>
          <p:cNvSpPr/>
          <p:nvPr/>
        </p:nvSpPr>
        <p:spPr>
          <a:xfrm>
            <a:off x="1097280"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One desk for everything: connect Gmail + Calendar, and she drafts her first reply.</a:t>
            </a:r>
          </a:p>
        </p:txBody>
      </p:sp>
      <p:sp>
        <p:nvSpPr>
          <p:cNvPr id="59" name="Google Shape;59;p7"/>
          <p:cNvSpPr/>
          <p:nvPr/>
        </p:nvSpPr>
        <p:spPr>
          <a:xfrm>
            <a:off x="4813300"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7"/>
          <p:cNvSpPr/>
          <p:nvPr/>
        </p:nvSpPr>
        <p:spPr>
          <a:xfrm>
            <a:off x="5092700"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02</a:t>
            </a:r>
            <a:endParaRPr sz="2600">
              <a:solidFill>
                <a:schemeClr val="dk1"/>
              </a:solidFill>
              <a:latin typeface="Calibri"/>
              <a:ea typeface="Calibri"/>
              <a:cs typeface="Calibri"/>
              <a:sym typeface="Calibri"/>
            </a:endParaRPr>
          </a:p>
        </p:txBody>
      </p:sp>
      <p:sp>
        <p:nvSpPr>
          <p:cNvPr id="61" name="Google Shape;61;p7"/>
          <p:cNvSpPr/>
          <p:nvPr/>
        </p:nvSpPr>
        <p:spPr>
          <a:xfrm>
            <a:off x="5092700"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TRIAGE DESK</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INSTRUCTIONS · ~15 MIN</a:t>
            </a:r>
          </a:p>
        </p:txBody>
      </p:sp>
      <p:sp>
        <p:nvSpPr>
          <p:cNvPr id="62" name="Google Shape;62;p7"/>
          <p:cNvSpPr/>
          <p:nvPr/>
        </p:nvSpPr>
        <p:spPr>
          <a:xfrm>
            <a:off x="5092700"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You brief her once: red, yellow, gray. Your people, your priorities, your voice.</a:t>
            </a:r>
          </a:p>
        </p:txBody>
      </p:sp>
      <p:sp>
        <p:nvSpPr>
          <p:cNvPr id="63" name="Google Shape;63;p7"/>
          <p:cNvSpPr/>
          <p:nvPr/>
        </p:nvSpPr>
        <p:spPr>
          <a:xfrm>
            <a:off x="8813800"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7"/>
          <p:cNvSpPr/>
          <p:nvPr/>
        </p:nvSpPr>
        <p:spPr>
          <a:xfrm>
            <a:off x="9093200"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03</a:t>
            </a:r>
            <a:endParaRPr sz="2600">
              <a:solidFill>
                <a:schemeClr val="dk1"/>
              </a:solidFill>
              <a:latin typeface="Calibri"/>
              <a:ea typeface="Calibri"/>
              <a:cs typeface="Calibri"/>
              <a:sym typeface="Calibri"/>
            </a:endParaRPr>
          </a:p>
        </p:txBody>
      </p:sp>
      <p:sp>
        <p:nvSpPr>
          <p:cNvPr id="65" name="Google Shape;65;p7"/>
          <p:cNvSpPr/>
          <p:nvPr/>
        </p:nvSpPr>
        <p:spPr>
          <a:xfrm>
            <a:off x="9093200"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DONNA, FULL TIME</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SKILL + SCHEDULE · ~15 MIN</a:t>
            </a:r>
          </a:p>
        </p:txBody>
      </p:sp>
      <p:sp>
        <p:nvSpPr>
          <p:cNvPr id="66" name="Google Shape;66;p7"/>
          <p:cNvSpPr/>
          <p:nvPr/>
        </p:nvSpPr>
        <p:spPr>
          <a:xfrm>
            <a:off x="9093200"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Her playbook becomes a skill she keeps, and she takes the 4:30 evening shift.</a:t>
            </a:r>
          </a:p>
        </p:txBody>
      </p:sp>
      <p:sp>
        <p:nvSpPr>
          <p:cNvPr id="71" name="Google Shape;71;p7"/>
          <p:cNvSpPr/>
          <p:nvPr/>
        </p:nvSpPr>
        <p:spPr>
          <a:xfrm>
            <a:off x="822960" y="5440680"/>
            <a:ext cx="10545775"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Every step is one node of the flywheel. You are writing a document, testing it, and putting it on the clock. Each case file is on the site, and every prompt has a copy button.</a:t>
            </a:r>
          </a:p>
        </p:txBody>
      </p:sp>
      <p:sp>
        <p:nvSpPr>
          <p:cNvPr id="72" name="Google Shape;72;p7"/>
          <p:cNvSpPr/>
          <p:nvPr/>
        </p:nvSpPr>
        <p:spPr>
          <a:xfrm>
            <a:off x="1090879"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Flywheel: WRITE + READ</a:t>
            </a:r>
          </a:p>
        </p:txBody>
      </p:sp>
      <p:sp>
        <p:nvSpPr>
          <p:cNvPr id="73" name="Google Shape;73;p7"/>
          <p:cNvSpPr/>
          <p:nvPr/>
        </p:nvSpPr>
        <p:spPr>
          <a:xfrm>
            <a:off x="5080000"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Flywheel: CHALLENGE + REVISE</a:t>
            </a:r>
          </a:p>
        </p:txBody>
      </p:sp>
      <p:sp>
        <p:nvSpPr>
          <p:cNvPr id="74" name="Google Shape;74;p7"/>
          <p:cNvSpPr/>
          <p:nvPr/>
        </p:nvSpPr>
        <p:spPr>
          <a:xfrm>
            <a:off x="9080500"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Flywheel: DECIDE + OPERATE</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80" name="Shape 80"/>
        <p:cNvGrpSpPr/>
        <p:nvPr/>
      </p:nvGrpSpPr>
      <p:grpSpPr>
        <a:xfrm>
          <a:off x="0" y="0"/>
          <a:ext cx="0" cy="0"/>
          <a:chOff x="0" y="0"/>
          <a:chExt cx="0" cy="0"/>
        </a:xfrm>
      </p:grpSpPr>
      <p:sp>
        <p:nvSpPr>
          <p:cNvPr id="81" name="Google Shape;81;p8"/>
          <p:cNvSpPr/>
          <p:nvPr/>
        </p:nvSpPr>
        <p:spPr>
          <a:xfrm>
            <a:off x="822952" y="1783050"/>
            <a:ext cx="4444800" cy="3291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20000"/>
              <a:buFont typeface="Playfair Display"/>
              <a:buNone/>
            </a:pPr>
            <a:r>
              <a:rPr b="1" lang="en-US" sz="3700">
                <a:solidFill>
                  <a:srgbClr val="C9A227"/>
                </a:solidFill>
                <a:latin typeface="Playfair Display"/>
                <a:ea typeface="Playfair Display"/>
                <a:cs typeface="Playfair Display"/>
                <a:sym typeface="Playfair Display"/>
              </a:rPr>
              <a:t>Instructions</a:t>
            </a:r>
            <a:br>
              <a:rPr b="1" lang="en-US" sz="3700">
                <a:solidFill>
                  <a:srgbClr val="C9A227"/>
                </a:solidFill>
                <a:latin typeface="Playfair Display"/>
                <a:ea typeface="Playfair Display"/>
                <a:cs typeface="Playfair Display"/>
                <a:sym typeface="Playfair Display"/>
              </a:rPr>
            </a:br>
            <a:r>
              <a:rPr b="1" lang="en-US" sz="3700" u="sng">
                <a:solidFill>
                  <a:schemeClr val="hlink"/>
                </a:solidFill>
                <a:latin typeface="Playfair Display"/>
                <a:ea typeface="Playfair Display"/>
                <a:cs typeface="Playfair Display"/>
                <a:sym typeface="Playfair Display"/>
                <a:hlinkClick r:id="rId3"/>
              </a:rPr>
              <a:t>[click here]</a:t>
            </a:r>
            <a:endParaRPr sz="3700">
              <a:solidFill>
                <a:schemeClr val="dk1"/>
              </a:solidFill>
              <a:latin typeface="Calibri"/>
              <a:ea typeface="Calibri"/>
              <a:cs typeface="Calibri"/>
              <a:sym typeface="Calibri"/>
            </a:endParaRPr>
          </a:p>
        </p:txBody>
      </p:sp>
      <p:sp>
        <p:nvSpPr>
          <p:cNvPr id="82" name="Google Shape;82;p8"/>
          <p:cNvSpPr/>
          <p:nvPr/>
        </p:nvSpPr>
        <p:spPr>
          <a:xfrm>
            <a:off x="6400800" y="4663490"/>
            <a:ext cx="4755000" cy="10974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AFA893"/>
              </a:buClr>
              <a:buSzPts val="1500"/>
              <a:buFont typeface="Inter"/>
              <a:buNone/>
            </a:pPr>
            <a:r>
              <a:rPr i="1" lang="en-US" sz="1500">
                <a:solidFill>
                  <a:srgbClr val="AFA893"/>
                </a:solidFill>
                <a:latin typeface="Inter"/>
                <a:ea typeface="Inter"/>
                <a:cs typeface="Inter"/>
                <a:sym typeface="Inter"/>
              </a:rPr>
              <a:t>Or Scan Here</a:t>
            </a:r>
            <a:endParaRPr sz="1500">
              <a:solidFill>
                <a:schemeClr val="dk1"/>
              </a:solidFill>
              <a:latin typeface="Calibri"/>
              <a:ea typeface="Calibri"/>
              <a:cs typeface="Calibri"/>
              <a:sym typeface="Calibri"/>
            </a:endParaRPr>
          </a:p>
        </p:txBody>
      </p:sp>
      <p:pic>
        <p:nvPicPr>
          <p:cNvPr id="83" name="Google Shape;83;p8" title="Qq7t0PrAwZxmZMM_Build Your Own Donna · A two-hour workshop for executives.png"/>
          <p:cNvPicPr preferRelativeResize="0"/>
          <p:nvPr/>
        </p:nvPicPr>
        <p:blipFill>
          <a:blip r:embed="rId4">
            <a:alphaModFix/>
          </a:blip>
          <a:stretch>
            <a:fillRect/>
          </a:stretch>
        </p:blipFill>
        <p:spPr>
          <a:xfrm>
            <a:off x="7171275" y="1648052"/>
            <a:ext cx="3214050" cy="3214050"/>
          </a:xfrm>
          <a:prstGeom prst="rect">
            <a:avLst/>
          </a:prstGeom>
          <a:noFill/>
          <a:ln>
            <a:noFill/>
          </a:ln>
        </p:spPr>
      </p:pic>
      <p:sp>
        <p:nvSpPr>
          <p:cNvPr id="84" name="Google Shape;84;p8"/>
          <p:cNvSpPr/>
          <p:nvPr/>
        </p:nvSpPr>
        <p:spPr>
          <a:xfrm>
            <a:off x="822960" y="502920"/>
            <a:ext cx="1054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PLAN </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89" name="Shape 89"/>
        <p:cNvGrpSpPr/>
        <p:nvPr/>
      </p:nvGrpSpPr>
      <p:grpSpPr>
        <a:xfrm>
          <a:off x="0" y="0"/>
          <a:ext cx="0" cy="0"/>
          <a:chOff x="0" y="0"/>
          <a:chExt cx="0" cy="0"/>
        </a:xfrm>
      </p:grpSpPr>
      <p:sp>
        <p:nvSpPr>
          <p:cNvPr id="90" name="Google Shape;90;p9"/>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01 · PROJECT — FIRST IMPRESSIONS</a:t>
            </a:r>
            <a:endParaRPr sz="1200">
              <a:solidFill>
                <a:schemeClr val="dk1"/>
              </a:solidFill>
              <a:latin typeface="Calibri"/>
              <a:ea typeface="Calibri"/>
              <a:cs typeface="Calibri"/>
              <a:sym typeface="Calibri"/>
            </a:endParaRPr>
          </a:p>
        </p:txBody>
      </p:sp>
      <p:sp>
        <p:nvSpPr>
          <p:cNvPr id="91" name="Google Shape;91;p9"/>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800"/>
              <a:buFont typeface="Playfair Display"/>
              <a:buNone/>
            </a:pPr>
            <a:r>
              <a:rPr b="1" lang="en-US" sz="2800">
                <a:solidFill>
                  <a:srgbClr val="F7F3E9"/>
                </a:solidFill>
                <a:latin typeface="Playfair Display"/>
                <a:ea typeface="Playfair Display"/>
                <a:cs typeface="Playfair Display"/>
                <a:sym typeface="Playfair Display"/>
              </a:rPr>
              <a:t>One desk for everything. Create her project, then connect your Google accounts.</a:t>
            </a:r>
            <a:endParaRPr sz="2800">
              <a:solidFill>
                <a:schemeClr val="dk1"/>
              </a:solidFill>
              <a:latin typeface="Calibri"/>
              <a:ea typeface="Calibri"/>
              <a:cs typeface="Calibri"/>
              <a:sym typeface="Calibri"/>
            </a:endParaRPr>
          </a:p>
        </p:txBody>
      </p:sp>
      <p:sp>
        <p:nvSpPr>
          <p:cNvPr id="92" name="Google Shape;92;p9"/>
          <p:cNvSpPr/>
          <p:nvPr/>
        </p:nvSpPr>
        <p:spPr>
          <a:xfrm>
            <a:off x="822960" y="1627632"/>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1800"/>
              <a:buFont typeface="Inter"/>
              <a:buNone/>
            </a:pPr>
            <a:r>
              <a:rPr lang="en-US" sz="1800">
                <a:solidFill>
                  <a:srgbClr val="AFA893"/>
                </a:solidFill>
                <a:latin typeface="Inter"/>
                <a:ea typeface="Inter"/>
                <a:cs typeface="Inter"/>
                <a:sym typeface="Inter"/>
              </a:rPr>
              <a:t>Projects → New project → name it Donna. Then: Settings → Connectors → Connect Gmail + Calendar + Drive</a:t>
            </a:r>
            <a:endParaRPr sz="1800">
              <a:solidFill>
                <a:schemeClr val="dk1"/>
              </a:solidFill>
              <a:latin typeface="Calibri"/>
              <a:ea typeface="Calibri"/>
              <a:cs typeface="Calibri"/>
              <a:sym typeface="Calibri"/>
            </a:endParaRPr>
          </a:p>
        </p:txBody>
      </p:sp>
      <p:sp>
        <p:nvSpPr>
          <p:cNvPr id="93" name="Google Shape;93;p9"/>
          <p:cNvSpPr/>
          <p:nvPr/>
        </p:nvSpPr>
        <p:spPr>
          <a:xfrm>
            <a:off x="1280150" y="2286000"/>
            <a:ext cx="9631500" cy="3424500"/>
          </a:xfrm>
          <a:prstGeom prst="roundRect">
            <a:avLst>
              <a:gd fmla="val 2000"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9"/>
          <p:cNvSpPr/>
          <p:nvPr/>
        </p:nvSpPr>
        <p:spPr>
          <a:xfrm>
            <a:off x="1645920" y="2487168"/>
            <a:ext cx="889985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000">
                <a:solidFill>
                  <a:srgbClr val="5A6379"/>
                </a:solidFill>
                <a:latin typeface="Inter"/>
                <a:ea typeface="Inter"/>
                <a:cs typeface="Inter"/>
                <a:sym typeface="Inter"/>
              </a:rPr>
              <a:t>STUCK CONNECTING? — THE SETUP PROMPT</a:t>
            </a:r>
            <a:endParaRPr sz="1000">
              <a:solidFill>
                <a:schemeClr val="dk1"/>
              </a:solidFill>
              <a:latin typeface="Calibri"/>
              <a:ea typeface="Calibri"/>
              <a:cs typeface="Calibri"/>
              <a:sym typeface="Calibri"/>
            </a:endParaRPr>
          </a:p>
        </p:txBody>
      </p:sp>
      <p:sp>
        <p:nvSpPr>
          <p:cNvPr id="95" name="Google Shape;95;p9"/>
          <p:cNvSpPr/>
          <p:nvPr/>
        </p:nvSpPr>
        <p:spPr>
          <a:xfrm>
            <a:off x="1645920" y="2788920"/>
            <a:ext cx="8899855" cy="15544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chemeClr val="dk1"/>
              </a:buClr>
              <a:buSzPts val="2100"/>
              <a:buFont typeface="Calibri"/>
              <a:buNone/>
            </a:pPr>
            <a:r>
              <a:t/>
            </a:r>
            <a:endParaRPr sz="2100">
              <a:solidFill>
                <a:schemeClr val="dk1"/>
              </a:solidFill>
              <a:latin typeface="Calibri"/>
              <a:ea typeface="Calibri"/>
              <a:cs typeface="Calibri"/>
              <a:sym typeface="Calibri"/>
            </a:endParaRPr>
          </a:p>
        </p:txBody>
      </p:sp>
      <p:sp>
        <p:nvSpPr>
          <p:cNvPr id="96" name="Google Shape;96;p9"/>
          <p:cNvSpPr/>
          <p:nvPr/>
        </p:nvSpPr>
        <p:spPr>
          <a:xfrm>
            <a:off x="1730810" y="3011349"/>
            <a:ext cx="8899800" cy="2328900"/>
          </a:xfrm>
          <a:prstGeom prst="rect">
            <a:avLst/>
          </a:prstGeom>
          <a:noFill/>
          <a:ln>
            <a:noFill/>
          </a:ln>
        </p:spPr>
        <p:txBody>
          <a:bodyPr anchorCtr="0" anchor="ctr"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1600">
                <a:latin typeface="Courier New"/>
                <a:ea typeface="Courier New"/>
                <a:cs typeface="Courier New"/>
                <a:sym typeface="Courier New"/>
              </a:rPr>
              <a:t>Walk me through connecting my work email and calendar to Claude — first ask whether I'm on Gmail or Outlook, Mac or Windows, and whether IT manages my account, and check Anthropic's current help docs before answering so the steps match what's actually on my screen today. Then give me numbered steps naming the exact buttons to click, a way to verify it worked, and what to do if the connector isn't listed or I hit an "administrator hasn't approved this" error.</a:t>
            </a:r>
            <a:endParaRPr sz="1600">
              <a:latin typeface="Courier New"/>
              <a:ea typeface="Courier New"/>
              <a:cs typeface="Courier New"/>
              <a:sym typeface="Courier New"/>
            </a:endParaRPr>
          </a:p>
          <a:p>
            <a:pPr indent="0" lvl="0" marL="0" marR="0" rtl="0" algn="l">
              <a:lnSpc>
                <a:spcPct val="115000"/>
              </a:lnSpc>
              <a:spcBef>
                <a:spcPts val="0"/>
              </a:spcBef>
              <a:spcAft>
                <a:spcPts val="0"/>
              </a:spcAft>
              <a:buClr>
                <a:srgbClr val="1C2333"/>
              </a:buClr>
              <a:buSzPts val="2100"/>
              <a:buFont typeface="Courier New"/>
              <a:buNone/>
            </a:pPr>
            <a:r>
              <a:t/>
            </a:r>
            <a:endParaRPr sz="1600">
              <a:latin typeface="Courier New"/>
              <a:ea typeface="Courier New"/>
              <a:cs typeface="Courier New"/>
              <a:sym typeface="Courier New"/>
            </a:endParaRPr>
          </a:p>
        </p:txBody>
      </p:sp>
      <p:sp>
        <p:nvSpPr>
          <p:cNvPr id="97" name="TextBox 96"/>
          <p:cNvSpPr txBox="1"/>
          <p:nvPr/>
        </p:nvSpPr>
        <p:spPr>
          <a:xfrm>
            <a:off x="812800" y="863600"/>
            <a:ext cx="10566400" cy="190500"/>
          </a:xfrm>
          <a:prstGeom prst="rect">
            <a:avLst/>
          </a:prstGeom>
          <a:noFill/>
        </p:spPr>
        <p:txBody>
          <a:bodyPr wrap="square" lIns="0" rIns="0" tIns="0" bIns="0">
            <a:spAutoFit/>
          </a:bodyPr>
          <a:lstStyle/>
          <a:p>
            <a:pPr algn="l"/>
            <a:r>
              <a:rPr sz="950" b="1" spc="120">
                <a:solidFill>
                  <a:srgbClr val="E7C766"/>
                </a:solidFill>
                <a:latin typeface="Inter"/>
              </a:rPr>
              <a:t>FLYWHEEL: WRITE AND READ  ·  you are giving her the inputs and watching her read them</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01" name="Shape 101"/>
        <p:cNvGrpSpPr/>
        <p:nvPr/>
      </p:nvGrpSpPr>
      <p:grpSpPr>
        <a:xfrm>
          <a:off x="0" y="0"/>
          <a:ext cx="0" cy="0"/>
          <a:chOff x="0" y="0"/>
          <a:chExt cx="0" cy="0"/>
        </a:xfrm>
      </p:grpSpPr>
      <p:sp>
        <p:nvSpPr>
          <p:cNvPr id="102" name="Google Shape;102;p10"/>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DB94A"/>
              </a:buClr>
              <a:buSzPts val="1200"/>
              <a:buFont typeface="Inter"/>
              <a:buNone/>
            </a:pPr>
            <a:r>
              <a:rPr b="1" i="0" lang="en-US" sz="1200" u="none" cap="none" strike="noStrike">
                <a:solidFill>
                  <a:srgbClr val="DDB94A"/>
                </a:solidFill>
                <a:latin typeface="Inter"/>
                <a:ea typeface="Inter"/>
                <a:cs typeface="Inter"/>
                <a:sym typeface="Inter"/>
              </a:rPr>
              <a:t>CASE FILE 01 · PROJECT — FIRST IMPRESSIONS</a:t>
            </a:r>
            <a:endParaRPr b="0" i="0" sz="1200" u="none" cap="none" strike="noStrike">
              <a:solidFill>
                <a:srgbClr val="000000"/>
              </a:solidFill>
              <a:latin typeface="Calibri"/>
              <a:ea typeface="Calibri"/>
              <a:cs typeface="Calibri"/>
              <a:sym typeface="Calibri"/>
            </a:endParaRPr>
          </a:p>
        </p:txBody>
      </p:sp>
      <p:sp>
        <p:nvSpPr>
          <p:cNvPr id="103" name="Google Shape;103;p10"/>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3E9"/>
              </a:buClr>
              <a:buSzPts val="2800"/>
              <a:buFont typeface="Playfair Display"/>
              <a:buNone/>
            </a:pPr>
            <a:r>
              <a:rPr b="1" i="0" lang="en-US" sz="2800" u="none" cap="none" strike="noStrike">
                <a:solidFill>
                  <a:srgbClr val="F7F3E9"/>
                </a:solidFill>
                <a:latin typeface="Playfair Display"/>
                <a:ea typeface="Playfair Display"/>
                <a:cs typeface="Playfair Display"/>
                <a:sym typeface="Playfair Display"/>
              </a:rPr>
              <a:t>Inside the Donna project: ask the only question that matters.</a:t>
            </a:r>
            <a:endParaRPr b="0" i="0" sz="2800" u="none" cap="none" strike="noStrike">
              <a:solidFill>
                <a:srgbClr val="000000"/>
              </a:solidFill>
              <a:latin typeface="Calibri"/>
              <a:ea typeface="Calibri"/>
              <a:cs typeface="Calibri"/>
              <a:sym typeface="Calibri"/>
            </a:endParaRPr>
          </a:p>
        </p:txBody>
      </p:sp>
      <p:sp>
        <p:nvSpPr>
          <p:cNvPr id="104" name="Google Shape;104;p10"/>
          <p:cNvSpPr/>
          <p:nvPr/>
        </p:nvSpPr>
        <p:spPr>
          <a:xfrm>
            <a:off x="822960" y="1627632"/>
            <a:ext cx="10545775"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FA893"/>
              </a:buClr>
              <a:buSzPts val="1800"/>
              <a:buFont typeface="Inter"/>
              <a:buNone/>
            </a:pPr>
            <a:r>
              <a:rPr b="0" i="0" lang="en-US" sz="1800" u="none" cap="none" strike="noStrike">
                <a:solidFill>
                  <a:srgbClr val="AFA893"/>
                </a:solidFill>
                <a:latin typeface="Inter"/>
                <a:ea typeface="Inter"/>
                <a:cs typeface="Inter"/>
                <a:sym typeface="Inter"/>
              </a:rPr>
              <a:t>Connected, but she can’t see your inbox? Quit Claude fully and reopen it. Fixes it nine times out of ten.</a:t>
            </a:r>
            <a:endParaRPr b="0" i="0" sz="1800" u="none" cap="none" strike="noStrike">
              <a:solidFill>
                <a:srgbClr val="000000"/>
              </a:solidFill>
              <a:latin typeface="Calibri"/>
              <a:ea typeface="Calibri"/>
              <a:cs typeface="Calibri"/>
              <a:sym typeface="Calibri"/>
            </a:endParaRPr>
          </a:p>
        </p:txBody>
      </p:sp>
      <p:sp>
        <p:nvSpPr>
          <p:cNvPr id="105" name="Google Shape;105;p10"/>
          <p:cNvSpPr/>
          <p:nvPr/>
        </p:nvSpPr>
        <p:spPr>
          <a:xfrm>
            <a:off x="1280160" y="2286000"/>
            <a:ext cx="9631375" cy="2286000"/>
          </a:xfrm>
          <a:prstGeom prst="roundRect">
            <a:avLst>
              <a:gd fmla="val 2000"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6" name="Google Shape;106;p10"/>
          <p:cNvSpPr/>
          <p:nvPr/>
        </p:nvSpPr>
        <p:spPr>
          <a:xfrm>
            <a:off x="1645920" y="2487168"/>
            <a:ext cx="889985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379"/>
              </a:buClr>
              <a:buSzPts val="1000"/>
              <a:buFont typeface="Inter"/>
              <a:buNone/>
            </a:pPr>
            <a:r>
              <a:rPr b="1" i="0" lang="en-US" sz="1000" u="none" cap="none" strike="noStrike">
                <a:solidFill>
                  <a:srgbClr val="5A6379"/>
                </a:solidFill>
                <a:latin typeface="Inter"/>
                <a:ea typeface="Inter"/>
                <a:cs typeface="Inter"/>
                <a:sym typeface="Inter"/>
              </a:rPr>
              <a:t>PROMPT 1 — THE QUESTION</a:t>
            </a:r>
            <a:endParaRPr b="0" i="0" sz="1000" u="none" cap="none" strike="noStrike">
              <a:solidFill>
                <a:srgbClr val="000000"/>
              </a:solidFill>
              <a:latin typeface="Calibri"/>
              <a:ea typeface="Calibri"/>
              <a:cs typeface="Calibri"/>
              <a:sym typeface="Calibri"/>
            </a:endParaRPr>
          </a:p>
        </p:txBody>
      </p:sp>
      <p:sp>
        <p:nvSpPr>
          <p:cNvPr id="107" name="Google Shape;107;p10"/>
          <p:cNvSpPr/>
          <p:nvPr/>
        </p:nvSpPr>
        <p:spPr>
          <a:xfrm>
            <a:off x="1645920" y="2788920"/>
            <a:ext cx="8899855" cy="155448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What landed in my inbox in the last 24 hours</a:t>
            </a:r>
            <a:endParaRPr b="0" i="0" sz="2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that actually needs ME?</a:t>
            </a:r>
            <a:endParaRPr b="0" i="0" sz="2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1C2333"/>
              </a:buClr>
              <a:buSzPts val="2100"/>
              <a:buFont typeface="Courier New"/>
              <a:buNone/>
            </a:pPr>
            <a:r>
              <a:rPr b="0" i="0" lang="en-US" sz="2100" u="none" cap="none" strike="noStrike">
                <a:solidFill>
                  <a:srgbClr val="1C2333"/>
                </a:solidFill>
                <a:latin typeface="Courier New"/>
                <a:ea typeface="Courier New"/>
                <a:cs typeface="Courier New"/>
                <a:sym typeface="Courier New"/>
              </a:rPr>
              <a:t>Top 5, one line each.</a:t>
            </a:r>
            <a:endParaRPr b="0" i="0" sz="2100" u="none" cap="none" strike="noStrike">
              <a:solidFill>
                <a:srgbClr val="000000"/>
              </a:solidFill>
              <a:latin typeface="Calibri"/>
              <a:ea typeface="Calibri"/>
              <a:cs typeface="Calibri"/>
              <a:sym typeface="Calibri"/>
            </a:endParaRPr>
          </a:p>
        </p:txBody>
      </p:sp>
      <p:sp>
        <p:nvSpPr>
          <p:cNvPr id="108" name="Google Shape;108;p10"/>
          <p:cNvSpPr/>
          <p:nvPr/>
        </p:nvSpPr>
        <p:spPr>
          <a:xfrm>
            <a:off x="1280160" y="4800600"/>
            <a:ext cx="9631375" cy="1554480"/>
          </a:xfrm>
          <a:prstGeom prst="roundRect">
            <a:avLst>
              <a:gd fmla="val 2941"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000000"/>
              </a:solidFill>
              <a:latin typeface="Calibri"/>
              <a:ea typeface="Calibri"/>
              <a:cs typeface="Calibri"/>
              <a:sym typeface="Calibri"/>
            </a:endParaRPr>
          </a:p>
        </p:txBody>
      </p:sp>
      <p:sp>
        <p:nvSpPr>
          <p:cNvPr id="109" name="Google Shape;109;p10"/>
          <p:cNvSpPr/>
          <p:nvPr/>
        </p:nvSpPr>
        <p:spPr>
          <a:xfrm>
            <a:off x="1645920" y="5001768"/>
            <a:ext cx="889985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6379"/>
              </a:buClr>
              <a:buSzPts val="1000"/>
              <a:buFont typeface="Inter"/>
              <a:buNone/>
            </a:pPr>
            <a:r>
              <a:rPr b="1" i="0" lang="en-US" sz="1000" u="none" cap="none" strike="noStrike">
                <a:solidFill>
                  <a:srgbClr val="5A6379"/>
                </a:solidFill>
                <a:latin typeface="Inter"/>
                <a:ea typeface="Inter"/>
                <a:cs typeface="Inter"/>
                <a:sym typeface="Inter"/>
              </a:rPr>
              <a:t>PROMPT 2 — THE FIRST DRAFT</a:t>
            </a:r>
            <a:endParaRPr b="0" i="0" sz="1000" u="none" cap="none" strike="noStrike">
              <a:solidFill>
                <a:srgbClr val="000000"/>
              </a:solidFill>
              <a:latin typeface="Calibri"/>
              <a:ea typeface="Calibri"/>
              <a:cs typeface="Calibri"/>
              <a:sym typeface="Calibri"/>
            </a:endParaRPr>
          </a:p>
        </p:txBody>
      </p:sp>
      <p:sp>
        <p:nvSpPr>
          <p:cNvPr id="110" name="Google Shape;110;p10"/>
          <p:cNvSpPr/>
          <p:nvPr/>
        </p:nvSpPr>
        <p:spPr>
          <a:xfrm>
            <a:off x="1645920" y="5303520"/>
            <a:ext cx="8899855" cy="8229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Draft a reply to #1. Under 100 words, warm but decisive.</a:t>
            </a:r>
          </a:p>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Save it as a draft in my Gmail so I can review it there.</a:t>
            </a:r>
          </a:p>
          <a:p>
            <a:pPr indent="0" lvl="0" marL="0" marR="0" rtl="0" algn="l">
              <a:lnSpc>
                <a:spcPct val="115000"/>
              </a:lnSpc>
              <a:spcBef>
                <a:spcPts val="0"/>
              </a:spcBef>
              <a:spcAft>
                <a:spcPts val="0"/>
              </a:spcAft>
              <a:buClr>
                <a:srgbClr val="1C2333"/>
              </a:buClr>
              <a:buSzPts val="2000"/>
              <a:buFont typeface="Courier New"/>
              <a:buNone/>
            </a:pPr>
            <a:r>
              <a:rPr b="0" i="0" lang="en-US" sz="2000" u="none" cap="none" strike="noStrike">
                <a:solidFill>
                  <a:srgbClr val="1C2333"/>
                </a:solidFill>
                <a:latin typeface="Courier New"/>
                <a:ea typeface="Courier New"/>
                <a:cs typeface="Courier New"/>
                <a:sym typeface="Courier New"/>
              </a:rPr>
              <a:t>Do not send it.</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15" name="Shape 115"/>
        <p:cNvGrpSpPr/>
        <p:nvPr/>
      </p:nvGrpSpPr>
      <p:grpSpPr>
        <a:xfrm>
          <a:off x="0" y="0"/>
          <a:ext cx="0" cy="0"/>
          <a:chOff x="0" y="0"/>
          <a:chExt cx="0" cy="0"/>
        </a:xfrm>
      </p:grpSpPr>
      <p:sp>
        <p:nvSpPr>
          <p:cNvPr id="116" name="Google Shape;116;p11"/>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01 · LIVE DEMO — CHECKPOINT</a:t>
            </a:r>
            <a:endParaRPr sz="1200">
              <a:solidFill>
                <a:schemeClr val="dk1"/>
              </a:solidFill>
              <a:latin typeface="Calibri"/>
              <a:ea typeface="Calibri"/>
              <a:cs typeface="Calibri"/>
              <a:sym typeface="Calibri"/>
            </a:endParaRPr>
          </a:p>
        </p:txBody>
      </p:sp>
      <p:sp>
        <p:nvSpPr>
          <p:cNvPr id="117" name="Google Shape;117;p11"/>
          <p:cNvSpPr/>
          <p:nvPr/>
        </p:nvSpPr>
        <p:spPr>
          <a:xfrm>
            <a:off x="2194560" y="2148840"/>
            <a:ext cx="7802575" cy="1737360"/>
          </a:xfrm>
          <a:prstGeom prst="roundRect">
            <a:avLst>
              <a:gd fmla="val 3158" name="adj"/>
            </a:avLst>
          </a:prstGeom>
          <a:solidFill>
            <a:srgbClr val="C9A227">
              <a:alpha val="10196"/>
            </a:srgbClr>
          </a:solidFill>
          <a:ln cap="flat" cmpd="sng" w="15875">
            <a:solidFill>
              <a:srgbClr val="C9A22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11"/>
          <p:cNvSpPr/>
          <p:nvPr/>
        </p:nvSpPr>
        <p:spPr>
          <a:xfrm>
            <a:off x="2651760" y="2423160"/>
            <a:ext cx="6888175"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  YOU DID IT WHEN…</a:t>
            </a:r>
            <a:endParaRPr sz="1200">
              <a:solidFill>
                <a:schemeClr val="dk1"/>
              </a:solidFill>
              <a:latin typeface="Calibri"/>
              <a:ea typeface="Calibri"/>
              <a:cs typeface="Calibri"/>
              <a:sym typeface="Calibri"/>
            </a:endParaRPr>
          </a:p>
        </p:txBody>
      </p:sp>
      <p:sp>
        <p:nvSpPr>
          <p:cNvPr id="119" name="Google Shape;119;p11"/>
          <p:cNvSpPr/>
          <p:nvPr/>
        </p:nvSpPr>
        <p:spPr>
          <a:xfrm>
            <a:off x="2651760" y="2715768"/>
            <a:ext cx="688817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A draft you didn’t write is waiting in your Gmail Drafts.</a:t>
            </a:r>
            <a:endParaRPr sz="2400">
              <a:solidFill>
                <a:schemeClr val="dk1"/>
              </a:solidFill>
              <a:latin typeface="Calibri"/>
              <a:ea typeface="Calibri"/>
              <a:cs typeface="Calibri"/>
              <a:sym typeface="Calibri"/>
            </a:endParaRPr>
          </a:p>
        </p:txBody>
      </p:sp>
      <p:sp>
        <p:nvSpPr>
          <p:cNvPr id="120" name="Google Shape;120;p11"/>
          <p:cNvSpPr/>
          <p:nvPr/>
        </p:nvSpPr>
        <p:spPr>
          <a:xfrm>
            <a:off x="914400" y="4434840"/>
            <a:ext cx="10362895"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The interview is over. Donna’s hired. Now we train her.</a:t>
            </a:r>
            <a:endParaRPr sz="24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3E9"/>
        </a:solidFill>
      </p:bgPr>
    </p:bg>
    <p:spTree>
      <p:nvGrpSpPr>
        <p:cNvPr id="125" name="Shape 125"/>
        <p:cNvGrpSpPr/>
        <p:nvPr/>
      </p:nvGrpSpPr>
      <p:grpSpPr>
        <a:xfrm>
          <a:off x="0" y="0"/>
          <a:ext cx="0" cy="0"/>
          <a:chOff x="0" y="0"/>
          <a:chExt cx="0" cy="0"/>
        </a:xfrm>
      </p:grpSpPr>
      <p:sp>
        <p:nvSpPr>
          <p:cNvPr id="126" name="Google Shape;126;p12"/>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200"/>
              <a:buFont typeface="Inter"/>
              <a:buNone/>
            </a:pPr>
            <a:r>
              <a:rPr b="1" lang="en-US" sz="1200">
                <a:solidFill>
                  <a:srgbClr val="C9A227"/>
                </a:solidFill>
                <a:latin typeface="Inter"/>
                <a:ea typeface="Inter"/>
                <a:cs typeface="Inter"/>
                <a:sym typeface="Inter"/>
              </a:rPr>
              <a:t>CASE FILE 02 · INSTRUCTIONS — THE TRIAGE DESK</a:t>
            </a:r>
            <a:endParaRPr sz="1200">
              <a:solidFill>
                <a:schemeClr val="dk1"/>
              </a:solidFill>
              <a:latin typeface="Calibri"/>
              <a:ea typeface="Calibri"/>
              <a:cs typeface="Calibri"/>
              <a:sym typeface="Calibri"/>
            </a:endParaRPr>
          </a:p>
        </p:txBody>
      </p:sp>
      <p:sp>
        <p:nvSpPr>
          <p:cNvPr id="127" name="Google Shape;127;p12"/>
          <p:cNvSpPr/>
          <p:nvPr/>
        </p:nvSpPr>
        <p:spPr>
          <a:xfrm>
            <a:off x="822960" y="868680"/>
            <a:ext cx="1054577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213D"/>
              </a:buClr>
              <a:buSzPts val="3200"/>
              <a:buFont typeface="Playfair Display"/>
              <a:buNone/>
            </a:pPr>
            <a:r>
              <a:rPr b="1" lang="en-US" sz="3200">
                <a:solidFill>
                  <a:srgbClr val="14213D"/>
                </a:solidFill>
                <a:latin typeface="Playfair Display"/>
                <a:ea typeface="Playfair Display"/>
                <a:cs typeface="Playfair Display"/>
                <a:sym typeface="Playfair Display"/>
              </a:rPr>
              <a:t>Teach her your rules once.</a:t>
            </a:r>
            <a:endParaRPr sz="3200">
              <a:solidFill>
                <a:schemeClr val="dk1"/>
              </a:solidFill>
              <a:latin typeface="Calibri"/>
              <a:ea typeface="Calibri"/>
              <a:cs typeface="Calibri"/>
              <a:sym typeface="Calibri"/>
            </a:endParaRPr>
          </a:p>
        </p:txBody>
      </p:sp>
      <p:sp>
        <p:nvSpPr>
          <p:cNvPr id="128" name="Google Shape;128;p12"/>
          <p:cNvSpPr/>
          <p:nvPr/>
        </p:nvSpPr>
        <p:spPr>
          <a:xfrm>
            <a:off x="822960" y="1691640"/>
            <a:ext cx="6949440" cy="4663440"/>
          </a:xfrm>
          <a:prstGeom prst="roundRect">
            <a:avLst>
              <a:gd fmla="val 980" name="adj"/>
            </a:avLst>
          </a:prstGeom>
          <a:solidFill>
            <a:srgbClr val="14213D"/>
          </a:solidFill>
          <a:ln>
            <a:noFill/>
          </a:ln>
          <a:effectLst>
            <a:outerShdw blurRad="177800" rotWithShape="0" algn="bl" dir="5400000" dist="76200">
              <a:srgbClr val="9A917C">
                <a:alpha val="5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9" name="Google Shape;129;p12"/>
          <p:cNvSpPr/>
          <p:nvPr/>
        </p:nvSpPr>
        <p:spPr>
          <a:xfrm>
            <a:off x="1143000" y="1874520"/>
            <a:ext cx="6309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950"/>
              <a:buFont typeface="Inter"/>
              <a:buNone/>
            </a:pPr>
            <a:r>
              <a:rPr b="1" lang="en-US" sz="950">
                <a:solidFill>
                  <a:srgbClr val="DDB94A"/>
                </a:solidFill>
                <a:latin typeface="Inter"/>
                <a:ea typeface="Inter"/>
                <a:cs typeface="Inter"/>
                <a:sym typeface="Inter"/>
              </a:rPr>
              <a:t>PROJECT INSTRUCTIONS — PASTE FROM THE SITE, FILL 4 BLANKS</a:t>
            </a:r>
            <a:endParaRPr sz="950">
              <a:solidFill>
                <a:schemeClr val="dk1"/>
              </a:solidFill>
              <a:latin typeface="Calibri"/>
              <a:ea typeface="Calibri"/>
              <a:cs typeface="Calibri"/>
              <a:sym typeface="Calibri"/>
            </a:endParaRPr>
          </a:p>
        </p:txBody>
      </p:sp>
      <p:sp>
        <p:nvSpPr>
          <p:cNvPr id="130" name="Google Shape;130;p12"/>
          <p:cNvSpPr/>
          <p:nvPr/>
        </p:nvSpPr>
        <p:spPr>
          <a:xfrm>
            <a:off x="1143000" y="2194560"/>
            <a:ext cx="6309360" cy="38862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You are Donna, my inbox triage assistant. When I say "triage my inbox":</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1. Review my inbox (default: the last 24 hours).</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2. Sort every thread into exactly three buckets:</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RED, NEEDS ME · my VIPs, plus my #1 project:</a:t>
            </a: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   [ADD 3-5 NAMES + EMAILS] · [ADD YOUR #1 PROJECT OR DEAL]</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 YELLOW, DELEGATE · work my team owns:</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[ADD 1-3 DELEGATES + WHAT EACH OWNS, e.g. “Sam: billing”]</a:t>
            </a: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   ⚪ GRAY, IGNORE · newsletters, cold outreach, automated notices.</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3. Show me ONE table: sender · subject · bucket · why · next move.</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4. Draft replies for REDs (my voice: [ADD 3 WORDS]) and handoff</a:t>
            </a:r>
          </a:p>
          <a:p>
            <a:pPr indent="0" lvl="0" marL="0" marR="0" rtl="0" algn="l">
              <a:lnSpc>
                <a:spcPct val="122000"/>
              </a:lnSpc>
              <a:spcBef>
                <a:spcPts val="0"/>
              </a:spcBef>
              <a:spcAft>
                <a:spcPts val="0"/>
              </a:spcAft>
              <a:buClr>
                <a:srgbClr val="F7F3E9"/>
              </a:buClr>
              <a:buSzPts val="1150"/>
              <a:buFont typeface="Courier New"/>
              <a:buNone/>
            </a:pPr>
            <a:r>
              <a:rPr lang="en-US" sz="1150">
                <a:solidFill>
                  <a:srgbClr val="F7F3E9"/>
                </a:solidFill>
                <a:latin typeface="Courier New"/>
                <a:ea typeface="Courier New"/>
                <a:cs typeface="Courier New"/>
                <a:sym typeface="Courier New"/>
              </a:rPr>
              <a:t>   notes for YELLOWs. Save everything to my Drafts.</a:t>
            </a:r>
          </a:p>
          <a:p>
            <a:pPr indent="0" lvl="0" marL="0" marR="0" rtl="0" algn="l">
              <a:lnSpc>
                <a:spcPct val="122000"/>
              </a:lnSpc>
              <a:spcBef>
                <a:spcPts val="0"/>
              </a:spcBef>
              <a:spcAft>
                <a:spcPts val="0"/>
              </a:spcAft>
              <a:buClr>
                <a:srgbClr val="DDB94A"/>
              </a:buClr>
              <a:buSzPts val="1150"/>
              <a:buFont typeface="Courier New"/>
              <a:buNone/>
            </a:pPr>
            <a:r>
              <a:rPr b="1" lang="en-US" sz="1150">
                <a:solidFill>
                  <a:srgbClr val="DDB94A"/>
                </a:solidFill>
                <a:latin typeface="Courier New"/>
                <a:ea typeface="Courier New"/>
                <a:cs typeface="Courier New"/>
                <a:sym typeface="Courier New"/>
              </a:rPr>
              <a:t>Never send anything. Never delete anything. Drafts only.</a:t>
            </a:r>
          </a:p>
        </p:txBody>
      </p:sp>
      <p:sp>
        <p:nvSpPr>
          <p:cNvPr id="131" name="Google Shape;131;p12"/>
          <p:cNvSpPr/>
          <p:nvPr/>
        </p:nvSpPr>
        <p:spPr>
          <a:xfrm>
            <a:off x="8092450" y="1828800"/>
            <a:ext cx="3898200"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4213D"/>
              </a:buClr>
              <a:buSzPts val="1400"/>
              <a:buFont typeface="Inter"/>
              <a:buNone/>
            </a:pPr>
            <a:r>
              <a:rPr b="1" lang="en-US" sz="1400">
                <a:solidFill>
                  <a:srgbClr val="14213D"/>
                </a:solidFill>
                <a:latin typeface="Inter"/>
                <a:ea typeface="Inter"/>
                <a:cs typeface="Inter"/>
                <a:sym typeface="Inter"/>
              </a:rPr>
              <a:t>The four blanks are the only editing you do:</a:t>
            </a:r>
            <a:endParaRPr sz="1400">
              <a:solidFill>
                <a:schemeClr val="dk1"/>
              </a:solidFill>
              <a:latin typeface="Calibri"/>
              <a:ea typeface="Calibri"/>
              <a:cs typeface="Calibri"/>
              <a:sym typeface="Calibri"/>
            </a:endParaRPr>
          </a:p>
        </p:txBody>
      </p:sp>
      <p:sp>
        <p:nvSpPr>
          <p:cNvPr id="132" name="Google Shape;132;p12"/>
          <p:cNvSpPr/>
          <p:nvPr/>
        </p:nvSpPr>
        <p:spPr>
          <a:xfrm>
            <a:off x="8016222" y="26944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3" name="Google Shape;133;p12"/>
          <p:cNvSpPr/>
          <p:nvPr/>
        </p:nvSpPr>
        <p:spPr>
          <a:xfrm>
            <a:off x="8366760" y="2560320"/>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always-red list + #1 deal</a:t>
            </a:r>
          </a:p>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the people and the deal that jump every queue</a:t>
            </a:r>
          </a:p>
        </p:txBody>
      </p:sp>
      <p:sp>
        <p:nvSpPr>
          <p:cNvPr id="134" name="Google Shape;134;p12"/>
          <p:cNvSpPr/>
          <p:nvPr/>
        </p:nvSpPr>
        <p:spPr>
          <a:xfrm>
            <a:off x="8366760" y="3639312"/>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delegates and their lanes</a:t>
            </a:r>
          </a:p>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1-3 people and what each owns: “Sam: billing”</a:t>
            </a:r>
          </a:p>
        </p:txBody>
      </p:sp>
      <p:sp>
        <p:nvSpPr>
          <p:cNvPr id="135" name="Google Shape;135;p12"/>
          <p:cNvSpPr/>
          <p:nvPr/>
        </p:nvSpPr>
        <p:spPr>
          <a:xfrm>
            <a:off x="8366760" y="4718304"/>
            <a:ext cx="3200400" cy="100584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Your voice, in 3 words</a:t>
            </a:r>
          </a:p>
          <a:p>
            <a:pPr indent="0" lvl="0" marL="0" marR="0" rtl="0" algn="l">
              <a:lnSpc>
                <a:spcPct val="112000"/>
              </a:lnSpc>
              <a:spcBef>
                <a:spcPts val="0"/>
              </a:spcBef>
              <a:spcAft>
                <a:spcPts val="0"/>
              </a:spcAft>
              <a:buClr>
                <a:srgbClr val="14213D"/>
              </a:buClr>
              <a:buSzPts val="1500"/>
              <a:buFont typeface="Playfair Display"/>
              <a:buNone/>
            </a:pPr>
            <a:r>
              <a:rPr b="1" lang="en-US" sz="1800">
                <a:solidFill>
                  <a:srgbClr val="14213D"/>
                </a:solidFill>
                <a:latin typeface="Playfair Display"/>
                <a:ea typeface="Playfair Display"/>
                <a:cs typeface="Playfair Display"/>
                <a:sym typeface="Playfair Display"/>
              </a:rPr>
              <a:t>warm, brief, decisive is a fine start</a:t>
            </a:r>
          </a:p>
        </p:txBody>
      </p:sp>
      <p:sp>
        <p:nvSpPr>
          <p:cNvPr id="136" name="Google Shape;136;p12"/>
          <p:cNvSpPr/>
          <p:nvPr/>
        </p:nvSpPr>
        <p:spPr>
          <a:xfrm>
            <a:off x="8016222" y="37648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7" name="Google Shape;137;p12"/>
          <p:cNvSpPr/>
          <p:nvPr/>
        </p:nvSpPr>
        <p:spPr>
          <a:xfrm>
            <a:off x="8016222" y="4983725"/>
            <a:ext cx="274200" cy="274200"/>
          </a:xfrm>
          <a:prstGeom prst="diamond">
            <a:avLst/>
          </a:prstGeom>
          <a:solidFill>
            <a:srgbClr val="C9A2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8" name="TextBox 137"/>
          <p:cNvSpPr txBox="1"/>
          <p:nvPr/>
        </p:nvSpPr>
        <p:spPr>
          <a:xfrm>
            <a:off x="812800" y="863600"/>
            <a:ext cx="10566400" cy="190500"/>
          </a:xfrm>
          <a:prstGeom prst="rect">
            <a:avLst/>
          </a:prstGeom>
          <a:noFill/>
        </p:spPr>
        <p:txBody>
          <a:bodyPr wrap="square" lIns="0" rIns="0" tIns="0" bIns="0">
            <a:spAutoFit/>
          </a:bodyPr>
          <a:lstStyle/>
          <a:p>
            <a:pPr algn="l"/>
            <a:r>
              <a:rPr sz="950" b="1" spc="120">
                <a:solidFill>
                  <a:srgbClr val="E7C766"/>
                </a:solidFill>
                <a:latin typeface="Inter"/>
              </a:rPr>
              <a:t>FLYWHEEL: CHALLENGE AND REVISE  ·  this is the document. everything else is plumbing</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42" name="Shape 142"/>
        <p:cNvGrpSpPr/>
        <p:nvPr/>
      </p:nvGrpSpPr>
      <p:grpSpPr>
        <a:xfrm>
          <a:off x="0" y="0"/>
          <a:ext cx="0" cy="0"/>
          <a:chOff x="0" y="0"/>
          <a:chExt cx="0" cy="0"/>
        </a:xfrm>
      </p:grpSpPr>
      <p:sp>
        <p:nvSpPr>
          <p:cNvPr id="143" name="Google Shape;143;p13"/>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02 · LIVE DEMO — CHECKPOINT</a:t>
            </a:r>
            <a:endParaRPr sz="1200">
              <a:solidFill>
                <a:schemeClr val="dk1"/>
              </a:solidFill>
              <a:latin typeface="Calibri"/>
              <a:ea typeface="Calibri"/>
              <a:cs typeface="Calibri"/>
              <a:sym typeface="Calibri"/>
            </a:endParaRPr>
          </a:p>
        </p:txBody>
      </p:sp>
      <p:sp>
        <p:nvSpPr>
          <p:cNvPr id="144" name="Google Shape;144;p13"/>
          <p:cNvSpPr/>
          <p:nvPr/>
        </p:nvSpPr>
        <p:spPr>
          <a:xfrm>
            <a:off x="2194560" y="1920240"/>
            <a:ext cx="7802575" cy="1737360"/>
          </a:xfrm>
          <a:prstGeom prst="roundRect">
            <a:avLst>
              <a:gd fmla="val 3158" name="adj"/>
            </a:avLst>
          </a:prstGeom>
          <a:solidFill>
            <a:srgbClr val="C9A227">
              <a:alpha val="10196"/>
            </a:srgbClr>
          </a:solidFill>
          <a:ln cap="flat" cmpd="sng" w="15875">
            <a:solidFill>
              <a:srgbClr val="C9A22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13"/>
          <p:cNvSpPr/>
          <p:nvPr/>
        </p:nvSpPr>
        <p:spPr>
          <a:xfrm>
            <a:off x="2651760" y="2194560"/>
            <a:ext cx="6888175"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  YOU DID IT WHEN…</a:t>
            </a:r>
            <a:endParaRPr sz="1200">
              <a:solidFill>
                <a:schemeClr val="dk1"/>
              </a:solidFill>
              <a:latin typeface="Calibri"/>
              <a:ea typeface="Calibri"/>
              <a:cs typeface="Calibri"/>
              <a:sym typeface="Calibri"/>
            </a:endParaRPr>
          </a:p>
        </p:txBody>
      </p:sp>
      <p:sp>
        <p:nvSpPr>
          <p:cNvPr id="146" name="Google Shape;146;p13"/>
          <p:cNvSpPr/>
          <p:nvPr/>
        </p:nvSpPr>
        <p:spPr>
          <a:xfrm>
            <a:off x="2651760" y="2487168"/>
            <a:ext cx="6888175"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You get one table instead of an inbox.</a:t>
            </a:r>
            <a:endParaRPr sz="2400">
              <a:solidFill>
                <a:schemeClr val="dk1"/>
              </a:solidFill>
              <a:latin typeface="Calibri"/>
              <a:ea typeface="Calibri"/>
              <a:cs typeface="Calibri"/>
              <a:sym typeface="Calibri"/>
            </a:endParaRPr>
          </a:p>
        </p:txBody>
      </p:sp>
      <p:sp>
        <p:nvSpPr>
          <p:cNvPr id="147" name="Google Shape;147;p13"/>
          <p:cNvSpPr/>
          <p:nvPr/>
        </p:nvSpPr>
        <p:spPr>
          <a:xfrm>
            <a:off x="3992728" y="4160520"/>
            <a:ext cx="4206240" cy="685800"/>
          </a:xfrm>
          <a:prstGeom prst="roundRect">
            <a:avLst>
              <a:gd fmla="val 49333" name="adj"/>
            </a:avLst>
          </a:prstGeom>
          <a:solidFill>
            <a:srgbClr val="F7F3E9"/>
          </a:solidFill>
          <a:ln>
            <a:noFill/>
          </a:ln>
          <a:effectLst>
            <a:outerShdw blurRad="127000" rotWithShape="0" algn="bl" dir="5400000" dist="50800">
              <a:srgbClr val="000000">
                <a:alpha val="3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8" name="Google Shape;148;p13"/>
          <p:cNvSpPr/>
          <p:nvPr/>
        </p:nvSpPr>
        <p:spPr>
          <a:xfrm>
            <a:off x="3992728" y="4160520"/>
            <a:ext cx="4206240" cy="68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C2333"/>
              </a:buClr>
              <a:buSzPts val="1600"/>
              <a:buFont typeface="Courier New"/>
              <a:buNone/>
            </a:pPr>
            <a:r>
              <a:rPr lang="en-US" sz="1600">
                <a:solidFill>
                  <a:srgbClr val="1C2333"/>
                </a:solidFill>
                <a:latin typeface="Courier New"/>
                <a:ea typeface="Courier New"/>
                <a:cs typeface="Courier New"/>
                <a:sym typeface="Courier New"/>
              </a:rPr>
              <a:t>Triage my inbox.</a:t>
            </a:r>
            <a:endParaRPr sz="1600">
              <a:solidFill>
                <a:schemeClr val="dk1"/>
              </a:solidFill>
              <a:latin typeface="Calibri"/>
              <a:ea typeface="Calibri"/>
              <a:cs typeface="Calibri"/>
              <a:sym typeface="Calibri"/>
            </a:endParaRPr>
          </a:p>
        </p:txBody>
      </p:sp>
      <p:sp>
        <p:nvSpPr>
          <p:cNvPr id="149" name="Google Shape;149;p13"/>
          <p:cNvSpPr/>
          <p:nvPr/>
        </p:nvSpPr>
        <p:spPr>
          <a:xfrm>
            <a:off x="914400" y="5029200"/>
            <a:ext cx="10362895"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893"/>
              </a:buClr>
              <a:buSzPts val="1350"/>
              <a:buFont typeface="Inter"/>
              <a:buNone/>
            </a:pPr>
            <a:r>
              <a:rPr i="1" lang="en-US" sz="1350">
                <a:solidFill>
                  <a:srgbClr val="AFA893"/>
                </a:solidFill>
                <a:latin typeface="Inter"/>
                <a:ea typeface="Inter"/>
                <a:cs typeface="Inter"/>
                <a:sym typeface="Inter"/>
              </a:rPr>
              <a:t>— the entire daily ritual, from now on</a:t>
            </a:r>
            <a:endParaRPr sz="1350">
              <a:solidFill>
                <a:schemeClr val="dk1"/>
              </a:solidFill>
              <a:latin typeface="Calibri"/>
              <a:ea typeface="Calibri"/>
              <a:cs typeface="Calibri"/>
              <a:sym typeface="Calibri"/>
            </a:endParaRPr>
          </a:p>
        </p:txBody>
      </p:sp>
      <p:sp>
        <p:nvSpPr>
          <p:cNvPr id="150" name="Google Shape;150;p13"/>
          <p:cNvSpPr/>
          <p:nvPr/>
        </p:nvSpPr>
        <p:spPr>
          <a:xfrm>
            <a:off x="914400" y="5623560"/>
            <a:ext cx="10362895"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B94A"/>
              </a:buClr>
              <a:buSzPts val="1600"/>
              <a:buFont typeface="Playfair Display"/>
              <a:buNone/>
            </a:pPr>
            <a:r>
              <a:rPr i="1" lang="en-US" sz="2200">
                <a:solidFill>
                  <a:srgbClr val="DDB94A"/>
                </a:solidFill>
                <a:latin typeface="Playfair Display"/>
                <a:ea typeface="Playfair Display"/>
                <a:cs typeface="Playfair Display"/>
                <a:sym typeface="Playfair Display"/>
              </a:rPr>
              <a:t>Chat is a conversation. A project is a standing arrangement.</a:t>
            </a:r>
            <a:endParaRPr sz="22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55" name="Shape 155"/>
        <p:cNvGrpSpPr/>
        <p:nvPr/>
      </p:nvGrpSpPr>
      <p:grpSpPr>
        <a:xfrm>
          <a:off x="0" y="0"/>
          <a:ext cx="0" cy="0"/>
          <a:chOff x="0" y="0"/>
          <a:chExt cx="0" cy="0"/>
        </a:xfrm>
      </p:grpSpPr>
      <p:sp>
        <p:nvSpPr>
          <p:cNvPr id="156" name="Google Shape;156;p14"/>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03 · SKILL + SCHEDULE — DONNA, FULL TIME</a:t>
            </a:r>
            <a:endParaRPr sz="1200">
              <a:solidFill>
                <a:schemeClr val="dk1"/>
              </a:solidFill>
              <a:latin typeface="Calibri"/>
              <a:ea typeface="Calibri"/>
              <a:cs typeface="Calibri"/>
              <a:sym typeface="Calibri"/>
            </a:endParaRPr>
          </a:p>
        </p:txBody>
      </p:sp>
      <p:sp>
        <p:nvSpPr>
          <p:cNvPr id="157" name="Google Shape;157;p14"/>
          <p:cNvSpPr/>
          <p:nvPr/>
        </p:nvSpPr>
        <p:spPr>
          <a:xfrm>
            <a:off x="822960" y="868680"/>
            <a:ext cx="10545775"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200"/>
              <a:buFont typeface="Playfair Display"/>
              <a:buNone/>
            </a:pPr>
            <a:r>
              <a:rPr b="1" lang="en-US" sz="3200">
                <a:solidFill>
                  <a:srgbClr val="F7F3E9"/>
                </a:solidFill>
                <a:latin typeface="Playfair Display"/>
                <a:ea typeface="Playfair Display"/>
                <a:cs typeface="Playfair Display"/>
                <a:sym typeface="Playfair Display"/>
              </a:rPr>
              <a:t>She writes her own playbook. You hand it to Cowork.</a:t>
            </a:r>
            <a:endParaRPr sz="3200">
              <a:solidFill>
                <a:schemeClr val="dk1"/>
              </a:solidFill>
              <a:latin typeface="Calibri"/>
              <a:ea typeface="Calibri"/>
              <a:cs typeface="Calibri"/>
              <a:sym typeface="Calibri"/>
            </a:endParaRPr>
          </a:p>
        </p:txBody>
      </p:sp>
      <p:sp>
        <p:nvSpPr>
          <p:cNvPr id="158" name="Google Shape;158;p14"/>
          <p:cNvSpPr/>
          <p:nvPr/>
        </p:nvSpPr>
        <p:spPr>
          <a:xfrm>
            <a:off x="1005840" y="1874520"/>
            <a:ext cx="10180015" cy="2651760"/>
          </a:xfrm>
          <a:prstGeom prst="roundRect">
            <a:avLst>
              <a:gd fmla="val 1724"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14"/>
          <p:cNvSpPr/>
          <p:nvPr/>
        </p:nvSpPr>
        <p:spPr>
          <a:xfrm>
            <a:off x="1371600" y="2075688"/>
            <a:ext cx="944849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000">
                <a:solidFill>
                  <a:srgbClr val="5A6379"/>
                </a:solidFill>
                <a:latin typeface="Inter"/>
                <a:ea typeface="Inter"/>
                <a:cs typeface="Inter"/>
                <a:sym typeface="Inter"/>
              </a:rPr>
              <a:t>THE PLAYBOOK — PASTE INSIDE YOUR DONNA PROJECT</a:t>
            </a:r>
            <a:endParaRPr sz="1000">
              <a:solidFill>
                <a:schemeClr val="dk1"/>
              </a:solidFill>
              <a:latin typeface="Calibri"/>
              <a:ea typeface="Calibri"/>
              <a:cs typeface="Calibri"/>
              <a:sym typeface="Calibri"/>
            </a:endParaRPr>
          </a:p>
        </p:txBody>
      </p:sp>
      <p:sp>
        <p:nvSpPr>
          <p:cNvPr id="160" name="Google Shape;160;p14"/>
          <p:cNvSpPr/>
          <p:nvPr/>
        </p:nvSpPr>
        <p:spPr>
          <a:xfrm>
            <a:off x="1371600" y="2377440"/>
            <a:ext cx="9448495" cy="19202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Turn this project’s triage instructions into a reusable skill file</a:t>
            </a: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called donna-replies, modeled on the template at</a:t>
            </a: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denisekgosnell.github.io/Donna/skills/donna-replies/SKILL.md</a:t>
            </a: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Fill in every placeholder with what you already know from this project.</a:t>
            </a:r>
          </a:p>
          <a:p>
            <a:pPr indent="0" lvl="0" marL="0" marR="0" rtl="0" algn="l">
              <a:lnSpc>
                <a:spcPct val="115000"/>
              </a:lnSpc>
              <a:spcBef>
                <a:spcPts val="0"/>
              </a:spcBef>
              <a:spcAft>
                <a:spcPts val="0"/>
              </a:spcAft>
              <a:buClr>
                <a:srgbClr val="1C2333"/>
              </a:buClr>
              <a:buSzPts val="1350"/>
              <a:buFont typeface="Courier New"/>
              <a:buNone/>
            </a:pPr>
            <a:r>
              <a:rPr lang="en-US" sz="1350">
                <a:solidFill>
                  <a:srgbClr val="1C2333"/>
                </a:solidFill>
                <a:latin typeface="Courier New"/>
                <a:ea typeface="Courier New"/>
                <a:cs typeface="Courier New"/>
                <a:sym typeface="Courier New"/>
              </a:rPr>
              <a:t>Then give me the finished SKILL.md as a file I can download.</a:t>
            </a:r>
          </a:p>
        </p:txBody>
      </p:sp>
      <p:sp>
        <p:nvSpPr>
          <p:cNvPr id="161" name="Google Shape;161;p14"/>
          <p:cNvSpPr/>
          <p:nvPr/>
        </p:nvSpPr>
        <p:spPr>
          <a:xfrm>
            <a:off x="822960" y="4800600"/>
            <a:ext cx="10545775"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1400"/>
              <a:buFont typeface="Inter"/>
              <a:buNone/>
            </a:pPr>
            <a:r>
              <a:rPr lang="en-US" sz="1400">
                <a:solidFill>
                  <a:srgbClr val="AFA893"/>
                </a:solidFill>
                <a:latin typeface="Inter"/>
                <a:ea typeface="Inter"/>
                <a:cs typeface="Inter"/>
                <a:sym typeface="Inter"/>
              </a:rPr>
              <a:t>Then the hand-off: DOWNLOAD the file she gives you. Open Cowork → Skills → Add skill → UPLOAD that SKILL.md.</a:t>
            </a:r>
          </a:p>
        </p:txBody>
      </p:sp>
      <p:sp>
        <p:nvSpPr>
          <p:cNvPr id="162" name="Google Shape;162;p14"/>
          <p:cNvSpPr/>
          <p:nvPr/>
        </p:nvSpPr>
        <p:spPr>
          <a:xfrm>
            <a:off x="822960" y="5349240"/>
            <a:ext cx="10545775"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400"/>
              <a:buFont typeface="Inter"/>
              <a:buNone/>
            </a:pPr>
            <a:r>
              <a:rPr b="1" lang="en-US" sz="1400">
                <a:solidFill>
                  <a:srgbClr val="DDB94A"/>
                </a:solidFill>
                <a:latin typeface="Inter"/>
                <a:ea typeface="Inter"/>
                <a:cs typeface="Inter"/>
                <a:sym typeface="Inter"/>
              </a:rPr>
              <a:t>You should see: donna-replies in your Cowork skills list.</a:t>
            </a:r>
          </a:p>
        </p:txBody>
      </p:sp>
      <p:sp>
        <p:nvSpPr>
          <p:cNvPr id="163" name="TextBox 162"/>
          <p:cNvSpPr txBox="1"/>
          <p:nvPr/>
        </p:nvSpPr>
        <p:spPr>
          <a:xfrm>
            <a:off x="812800" y="863600"/>
            <a:ext cx="10566400" cy="190500"/>
          </a:xfrm>
          <a:prstGeom prst="rect">
            <a:avLst/>
          </a:prstGeom>
          <a:noFill/>
        </p:spPr>
        <p:txBody>
          <a:bodyPr wrap="square" lIns="0" rIns="0" tIns="0" bIns="0">
            <a:spAutoFit/>
          </a:bodyPr>
          <a:lstStyle/>
          <a:p>
            <a:pPr algn="l"/>
            <a:r>
              <a:rPr sz="950" b="1" spc="120">
                <a:solidFill>
                  <a:srgbClr val="E7C766"/>
                </a:solidFill>
                <a:latin typeface="Inter"/>
              </a:rPr>
              <a:t>FLYWHEEL: DECIDE AND OPERATE  ·  the document leaves your hands and goes on the clock</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31621"/>
        </a:solidFill>
      </p:bgPr>
    </p:bg>
    <p:spTree>
      <p:nvGrpSpPr>
        <p:cNvPr id="167" name="Shape 167"/>
        <p:cNvGrpSpPr/>
        <p:nvPr/>
      </p:nvGrpSpPr>
      <p:grpSpPr>
        <a:xfrm>
          <a:off x="0" y="0"/>
          <a:ext cx="0" cy="0"/>
          <a:chOff x="0" y="0"/>
          <a:chExt cx="0" cy="0"/>
        </a:xfrm>
      </p:grpSpPr>
      <p:sp>
        <p:nvSpPr>
          <p:cNvPr id="168" name="Google Shape;168;p15"/>
          <p:cNvSpPr/>
          <p:nvPr/>
        </p:nvSpPr>
        <p:spPr>
          <a:xfrm>
            <a:off x="822960" y="1554480"/>
            <a:ext cx="10545775" cy="265176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She never sends.</a:t>
            </a:r>
            <a:endParaRPr sz="6600">
              <a:solidFill>
                <a:schemeClr val="dk1"/>
              </a:solidFill>
              <a:latin typeface="Calibri"/>
              <a:ea typeface="Calibri"/>
              <a:cs typeface="Calibri"/>
              <a:sym typeface="Calibri"/>
            </a:endParaRPr>
          </a:p>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Ever.</a:t>
            </a:r>
            <a:endParaRPr sz="6600">
              <a:solidFill>
                <a:schemeClr val="dk1"/>
              </a:solidFill>
              <a:latin typeface="Calibri"/>
              <a:ea typeface="Calibri"/>
              <a:cs typeface="Calibri"/>
              <a:sym typeface="Calibri"/>
            </a:endParaRPr>
          </a:p>
        </p:txBody>
      </p:sp>
      <p:sp>
        <p:nvSpPr>
          <p:cNvPr id="169" name="Google Shape;169;p15"/>
          <p:cNvSpPr/>
          <p:nvPr/>
        </p:nvSpPr>
        <p:spPr>
          <a:xfrm>
            <a:off x="1463040" y="4389120"/>
            <a:ext cx="9265615" cy="1188720"/>
          </a:xfrm>
          <a:prstGeom prst="rect">
            <a:avLst/>
          </a:prstGeom>
          <a:noFill/>
          <a:ln>
            <a:noFill/>
          </a:ln>
        </p:spPr>
        <p:txBody>
          <a:bodyPr anchorCtr="0" anchor="ctr" bIns="0" lIns="0" spcFirstLastPara="1" rIns="0" wrap="square" tIns="0">
            <a:noAutofit/>
          </a:bodyPr>
          <a:lstStyle/>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Every reply and every handoff note lands in your Drafts and waits for your say-so. She never deletes anything, either.</a:t>
            </a: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Written into the skill itself: “Never send. Never delete. No exceptions.”</a:t>
            </a:r>
          </a:p>
        </p:txBody>
      </p:sp>
      <p:sp>
        <p:nvSpPr>
          <p:cNvPr id="170" name="Google Shape;170;p15"/>
          <p:cNvSpPr/>
          <p:nvPr/>
        </p:nvSpPr>
        <p:spPr>
          <a:xfrm>
            <a:off x="6013552" y="1051560"/>
            <a:ext cx="164592" cy="164592"/>
          </a:xfrm>
          <a:prstGeom prst="diamond">
            <a:avLst/>
          </a:prstGeom>
          <a:solidFill>
            <a:srgbClr val="F7F3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75" name="Shape 175"/>
        <p:cNvGrpSpPr/>
        <p:nvPr/>
      </p:nvGrpSpPr>
      <p:grpSpPr>
        <a:xfrm>
          <a:off x="0" y="0"/>
          <a:ext cx="0" cy="0"/>
          <a:chOff x="0" y="0"/>
          <a:chExt cx="0" cy="0"/>
        </a:xfrm>
      </p:grpSpPr>
      <p:sp>
        <p:nvSpPr>
          <p:cNvPr id="176" name="Google Shape;176;p16"/>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03 · SKILL + SCHEDULE — DONNA, FULL TIME</a:t>
            </a:r>
            <a:endParaRPr sz="1200">
              <a:solidFill>
                <a:schemeClr val="dk1"/>
              </a:solidFill>
              <a:latin typeface="Calibri"/>
              <a:ea typeface="Calibri"/>
              <a:cs typeface="Calibri"/>
              <a:sym typeface="Calibri"/>
            </a:endParaRPr>
          </a:p>
        </p:txBody>
      </p:sp>
      <p:sp>
        <p:nvSpPr>
          <p:cNvPr id="177" name="Google Shape;177;p16"/>
          <p:cNvSpPr/>
          <p:nvPr/>
        </p:nvSpPr>
        <p:spPr>
          <a:xfrm>
            <a:off x="822960" y="868680"/>
            <a:ext cx="10545775"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000"/>
              <a:buFont typeface="Playfair Display"/>
              <a:buNone/>
            </a:pPr>
            <a:r>
              <a:rPr b="1" lang="en-US" sz="3000">
                <a:solidFill>
                  <a:srgbClr val="F7F3E9"/>
                </a:solidFill>
                <a:latin typeface="Playfair Display"/>
                <a:ea typeface="Playfair Display"/>
                <a:cs typeface="Playfair Display"/>
                <a:sym typeface="Playfair Display"/>
              </a:rPr>
              <a:t>Give her the evening shift.</a:t>
            </a:r>
            <a:endParaRPr sz="3000">
              <a:solidFill>
                <a:schemeClr val="dk1"/>
              </a:solidFill>
              <a:latin typeface="Calibri"/>
              <a:ea typeface="Calibri"/>
              <a:cs typeface="Calibri"/>
              <a:sym typeface="Calibri"/>
            </a:endParaRPr>
          </a:p>
        </p:txBody>
      </p:sp>
      <p:sp>
        <p:nvSpPr>
          <p:cNvPr id="178" name="Google Shape;178;p16"/>
          <p:cNvSpPr/>
          <p:nvPr/>
        </p:nvSpPr>
        <p:spPr>
          <a:xfrm>
            <a:off x="822960" y="1737360"/>
            <a:ext cx="10545775" cy="3611880"/>
          </a:xfrm>
          <a:prstGeom prst="roundRect">
            <a:avLst>
              <a:gd fmla="val 1266" name="adj"/>
            </a:avLst>
          </a:prstGeom>
          <a:solidFill>
            <a:srgbClr val="F7F3E9"/>
          </a:solidFill>
          <a:ln>
            <a:noFill/>
          </a:ln>
          <a:effectLst>
            <a:outerShdw blurRad="177800" rotWithShape="0" algn="bl" dir="5400000" dist="76200">
              <a:srgbClr val="000000">
                <a:alpha val="34902"/>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16"/>
          <p:cNvSpPr/>
          <p:nvPr/>
        </p:nvSpPr>
        <p:spPr>
          <a:xfrm>
            <a:off x="1188720" y="1938528"/>
            <a:ext cx="9814255"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6379"/>
              </a:buClr>
              <a:buSzPts val="1000"/>
              <a:buFont typeface="Inter"/>
              <a:buNone/>
            </a:pPr>
            <a:r>
              <a:rPr b="1" lang="en-US" sz="1700">
                <a:solidFill>
                  <a:srgbClr val="5A6379"/>
                </a:solidFill>
                <a:latin typeface="Inter"/>
                <a:ea typeface="Inter"/>
                <a:cs typeface="Inter"/>
                <a:sym typeface="Inter"/>
              </a:rPr>
              <a:t>THE STANDING ORDER — COWORK → SCHEDULED TASKS → NEW TASK</a:t>
            </a:r>
            <a:endParaRPr sz="1700">
              <a:solidFill>
                <a:schemeClr val="dk1"/>
              </a:solidFill>
              <a:latin typeface="Calibri"/>
              <a:ea typeface="Calibri"/>
              <a:cs typeface="Calibri"/>
              <a:sym typeface="Calibri"/>
            </a:endParaRPr>
          </a:p>
        </p:txBody>
      </p:sp>
      <p:sp>
        <p:nvSpPr>
          <p:cNvPr id="180" name="Google Shape;180;p16"/>
          <p:cNvSpPr/>
          <p:nvPr/>
        </p:nvSpPr>
        <p:spPr>
          <a:xfrm>
            <a:off x="1188720" y="2240280"/>
            <a:ext cx="9814255" cy="288036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Every weekday at 4:30 PM, use my donna-replies skill:</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1. Triage today’s inbox; save red replies + yellow handoffs to my Drafts.</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2. Write my Daily Briefing doc, "Daily Briefing: [today’s date]":</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 the 5 things that need ME   • the replies you drafted</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 what you ignored and why   • my first meeting tomorrow</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3. Save it to my Google Drive in a folder called "Donna Briefings".</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4. Create a calendar event today, 4:55-5:00 PM, "📋 Briefing with</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   Donna", doc link in the description, EMAIL reminder 1 minute before.</a:t>
            </a:r>
          </a:p>
          <a:p>
            <a:pPr indent="0" lvl="0" marL="0" marR="0" rtl="0" algn="l">
              <a:lnSpc>
                <a:spcPct val="125000"/>
              </a:lnSpc>
              <a:spcBef>
                <a:spcPts val="0"/>
              </a:spcBef>
              <a:spcAft>
                <a:spcPts val="0"/>
              </a:spcAft>
              <a:buClr>
                <a:srgbClr val="1C2333"/>
              </a:buClr>
              <a:buSzPts val="1200"/>
              <a:buFont typeface="Courier New"/>
              <a:buNone/>
            </a:pPr>
            <a:r>
              <a:rPr lang="en-US">
                <a:solidFill>
                  <a:srgbClr val="1C2333"/>
                </a:solidFill>
                <a:latin typeface="Courier New"/>
                <a:ea typeface="Courier New"/>
                <a:cs typeface="Courier New"/>
                <a:sym typeface="Courier New"/>
              </a:rPr>
              <a:t>Also: do a dry run for today RIGHT NOW so I can check your work.</a:t>
            </a:r>
          </a:p>
        </p:txBody>
      </p:sp>
      <p:sp>
        <p:nvSpPr>
          <p:cNvPr id="181" name="Google Shape;181;p16"/>
          <p:cNvSpPr/>
          <p:nvPr/>
        </p:nvSpPr>
        <p:spPr>
          <a:xfrm>
            <a:off x="15544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4:30  </a:t>
            </a:r>
            <a:r>
              <a:rPr lang="en-US" sz="1300">
                <a:solidFill>
                  <a:srgbClr val="AFA893"/>
                </a:solidFill>
                <a:latin typeface="Inter"/>
                <a:ea typeface="Inter"/>
                <a:cs typeface="Inter"/>
                <a:sym typeface="Inter"/>
              </a:rPr>
              <a:t>she works</a:t>
            </a:r>
            <a:endParaRPr sz="2000">
              <a:solidFill>
                <a:schemeClr val="dk1"/>
              </a:solidFill>
              <a:latin typeface="Calibri"/>
              <a:ea typeface="Calibri"/>
              <a:cs typeface="Calibri"/>
              <a:sym typeface="Calibri"/>
            </a:endParaRPr>
          </a:p>
        </p:txBody>
      </p:sp>
      <p:sp>
        <p:nvSpPr>
          <p:cNvPr id="182" name="Google Shape;182;p16"/>
          <p:cNvSpPr/>
          <p:nvPr/>
        </p:nvSpPr>
        <p:spPr>
          <a:xfrm>
            <a:off x="47548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4:54  </a:t>
            </a:r>
            <a:r>
              <a:rPr lang="en-US" sz="1300">
                <a:solidFill>
                  <a:srgbClr val="AFA893"/>
                </a:solidFill>
                <a:latin typeface="Inter"/>
                <a:ea typeface="Inter"/>
                <a:cs typeface="Inter"/>
                <a:sym typeface="Inter"/>
              </a:rPr>
              <a:t>you’re notified</a:t>
            </a:r>
            <a:endParaRPr sz="2000">
              <a:solidFill>
                <a:schemeClr val="dk1"/>
              </a:solidFill>
              <a:latin typeface="Calibri"/>
              <a:ea typeface="Calibri"/>
              <a:cs typeface="Calibri"/>
              <a:sym typeface="Calibri"/>
            </a:endParaRPr>
          </a:p>
        </p:txBody>
      </p:sp>
      <p:sp>
        <p:nvSpPr>
          <p:cNvPr id="183" name="Google Shape;183;p16"/>
          <p:cNvSpPr/>
          <p:nvPr/>
        </p:nvSpPr>
        <p:spPr>
          <a:xfrm>
            <a:off x="7955280" y="5669280"/>
            <a:ext cx="31089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000"/>
              <a:buFont typeface="Playfair Display"/>
              <a:buNone/>
            </a:pPr>
            <a:r>
              <a:rPr b="1" lang="en-US" sz="2000">
                <a:solidFill>
                  <a:srgbClr val="C9A227"/>
                </a:solidFill>
                <a:latin typeface="Playfair Display"/>
                <a:ea typeface="Playfair Display"/>
                <a:cs typeface="Playfair Display"/>
                <a:sym typeface="Playfair Display"/>
              </a:rPr>
              <a:t>4:55  </a:t>
            </a:r>
            <a:r>
              <a:rPr lang="en-US" sz="1300">
                <a:solidFill>
                  <a:srgbClr val="AFA893"/>
                </a:solidFill>
                <a:latin typeface="Inter"/>
                <a:ea typeface="Inter"/>
                <a:cs typeface="Inter"/>
                <a:sym typeface="Inter"/>
              </a:rPr>
              <a:t>a five-minute read</a:t>
            </a:r>
            <a:endParaRPr sz="20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88" name="Shape 188"/>
        <p:cNvGrpSpPr/>
        <p:nvPr/>
      </p:nvGrpSpPr>
      <p:grpSpPr>
        <a:xfrm>
          <a:off x="0" y="0"/>
          <a:ext cx="0" cy="0"/>
          <a:chOff x="0" y="0"/>
          <a:chExt cx="0" cy="0"/>
        </a:xfrm>
      </p:grpSpPr>
      <p:sp>
        <p:nvSpPr>
          <p:cNvPr id="189" name="Google Shape;189;p1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CASE FILE 03 · THE DRY RUN — CHECKPOINT</a:t>
            </a:r>
            <a:endParaRPr sz="1200">
              <a:solidFill>
                <a:schemeClr val="dk1"/>
              </a:solidFill>
              <a:latin typeface="Calibri"/>
              <a:ea typeface="Calibri"/>
              <a:cs typeface="Calibri"/>
              <a:sym typeface="Calibri"/>
            </a:endParaRPr>
          </a:p>
        </p:txBody>
      </p:sp>
      <p:sp>
        <p:nvSpPr>
          <p:cNvPr id="190" name="Google Shape;190;p17"/>
          <p:cNvSpPr/>
          <p:nvPr/>
        </p:nvSpPr>
        <p:spPr>
          <a:xfrm>
            <a:off x="822960" y="1417320"/>
            <a:ext cx="10545775" cy="228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13000"/>
              <a:buFont typeface="Playfair Display"/>
              <a:buNone/>
            </a:pPr>
            <a:r>
              <a:rPr b="1" lang="en-US" sz="13000">
                <a:solidFill>
                  <a:srgbClr val="C9A227"/>
                </a:solidFill>
                <a:latin typeface="Playfair Display"/>
                <a:ea typeface="Playfair Display"/>
                <a:cs typeface="Playfair Display"/>
                <a:sym typeface="Playfair Display"/>
              </a:rPr>
              <a:t>4:54 PM</a:t>
            </a:r>
          </a:p>
        </p:txBody>
      </p:sp>
      <p:sp>
        <p:nvSpPr>
          <p:cNvPr id="191" name="Google Shape;191;p17"/>
          <p:cNvSpPr/>
          <p:nvPr/>
        </p:nvSpPr>
        <p:spPr>
          <a:xfrm>
            <a:off x="914400" y="3977640"/>
            <a:ext cx="10362895"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Her first briefing arrives before you leave the room.</a:t>
            </a:r>
            <a:endParaRPr sz="2400">
              <a:solidFill>
                <a:schemeClr val="dk1"/>
              </a:solidFill>
              <a:latin typeface="Calibri"/>
              <a:ea typeface="Calibri"/>
              <a:cs typeface="Calibri"/>
              <a:sym typeface="Calibri"/>
            </a:endParaRPr>
          </a:p>
        </p:txBody>
      </p:sp>
      <p:sp>
        <p:nvSpPr>
          <p:cNvPr id="192" name="Google Shape;192;p17"/>
          <p:cNvSpPr/>
          <p:nvPr/>
        </p:nvSpPr>
        <p:spPr>
          <a:xfrm>
            <a:off x="1463040" y="4800600"/>
            <a:ext cx="9265615" cy="73152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The trick: Claude never emails you. Your calendar does. </a:t>
            </a:r>
            <a:endParaRPr i="1" sz="1950">
              <a:solidFill>
                <a:srgbClr val="AFA893"/>
              </a:solidFill>
              <a:latin typeface="Inter"/>
              <a:ea typeface="Inter"/>
              <a:cs typeface="Inter"/>
              <a:sym typeface="Inter"/>
            </a:endParaRPr>
          </a:p>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The briefing lands from a sender you already trust.</a:t>
            </a:r>
            <a:endParaRPr sz="195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31621"/>
        </a:solidFill>
      </p:bgPr>
    </p:bg>
    <p:spTree>
      <p:nvGrpSpPr>
        <p:cNvPr id="167" name="Shape 167"/>
        <p:cNvGrpSpPr/>
        <p:nvPr/>
      </p:nvGrpSpPr>
      <p:grpSpPr>
        <a:xfrm>
          <a:off x="0" y="0"/>
          <a:ext cx="0" cy="0"/>
          <a:chOff x="0" y="0"/>
          <a:chExt cx="0" cy="0"/>
        </a:xfrm>
      </p:grpSpPr>
      <p:sp>
        <p:nvSpPr>
          <p:cNvPr id="168" name="Google Shape;168;p15"/>
          <p:cNvSpPr/>
          <p:nvPr/>
        </p:nvSpPr>
        <p:spPr>
          <a:xfrm>
            <a:off x="822960" y="1554480"/>
            <a:ext cx="10545775" cy="265176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This was never</a:t>
            </a:r>
          </a:p>
          <a:p>
            <a:pPr indent="0" lvl="0" marL="0" marR="0" rtl="0" algn="ctr">
              <a:lnSpc>
                <a:spcPct val="105000"/>
              </a:lnSpc>
              <a:spcBef>
                <a:spcPts val="0"/>
              </a:spcBef>
              <a:spcAft>
                <a:spcPts val="0"/>
              </a:spcAft>
              <a:buClr>
                <a:srgbClr val="FFFFFF"/>
              </a:buClr>
              <a:buSzPts val="6600"/>
              <a:buFont typeface="Playfair Display"/>
              <a:buNone/>
            </a:pPr>
            <a:r>
              <a:rPr b="1" lang="en-US" sz="6600">
                <a:solidFill>
                  <a:srgbClr val="FFFFFF"/>
                </a:solidFill>
                <a:latin typeface="Playfair Display"/>
                <a:ea typeface="Playfair Display"/>
                <a:cs typeface="Playfair Display"/>
                <a:sym typeface="Playfair Display"/>
              </a:rPr>
              <a:t>about email.</a:t>
            </a:r>
          </a:p>
        </p:txBody>
      </p:sp>
      <p:sp>
        <p:nvSpPr>
          <p:cNvPr id="169" name="Google Shape;169;p15"/>
          <p:cNvSpPr/>
          <p:nvPr/>
        </p:nvSpPr>
        <p:spPr>
          <a:xfrm>
            <a:off x="1463040" y="4389120"/>
            <a:ext cx="9265615" cy="1188720"/>
          </a:xfrm>
          <a:prstGeom prst="rect">
            <a:avLst/>
          </a:prstGeom>
          <a:noFill/>
          <a:ln>
            <a:noFill/>
          </a:ln>
        </p:spPr>
        <p:txBody>
          <a:bodyPr anchorCtr="0" anchor="ctr" bIns="0" lIns="0" spcFirstLastPara="1" rIns="0" wrap="square" tIns="0">
            <a:noAutofit/>
          </a:bodyPr>
          <a:lstStyle/>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You automated a workflow today by writing plain English: rules became a project, the project became a skill, the skill got a schedule.</a:t>
            </a:r>
          </a:p>
          <a:p>
            <a:pPr indent="0" lvl="0" marL="0" marR="0" rtl="0" algn="ctr">
              <a:lnSpc>
                <a:spcPct val="130000"/>
              </a:lnSpc>
              <a:spcBef>
                <a:spcPts val="0"/>
              </a:spcBef>
              <a:spcAft>
                <a:spcPts val="0"/>
              </a:spcAft>
              <a:buClr>
                <a:srgbClr val="F7F3E9"/>
              </a:buClr>
              <a:buSzPts val="1600"/>
              <a:buFont typeface="Inter"/>
              <a:buNone/>
            </a:pPr>
            <a:r>
              <a:rPr lang="en-US" sz="1600">
                <a:solidFill>
                  <a:srgbClr val="F7F3E9"/>
                </a:solidFill>
                <a:latin typeface="Inter"/>
                <a:ea typeface="Inter"/>
                <a:cs typeface="Inter"/>
                <a:sym typeface="Inter"/>
              </a:rPr>
              <a:t>Email was the rehearsal. The same flywheel runs any workflow you can describe in words.</a:t>
            </a:r>
          </a:p>
        </p:txBody>
      </p:sp>
      <p:sp>
        <p:nvSpPr>
          <p:cNvPr id="170" name="Google Shape;170;p15"/>
          <p:cNvSpPr/>
          <p:nvPr/>
        </p:nvSpPr>
        <p:spPr>
          <a:xfrm>
            <a:off x="6013552" y="1051560"/>
            <a:ext cx="164592" cy="164592"/>
          </a:xfrm>
          <a:prstGeom prst="diamond">
            <a:avLst/>
          </a:prstGeom>
          <a:solidFill>
            <a:srgbClr val="F7F3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52" name="Shape 52"/>
        <p:cNvGrpSpPr/>
        <p:nvPr/>
      </p:nvGrpSpPr>
      <p:grpSpPr>
        <a:xfrm>
          <a:off x="0" y="0"/>
          <a:ext cx="0" cy="0"/>
          <a:chOff x="0" y="0"/>
          <a:chExt cx="0" cy="0"/>
        </a:xfrm>
      </p:grpSpPr>
      <p:sp>
        <p:nvSpPr>
          <p:cNvPr id="53" name="Google Shape;53;p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WHERE ELSE SHE WORKS</a:t>
            </a:r>
          </a:p>
        </p:txBody>
      </p:sp>
      <p:sp>
        <p:nvSpPr>
          <p:cNvPr id="54" name="Google Shape;54;p7"/>
          <p:cNvSpPr/>
          <p:nvPr/>
        </p:nvSpPr>
        <p:spPr>
          <a:xfrm>
            <a:off x="822960" y="868680"/>
            <a:ext cx="10545775"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3800"/>
              <a:buFont typeface="Playfair Display"/>
              <a:buNone/>
            </a:pPr>
            <a:r>
              <a:rPr b="1" lang="en-US" sz="3800">
                <a:solidFill>
                  <a:srgbClr val="F7F3E9"/>
                </a:solidFill>
                <a:latin typeface="Playfair Display"/>
                <a:ea typeface="Playfair Display"/>
                <a:cs typeface="Playfair Display"/>
                <a:sym typeface="Playfair Display"/>
              </a:rPr>
              <a:t>Same flywheel, different workflows</a:t>
            </a:r>
          </a:p>
        </p:txBody>
      </p:sp>
      <p:sp>
        <p:nvSpPr>
          <p:cNvPr id="55" name="Google Shape;55;p7"/>
          <p:cNvSpPr/>
          <p:nvPr/>
        </p:nvSpPr>
        <p:spPr>
          <a:xfrm>
            <a:off x="822960"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7"/>
          <p:cNvSpPr/>
          <p:nvPr/>
        </p:nvSpPr>
        <p:spPr>
          <a:xfrm>
            <a:off x="1097280"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01</a:t>
            </a:r>
            <a:endParaRPr sz="2600">
              <a:solidFill>
                <a:schemeClr val="dk1"/>
              </a:solidFill>
              <a:latin typeface="Calibri"/>
              <a:ea typeface="Calibri"/>
              <a:cs typeface="Calibri"/>
              <a:sym typeface="Calibri"/>
            </a:endParaRPr>
          </a:p>
        </p:txBody>
      </p:sp>
      <p:sp>
        <p:nvSpPr>
          <p:cNvPr id="57" name="Google Shape;57;p7"/>
          <p:cNvSpPr/>
          <p:nvPr/>
        </p:nvSpPr>
        <p:spPr>
          <a:xfrm>
            <a:off x="1097280"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TWO CALENDARS</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MORNING SHIFT</a:t>
            </a:r>
          </a:p>
        </p:txBody>
      </p:sp>
      <p:sp>
        <p:nvSpPr>
          <p:cNvPr id="58" name="Google Shape;58;p7"/>
          <p:cNvSpPr/>
          <p:nvPr/>
        </p:nvSpPr>
        <p:spPr>
          <a:xfrm>
            <a:off x="1097280"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She reads every calendar you have, writes one unified day, flags the conflicts.</a:t>
            </a:r>
          </a:p>
        </p:txBody>
      </p:sp>
      <p:sp>
        <p:nvSpPr>
          <p:cNvPr id="59" name="Google Shape;59;p7"/>
          <p:cNvSpPr/>
          <p:nvPr/>
        </p:nvSpPr>
        <p:spPr>
          <a:xfrm>
            <a:off x="3584448"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 name="Google Shape;60;p7"/>
          <p:cNvSpPr/>
          <p:nvPr/>
        </p:nvSpPr>
        <p:spPr>
          <a:xfrm>
            <a:off x="3858768"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02</a:t>
            </a:r>
            <a:endParaRPr sz="2600">
              <a:solidFill>
                <a:schemeClr val="dk1"/>
              </a:solidFill>
              <a:latin typeface="Calibri"/>
              <a:ea typeface="Calibri"/>
              <a:cs typeface="Calibri"/>
              <a:sym typeface="Calibri"/>
            </a:endParaRPr>
          </a:p>
        </p:txBody>
      </p:sp>
      <p:sp>
        <p:nvSpPr>
          <p:cNvPr id="61" name="Google Shape;61;p7"/>
          <p:cNvSpPr/>
          <p:nvPr/>
        </p:nvSpPr>
        <p:spPr>
          <a:xfrm>
            <a:off x="3858768"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MEETING PREP</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BRIEFING</a:t>
            </a:r>
          </a:p>
        </p:txBody>
      </p:sp>
      <p:sp>
        <p:nvSpPr>
          <p:cNvPr id="62" name="Google Shape;62;p7"/>
          <p:cNvSpPr/>
          <p:nvPr/>
        </p:nvSpPr>
        <p:spPr>
          <a:xfrm>
            <a:off x="3858768"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Before each meeting: who’s in the room, open items, last emails. One page.</a:t>
            </a:r>
          </a:p>
        </p:txBody>
      </p:sp>
      <p:sp>
        <p:nvSpPr>
          <p:cNvPr id="63" name="Google Shape;63;p7"/>
          <p:cNvSpPr/>
          <p:nvPr/>
        </p:nvSpPr>
        <p:spPr>
          <a:xfrm>
            <a:off x="6345936"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7"/>
          <p:cNvSpPr/>
          <p:nvPr/>
        </p:nvSpPr>
        <p:spPr>
          <a:xfrm>
            <a:off x="6620256"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03</a:t>
            </a:r>
            <a:endParaRPr sz="2600">
              <a:solidFill>
                <a:schemeClr val="dk1"/>
              </a:solidFill>
              <a:latin typeface="Calibri"/>
              <a:ea typeface="Calibri"/>
              <a:cs typeface="Calibri"/>
              <a:sym typeface="Calibri"/>
            </a:endParaRPr>
          </a:p>
        </p:txBody>
      </p:sp>
      <p:sp>
        <p:nvSpPr>
          <p:cNvPr id="65" name="Google Shape;65;p7"/>
          <p:cNvSpPr/>
          <p:nvPr/>
        </p:nvSpPr>
        <p:spPr>
          <a:xfrm>
            <a:off x="6620256"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CLIENT FOLLOW-UPS</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SWEEP</a:t>
            </a:r>
          </a:p>
        </p:txBody>
      </p:sp>
      <p:sp>
        <p:nvSpPr>
          <p:cNvPr id="66" name="Google Shape;66;p7"/>
          <p:cNvSpPr/>
          <p:nvPr/>
        </p:nvSpPr>
        <p:spPr>
          <a:xfrm>
            <a:off x="6620256"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A weekly pass over every thread still waiting on you, drafts included.</a:t>
            </a:r>
          </a:p>
        </p:txBody>
      </p:sp>
      <p:sp>
        <p:nvSpPr>
          <p:cNvPr id="67" name="Google Shape;67;p7"/>
          <p:cNvSpPr/>
          <p:nvPr/>
        </p:nvSpPr>
        <p:spPr>
          <a:xfrm>
            <a:off x="9107424" y="2011680"/>
            <a:ext cx="2542032" cy="3108960"/>
          </a:xfrm>
          <a:prstGeom prst="roundRect">
            <a:avLst>
              <a:gd fmla="val 2158" name="adj"/>
            </a:avLst>
          </a:prstGeom>
          <a:solidFill>
            <a:srgbClr val="1B2A4A"/>
          </a:solidFill>
          <a:ln cap="flat" cmpd="sng" w="9525">
            <a:solidFill>
              <a:srgbClr val="C9A227">
                <a:alpha val="65098"/>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7"/>
          <p:cNvSpPr/>
          <p:nvPr/>
        </p:nvSpPr>
        <p:spPr>
          <a:xfrm>
            <a:off x="9381744" y="2108343"/>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2600"/>
              <a:buFont typeface="Playfair Display"/>
              <a:buNone/>
            </a:pPr>
            <a:r>
              <a:rPr b="1" lang="en-US" sz="2600">
                <a:solidFill>
                  <a:srgbClr val="C9A227"/>
                </a:solidFill>
                <a:latin typeface="Playfair Display"/>
                <a:ea typeface="Playfair Display"/>
                <a:cs typeface="Playfair Display"/>
                <a:sym typeface="Playfair Display"/>
              </a:rPr>
              <a:t>04</a:t>
            </a:r>
            <a:endParaRPr sz="2600">
              <a:solidFill>
                <a:schemeClr val="dk1"/>
              </a:solidFill>
              <a:latin typeface="Calibri"/>
              <a:ea typeface="Calibri"/>
              <a:cs typeface="Calibri"/>
              <a:sym typeface="Calibri"/>
            </a:endParaRPr>
          </a:p>
        </p:txBody>
      </p:sp>
      <p:sp>
        <p:nvSpPr>
          <p:cNvPr id="69" name="Google Shape;69;p7"/>
          <p:cNvSpPr/>
          <p:nvPr/>
        </p:nvSpPr>
        <p:spPr>
          <a:xfrm>
            <a:off x="9381744" y="2526355"/>
            <a:ext cx="1993392"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SUPPLIER NOISE</a:t>
            </a:r>
          </a:p>
          <a:p>
            <a:pPr indent="0" lvl="0" marL="0" marR="0" rtl="0" algn="l">
              <a:spcBef>
                <a:spcPts val="0"/>
              </a:spcBef>
              <a:spcAft>
                <a:spcPts val="0"/>
              </a:spcAft>
              <a:buClr>
                <a:srgbClr val="F7F3E9"/>
              </a:buClr>
              <a:buSzPts val="1250"/>
              <a:buFont typeface="Inter"/>
              <a:buNone/>
            </a:pPr>
            <a:r>
              <a:rPr b="1" lang="en-US" sz="1250">
                <a:solidFill>
                  <a:srgbClr val="F7F3E9"/>
                </a:solidFill>
                <a:latin typeface="Inter"/>
                <a:ea typeface="Inter"/>
                <a:cs typeface="Inter"/>
                <a:sym typeface="Inter"/>
              </a:rPr>
              <a:t>THE DIGEST</a:t>
            </a:r>
          </a:p>
        </p:txBody>
      </p:sp>
      <p:sp>
        <p:nvSpPr>
          <p:cNvPr id="70" name="Google Shape;70;p7"/>
          <p:cNvSpPr/>
          <p:nvPr/>
        </p:nvSpPr>
        <p:spPr>
          <a:xfrm>
            <a:off x="9381744" y="3310128"/>
            <a:ext cx="1993392" cy="1235746"/>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AFA893"/>
              </a:buClr>
              <a:buSzPts val="1600"/>
              <a:buFont typeface="Inter"/>
              <a:buNone/>
            </a:pPr>
            <a:r>
              <a:rPr i="1" lang="en-US">
                <a:solidFill>
                  <a:srgbClr val="AFA893"/>
                </a:solidFill>
                <a:latin typeface="Inter"/>
                <a:ea typeface="Inter"/>
                <a:cs typeface="Inter"/>
                <a:sym typeface="Inter"/>
              </a:rPr>
              <a:t>Promos, rate sheets, program updates: one Monday digest, not forty emails.</a:t>
            </a:r>
          </a:p>
        </p:txBody>
      </p:sp>
      <p:sp>
        <p:nvSpPr>
          <p:cNvPr id="71" name="Google Shape;71;p7"/>
          <p:cNvSpPr/>
          <p:nvPr/>
        </p:nvSpPr>
        <p:spPr>
          <a:xfrm>
            <a:off x="822960" y="5440680"/>
            <a:ext cx="10545775"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893"/>
              </a:buClr>
              <a:buSzPts val="2400"/>
              <a:buFont typeface="Inter"/>
              <a:buNone/>
            </a:pPr>
            <a:r>
              <a:rPr i="1" lang="en-US" sz="2400">
                <a:solidFill>
                  <a:srgbClr val="AFA893"/>
                </a:solidFill>
                <a:latin typeface="Inter"/>
                <a:ea typeface="Inter"/>
                <a:cs typeface="Inter"/>
                <a:sym typeface="Inter"/>
              </a:rPr>
              <a:t>Each one is the same flywheel: write the document, watch it run, revise it, put it on the clock.</a:t>
            </a:r>
          </a:p>
        </p:txBody>
      </p:sp>
      <p:sp>
        <p:nvSpPr>
          <p:cNvPr id="72" name="Google Shape;72;p7"/>
          <p:cNvSpPr/>
          <p:nvPr/>
        </p:nvSpPr>
        <p:spPr>
          <a:xfrm>
            <a:off x="1090879"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A morning task</a:t>
            </a:r>
          </a:p>
        </p:txBody>
      </p:sp>
      <p:sp>
        <p:nvSpPr>
          <p:cNvPr id="73" name="Google Shape;73;p7"/>
          <p:cNvSpPr/>
          <p:nvPr/>
        </p:nvSpPr>
        <p:spPr>
          <a:xfrm>
            <a:off x="3852367"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A second project</a:t>
            </a:r>
          </a:p>
        </p:txBody>
      </p:sp>
      <p:sp>
        <p:nvSpPr>
          <p:cNvPr id="74" name="Google Shape;74;p7"/>
          <p:cNvSpPr/>
          <p:nvPr/>
        </p:nvSpPr>
        <p:spPr>
          <a:xfrm>
            <a:off x="6613855"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One new skill</a:t>
            </a:r>
          </a:p>
        </p:txBody>
      </p:sp>
      <p:sp>
        <p:nvSpPr>
          <p:cNvPr id="75" name="Google Shape;75;p7"/>
          <p:cNvSpPr/>
          <p:nvPr/>
        </p:nvSpPr>
        <p:spPr>
          <a:xfrm>
            <a:off x="9375343" y="4526280"/>
            <a:ext cx="1993392"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A227"/>
              </a:buClr>
              <a:buSzPts val="1600"/>
              <a:buFont typeface="Playfair Display"/>
              <a:buNone/>
            </a:pPr>
            <a:r>
              <a:rPr b="1" lang="en-US" sz="1600">
                <a:solidFill>
                  <a:srgbClr val="C9A227"/>
                </a:solidFill>
                <a:latin typeface="Playfair Display"/>
                <a:ea typeface="Playfair Display"/>
                <a:cs typeface="Playfair Display"/>
                <a:sym typeface="Playfair Display"/>
              </a:rPr>
              <a:t>A weekly schedule</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88" name="Shape 188"/>
        <p:cNvGrpSpPr/>
        <p:nvPr/>
      </p:nvGrpSpPr>
      <p:grpSpPr>
        <a:xfrm>
          <a:off x="0" y="0"/>
          <a:ext cx="0" cy="0"/>
          <a:chOff x="0" y="0"/>
          <a:chExt cx="0" cy="0"/>
        </a:xfrm>
      </p:grpSpPr>
      <p:sp>
        <p:nvSpPr>
          <p:cNvPr id="189" name="Google Shape;189;p17"/>
          <p:cNvSpPr/>
          <p:nvPr/>
        </p:nvSpPr>
        <p:spPr>
          <a:xfrm>
            <a:off x="822960" y="502920"/>
            <a:ext cx="10545775"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DB94A"/>
              </a:buClr>
              <a:buSzPts val="1200"/>
              <a:buFont typeface="Inter"/>
              <a:buNone/>
            </a:pPr>
            <a:r>
              <a:rPr b="1" lang="en-US" sz="1200">
                <a:solidFill>
                  <a:srgbClr val="DDB94A"/>
                </a:solidFill>
                <a:latin typeface="Inter"/>
                <a:ea typeface="Inter"/>
                <a:cs typeface="Inter"/>
                <a:sym typeface="Inter"/>
              </a:rPr>
              <a:t>THE DISCUSSION — UNTIL 4:00</a:t>
            </a:r>
          </a:p>
        </p:txBody>
      </p:sp>
      <p:sp>
        <p:nvSpPr>
          <p:cNvPr id="190" name="Google Shape;190;p17"/>
          <p:cNvSpPr/>
          <p:nvPr/>
        </p:nvSpPr>
        <p:spPr>
          <a:xfrm>
            <a:off x="822960" y="1417320"/>
            <a:ext cx="10545775" cy="228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9A227"/>
              </a:buClr>
              <a:buSzPts val="13000"/>
              <a:buFont typeface="Playfair Display"/>
              <a:buNone/>
            </a:pPr>
            <a:r>
              <a:rPr b="1" lang="en-US" sz="13000">
                <a:solidFill>
                  <a:srgbClr val="C9A227"/>
                </a:solidFill>
                <a:latin typeface="Playfair Display"/>
                <a:ea typeface="Playfair Display"/>
                <a:cs typeface="Playfair Display"/>
                <a:sym typeface="Playfair Display"/>
              </a:rPr>
              <a:t>Over to you.</a:t>
            </a:r>
          </a:p>
        </p:txBody>
      </p:sp>
      <p:sp>
        <p:nvSpPr>
          <p:cNvPr id="191" name="Google Shape;191;p17"/>
          <p:cNvSpPr/>
          <p:nvPr/>
        </p:nvSpPr>
        <p:spPr>
          <a:xfrm>
            <a:off x="914400" y="3810000"/>
            <a:ext cx="10362895"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400"/>
              <a:buFont typeface="Playfair Display"/>
              <a:buNone/>
            </a:pPr>
            <a:r>
              <a:rPr lang="en-US" sz="2400">
                <a:solidFill>
                  <a:srgbClr val="F7F3E9"/>
                </a:solidFill>
                <a:latin typeface="Playfair Display"/>
                <a:ea typeface="Playfair Display"/>
                <a:cs typeface="Playfair Display"/>
                <a:sym typeface="Playfair Display"/>
              </a:rPr>
              <a:t>Four questions to open the floor:</a:t>
            </a:r>
          </a:p>
        </p:txBody>
      </p:sp>
      <p:sp>
        <p:nvSpPr>
          <p:cNvPr id="192" name="Google Shape;192;p17"/>
          <p:cNvSpPr/>
          <p:nvPr/>
        </p:nvSpPr>
        <p:spPr>
          <a:xfrm>
            <a:off x="1463040" y="4470400"/>
            <a:ext cx="9265615" cy="1524000"/>
          </a:xfrm>
          <a:prstGeom prst="rect">
            <a:avLst/>
          </a:prstGeom>
          <a:noFill/>
          <a:ln>
            <a:noFill/>
          </a:ln>
        </p:spPr>
        <p:txBody>
          <a:bodyPr anchorCtr="0" anchor="ctr" bIns="0" lIns="0" spcFirstLastPara="1" rIns="0" wrap="square" tIns="0">
            <a:noAutofit/>
          </a:bodyPr>
          <a:lstStyle/>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1 · What do you re-explain to someone every single week?</a:t>
            </a:r>
          </a:p>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2 · What arrives daily that someone else summarizes for you?</a:t>
            </a:r>
          </a:p>
          <a:p>
            <a:pPr indent="0" lvl="0" marL="0" marR="0" rtl="0" algn="ctr">
              <a:lnSpc>
                <a:spcPct val="125000"/>
              </a:lnSpc>
              <a:spcBef>
                <a:spcPts val="0"/>
              </a:spcBef>
              <a:spcAft>
                <a:spcPts val="0"/>
              </a:spcAft>
              <a:buClr>
                <a:srgbClr val="AFA893"/>
              </a:buClr>
              <a:buSzPts val="1450"/>
              <a:buFont typeface="Inter"/>
              <a:buNone/>
            </a:pPr>
            <a:r>
              <a:rPr i="1" lang="en-US" sz="1950">
                <a:solidFill>
                  <a:srgbClr val="AFA893"/>
                </a:solidFill>
                <a:latin typeface="Inter"/>
                <a:ea typeface="Inter"/>
                <a:cs typeface="Inter"/>
                <a:sym typeface="Inter"/>
              </a:rPr>
              <a:t>3 · Which decision waits on you only because the data is scattered?</a:t>
            </a:r>
          </a:p>
          <a:p>
            <a:pPr algn="ctr">
              <a:lnSpc>
                <a:spcPct val="125000"/>
              </a:lnSpc>
            </a:pPr>
            <a:r>
              <a:rPr sz="1950" i="1">
                <a:solidFill>
                  <a:srgbClr val="AFA893"/>
                </a:solidFill>
                <a:latin typeface="Inter"/>
              </a:rPr>
              <a:t>4 · Which quadrant did you land in, and what is the first document in your business that only works because one specific person remembers how it goes?</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213D"/>
        </a:solidFill>
      </p:bgPr>
    </p:bg>
    <p:spTree>
      <p:nvGrpSpPr>
        <p:cNvPr id="197" name="Shape 197"/>
        <p:cNvGrpSpPr/>
        <p:nvPr/>
      </p:nvGrpSpPr>
      <p:grpSpPr>
        <a:xfrm>
          <a:off x="0" y="0"/>
          <a:ext cx="0" cy="0"/>
          <a:chOff x="0" y="0"/>
          <a:chExt cx="0" cy="0"/>
        </a:xfrm>
      </p:grpSpPr>
      <p:pic>
        <p:nvPicPr>
          <p:cNvPr descr="/private/tmp/claude-502/-Users-dev-Documents-production-donna/5de1284d-6f84-43be-a2a5-f3ead80d40bc/scratchpad/monogram-gold-red.png" id="198" name="Google Shape;198;p18"/>
          <p:cNvPicPr preferRelativeResize="0"/>
          <p:nvPr/>
        </p:nvPicPr>
        <p:blipFill rotWithShape="1">
          <a:blip r:embed="rId3">
            <a:alphaModFix/>
          </a:blip>
          <a:srcRect b="0" l="0" r="0" t="0"/>
          <a:stretch/>
        </p:blipFill>
        <p:spPr>
          <a:xfrm>
            <a:off x="5501488" y="457200"/>
            <a:ext cx="1188720" cy="1188720"/>
          </a:xfrm>
          <a:prstGeom prst="rect">
            <a:avLst/>
          </a:prstGeom>
          <a:noFill/>
          <a:ln>
            <a:noFill/>
          </a:ln>
        </p:spPr>
      </p:pic>
      <p:sp>
        <p:nvSpPr>
          <p:cNvPr id="199" name="Google Shape;199;p18"/>
          <p:cNvSpPr/>
          <p:nvPr/>
        </p:nvSpPr>
        <p:spPr>
          <a:xfrm>
            <a:off x="1828800" y="1874520"/>
            <a:ext cx="8534095" cy="1691640"/>
          </a:xfrm>
          <a:prstGeom prst="roundRect">
            <a:avLst>
              <a:gd fmla="val 3243" name="adj"/>
            </a:avLst>
          </a:prstGeom>
          <a:solidFill>
            <a:srgbClr val="F7F3E9"/>
          </a:solidFill>
          <a:ln>
            <a:noFill/>
          </a:ln>
          <a:effectLst>
            <a:outerShdw blurRad="203200" rotWithShape="0" algn="bl" dir="5400000" dist="88900">
              <a:srgbClr val="000000">
                <a:alpha val="38039"/>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18"/>
          <p:cNvSpPr/>
          <p:nvPr/>
        </p:nvSpPr>
        <p:spPr>
          <a:xfrm>
            <a:off x="2240280" y="2011680"/>
            <a:ext cx="7711135" cy="1417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31621"/>
              </a:buClr>
              <a:buSzPts val="2400"/>
              <a:buFont typeface="Playfair Display"/>
              <a:buNone/>
            </a:pPr>
            <a:r>
              <a:rPr i="1" lang="en-US" sz="2400">
                <a:solidFill>
                  <a:srgbClr val="A31621"/>
                </a:solidFill>
                <a:latin typeface="Playfair Display"/>
                <a:ea typeface="Playfair Display"/>
                <a:cs typeface="Playfair Display"/>
                <a:sym typeface="Playfair Display"/>
              </a:rPr>
              <a:t>“If you were ever lucky enough to have me, you wouldn’t want to share.”</a:t>
            </a:r>
            <a:endParaRPr sz="2400">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2400"/>
              <a:buFont typeface="Calibri"/>
              <a:buNone/>
            </a:pPr>
            <a:r>
              <a:t/>
            </a:r>
            <a:endParaRPr sz="2400">
              <a:solidFill>
                <a:schemeClr val="dk1"/>
              </a:solidFill>
              <a:latin typeface="Calibri"/>
              <a:ea typeface="Calibri"/>
              <a:cs typeface="Calibri"/>
              <a:sym typeface="Calibri"/>
            </a:endParaRPr>
          </a:p>
          <a:p>
            <a:pPr indent="0" lvl="0" marL="0" marR="0" rtl="0" algn="ctr">
              <a:spcBef>
                <a:spcPts val="0"/>
              </a:spcBef>
              <a:spcAft>
                <a:spcPts val="0"/>
              </a:spcAft>
              <a:buClr>
                <a:srgbClr val="14213D"/>
              </a:buClr>
              <a:buSzPts val="1050"/>
              <a:buFont typeface="Inter"/>
              <a:buNone/>
            </a:pPr>
            <a:r>
              <a:rPr b="1" lang="en-US" sz="1050">
                <a:solidFill>
                  <a:srgbClr val="14213D"/>
                </a:solidFill>
                <a:latin typeface="Inter"/>
                <a:ea typeface="Inter"/>
                <a:cs typeface="Inter"/>
                <a:sym typeface="Inter"/>
              </a:rPr>
              <a:t>— DONNA PAULSEN, SUITS</a:t>
            </a:r>
            <a:endParaRPr sz="2400">
              <a:solidFill>
                <a:schemeClr val="dk1"/>
              </a:solidFill>
              <a:latin typeface="Calibri"/>
              <a:ea typeface="Calibri"/>
              <a:cs typeface="Calibri"/>
              <a:sym typeface="Calibri"/>
            </a:endParaRPr>
          </a:p>
        </p:txBody>
      </p:sp>
      <p:sp>
        <p:nvSpPr>
          <p:cNvPr id="201" name="Google Shape;201;p18"/>
          <p:cNvSpPr/>
          <p:nvPr/>
        </p:nvSpPr>
        <p:spPr>
          <a:xfrm>
            <a:off x="914400" y="3794760"/>
            <a:ext cx="10362895"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7F3E9"/>
              </a:buClr>
              <a:buSzPts val="2200"/>
              <a:buFont typeface="Playfair Display"/>
              <a:buNone/>
            </a:pPr>
            <a:r>
              <a:rPr lang="en-US" sz="2200">
                <a:solidFill>
                  <a:srgbClr val="F7F3E9"/>
                </a:solidFill>
                <a:latin typeface="Playfair Display"/>
                <a:ea typeface="Playfair Display"/>
                <a:cs typeface="Playfair Display"/>
                <a:sym typeface="Playfair Display"/>
              </a:rPr>
              <a:t>Yours starts tomorrow at 4:54.</a:t>
            </a:r>
            <a:endParaRPr sz="2200">
              <a:solidFill>
                <a:schemeClr val="dk1"/>
              </a:solidFill>
              <a:latin typeface="Calibri"/>
              <a:ea typeface="Calibri"/>
              <a:cs typeface="Calibri"/>
              <a:sym typeface="Calibri"/>
            </a:endParaRPr>
          </a:p>
        </p:txBody>
      </p:sp>
      <p:pic>
        <p:nvPicPr>
          <p:cNvPr descr="/private/tmp/claude-502/-Users-dev-Documents-production-donna/5de1284d-6f84-43be-a2a5-f3ead80d40bc/scratchpad/qr.png" id="202" name="Google Shape;202;p18"/>
          <p:cNvPicPr preferRelativeResize="0"/>
          <p:nvPr/>
        </p:nvPicPr>
        <p:blipFill rotWithShape="1">
          <a:blip r:embed="rId4">
            <a:alphaModFix/>
          </a:blip>
          <a:srcRect b="0" l="0" r="0" t="0"/>
          <a:stretch/>
        </p:blipFill>
        <p:spPr>
          <a:xfrm>
            <a:off x="5227168" y="4526280"/>
            <a:ext cx="1737360" cy="1737360"/>
          </a:xfrm>
          <a:prstGeom prst="rect">
            <a:avLst/>
          </a:prstGeom>
          <a:noFill/>
          <a:ln>
            <a:noFill/>
          </a:ln>
        </p:spPr>
      </p:pic>
      <p:sp>
        <p:nvSpPr>
          <p:cNvPr id="203" name="Google Shape;203;p18"/>
          <p:cNvSpPr/>
          <p:nvPr/>
        </p:nvSpPr>
        <p:spPr>
          <a:xfrm>
            <a:off x="914400" y="6355080"/>
            <a:ext cx="10362895"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DB94A"/>
              </a:buClr>
              <a:buSzPts val="1500"/>
              <a:buFont typeface="Inter"/>
              <a:buNone/>
            </a:pPr>
            <a:r>
              <a:rPr b="1" lang="en-US" sz="1500">
                <a:solidFill>
                  <a:srgbClr val="DDB94A"/>
                </a:solidFill>
                <a:latin typeface="Inter"/>
                <a:ea typeface="Inter"/>
                <a:cs typeface="Inter"/>
                <a:sym typeface="Inter"/>
              </a:rPr>
              <a:t>denisekgosnell.github.io/Donna</a:t>
            </a:r>
            <a:endParaRPr sz="15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