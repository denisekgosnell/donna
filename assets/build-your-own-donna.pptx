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Let the room settle on the quote before you speak. Opening line: “She ran the best closer in New York City. Today she comes to work for you.” Housekeeping in one breath: laptops out, Claude desktop installed, workspace invite accepted. Anyone missing a piece, flag me now and we fix it while we talk. Set the promise: by 3 PM every one of you owns a working Donna. Not a demo. Yours, on your own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tone: this room is the test kitchen. I invited people whose judgment I trust, which is a compliment and an assignment. Interrupt me. Ask the question you think is too basic. Tell me when a step drags. There is a feedback slide at the very end and I mean it; San Antonio and Charleston get whatever survives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resume is the boring part. Here is the real story, told out loud, not on the slide. I climbed the corporate ladder all the way up to working with the CEO of Amazon Web Services while launching the service that has become the memory layer for how AI agents work together. And on the way up, the stress herniated two discs in my back. That is what working out of alignment with your passion does; your body keeps the score. Before I ever jumped on the ladder I thought I wanted to be a teacher. I even was one for a bit, as a professor at the University of Tennessee. Teaching is the thing I love. So this workshop is me starting my business around what I actually love doing: teaching, and sharing what I know with you. Hold that lens for the whole afternoon, because it is the same question I am going to ask about YOUR work: how much of your week is the thing you love, and how much is the extra that grew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hands: who actually cleared their inbox this morning? (Nobody.) Who checked email during this slide? (Laughter; someone will have.) The number isn’t the point. The point is that every one of those 300 asks a little tax on attention, and attention is the only thing an executive can’t delegate. Until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want-ad quote is the thesis: the job you’re hiring for isn’t phones and dry cleaning. Filters, rules, and a tidier inbox are the want-ad version. You’re hiring judgment: something that knows who matters, drafts in your voice, and briefs you when you want it. Land the fiction-to-real line and pause. That’s the hook for the next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context I most want to set, so slow down. Picking up AI does not mean the task you care about gets 100 percent done inside a tool. It means finding the places you are already working and asking whether AI gets you further there. Sometimes a little further, often a lot further. And the decisions in front of you are change decisions, not software decisions: a new workflow, a new way of closing a task, new muscles. If you are curious about AI, what you are really signing up for is adopting a new way of doing something. That is a leadership question long before it is a technology question. The Donna quote is the frame: the tool can take the job; it cannot be you. You stay the judgment. What changes is how the work gets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this room took their seat, or started their business, to do a specific thing they love. Then the extra grew around it: the email, the scheduling, the follow-ups. When you weigh AI, weigh it against that. Does this workflow hand you back time or money you can spend on the thing you actually want to be doing? If yes, adopt the new muscle. If no, skip it and don’t feel behind for skipping it. Today’s four builds are chosen because for almost everyone in a seat like yours, the answer on email is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slide. If someone has truly never talked to an AI, they will still be fine; seat them next to someone who has. The ladder is the mental model for the whole session, so say it out loud now and again at the end: a chat is a conversation, a project is a conversation with memory, a skill is a playbook she carries, an agent is the playbook on a schedule. Each phase adds exactly one idea on top of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afternoon on one slide: interview her, brief her, hand her your playbook, give her the keys. Point at the site now; it’s the link from the prep email. Four case files, same numbers, copy buttons everywhere. Nobody types anything longer than one sentence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room during connections. The classic failure is signing into the personal Google account instead of work. Connectors are pre-enabled workspace-wide, so all they click is Connect. Gmail people: also connect Google Calendar and Drive now; Step 4 needs both. Outlook people: Microsoft 365 covers mail, calendar, and OneDrive in one go. Then prompt 1. Give it a beat. The room goes quiet when Claude answers from their real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on your own screen first, then hold until every laptop shows five lines and a draft. Nobody moves on until the checkpoint. If a connector is stuck: disconnect, reconnect, confirm the account. If the network is stuck: switch to the backup screenshots (the backup plans slide near the end) and keep the energy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Projects → New project → name it Inbox Triage → Set project instructions → paste. Give them 6 to 8 quiet minutes to fill the three blanks: names, the deal, three words. Circulate. The blanks are where this stops being a demo and becomes THEIR assistant. Then everyone types: Triage my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runs the one-sentence ritual inside the project. The payoff to name out loud: you will never re-explain your rules again. That is the difference between a chat and a project. Common wobble: someone triages from OUTSIDE the project and gets generic results. Make sure they’re inside Inbox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workshop’s one moment of real magic: Claude building its own tooling. Let them watch it fetch and install. The interview takes 5 to 10 minutes; encourage real answers (actual VIP names, the true banned phrases). Fallbacks are on the site under small print: the zip upload via Settings → Capabilities, or git clone for the terminal-inclined. Then the test drive, and everyone opens their drafts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trust slide, and it answers the fear nobody has said out loud yet: “what if it emails a client?” It can’t. Drafting and sending are different permissions, and this skill only ever drafts. You are the send button. Say it twice, verbatim: she never sends. 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Grab the exact prompt from the site; the Gmail and Outlook tabs differ on purpose. Gmail: Google Calendar attaches a true EMAIL reminder, so the 4:54 nudge is an email. Outlook: Microsoft’s API only allows pop-up reminders, so the nudge is a calendar notification on laptop and phone. The site’s small print has the one-time Power Automate upgrade for a true email. The last line of the prompt is the finale: a dry run,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moment. Everyone watches the dry run land: doc in the Donna Briefings folder, event on today’s calendar, drafts waiting. Hold the silence while phones buzz. Then the reframe: that notification is the only email they now need. Email comes to them exactly when they want it, pre-digested. You didn’t just use an assistant today; you hired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show this slide if something breaks; otherwise skip straight past it. Hotspot name and password are printed on the Wi-Fi cards. Connector re-auth fixes most hiccups; workspace settings already allow every connector we use today. The step-by-step screenshots come from your pre-workshop dry run (it’s on the README checklist). Capture them then, keep them in your presenter folder, and narrate over them to keep the room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four muscles and map them back to the ladder: a chat is a conversation, a project is a conversation with memory, a skill is a playbook, an agent is a playbook on a schedule. That mental model outlives any product. Then land the trust story one more time: everything she wrote today is sitting in drafts, and the send button never left their hands. Tomorrow at 4:54 the first unattended briefing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Send-off. The Substack is the longer version of the story from the top of the session: tech, burnout, and choosing joy in an overclocked world. The site stays up; bookmark it and forward it to the colleague who needs it. Tomorrow at 4:54 the briefing arrives on its own for the first time. When it does, that’s Donna saying she’s got it from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the room pack up before this slide. Go around fast, three questions, and write down exact phrases while they talk. The shy ones can email tonight while it’s fresh. This deck gets revised tomorrow morning while the notes are hot. Close by thanking them again; they gave you two hours of a workday and a room full of honest reactions, and that is the most valuable thing a dry run can 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monogram.png">    </p:cNvPr>
          <p:cNvPicPr>
            <a:picLocks noChangeAspect="1"/>
          </p:cNvPicPr>
          <p:nvPr/>
        </p:nvPicPr>
        <p:blipFill>
          <a:blip r:embed="rId2"/>
          <a:stretch>
            <a:fillRect/>
          </a:stretch>
        </p:blipFill>
        <p:spPr>
          <a:xfrm>
            <a:off x="5705856" y="292608"/>
            <a:ext cx="777240" cy="777240"/>
          </a:xfrm>
          <a:prstGeom prst="rect">
            <a:avLst/>
          </a:prstGeom>
        </p:spPr>
      </p:pic>
      <p:sp>
        <p:nvSpPr>
          <p:cNvPr id="3" name="Shape 0"/>
          <p:cNvSpPr/>
          <p:nvPr/>
        </p:nvSpPr>
        <p:spPr>
          <a:xfrm>
            <a:off x="3584448" y="1298448"/>
            <a:ext cx="5029200" cy="1170432"/>
          </a:xfrm>
          <a:prstGeom prst="roundRect">
            <a:avLst>
              <a:gd name="adj" fmla="val 3125"/>
            </a:avLst>
          </a:prstGeom>
          <a:solidFill>
            <a:srgbClr val="F7F3E9"/>
          </a:solidFill>
          <a:ln/>
          <a:effectLst>
            <a:outerShdw sx="100000" sy="100000" kx="0" ky="0" algn="bl" rotWithShape="0" blurRad="177800" dist="63500" dir="5400000">
              <a:srgbClr val="000000">
                <a:alpha val="35000"/>
              </a:srgbClr>
            </a:outerShdw>
          </a:effectLst>
        </p:spPr>
      </p:sp>
      <p:sp>
        <p:nvSpPr>
          <p:cNvPr id="4" name="Text 1"/>
          <p:cNvSpPr/>
          <p:nvPr/>
        </p:nvSpPr>
        <p:spPr>
          <a:xfrm>
            <a:off x="3840480" y="1298448"/>
            <a:ext cx="4517136" cy="1170432"/>
          </a:xfrm>
          <a:prstGeom prst="rect">
            <a:avLst/>
          </a:prstGeom>
          <a:noFill/>
          <a:ln/>
        </p:spPr>
        <p:txBody>
          <a:bodyPr wrap="square" lIns="0" tIns="0" rIns="0" bIns="0" rtlCol="0" anchor="ctr"/>
          <a:lstStyle/>
          <a:p>
            <a:pPr algn="ctr" indent="0" marL="0">
              <a:spcAft>
                <a:spcPts val="800"/>
              </a:spcAft>
              <a:buNone/>
            </a:pPr>
            <a:r>
              <a:rPr lang="en-US" sz="1900" i="1" dirty="0">
                <a:solidFill>
                  <a:srgbClr val="A31621"/>
                </a:solidFill>
                <a:latin typeface="Playfair Display" pitchFamily="34" charset="0"/>
                <a:ea typeface="Playfair Display" pitchFamily="34" charset="-122"/>
                <a:cs typeface="Playfair Display" pitchFamily="34" charset="-120"/>
              </a:rPr>
              <a:t>“I’m Donna. I know everything.”</a:t>
            </a:r>
            <a:endParaRPr lang="en-US" sz="1900" dirty="0"/>
          </a:p>
          <a:p>
            <a:pPr algn="ctr" indent="0" marL="0">
              <a:buNone/>
            </a:pPr>
            <a:r>
              <a:rPr lang="en-US" sz="950" b="1" spc="300" kern="0" dirty="0">
                <a:solidFill>
                  <a:srgbClr val="14213D"/>
                </a:solidFill>
                <a:latin typeface="Inter" pitchFamily="34" charset="0"/>
                <a:ea typeface="Inter" pitchFamily="34" charset="-122"/>
                <a:cs typeface="Inter" pitchFamily="34" charset="-120"/>
              </a:rPr>
              <a:t>DONNA PAULSEN, SUITS</a:t>
            </a:r>
            <a:endParaRPr lang="en-US" sz="1900" dirty="0"/>
          </a:p>
        </p:txBody>
      </p:sp>
      <p:sp>
        <p:nvSpPr>
          <p:cNvPr id="5" name="Text 2"/>
          <p:cNvSpPr/>
          <p:nvPr/>
        </p:nvSpPr>
        <p:spPr>
          <a:xfrm>
            <a:off x="457200" y="2743200"/>
            <a:ext cx="11277295" cy="960120"/>
          </a:xfrm>
          <a:prstGeom prst="rect">
            <a:avLst/>
          </a:prstGeom>
          <a:noFill/>
          <a:ln/>
        </p:spPr>
        <p:txBody>
          <a:bodyPr wrap="square" lIns="0" tIns="0" rIns="0" bIns="0" rtlCol="0" anchor="ctr"/>
          <a:lstStyle/>
          <a:p>
            <a:pPr algn="ctr" indent="0" marL="0">
              <a:buNone/>
            </a:pPr>
            <a:r>
              <a:rPr lang="en-US" sz="5300" b="1" spc="500" kern="0" dirty="0">
                <a:solidFill>
                  <a:srgbClr val="F7F3E9"/>
                </a:solidFill>
                <a:latin typeface="Playfair Display" pitchFamily="34" charset="0"/>
                <a:ea typeface="Playfair Display" pitchFamily="34" charset="-122"/>
                <a:cs typeface="Playfair Display" pitchFamily="34" charset="-120"/>
              </a:rPr>
              <a:t>BUILD YOUR OWN DONNA</a:t>
            </a:r>
            <a:endParaRPr lang="en-US" sz="5300" dirty="0"/>
          </a:p>
        </p:txBody>
      </p:sp>
      <p:sp>
        <p:nvSpPr>
          <p:cNvPr id="6" name="Text 3"/>
          <p:cNvSpPr/>
          <p:nvPr/>
        </p:nvSpPr>
        <p:spPr>
          <a:xfrm>
            <a:off x="1371600" y="3913632"/>
            <a:ext cx="9448495" cy="411480"/>
          </a:xfrm>
          <a:prstGeom prst="rect">
            <a:avLst/>
          </a:prstGeom>
          <a:noFill/>
          <a:ln/>
        </p:spPr>
        <p:txBody>
          <a:bodyPr wrap="square" lIns="0" tIns="0" rIns="0" bIns="0" rtlCol="0" anchor="ctr"/>
          <a:lstStyle/>
          <a:p>
            <a:pPr algn="ctr" indent="0" marL="0">
              <a:buNone/>
            </a:pPr>
            <a:r>
              <a:rPr lang="en-US" sz="1700" dirty="0">
                <a:solidFill>
                  <a:srgbClr val="F4EFE1"/>
                </a:solidFill>
                <a:latin typeface="Inter" pitchFamily="34" charset="0"/>
                <a:ea typeface="Inter" pitchFamily="34" charset="-122"/>
                <a:cs typeface="Inter" pitchFamily="34" charset="-120"/>
              </a:rPr>
              <a:t>A two-hour workshop for executives who are done reading email</a:t>
            </a:r>
            <a:endParaRPr lang="en-US" sz="1700" dirty="0"/>
          </a:p>
        </p:txBody>
      </p:sp>
      <p:sp>
        <p:nvSpPr>
          <p:cNvPr id="7" name="Text 4"/>
          <p:cNvSpPr/>
          <p:nvPr/>
        </p:nvSpPr>
        <p:spPr>
          <a:xfrm>
            <a:off x="1371600" y="4443984"/>
            <a:ext cx="9448495" cy="365760"/>
          </a:xfrm>
          <a:prstGeom prst="rect">
            <a:avLst/>
          </a:prstGeom>
          <a:noFill/>
          <a:ln/>
        </p:spPr>
        <p:txBody>
          <a:bodyPr wrap="square" lIns="0" tIns="0" rIns="0" bIns="0" rtlCol="0" anchor="ctr"/>
          <a:lstStyle/>
          <a:p>
            <a:pPr algn="ctr" indent="0" marL="0">
              <a:buNone/>
            </a:pPr>
            <a:r>
              <a:rPr lang="en-US" sz="1500" i="1" dirty="0">
                <a:solidFill>
                  <a:srgbClr val="E7C766"/>
                </a:solidFill>
                <a:latin typeface="Playfair Display" pitchFamily="34" charset="0"/>
                <a:ea typeface="Playfair Display" pitchFamily="34" charset="-122"/>
                <a:cs typeface="Playfair Display" pitchFamily="34" charset="-120"/>
              </a:rPr>
              <a:t>By 3 PM today, you’ll have your own.</a:t>
            </a:r>
            <a:endParaRPr lang="en-US" sz="1500" dirty="0"/>
          </a:p>
        </p:txBody>
      </p:sp>
      <p:pic>
        <p:nvPicPr>
          <p:cNvPr id="8" name="Image 1" descr="skyline.png">    </p:cNvPr>
          <p:cNvPicPr>
            <a:picLocks noChangeAspect="1"/>
          </p:cNvPicPr>
          <p:nvPr/>
        </p:nvPicPr>
        <p:blipFill>
          <a:blip r:embed="rId3"/>
          <a:stretch>
            <a:fillRect/>
          </a:stretch>
        </p:blipFill>
        <p:spPr>
          <a:xfrm>
            <a:off x="0" y="6053328"/>
            <a:ext cx="12191695" cy="108356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640080"/>
            <a:ext cx="73152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FIRST, A THANK YOU</a:t>
            </a:r>
            <a:endParaRPr lang="en-US" sz="1200" dirty="0"/>
          </a:p>
        </p:txBody>
      </p:sp>
      <p:sp>
        <p:nvSpPr>
          <p:cNvPr id="3" name="Text 1"/>
          <p:cNvSpPr/>
          <p:nvPr/>
        </p:nvSpPr>
        <p:spPr>
          <a:xfrm>
            <a:off x="822960" y="1051560"/>
            <a:ext cx="10515600" cy="1371600"/>
          </a:xfrm>
          <a:prstGeom prst="rect">
            <a:avLst/>
          </a:prstGeom>
          <a:noFill/>
          <a:ln/>
        </p:spPr>
        <p:txBody>
          <a:bodyPr wrap="square" lIns="0" tIns="0" rIns="0" bIns="0" rtlCol="0" anchor="ctr"/>
          <a:lstStyle/>
          <a:p>
            <a:pPr indent="0" marL="0">
              <a:buNone/>
            </a:pPr>
            <a:r>
              <a:rPr lang="en-US" sz="4000" b="1" dirty="0">
                <a:solidFill>
                  <a:srgbClr val="F7F3E9"/>
                </a:solidFill>
                <a:latin typeface="Playfair Display" pitchFamily="34" charset="0"/>
                <a:ea typeface="Playfair Display" pitchFamily="34" charset="-122"/>
                <a:cs typeface="Playfair Display" pitchFamily="34" charset="-120"/>
              </a:rPr>
              <a:t>Thank you for being my guinea pigs.</a:t>
            </a:r>
            <a:endParaRPr lang="en-US" sz="4000" dirty="0"/>
          </a:p>
        </p:txBody>
      </p:sp>
      <p:sp>
        <p:nvSpPr>
          <p:cNvPr id="4" name="Text 2"/>
          <p:cNvSpPr/>
          <p:nvPr/>
        </p:nvSpPr>
        <p:spPr>
          <a:xfrm>
            <a:off x="822960" y="2606040"/>
            <a:ext cx="8778240" cy="1188720"/>
          </a:xfrm>
          <a:prstGeom prst="rect">
            <a:avLst/>
          </a:prstGeom>
          <a:noFill/>
          <a:ln/>
        </p:spPr>
        <p:txBody>
          <a:bodyPr wrap="square" lIns="0" tIns="0" rIns="0" bIns="0" rtlCol="0" anchor="ctr"/>
          <a:lstStyle/>
          <a:p>
            <a:pPr indent="0" marL="0">
              <a:lnSpc>
                <a:spcPts val="2600"/>
              </a:lnSpc>
              <a:buNone/>
            </a:pPr>
            <a:r>
              <a:rPr lang="en-US" sz="1600" dirty="0">
                <a:solidFill>
                  <a:srgbClr val="F4EFE1"/>
                </a:solidFill>
                <a:latin typeface="Inter" pitchFamily="34" charset="0"/>
                <a:ea typeface="Inter" pitchFamily="34" charset="-122"/>
                <a:cs typeface="Inter" pitchFamily="34" charset="-120"/>
              </a:rPr>
              <a:t>This session is a dry run. The full version heads to executive rooms in San Antonio and in Charleston next.</a:t>
            </a:r>
            <a:endParaRPr lang="en-US" sz="1600" dirty="0"/>
          </a:p>
          <a:p>
            <a:pPr indent="0" marL="0">
              <a:lnSpc>
                <a:spcPts val="2600"/>
              </a:lnSpc>
              <a:buNone/>
            </a:pPr>
            <a:r>
              <a:rPr lang="en-US" sz="1600" dirty="0">
                <a:solidFill>
                  <a:srgbClr val="F4EFE1"/>
                </a:solidFill>
                <a:latin typeface="Inter" pitchFamily="34" charset="0"/>
                <a:ea typeface="Inter" pitchFamily="34" charset="-122"/>
                <a:cs typeface="Inter" pitchFamily="34" charset="-120"/>
              </a:rPr>
              <a:t>What lands with you stays in. What loses you gets cut. You are the editors today.</a:t>
            </a:r>
            <a:endParaRPr lang="en-US" sz="1600" dirty="0"/>
          </a:p>
        </p:txBody>
      </p:sp>
      <p:sp>
        <p:nvSpPr>
          <p:cNvPr id="5" name="Shape 3"/>
          <p:cNvSpPr/>
          <p:nvPr/>
        </p:nvSpPr>
        <p:spPr>
          <a:xfrm>
            <a:off x="822960" y="4297680"/>
            <a:ext cx="5852160" cy="1371600"/>
          </a:xfrm>
          <a:prstGeom prst="roundRect">
            <a:avLst>
              <a:gd name="adj" fmla="val 2667"/>
            </a:avLst>
          </a:prstGeom>
          <a:solidFill>
            <a:srgbClr val="F7F3E9"/>
          </a:solidFill>
          <a:ln/>
          <a:effectLst>
            <a:outerShdw sx="100000" sy="100000" kx="0" ky="0" algn="bl" rotWithShape="0" blurRad="177800" dist="63500" dir="5400000">
              <a:srgbClr val="000000">
                <a:alpha val="35000"/>
              </a:srgbClr>
            </a:outerShdw>
          </a:effectLst>
        </p:spPr>
      </p:sp>
      <p:sp>
        <p:nvSpPr>
          <p:cNvPr id="6" name="Text 4"/>
          <p:cNvSpPr/>
          <p:nvPr/>
        </p:nvSpPr>
        <p:spPr>
          <a:xfrm>
            <a:off x="1078992" y="4297680"/>
            <a:ext cx="5340096" cy="1371600"/>
          </a:xfrm>
          <a:prstGeom prst="rect">
            <a:avLst/>
          </a:prstGeom>
          <a:noFill/>
          <a:ln/>
        </p:spPr>
        <p:txBody>
          <a:bodyPr wrap="square" lIns="0" tIns="0" rIns="0" bIns="0" rtlCol="0" anchor="ctr"/>
          <a:lstStyle/>
          <a:p>
            <a:pPr algn="l" indent="0" marL="0">
              <a:spcAft>
                <a:spcPts val="800"/>
              </a:spcAft>
              <a:buNone/>
            </a:pPr>
            <a:r>
              <a:rPr lang="en-US" sz="1900" i="1" dirty="0">
                <a:solidFill>
                  <a:srgbClr val="A31621"/>
                </a:solidFill>
                <a:latin typeface="Playfair Display" pitchFamily="34" charset="0"/>
                <a:ea typeface="Playfair Display" pitchFamily="34" charset="-122"/>
                <a:cs typeface="Playfair Display" pitchFamily="34" charset="-120"/>
              </a:rPr>
              <a:t>“You’re weird. We’ll be friends.”</a:t>
            </a:r>
            <a:endParaRPr lang="en-US" sz="1900" dirty="0"/>
          </a:p>
          <a:p>
            <a:pPr algn="l" indent="0" marL="0">
              <a:buNone/>
            </a:pPr>
            <a:r>
              <a:rPr lang="en-US" sz="950" b="1" spc="300" kern="0" dirty="0">
                <a:solidFill>
                  <a:srgbClr val="14213D"/>
                </a:solidFill>
                <a:latin typeface="Inter" pitchFamily="34" charset="0"/>
                <a:ea typeface="Inter" pitchFamily="34" charset="-122"/>
                <a:cs typeface="Inter" pitchFamily="34" charset="-120"/>
              </a:rPr>
              <a:t>DONNA PAULSEN, SUITS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640080"/>
            <a:ext cx="54864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YOUR HOST</a:t>
            </a:r>
            <a:endParaRPr lang="en-US" sz="1200" dirty="0"/>
          </a:p>
        </p:txBody>
      </p:sp>
      <p:sp>
        <p:nvSpPr>
          <p:cNvPr id="3" name="Text 1"/>
          <p:cNvSpPr/>
          <p:nvPr/>
        </p:nvSpPr>
        <p:spPr>
          <a:xfrm>
            <a:off x="822960" y="1005840"/>
            <a:ext cx="7772400" cy="914400"/>
          </a:xfrm>
          <a:prstGeom prst="rect">
            <a:avLst/>
          </a:prstGeom>
          <a:noFill/>
          <a:ln/>
        </p:spPr>
        <p:txBody>
          <a:bodyPr wrap="square" lIns="0" tIns="0" rIns="0" bIns="0" rtlCol="0" anchor="ctr"/>
          <a:lstStyle/>
          <a:p>
            <a:pPr indent="0" marL="0">
              <a:buNone/>
            </a:pPr>
            <a:r>
              <a:rPr lang="en-US" sz="4400" b="1" dirty="0">
                <a:solidFill>
                  <a:srgbClr val="F7F3E9"/>
                </a:solidFill>
                <a:latin typeface="Playfair Display" pitchFamily="34" charset="0"/>
                <a:ea typeface="Playfair Display" pitchFamily="34" charset="-122"/>
                <a:cs typeface="Playfair Display" pitchFamily="34" charset="-120"/>
              </a:rPr>
              <a:t>Denise Gosnell</a:t>
            </a:r>
            <a:endParaRPr lang="en-US" sz="4400" dirty="0"/>
          </a:p>
        </p:txBody>
      </p:sp>
      <p:sp>
        <p:nvSpPr>
          <p:cNvPr id="4" name="Shape 2"/>
          <p:cNvSpPr/>
          <p:nvPr/>
        </p:nvSpPr>
        <p:spPr>
          <a:xfrm>
            <a:off x="868680" y="2368296"/>
            <a:ext cx="118872" cy="118872"/>
          </a:xfrm>
          <a:prstGeom prst="diamond">
            <a:avLst/>
          </a:prstGeom>
          <a:solidFill>
            <a:srgbClr val="C9A227"/>
          </a:solidFill>
          <a:ln/>
        </p:spPr>
      </p:sp>
      <p:sp>
        <p:nvSpPr>
          <p:cNvPr id="5" name="Text 3"/>
          <p:cNvSpPr/>
          <p:nvPr/>
        </p:nvSpPr>
        <p:spPr>
          <a:xfrm>
            <a:off x="1188720" y="2286000"/>
            <a:ext cx="8138160" cy="502920"/>
          </a:xfrm>
          <a:prstGeom prst="rect">
            <a:avLst/>
          </a:prstGeom>
          <a:noFill/>
          <a:ln/>
        </p:spPr>
        <p:txBody>
          <a:bodyPr wrap="square" lIns="0" tIns="0" rIns="0" bIns="0" rtlCol="0" anchor="t"/>
          <a:lstStyle/>
          <a:p>
            <a:pPr indent="0" marL="0">
              <a:buNone/>
            </a:pPr>
            <a:r>
              <a:rPr lang="en-US" sz="1500" dirty="0">
                <a:solidFill>
                  <a:srgbClr val="F4EFE1"/>
                </a:solidFill>
                <a:latin typeface="Inter" pitchFamily="34" charset="0"/>
                <a:ea typeface="Inter" pitchFamily="34" charset="-122"/>
                <a:cs typeface="Inter" pitchFamily="34" charset="-120"/>
              </a:rPr>
              <a:t>PhD in computer science. Patent holder in data infrastructure.</a:t>
            </a:r>
            <a:endParaRPr lang="en-US" sz="1500" dirty="0"/>
          </a:p>
        </p:txBody>
      </p:sp>
      <p:sp>
        <p:nvSpPr>
          <p:cNvPr id="6" name="Shape 4"/>
          <p:cNvSpPr/>
          <p:nvPr/>
        </p:nvSpPr>
        <p:spPr>
          <a:xfrm>
            <a:off x="868680" y="2935224"/>
            <a:ext cx="118872" cy="118872"/>
          </a:xfrm>
          <a:prstGeom prst="diamond">
            <a:avLst/>
          </a:prstGeom>
          <a:solidFill>
            <a:srgbClr val="C9A227"/>
          </a:solidFill>
          <a:ln/>
        </p:spPr>
      </p:sp>
      <p:sp>
        <p:nvSpPr>
          <p:cNvPr id="7" name="Text 5"/>
          <p:cNvSpPr/>
          <p:nvPr/>
        </p:nvSpPr>
        <p:spPr>
          <a:xfrm>
            <a:off x="1188720" y="2852928"/>
            <a:ext cx="8138160" cy="502920"/>
          </a:xfrm>
          <a:prstGeom prst="rect">
            <a:avLst/>
          </a:prstGeom>
          <a:noFill/>
          <a:ln/>
        </p:spPr>
        <p:txBody>
          <a:bodyPr wrap="square" lIns="0" tIns="0" rIns="0" bIns="0" rtlCol="0" anchor="t"/>
          <a:lstStyle/>
          <a:p>
            <a:pPr indent="0" marL="0">
              <a:buNone/>
            </a:pPr>
            <a:r>
              <a:rPr lang="en-US" sz="1500" dirty="0">
                <a:solidFill>
                  <a:srgbClr val="F4EFE1"/>
                </a:solidFill>
                <a:latin typeface="Inter" pitchFamily="34" charset="0"/>
                <a:ea typeface="Inter" pitchFamily="34" charset="-122"/>
                <a:cs typeface="Inter" pitchFamily="34" charset="-120"/>
              </a:rPr>
              <a:t>Author of The Practitioner’s Guide to Graph Data (O’Reilly) and Tech Confidential.</a:t>
            </a:r>
            <a:endParaRPr lang="en-US" sz="1500" dirty="0"/>
          </a:p>
        </p:txBody>
      </p:sp>
      <p:sp>
        <p:nvSpPr>
          <p:cNvPr id="8" name="Shape 6"/>
          <p:cNvSpPr/>
          <p:nvPr/>
        </p:nvSpPr>
        <p:spPr>
          <a:xfrm>
            <a:off x="868680" y="3502152"/>
            <a:ext cx="118872" cy="118872"/>
          </a:xfrm>
          <a:prstGeom prst="diamond">
            <a:avLst/>
          </a:prstGeom>
          <a:solidFill>
            <a:srgbClr val="C9A227"/>
          </a:solidFill>
          <a:ln/>
        </p:spPr>
      </p:sp>
      <p:sp>
        <p:nvSpPr>
          <p:cNvPr id="9" name="Text 7"/>
          <p:cNvSpPr/>
          <p:nvPr/>
        </p:nvSpPr>
        <p:spPr>
          <a:xfrm>
            <a:off x="1188720" y="3419856"/>
            <a:ext cx="8138160" cy="502920"/>
          </a:xfrm>
          <a:prstGeom prst="rect">
            <a:avLst/>
          </a:prstGeom>
          <a:noFill/>
          <a:ln/>
        </p:spPr>
        <p:txBody>
          <a:bodyPr wrap="square" lIns="0" tIns="0" rIns="0" bIns="0" rtlCol="0" anchor="t"/>
          <a:lstStyle/>
          <a:p>
            <a:pPr indent="0" marL="0">
              <a:buNone/>
            </a:pPr>
            <a:r>
              <a:rPr lang="en-US" sz="1500" dirty="0">
                <a:solidFill>
                  <a:srgbClr val="F4EFE1"/>
                </a:solidFill>
                <a:latin typeface="Inter" pitchFamily="34" charset="0"/>
                <a:ea typeface="Inter" pitchFamily="34" charset="-122"/>
                <a:cs typeface="Inter" pitchFamily="34" charset="-120"/>
              </a:rPr>
              <a:t>Led a nine-figure business at Amazon Web Services.</a:t>
            </a:r>
            <a:endParaRPr lang="en-US" sz="1500" dirty="0"/>
          </a:p>
        </p:txBody>
      </p:sp>
      <p:sp>
        <p:nvSpPr>
          <p:cNvPr id="10" name="Shape 8"/>
          <p:cNvSpPr/>
          <p:nvPr/>
        </p:nvSpPr>
        <p:spPr>
          <a:xfrm>
            <a:off x="868680" y="4069080"/>
            <a:ext cx="118872" cy="118872"/>
          </a:xfrm>
          <a:prstGeom prst="diamond">
            <a:avLst/>
          </a:prstGeom>
          <a:solidFill>
            <a:srgbClr val="C9A227"/>
          </a:solidFill>
          <a:ln/>
        </p:spPr>
      </p:sp>
      <p:sp>
        <p:nvSpPr>
          <p:cNvPr id="11" name="Text 9"/>
          <p:cNvSpPr/>
          <p:nvPr/>
        </p:nvSpPr>
        <p:spPr>
          <a:xfrm>
            <a:off x="1188720" y="3986784"/>
            <a:ext cx="8138160" cy="502920"/>
          </a:xfrm>
          <a:prstGeom prst="rect">
            <a:avLst/>
          </a:prstGeom>
          <a:noFill/>
          <a:ln/>
        </p:spPr>
        <p:txBody>
          <a:bodyPr wrap="square" lIns="0" tIns="0" rIns="0" bIns="0" rtlCol="0" anchor="t"/>
          <a:lstStyle/>
          <a:p>
            <a:pPr indent="0" marL="0">
              <a:buNone/>
            </a:pPr>
            <a:r>
              <a:rPr lang="en-US" sz="1500" dirty="0">
                <a:solidFill>
                  <a:srgbClr val="F4EFE1"/>
                </a:solidFill>
                <a:latin typeface="Inter" pitchFamily="34" charset="0"/>
                <a:ea typeface="Inter" pitchFamily="34" charset="-122"/>
                <a:cs typeface="Inter" pitchFamily="34" charset="-120"/>
              </a:rPr>
              <a:t>Launched the AWS service becoming the memory layer for how AI agents work together.</a:t>
            </a:r>
            <a:endParaRPr lang="en-US" sz="1500" dirty="0"/>
          </a:p>
        </p:txBody>
      </p:sp>
      <p:sp>
        <p:nvSpPr>
          <p:cNvPr id="12" name="Text 10"/>
          <p:cNvSpPr/>
          <p:nvPr/>
        </p:nvSpPr>
        <p:spPr>
          <a:xfrm>
            <a:off x="822960" y="5029200"/>
            <a:ext cx="8229600" cy="457200"/>
          </a:xfrm>
          <a:prstGeom prst="rect">
            <a:avLst/>
          </a:prstGeom>
          <a:noFill/>
          <a:ln/>
        </p:spPr>
        <p:txBody>
          <a:bodyPr wrap="square" lIns="0" tIns="0" rIns="0" bIns="0" rtlCol="0" anchor="ctr"/>
          <a:lstStyle/>
          <a:p>
            <a:pPr indent="0" marL="0">
              <a:buNone/>
            </a:pPr>
            <a:r>
              <a:rPr lang="en-US" sz="1700" i="1" dirty="0">
                <a:solidFill>
                  <a:srgbClr val="E7C766"/>
                </a:solidFill>
                <a:latin typeface="Playfair Display" pitchFamily="34" charset="0"/>
                <a:ea typeface="Playfair Display" pitchFamily="34" charset="-122"/>
                <a:cs typeface="Playfair Display" pitchFamily="34" charset="-120"/>
              </a:rPr>
              <a:t>None of that is the reason we’re here today.</a:t>
            </a:r>
            <a:endParaRPr lang="en-US" sz="1700" dirty="0"/>
          </a:p>
        </p:txBody>
      </p:sp>
      <p:pic>
        <p:nvPicPr>
          <p:cNvPr id="13" name="Image 0" descr="monogram.png">    </p:cNvPr>
          <p:cNvPicPr>
            <a:picLocks noChangeAspect="1"/>
          </p:cNvPicPr>
          <p:nvPr/>
        </p:nvPicPr>
        <p:blipFill>
          <a:blip r:embed="rId2">
            <a:alphaModFix amt="65000"/>
          </a:blip>
          <a:stretch>
            <a:fillRect/>
          </a:stretch>
        </p:blipFill>
        <p:spPr>
          <a:xfrm>
            <a:off x="9646920" y="2331720"/>
            <a:ext cx="1737360" cy="17373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640080"/>
            <a:ext cx="54864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THE PROBLEM</a:t>
            </a:r>
            <a:endParaRPr lang="en-US" sz="1200" dirty="0"/>
          </a:p>
        </p:txBody>
      </p:sp>
      <p:sp>
        <p:nvSpPr>
          <p:cNvPr id="3" name="Text 1"/>
          <p:cNvSpPr/>
          <p:nvPr/>
        </p:nvSpPr>
        <p:spPr>
          <a:xfrm>
            <a:off x="685800" y="1051560"/>
            <a:ext cx="4206240" cy="2377440"/>
          </a:xfrm>
          <a:prstGeom prst="rect">
            <a:avLst/>
          </a:prstGeom>
          <a:noFill/>
          <a:ln/>
        </p:spPr>
        <p:txBody>
          <a:bodyPr wrap="square" lIns="0" tIns="0" rIns="0" bIns="0" rtlCol="0" anchor="ctr"/>
          <a:lstStyle/>
          <a:p>
            <a:pPr indent="0" marL="0">
              <a:buNone/>
            </a:pPr>
            <a:r>
              <a:rPr lang="en-US" sz="15000" b="1" dirty="0">
                <a:solidFill>
                  <a:srgbClr val="C9A227"/>
                </a:solidFill>
                <a:latin typeface="Playfair Display" pitchFamily="34" charset="0"/>
                <a:ea typeface="Playfair Display" pitchFamily="34" charset="-122"/>
                <a:cs typeface="Playfair Display" pitchFamily="34" charset="-120"/>
              </a:rPr>
              <a:t>300</a:t>
            </a:r>
            <a:endParaRPr lang="en-US" sz="15000" dirty="0"/>
          </a:p>
        </p:txBody>
      </p:sp>
      <p:sp>
        <p:nvSpPr>
          <p:cNvPr id="4" name="Text 2"/>
          <p:cNvSpPr/>
          <p:nvPr/>
        </p:nvSpPr>
        <p:spPr>
          <a:xfrm>
            <a:off x="5029200" y="1554480"/>
            <a:ext cx="6400800" cy="1645920"/>
          </a:xfrm>
          <a:prstGeom prst="rect">
            <a:avLst/>
          </a:prstGeom>
          <a:noFill/>
          <a:ln/>
        </p:spPr>
        <p:txBody>
          <a:bodyPr wrap="square" lIns="0" tIns="0" rIns="0" bIns="0" rtlCol="0" anchor="t"/>
          <a:lstStyle/>
          <a:p>
            <a:pPr indent="0" marL="0">
              <a:lnSpc>
                <a:spcPts val="4000"/>
              </a:lnSpc>
              <a:buNone/>
            </a:pPr>
            <a:r>
              <a:rPr lang="en-US" sz="3000" dirty="0">
                <a:solidFill>
                  <a:srgbClr val="F7F3E9"/>
                </a:solidFill>
                <a:latin typeface="Playfair Display" pitchFamily="34" charset="0"/>
                <a:ea typeface="Playfair Display" pitchFamily="34" charset="-122"/>
                <a:cs typeface="Playfair Display" pitchFamily="34" charset="-120"/>
              </a:rPr>
              <a:t>emails a day is not a communication strategy.</a:t>
            </a:r>
            <a:endParaRPr lang="en-US" sz="3000" dirty="0"/>
          </a:p>
        </p:txBody>
      </p:sp>
      <p:sp>
        <p:nvSpPr>
          <p:cNvPr id="5" name="Text 3"/>
          <p:cNvSpPr/>
          <p:nvPr/>
        </p:nvSpPr>
        <p:spPr>
          <a:xfrm>
            <a:off x="822960" y="4160520"/>
            <a:ext cx="9875520" cy="640080"/>
          </a:xfrm>
          <a:prstGeom prst="rect">
            <a:avLst/>
          </a:prstGeom>
          <a:noFill/>
          <a:ln/>
        </p:spPr>
        <p:txBody>
          <a:bodyPr wrap="square" lIns="0" tIns="0" rIns="0" bIns="0" rtlCol="0" anchor="ctr"/>
          <a:lstStyle/>
          <a:p>
            <a:pPr indent="0" marL="0">
              <a:buNone/>
            </a:pPr>
            <a:r>
              <a:rPr lang="en-US" sz="1700" i="1" dirty="0">
                <a:solidFill>
                  <a:srgbClr val="CBC4AE"/>
                </a:solidFill>
                <a:latin typeface="Inter" pitchFamily="34" charset="0"/>
                <a:ea typeface="Inter" pitchFamily="34" charset="-122"/>
                <a:cs typeface="Inter" pitchFamily="34" charset="-120"/>
              </a:rPr>
              <a:t>It’s a second job you never applied for: read, sort, apologize for the delay, repeat.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02920"/>
            <a:ext cx="54864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THE FIX</a:t>
            </a:r>
            <a:endParaRPr lang="en-US" sz="1200" dirty="0"/>
          </a:p>
        </p:txBody>
      </p:sp>
      <p:sp>
        <p:nvSpPr>
          <p:cNvPr id="3" name="Shape 1"/>
          <p:cNvSpPr/>
          <p:nvPr/>
        </p:nvSpPr>
        <p:spPr>
          <a:xfrm>
            <a:off x="822960" y="914400"/>
            <a:ext cx="10515600" cy="1554480"/>
          </a:xfrm>
          <a:prstGeom prst="roundRect">
            <a:avLst>
              <a:gd name="adj" fmla="val 2353"/>
            </a:avLst>
          </a:prstGeom>
          <a:solidFill>
            <a:srgbClr val="F7F3E9"/>
          </a:solidFill>
          <a:ln/>
          <a:effectLst>
            <a:outerShdw sx="100000" sy="100000" kx="0" ky="0" algn="bl" rotWithShape="0" blurRad="177800" dist="63500" dir="5400000">
              <a:srgbClr val="000000">
                <a:alpha val="35000"/>
              </a:srgbClr>
            </a:outerShdw>
          </a:effectLst>
        </p:spPr>
      </p:sp>
      <p:sp>
        <p:nvSpPr>
          <p:cNvPr id="4" name="Text 2"/>
          <p:cNvSpPr/>
          <p:nvPr/>
        </p:nvSpPr>
        <p:spPr>
          <a:xfrm>
            <a:off x="1078992" y="914400"/>
            <a:ext cx="10003536" cy="1554480"/>
          </a:xfrm>
          <a:prstGeom prst="rect">
            <a:avLst/>
          </a:prstGeom>
          <a:noFill/>
          <a:ln/>
        </p:spPr>
        <p:txBody>
          <a:bodyPr wrap="square" lIns="0" tIns="0" rIns="0" bIns="0" rtlCol="0" anchor="ctr"/>
          <a:lstStyle/>
          <a:p>
            <a:pPr algn="l" indent="0" marL="0">
              <a:spcAft>
                <a:spcPts val="800"/>
              </a:spcAft>
              <a:buNone/>
            </a:pPr>
            <a:r>
              <a:rPr lang="en-US" sz="1600" i="1" dirty="0">
                <a:solidFill>
                  <a:srgbClr val="A31621"/>
                </a:solidFill>
                <a:latin typeface="Playfair Display" pitchFamily="34" charset="0"/>
                <a:ea typeface="Playfair Display" pitchFamily="34" charset="-122"/>
                <a:cs typeface="Playfair Display" pitchFamily="34" charset="-120"/>
              </a:rPr>
              <a:t>“If you want somebody to just sit at her desk, answer your phones and pick up your dry cleaning, then put out a want ad, because that’s not me.”</a:t>
            </a:r>
            <a:endParaRPr lang="en-US" sz="1600" dirty="0"/>
          </a:p>
          <a:p>
            <a:pPr algn="l" indent="0" marL="0">
              <a:buNone/>
            </a:pPr>
            <a:r>
              <a:rPr lang="en-US" sz="950" b="1" spc="300" kern="0" dirty="0">
                <a:solidFill>
                  <a:srgbClr val="14213D"/>
                </a:solidFill>
                <a:latin typeface="Inter" pitchFamily="34" charset="0"/>
                <a:ea typeface="Inter" pitchFamily="34" charset="-122"/>
                <a:cs typeface="Inter" pitchFamily="34" charset="-120"/>
              </a:rPr>
              <a:t>DONNA PAULSEN, SUITS</a:t>
            </a:r>
            <a:endParaRPr lang="en-US" sz="1600" dirty="0"/>
          </a:p>
        </p:txBody>
      </p:sp>
      <p:sp>
        <p:nvSpPr>
          <p:cNvPr id="5" name="Text 3"/>
          <p:cNvSpPr/>
          <p:nvPr/>
        </p:nvSpPr>
        <p:spPr>
          <a:xfrm>
            <a:off x="822960" y="2880360"/>
            <a:ext cx="10515600" cy="777240"/>
          </a:xfrm>
          <a:prstGeom prst="rect">
            <a:avLst/>
          </a:prstGeom>
          <a:noFill/>
          <a:ln/>
        </p:spPr>
        <p:txBody>
          <a:bodyPr wrap="square" lIns="0" tIns="0" rIns="0" bIns="0" rtlCol="0" anchor="ctr"/>
          <a:lstStyle/>
          <a:p>
            <a:pPr indent="0" marL="0">
              <a:buNone/>
            </a:pPr>
            <a:r>
              <a:rPr lang="en-US" sz="3300" b="1" dirty="0">
                <a:solidFill>
                  <a:srgbClr val="F7F3E9"/>
                </a:solidFill>
                <a:latin typeface="Playfair Display" pitchFamily="34" charset="0"/>
                <a:ea typeface="Playfair Display" pitchFamily="34" charset="-122"/>
                <a:cs typeface="Playfair Display" pitchFamily="34" charset="-120"/>
              </a:rPr>
              <a:t>You don’t need a better inbox. You need a Donna.</a:t>
            </a:r>
            <a:endParaRPr lang="en-US" sz="3300" dirty="0"/>
          </a:p>
        </p:txBody>
      </p:sp>
      <p:sp>
        <p:nvSpPr>
          <p:cNvPr id="6" name="Text 4"/>
          <p:cNvSpPr/>
          <p:nvPr/>
        </p:nvSpPr>
        <p:spPr>
          <a:xfrm>
            <a:off x="822960" y="3977640"/>
            <a:ext cx="10332720" cy="1280160"/>
          </a:xfrm>
          <a:prstGeom prst="rect">
            <a:avLst/>
          </a:prstGeom>
          <a:noFill/>
          <a:ln/>
        </p:spPr>
        <p:txBody>
          <a:bodyPr wrap="square" lIns="0" tIns="0" rIns="0" bIns="0" rtlCol="0" anchor="ctr"/>
          <a:lstStyle/>
          <a:p>
            <a:pPr indent="0" marL="0">
              <a:lnSpc>
                <a:spcPts val="2500"/>
              </a:lnSpc>
              <a:buNone/>
            </a:pPr>
            <a:r>
              <a:rPr lang="en-US" sz="1550" dirty="0">
                <a:solidFill>
                  <a:srgbClr val="F4EFE1"/>
                </a:solidFill>
                <a:latin typeface="Inter" pitchFamily="34" charset="0"/>
                <a:ea typeface="Inter" pitchFamily="34" charset="-122"/>
                <a:cs typeface="Inter" pitchFamily="34" charset="-120"/>
              </a:rPr>
              <a:t>In the show’s final seasons, the firm builds an AI assistant modeled on her. They call it “The Donna.”</a:t>
            </a:r>
            <a:endParaRPr lang="en-US" sz="1550" dirty="0"/>
          </a:p>
          <a:p>
            <a:pPr indent="0" marL="0">
              <a:lnSpc>
                <a:spcPts val="2500"/>
              </a:lnSpc>
              <a:buNone/>
            </a:pPr>
            <a:r>
              <a:rPr lang="en-US" sz="1550" dirty="0">
                <a:solidFill>
                  <a:srgbClr val="F4EFE1"/>
                </a:solidFill>
                <a:latin typeface="Inter" pitchFamily="34" charset="0"/>
                <a:ea typeface="Inter" pitchFamily="34" charset="-122"/>
                <a:cs typeface="Inter" pitchFamily="34" charset="-120"/>
              </a:rPr>
              <a:t>The show built The Donna as fiction. You’re going to build yours for real. It takes about two hours.</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640080"/>
            <a:ext cx="73152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SOME TRUTH BEFORE WE BUILD</a:t>
            </a:r>
            <a:endParaRPr lang="en-US" sz="1200" dirty="0"/>
          </a:p>
        </p:txBody>
      </p:sp>
      <p:sp>
        <p:nvSpPr>
          <p:cNvPr id="3" name="Text 1"/>
          <p:cNvSpPr/>
          <p:nvPr/>
        </p:nvSpPr>
        <p:spPr>
          <a:xfrm>
            <a:off x="822960" y="1051560"/>
            <a:ext cx="10515600" cy="731520"/>
          </a:xfrm>
          <a:prstGeom prst="rect">
            <a:avLst/>
          </a:prstGeom>
          <a:noFill/>
          <a:ln/>
        </p:spPr>
        <p:txBody>
          <a:bodyPr wrap="square" lIns="0" tIns="0" rIns="0" bIns="0" rtlCol="0" anchor="ctr"/>
          <a:lstStyle/>
          <a:p>
            <a:pPr indent="0" marL="0">
              <a:buNone/>
            </a:pPr>
            <a:r>
              <a:rPr lang="en-US" sz="3600" b="1" dirty="0">
                <a:solidFill>
                  <a:srgbClr val="F7F3E9"/>
                </a:solidFill>
                <a:latin typeface="Playfair Display" pitchFamily="34" charset="0"/>
                <a:ea typeface="Playfair Display" pitchFamily="34" charset="-122"/>
                <a:cs typeface="Playfair Display" pitchFamily="34" charset="-120"/>
              </a:rPr>
              <a:t>This is not about learning a tool.</a:t>
            </a:r>
            <a:endParaRPr lang="en-US" sz="3600" dirty="0"/>
          </a:p>
        </p:txBody>
      </p:sp>
      <p:sp>
        <p:nvSpPr>
          <p:cNvPr id="4" name="Text 2"/>
          <p:cNvSpPr/>
          <p:nvPr/>
        </p:nvSpPr>
        <p:spPr>
          <a:xfrm>
            <a:off x="822960" y="1874520"/>
            <a:ext cx="10515600" cy="548640"/>
          </a:xfrm>
          <a:prstGeom prst="rect">
            <a:avLst/>
          </a:prstGeom>
          <a:noFill/>
          <a:ln/>
        </p:spPr>
        <p:txBody>
          <a:bodyPr wrap="square" lIns="0" tIns="0" rIns="0" bIns="0" rtlCol="0" anchor="ctr"/>
          <a:lstStyle/>
          <a:p>
            <a:pPr indent="0" marL="0">
              <a:buNone/>
            </a:pPr>
            <a:r>
              <a:rPr lang="en-US" sz="2200" i="1" dirty="0">
                <a:solidFill>
                  <a:srgbClr val="E7C766"/>
                </a:solidFill>
                <a:latin typeface="Playfair Display" pitchFamily="34" charset="0"/>
                <a:ea typeface="Playfair Display" pitchFamily="34" charset="-122"/>
                <a:cs typeface="Playfair Display" pitchFamily="34" charset="-120"/>
              </a:rPr>
              <a:t>It’s about changing how your work gets closed.</a:t>
            </a:r>
            <a:endParaRPr lang="en-US" sz="2200" dirty="0"/>
          </a:p>
        </p:txBody>
      </p:sp>
      <p:sp>
        <p:nvSpPr>
          <p:cNvPr id="5" name="Text 3"/>
          <p:cNvSpPr/>
          <p:nvPr/>
        </p:nvSpPr>
        <p:spPr>
          <a:xfrm>
            <a:off x="822960" y="2743200"/>
            <a:ext cx="6492240" cy="3108960"/>
          </a:xfrm>
          <a:prstGeom prst="rect">
            <a:avLst/>
          </a:prstGeom>
          <a:noFill/>
          <a:ln/>
        </p:spPr>
        <p:txBody>
          <a:bodyPr wrap="square" lIns="0" tIns="0" rIns="0" bIns="0" rtlCol="0" anchor="t"/>
          <a:lstStyle/>
          <a:p>
            <a:pPr indent="0" marL="0">
              <a:lnSpc>
                <a:spcPts val="2300"/>
              </a:lnSpc>
              <a:buNone/>
            </a:pPr>
            <a:r>
              <a:rPr lang="en-US" sz="1450" dirty="0">
                <a:solidFill>
                  <a:srgbClr val="F4EFE1"/>
                </a:solidFill>
                <a:latin typeface="Inter" pitchFamily="34" charset="0"/>
                <a:ea typeface="Inter" pitchFamily="34" charset="-122"/>
                <a:cs typeface="Inter" pitchFamily="34" charset="-120"/>
              </a:rPr>
              <a:t>Here’s the part nobody selling software will tell you: AI will not close any workflow 100 percent. Not today, not with any tool on the market. I’ve spent my career building in the center of this technology, and the teams shipping it don’t get 100 percent either.</a:t>
            </a:r>
            <a:endParaRPr lang="en-US" sz="1450" dirty="0"/>
          </a:p>
          <a:p>
            <a:pPr indent="0" marL="0">
              <a:lnSpc>
                <a:spcPts val="2300"/>
              </a:lnSpc>
              <a:buNone/>
            </a:pPr>
            <a:endParaRPr lang="en-US" sz="1450" dirty="0"/>
          </a:p>
          <a:p>
            <a:pPr indent="0" marL="0">
              <a:lnSpc>
                <a:spcPts val="2300"/>
              </a:lnSpc>
              <a:buNone/>
            </a:pPr>
            <a:r>
              <a:rPr lang="en-US" sz="1450" dirty="0">
                <a:solidFill>
                  <a:srgbClr val="F4EFE1"/>
                </a:solidFill>
                <a:latin typeface="Inter" pitchFamily="34" charset="0"/>
                <a:ea typeface="Inter" pitchFamily="34" charset="-122"/>
                <a:cs typeface="Inter" pitchFamily="34" charset="-120"/>
              </a:rPr>
              <a:t>What AI does is take a task that eats an hour of you and hand it back needing five minutes of you. That five minutes is judgment. The judgment stays yours.</a:t>
            </a:r>
            <a:endParaRPr lang="en-US" sz="1450" dirty="0"/>
          </a:p>
        </p:txBody>
      </p:sp>
      <p:sp>
        <p:nvSpPr>
          <p:cNvPr id="6" name="Shape 4"/>
          <p:cNvSpPr/>
          <p:nvPr/>
        </p:nvSpPr>
        <p:spPr>
          <a:xfrm>
            <a:off x="7772400" y="3108960"/>
            <a:ext cx="3657600" cy="2011680"/>
          </a:xfrm>
          <a:prstGeom prst="roundRect">
            <a:avLst>
              <a:gd name="adj" fmla="val 1818"/>
            </a:avLst>
          </a:prstGeom>
          <a:solidFill>
            <a:srgbClr val="F7F3E9"/>
          </a:solidFill>
          <a:ln/>
          <a:effectLst>
            <a:outerShdw sx="100000" sy="100000" kx="0" ky="0" algn="bl" rotWithShape="0" blurRad="177800" dist="63500" dir="5400000">
              <a:srgbClr val="000000">
                <a:alpha val="35000"/>
              </a:srgbClr>
            </a:outerShdw>
          </a:effectLst>
        </p:spPr>
      </p:sp>
      <p:sp>
        <p:nvSpPr>
          <p:cNvPr id="7" name="Text 5"/>
          <p:cNvSpPr/>
          <p:nvPr/>
        </p:nvSpPr>
        <p:spPr>
          <a:xfrm>
            <a:off x="8028432" y="3108960"/>
            <a:ext cx="3145536" cy="2011680"/>
          </a:xfrm>
          <a:prstGeom prst="rect">
            <a:avLst/>
          </a:prstGeom>
          <a:noFill/>
          <a:ln/>
        </p:spPr>
        <p:txBody>
          <a:bodyPr wrap="square" lIns="0" tIns="0" rIns="0" bIns="0" rtlCol="0" anchor="ctr"/>
          <a:lstStyle/>
          <a:p>
            <a:pPr algn="l" indent="0" marL="0">
              <a:spcAft>
                <a:spcPts val="800"/>
              </a:spcAft>
              <a:buNone/>
            </a:pPr>
            <a:r>
              <a:rPr lang="en-US" sz="1600" i="1" dirty="0">
                <a:solidFill>
                  <a:srgbClr val="A31621"/>
                </a:solidFill>
                <a:latin typeface="Playfair Display" pitchFamily="34" charset="0"/>
                <a:ea typeface="Playfair Display" pitchFamily="34" charset="-122"/>
                <a:cs typeface="Playfair Display" pitchFamily="34" charset="-120"/>
              </a:rPr>
              <a:t>“Anyone can do my job, but no one can be me.”</a:t>
            </a:r>
            <a:endParaRPr lang="en-US" sz="1600" dirty="0"/>
          </a:p>
          <a:p>
            <a:pPr algn="l" indent="0" marL="0">
              <a:buNone/>
            </a:pPr>
            <a:r>
              <a:rPr lang="en-US" sz="950" b="1" spc="300" kern="0" dirty="0">
                <a:solidFill>
                  <a:srgbClr val="14213D"/>
                </a:solidFill>
                <a:latin typeface="Inter" pitchFamily="34" charset="0"/>
                <a:ea typeface="Inter" pitchFamily="34" charset="-122"/>
                <a:cs typeface="Inter" pitchFamily="34" charset="-120"/>
              </a:rPr>
              <a:t>DONNA PAULSEN, SUITS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640080"/>
            <a:ext cx="73152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BEFORE YOU AUTOMATE ANYTHING</a:t>
            </a:r>
            <a:endParaRPr lang="en-US" sz="1200" dirty="0"/>
          </a:p>
        </p:txBody>
      </p:sp>
      <p:sp>
        <p:nvSpPr>
          <p:cNvPr id="3" name="Text 1"/>
          <p:cNvSpPr/>
          <p:nvPr/>
        </p:nvSpPr>
        <p:spPr>
          <a:xfrm>
            <a:off x="822960" y="1051560"/>
            <a:ext cx="10515600" cy="731520"/>
          </a:xfrm>
          <a:prstGeom prst="rect">
            <a:avLst/>
          </a:prstGeom>
          <a:noFill/>
          <a:ln/>
        </p:spPr>
        <p:txBody>
          <a:bodyPr wrap="square" lIns="0" tIns="0" rIns="0" bIns="0" rtlCol="0" anchor="ctr"/>
          <a:lstStyle/>
          <a:p>
            <a:pPr indent="0" marL="0">
              <a:buNone/>
            </a:pPr>
            <a:r>
              <a:rPr lang="en-US" sz="3300" b="1" dirty="0">
                <a:solidFill>
                  <a:srgbClr val="F7F3E9"/>
                </a:solidFill>
                <a:latin typeface="Playfair Display" pitchFamily="34" charset="0"/>
                <a:ea typeface="Playfair Display" pitchFamily="34" charset="-122"/>
                <a:cs typeface="Playfair Display" pitchFamily="34" charset="-120"/>
              </a:rPr>
              <a:t>Three decisions only you can make</a:t>
            </a:r>
            <a:endParaRPr lang="en-US" sz="3300" dirty="0"/>
          </a:p>
        </p:txBody>
      </p:sp>
      <p:sp>
        <p:nvSpPr>
          <p:cNvPr id="4" name="Text 2"/>
          <p:cNvSpPr/>
          <p:nvPr/>
        </p:nvSpPr>
        <p:spPr>
          <a:xfrm>
            <a:off x="822960" y="2057400"/>
            <a:ext cx="777240" cy="731520"/>
          </a:xfrm>
          <a:prstGeom prst="rect">
            <a:avLst/>
          </a:prstGeom>
          <a:noFill/>
          <a:ln/>
        </p:spPr>
        <p:txBody>
          <a:bodyPr wrap="square" lIns="0" tIns="0" rIns="0" bIns="0" rtlCol="0" anchor="ctr"/>
          <a:lstStyle/>
          <a:p>
            <a:pPr indent="0" marL="0">
              <a:buNone/>
            </a:pPr>
            <a:r>
              <a:rPr lang="en-US" sz="3000" b="1" dirty="0">
                <a:solidFill>
                  <a:srgbClr val="C9A227"/>
                </a:solidFill>
                <a:latin typeface="Playfair Display" pitchFamily="34" charset="0"/>
                <a:ea typeface="Playfair Display" pitchFamily="34" charset="-122"/>
                <a:cs typeface="Playfair Display" pitchFamily="34" charset="-120"/>
              </a:rPr>
              <a:t>01</a:t>
            </a:r>
            <a:endParaRPr lang="en-US" sz="3000" dirty="0"/>
          </a:p>
        </p:txBody>
      </p:sp>
      <p:sp>
        <p:nvSpPr>
          <p:cNvPr id="5" name="Text 3"/>
          <p:cNvSpPr/>
          <p:nvPr/>
        </p:nvSpPr>
        <p:spPr>
          <a:xfrm>
            <a:off x="1691640" y="2057400"/>
            <a:ext cx="9601200" cy="960120"/>
          </a:xfrm>
          <a:prstGeom prst="rect">
            <a:avLst/>
          </a:prstGeom>
          <a:noFill/>
          <a:ln/>
        </p:spPr>
        <p:txBody>
          <a:bodyPr wrap="square" lIns="0" tIns="0" rIns="0" bIns="0" rtlCol="0" anchor="t"/>
          <a:lstStyle/>
          <a:p>
            <a:pPr indent="0" marL="0">
              <a:spcAft>
                <a:spcPts val="400"/>
              </a:spcAft>
              <a:buNone/>
            </a:pPr>
            <a:r>
              <a:rPr lang="en-US" sz="1900" b="1" dirty="0">
                <a:solidFill>
                  <a:srgbClr val="F7F3E9"/>
                </a:solidFill>
                <a:latin typeface="Playfair Display" pitchFamily="34" charset="0"/>
                <a:ea typeface="Playfair Display" pitchFamily="34" charset="-122"/>
                <a:cs typeface="Playfair Display" pitchFamily="34" charset="-120"/>
              </a:rPr>
              <a:t>Where does your work live?</a:t>
            </a:r>
            <a:endParaRPr lang="en-US" sz="1900" dirty="0"/>
          </a:p>
          <a:p>
            <a:pPr indent="0" marL="0">
              <a:buNone/>
            </a:pPr>
            <a:r>
              <a:rPr lang="en-US" sz="1350" dirty="0">
                <a:solidFill>
                  <a:srgbClr val="CBC4AE"/>
                </a:solidFill>
                <a:latin typeface="Inter" pitchFamily="34" charset="0"/>
                <a:ea typeface="Inter" pitchFamily="34" charset="-122"/>
                <a:cs typeface="Inter" pitchFamily="34" charset="-120"/>
              </a:rPr>
              <a:t>Inbox, calendar, docs, CRM. If AI can’t reach the work, AI can’t help the work.</a:t>
            </a:r>
            <a:endParaRPr lang="en-US" sz="1900" dirty="0"/>
          </a:p>
        </p:txBody>
      </p:sp>
      <p:sp>
        <p:nvSpPr>
          <p:cNvPr id="6" name="Text 4"/>
          <p:cNvSpPr/>
          <p:nvPr/>
        </p:nvSpPr>
        <p:spPr>
          <a:xfrm>
            <a:off x="822960" y="3108960"/>
            <a:ext cx="777240" cy="731520"/>
          </a:xfrm>
          <a:prstGeom prst="rect">
            <a:avLst/>
          </a:prstGeom>
          <a:noFill/>
          <a:ln/>
        </p:spPr>
        <p:txBody>
          <a:bodyPr wrap="square" lIns="0" tIns="0" rIns="0" bIns="0" rtlCol="0" anchor="ctr"/>
          <a:lstStyle/>
          <a:p>
            <a:pPr indent="0" marL="0">
              <a:buNone/>
            </a:pPr>
            <a:r>
              <a:rPr lang="en-US" sz="3000" b="1" dirty="0">
                <a:solidFill>
                  <a:srgbClr val="C9A227"/>
                </a:solidFill>
                <a:latin typeface="Playfair Display" pitchFamily="34" charset="0"/>
                <a:ea typeface="Playfair Display" pitchFamily="34" charset="-122"/>
                <a:cs typeface="Playfair Display" pitchFamily="34" charset="-120"/>
              </a:rPr>
              <a:t>02</a:t>
            </a:r>
            <a:endParaRPr lang="en-US" sz="3000" dirty="0"/>
          </a:p>
        </p:txBody>
      </p:sp>
      <p:sp>
        <p:nvSpPr>
          <p:cNvPr id="7" name="Text 5"/>
          <p:cNvSpPr/>
          <p:nvPr/>
        </p:nvSpPr>
        <p:spPr>
          <a:xfrm>
            <a:off x="1691640" y="3108960"/>
            <a:ext cx="9601200" cy="960120"/>
          </a:xfrm>
          <a:prstGeom prst="rect">
            <a:avLst/>
          </a:prstGeom>
          <a:noFill/>
          <a:ln/>
        </p:spPr>
        <p:txBody>
          <a:bodyPr wrap="square" lIns="0" tIns="0" rIns="0" bIns="0" rtlCol="0" anchor="t"/>
          <a:lstStyle/>
          <a:p>
            <a:pPr indent="0" marL="0">
              <a:spcAft>
                <a:spcPts val="400"/>
              </a:spcAft>
              <a:buNone/>
            </a:pPr>
            <a:r>
              <a:rPr lang="en-US" sz="1900" b="1" dirty="0">
                <a:solidFill>
                  <a:srgbClr val="F7F3E9"/>
                </a:solidFill>
                <a:latin typeface="Playfair Display" pitchFamily="34" charset="0"/>
                <a:ea typeface="Playfair Display" pitchFamily="34" charset="-122"/>
                <a:cs typeface="Playfair Display" pitchFamily="34" charset="-120"/>
              </a:rPr>
              <a:t>Can AI show up the way you want it to?</a:t>
            </a:r>
            <a:endParaRPr lang="en-US" sz="1900" dirty="0"/>
          </a:p>
          <a:p>
            <a:pPr indent="0" marL="0">
              <a:buNone/>
            </a:pPr>
            <a:r>
              <a:rPr lang="en-US" sz="1350" dirty="0">
                <a:solidFill>
                  <a:srgbClr val="CBC4AE"/>
                </a:solidFill>
                <a:latin typeface="Inter" pitchFamily="34" charset="0"/>
                <a:ea typeface="Inter" pitchFamily="34" charset="-122"/>
                <a:cs typeface="Inter" pitchFamily="34" charset="-120"/>
              </a:rPr>
              <a:t>Today it shows up inside your inbox and on your calendar. That’s deliberate.</a:t>
            </a:r>
            <a:endParaRPr lang="en-US" sz="1900" dirty="0"/>
          </a:p>
        </p:txBody>
      </p:sp>
      <p:sp>
        <p:nvSpPr>
          <p:cNvPr id="8" name="Text 6"/>
          <p:cNvSpPr/>
          <p:nvPr/>
        </p:nvSpPr>
        <p:spPr>
          <a:xfrm>
            <a:off x="822960" y="4160520"/>
            <a:ext cx="777240" cy="731520"/>
          </a:xfrm>
          <a:prstGeom prst="rect">
            <a:avLst/>
          </a:prstGeom>
          <a:noFill/>
          <a:ln/>
        </p:spPr>
        <p:txBody>
          <a:bodyPr wrap="square" lIns="0" tIns="0" rIns="0" bIns="0" rtlCol="0" anchor="ctr"/>
          <a:lstStyle/>
          <a:p>
            <a:pPr indent="0" marL="0">
              <a:buNone/>
            </a:pPr>
            <a:r>
              <a:rPr lang="en-US" sz="3000" b="1" dirty="0">
                <a:solidFill>
                  <a:srgbClr val="C9A227"/>
                </a:solidFill>
                <a:latin typeface="Playfair Display" pitchFamily="34" charset="0"/>
                <a:ea typeface="Playfair Display" pitchFamily="34" charset="-122"/>
                <a:cs typeface="Playfair Display" pitchFamily="34" charset="-120"/>
              </a:rPr>
              <a:t>03</a:t>
            </a:r>
            <a:endParaRPr lang="en-US" sz="3000" dirty="0"/>
          </a:p>
        </p:txBody>
      </p:sp>
      <p:sp>
        <p:nvSpPr>
          <p:cNvPr id="9" name="Text 7"/>
          <p:cNvSpPr/>
          <p:nvPr/>
        </p:nvSpPr>
        <p:spPr>
          <a:xfrm>
            <a:off x="1691640" y="4160520"/>
            <a:ext cx="9601200" cy="960120"/>
          </a:xfrm>
          <a:prstGeom prst="rect">
            <a:avLst/>
          </a:prstGeom>
          <a:noFill/>
          <a:ln/>
        </p:spPr>
        <p:txBody>
          <a:bodyPr wrap="square" lIns="0" tIns="0" rIns="0" bIns="0" rtlCol="0" anchor="t"/>
          <a:lstStyle/>
          <a:p>
            <a:pPr indent="0" marL="0">
              <a:spcAft>
                <a:spcPts val="400"/>
              </a:spcAft>
              <a:buNone/>
            </a:pPr>
            <a:r>
              <a:rPr lang="en-US" sz="1900" b="1" dirty="0">
                <a:solidFill>
                  <a:srgbClr val="F7F3E9"/>
                </a:solidFill>
                <a:latin typeface="Playfair Display" pitchFamily="34" charset="0"/>
                <a:ea typeface="Playfair Display" pitchFamily="34" charset="-122"/>
                <a:cs typeface="Playfair Display" pitchFamily="34" charset="-120"/>
              </a:rPr>
              <a:t>What are you willing to change?</a:t>
            </a:r>
            <a:endParaRPr lang="en-US" sz="1900" dirty="0"/>
          </a:p>
          <a:p>
            <a:pPr indent="0" marL="0">
              <a:buNone/>
            </a:pPr>
            <a:r>
              <a:rPr lang="en-US" sz="1350" dirty="0">
                <a:solidFill>
                  <a:srgbClr val="CBC4AE"/>
                </a:solidFill>
                <a:latin typeface="Inter" pitchFamily="34" charset="0"/>
                <a:ea typeface="Inter" pitchFamily="34" charset="-122"/>
                <a:cs typeface="Inter" pitchFamily="34" charset="-120"/>
              </a:rPr>
              <a:t>A new workflow only pays if you actually adopt it. That part is on you, not the tool.</a:t>
            </a:r>
            <a:endParaRPr lang="en-US" sz="1900" dirty="0"/>
          </a:p>
        </p:txBody>
      </p:sp>
      <p:sp>
        <p:nvSpPr>
          <p:cNvPr id="10" name="Text 8"/>
          <p:cNvSpPr/>
          <p:nvPr/>
        </p:nvSpPr>
        <p:spPr>
          <a:xfrm>
            <a:off x="822960" y="5440680"/>
            <a:ext cx="10515600" cy="457200"/>
          </a:xfrm>
          <a:prstGeom prst="rect">
            <a:avLst/>
          </a:prstGeom>
          <a:noFill/>
          <a:ln/>
        </p:spPr>
        <p:txBody>
          <a:bodyPr wrap="square" lIns="0" tIns="0" rIns="0" bIns="0" rtlCol="0" anchor="ctr"/>
          <a:lstStyle/>
          <a:p>
            <a:pPr indent="0" marL="0">
              <a:buNone/>
            </a:pPr>
            <a:r>
              <a:rPr lang="en-US" sz="1700" i="1" dirty="0">
                <a:solidFill>
                  <a:srgbClr val="E7C766"/>
                </a:solidFill>
                <a:latin typeface="Playfair Display" pitchFamily="34" charset="0"/>
                <a:ea typeface="Playfair Display" pitchFamily="34" charset="-122"/>
                <a:cs typeface="Playfair Display" pitchFamily="34" charset="-120"/>
              </a:rPr>
              <a:t>The prize is a resource back: time or money. Spend it on the work you love.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640080"/>
            <a:ext cx="73152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WHAT TODAY ASSUMES</a:t>
            </a:r>
            <a:endParaRPr lang="en-US" sz="1200" dirty="0"/>
          </a:p>
        </p:txBody>
      </p:sp>
      <p:sp>
        <p:nvSpPr>
          <p:cNvPr id="3" name="Text 1"/>
          <p:cNvSpPr/>
          <p:nvPr/>
        </p:nvSpPr>
        <p:spPr>
          <a:xfrm>
            <a:off x="822960" y="1051560"/>
            <a:ext cx="10607040" cy="731520"/>
          </a:xfrm>
          <a:prstGeom prst="rect">
            <a:avLst/>
          </a:prstGeom>
          <a:noFill/>
          <a:ln/>
        </p:spPr>
        <p:txBody>
          <a:bodyPr wrap="square" lIns="0" tIns="0" rIns="0" bIns="0" rtlCol="0" anchor="ctr"/>
          <a:lstStyle/>
          <a:p>
            <a:pPr indent="0" marL="0">
              <a:buNone/>
            </a:pPr>
            <a:r>
              <a:rPr lang="en-US" sz="3100" b="1" dirty="0">
                <a:solidFill>
                  <a:srgbClr val="F7F3E9"/>
                </a:solidFill>
                <a:latin typeface="Playfair Display" pitchFamily="34" charset="0"/>
                <a:ea typeface="Playfair Display" pitchFamily="34" charset="-122"/>
                <a:cs typeface="Playfair Display" pitchFamily="34" charset="-120"/>
              </a:rPr>
              <a:t>You’ve met the chatbot. Now you build the agent.</a:t>
            </a:r>
            <a:endParaRPr lang="en-US" sz="3100" dirty="0"/>
          </a:p>
        </p:txBody>
      </p:sp>
      <p:sp>
        <p:nvSpPr>
          <p:cNvPr id="4" name="Shape 2"/>
          <p:cNvSpPr/>
          <p:nvPr/>
        </p:nvSpPr>
        <p:spPr>
          <a:xfrm>
            <a:off x="868680" y="2313432"/>
            <a:ext cx="118872" cy="118872"/>
          </a:xfrm>
          <a:prstGeom prst="diamond">
            <a:avLst/>
          </a:prstGeom>
          <a:solidFill>
            <a:srgbClr val="C9A227"/>
          </a:solidFill>
          <a:ln/>
        </p:spPr>
      </p:sp>
      <p:sp>
        <p:nvSpPr>
          <p:cNvPr id="5" name="Text 3"/>
          <p:cNvSpPr/>
          <p:nvPr/>
        </p:nvSpPr>
        <p:spPr>
          <a:xfrm>
            <a:off x="1188720" y="2240280"/>
            <a:ext cx="4937760" cy="502920"/>
          </a:xfrm>
          <a:prstGeom prst="rect">
            <a:avLst/>
          </a:prstGeom>
          <a:noFill/>
          <a:ln/>
        </p:spPr>
        <p:txBody>
          <a:bodyPr wrap="square" lIns="0" tIns="0" rIns="0" bIns="0" rtlCol="0" anchor="t"/>
          <a:lstStyle/>
          <a:p>
            <a:pPr indent="0" marL="0">
              <a:buNone/>
            </a:pPr>
            <a:r>
              <a:rPr lang="en-US" sz="1500" dirty="0">
                <a:solidFill>
                  <a:srgbClr val="F4EFE1"/>
                </a:solidFill>
                <a:latin typeface="Inter" pitchFamily="34" charset="0"/>
                <a:ea typeface="Inter" pitchFamily="34" charset="-122"/>
                <a:cs typeface="Inter" pitchFamily="34" charset="-120"/>
              </a:rPr>
              <a:t>You’ve chatted with an AI before.</a:t>
            </a:r>
            <a:endParaRPr lang="en-US" sz="1500" dirty="0"/>
          </a:p>
        </p:txBody>
      </p:sp>
      <p:sp>
        <p:nvSpPr>
          <p:cNvPr id="6" name="Shape 4"/>
          <p:cNvSpPr/>
          <p:nvPr/>
        </p:nvSpPr>
        <p:spPr>
          <a:xfrm>
            <a:off x="868680" y="2880360"/>
            <a:ext cx="118872" cy="118872"/>
          </a:xfrm>
          <a:prstGeom prst="diamond">
            <a:avLst/>
          </a:prstGeom>
          <a:solidFill>
            <a:srgbClr val="C9A227"/>
          </a:solidFill>
          <a:ln/>
        </p:spPr>
      </p:sp>
      <p:sp>
        <p:nvSpPr>
          <p:cNvPr id="7" name="Text 5"/>
          <p:cNvSpPr/>
          <p:nvPr/>
        </p:nvSpPr>
        <p:spPr>
          <a:xfrm>
            <a:off x="1188720" y="2807208"/>
            <a:ext cx="4937760" cy="502920"/>
          </a:xfrm>
          <a:prstGeom prst="rect">
            <a:avLst/>
          </a:prstGeom>
          <a:noFill/>
          <a:ln/>
        </p:spPr>
        <p:txBody>
          <a:bodyPr wrap="square" lIns="0" tIns="0" rIns="0" bIns="0" rtlCol="0" anchor="t"/>
          <a:lstStyle/>
          <a:p>
            <a:pPr indent="0" marL="0">
              <a:buNone/>
            </a:pPr>
            <a:r>
              <a:rPr lang="en-US" sz="1500" dirty="0">
                <a:solidFill>
                  <a:srgbClr val="F4EFE1"/>
                </a:solidFill>
                <a:latin typeface="Inter" pitchFamily="34" charset="0"/>
                <a:ea typeface="Inter" pitchFamily="34" charset="-122"/>
                <a:cs typeface="Inter" pitchFamily="34" charset="-120"/>
              </a:rPr>
              <a:t>You get the rhythm: ask, read, ask again.</a:t>
            </a:r>
            <a:endParaRPr lang="en-US" sz="1500" dirty="0"/>
          </a:p>
        </p:txBody>
      </p:sp>
      <p:sp>
        <p:nvSpPr>
          <p:cNvPr id="8" name="Shape 6"/>
          <p:cNvSpPr/>
          <p:nvPr/>
        </p:nvSpPr>
        <p:spPr>
          <a:xfrm>
            <a:off x="868680" y="3447288"/>
            <a:ext cx="118872" cy="118872"/>
          </a:xfrm>
          <a:prstGeom prst="diamond">
            <a:avLst/>
          </a:prstGeom>
          <a:solidFill>
            <a:srgbClr val="C9A227"/>
          </a:solidFill>
          <a:ln/>
        </p:spPr>
      </p:sp>
      <p:sp>
        <p:nvSpPr>
          <p:cNvPr id="9" name="Text 7"/>
          <p:cNvSpPr/>
          <p:nvPr/>
        </p:nvSpPr>
        <p:spPr>
          <a:xfrm>
            <a:off x="1188720" y="3374136"/>
            <a:ext cx="4937760" cy="502920"/>
          </a:xfrm>
          <a:prstGeom prst="rect">
            <a:avLst/>
          </a:prstGeom>
          <a:noFill/>
          <a:ln/>
        </p:spPr>
        <p:txBody>
          <a:bodyPr wrap="square" lIns="0" tIns="0" rIns="0" bIns="0" rtlCol="0" anchor="t"/>
          <a:lstStyle/>
          <a:p>
            <a:pPr indent="0" marL="0">
              <a:buNone/>
            </a:pPr>
            <a:r>
              <a:rPr lang="en-US" sz="1500" dirty="0">
                <a:solidFill>
                  <a:srgbClr val="F4EFE1"/>
                </a:solidFill>
                <a:latin typeface="Inter" pitchFamily="34" charset="0"/>
                <a:ea typeface="Inter" pitchFamily="34" charset="-122"/>
                <a:cs typeface="Inter" pitchFamily="34" charset="-120"/>
              </a:rPr>
              <a:t>You’re curious what it takes to build your own.</a:t>
            </a:r>
            <a:endParaRPr lang="en-US" sz="1500" dirty="0"/>
          </a:p>
        </p:txBody>
      </p:sp>
      <p:sp>
        <p:nvSpPr>
          <p:cNvPr id="10" name="Text 8"/>
          <p:cNvSpPr/>
          <p:nvPr/>
        </p:nvSpPr>
        <p:spPr>
          <a:xfrm>
            <a:off x="822960" y="4114800"/>
            <a:ext cx="5120640" cy="365760"/>
          </a:xfrm>
          <a:prstGeom prst="rect">
            <a:avLst/>
          </a:prstGeom>
          <a:noFill/>
          <a:ln/>
        </p:spPr>
        <p:txBody>
          <a:bodyPr wrap="square" lIns="0" tIns="0" rIns="0" bIns="0" rtlCol="0" anchor="ctr"/>
          <a:lstStyle/>
          <a:p>
            <a:pPr indent="0" marL="0">
              <a:buNone/>
            </a:pPr>
            <a:r>
              <a:rPr lang="en-US" sz="1500" i="1" dirty="0">
                <a:solidFill>
                  <a:srgbClr val="E7C766"/>
                </a:solidFill>
                <a:latin typeface="Playfair Display" pitchFamily="34" charset="0"/>
                <a:ea typeface="Playfair Display" pitchFamily="34" charset="-122"/>
                <a:cs typeface="Playfair Display" pitchFamily="34" charset="-120"/>
              </a:rPr>
              <a:t>That’s the whole prerequisite list.</a:t>
            </a:r>
            <a:endParaRPr lang="en-US" sz="1500" dirty="0"/>
          </a:p>
        </p:txBody>
      </p:sp>
      <p:sp>
        <p:nvSpPr>
          <p:cNvPr id="11" name="Shape 9"/>
          <p:cNvSpPr/>
          <p:nvPr/>
        </p:nvSpPr>
        <p:spPr>
          <a:xfrm>
            <a:off x="6400800" y="2103120"/>
            <a:ext cx="4937760" cy="3017520"/>
          </a:xfrm>
          <a:prstGeom prst="roundRect">
            <a:avLst>
              <a:gd name="adj" fmla="val 1515"/>
            </a:avLst>
          </a:prstGeom>
          <a:solidFill>
            <a:srgbClr val="1B2742"/>
          </a:solidFill>
          <a:ln w="12700">
            <a:solidFill>
              <a:srgbClr val="595235"/>
            </a:solidFill>
            <a:prstDash val="solid"/>
          </a:ln>
        </p:spPr>
      </p:sp>
      <p:sp>
        <p:nvSpPr>
          <p:cNvPr id="12" name="Text 10"/>
          <p:cNvSpPr/>
          <p:nvPr/>
        </p:nvSpPr>
        <p:spPr>
          <a:xfrm>
            <a:off x="6675120" y="2286000"/>
            <a:ext cx="4389120" cy="274320"/>
          </a:xfrm>
          <a:prstGeom prst="rect">
            <a:avLst/>
          </a:prstGeom>
          <a:noFill/>
          <a:ln/>
        </p:spPr>
        <p:txBody>
          <a:bodyPr wrap="square" lIns="0" tIns="0" rIns="0" bIns="0" rtlCol="0" anchor="ctr"/>
          <a:lstStyle/>
          <a:p>
            <a:pPr indent="0" marL="0">
              <a:buNone/>
            </a:pPr>
            <a:r>
              <a:rPr lang="en-US" sz="1050" b="1" spc="300" kern="0" dirty="0">
                <a:solidFill>
                  <a:srgbClr val="E7C766"/>
                </a:solidFill>
                <a:latin typeface="Inter" pitchFamily="34" charset="0"/>
                <a:ea typeface="Inter" pitchFamily="34" charset="-122"/>
                <a:cs typeface="Inter" pitchFamily="34" charset="-120"/>
              </a:rPr>
              <a:t>THE LADDER WE CLIMB TODAY</a:t>
            </a:r>
            <a:endParaRPr lang="en-US" sz="1050" dirty="0"/>
          </a:p>
        </p:txBody>
      </p:sp>
      <p:sp>
        <p:nvSpPr>
          <p:cNvPr id="13" name="Text 11"/>
          <p:cNvSpPr/>
          <p:nvPr/>
        </p:nvSpPr>
        <p:spPr>
          <a:xfrm>
            <a:off x="6675120" y="2697480"/>
            <a:ext cx="4480560" cy="457200"/>
          </a:xfrm>
          <a:prstGeom prst="rect">
            <a:avLst/>
          </a:prstGeom>
          <a:noFill/>
          <a:ln/>
        </p:spPr>
        <p:txBody>
          <a:bodyPr wrap="square" lIns="0" tIns="0" rIns="0" bIns="0" rtlCol="0" anchor="t"/>
          <a:lstStyle/>
          <a:p>
            <a:pPr indent="0" marL="0">
              <a:buNone/>
            </a:pPr>
            <a:r>
              <a:rPr lang="en-US" sz="1600" b="1" dirty="0">
                <a:solidFill>
                  <a:srgbClr val="F7F3E9"/>
                </a:solidFill>
                <a:latin typeface="Playfair Display" pitchFamily="34" charset="0"/>
                <a:ea typeface="Playfair Display" pitchFamily="34" charset="-122"/>
                <a:cs typeface="Playfair Display" pitchFamily="34" charset="-120"/>
              </a:rPr>
              <a:t>Chat</a:t>
            </a:r>
            <a:pPr indent="0" marL="0">
              <a:buNone/>
            </a:pPr>
            <a:r>
              <a:rPr lang="en-US" sz="1300" i="1" dirty="0">
                <a:solidFill>
                  <a:srgbClr val="CBC4AE"/>
                </a:solidFill>
                <a:latin typeface="Inter" pitchFamily="34" charset="0"/>
                <a:ea typeface="Inter" pitchFamily="34" charset="-122"/>
                <a:cs typeface="Inter" pitchFamily="34" charset="-120"/>
              </a:rPr>
              <a:t>   a conversation</a:t>
            </a:r>
            <a:endParaRPr lang="en-US" sz="1600" dirty="0"/>
          </a:p>
        </p:txBody>
      </p:sp>
      <p:sp>
        <p:nvSpPr>
          <p:cNvPr id="14" name="Text 12"/>
          <p:cNvSpPr/>
          <p:nvPr/>
        </p:nvSpPr>
        <p:spPr>
          <a:xfrm>
            <a:off x="6675120" y="3264408"/>
            <a:ext cx="4480560" cy="457200"/>
          </a:xfrm>
          <a:prstGeom prst="rect">
            <a:avLst/>
          </a:prstGeom>
          <a:noFill/>
          <a:ln/>
        </p:spPr>
        <p:txBody>
          <a:bodyPr wrap="square" lIns="0" tIns="0" rIns="0" bIns="0" rtlCol="0" anchor="t"/>
          <a:lstStyle/>
          <a:p>
            <a:pPr indent="0" marL="0">
              <a:buNone/>
            </a:pPr>
            <a:r>
              <a:rPr lang="en-US" sz="1600" b="1" dirty="0">
                <a:solidFill>
                  <a:srgbClr val="F7F3E9"/>
                </a:solidFill>
                <a:latin typeface="Playfair Display" pitchFamily="34" charset="0"/>
                <a:ea typeface="Playfair Display" pitchFamily="34" charset="-122"/>
                <a:cs typeface="Playfair Display" pitchFamily="34" charset="-120"/>
              </a:rPr>
              <a:t>Project</a:t>
            </a:r>
            <a:pPr indent="0" marL="0">
              <a:buNone/>
            </a:pPr>
            <a:r>
              <a:rPr lang="en-US" sz="1300" i="1" dirty="0">
                <a:solidFill>
                  <a:srgbClr val="CBC4AE"/>
                </a:solidFill>
                <a:latin typeface="Inter" pitchFamily="34" charset="0"/>
                <a:ea typeface="Inter" pitchFamily="34" charset="-122"/>
                <a:cs typeface="Inter" pitchFamily="34" charset="-120"/>
              </a:rPr>
              <a:t>   a conversation with memory</a:t>
            </a:r>
            <a:endParaRPr lang="en-US" sz="1600" dirty="0"/>
          </a:p>
        </p:txBody>
      </p:sp>
      <p:sp>
        <p:nvSpPr>
          <p:cNvPr id="15" name="Text 13"/>
          <p:cNvSpPr/>
          <p:nvPr/>
        </p:nvSpPr>
        <p:spPr>
          <a:xfrm>
            <a:off x="6675120" y="3831336"/>
            <a:ext cx="4480560" cy="457200"/>
          </a:xfrm>
          <a:prstGeom prst="rect">
            <a:avLst/>
          </a:prstGeom>
          <a:noFill/>
          <a:ln/>
        </p:spPr>
        <p:txBody>
          <a:bodyPr wrap="square" lIns="0" tIns="0" rIns="0" bIns="0" rtlCol="0" anchor="t"/>
          <a:lstStyle/>
          <a:p>
            <a:pPr indent="0" marL="0">
              <a:buNone/>
            </a:pPr>
            <a:r>
              <a:rPr lang="en-US" sz="1600" b="1" dirty="0">
                <a:solidFill>
                  <a:srgbClr val="F7F3E9"/>
                </a:solidFill>
                <a:latin typeface="Playfair Display" pitchFamily="34" charset="0"/>
                <a:ea typeface="Playfair Display" pitchFamily="34" charset="-122"/>
                <a:cs typeface="Playfair Display" pitchFamily="34" charset="-120"/>
              </a:rPr>
              <a:t>Skill</a:t>
            </a:r>
            <a:pPr indent="0" marL="0">
              <a:buNone/>
            </a:pPr>
            <a:r>
              <a:rPr lang="en-US" sz="1300" i="1" dirty="0">
                <a:solidFill>
                  <a:srgbClr val="CBC4AE"/>
                </a:solidFill>
                <a:latin typeface="Inter" pitchFamily="34" charset="0"/>
                <a:ea typeface="Inter" pitchFamily="34" charset="-122"/>
                <a:cs typeface="Inter" pitchFamily="34" charset="-120"/>
              </a:rPr>
              <a:t>   a playbook she carries</a:t>
            </a:r>
            <a:endParaRPr lang="en-US" sz="1600" dirty="0"/>
          </a:p>
        </p:txBody>
      </p:sp>
      <p:sp>
        <p:nvSpPr>
          <p:cNvPr id="16" name="Text 14"/>
          <p:cNvSpPr/>
          <p:nvPr/>
        </p:nvSpPr>
        <p:spPr>
          <a:xfrm>
            <a:off x="6675120" y="4398264"/>
            <a:ext cx="4480560" cy="457200"/>
          </a:xfrm>
          <a:prstGeom prst="rect">
            <a:avLst/>
          </a:prstGeom>
          <a:noFill/>
          <a:ln/>
        </p:spPr>
        <p:txBody>
          <a:bodyPr wrap="square" lIns="0" tIns="0" rIns="0" bIns="0" rtlCol="0" anchor="t"/>
          <a:lstStyle/>
          <a:p>
            <a:pPr indent="0" marL="0">
              <a:buNone/>
            </a:pPr>
            <a:r>
              <a:rPr lang="en-US" sz="1600" b="1" dirty="0">
                <a:solidFill>
                  <a:srgbClr val="F7F3E9"/>
                </a:solidFill>
                <a:latin typeface="Playfair Display" pitchFamily="34" charset="0"/>
                <a:ea typeface="Playfair Display" pitchFamily="34" charset="-122"/>
                <a:cs typeface="Playfair Display" pitchFamily="34" charset="-120"/>
              </a:rPr>
              <a:t>Agent</a:t>
            </a:r>
            <a:pPr indent="0" marL="0">
              <a:buNone/>
            </a:pPr>
            <a:r>
              <a:rPr lang="en-US" sz="1300" i="1" dirty="0">
                <a:solidFill>
                  <a:srgbClr val="CBC4AE"/>
                </a:solidFill>
                <a:latin typeface="Inter" pitchFamily="34" charset="0"/>
                <a:ea typeface="Inter" pitchFamily="34" charset="-122"/>
                <a:cs typeface="Inter" pitchFamily="34" charset="-120"/>
              </a:rPr>
              <a:t>   the playbook on a schedule</a:t>
            </a:r>
            <a:endParaRPr lang="en-US" sz="1600" dirty="0"/>
          </a:p>
        </p:txBody>
      </p:sp>
      <p:sp>
        <p:nvSpPr>
          <p:cNvPr id="17" name="Text 15"/>
          <p:cNvSpPr/>
          <p:nvPr/>
        </p:nvSpPr>
        <p:spPr>
          <a:xfrm>
            <a:off x="822960" y="5577840"/>
            <a:ext cx="10515600" cy="457200"/>
          </a:xfrm>
          <a:prstGeom prst="rect">
            <a:avLst/>
          </a:prstGeom>
          <a:noFill/>
          <a:ln/>
        </p:spPr>
        <p:txBody>
          <a:bodyPr wrap="square" lIns="0" tIns="0" rIns="0" bIns="0" rtlCol="0" anchor="ctr"/>
          <a:lstStyle/>
          <a:p>
            <a:pPr indent="0" marL="0">
              <a:buNone/>
            </a:pPr>
            <a:r>
              <a:rPr lang="en-US" sz="1400" dirty="0">
                <a:solidFill>
                  <a:srgbClr val="F4EFE1"/>
                </a:solidFill>
                <a:latin typeface="Inter" pitchFamily="34" charset="0"/>
                <a:ea typeface="Inter" pitchFamily="34" charset="-122"/>
                <a:cs typeface="Inter" pitchFamily="34" charset="-120"/>
              </a:rPr>
              <a:t>Every prompt today is pre-written with a copy button. If you can paste, you can build this.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02920"/>
            <a:ext cx="73152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THE AGENDA · FOUR CASE FILES</a:t>
            </a:r>
            <a:endParaRPr lang="en-US" sz="1200" dirty="0"/>
          </a:p>
        </p:txBody>
      </p:sp>
      <p:sp>
        <p:nvSpPr>
          <p:cNvPr id="3" name="Text 1"/>
          <p:cNvSpPr/>
          <p:nvPr/>
        </p:nvSpPr>
        <p:spPr>
          <a:xfrm>
            <a:off x="822960" y="868680"/>
            <a:ext cx="10515600" cy="685800"/>
          </a:xfrm>
          <a:prstGeom prst="rect">
            <a:avLst/>
          </a:prstGeom>
          <a:noFill/>
          <a:ln/>
        </p:spPr>
        <p:txBody>
          <a:bodyPr wrap="square" lIns="0" tIns="0" rIns="0" bIns="0" rtlCol="0" anchor="ctr"/>
          <a:lstStyle/>
          <a:p>
            <a:pPr indent="0" marL="0">
              <a:buNone/>
            </a:pPr>
            <a:r>
              <a:rPr lang="en-US" sz="3000" b="1" dirty="0">
                <a:solidFill>
                  <a:srgbClr val="F7F3E9"/>
                </a:solidFill>
                <a:latin typeface="Playfair Display" pitchFamily="34" charset="0"/>
                <a:ea typeface="Playfair Display" pitchFamily="34" charset="-122"/>
                <a:cs typeface="Playfair Display" pitchFamily="34" charset="-120"/>
              </a:rPr>
              <a:t>Hiring her in four moves</a:t>
            </a:r>
            <a:endParaRPr lang="en-US" sz="3000" dirty="0"/>
          </a:p>
        </p:txBody>
      </p:sp>
      <p:sp>
        <p:nvSpPr>
          <p:cNvPr id="4" name="Shape 2"/>
          <p:cNvSpPr/>
          <p:nvPr/>
        </p:nvSpPr>
        <p:spPr>
          <a:xfrm>
            <a:off x="502920" y="1828800"/>
            <a:ext cx="2706624" cy="3520440"/>
          </a:xfrm>
          <a:prstGeom prst="roundRect">
            <a:avLst>
              <a:gd name="adj" fmla="val 1689"/>
            </a:avLst>
          </a:prstGeom>
          <a:solidFill>
            <a:srgbClr val="1B2742"/>
          </a:solidFill>
          <a:ln w="12700">
            <a:solidFill>
              <a:srgbClr val="595235"/>
            </a:solidFill>
            <a:prstDash val="solid"/>
          </a:ln>
        </p:spPr>
      </p:sp>
      <p:sp>
        <p:nvSpPr>
          <p:cNvPr id="5" name="Text 3"/>
          <p:cNvSpPr/>
          <p:nvPr/>
        </p:nvSpPr>
        <p:spPr>
          <a:xfrm>
            <a:off x="731520" y="2011680"/>
            <a:ext cx="1097280" cy="594360"/>
          </a:xfrm>
          <a:prstGeom prst="rect">
            <a:avLst/>
          </a:prstGeom>
          <a:noFill/>
          <a:ln/>
        </p:spPr>
        <p:txBody>
          <a:bodyPr wrap="square" lIns="0" tIns="0" rIns="0" bIns="0" rtlCol="0" anchor="ctr"/>
          <a:lstStyle/>
          <a:p>
            <a:pPr indent="0" marL="0">
              <a:buNone/>
            </a:pPr>
            <a:r>
              <a:rPr lang="en-US" sz="3000" b="1" dirty="0">
                <a:solidFill>
                  <a:srgbClr val="C9A227"/>
                </a:solidFill>
                <a:latin typeface="Playfair Display" pitchFamily="34" charset="0"/>
                <a:ea typeface="Playfair Display" pitchFamily="34" charset="-122"/>
                <a:cs typeface="Playfair Display" pitchFamily="34" charset="-120"/>
              </a:rPr>
              <a:t>01</a:t>
            </a:r>
            <a:endParaRPr lang="en-US" sz="3000" dirty="0"/>
          </a:p>
        </p:txBody>
      </p:sp>
      <p:sp>
        <p:nvSpPr>
          <p:cNvPr id="6" name="Text 4"/>
          <p:cNvSpPr/>
          <p:nvPr/>
        </p:nvSpPr>
        <p:spPr>
          <a:xfrm>
            <a:off x="731520" y="2697480"/>
            <a:ext cx="2286000" cy="320040"/>
          </a:xfrm>
          <a:prstGeom prst="rect">
            <a:avLst/>
          </a:prstGeom>
          <a:noFill/>
          <a:ln/>
        </p:spPr>
        <p:txBody>
          <a:bodyPr wrap="square" lIns="0" tIns="0" rIns="0" bIns="0" rtlCol="0" anchor="ctr"/>
          <a:lstStyle/>
          <a:p>
            <a:pPr indent="0" marL="0">
              <a:buNone/>
            </a:pPr>
            <a:r>
              <a:rPr lang="en-US" sz="1300" b="1" spc="250" kern="0" dirty="0">
                <a:solidFill>
                  <a:srgbClr val="F7F3E9"/>
                </a:solidFill>
                <a:latin typeface="Inter" pitchFamily="34" charset="0"/>
                <a:ea typeface="Inter" pitchFamily="34" charset="-122"/>
                <a:cs typeface="Inter" pitchFamily="34" charset="-120"/>
              </a:rPr>
              <a:t>THE INTERVIEW</a:t>
            </a:r>
            <a:endParaRPr lang="en-US" sz="1300" dirty="0"/>
          </a:p>
        </p:txBody>
      </p:sp>
      <p:sp>
        <p:nvSpPr>
          <p:cNvPr id="7" name="Text 5"/>
          <p:cNvSpPr/>
          <p:nvPr/>
        </p:nvSpPr>
        <p:spPr>
          <a:xfrm>
            <a:off x="731520" y="3090672"/>
            <a:ext cx="2286000" cy="274320"/>
          </a:xfrm>
          <a:prstGeom prst="rect">
            <a:avLst/>
          </a:prstGeom>
          <a:noFill/>
          <a:ln/>
        </p:spPr>
        <p:txBody>
          <a:bodyPr wrap="square" lIns="0" tIns="0" rIns="0" bIns="0" rtlCol="0" anchor="ctr"/>
          <a:lstStyle/>
          <a:p>
            <a:pPr indent="0" marL="0">
              <a:buNone/>
            </a:pPr>
            <a:r>
              <a:rPr lang="en-US" sz="1050" spc="150" kern="0" dirty="0">
                <a:solidFill>
                  <a:srgbClr val="E7C766"/>
                </a:solidFill>
                <a:latin typeface="Inter" pitchFamily="34" charset="0"/>
                <a:ea typeface="Inter" pitchFamily="34" charset="-122"/>
                <a:cs typeface="Inter" pitchFamily="34" charset="-120"/>
              </a:rPr>
              <a:t>CHAT · ~15 MIN</a:t>
            </a:r>
            <a:endParaRPr lang="en-US" sz="1050" dirty="0"/>
          </a:p>
        </p:txBody>
      </p:sp>
      <p:sp>
        <p:nvSpPr>
          <p:cNvPr id="8" name="Text 6"/>
          <p:cNvSpPr/>
          <p:nvPr/>
        </p:nvSpPr>
        <p:spPr>
          <a:xfrm>
            <a:off x="731520" y="3520440"/>
            <a:ext cx="2286000" cy="1691640"/>
          </a:xfrm>
          <a:prstGeom prst="rect">
            <a:avLst/>
          </a:prstGeom>
          <a:noFill/>
          <a:ln/>
        </p:spPr>
        <p:txBody>
          <a:bodyPr wrap="square" lIns="0" tIns="0" rIns="0" bIns="0" rtlCol="0" anchor="t"/>
          <a:lstStyle/>
          <a:p>
            <a:pPr indent="0" marL="0">
              <a:lnSpc>
                <a:spcPts val="1700"/>
              </a:lnSpc>
              <a:buNone/>
            </a:pPr>
            <a:r>
              <a:rPr lang="en-US" sz="1200" i="1" dirty="0">
                <a:solidFill>
                  <a:srgbClr val="CBC4AE"/>
                </a:solidFill>
                <a:latin typeface="Inter" pitchFamily="34" charset="0"/>
                <a:ea typeface="Inter" pitchFamily="34" charset="-122"/>
                <a:cs typeface="Inter" pitchFamily="34" charset="-120"/>
              </a:rPr>
              <a:t>She reads your real inbox and drafts her first reply. You decide if she’s hired.</a:t>
            </a:r>
            <a:endParaRPr lang="en-US" sz="1200" dirty="0"/>
          </a:p>
        </p:txBody>
      </p:sp>
      <p:sp>
        <p:nvSpPr>
          <p:cNvPr id="9" name="Shape 7"/>
          <p:cNvSpPr/>
          <p:nvPr/>
        </p:nvSpPr>
        <p:spPr>
          <a:xfrm>
            <a:off x="3346704" y="1828800"/>
            <a:ext cx="2706624" cy="3520440"/>
          </a:xfrm>
          <a:prstGeom prst="roundRect">
            <a:avLst>
              <a:gd name="adj" fmla="val 1689"/>
            </a:avLst>
          </a:prstGeom>
          <a:solidFill>
            <a:srgbClr val="1B2742"/>
          </a:solidFill>
          <a:ln w="12700">
            <a:solidFill>
              <a:srgbClr val="595235"/>
            </a:solidFill>
            <a:prstDash val="solid"/>
          </a:ln>
        </p:spPr>
      </p:sp>
      <p:sp>
        <p:nvSpPr>
          <p:cNvPr id="10" name="Text 8"/>
          <p:cNvSpPr/>
          <p:nvPr/>
        </p:nvSpPr>
        <p:spPr>
          <a:xfrm>
            <a:off x="3575304" y="2011680"/>
            <a:ext cx="1097280" cy="594360"/>
          </a:xfrm>
          <a:prstGeom prst="rect">
            <a:avLst/>
          </a:prstGeom>
          <a:noFill/>
          <a:ln/>
        </p:spPr>
        <p:txBody>
          <a:bodyPr wrap="square" lIns="0" tIns="0" rIns="0" bIns="0" rtlCol="0" anchor="ctr"/>
          <a:lstStyle/>
          <a:p>
            <a:pPr indent="0" marL="0">
              <a:buNone/>
            </a:pPr>
            <a:r>
              <a:rPr lang="en-US" sz="3000" b="1" dirty="0">
                <a:solidFill>
                  <a:srgbClr val="C9A227"/>
                </a:solidFill>
                <a:latin typeface="Playfair Display" pitchFamily="34" charset="0"/>
                <a:ea typeface="Playfair Display" pitchFamily="34" charset="-122"/>
                <a:cs typeface="Playfair Display" pitchFamily="34" charset="-120"/>
              </a:rPr>
              <a:t>02</a:t>
            </a:r>
            <a:endParaRPr lang="en-US" sz="3000" dirty="0"/>
          </a:p>
        </p:txBody>
      </p:sp>
      <p:sp>
        <p:nvSpPr>
          <p:cNvPr id="11" name="Text 9"/>
          <p:cNvSpPr/>
          <p:nvPr/>
        </p:nvSpPr>
        <p:spPr>
          <a:xfrm>
            <a:off x="3575304" y="2697480"/>
            <a:ext cx="2286000" cy="320040"/>
          </a:xfrm>
          <a:prstGeom prst="rect">
            <a:avLst/>
          </a:prstGeom>
          <a:noFill/>
          <a:ln/>
        </p:spPr>
        <p:txBody>
          <a:bodyPr wrap="square" lIns="0" tIns="0" rIns="0" bIns="0" rtlCol="0" anchor="ctr"/>
          <a:lstStyle/>
          <a:p>
            <a:pPr indent="0" marL="0">
              <a:buNone/>
            </a:pPr>
            <a:r>
              <a:rPr lang="en-US" sz="1300" b="1" spc="250" kern="0" dirty="0">
                <a:solidFill>
                  <a:srgbClr val="F7F3E9"/>
                </a:solidFill>
                <a:latin typeface="Inter" pitchFamily="34" charset="0"/>
                <a:ea typeface="Inter" pitchFamily="34" charset="-122"/>
                <a:cs typeface="Inter" pitchFamily="34" charset="-120"/>
              </a:rPr>
              <a:t>FIRST DAY</a:t>
            </a:r>
            <a:endParaRPr lang="en-US" sz="1300" dirty="0"/>
          </a:p>
        </p:txBody>
      </p:sp>
      <p:sp>
        <p:nvSpPr>
          <p:cNvPr id="12" name="Text 10"/>
          <p:cNvSpPr/>
          <p:nvPr/>
        </p:nvSpPr>
        <p:spPr>
          <a:xfrm>
            <a:off x="3575304" y="3090672"/>
            <a:ext cx="2286000" cy="274320"/>
          </a:xfrm>
          <a:prstGeom prst="rect">
            <a:avLst/>
          </a:prstGeom>
          <a:noFill/>
          <a:ln/>
        </p:spPr>
        <p:txBody>
          <a:bodyPr wrap="square" lIns="0" tIns="0" rIns="0" bIns="0" rtlCol="0" anchor="ctr"/>
          <a:lstStyle/>
          <a:p>
            <a:pPr indent="0" marL="0">
              <a:buNone/>
            </a:pPr>
            <a:r>
              <a:rPr lang="en-US" sz="1050" spc="150" kern="0" dirty="0">
                <a:solidFill>
                  <a:srgbClr val="E7C766"/>
                </a:solidFill>
                <a:latin typeface="Inter" pitchFamily="34" charset="0"/>
                <a:ea typeface="Inter" pitchFamily="34" charset="-122"/>
                <a:cs typeface="Inter" pitchFamily="34" charset="-120"/>
              </a:rPr>
              <a:t>PROJECT · ~25 MIN</a:t>
            </a:r>
            <a:endParaRPr lang="en-US" sz="1050" dirty="0"/>
          </a:p>
        </p:txBody>
      </p:sp>
      <p:sp>
        <p:nvSpPr>
          <p:cNvPr id="13" name="Text 11"/>
          <p:cNvSpPr/>
          <p:nvPr/>
        </p:nvSpPr>
        <p:spPr>
          <a:xfrm>
            <a:off x="3575304" y="3520440"/>
            <a:ext cx="2286000" cy="1691640"/>
          </a:xfrm>
          <a:prstGeom prst="rect">
            <a:avLst/>
          </a:prstGeom>
          <a:noFill/>
          <a:ln/>
        </p:spPr>
        <p:txBody>
          <a:bodyPr wrap="square" lIns="0" tIns="0" rIns="0" bIns="0" rtlCol="0" anchor="t"/>
          <a:lstStyle/>
          <a:p>
            <a:pPr indent="0" marL="0">
              <a:lnSpc>
                <a:spcPts val="1700"/>
              </a:lnSpc>
              <a:buNone/>
            </a:pPr>
            <a:r>
              <a:rPr lang="en-US" sz="1200" i="1" dirty="0">
                <a:solidFill>
                  <a:srgbClr val="CBC4AE"/>
                </a:solidFill>
                <a:latin typeface="Inter" pitchFamily="34" charset="0"/>
                <a:ea typeface="Inter" pitchFamily="34" charset="-122"/>
                <a:cs typeface="Inter" pitchFamily="34" charset="-120"/>
              </a:rPr>
              <a:t>You brief her once: your people, your priorities, your voice. She remembers.</a:t>
            </a:r>
            <a:endParaRPr lang="en-US" sz="1200" dirty="0"/>
          </a:p>
        </p:txBody>
      </p:sp>
      <p:sp>
        <p:nvSpPr>
          <p:cNvPr id="14" name="Shape 12"/>
          <p:cNvSpPr/>
          <p:nvPr/>
        </p:nvSpPr>
        <p:spPr>
          <a:xfrm>
            <a:off x="6190488" y="1828800"/>
            <a:ext cx="2706624" cy="3520440"/>
          </a:xfrm>
          <a:prstGeom prst="roundRect">
            <a:avLst>
              <a:gd name="adj" fmla="val 1689"/>
            </a:avLst>
          </a:prstGeom>
          <a:solidFill>
            <a:srgbClr val="1B2742"/>
          </a:solidFill>
          <a:ln w="12700">
            <a:solidFill>
              <a:srgbClr val="595235"/>
            </a:solidFill>
            <a:prstDash val="solid"/>
          </a:ln>
        </p:spPr>
      </p:sp>
      <p:sp>
        <p:nvSpPr>
          <p:cNvPr id="15" name="Text 13"/>
          <p:cNvSpPr/>
          <p:nvPr/>
        </p:nvSpPr>
        <p:spPr>
          <a:xfrm>
            <a:off x="6419088" y="2011680"/>
            <a:ext cx="1097280" cy="594360"/>
          </a:xfrm>
          <a:prstGeom prst="rect">
            <a:avLst/>
          </a:prstGeom>
          <a:noFill/>
          <a:ln/>
        </p:spPr>
        <p:txBody>
          <a:bodyPr wrap="square" lIns="0" tIns="0" rIns="0" bIns="0" rtlCol="0" anchor="ctr"/>
          <a:lstStyle/>
          <a:p>
            <a:pPr indent="0" marL="0">
              <a:buNone/>
            </a:pPr>
            <a:r>
              <a:rPr lang="en-US" sz="3000" b="1" dirty="0">
                <a:solidFill>
                  <a:srgbClr val="C9A227"/>
                </a:solidFill>
                <a:latin typeface="Playfair Display" pitchFamily="34" charset="0"/>
                <a:ea typeface="Playfair Display" pitchFamily="34" charset="-122"/>
                <a:cs typeface="Playfair Display" pitchFamily="34" charset="-120"/>
              </a:rPr>
              <a:t>03</a:t>
            </a:r>
            <a:endParaRPr lang="en-US" sz="3000" dirty="0"/>
          </a:p>
        </p:txBody>
      </p:sp>
      <p:sp>
        <p:nvSpPr>
          <p:cNvPr id="16" name="Text 14"/>
          <p:cNvSpPr/>
          <p:nvPr/>
        </p:nvSpPr>
        <p:spPr>
          <a:xfrm>
            <a:off x="6419088" y="2697480"/>
            <a:ext cx="2286000" cy="320040"/>
          </a:xfrm>
          <a:prstGeom prst="rect">
            <a:avLst/>
          </a:prstGeom>
          <a:noFill/>
          <a:ln/>
        </p:spPr>
        <p:txBody>
          <a:bodyPr wrap="square" lIns="0" tIns="0" rIns="0" bIns="0" rtlCol="0" anchor="ctr"/>
          <a:lstStyle/>
          <a:p>
            <a:pPr indent="0" marL="0">
              <a:buNone/>
            </a:pPr>
            <a:r>
              <a:rPr lang="en-US" sz="1300" b="1" spc="250" kern="0" dirty="0">
                <a:solidFill>
                  <a:srgbClr val="F7F3E9"/>
                </a:solidFill>
                <a:latin typeface="Inter" pitchFamily="34" charset="0"/>
                <a:ea typeface="Inter" pitchFamily="34" charset="-122"/>
                <a:cs typeface="Inter" pitchFamily="34" charset="-120"/>
              </a:rPr>
              <a:t>HER PLAYBOOK</a:t>
            </a:r>
            <a:endParaRPr lang="en-US" sz="1300" dirty="0"/>
          </a:p>
        </p:txBody>
      </p:sp>
      <p:sp>
        <p:nvSpPr>
          <p:cNvPr id="17" name="Text 15"/>
          <p:cNvSpPr/>
          <p:nvPr/>
        </p:nvSpPr>
        <p:spPr>
          <a:xfrm>
            <a:off x="6419088" y="3090672"/>
            <a:ext cx="2286000" cy="274320"/>
          </a:xfrm>
          <a:prstGeom prst="rect">
            <a:avLst/>
          </a:prstGeom>
          <a:noFill/>
          <a:ln/>
        </p:spPr>
        <p:txBody>
          <a:bodyPr wrap="square" lIns="0" tIns="0" rIns="0" bIns="0" rtlCol="0" anchor="ctr"/>
          <a:lstStyle/>
          <a:p>
            <a:pPr indent="0" marL="0">
              <a:buNone/>
            </a:pPr>
            <a:r>
              <a:rPr lang="en-US" sz="1050" spc="150" kern="0" dirty="0">
                <a:solidFill>
                  <a:srgbClr val="E7C766"/>
                </a:solidFill>
                <a:latin typeface="Inter" pitchFamily="34" charset="0"/>
                <a:ea typeface="Inter" pitchFamily="34" charset="-122"/>
                <a:cs typeface="Inter" pitchFamily="34" charset="-120"/>
              </a:rPr>
              <a:t>SKILL · ~30 MIN</a:t>
            </a:r>
            <a:endParaRPr lang="en-US" sz="1050" dirty="0"/>
          </a:p>
        </p:txBody>
      </p:sp>
      <p:sp>
        <p:nvSpPr>
          <p:cNvPr id="18" name="Text 16"/>
          <p:cNvSpPr/>
          <p:nvPr/>
        </p:nvSpPr>
        <p:spPr>
          <a:xfrm>
            <a:off x="6419088" y="3520440"/>
            <a:ext cx="2286000" cy="1691640"/>
          </a:xfrm>
          <a:prstGeom prst="rect">
            <a:avLst/>
          </a:prstGeom>
          <a:noFill/>
          <a:ln/>
        </p:spPr>
        <p:txBody>
          <a:bodyPr wrap="square" lIns="0" tIns="0" rIns="0" bIns="0" rtlCol="0" anchor="t"/>
          <a:lstStyle/>
          <a:p>
            <a:pPr indent="0" marL="0">
              <a:lnSpc>
                <a:spcPts val="1700"/>
              </a:lnSpc>
              <a:buNone/>
            </a:pPr>
            <a:r>
              <a:rPr lang="en-US" sz="1200" i="1" dirty="0">
                <a:solidFill>
                  <a:srgbClr val="CBC4AE"/>
                </a:solidFill>
                <a:latin typeface="Inter" pitchFamily="34" charset="0"/>
                <a:ea typeface="Inter" pitchFamily="34" charset="-122"/>
                <a:cs typeface="Inter" pitchFamily="34" charset="-120"/>
              </a:rPr>
              <a:t>Your reply rules become a skill she carries everywhere. Drafts only, never sends.</a:t>
            </a:r>
            <a:endParaRPr lang="en-US" sz="1200" dirty="0"/>
          </a:p>
        </p:txBody>
      </p:sp>
      <p:sp>
        <p:nvSpPr>
          <p:cNvPr id="19" name="Shape 17"/>
          <p:cNvSpPr/>
          <p:nvPr/>
        </p:nvSpPr>
        <p:spPr>
          <a:xfrm>
            <a:off x="9034272" y="1828800"/>
            <a:ext cx="2706624" cy="3520440"/>
          </a:xfrm>
          <a:prstGeom prst="roundRect">
            <a:avLst>
              <a:gd name="adj" fmla="val 1689"/>
            </a:avLst>
          </a:prstGeom>
          <a:solidFill>
            <a:srgbClr val="1B2742"/>
          </a:solidFill>
          <a:ln w="12700">
            <a:solidFill>
              <a:srgbClr val="595235"/>
            </a:solidFill>
            <a:prstDash val="solid"/>
          </a:ln>
        </p:spPr>
      </p:sp>
      <p:sp>
        <p:nvSpPr>
          <p:cNvPr id="20" name="Text 18"/>
          <p:cNvSpPr/>
          <p:nvPr/>
        </p:nvSpPr>
        <p:spPr>
          <a:xfrm>
            <a:off x="9262872" y="2011680"/>
            <a:ext cx="1097280" cy="594360"/>
          </a:xfrm>
          <a:prstGeom prst="rect">
            <a:avLst/>
          </a:prstGeom>
          <a:noFill/>
          <a:ln/>
        </p:spPr>
        <p:txBody>
          <a:bodyPr wrap="square" lIns="0" tIns="0" rIns="0" bIns="0" rtlCol="0" anchor="ctr"/>
          <a:lstStyle/>
          <a:p>
            <a:pPr indent="0" marL="0">
              <a:buNone/>
            </a:pPr>
            <a:r>
              <a:rPr lang="en-US" sz="3000" b="1" dirty="0">
                <a:solidFill>
                  <a:srgbClr val="C9A227"/>
                </a:solidFill>
                <a:latin typeface="Playfair Display" pitchFamily="34" charset="0"/>
                <a:ea typeface="Playfair Display" pitchFamily="34" charset="-122"/>
                <a:cs typeface="Playfair Display" pitchFamily="34" charset="-120"/>
              </a:rPr>
              <a:t>04</a:t>
            </a:r>
            <a:endParaRPr lang="en-US" sz="3000" dirty="0"/>
          </a:p>
        </p:txBody>
      </p:sp>
      <p:sp>
        <p:nvSpPr>
          <p:cNvPr id="21" name="Text 19"/>
          <p:cNvSpPr/>
          <p:nvPr/>
        </p:nvSpPr>
        <p:spPr>
          <a:xfrm>
            <a:off x="9262872" y="2697480"/>
            <a:ext cx="2286000" cy="320040"/>
          </a:xfrm>
          <a:prstGeom prst="rect">
            <a:avLst/>
          </a:prstGeom>
          <a:noFill/>
          <a:ln/>
        </p:spPr>
        <p:txBody>
          <a:bodyPr wrap="square" lIns="0" tIns="0" rIns="0" bIns="0" rtlCol="0" anchor="ctr"/>
          <a:lstStyle/>
          <a:p>
            <a:pPr indent="0" marL="0">
              <a:buNone/>
            </a:pPr>
            <a:r>
              <a:rPr lang="en-US" sz="1300" b="1" spc="250" kern="0" dirty="0">
                <a:solidFill>
                  <a:srgbClr val="F7F3E9"/>
                </a:solidFill>
                <a:latin typeface="Inter" pitchFamily="34" charset="0"/>
                <a:ea typeface="Inter" pitchFamily="34" charset="-122"/>
                <a:cs typeface="Inter" pitchFamily="34" charset="-120"/>
              </a:rPr>
              <a:t>THE KEYS</a:t>
            </a:r>
            <a:endParaRPr lang="en-US" sz="1300" dirty="0"/>
          </a:p>
        </p:txBody>
      </p:sp>
      <p:sp>
        <p:nvSpPr>
          <p:cNvPr id="22" name="Text 20"/>
          <p:cNvSpPr/>
          <p:nvPr/>
        </p:nvSpPr>
        <p:spPr>
          <a:xfrm>
            <a:off x="9262872" y="3090672"/>
            <a:ext cx="2286000" cy="274320"/>
          </a:xfrm>
          <a:prstGeom prst="rect">
            <a:avLst/>
          </a:prstGeom>
          <a:noFill/>
          <a:ln/>
        </p:spPr>
        <p:txBody>
          <a:bodyPr wrap="square" lIns="0" tIns="0" rIns="0" bIns="0" rtlCol="0" anchor="ctr"/>
          <a:lstStyle/>
          <a:p>
            <a:pPr indent="0" marL="0">
              <a:buNone/>
            </a:pPr>
            <a:r>
              <a:rPr lang="en-US" sz="1050" spc="150" kern="0" dirty="0">
                <a:solidFill>
                  <a:srgbClr val="E7C766"/>
                </a:solidFill>
                <a:latin typeface="Inter" pitchFamily="34" charset="0"/>
                <a:ea typeface="Inter" pitchFamily="34" charset="-122"/>
                <a:cs typeface="Inter" pitchFamily="34" charset="-120"/>
              </a:rPr>
              <a:t>AGENT · ~40 MIN</a:t>
            </a:r>
            <a:endParaRPr lang="en-US" sz="1050" dirty="0"/>
          </a:p>
        </p:txBody>
      </p:sp>
      <p:sp>
        <p:nvSpPr>
          <p:cNvPr id="23" name="Text 21"/>
          <p:cNvSpPr/>
          <p:nvPr/>
        </p:nvSpPr>
        <p:spPr>
          <a:xfrm>
            <a:off x="9262872" y="3520440"/>
            <a:ext cx="2286000" cy="1691640"/>
          </a:xfrm>
          <a:prstGeom prst="rect">
            <a:avLst/>
          </a:prstGeom>
          <a:noFill/>
          <a:ln/>
        </p:spPr>
        <p:txBody>
          <a:bodyPr wrap="square" lIns="0" tIns="0" rIns="0" bIns="0" rtlCol="0" anchor="t"/>
          <a:lstStyle/>
          <a:p>
            <a:pPr indent="0" marL="0">
              <a:lnSpc>
                <a:spcPts val="1700"/>
              </a:lnSpc>
              <a:buNone/>
            </a:pPr>
            <a:r>
              <a:rPr lang="en-US" sz="1200" i="1" dirty="0">
                <a:solidFill>
                  <a:srgbClr val="CBC4AE"/>
                </a:solidFill>
                <a:latin typeface="Inter" pitchFamily="34" charset="0"/>
                <a:ea typeface="Inter" pitchFamily="34" charset="-122"/>
                <a:cs typeface="Inter" pitchFamily="34" charset="-120"/>
              </a:rPr>
              <a:t>She takes the evening shift: briefing written, calendar booked, 4:54 notification.</a:t>
            </a:r>
            <a:endParaRPr lang="en-US" sz="1200" dirty="0"/>
          </a:p>
        </p:txBody>
      </p:sp>
      <p:sp>
        <p:nvSpPr>
          <p:cNvPr id="24" name="Text 22"/>
          <p:cNvSpPr/>
          <p:nvPr/>
        </p:nvSpPr>
        <p:spPr>
          <a:xfrm>
            <a:off x="822960" y="5715000"/>
            <a:ext cx="10515600" cy="365760"/>
          </a:xfrm>
          <a:prstGeom prst="rect">
            <a:avLst/>
          </a:prstGeom>
          <a:noFill/>
          <a:ln/>
        </p:spPr>
        <p:txBody>
          <a:bodyPr wrap="square" lIns="0" tIns="0" rIns="0" bIns="0" rtlCol="0" anchor="ctr"/>
          <a:lstStyle/>
          <a:p>
            <a:pPr algn="ctr" indent="0" marL="0">
              <a:buNone/>
            </a:pPr>
            <a:r>
              <a:rPr lang="en-US" sz="1350" dirty="0">
                <a:solidFill>
                  <a:srgbClr val="F4EFE1"/>
                </a:solidFill>
                <a:latin typeface="Inter" pitchFamily="34" charset="0"/>
                <a:ea typeface="Inter" pitchFamily="34" charset="-122"/>
                <a:cs typeface="Inter" pitchFamily="34" charset="-120"/>
              </a:rPr>
              <a:t>Each case file is on the site. Every prompt has a copy button. You paste, she works.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02920"/>
            <a:ext cx="91440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CASE FILE 01 · CHAT: FIRST IMPRESSIONS</a:t>
            </a:r>
            <a:endParaRPr lang="en-US" sz="1200" dirty="0"/>
          </a:p>
        </p:txBody>
      </p:sp>
      <p:sp>
        <p:nvSpPr>
          <p:cNvPr id="3" name="Text 1"/>
          <p:cNvSpPr/>
          <p:nvPr/>
        </p:nvSpPr>
        <p:spPr>
          <a:xfrm>
            <a:off x="822960" y="868680"/>
            <a:ext cx="10607040" cy="685800"/>
          </a:xfrm>
          <a:prstGeom prst="rect">
            <a:avLst/>
          </a:prstGeom>
          <a:noFill/>
          <a:ln/>
        </p:spPr>
        <p:txBody>
          <a:bodyPr wrap="square" lIns="0" tIns="0" rIns="0" bIns="0" rtlCol="0" anchor="ctr"/>
          <a:lstStyle/>
          <a:p>
            <a:pPr indent="0" marL="0">
              <a:buNone/>
            </a:pPr>
            <a:r>
              <a:rPr lang="en-US" sz="2700" b="1" dirty="0">
                <a:solidFill>
                  <a:srgbClr val="F7F3E9"/>
                </a:solidFill>
                <a:latin typeface="Playfair Display" pitchFamily="34" charset="0"/>
                <a:ea typeface="Playfair Display" pitchFamily="34" charset="-122"/>
                <a:cs typeface="Playfair Display" pitchFamily="34" charset="-120"/>
              </a:rPr>
              <a:t>Connect your email. Then ask the only question that matters.</a:t>
            </a:r>
            <a:endParaRPr lang="en-US" sz="2700" dirty="0"/>
          </a:p>
        </p:txBody>
      </p:sp>
      <p:sp>
        <p:nvSpPr>
          <p:cNvPr id="4" name="Text 2"/>
          <p:cNvSpPr/>
          <p:nvPr/>
        </p:nvSpPr>
        <p:spPr>
          <a:xfrm>
            <a:off x="822960" y="1691640"/>
            <a:ext cx="10515600" cy="365760"/>
          </a:xfrm>
          <a:prstGeom prst="rect">
            <a:avLst/>
          </a:prstGeom>
          <a:noFill/>
          <a:ln/>
        </p:spPr>
        <p:txBody>
          <a:bodyPr wrap="square" lIns="0" tIns="0" rIns="0" bIns="0" rtlCol="0" anchor="ctr"/>
          <a:lstStyle/>
          <a:p>
            <a:pPr indent="0" marL="0">
              <a:buNone/>
            </a:pPr>
            <a:r>
              <a:rPr lang="en-US" sz="1350" dirty="0">
                <a:solidFill>
                  <a:srgbClr val="CBC4AE"/>
                </a:solidFill>
                <a:latin typeface="Inter" pitchFamily="34" charset="0"/>
                <a:ea typeface="Inter" pitchFamily="34" charset="-122"/>
                <a:cs typeface="Inter" pitchFamily="34" charset="-120"/>
              </a:rPr>
              <a:t>Settings → Connectors → Connect Gmail or Microsoft 365. Pre-enabled for the whole workspace: one click, one sign-in.</a:t>
            </a:r>
            <a:endParaRPr lang="en-US" sz="1350" dirty="0"/>
          </a:p>
        </p:txBody>
      </p:sp>
      <p:sp>
        <p:nvSpPr>
          <p:cNvPr id="5" name="Shape 3"/>
          <p:cNvSpPr/>
          <p:nvPr/>
        </p:nvSpPr>
        <p:spPr>
          <a:xfrm>
            <a:off x="822960" y="2377440"/>
            <a:ext cx="5166360" cy="2057400"/>
          </a:xfrm>
          <a:prstGeom prst="roundRect">
            <a:avLst>
              <a:gd name="adj" fmla="val 1778"/>
            </a:avLst>
          </a:prstGeom>
          <a:solidFill>
            <a:srgbClr val="F7F3E9"/>
          </a:solidFill>
          <a:ln/>
          <a:effectLst>
            <a:outerShdw sx="100000" sy="100000" kx="0" ky="0" algn="bl" rotWithShape="0" blurRad="152400" dist="63500" dir="5400000">
              <a:srgbClr val="000000">
                <a:alpha val="30000"/>
              </a:srgbClr>
            </a:outerShdw>
          </a:effectLst>
        </p:spPr>
      </p:sp>
      <p:sp>
        <p:nvSpPr>
          <p:cNvPr id="6" name="Text 4"/>
          <p:cNvSpPr/>
          <p:nvPr/>
        </p:nvSpPr>
        <p:spPr>
          <a:xfrm>
            <a:off x="1042416" y="2468880"/>
            <a:ext cx="4727448" cy="274320"/>
          </a:xfrm>
          <a:prstGeom prst="rect">
            <a:avLst/>
          </a:prstGeom>
          <a:noFill/>
          <a:ln/>
        </p:spPr>
        <p:txBody>
          <a:bodyPr wrap="square" lIns="0" tIns="0" rIns="0" bIns="0" rtlCol="0" anchor="ctr"/>
          <a:lstStyle/>
          <a:p>
            <a:pPr indent="0" marL="0">
              <a:buNone/>
            </a:pPr>
            <a:r>
              <a:rPr lang="en-US" sz="1000" b="1" spc="300" kern="0" dirty="0">
                <a:solidFill>
                  <a:srgbClr val="14213D"/>
                </a:solidFill>
                <a:latin typeface="Inter" pitchFamily="34" charset="0"/>
                <a:ea typeface="Inter" pitchFamily="34" charset="-122"/>
                <a:cs typeface="Inter" pitchFamily="34" charset="-120"/>
              </a:rPr>
              <a:t>PROMPT 1 · THE QUESTION</a:t>
            </a:r>
            <a:endParaRPr lang="en-US" sz="1000" dirty="0"/>
          </a:p>
        </p:txBody>
      </p:sp>
      <p:sp>
        <p:nvSpPr>
          <p:cNvPr id="7" name="Shape 5"/>
          <p:cNvSpPr/>
          <p:nvPr/>
        </p:nvSpPr>
        <p:spPr>
          <a:xfrm>
            <a:off x="1042416" y="2798064"/>
            <a:ext cx="4727448" cy="0"/>
          </a:xfrm>
          <a:prstGeom prst="line">
            <a:avLst/>
          </a:prstGeom>
          <a:noFill/>
          <a:ln w="9525">
            <a:solidFill>
              <a:srgbClr val="D8D2C2"/>
            </a:solidFill>
            <a:prstDash val="solid"/>
          </a:ln>
        </p:spPr>
      </p:sp>
      <p:sp>
        <p:nvSpPr>
          <p:cNvPr id="8" name="Text 6"/>
          <p:cNvSpPr/>
          <p:nvPr/>
        </p:nvSpPr>
        <p:spPr>
          <a:xfrm>
            <a:off x="1042416" y="2834640"/>
            <a:ext cx="4727448" cy="1490472"/>
          </a:xfrm>
          <a:prstGeom prst="rect">
            <a:avLst/>
          </a:prstGeom>
          <a:noFill/>
          <a:ln/>
        </p:spPr>
        <p:txBody>
          <a:bodyPr wrap="square" lIns="0" tIns="0" rIns="0" bIns="0" rtlCol="0" anchor="t"/>
          <a:lstStyle/>
          <a:p>
            <a:pPr indent="0" marL="0">
              <a:lnSpc>
                <a:spcPts val="1885"/>
              </a:lnSpc>
              <a:buNone/>
            </a:pPr>
            <a:r>
              <a:rPr lang="en-US" sz="1300" dirty="0">
                <a:solidFill>
                  <a:srgbClr val="1C2333"/>
                </a:solidFill>
                <a:latin typeface="Courier New" pitchFamily="34" charset="0"/>
                <a:ea typeface="Courier New" pitchFamily="34" charset="-122"/>
                <a:cs typeface="Courier New" pitchFamily="34" charset="-120"/>
              </a:rPr>
              <a:t>What landed in my inbox in the</a:t>
            </a:r>
            <a:endParaRPr lang="en-US" sz="1300" dirty="0"/>
          </a:p>
          <a:p>
            <a:pPr indent="0" marL="0">
              <a:lnSpc>
                <a:spcPts val="1885"/>
              </a:lnSpc>
              <a:buNone/>
            </a:pPr>
            <a:r>
              <a:rPr lang="en-US" sz="1300" dirty="0">
                <a:solidFill>
                  <a:srgbClr val="1C2333"/>
                </a:solidFill>
                <a:latin typeface="Courier New" pitchFamily="34" charset="0"/>
                <a:ea typeface="Courier New" pitchFamily="34" charset="-122"/>
                <a:cs typeface="Courier New" pitchFamily="34" charset="-120"/>
              </a:rPr>
              <a:t>last 24 hours that actually</a:t>
            </a:r>
            <a:endParaRPr lang="en-US" sz="1300" dirty="0"/>
          </a:p>
          <a:p>
            <a:pPr indent="0" marL="0">
              <a:lnSpc>
                <a:spcPts val="1885"/>
              </a:lnSpc>
              <a:buNone/>
            </a:pPr>
            <a:r>
              <a:rPr lang="en-US" sz="1300" dirty="0">
                <a:solidFill>
                  <a:srgbClr val="1C2333"/>
                </a:solidFill>
                <a:latin typeface="Courier New" pitchFamily="34" charset="0"/>
                <a:ea typeface="Courier New" pitchFamily="34" charset="-122"/>
                <a:cs typeface="Courier New" pitchFamily="34" charset="-120"/>
              </a:rPr>
              <a:t>needs ME?</a:t>
            </a:r>
            <a:endParaRPr lang="en-US" sz="1300" dirty="0"/>
          </a:p>
          <a:p>
            <a:pPr indent="0" marL="0">
              <a:lnSpc>
                <a:spcPts val="1885"/>
              </a:lnSpc>
              <a:buNone/>
            </a:pPr>
            <a:r>
              <a:rPr lang="en-US" sz="1300" dirty="0">
                <a:solidFill>
                  <a:srgbClr val="1C2333"/>
                </a:solidFill>
                <a:latin typeface="Courier New" pitchFamily="34" charset="0"/>
                <a:ea typeface="Courier New" pitchFamily="34" charset="-122"/>
                <a:cs typeface="Courier New" pitchFamily="34" charset="-120"/>
              </a:rPr>
              <a:t>Top 5, one line each.</a:t>
            </a:r>
            <a:endParaRPr lang="en-US" sz="1300" dirty="0"/>
          </a:p>
        </p:txBody>
      </p:sp>
      <p:sp>
        <p:nvSpPr>
          <p:cNvPr id="9" name="Shape 7"/>
          <p:cNvSpPr/>
          <p:nvPr/>
        </p:nvSpPr>
        <p:spPr>
          <a:xfrm>
            <a:off x="6217920" y="2377440"/>
            <a:ext cx="5166360" cy="2057400"/>
          </a:xfrm>
          <a:prstGeom prst="roundRect">
            <a:avLst>
              <a:gd name="adj" fmla="val 1778"/>
            </a:avLst>
          </a:prstGeom>
          <a:solidFill>
            <a:srgbClr val="F7F3E9"/>
          </a:solidFill>
          <a:ln/>
          <a:effectLst>
            <a:outerShdw sx="100000" sy="100000" kx="0" ky="0" algn="bl" rotWithShape="0" blurRad="152400" dist="63500" dir="5400000">
              <a:srgbClr val="000000">
                <a:alpha val="30000"/>
              </a:srgbClr>
            </a:outerShdw>
          </a:effectLst>
        </p:spPr>
      </p:sp>
      <p:sp>
        <p:nvSpPr>
          <p:cNvPr id="10" name="Text 8"/>
          <p:cNvSpPr/>
          <p:nvPr/>
        </p:nvSpPr>
        <p:spPr>
          <a:xfrm>
            <a:off x="6437376" y="2468880"/>
            <a:ext cx="4727448" cy="274320"/>
          </a:xfrm>
          <a:prstGeom prst="rect">
            <a:avLst/>
          </a:prstGeom>
          <a:noFill/>
          <a:ln/>
        </p:spPr>
        <p:txBody>
          <a:bodyPr wrap="square" lIns="0" tIns="0" rIns="0" bIns="0" rtlCol="0" anchor="ctr"/>
          <a:lstStyle/>
          <a:p>
            <a:pPr indent="0" marL="0">
              <a:buNone/>
            </a:pPr>
            <a:r>
              <a:rPr lang="en-US" sz="1000" b="1" spc="300" kern="0" dirty="0">
                <a:solidFill>
                  <a:srgbClr val="14213D"/>
                </a:solidFill>
                <a:latin typeface="Inter" pitchFamily="34" charset="0"/>
                <a:ea typeface="Inter" pitchFamily="34" charset="-122"/>
                <a:cs typeface="Inter" pitchFamily="34" charset="-120"/>
              </a:rPr>
              <a:t>PROMPT 2 · THE FIRST DRAFT</a:t>
            </a:r>
            <a:endParaRPr lang="en-US" sz="1000" dirty="0"/>
          </a:p>
        </p:txBody>
      </p:sp>
      <p:sp>
        <p:nvSpPr>
          <p:cNvPr id="11" name="Shape 9"/>
          <p:cNvSpPr/>
          <p:nvPr/>
        </p:nvSpPr>
        <p:spPr>
          <a:xfrm>
            <a:off x="6437376" y="2798064"/>
            <a:ext cx="4727448" cy="0"/>
          </a:xfrm>
          <a:prstGeom prst="line">
            <a:avLst/>
          </a:prstGeom>
          <a:noFill/>
          <a:ln w="9525">
            <a:solidFill>
              <a:srgbClr val="D8D2C2"/>
            </a:solidFill>
            <a:prstDash val="solid"/>
          </a:ln>
        </p:spPr>
      </p:sp>
      <p:sp>
        <p:nvSpPr>
          <p:cNvPr id="12" name="Text 10"/>
          <p:cNvSpPr/>
          <p:nvPr/>
        </p:nvSpPr>
        <p:spPr>
          <a:xfrm>
            <a:off x="6437376" y="2834640"/>
            <a:ext cx="4727448" cy="1490472"/>
          </a:xfrm>
          <a:prstGeom prst="rect">
            <a:avLst/>
          </a:prstGeom>
          <a:noFill/>
          <a:ln/>
        </p:spPr>
        <p:txBody>
          <a:bodyPr wrap="square" lIns="0" tIns="0" rIns="0" bIns="0" rtlCol="0" anchor="t"/>
          <a:lstStyle/>
          <a:p>
            <a:pPr indent="0" marL="0">
              <a:lnSpc>
                <a:spcPts val="1885"/>
              </a:lnSpc>
              <a:buNone/>
            </a:pPr>
            <a:r>
              <a:rPr lang="en-US" sz="1300" dirty="0">
                <a:solidFill>
                  <a:srgbClr val="1C2333"/>
                </a:solidFill>
                <a:latin typeface="Courier New" pitchFamily="34" charset="0"/>
                <a:ea typeface="Courier New" pitchFamily="34" charset="-122"/>
                <a:cs typeface="Courier New" pitchFamily="34" charset="-120"/>
              </a:rPr>
              <a:t>Draft a reply to #1.</a:t>
            </a:r>
            <a:endParaRPr lang="en-US" sz="1300" dirty="0"/>
          </a:p>
          <a:p>
            <a:pPr indent="0" marL="0">
              <a:lnSpc>
                <a:spcPts val="1885"/>
              </a:lnSpc>
              <a:buNone/>
            </a:pPr>
            <a:r>
              <a:rPr lang="en-US" sz="1300" dirty="0">
                <a:solidFill>
                  <a:srgbClr val="1C2333"/>
                </a:solidFill>
                <a:latin typeface="Courier New" pitchFamily="34" charset="0"/>
                <a:ea typeface="Courier New" pitchFamily="34" charset="-122"/>
                <a:cs typeface="Courier New" pitchFamily="34" charset="-120"/>
              </a:rPr>
              <a:t>Under 100 words, warm but</a:t>
            </a:r>
            <a:endParaRPr lang="en-US" sz="1300" dirty="0"/>
          </a:p>
          <a:p>
            <a:pPr indent="0" marL="0">
              <a:lnSpc>
                <a:spcPts val="1885"/>
              </a:lnSpc>
              <a:buNone/>
            </a:pPr>
            <a:r>
              <a:rPr lang="en-US" sz="1300" dirty="0">
                <a:solidFill>
                  <a:srgbClr val="1C2333"/>
                </a:solidFill>
                <a:latin typeface="Courier New" pitchFamily="34" charset="0"/>
                <a:ea typeface="Courier New" pitchFamily="34" charset="-122"/>
                <a:cs typeface="Courier New" pitchFamily="34" charset="-120"/>
              </a:rPr>
              <a:t>decisive.</a:t>
            </a:r>
            <a:endParaRPr lang="en-US" sz="1300" dirty="0"/>
          </a:p>
          <a:p>
            <a:pPr indent="0" marL="0">
              <a:lnSpc>
                <a:spcPts val="1885"/>
              </a:lnSpc>
              <a:buNone/>
            </a:pPr>
            <a:r>
              <a:rPr lang="en-US" sz="1300" dirty="0">
                <a:solidFill>
                  <a:srgbClr val="1C2333"/>
                </a:solidFill>
                <a:latin typeface="Courier New" pitchFamily="34" charset="0"/>
                <a:ea typeface="Courier New" pitchFamily="34" charset="-122"/>
                <a:cs typeface="Courier New" pitchFamily="34" charset="-120"/>
              </a:rPr>
              <a:t>Don’t send it. Just show me.</a:t>
            </a:r>
            <a:endParaRPr lang="en-US" sz="1300" dirty="0"/>
          </a:p>
        </p:txBody>
      </p:sp>
      <p:sp>
        <p:nvSpPr>
          <p:cNvPr id="13" name="Text 11"/>
          <p:cNvSpPr/>
          <p:nvPr/>
        </p:nvSpPr>
        <p:spPr>
          <a:xfrm>
            <a:off x="822960" y="4892040"/>
            <a:ext cx="10515600" cy="411480"/>
          </a:xfrm>
          <a:prstGeom prst="rect">
            <a:avLst/>
          </a:prstGeom>
          <a:noFill/>
          <a:ln/>
        </p:spPr>
        <p:txBody>
          <a:bodyPr wrap="square" lIns="0" tIns="0" rIns="0" bIns="0" rtlCol="0" anchor="ctr"/>
          <a:lstStyle/>
          <a:p>
            <a:pPr indent="0" marL="0">
              <a:buNone/>
            </a:pPr>
            <a:r>
              <a:rPr lang="en-US" sz="1300" i="1" dirty="0">
                <a:solidFill>
                  <a:srgbClr val="CBC4AE"/>
                </a:solidFill>
                <a:latin typeface="Inter" pitchFamily="34" charset="0"/>
                <a:ea typeface="Inter" pitchFamily="34" charset="-122"/>
                <a:cs typeface="Inter" pitchFamily="34" charset="-120"/>
              </a:rPr>
              <a:t>Gmail folks: connect Google Calendar and Google Drive while you’re in there. Case file 04 needs both.</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2194560" y="1965960"/>
            <a:ext cx="7772400" cy="2103120"/>
          </a:xfrm>
          <a:prstGeom prst="roundRect">
            <a:avLst>
              <a:gd name="adj" fmla="val 2609"/>
            </a:avLst>
          </a:prstGeom>
          <a:solidFill>
            <a:srgbClr val="212A3B"/>
          </a:solidFill>
          <a:ln w="19050">
            <a:solidFill>
              <a:srgbClr val="C9A227"/>
            </a:solidFill>
            <a:prstDash val="solid"/>
          </a:ln>
        </p:spPr>
      </p:sp>
      <p:sp>
        <p:nvSpPr>
          <p:cNvPr id="3" name="Text 1"/>
          <p:cNvSpPr/>
          <p:nvPr/>
        </p:nvSpPr>
        <p:spPr>
          <a:xfrm>
            <a:off x="2606040" y="2286000"/>
            <a:ext cx="6949440" cy="320040"/>
          </a:xfrm>
          <a:prstGeom prst="rect">
            <a:avLst/>
          </a:prstGeom>
          <a:noFill/>
          <a:ln/>
        </p:spPr>
        <p:txBody>
          <a:bodyPr wrap="square" lIns="0" tIns="0" rIns="0" bIns="0" rtlCol="0" anchor="ctr"/>
          <a:lstStyle/>
          <a:p>
            <a:pPr indent="0" marL="0">
              <a:buNone/>
            </a:pPr>
            <a:r>
              <a:rPr lang="en-US" sz="1200" b="1" spc="400" kern="0" dirty="0">
                <a:solidFill>
                  <a:srgbClr val="E7C766"/>
                </a:solidFill>
                <a:latin typeface="Inter" pitchFamily="34" charset="0"/>
                <a:ea typeface="Inter" pitchFamily="34" charset="-122"/>
                <a:cs typeface="Inter" pitchFamily="34" charset="-120"/>
              </a:rPr>
              <a:t>✓  YOU DID IT WHEN…</a:t>
            </a:r>
            <a:endParaRPr lang="en-US" sz="1200" dirty="0"/>
          </a:p>
        </p:txBody>
      </p:sp>
      <p:sp>
        <p:nvSpPr>
          <p:cNvPr id="4" name="Text 2"/>
          <p:cNvSpPr/>
          <p:nvPr/>
        </p:nvSpPr>
        <p:spPr>
          <a:xfrm>
            <a:off x="2606040" y="2697480"/>
            <a:ext cx="6949440" cy="1097280"/>
          </a:xfrm>
          <a:prstGeom prst="rect">
            <a:avLst/>
          </a:prstGeom>
          <a:noFill/>
          <a:ln/>
        </p:spPr>
        <p:txBody>
          <a:bodyPr wrap="square" lIns="0" tIns="0" rIns="0" bIns="0" rtlCol="0" anchor="t"/>
          <a:lstStyle/>
          <a:p>
            <a:pPr indent="0" marL="0">
              <a:buNone/>
            </a:pPr>
            <a:r>
              <a:rPr lang="en-US" sz="2700" dirty="0">
                <a:solidFill>
                  <a:srgbClr val="F7F3E9"/>
                </a:solidFill>
                <a:latin typeface="Playfair Display" pitchFamily="34" charset="0"/>
                <a:ea typeface="Playfair Display" pitchFamily="34" charset="-122"/>
                <a:cs typeface="Playfair Display" pitchFamily="34" charset="-120"/>
              </a:rPr>
              <a:t>Claude shows a draft you’d actually send.</a:t>
            </a:r>
            <a:endParaRPr lang="en-US" sz="2700" dirty="0"/>
          </a:p>
        </p:txBody>
      </p:sp>
      <p:sp>
        <p:nvSpPr>
          <p:cNvPr id="5" name="Text 3"/>
          <p:cNvSpPr/>
          <p:nvPr/>
        </p:nvSpPr>
        <p:spPr>
          <a:xfrm>
            <a:off x="822960" y="4572000"/>
            <a:ext cx="10515600" cy="457200"/>
          </a:xfrm>
          <a:prstGeom prst="rect">
            <a:avLst/>
          </a:prstGeom>
          <a:noFill/>
          <a:ln/>
        </p:spPr>
        <p:txBody>
          <a:bodyPr wrap="square" lIns="0" tIns="0" rIns="0" bIns="0" rtlCol="0" anchor="ctr"/>
          <a:lstStyle/>
          <a:p>
            <a:pPr algn="ctr" indent="0" marL="0">
              <a:buNone/>
            </a:pPr>
            <a:r>
              <a:rPr lang="en-US" sz="1800" i="1" dirty="0">
                <a:solidFill>
                  <a:srgbClr val="E7C766"/>
                </a:solidFill>
                <a:latin typeface="Playfair Display" pitchFamily="34" charset="0"/>
                <a:ea typeface="Playfair Display" pitchFamily="34" charset="-122"/>
                <a:cs typeface="Playfair Display" pitchFamily="34" charset="-120"/>
              </a:rPr>
              <a:t>Chat is the job interview. Donna’s hired. Now we train her.</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457200"/>
            <a:ext cx="91440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CASE FILE 02 · PROJECT: THE TRIAGE DESK</a:t>
            </a:r>
            <a:endParaRPr lang="en-US" sz="1200" dirty="0"/>
          </a:p>
        </p:txBody>
      </p:sp>
      <p:sp>
        <p:nvSpPr>
          <p:cNvPr id="3" name="Text 1"/>
          <p:cNvSpPr/>
          <p:nvPr/>
        </p:nvSpPr>
        <p:spPr>
          <a:xfrm>
            <a:off x="822960" y="804672"/>
            <a:ext cx="10515600" cy="594360"/>
          </a:xfrm>
          <a:prstGeom prst="rect">
            <a:avLst/>
          </a:prstGeom>
          <a:noFill/>
          <a:ln/>
        </p:spPr>
        <p:txBody>
          <a:bodyPr wrap="square" lIns="0" tIns="0" rIns="0" bIns="0" rtlCol="0" anchor="ctr"/>
          <a:lstStyle/>
          <a:p>
            <a:pPr indent="0" marL="0">
              <a:buNone/>
            </a:pPr>
            <a:r>
              <a:rPr lang="en-US" sz="2700" b="1" dirty="0">
                <a:solidFill>
                  <a:srgbClr val="F7F3E9"/>
                </a:solidFill>
                <a:latin typeface="Playfair Display" pitchFamily="34" charset="0"/>
                <a:ea typeface="Playfair Display" pitchFamily="34" charset="-122"/>
                <a:cs typeface="Playfair Display" pitchFamily="34" charset="-120"/>
              </a:rPr>
              <a:t>Teach her your rules once.</a:t>
            </a:r>
            <a:endParaRPr lang="en-US" sz="2700" dirty="0"/>
          </a:p>
        </p:txBody>
      </p:sp>
      <p:sp>
        <p:nvSpPr>
          <p:cNvPr id="4" name="Shape 2"/>
          <p:cNvSpPr/>
          <p:nvPr/>
        </p:nvSpPr>
        <p:spPr>
          <a:xfrm>
            <a:off x="822960" y="1600200"/>
            <a:ext cx="7132320" cy="3840480"/>
          </a:xfrm>
          <a:prstGeom prst="roundRect">
            <a:avLst>
              <a:gd name="adj" fmla="val 952"/>
            </a:avLst>
          </a:prstGeom>
          <a:solidFill>
            <a:srgbClr val="F7F3E9"/>
          </a:solidFill>
          <a:ln/>
          <a:effectLst>
            <a:outerShdw sx="100000" sy="100000" kx="0" ky="0" algn="bl" rotWithShape="0" blurRad="152400" dist="63500" dir="5400000">
              <a:srgbClr val="000000">
                <a:alpha val="30000"/>
              </a:srgbClr>
            </a:outerShdw>
          </a:effectLst>
        </p:spPr>
      </p:sp>
      <p:sp>
        <p:nvSpPr>
          <p:cNvPr id="5" name="Text 3"/>
          <p:cNvSpPr/>
          <p:nvPr/>
        </p:nvSpPr>
        <p:spPr>
          <a:xfrm>
            <a:off x="1042416" y="1691640"/>
            <a:ext cx="6693408" cy="274320"/>
          </a:xfrm>
          <a:prstGeom prst="rect">
            <a:avLst/>
          </a:prstGeom>
          <a:noFill/>
          <a:ln/>
        </p:spPr>
        <p:txBody>
          <a:bodyPr wrap="square" lIns="0" tIns="0" rIns="0" bIns="0" rtlCol="0" anchor="ctr"/>
          <a:lstStyle/>
          <a:p>
            <a:pPr indent="0" marL="0">
              <a:buNone/>
            </a:pPr>
            <a:r>
              <a:rPr lang="en-US" sz="1000" b="1" spc="300" kern="0" dirty="0">
                <a:solidFill>
                  <a:srgbClr val="14213D"/>
                </a:solidFill>
                <a:latin typeface="Inter" pitchFamily="34" charset="0"/>
                <a:ea typeface="Inter" pitchFamily="34" charset="-122"/>
                <a:cs typeface="Inter" pitchFamily="34" charset="-120"/>
              </a:rPr>
              <a:t>PROJECT INSTRUCTIONS · FILL 3 BLANKS</a:t>
            </a:r>
            <a:endParaRPr lang="en-US" sz="1000" dirty="0"/>
          </a:p>
        </p:txBody>
      </p:sp>
      <p:sp>
        <p:nvSpPr>
          <p:cNvPr id="6" name="Shape 4"/>
          <p:cNvSpPr/>
          <p:nvPr/>
        </p:nvSpPr>
        <p:spPr>
          <a:xfrm>
            <a:off x="1042416" y="2020824"/>
            <a:ext cx="6693408" cy="0"/>
          </a:xfrm>
          <a:prstGeom prst="line">
            <a:avLst/>
          </a:prstGeom>
          <a:noFill/>
          <a:ln w="9525">
            <a:solidFill>
              <a:srgbClr val="D8D2C2"/>
            </a:solidFill>
            <a:prstDash val="solid"/>
          </a:ln>
        </p:spPr>
      </p:sp>
      <p:sp>
        <p:nvSpPr>
          <p:cNvPr id="7" name="Text 5"/>
          <p:cNvSpPr/>
          <p:nvPr/>
        </p:nvSpPr>
        <p:spPr>
          <a:xfrm>
            <a:off x="1042416" y="2057400"/>
            <a:ext cx="6693408" cy="3273552"/>
          </a:xfrm>
          <a:prstGeom prst="rect">
            <a:avLst/>
          </a:prstGeom>
          <a:noFill/>
          <a:ln/>
        </p:spPr>
        <p:txBody>
          <a:bodyPr wrap="square" lIns="0" tIns="0" rIns="0" bIns="0" rtlCol="0" anchor="t"/>
          <a:lstStyle/>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You are my inbox triage assistant. Whenever I ask you to triage:</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1. Review my inbox for the period I mention (default: last 24 hours).</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2. Sort every thread into:</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 NEEDS ME TODAY · 🟡 DELEGATE · 🔵 FYI · ⚪ IGNORE</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 These people are ALWAYS 🔴 unless pure FYI:</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[ADD 3–5 NAMES + EMAILS]</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 Newsletters, cold outreach, automated notices → ⚪</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 Anything about [ADD YOUR #1 PROJECT OR DEAL] → 🔴</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3. Give me ONE table: sender · subject · category ·</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one-line why · suggested action.</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4. Offer to draft replies for the 🔴 rows.</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My voice: [ADD 3 WORDS].</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Never send anything.</a:t>
            </a:r>
            <a:endParaRPr lang="en-US" sz="1000" dirty="0"/>
          </a:p>
        </p:txBody>
      </p:sp>
      <p:sp>
        <p:nvSpPr>
          <p:cNvPr id="8" name="Text 6"/>
          <p:cNvSpPr/>
          <p:nvPr/>
        </p:nvSpPr>
        <p:spPr>
          <a:xfrm>
            <a:off x="8229600" y="1691640"/>
            <a:ext cx="3200400" cy="274320"/>
          </a:xfrm>
          <a:prstGeom prst="rect">
            <a:avLst/>
          </a:prstGeom>
          <a:noFill/>
          <a:ln/>
        </p:spPr>
        <p:txBody>
          <a:bodyPr wrap="square" lIns="0" tIns="0" rIns="0" bIns="0" rtlCol="0" anchor="ctr"/>
          <a:lstStyle/>
          <a:p>
            <a:pPr indent="0" marL="0">
              <a:buNone/>
            </a:pPr>
            <a:r>
              <a:rPr lang="en-US" sz="1050" b="1" spc="300" kern="0" dirty="0">
                <a:solidFill>
                  <a:srgbClr val="E7C766"/>
                </a:solidFill>
                <a:latin typeface="Inter" pitchFamily="34" charset="0"/>
                <a:ea typeface="Inter" pitchFamily="34" charset="-122"/>
                <a:cs typeface="Inter" pitchFamily="34" charset="-120"/>
              </a:rPr>
              <a:t>THE ONLY EDITING YOU DO ALL DAY</a:t>
            </a:r>
            <a:endParaRPr lang="en-US" sz="1050" dirty="0"/>
          </a:p>
        </p:txBody>
      </p:sp>
      <p:sp>
        <p:nvSpPr>
          <p:cNvPr id="9" name="Shape 7"/>
          <p:cNvSpPr/>
          <p:nvPr/>
        </p:nvSpPr>
        <p:spPr>
          <a:xfrm>
            <a:off x="8257032" y="2249424"/>
            <a:ext cx="118872" cy="118872"/>
          </a:xfrm>
          <a:prstGeom prst="diamond">
            <a:avLst/>
          </a:prstGeom>
          <a:solidFill>
            <a:srgbClr val="C9A227"/>
          </a:solidFill>
          <a:ln/>
        </p:spPr>
      </p:sp>
      <p:sp>
        <p:nvSpPr>
          <p:cNvPr id="10" name="Text 8"/>
          <p:cNvSpPr/>
          <p:nvPr/>
        </p:nvSpPr>
        <p:spPr>
          <a:xfrm>
            <a:off x="8522208" y="2194560"/>
            <a:ext cx="2880360" cy="1188720"/>
          </a:xfrm>
          <a:prstGeom prst="rect">
            <a:avLst/>
          </a:prstGeom>
          <a:noFill/>
          <a:ln/>
        </p:spPr>
        <p:txBody>
          <a:bodyPr wrap="square" lIns="0" tIns="0" rIns="0" bIns="0" rtlCol="0" anchor="t"/>
          <a:lstStyle/>
          <a:p>
            <a:pPr indent="0" marL="0">
              <a:spcAft>
                <a:spcPts val="300"/>
              </a:spcAft>
              <a:buNone/>
            </a:pPr>
            <a:r>
              <a:rPr lang="en-US" sz="1550" b="1" dirty="0">
                <a:solidFill>
                  <a:srgbClr val="F7F3E9"/>
                </a:solidFill>
                <a:latin typeface="Playfair Display" pitchFamily="34" charset="0"/>
                <a:ea typeface="Playfair Display" pitchFamily="34" charset="-122"/>
                <a:cs typeface="Playfair Display" pitchFamily="34" charset="-120"/>
              </a:rPr>
              <a:t>Your always-red list</a:t>
            </a:r>
            <a:endParaRPr lang="en-US" sz="1550" dirty="0"/>
          </a:p>
          <a:p>
            <a:pPr indent="0" marL="0">
              <a:buNone/>
            </a:pPr>
            <a:r>
              <a:rPr lang="en-US" sz="1200" i="1" dirty="0">
                <a:solidFill>
                  <a:srgbClr val="CBC4AE"/>
                </a:solidFill>
                <a:latin typeface="Inter" pitchFamily="34" charset="0"/>
                <a:ea typeface="Inter" pitchFamily="34" charset="-122"/>
                <a:cs typeface="Inter" pitchFamily="34" charset="-120"/>
              </a:rPr>
              <a:t>the 3–5 people whose email always needs you</a:t>
            </a:r>
            <a:endParaRPr lang="en-US" sz="1550" dirty="0"/>
          </a:p>
        </p:txBody>
      </p:sp>
      <p:sp>
        <p:nvSpPr>
          <p:cNvPr id="11" name="Shape 9"/>
          <p:cNvSpPr/>
          <p:nvPr/>
        </p:nvSpPr>
        <p:spPr>
          <a:xfrm>
            <a:off x="8257032" y="3483864"/>
            <a:ext cx="118872" cy="118872"/>
          </a:xfrm>
          <a:prstGeom prst="diamond">
            <a:avLst/>
          </a:prstGeom>
          <a:solidFill>
            <a:srgbClr val="C9A227"/>
          </a:solidFill>
          <a:ln/>
        </p:spPr>
      </p:sp>
      <p:sp>
        <p:nvSpPr>
          <p:cNvPr id="12" name="Text 10"/>
          <p:cNvSpPr/>
          <p:nvPr/>
        </p:nvSpPr>
        <p:spPr>
          <a:xfrm>
            <a:off x="8522208" y="3429000"/>
            <a:ext cx="2880360" cy="1188720"/>
          </a:xfrm>
          <a:prstGeom prst="rect">
            <a:avLst/>
          </a:prstGeom>
          <a:noFill/>
          <a:ln/>
        </p:spPr>
        <p:txBody>
          <a:bodyPr wrap="square" lIns="0" tIns="0" rIns="0" bIns="0" rtlCol="0" anchor="t"/>
          <a:lstStyle/>
          <a:p>
            <a:pPr indent="0" marL="0">
              <a:spcAft>
                <a:spcPts val="300"/>
              </a:spcAft>
              <a:buNone/>
            </a:pPr>
            <a:r>
              <a:rPr lang="en-US" sz="1550" b="1" dirty="0">
                <a:solidFill>
                  <a:srgbClr val="F7F3E9"/>
                </a:solidFill>
                <a:latin typeface="Playfair Display" pitchFamily="34" charset="0"/>
                <a:ea typeface="Playfair Display" pitchFamily="34" charset="-122"/>
                <a:cs typeface="Playfair Display" pitchFamily="34" charset="-120"/>
              </a:rPr>
              <a:t>Your #1 deal</a:t>
            </a:r>
            <a:endParaRPr lang="en-US" sz="1550" dirty="0"/>
          </a:p>
          <a:p>
            <a:pPr indent="0" marL="0">
              <a:buNone/>
            </a:pPr>
            <a:r>
              <a:rPr lang="en-US" sz="1200" i="1" dirty="0">
                <a:solidFill>
                  <a:srgbClr val="CBC4AE"/>
                </a:solidFill>
                <a:latin typeface="Inter" pitchFamily="34" charset="0"/>
                <a:ea typeface="Inter" pitchFamily="34" charset="-122"/>
                <a:cs typeface="Inter" pitchFamily="34" charset="-120"/>
              </a:rPr>
              <a:t>the thing that jumps every queue right now</a:t>
            </a:r>
            <a:endParaRPr lang="en-US" sz="1550" dirty="0"/>
          </a:p>
        </p:txBody>
      </p:sp>
      <p:sp>
        <p:nvSpPr>
          <p:cNvPr id="13" name="Shape 11"/>
          <p:cNvSpPr/>
          <p:nvPr/>
        </p:nvSpPr>
        <p:spPr>
          <a:xfrm>
            <a:off x="8257032" y="4718304"/>
            <a:ext cx="118872" cy="118872"/>
          </a:xfrm>
          <a:prstGeom prst="diamond">
            <a:avLst/>
          </a:prstGeom>
          <a:solidFill>
            <a:srgbClr val="C9A227"/>
          </a:solidFill>
          <a:ln/>
        </p:spPr>
      </p:sp>
      <p:sp>
        <p:nvSpPr>
          <p:cNvPr id="14" name="Text 12"/>
          <p:cNvSpPr/>
          <p:nvPr/>
        </p:nvSpPr>
        <p:spPr>
          <a:xfrm>
            <a:off x="8522208" y="4663440"/>
            <a:ext cx="2880360" cy="1188720"/>
          </a:xfrm>
          <a:prstGeom prst="rect">
            <a:avLst/>
          </a:prstGeom>
          <a:noFill/>
          <a:ln/>
        </p:spPr>
        <p:txBody>
          <a:bodyPr wrap="square" lIns="0" tIns="0" rIns="0" bIns="0" rtlCol="0" anchor="t"/>
          <a:lstStyle/>
          <a:p>
            <a:pPr indent="0" marL="0">
              <a:spcAft>
                <a:spcPts val="300"/>
              </a:spcAft>
              <a:buNone/>
            </a:pPr>
            <a:r>
              <a:rPr lang="en-US" sz="1550" b="1" dirty="0">
                <a:solidFill>
                  <a:srgbClr val="F7F3E9"/>
                </a:solidFill>
                <a:latin typeface="Playfair Display" pitchFamily="34" charset="0"/>
                <a:ea typeface="Playfair Display" pitchFamily="34" charset="-122"/>
                <a:cs typeface="Playfair Display" pitchFamily="34" charset="-120"/>
              </a:rPr>
              <a:t>Your voice, in 3 words</a:t>
            </a:r>
            <a:endParaRPr lang="en-US" sz="1550" dirty="0"/>
          </a:p>
          <a:p>
            <a:pPr indent="0" marL="0">
              <a:buNone/>
            </a:pPr>
            <a:r>
              <a:rPr lang="en-US" sz="1200" i="1" dirty="0">
                <a:solidFill>
                  <a:srgbClr val="CBC4AE"/>
                </a:solidFill>
                <a:latin typeface="Inter" pitchFamily="34" charset="0"/>
                <a:ea typeface="Inter" pitchFamily="34" charset="-122"/>
                <a:cs typeface="Inter" pitchFamily="34" charset="-120"/>
              </a:rPr>
              <a:t>warm, brief, decisive is a fine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2194560" y="1417320"/>
            <a:ext cx="7772400" cy="1828800"/>
          </a:xfrm>
          <a:prstGeom prst="roundRect">
            <a:avLst>
              <a:gd name="adj" fmla="val 3000"/>
            </a:avLst>
          </a:prstGeom>
          <a:solidFill>
            <a:srgbClr val="212A3B"/>
          </a:solidFill>
          <a:ln w="19050">
            <a:solidFill>
              <a:srgbClr val="C9A227"/>
            </a:solidFill>
            <a:prstDash val="solid"/>
          </a:ln>
        </p:spPr>
      </p:sp>
      <p:sp>
        <p:nvSpPr>
          <p:cNvPr id="3" name="Text 1"/>
          <p:cNvSpPr/>
          <p:nvPr/>
        </p:nvSpPr>
        <p:spPr>
          <a:xfrm>
            <a:off x="2606040" y="1691640"/>
            <a:ext cx="6949440" cy="320040"/>
          </a:xfrm>
          <a:prstGeom prst="rect">
            <a:avLst/>
          </a:prstGeom>
          <a:noFill/>
          <a:ln/>
        </p:spPr>
        <p:txBody>
          <a:bodyPr wrap="square" lIns="0" tIns="0" rIns="0" bIns="0" rtlCol="0" anchor="ctr"/>
          <a:lstStyle/>
          <a:p>
            <a:pPr indent="0" marL="0">
              <a:buNone/>
            </a:pPr>
            <a:r>
              <a:rPr lang="en-US" sz="1200" b="1" spc="400" kern="0" dirty="0">
                <a:solidFill>
                  <a:srgbClr val="E7C766"/>
                </a:solidFill>
                <a:latin typeface="Inter" pitchFamily="34" charset="0"/>
                <a:ea typeface="Inter" pitchFamily="34" charset="-122"/>
                <a:cs typeface="Inter" pitchFamily="34" charset="-120"/>
              </a:rPr>
              <a:t>✓  YOU DID IT WHEN…</a:t>
            </a:r>
            <a:endParaRPr lang="en-US" sz="1200" dirty="0"/>
          </a:p>
        </p:txBody>
      </p:sp>
      <p:sp>
        <p:nvSpPr>
          <p:cNvPr id="4" name="Text 2"/>
          <p:cNvSpPr/>
          <p:nvPr/>
        </p:nvSpPr>
        <p:spPr>
          <a:xfrm>
            <a:off x="2606040" y="2103120"/>
            <a:ext cx="6949440" cy="914400"/>
          </a:xfrm>
          <a:prstGeom prst="rect">
            <a:avLst/>
          </a:prstGeom>
          <a:noFill/>
          <a:ln/>
        </p:spPr>
        <p:txBody>
          <a:bodyPr wrap="square" lIns="0" tIns="0" rIns="0" bIns="0" rtlCol="0" anchor="t"/>
          <a:lstStyle/>
          <a:p>
            <a:pPr indent="0" marL="0">
              <a:buNone/>
            </a:pPr>
            <a:r>
              <a:rPr lang="en-US" sz="2700" dirty="0">
                <a:solidFill>
                  <a:srgbClr val="F7F3E9"/>
                </a:solidFill>
                <a:latin typeface="Playfair Display" pitchFamily="34" charset="0"/>
                <a:ea typeface="Playfair Display" pitchFamily="34" charset="-122"/>
                <a:cs typeface="Playfair Display" pitchFamily="34" charset="-120"/>
              </a:rPr>
              <a:t>You get one table instead of an inbox.</a:t>
            </a:r>
            <a:endParaRPr lang="en-US" sz="2700" dirty="0"/>
          </a:p>
        </p:txBody>
      </p:sp>
      <p:sp>
        <p:nvSpPr>
          <p:cNvPr id="5" name="Shape 3"/>
          <p:cNvSpPr/>
          <p:nvPr/>
        </p:nvSpPr>
        <p:spPr>
          <a:xfrm>
            <a:off x="3566160" y="3657600"/>
            <a:ext cx="5029200" cy="1188720"/>
          </a:xfrm>
          <a:prstGeom prst="roundRect">
            <a:avLst>
              <a:gd name="adj" fmla="val 3077"/>
            </a:avLst>
          </a:prstGeom>
          <a:solidFill>
            <a:srgbClr val="F7F3E9"/>
          </a:solidFill>
          <a:ln/>
          <a:effectLst>
            <a:outerShdw sx="100000" sy="100000" kx="0" ky="0" algn="bl" rotWithShape="0" blurRad="152400" dist="63500" dir="5400000">
              <a:srgbClr val="000000">
                <a:alpha val="30000"/>
              </a:srgbClr>
            </a:outerShdw>
          </a:effectLst>
        </p:spPr>
      </p:sp>
      <p:sp>
        <p:nvSpPr>
          <p:cNvPr id="6" name="Text 4"/>
          <p:cNvSpPr/>
          <p:nvPr/>
        </p:nvSpPr>
        <p:spPr>
          <a:xfrm>
            <a:off x="3785616" y="3749040"/>
            <a:ext cx="4590288" cy="274320"/>
          </a:xfrm>
          <a:prstGeom prst="rect">
            <a:avLst/>
          </a:prstGeom>
          <a:noFill/>
          <a:ln/>
        </p:spPr>
        <p:txBody>
          <a:bodyPr wrap="square" lIns="0" tIns="0" rIns="0" bIns="0" rtlCol="0" anchor="ctr"/>
          <a:lstStyle/>
          <a:p>
            <a:pPr indent="0" marL="0">
              <a:buNone/>
            </a:pPr>
            <a:r>
              <a:rPr lang="en-US" sz="1000" b="1" spc="300" kern="0" dirty="0">
                <a:solidFill>
                  <a:srgbClr val="14213D"/>
                </a:solidFill>
                <a:latin typeface="Inter" pitchFamily="34" charset="0"/>
                <a:ea typeface="Inter" pitchFamily="34" charset="-122"/>
                <a:cs typeface="Inter" pitchFamily="34" charset="-120"/>
              </a:rPr>
              <a:t>THE ENTIRE DAILY RITUAL, FROM NOW ON</a:t>
            </a:r>
            <a:endParaRPr lang="en-US" sz="1000" dirty="0"/>
          </a:p>
        </p:txBody>
      </p:sp>
      <p:sp>
        <p:nvSpPr>
          <p:cNvPr id="7" name="Shape 5"/>
          <p:cNvSpPr/>
          <p:nvPr/>
        </p:nvSpPr>
        <p:spPr>
          <a:xfrm>
            <a:off x="3785616" y="4078224"/>
            <a:ext cx="4590288" cy="0"/>
          </a:xfrm>
          <a:prstGeom prst="line">
            <a:avLst/>
          </a:prstGeom>
          <a:noFill/>
          <a:ln w="9525">
            <a:solidFill>
              <a:srgbClr val="D8D2C2"/>
            </a:solidFill>
            <a:prstDash val="solid"/>
          </a:ln>
        </p:spPr>
      </p:sp>
      <p:sp>
        <p:nvSpPr>
          <p:cNvPr id="8" name="Text 6"/>
          <p:cNvSpPr/>
          <p:nvPr/>
        </p:nvSpPr>
        <p:spPr>
          <a:xfrm>
            <a:off x="3785616" y="4114800"/>
            <a:ext cx="4590288" cy="621792"/>
          </a:xfrm>
          <a:prstGeom prst="rect">
            <a:avLst/>
          </a:prstGeom>
          <a:noFill/>
          <a:ln/>
        </p:spPr>
        <p:txBody>
          <a:bodyPr wrap="square" lIns="0" tIns="0" rIns="0" bIns="0" rtlCol="0" anchor="t"/>
          <a:lstStyle/>
          <a:p>
            <a:pPr indent="0" marL="0">
              <a:lnSpc>
                <a:spcPts val="2175"/>
              </a:lnSpc>
              <a:buNone/>
            </a:pPr>
            <a:r>
              <a:rPr lang="en-US" sz="1500" dirty="0">
                <a:solidFill>
                  <a:srgbClr val="1C2333"/>
                </a:solidFill>
                <a:latin typeface="Courier New" pitchFamily="34" charset="0"/>
                <a:ea typeface="Courier New" pitchFamily="34" charset="-122"/>
                <a:cs typeface="Courier New" pitchFamily="34" charset="-120"/>
              </a:rPr>
              <a:t>Triage my inbox.</a:t>
            </a:r>
            <a:endParaRPr lang="en-US" sz="1500" dirty="0"/>
          </a:p>
        </p:txBody>
      </p:sp>
      <p:sp>
        <p:nvSpPr>
          <p:cNvPr id="9" name="Text 7"/>
          <p:cNvSpPr/>
          <p:nvPr/>
        </p:nvSpPr>
        <p:spPr>
          <a:xfrm>
            <a:off x="822960" y="5349240"/>
            <a:ext cx="10515600" cy="457200"/>
          </a:xfrm>
          <a:prstGeom prst="rect">
            <a:avLst/>
          </a:prstGeom>
          <a:noFill/>
          <a:ln/>
        </p:spPr>
        <p:txBody>
          <a:bodyPr wrap="square" lIns="0" tIns="0" rIns="0" bIns="0" rtlCol="0" anchor="ctr"/>
          <a:lstStyle/>
          <a:p>
            <a:pPr algn="ctr" indent="0" marL="0">
              <a:buNone/>
            </a:pPr>
            <a:r>
              <a:rPr lang="en-US" sz="1800" i="1" dirty="0">
                <a:solidFill>
                  <a:srgbClr val="E7C766"/>
                </a:solidFill>
                <a:latin typeface="Playfair Display" pitchFamily="34" charset="0"/>
                <a:ea typeface="Playfair Display" pitchFamily="34" charset="-122"/>
                <a:cs typeface="Playfair Display" pitchFamily="34" charset="-120"/>
              </a:rPr>
              <a:t>Chat is a conversation. A project is a standing arrangement.</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457200"/>
            <a:ext cx="91440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CASE FILE 03 · SKILL: DONNA’S PLAYBOOK</a:t>
            </a:r>
            <a:endParaRPr lang="en-US" sz="1200" dirty="0"/>
          </a:p>
        </p:txBody>
      </p:sp>
      <p:sp>
        <p:nvSpPr>
          <p:cNvPr id="3" name="Text 1"/>
          <p:cNvSpPr/>
          <p:nvPr/>
        </p:nvSpPr>
        <p:spPr>
          <a:xfrm>
            <a:off x="822960" y="804672"/>
            <a:ext cx="10515600" cy="594360"/>
          </a:xfrm>
          <a:prstGeom prst="rect">
            <a:avLst/>
          </a:prstGeom>
          <a:noFill/>
          <a:ln/>
        </p:spPr>
        <p:txBody>
          <a:bodyPr wrap="square" lIns="0" tIns="0" rIns="0" bIns="0" rtlCol="0" anchor="ctr"/>
          <a:lstStyle/>
          <a:p>
            <a:pPr indent="0" marL="0">
              <a:buNone/>
            </a:pPr>
            <a:r>
              <a:rPr lang="en-US" sz="2700" b="1" dirty="0">
                <a:solidFill>
                  <a:srgbClr val="F7F3E9"/>
                </a:solidFill>
                <a:latin typeface="Playfair Display" pitchFamily="34" charset="0"/>
                <a:ea typeface="Playfair Display" pitchFamily="34" charset="-122"/>
                <a:cs typeface="Playfair Display" pitchFamily="34" charset="-120"/>
              </a:rPr>
              <a:t>One paste. She does the rest.</a:t>
            </a:r>
            <a:endParaRPr lang="en-US" sz="2700" dirty="0"/>
          </a:p>
        </p:txBody>
      </p:sp>
      <p:sp>
        <p:nvSpPr>
          <p:cNvPr id="4" name="Shape 2"/>
          <p:cNvSpPr/>
          <p:nvPr/>
        </p:nvSpPr>
        <p:spPr>
          <a:xfrm>
            <a:off x="822960" y="1600200"/>
            <a:ext cx="10561320" cy="2240280"/>
          </a:xfrm>
          <a:prstGeom prst="roundRect">
            <a:avLst>
              <a:gd name="adj" fmla="val 1633"/>
            </a:avLst>
          </a:prstGeom>
          <a:solidFill>
            <a:srgbClr val="F7F3E9"/>
          </a:solidFill>
          <a:ln/>
          <a:effectLst>
            <a:outerShdw sx="100000" sy="100000" kx="0" ky="0" algn="bl" rotWithShape="0" blurRad="152400" dist="63500" dir="5400000">
              <a:srgbClr val="000000">
                <a:alpha val="30000"/>
              </a:srgbClr>
            </a:outerShdw>
          </a:effectLst>
        </p:spPr>
      </p:sp>
      <p:sp>
        <p:nvSpPr>
          <p:cNvPr id="5" name="Text 3"/>
          <p:cNvSpPr/>
          <p:nvPr/>
        </p:nvSpPr>
        <p:spPr>
          <a:xfrm>
            <a:off x="1042416" y="1691640"/>
            <a:ext cx="10122408" cy="274320"/>
          </a:xfrm>
          <a:prstGeom prst="rect">
            <a:avLst/>
          </a:prstGeom>
          <a:noFill/>
          <a:ln/>
        </p:spPr>
        <p:txBody>
          <a:bodyPr wrap="square" lIns="0" tIns="0" rIns="0" bIns="0" rtlCol="0" anchor="ctr"/>
          <a:lstStyle/>
          <a:p>
            <a:pPr indent="0" marL="0">
              <a:buNone/>
            </a:pPr>
            <a:r>
              <a:rPr lang="en-US" sz="1000" b="1" spc="300" kern="0" dirty="0">
                <a:solidFill>
                  <a:srgbClr val="14213D"/>
                </a:solidFill>
                <a:latin typeface="Inter" pitchFamily="34" charset="0"/>
                <a:ea typeface="Inter" pitchFamily="34" charset="-122"/>
                <a:cs typeface="Inter" pitchFamily="34" charset="-120"/>
              </a:rPr>
              <a:t>THE INSTALLER · ONE PASTE</a:t>
            </a:r>
            <a:endParaRPr lang="en-US" sz="1000" dirty="0"/>
          </a:p>
        </p:txBody>
      </p:sp>
      <p:sp>
        <p:nvSpPr>
          <p:cNvPr id="6" name="Shape 4"/>
          <p:cNvSpPr/>
          <p:nvPr/>
        </p:nvSpPr>
        <p:spPr>
          <a:xfrm>
            <a:off x="1042416" y="2020824"/>
            <a:ext cx="10122408" cy="0"/>
          </a:xfrm>
          <a:prstGeom prst="line">
            <a:avLst/>
          </a:prstGeom>
          <a:noFill/>
          <a:ln w="9525">
            <a:solidFill>
              <a:srgbClr val="D8D2C2"/>
            </a:solidFill>
            <a:prstDash val="solid"/>
          </a:ln>
        </p:spPr>
      </p:sp>
      <p:sp>
        <p:nvSpPr>
          <p:cNvPr id="7" name="Text 5"/>
          <p:cNvSpPr/>
          <p:nvPr/>
        </p:nvSpPr>
        <p:spPr>
          <a:xfrm>
            <a:off x="1042416" y="2057400"/>
            <a:ext cx="10122408" cy="1673352"/>
          </a:xfrm>
          <a:prstGeom prst="rect">
            <a:avLst/>
          </a:prstGeom>
          <a:noFill/>
          <a:ln/>
        </p:spPr>
        <p:txBody>
          <a:bodyPr wrap="square" lIns="0" tIns="0" rIns="0" bIns="0" rtlCol="0" anchor="t"/>
          <a:lstStyle/>
          <a:p>
            <a:pPr indent="0" marL="0">
              <a:lnSpc>
                <a:spcPts val="1740"/>
              </a:lnSpc>
              <a:buNone/>
            </a:pPr>
            <a:r>
              <a:rPr lang="en-US" sz="1200" dirty="0">
                <a:solidFill>
                  <a:srgbClr val="1C2333"/>
                </a:solidFill>
                <a:latin typeface="Courier New" pitchFamily="34" charset="0"/>
                <a:ea typeface="Courier New" pitchFamily="34" charset="-122"/>
                <a:cs typeface="Courier New" pitchFamily="34" charset="-120"/>
              </a:rPr>
              <a:t>Fetch https://denisekgosnell.github.io/Donna/skills/donna-replies/SKILL.md</a:t>
            </a:r>
            <a:endParaRPr lang="en-US" sz="1200" dirty="0"/>
          </a:p>
          <a:p>
            <a:pPr indent="0" marL="0">
              <a:lnSpc>
                <a:spcPts val="1740"/>
              </a:lnSpc>
              <a:buNone/>
            </a:pPr>
            <a:r>
              <a:rPr lang="en-US" sz="1200" dirty="0">
                <a:solidFill>
                  <a:srgbClr val="1C2333"/>
                </a:solidFill>
                <a:latin typeface="Courier New" pitchFamily="34" charset="0"/>
                <a:ea typeface="Courier New" pitchFamily="34" charset="-122"/>
                <a:cs typeface="Courier New" pitchFamily="34" charset="-120"/>
              </a:rPr>
              <a:t>and install it for me as a skill named donna-replies.</a:t>
            </a:r>
            <a:endParaRPr lang="en-US" sz="1200" dirty="0"/>
          </a:p>
          <a:p>
            <a:pPr indent="0" marL="0">
              <a:lnSpc>
                <a:spcPts val="1740"/>
              </a:lnSpc>
              <a:buNone/>
            </a:pPr>
            <a:r>
              <a:rPr lang="en-US" sz="1200" dirty="0">
                <a:solidFill>
                  <a:srgbClr val="1C2333"/>
                </a:solidFill>
                <a:latin typeface="Courier New" pitchFamily="34" charset="0"/>
                <a:ea typeface="Courier New" pitchFamily="34" charset="-122"/>
                <a:cs typeface="Courier New" pitchFamily="34" charset="-120"/>
              </a:rPr>
              <a:t>Then interview me, one question at a time, to replace every {{PLACEHOLDER}}:</a:t>
            </a:r>
            <a:endParaRPr lang="en-US" sz="1200" dirty="0"/>
          </a:p>
          <a:p>
            <a:pPr indent="0" marL="0">
              <a:lnSpc>
                <a:spcPts val="1740"/>
              </a:lnSpc>
              <a:buNone/>
            </a:pPr>
            <a:r>
              <a:rPr lang="en-US" sz="1200" dirty="0">
                <a:solidFill>
                  <a:srgbClr val="1C2333"/>
                </a:solidFill>
                <a:latin typeface="Courier New" pitchFamily="34" charset="0"/>
                <a:ea typeface="Courier New" pitchFamily="34" charset="-122"/>
                <a:cs typeface="Courier New" pitchFamily="34" charset="-120"/>
              </a:rPr>
              <a:t>my VIP list, my voice, my reply rules.</a:t>
            </a:r>
            <a:endParaRPr lang="en-US" sz="1200" dirty="0"/>
          </a:p>
          <a:p>
            <a:pPr indent="0" marL="0">
              <a:lnSpc>
                <a:spcPts val="1740"/>
              </a:lnSpc>
              <a:buNone/>
            </a:pPr>
            <a:r>
              <a:rPr lang="en-US" sz="1200" dirty="0">
                <a:solidFill>
                  <a:srgbClr val="1C2333"/>
                </a:solidFill>
                <a:latin typeface="Courier New" pitchFamily="34" charset="0"/>
                <a:ea typeface="Courier New" pitchFamily="34" charset="-122"/>
                <a:cs typeface="Courier New" pitchFamily="34" charset="-120"/>
              </a:rPr>
              <a:t>When it’s active, tell me the one sentence I say to use it.</a:t>
            </a:r>
            <a:endParaRPr lang="en-US" sz="1200" dirty="0"/>
          </a:p>
        </p:txBody>
      </p:sp>
      <p:sp>
        <p:nvSpPr>
          <p:cNvPr id="8" name="Text 6"/>
          <p:cNvSpPr/>
          <p:nvPr/>
        </p:nvSpPr>
        <p:spPr>
          <a:xfrm>
            <a:off x="822960" y="4114800"/>
            <a:ext cx="10515600" cy="411480"/>
          </a:xfrm>
          <a:prstGeom prst="rect">
            <a:avLst/>
          </a:prstGeom>
          <a:noFill/>
          <a:ln/>
        </p:spPr>
        <p:txBody>
          <a:bodyPr wrap="square" lIns="0" tIns="0" rIns="0" bIns="0" rtlCol="0" anchor="ctr"/>
          <a:lstStyle/>
          <a:p>
            <a:pPr indent="0" marL="0">
              <a:buNone/>
            </a:pPr>
            <a:r>
              <a:rPr lang="en-US" sz="1450" dirty="0">
                <a:solidFill>
                  <a:srgbClr val="F4EFE1"/>
                </a:solidFill>
                <a:latin typeface="Inter" pitchFamily="34" charset="0"/>
                <a:ea typeface="Inter" pitchFamily="34" charset="-122"/>
                <a:cs typeface="Inter" pitchFamily="34" charset="-120"/>
              </a:rPr>
              <a:t>She fetches her own playbook, installs it, then interviews you for the blanks: VIPs, voice, rules.</a:t>
            </a:r>
            <a:endParaRPr lang="en-US" sz="1450" dirty="0"/>
          </a:p>
        </p:txBody>
      </p:sp>
      <p:sp>
        <p:nvSpPr>
          <p:cNvPr id="9" name="Text 7"/>
          <p:cNvSpPr/>
          <p:nvPr/>
        </p:nvSpPr>
        <p:spPr>
          <a:xfrm>
            <a:off x="822960" y="4663440"/>
            <a:ext cx="10515600" cy="411480"/>
          </a:xfrm>
          <a:prstGeom prst="rect">
            <a:avLst/>
          </a:prstGeom>
          <a:noFill/>
          <a:ln/>
        </p:spPr>
        <p:txBody>
          <a:bodyPr wrap="square" lIns="0" tIns="0" rIns="0" bIns="0" rtlCol="0" anchor="ctr"/>
          <a:lstStyle/>
          <a:p>
            <a:pPr indent="0" marL="0">
              <a:buNone/>
            </a:pPr>
            <a:r>
              <a:rPr lang="en-US" sz="1450" b="1" dirty="0">
                <a:solidFill>
                  <a:srgbClr val="E7C766"/>
                </a:solidFill>
                <a:latin typeface="Inter" pitchFamily="34" charset="0"/>
                <a:ea typeface="Inter" pitchFamily="34" charset="-122"/>
                <a:cs typeface="Inter" pitchFamily="34" charset="-120"/>
              </a:rPr>
              <a:t>Test drive:  </a:t>
            </a:r>
            <a:pPr indent="0" marL="0">
              <a:buNone/>
            </a:pPr>
            <a:r>
              <a:rPr lang="en-US" sz="1400" dirty="0">
                <a:solidFill>
                  <a:srgbClr val="F7F3E9"/>
                </a:solidFill>
                <a:latin typeface="Courier New" pitchFamily="34" charset="0"/>
                <a:ea typeface="Courier New" pitchFamily="34" charset="-122"/>
                <a:cs typeface="Courier New" pitchFamily="34" charset="-120"/>
              </a:rPr>
              <a:t>Use donna-replies on my inbox.</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31621"/>
        </a:solidFill>
      </p:bgPr>
    </p:bg>
    <p:spTree>
      <p:nvGrpSpPr>
        <p:cNvPr id="1" name=""/>
        <p:cNvGrpSpPr/>
        <p:nvPr/>
      </p:nvGrpSpPr>
      <p:grpSpPr>
        <a:xfrm>
          <a:off x="0" y="0"/>
          <a:ext cx="0" cy="0"/>
          <a:chOff x="0" y="0"/>
          <a:chExt cx="0" cy="0"/>
        </a:xfrm>
      </p:grpSpPr>
      <p:sp>
        <p:nvSpPr>
          <p:cNvPr id="2" name="Text 0"/>
          <p:cNvSpPr/>
          <p:nvPr/>
        </p:nvSpPr>
        <p:spPr>
          <a:xfrm>
            <a:off x="822960" y="1828800"/>
            <a:ext cx="1051560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Playfair Display" pitchFamily="34" charset="0"/>
                <a:ea typeface="Playfair Display" pitchFamily="34" charset="-122"/>
                <a:cs typeface="Playfair Display" pitchFamily="34" charset="-120"/>
              </a:rPr>
              <a:t>She never sends. Ever.</a:t>
            </a:r>
            <a:endParaRPr lang="en-US" sz="5400" dirty="0"/>
          </a:p>
        </p:txBody>
      </p:sp>
      <p:sp>
        <p:nvSpPr>
          <p:cNvPr id="3" name="Text 1"/>
          <p:cNvSpPr/>
          <p:nvPr/>
        </p:nvSpPr>
        <p:spPr>
          <a:xfrm>
            <a:off x="1371600" y="3383280"/>
            <a:ext cx="9418320" cy="457200"/>
          </a:xfrm>
          <a:prstGeom prst="rect">
            <a:avLst/>
          </a:prstGeom>
          <a:noFill/>
          <a:ln/>
        </p:spPr>
        <p:txBody>
          <a:bodyPr wrap="square" lIns="0" tIns="0" rIns="0" bIns="0" rtlCol="0" anchor="ctr"/>
          <a:lstStyle/>
          <a:p>
            <a:pPr algn="ctr" indent="0" marL="0">
              <a:buNone/>
            </a:pPr>
            <a:r>
              <a:rPr lang="en-US" sz="1700" dirty="0">
                <a:solidFill>
                  <a:srgbClr val="F7F3E9"/>
                </a:solidFill>
                <a:latin typeface="Inter" pitchFamily="34" charset="0"/>
                <a:ea typeface="Inter" pitchFamily="34" charset="-122"/>
                <a:cs typeface="Inter" pitchFamily="34" charset="-120"/>
              </a:rPr>
              <a:t>Every reply lands in your drafts folder and waits for your say-so.</a:t>
            </a:r>
            <a:endParaRPr lang="en-US" sz="1700" dirty="0"/>
          </a:p>
        </p:txBody>
      </p:sp>
      <p:sp>
        <p:nvSpPr>
          <p:cNvPr id="4" name="Text 2"/>
          <p:cNvSpPr/>
          <p:nvPr/>
        </p:nvSpPr>
        <p:spPr>
          <a:xfrm>
            <a:off x="1371600" y="4023360"/>
            <a:ext cx="9418320" cy="457200"/>
          </a:xfrm>
          <a:prstGeom prst="rect">
            <a:avLst/>
          </a:prstGeom>
          <a:noFill/>
          <a:ln/>
        </p:spPr>
        <p:txBody>
          <a:bodyPr wrap="square" lIns="0" tIns="0" rIns="0" bIns="0" rtlCol="0" anchor="ctr"/>
          <a:lstStyle/>
          <a:p>
            <a:pPr algn="ctr" indent="0" marL="0">
              <a:buNone/>
            </a:pPr>
            <a:r>
              <a:rPr lang="en-US" sz="1350" i="1" dirty="0">
                <a:solidFill>
                  <a:srgbClr val="F3D9DB"/>
                </a:solidFill>
                <a:latin typeface="Inter" pitchFamily="34" charset="0"/>
                <a:ea typeface="Inter" pitchFamily="34" charset="-122"/>
                <a:cs typeface="Inter" pitchFamily="34" charset="-120"/>
              </a:rPr>
              <a:t>The rule is written into the skill itself: “Save every reply as a DRAFT. Never send. No exceptions.”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457200"/>
            <a:ext cx="91440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CASE FILE 04 · AGENT: DONNA, FULL TIME</a:t>
            </a:r>
            <a:endParaRPr lang="en-US" sz="1200" dirty="0"/>
          </a:p>
        </p:txBody>
      </p:sp>
      <p:sp>
        <p:nvSpPr>
          <p:cNvPr id="3" name="Text 1"/>
          <p:cNvSpPr/>
          <p:nvPr/>
        </p:nvSpPr>
        <p:spPr>
          <a:xfrm>
            <a:off x="822960" y="804672"/>
            <a:ext cx="10515600" cy="594360"/>
          </a:xfrm>
          <a:prstGeom prst="rect">
            <a:avLst/>
          </a:prstGeom>
          <a:noFill/>
          <a:ln/>
        </p:spPr>
        <p:txBody>
          <a:bodyPr wrap="square" lIns="0" tIns="0" rIns="0" bIns="0" rtlCol="0" anchor="ctr"/>
          <a:lstStyle/>
          <a:p>
            <a:pPr indent="0" marL="0">
              <a:buNone/>
            </a:pPr>
            <a:r>
              <a:rPr lang="en-US" sz="2700" b="1" dirty="0">
                <a:solidFill>
                  <a:srgbClr val="F7F3E9"/>
                </a:solidFill>
                <a:latin typeface="Playfair Display" pitchFamily="34" charset="0"/>
                <a:ea typeface="Playfair Display" pitchFamily="34" charset="-122"/>
                <a:cs typeface="Playfair Display" pitchFamily="34" charset="-120"/>
              </a:rPr>
              <a:t>Give her the evening shift.</a:t>
            </a:r>
            <a:endParaRPr lang="en-US" sz="2700" dirty="0"/>
          </a:p>
        </p:txBody>
      </p:sp>
      <p:sp>
        <p:nvSpPr>
          <p:cNvPr id="4" name="Shape 2"/>
          <p:cNvSpPr/>
          <p:nvPr/>
        </p:nvSpPr>
        <p:spPr>
          <a:xfrm>
            <a:off x="822960" y="1600200"/>
            <a:ext cx="7863840" cy="4160520"/>
          </a:xfrm>
          <a:prstGeom prst="roundRect">
            <a:avLst>
              <a:gd name="adj" fmla="val 879"/>
            </a:avLst>
          </a:prstGeom>
          <a:solidFill>
            <a:srgbClr val="F7F3E9"/>
          </a:solidFill>
          <a:ln/>
          <a:effectLst>
            <a:outerShdw sx="100000" sy="100000" kx="0" ky="0" algn="bl" rotWithShape="0" blurRad="152400" dist="63500" dir="5400000">
              <a:srgbClr val="000000">
                <a:alpha val="30000"/>
              </a:srgbClr>
            </a:outerShdw>
          </a:effectLst>
        </p:spPr>
      </p:sp>
      <p:sp>
        <p:nvSpPr>
          <p:cNvPr id="5" name="Text 3"/>
          <p:cNvSpPr/>
          <p:nvPr/>
        </p:nvSpPr>
        <p:spPr>
          <a:xfrm>
            <a:off x="1042416" y="1691640"/>
            <a:ext cx="7424928" cy="274320"/>
          </a:xfrm>
          <a:prstGeom prst="rect">
            <a:avLst/>
          </a:prstGeom>
          <a:noFill/>
          <a:ln/>
        </p:spPr>
        <p:txBody>
          <a:bodyPr wrap="square" lIns="0" tIns="0" rIns="0" bIns="0" rtlCol="0" anchor="ctr"/>
          <a:lstStyle/>
          <a:p>
            <a:pPr indent="0" marL="0">
              <a:buNone/>
            </a:pPr>
            <a:r>
              <a:rPr lang="en-US" sz="1000" b="1" spc="300" kern="0" dirty="0">
                <a:solidFill>
                  <a:srgbClr val="14213D"/>
                </a:solidFill>
                <a:latin typeface="Inter" pitchFamily="34" charset="0"/>
                <a:ea typeface="Inter" pitchFamily="34" charset="-122"/>
                <a:cs typeface="Inter" pitchFamily="34" charset="-120"/>
              </a:rPr>
              <a:t>THE STANDING ORDER · SCHEDULED TASKS → NEW TASK</a:t>
            </a:r>
            <a:endParaRPr lang="en-US" sz="1000" dirty="0"/>
          </a:p>
        </p:txBody>
      </p:sp>
      <p:sp>
        <p:nvSpPr>
          <p:cNvPr id="6" name="Shape 4"/>
          <p:cNvSpPr/>
          <p:nvPr/>
        </p:nvSpPr>
        <p:spPr>
          <a:xfrm>
            <a:off x="1042416" y="2020824"/>
            <a:ext cx="7424928" cy="0"/>
          </a:xfrm>
          <a:prstGeom prst="line">
            <a:avLst/>
          </a:prstGeom>
          <a:noFill/>
          <a:ln w="9525">
            <a:solidFill>
              <a:srgbClr val="D8D2C2"/>
            </a:solidFill>
            <a:prstDash val="solid"/>
          </a:ln>
        </p:spPr>
      </p:sp>
      <p:sp>
        <p:nvSpPr>
          <p:cNvPr id="7" name="Text 5"/>
          <p:cNvSpPr/>
          <p:nvPr/>
        </p:nvSpPr>
        <p:spPr>
          <a:xfrm>
            <a:off x="1042416" y="2057400"/>
            <a:ext cx="7424928" cy="3593592"/>
          </a:xfrm>
          <a:prstGeom prst="rect">
            <a:avLst/>
          </a:prstGeom>
          <a:noFill/>
          <a:ln/>
        </p:spPr>
        <p:txBody>
          <a:bodyPr wrap="square" lIns="0" tIns="0" rIns="0" bIns="0" rtlCol="0" anchor="t"/>
          <a:lstStyle/>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Every weekday at 4:30 PM:</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1. Run my donna-replies skill on today’s inbox.</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2. Write my Daily Briefing as a document titled</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"Daily Briefing: [today’s date]":</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 the 5 things in my inbox that need ME</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 the replies you drafted today</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 what you ignored and why</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 my first meeting tomorrow</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3. Save it to my Google Drive / OneDrive in a folder</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called "Donna Briefings".</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4. Create a calendar event today, 4:55–5:00 PM, called</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 Briefing with Donna", with the document link in the</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description and an EMAIL reminder 1 minute before the event.</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   (Outlook: a calendar notification instead.)</a:t>
            </a:r>
            <a:endParaRPr lang="en-US" sz="1000" dirty="0"/>
          </a:p>
          <a:p>
            <a:pPr indent="0" marL="0">
              <a:lnSpc>
                <a:spcPts val="1450"/>
              </a:lnSpc>
              <a:buNone/>
            </a:pPr>
            <a:r>
              <a:rPr lang="en-US" sz="1000" dirty="0">
                <a:solidFill>
                  <a:srgbClr val="1C2333"/>
                </a:solidFill>
                <a:latin typeface="Courier New" pitchFamily="34" charset="0"/>
                <a:ea typeface="Courier New" pitchFamily="34" charset="-122"/>
                <a:cs typeface="Courier New" pitchFamily="34" charset="-120"/>
              </a:rPr>
              <a:t>Also: do a dry run for today RIGHT NOW so I can check your work.</a:t>
            </a:r>
            <a:endParaRPr lang="en-US" sz="1000" dirty="0"/>
          </a:p>
        </p:txBody>
      </p:sp>
      <p:sp>
        <p:nvSpPr>
          <p:cNvPr id="8" name="Text 6"/>
          <p:cNvSpPr/>
          <p:nvPr/>
        </p:nvSpPr>
        <p:spPr>
          <a:xfrm>
            <a:off x="9006840" y="2194560"/>
            <a:ext cx="1371600" cy="502920"/>
          </a:xfrm>
          <a:prstGeom prst="rect">
            <a:avLst/>
          </a:prstGeom>
          <a:noFill/>
          <a:ln/>
        </p:spPr>
        <p:txBody>
          <a:bodyPr wrap="square" lIns="0" tIns="0" rIns="0" bIns="0" rtlCol="0" anchor="ctr"/>
          <a:lstStyle/>
          <a:p>
            <a:pPr indent="0" marL="0">
              <a:buNone/>
            </a:pPr>
            <a:r>
              <a:rPr lang="en-US" sz="2600" b="1" dirty="0">
                <a:solidFill>
                  <a:srgbClr val="C9A227"/>
                </a:solidFill>
                <a:latin typeface="Playfair Display" pitchFamily="34" charset="0"/>
                <a:ea typeface="Playfair Display" pitchFamily="34" charset="-122"/>
                <a:cs typeface="Playfair Display" pitchFamily="34" charset="-120"/>
              </a:rPr>
              <a:t>4:30</a:t>
            </a:r>
            <a:endParaRPr lang="en-US" sz="2600" dirty="0"/>
          </a:p>
        </p:txBody>
      </p:sp>
      <p:sp>
        <p:nvSpPr>
          <p:cNvPr id="9" name="Text 7"/>
          <p:cNvSpPr/>
          <p:nvPr/>
        </p:nvSpPr>
        <p:spPr>
          <a:xfrm>
            <a:off x="9006840" y="2697480"/>
            <a:ext cx="2377440" cy="320040"/>
          </a:xfrm>
          <a:prstGeom prst="rect">
            <a:avLst/>
          </a:prstGeom>
          <a:noFill/>
          <a:ln/>
        </p:spPr>
        <p:txBody>
          <a:bodyPr wrap="square" lIns="0" tIns="0" rIns="0" bIns="0" rtlCol="0" anchor="ctr"/>
          <a:lstStyle/>
          <a:p>
            <a:pPr indent="0" marL="0">
              <a:buNone/>
            </a:pPr>
            <a:r>
              <a:rPr lang="en-US" sz="1250" i="1" dirty="0">
                <a:solidFill>
                  <a:srgbClr val="CBC4AE"/>
                </a:solidFill>
                <a:latin typeface="Inter" pitchFamily="34" charset="0"/>
                <a:ea typeface="Inter" pitchFamily="34" charset="-122"/>
                <a:cs typeface="Inter" pitchFamily="34" charset="-120"/>
              </a:rPr>
              <a:t>she works</a:t>
            </a:r>
            <a:endParaRPr lang="en-US" sz="1250" dirty="0"/>
          </a:p>
        </p:txBody>
      </p:sp>
      <p:sp>
        <p:nvSpPr>
          <p:cNvPr id="10" name="Text 8"/>
          <p:cNvSpPr/>
          <p:nvPr/>
        </p:nvSpPr>
        <p:spPr>
          <a:xfrm>
            <a:off x="9006840" y="3246120"/>
            <a:ext cx="1371600" cy="502920"/>
          </a:xfrm>
          <a:prstGeom prst="rect">
            <a:avLst/>
          </a:prstGeom>
          <a:noFill/>
          <a:ln/>
        </p:spPr>
        <p:txBody>
          <a:bodyPr wrap="square" lIns="0" tIns="0" rIns="0" bIns="0" rtlCol="0" anchor="ctr"/>
          <a:lstStyle/>
          <a:p>
            <a:pPr indent="0" marL="0">
              <a:buNone/>
            </a:pPr>
            <a:r>
              <a:rPr lang="en-US" sz="2600" b="1" dirty="0">
                <a:solidFill>
                  <a:srgbClr val="C9A227"/>
                </a:solidFill>
                <a:latin typeface="Playfair Display" pitchFamily="34" charset="0"/>
                <a:ea typeface="Playfair Display" pitchFamily="34" charset="-122"/>
                <a:cs typeface="Playfair Display" pitchFamily="34" charset="-120"/>
              </a:rPr>
              <a:t>4:54</a:t>
            </a:r>
            <a:endParaRPr lang="en-US" sz="2600" dirty="0"/>
          </a:p>
        </p:txBody>
      </p:sp>
      <p:sp>
        <p:nvSpPr>
          <p:cNvPr id="11" name="Text 9"/>
          <p:cNvSpPr/>
          <p:nvPr/>
        </p:nvSpPr>
        <p:spPr>
          <a:xfrm>
            <a:off x="9006840" y="3749040"/>
            <a:ext cx="2377440" cy="320040"/>
          </a:xfrm>
          <a:prstGeom prst="rect">
            <a:avLst/>
          </a:prstGeom>
          <a:noFill/>
          <a:ln/>
        </p:spPr>
        <p:txBody>
          <a:bodyPr wrap="square" lIns="0" tIns="0" rIns="0" bIns="0" rtlCol="0" anchor="ctr"/>
          <a:lstStyle/>
          <a:p>
            <a:pPr indent="0" marL="0">
              <a:buNone/>
            </a:pPr>
            <a:r>
              <a:rPr lang="en-US" sz="1250" i="1" dirty="0">
                <a:solidFill>
                  <a:srgbClr val="CBC4AE"/>
                </a:solidFill>
                <a:latin typeface="Inter" pitchFamily="34" charset="0"/>
                <a:ea typeface="Inter" pitchFamily="34" charset="-122"/>
                <a:cs typeface="Inter" pitchFamily="34" charset="-120"/>
              </a:rPr>
              <a:t>you’re notified</a:t>
            </a:r>
            <a:endParaRPr lang="en-US" sz="1250" dirty="0"/>
          </a:p>
        </p:txBody>
      </p:sp>
      <p:sp>
        <p:nvSpPr>
          <p:cNvPr id="12" name="Text 10"/>
          <p:cNvSpPr/>
          <p:nvPr/>
        </p:nvSpPr>
        <p:spPr>
          <a:xfrm>
            <a:off x="9006840" y="4297680"/>
            <a:ext cx="1371600" cy="502920"/>
          </a:xfrm>
          <a:prstGeom prst="rect">
            <a:avLst/>
          </a:prstGeom>
          <a:noFill/>
          <a:ln/>
        </p:spPr>
        <p:txBody>
          <a:bodyPr wrap="square" lIns="0" tIns="0" rIns="0" bIns="0" rtlCol="0" anchor="ctr"/>
          <a:lstStyle/>
          <a:p>
            <a:pPr indent="0" marL="0">
              <a:buNone/>
            </a:pPr>
            <a:r>
              <a:rPr lang="en-US" sz="2600" b="1" dirty="0">
                <a:solidFill>
                  <a:srgbClr val="C9A227"/>
                </a:solidFill>
                <a:latin typeface="Playfair Display" pitchFamily="34" charset="0"/>
                <a:ea typeface="Playfair Display" pitchFamily="34" charset="-122"/>
                <a:cs typeface="Playfair Display" pitchFamily="34" charset="-120"/>
              </a:rPr>
              <a:t>4:55</a:t>
            </a:r>
            <a:endParaRPr lang="en-US" sz="2600" dirty="0"/>
          </a:p>
        </p:txBody>
      </p:sp>
      <p:sp>
        <p:nvSpPr>
          <p:cNvPr id="13" name="Text 11"/>
          <p:cNvSpPr/>
          <p:nvPr/>
        </p:nvSpPr>
        <p:spPr>
          <a:xfrm>
            <a:off x="9006840" y="4800600"/>
            <a:ext cx="2377440" cy="320040"/>
          </a:xfrm>
          <a:prstGeom prst="rect">
            <a:avLst/>
          </a:prstGeom>
          <a:noFill/>
          <a:ln/>
        </p:spPr>
        <p:txBody>
          <a:bodyPr wrap="square" lIns="0" tIns="0" rIns="0" bIns="0" rtlCol="0" anchor="ctr"/>
          <a:lstStyle/>
          <a:p>
            <a:pPr indent="0" marL="0">
              <a:buNone/>
            </a:pPr>
            <a:r>
              <a:rPr lang="en-US" sz="1250" i="1" dirty="0">
                <a:solidFill>
                  <a:srgbClr val="CBC4AE"/>
                </a:solidFill>
                <a:latin typeface="Inter" pitchFamily="34" charset="0"/>
                <a:ea typeface="Inter" pitchFamily="34" charset="-122"/>
                <a:cs typeface="Inter" pitchFamily="34" charset="-120"/>
              </a:rPr>
              <a:t>a five-minute read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1463040"/>
            <a:ext cx="10515600" cy="1371600"/>
          </a:xfrm>
          <a:prstGeom prst="rect">
            <a:avLst/>
          </a:prstGeom>
          <a:noFill/>
          <a:ln/>
        </p:spPr>
        <p:txBody>
          <a:bodyPr wrap="square" lIns="0" tIns="0" rIns="0" bIns="0" rtlCol="0" anchor="ctr"/>
          <a:lstStyle/>
          <a:p>
            <a:pPr algn="ctr" indent="0" marL="0">
              <a:buNone/>
            </a:pPr>
            <a:r>
              <a:rPr lang="en-US" sz="8800" b="1" dirty="0">
                <a:solidFill>
                  <a:srgbClr val="C9A227"/>
                </a:solidFill>
                <a:latin typeface="Playfair Display" pitchFamily="34" charset="0"/>
                <a:ea typeface="Playfair Display" pitchFamily="34" charset="-122"/>
                <a:cs typeface="Playfair Display" pitchFamily="34" charset="-120"/>
              </a:rPr>
              <a:t>4:54 PM</a:t>
            </a:r>
            <a:endParaRPr lang="en-US" sz="8800" dirty="0"/>
          </a:p>
        </p:txBody>
      </p:sp>
      <p:sp>
        <p:nvSpPr>
          <p:cNvPr id="3" name="Text 1"/>
          <p:cNvSpPr/>
          <p:nvPr/>
        </p:nvSpPr>
        <p:spPr>
          <a:xfrm>
            <a:off x="1097280" y="3291840"/>
            <a:ext cx="9966960" cy="640080"/>
          </a:xfrm>
          <a:prstGeom prst="rect">
            <a:avLst/>
          </a:prstGeom>
          <a:noFill/>
          <a:ln/>
        </p:spPr>
        <p:txBody>
          <a:bodyPr wrap="square" lIns="0" tIns="0" rIns="0" bIns="0" rtlCol="0" anchor="ctr"/>
          <a:lstStyle/>
          <a:p>
            <a:pPr algn="ctr" indent="0" marL="0">
              <a:buNone/>
            </a:pPr>
            <a:r>
              <a:rPr lang="en-US" sz="2600" dirty="0">
                <a:solidFill>
                  <a:srgbClr val="F7F3E9"/>
                </a:solidFill>
                <a:latin typeface="Playfair Display" pitchFamily="34" charset="0"/>
                <a:ea typeface="Playfair Display" pitchFamily="34" charset="-122"/>
                <a:cs typeface="Playfair Display" pitchFamily="34" charset="-120"/>
              </a:rPr>
              <a:t>Her first briefing arrives before you leave the room.</a:t>
            </a:r>
            <a:endParaRPr lang="en-US" sz="2600" dirty="0"/>
          </a:p>
        </p:txBody>
      </p:sp>
      <p:sp>
        <p:nvSpPr>
          <p:cNvPr id="4" name="Text 2"/>
          <p:cNvSpPr/>
          <p:nvPr/>
        </p:nvSpPr>
        <p:spPr>
          <a:xfrm>
            <a:off x="1371600" y="4206240"/>
            <a:ext cx="9418320" cy="548640"/>
          </a:xfrm>
          <a:prstGeom prst="rect">
            <a:avLst/>
          </a:prstGeom>
          <a:noFill/>
          <a:ln/>
        </p:spPr>
        <p:txBody>
          <a:bodyPr wrap="square" lIns="0" tIns="0" rIns="0" bIns="0" rtlCol="0" anchor="ctr"/>
          <a:lstStyle/>
          <a:p>
            <a:pPr algn="ctr" indent="0" marL="0">
              <a:buNone/>
            </a:pPr>
            <a:r>
              <a:rPr lang="en-US" sz="1400" i="1" dirty="0">
                <a:solidFill>
                  <a:srgbClr val="CBC4AE"/>
                </a:solidFill>
                <a:latin typeface="Inter" pitchFamily="34" charset="0"/>
                <a:ea typeface="Inter" pitchFamily="34" charset="-122"/>
                <a:cs typeface="Inter" pitchFamily="34" charset="-120"/>
              </a:rPr>
              <a:t>The trick: Claude never emails you. Your calendar does. The briefing lands from a sender you already trust.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640080"/>
            <a:ext cx="91440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BACKUP PLANS · WHEN DEMOS MEET REALITY</a:t>
            </a:r>
            <a:endParaRPr lang="en-US" sz="1200" dirty="0"/>
          </a:p>
        </p:txBody>
      </p:sp>
      <p:sp>
        <p:nvSpPr>
          <p:cNvPr id="3" name="Text 1"/>
          <p:cNvSpPr/>
          <p:nvPr/>
        </p:nvSpPr>
        <p:spPr>
          <a:xfrm>
            <a:off x="822960" y="1051560"/>
            <a:ext cx="10515600" cy="685800"/>
          </a:xfrm>
          <a:prstGeom prst="rect">
            <a:avLst/>
          </a:prstGeom>
          <a:noFill/>
          <a:ln/>
        </p:spPr>
        <p:txBody>
          <a:bodyPr wrap="square" lIns="0" tIns="0" rIns="0" bIns="0" rtlCol="0" anchor="ctr"/>
          <a:lstStyle/>
          <a:p>
            <a:pPr indent="0" marL="0">
              <a:buNone/>
            </a:pPr>
            <a:r>
              <a:rPr lang="en-US" sz="3000" b="1" dirty="0">
                <a:solidFill>
                  <a:srgbClr val="F7F3E9"/>
                </a:solidFill>
                <a:latin typeface="Playfair Display" pitchFamily="34" charset="0"/>
                <a:ea typeface="Playfair Display" pitchFamily="34" charset="-122"/>
                <a:cs typeface="Playfair Display" pitchFamily="34" charset="-120"/>
              </a:rPr>
              <a:t>Nothing today depends on luck.</a:t>
            </a:r>
            <a:endParaRPr lang="en-US" sz="3000" dirty="0"/>
          </a:p>
        </p:txBody>
      </p:sp>
      <p:sp>
        <p:nvSpPr>
          <p:cNvPr id="4" name="Text 2"/>
          <p:cNvSpPr/>
          <p:nvPr/>
        </p:nvSpPr>
        <p:spPr>
          <a:xfrm>
            <a:off x="822960" y="2148840"/>
            <a:ext cx="777240" cy="731520"/>
          </a:xfrm>
          <a:prstGeom prst="rect">
            <a:avLst/>
          </a:prstGeom>
          <a:noFill/>
          <a:ln/>
        </p:spPr>
        <p:txBody>
          <a:bodyPr wrap="square" lIns="0" tIns="0" rIns="0" bIns="0" rtlCol="0" anchor="ctr"/>
          <a:lstStyle/>
          <a:p>
            <a:pPr indent="0" marL="0">
              <a:buNone/>
            </a:pPr>
            <a:r>
              <a:rPr lang="en-US" sz="3000" b="1" dirty="0">
                <a:solidFill>
                  <a:srgbClr val="C9A227"/>
                </a:solidFill>
                <a:latin typeface="Playfair Display" pitchFamily="34" charset="0"/>
                <a:ea typeface="Playfair Display" pitchFamily="34" charset="-122"/>
                <a:cs typeface="Playfair Display" pitchFamily="34" charset="-120"/>
              </a:rPr>
              <a:t>01</a:t>
            </a:r>
            <a:endParaRPr lang="en-US" sz="3000" dirty="0"/>
          </a:p>
        </p:txBody>
      </p:sp>
      <p:sp>
        <p:nvSpPr>
          <p:cNvPr id="5" name="Text 3"/>
          <p:cNvSpPr/>
          <p:nvPr/>
        </p:nvSpPr>
        <p:spPr>
          <a:xfrm>
            <a:off x="1691640" y="2148840"/>
            <a:ext cx="9601200" cy="1097280"/>
          </a:xfrm>
          <a:prstGeom prst="rect">
            <a:avLst/>
          </a:prstGeom>
          <a:noFill/>
          <a:ln/>
        </p:spPr>
        <p:txBody>
          <a:bodyPr wrap="square" lIns="0" tIns="0" rIns="0" bIns="0" rtlCol="0" anchor="t"/>
          <a:lstStyle/>
          <a:p>
            <a:pPr indent="0" marL="0">
              <a:spcAft>
                <a:spcPts val="400"/>
              </a:spcAft>
              <a:buNone/>
            </a:pPr>
            <a:r>
              <a:rPr lang="en-US" sz="1800" b="1" dirty="0">
                <a:solidFill>
                  <a:srgbClr val="F7F3E9"/>
                </a:solidFill>
                <a:latin typeface="Playfair Display" pitchFamily="34" charset="0"/>
                <a:ea typeface="Playfair Display" pitchFamily="34" charset="-122"/>
                <a:cs typeface="Playfair Display" pitchFamily="34" charset="-120"/>
              </a:rPr>
              <a:t>Wi-Fi dies</a:t>
            </a:r>
            <a:endParaRPr lang="en-US" sz="1800" dirty="0"/>
          </a:p>
          <a:p>
            <a:pPr indent="0" marL="0">
              <a:buNone/>
            </a:pPr>
            <a:r>
              <a:rPr lang="en-US" sz="1350" dirty="0">
                <a:solidFill>
                  <a:srgbClr val="CBC4AE"/>
                </a:solidFill>
                <a:latin typeface="Inter" pitchFamily="34" charset="0"/>
                <a:ea typeface="Inter" pitchFamily="34" charset="-122"/>
                <a:cs typeface="Inter" pitchFamily="34" charset="-120"/>
              </a:rPr>
              <a:t>Hotspot is already on the counter. Network and password are on your Wi-Fi card. Reconnect, carry on.</a:t>
            </a:r>
            <a:endParaRPr lang="en-US" sz="1800" dirty="0"/>
          </a:p>
        </p:txBody>
      </p:sp>
      <p:sp>
        <p:nvSpPr>
          <p:cNvPr id="6" name="Text 4"/>
          <p:cNvSpPr/>
          <p:nvPr/>
        </p:nvSpPr>
        <p:spPr>
          <a:xfrm>
            <a:off x="822960" y="3337560"/>
            <a:ext cx="777240" cy="731520"/>
          </a:xfrm>
          <a:prstGeom prst="rect">
            <a:avLst/>
          </a:prstGeom>
          <a:noFill/>
          <a:ln/>
        </p:spPr>
        <p:txBody>
          <a:bodyPr wrap="square" lIns="0" tIns="0" rIns="0" bIns="0" rtlCol="0" anchor="ctr"/>
          <a:lstStyle/>
          <a:p>
            <a:pPr indent="0" marL="0">
              <a:buNone/>
            </a:pPr>
            <a:r>
              <a:rPr lang="en-US" sz="3000" b="1" dirty="0">
                <a:solidFill>
                  <a:srgbClr val="C9A227"/>
                </a:solidFill>
                <a:latin typeface="Playfair Display" pitchFamily="34" charset="0"/>
                <a:ea typeface="Playfair Display" pitchFamily="34" charset="-122"/>
                <a:cs typeface="Playfair Display" pitchFamily="34" charset="-120"/>
              </a:rPr>
              <a:t>02</a:t>
            </a:r>
            <a:endParaRPr lang="en-US" sz="3000" dirty="0"/>
          </a:p>
        </p:txBody>
      </p:sp>
      <p:sp>
        <p:nvSpPr>
          <p:cNvPr id="7" name="Text 5"/>
          <p:cNvSpPr/>
          <p:nvPr/>
        </p:nvSpPr>
        <p:spPr>
          <a:xfrm>
            <a:off x="1691640" y="3337560"/>
            <a:ext cx="9601200" cy="1097280"/>
          </a:xfrm>
          <a:prstGeom prst="rect">
            <a:avLst/>
          </a:prstGeom>
          <a:noFill/>
          <a:ln/>
        </p:spPr>
        <p:txBody>
          <a:bodyPr wrap="square" lIns="0" tIns="0" rIns="0" bIns="0" rtlCol="0" anchor="t"/>
          <a:lstStyle/>
          <a:p>
            <a:pPr indent="0" marL="0">
              <a:spcAft>
                <a:spcPts val="400"/>
              </a:spcAft>
              <a:buNone/>
            </a:pPr>
            <a:r>
              <a:rPr lang="en-US" sz="1800" b="1" dirty="0">
                <a:solidFill>
                  <a:srgbClr val="F7F3E9"/>
                </a:solidFill>
                <a:latin typeface="Playfair Display" pitchFamily="34" charset="0"/>
                <a:ea typeface="Playfair Display" pitchFamily="34" charset="-122"/>
                <a:cs typeface="Playfair Display" pitchFamily="34" charset="-120"/>
              </a:rPr>
              <a:t>A connector balks</a:t>
            </a:r>
            <a:endParaRPr lang="en-US" sz="1800" dirty="0"/>
          </a:p>
          <a:p>
            <a:pPr indent="0" marL="0">
              <a:buNone/>
            </a:pPr>
            <a:r>
              <a:rPr lang="en-US" sz="1350" dirty="0">
                <a:solidFill>
                  <a:srgbClr val="CBC4AE"/>
                </a:solidFill>
                <a:latin typeface="Inter" pitchFamily="34" charset="0"/>
                <a:ea typeface="Inter" pitchFamily="34" charset="-122"/>
                <a:cs typeface="Inter" pitchFamily="34" charset="-120"/>
              </a:rPr>
              <a:t>Disconnect, reconnect, and check the account. Nine times out of ten it’s the personal address instead of work.</a:t>
            </a:r>
            <a:endParaRPr lang="en-US" sz="1800" dirty="0"/>
          </a:p>
        </p:txBody>
      </p:sp>
      <p:sp>
        <p:nvSpPr>
          <p:cNvPr id="8" name="Text 6"/>
          <p:cNvSpPr/>
          <p:nvPr/>
        </p:nvSpPr>
        <p:spPr>
          <a:xfrm>
            <a:off x="822960" y="4526280"/>
            <a:ext cx="777240" cy="731520"/>
          </a:xfrm>
          <a:prstGeom prst="rect">
            <a:avLst/>
          </a:prstGeom>
          <a:noFill/>
          <a:ln/>
        </p:spPr>
        <p:txBody>
          <a:bodyPr wrap="square" lIns="0" tIns="0" rIns="0" bIns="0" rtlCol="0" anchor="ctr"/>
          <a:lstStyle/>
          <a:p>
            <a:pPr indent="0" marL="0">
              <a:buNone/>
            </a:pPr>
            <a:r>
              <a:rPr lang="en-US" sz="3000" b="1" dirty="0">
                <a:solidFill>
                  <a:srgbClr val="C9A227"/>
                </a:solidFill>
                <a:latin typeface="Playfair Display" pitchFamily="34" charset="0"/>
                <a:ea typeface="Playfair Display" pitchFamily="34" charset="-122"/>
                <a:cs typeface="Playfair Display" pitchFamily="34" charset="-120"/>
              </a:rPr>
              <a:t>03</a:t>
            </a:r>
            <a:endParaRPr lang="en-US" sz="3000" dirty="0"/>
          </a:p>
        </p:txBody>
      </p:sp>
      <p:sp>
        <p:nvSpPr>
          <p:cNvPr id="9" name="Text 7"/>
          <p:cNvSpPr/>
          <p:nvPr/>
        </p:nvSpPr>
        <p:spPr>
          <a:xfrm>
            <a:off x="1691640" y="4526280"/>
            <a:ext cx="9601200" cy="1097280"/>
          </a:xfrm>
          <a:prstGeom prst="rect">
            <a:avLst/>
          </a:prstGeom>
          <a:noFill/>
          <a:ln/>
        </p:spPr>
        <p:txBody>
          <a:bodyPr wrap="square" lIns="0" tIns="0" rIns="0" bIns="0" rtlCol="0" anchor="t"/>
          <a:lstStyle/>
          <a:p>
            <a:pPr indent="0" marL="0">
              <a:spcAft>
                <a:spcPts val="400"/>
              </a:spcAft>
              <a:buNone/>
            </a:pPr>
            <a:r>
              <a:rPr lang="en-US" sz="1800" b="1" dirty="0">
                <a:solidFill>
                  <a:srgbClr val="F7F3E9"/>
                </a:solidFill>
                <a:latin typeface="Playfair Display" pitchFamily="34" charset="0"/>
                <a:ea typeface="Playfair Display" pitchFamily="34" charset="-122"/>
                <a:cs typeface="Playfair Display" pitchFamily="34" charset="-120"/>
              </a:rPr>
              <a:t>The network is truly gone</a:t>
            </a:r>
            <a:endParaRPr lang="en-US" sz="1800" dirty="0"/>
          </a:p>
          <a:p>
            <a:pPr indent="0" marL="0">
              <a:buNone/>
            </a:pPr>
            <a:r>
              <a:rPr lang="en-US" sz="1350" dirty="0">
                <a:solidFill>
                  <a:srgbClr val="CBC4AE"/>
                </a:solidFill>
                <a:latin typeface="Inter" pitchFamily="34" charset="0"/>
                <a:ea typeface="Inter" pitchFamily="34" charset="-122"/>
                <a:cs typeface="Inter" pitchFamily="34" charset="-120"/>
              </a:rPr>
              <a:t>Denise switches to pre-made screenshots of every step and the walkthrough continues. You finish the setup tonight at home.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640080"/>
            <a:ext cx="73152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THE RECAP</a:t>
            </a:r>
            <a:endParaRPr lang="en-US" sz="1200" dirty="0"/>
          </a:p>
        </p:txBody>
      </p:sp>
      <p:sp>
        <p:nvSpPr>
          <p:cNvPr id="3" name="Text 1"/>
          <p:cNvSpPr/>
          <p:nvPr/>
        </p:nvSpPr>
        <p:spPr>
          <a:xfrm>
            <a:off x="822960" y="1051560"/>
            <a:ext cx="10515600" cy="731520"/>
          </a:xfrm>
          <a:prstGeom prst="rect">
            <a:avLst/>
          </a:prstGeom>
          <a:noFill/>
          <a:ln/>
        </p:spPr>
        <p:txBody>
          <a:bodyPr wrap="square" lIns="0" tIns="0" rIns="0" bIns="0" rtlCol="0" anchor="ctr"/>
          <a:lstStyle/>
          <a:p>
            <a:pPr indent="0" marL="0">
              <a:buNone/>
            </a:pPr>
            <a:r>
              <a:rPr lang="en-US" sz="3300" b="1" dirty="0">
                <a:solidFill>
                  <a:srgbClr val="F7F3E9"/>
                </a:solidFill>
                <a:latin typeface="Playfair Display" pitchFamily="34" charset="0"/>
                <a:ea typeface="Playfair Display" pitchFamily="34" charset="-122"/>
                <a:cs typeface="Playfair Display" pitchFamily="34" charset="-120"/>
              </a:rPr>
              <a:t>Look at what you just did.</a:t>
            </a:r>
            <a:endParaRPr lang="en-US" sz="3300" dirty="0"/>
          </a:p>
        </p:txBody>
      </p:sp>
      <p:sp>
        <p:nvSpPr>
          <p:cNvPr id="4" name="Text 2"/>
          <p:cNvSpPr/>
          <p:nvPr/>
        </p:nvSpPr>
        <p:spPr>
          <a:xfrm>
            <a:off x="822960" y="2057400"/>
            <a:ext cx="685800" cy="548640"/>
          </a:xfrm>
          <a:prstGeom prst="rect">
            <a:avLst/>
          </a:prstGeom>
          <a:noFill/>
          <a:ln/>
        </p:spPr>
        <p:txBody>
          <a:bodyPr wrap="square" lIns="0" tIns="0" rIns="0" bIns="0" rtlCol="0" anchor="ctr"/>
          <a:lstStyle/>
          <a:p>
            <a:pPr indent="0" marL="0">
              <a:buNone/>
            </a:pPr>
            <a:r>
              <a:rPr lang="en-US" sz="2400" b="1" dirty="0">
                <a:solidFill>
                  <a:srgbClr val="C9A227"/>
                </a:solidFill>
                <a:latin typeface="Playfair Display" pitchFamily="34" charset="0"/>
                <a:ea typeface="Playfair Display" pitchFamily="34" charset="-122"/>
                <a:cs typeface="Playfair Display" pitchFamily="34" charset="-120"/>
              </a:rPr>
              <a:t>01</a:t>
            </a:r>
            <a:endParaRPr lang="en-US" sz="2400" dirty="0"/>
          </a:p>
        </p:txBody>
      </p:sp>
      <p:sp>
        <p:nvSpPr>
          <p:cNvPr id="5" name="Text 3"/>
          <p:cNvSpPr/>
          <p:nvPr/>
        </p:nvSpPr>
        <p:spPr>
          <a:xfrm>
            <a:off x="1600200" y="2103120"/>
            <a:ext cx="9692640" cy="640080"/>
          </a:xfrm>
          <a:prstGeom prst="rect">
            <a:avLst/>
          </a:prstGeom>
          <a:noFill/>
          <a:ln/>
        </p:spPr>
        <p:txBody>
          <a:bodyPr wrap="square" lIns="0" tIns="0" rIns="0" bIns="0" rtlCol="0" anchor="t"/>
          <a:lstStyle/>
          <a:p>
            <a:pPr indent="0" marL="0">
              <a:buNone/>
            </a:pPr>
            <a:r>
              <a:rPr lang="en-US" sz="1800" b="1" dirty="0">
                <a:solidFill>
                  <a:srgbClr val="F7F3E9"/>
                </a:solidFill>
                <a:latin typeface="Playfair Display" pitchFamily="34" charset="0"/>
                <a:ea typeface="Playfair Display" pitchFamily="34" charset="-122"/>
                <a:cs typeface="Playfair Display" pitchFamily="34" charset="-120"/>
              </a:rPr>
              <a:t>Chat   </a:t>
            </a:r>
            <a:pPr indent="0" marL="0">
              <a:buNone/>
            </a:pPr>
            <a:r>
              <a:rPr lang="en-US" sz="1400" dirty="0">
                <a:solidFill>
                  <a:srgbClr val="F4EFE1"/>
                </a:solidFill>
                <a:latin typeface="Inter" pitchFamily="34" charset="0"/>
                <a:ea typeface="Inter" pitchFamily="34" charset="-122"/>
                <a:cs typeface="Inter" pitchFamily="34" charset="-120"/>
              </a:rPr>
              <a:t>You put an AI to work on your real inbox and judged its first draft.</a:t>
            </a:r>
            <a:endParaRPr lang="en-US" sz="1800" dirty="0"/>
          </a:p>
        </p:txBody>
      </p:sp>
      <p:sp>
        <p:nvSpPr>
          <p:cNvPr id="6" name="Text 4"/>
          <p:cNvSpPr/>
          <p:nvPr/>
        </p:nvSpPr>
        <p:spPr>
          <a:xfrm>
            <a:off x="822960" y="2862072"/>
            <a:ext cx="685800" cy="548640"/>
          </a:xfrm>
          <a:prstGeom prst="rect">
            <a:avLst/>
          </a:prstGeom>
          <a:noFill/>
          <a:ln/>
        </p:spPr>
        <p:txBody>
          <a:bodyPr wrap="square" lIns="0" tIns="0" rIns="0" bIns="0" rtlCol="0" anchor="ctr"/>
          <a:lstStyle/>
          <a:p>
            <a:pPr indent="0" marL="0">
              <a:buNone/>
            </a:pPr>
            <a:r>
              <a:rPr lang="en-US" sz="2400" b="1" dirty="0">
                <a:solidFill>
                  <a:srgbClr val="C9A227"/>
                </a:solidFill>
                <a:latin typeface="Playfair Display" pitchFamily="34" charset="0"/>
                <a:ea typeface="Playfair Display" pitchFamily="34" charset="-122"/>
                <a:cs typeface="Playfair Display" pitchFamily="34" charset="-120"/>
              </a:rPr>
              <a:t>02</a:t>
            </a:r>
            <a:endParaRPr lang="en-US" sz="2400" dirty="0"/>
          </a:p>
        </p:txBody>
      </p:sp>
      <p:sp>
        <p:nvSpPr>
          <p:cNvPr id="7" name="Text 5"/>
          <p:cNvSpPr/>
          <p:nvPr/>
        </p:nvSpPr>
        <p:spPr>
          <a:xfrm>
            <a:off x="1600200" y="2907792"/>
            <a:ext cx="9692640" cy="640080"/>
          </a:xfrm>
          <a:prstGeom prst="rect">
            <a:avLst/>
          </a:prstGeom>
          <a:noFill/>
          <a:ln/>
        </p:spPr>
        <p:txBody>
          <a:bodyPr wrap="square" lIns="0" tIns="0" rIns="0" bIns="0" rtlCol="0" anchor="t"/>
          <a:lstStyle/>
          <a:p>
            <a:pPr indent="0" marL="0">
              <a:buNone/>
            </a:pPr>
            <a:r>
              <a:rPr lang="en-US" sz="1800" b="1" dirty="0">
                <a:solidFill>
                  <a:srgbClr val="F7F3E9"/>
                </a:solidFill>
                <a:latin typeface="Playfair Display" pitchFamily="34" charset="0"/>
                <a:ea typeface="Playfair Display" pitchFamily="34" charset="-122"/>
                <a:cs typeface="Playfair Display" pitchFamily="34" charset="-120"/>
              </a:rPr>
              <a:t>Project   </a:t>
            </a:r>
            <a:pPr indent="0" marL="0">
              <a:buNone/>
            </a:pPr>
            <a:r>
              <a:rPr lang="en-US" sz="1400" dirty="0">
                <a:solidFill>
                  <a:srgbClr val="F4EFE1"/>
                </a:solidFill>
                <a:latin typeface="Inter" pitchFamily="34" charset="0"/>
                <a:ea typeface="Inter" pitchFamily="34" charset="-122"/>
                <a:cs typeface="Inter" pitchFamily="34" charset="-120"/>
              </a:rPr>
              <a:t>You wrote your rules once. Triage is now one sentence a day.</a:t>
            </a:r>
            <a:endParaRPr lang="en-US" sz="1800" dirty="0"/>
          </a:p>
        </p:txBody>
      </p:sp>
      <p:sp>
        <p:nvSpPr>
          <p:cNvPr id="8" name="Text 6"/>
          <p:cNvSpPr/>
          <p:nvPr/>
        </p:nvSpPr>
        <p:spPr>
          <a:xfrm>
            <a:off x="822960" y="3666744"/>
            <a:ext cx="685800" cy="548640"/>
          </a:xfrm>
          <a:prstGeom prst="rect">
            <a:avLst/>
          </a:prstGeom>
          <a:noFill/>
          <a:ln/>
        </p:spPr>
        <p:txBody>
          <a:bodyPr wrap="square" lIns="0" tIns="0" rIns="0" bIns="0" rtlCol="0" anchor="ctr"/>
          <a:lstStyle/>
          <a:p>
            <a:pPr indent="0" marL="0">
              <a:buNone/>
            </a:pPr>
            <a:r>
              <a:rPr lang="en-US" sz="2400" b="1" dirty="0">
                <a:solidFill>
                  <a:srgbClr val="C9A227"/>
                </a:solidFill>
                <a:latin typeface="Playfair Display" pitchFamily="34" charset="0"/>
                <a:ea typeface="Playfair Display" pitchFamily="34" charset="-122"/>
                <a:cs typeface="Playfair Display" pitchFamily="34" charset="-120"/>
              </a:rPr>
              <a:t>03</a:t>
            </a:r>
            <a:endParaRPr lang="en-US" sz="2400" dirty="0"/>
          </a:p>
        </p:txBody>
      </p:sp>
      <p:sp>
        <p:nvSpPr>
          <p:cNvPr id="9" name="Text 7"/>
          <p:cNvSpPr/>
          <p:nvPr/>
        </p:nvSpPr>
        <p:spPr>
          <a:xfrm>
            <a:off x="1600200" y="3712464"/>
            <a:ext cx="9692640" cy="640080"/>
          </a:xfrm>
          <a:prstGeom prst="rect">
            <a:avLst/>
          </a:prstGeom>
          <a:noFill/>
          <a:ln/>
        </p:spPr>
        <p:txBody>
          <a:bodyPr wrap="square" lIns="0" tIns="0" rIns="0" bIns="0" rtlCol="0" anchor="t"/>
          <a:lstStyle/>
          <a:p>
            <a:pPr indent="0" marL="0">
              <a:buNone/>
            </a:pPr>
            <a:r>
              <a:rPr lang="en-US" sz="1800" b="1" dirty="0">
                <a:solidFill>
                  <a:srgbClr val="F7F3E9"/>
                </a:solidFill>
                <a:latin typeface="Playfair Display" pitchFamily="34" charset="0"/>
                <a:ea typeface="Playfair Display" pitchFamily="34" charset="-122"/>
                <a:cs typeface="Playfair Display" pitchFamily="34" charset="-120"/>
              </a:rPr>
              <a:t>Skill   </a:t>
            </a:r>
            <a:pPr indent="0" marL="0">
              <a:buNone/>
            </a:pPr>
            <a:r>
              <a:rPr lang="en-US" sz="1400" dirty="0">
                <a:solidFill>
                  <a:srgbClr val="F4EFE1"/>
                </a:solidFill>
                <a:latin typeface="Inter" pitchFamily="34" charset="0"/>
                <a:ea typeface="Inter" pitchFamily="34" charset="-122"/>
                <a:cs typeface="Inter" pitchFamily="34" charset="-120"/>
              </a:rPr>
              <a:t>Your voice is a playbook now. VIP drafts, never sent, always waiting.</a:t>
            </a:r>
            <a:endParaRPr lang="en-US" sz="1800" dirty="0"/>
          </a:p>
        </p:txBody>
      </p:sp>
      <p:sp>
        <p:nvSpPr>
          <p:cNvPr id="10" name="Text 8"/>
          <p:cNvSpPr/>
          <p:nvPr/>
        </p:nvSpPr>
        <p:spPr>
          <a:xfrm>
            <a:off x="822960" y="4471416"/>
            <a:ext cx="685800" cy="548640"/>
          </a:xfrm>
          <a:prstGeom prst="rect">
            <a:avLst/>
          </a:prstGeom>
          <a:noFill/>
          <a:ln/>
        </p:spPr>
        <p:txBody>
          <a:bodyPr wrap="square" lIns="0" tIns="0" rIns="0" bIns="0" rtlCol="0" anchor="ctr"/>
          <a:lstStyle/>
          <a:p>
            <a:pPr indent="0" marL="0">
              <a:buNone/>
            </a:pPr>
            <a:r>
              <a:rPr lang="en-US" sz="2400" b="1" dirty="0">
                <a:solidFill>
                  <a:srgbClr val="C9A227"/>
                </a:solidFill>
                <a:latin typeface="Playfair Display" pitchFamily="34" charset="0"/>
                <a:ea typeface="Playfair Display" pitchFamily="34" charset="-122"/>
                <a:cs typeface="Playfair Display" pitchFamily="34" charset="-120"/>
              </a:rPr>
              <a:t>04</a:t>
            </a:r>
            <a:endParaRPr lang="en-US" sz="2400" dirty="0"/>
          </a:p>
        </p:txBody>
      </p:sp>
      <p:sp>
        <p:nvSpPr>
          <p:cNvPr id="11" name="Text 9"/>
          <p:cNvSpPr/>
          <p:nvPr/>
        </p:nvSpPr>
        <p:spPr>
          <a:xfrm>
            <a:off x="1600200" y="4517136"/>
            <a:ext cx="9692640" cy="640080"/>
          </a:xfrm>
          <a:prstGeom prst="rect">
            <a:avLst/>
          </a:prstGeom>
          <a:noFill/>
          <a:ln/>
        </p:spPr>
        <p:txBody>
          <a:bodyPr wrap="square" lIns="0" tIns="0" rIns="0" bIns="0" rtlCol="0" anchor="t"/>
          <a:lstStyle/>
          <a:p>
            <a:pPr indent="0" marL="0">
              <a:buNone/>
            </a:pPr>
            <a:r>
              <a:rPr lang="en-US" sz="1800" b="1" dirty="0">
                <a:solidFill>
                  <a:srgbClr val="F7F3E9"/>
                </a:solidFill>
                <a:latin typeface="Playfair Display" pitchFamily="34" charset="0"/>
                <a:ea typeface="Playfair Display" pitchFamily="34" charset="-122"/>
                <a:cs typeface="Playfair Display" pitchFamily="34" charset="-120"/>
              </a:rPr>
              <a:t>Agent   </a:t>
            </a:r>
            <a:pPr indent="0" marL="0">
              <a:buNone/>
            </a:pPr>
            <a:r>
              <a:rPr lang="en-US" sz="1400" dirty="0">
                <a:solidFill>
                  <a:srgbClr val="F4EFE1"/>
                </a:solidFill>
                <a:latin typeface="Inter" pitchFamily="34" charset="0"/>
                <a:ea typeface="Inter" pitchFamily="34" charset="-122"/>
                <a:cs typeface="Inter" pitchFamily="34" charset="-120"/>
              </a:rPr>
              <a:t>She runs without you. The briefing finds you at 4:54.</a:t>
            </a:r>
            <a:endParaRPr lang="en-US" sz="1800" dirty="0"/>
          </a:p>
        </p:txBody>
      </p:sp>
      <p:sp>
        <p:nvSpPr>
          <p:cNvPr id="12" name="Text 10"/>
          <p:cNvSpPr/>
          <p:nvPr/>
        </p:nvSpPr>
        <p:spPr>
          <a:xfrm>
            <a:off x="822960" y="5486400"/>
            <a:ext cx="10515600" cy="548640"/>
          </a:xfrm>
          <a:prstGeom prst="rect">
            <a:avLst/>
          </a:prstGeom>
          <a:noFill/>
          <a:ln/>
        </p:spPr>
        <p:txBody>
          <a:bodyPr wrap="square" lIns="0" tIns="0" rIns="0" bIns="0" rtlCol="0" anchor="ctr"/>
          <a:lstStyle/>
          <a:p>
            <a:pPr indent="0" marL="0">
              <a:buNone/>
            </a:pPr>
            <a:r>
              <a:rPr lang="en-US" sz="1600" i="1" dirty="0">
                <a:solidFill>
                  <a:srgbClr val="E7C766"/>
                </a:solidFill>
                <a:latin typeface="Playfair Display" pitchFamily="34" charset="0"/>
                <a:ea typeface="Playfair Display" pitchFamily="34" charset="-122"/>
                <a:cs typeface="Playfair Display" pitchFamily="34" charset="-120"/>
              </a:rPr>
              <a:t>Four muscles you now own: conversation, memory, playbook, schedule. They transfer to every AI tool you will ever touch.</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02920"/>
            <a:ext cx="5486400" cy="292608"/>
          </a:xfrm>
          <a:prstGeom prst="rect">
            <a:avLst/>
          </a:prstGeom>
          <a:noFill/>
          <a:ln/>
        </p:spPr>
        <p:txBody>
          <a:bodyPr wrap="square" lIns="0" tIns="0" rIns="0" bIns="0" rtlCol="0" anchor="ctr"/>
          <a:lstStyle/>
          <a:p>
            <a:pPr algn="l" indent="0" marL="0">
              <a:buNone/>
            </a:pPr>
            <a:r>
              <a:rPr lang="en-US" sz="1200" b="1" spc="400" kern="0" dirty="0">
                <a:solidFill>
                  <a:srgbClr val="E7C766"/>
                </a:solidFill>
                <a:latin typeface="Inter" pitchFamily="34" charset="0"/>
                <a:ea typeface="Inter" pitchFamily="34" charset="-122"/>
                <a:cs typeface="Inter" pitchFamily="34" charset="-120"/>
              </a:rPr>
              <a:t>KEEP GOING</a:t>
            </a:r>
            <a:endParaRPr lang="en-US" sz="1200" dirty="0"/>
          </a:p>
        </p:txBody>
      </p:sp>
      <p:sp>
        <p:nvSpPr>
          <p:cNvPr id="3" name="Shape 1"/>
          <p:cNvSpPr/>
          <p:nvPr/>
        </p:nvSpPr>
        <p:spPr>
          <a:xfrm>
            <a:off x="822960" y="914400"/>
            <a:ext cx="6583680" cy="1463040"/>
          </a:xfrm>
          <a:prstGeom prst="roundRect">
            <a:avLst>
              <a:gd name="adj" fmla="val 2500"/>
            </a:avLst>
          </a:prstGeom>
          <a:solidFill>
            <a:srgbClr val="F7F3E9"/>
          </a:solidFill>
          <a:ln/>
          <a:effectLst>
            <a:outerShdw sx="100000" sy="100000" kx="0" ky="0" algn="bl" rotWithShape="0" blurRad="177800" dist="63500" dir="5400000">
              <a:srgbClr val="000000">
                <a:alpha val="35000"/>
              </a:srgbClr>
            </a:outerShdw>
          </a:effectLst>
        </p:spPr>
      </p:sp>
      <p:sp>
        <p:nvSpPr>
          <p:cNvPr id="4" name="Text 2"/>
          <p:cNvSpPr/>
          <p:nvPr/>
        </p:nvSpPr>
        <p:spPr>
          <a:xfrm>
            <a:off x="1078992" y="914400"/>
            <a:ext cx="6071616" cy="1463040"/>
          </a:xfrm>
          <a:prstGeom prst="rect">
            <a:avLst/>
          </a:prstGeom>
          <a:noFill/>
          <a:ln/>
        </p:spPr>
        <p:txBody>
          <a:bodyPr wrap="square" lIns="0" tIns="0" rIns="0" bIns="0" rtlCol="0" anchor="ctr"/>
          <a:lstStyle/>
          <a:p>
            <a:pPr algn="l" indent="0" marL="0">
              <a:spcAft>
                <a:spcPts val="800"/>
              </a:spcAft>
              <a:buNone/>
            </a:pPr>
            <a:r>
              <a:rPr lang="en-US" sz="1600" i="1" dirty="0">
                <a:solidFill>
                  <a:srgbClr val="A31621"/>
                </a:solidFill>
                <a:latin typeface="Playfair Display" pitchFamily="34" charset="0"/>
                <a:ea typeface="Playfair Display" pitchFamily="34" charset="-122"/>
                <a:cs typeface="Playfair Display" pitchFamily="34" charset="-120"/>
              </a:rPr>
              <a:t>“If you were ever lucky enough to have me, you wouldn’t want to share.”</a:t>
            </a:r>
            <a:endParaRPr lang="en-US" sz="1600" dirty="0"/>
          </a:p>
          <a:p>
            <a:pPr algn="l" indent="0" marL="0">
              <a:buNone/>
            </a:pPr>
            <a:r>
              <a:rPr lang="en-US" sz="950" b="1" spc="300" kern="0" dirty="0">
                <a:solidFill>
                  <a:srgbClr val="14213D"/>
                </a:solidFill>
                <a:latin typeface="Inter" pitchFamily="34" charset="0"/>
                <a:ea typeface="Inter" pitchFamily="34" charset="-122"/>
                <a:cs typeface="Inter" pitchFamily="34" charset="-120"/>
              </a:rPr>
              <a:t>DONNA PAULSEN, SUITS</a:t>
            </a:r>
            <a:endParaRPr lang="en-US" sz="1600" dirty="0"/>
          </a:p>
        </p:txBody>
      </p:sp>
      <p:sp>
        <p:nvSpPr>
          <p:cNvPr id="5" name="Text 3"/>
          <p:cNvSpPr/>
          <p:nvPr/>
        </p:nvSpPr>
        <p:spPr>
          <a:xfrm>
            <a:off x="822960" y="2697480"/>
            <a:ext cx="6583680" cy="548640"/>
          </a:xfrm>
          <a:prstGeom prst="rect">
            <a:avLst/>
          </a:prstGeom>
          <a:noFill/>
          <a:ln/>
        </p:spPr>
        <p:txBody>
          <a:bodyPr wrap="square" lIns="0" tIns="0" rIns="0" bIns="0" rtlCol="0" anchor="ctr"/>
          <a:lstStyle/>
          <a:p>
            <a:pPr indent="0" marL="0">
              <a:buNone/>
            </a:pPr>
            <a:r>
              <a:rPr lang="en-US" sz="2600" b="1" dirty="0">
                <a:solidFill>
                  <a:srgbClr val="F7F3E9"/>
                </a:solidFill>
                <a:latin typeface="Playfair Display" pitchFamily="34" charset="0"/>
                <a:ea typeface="Playfair Display" pitchFamily="34" charset="-122"/>
                <a:cs typeface="Playfair Display" pitchFamily="34" charset="-120"/>
              </a:rPr>
              <a:t>Yours starts tomorrow at 4:54.</a:t>
            </a:r>
            <a:endParaRPr lang="en-US" sz="2600" dirty="0"/>
          </a:p>
        </p:txBody>
      </p:sp>
      <p:sp>
        <p:nvSpPr>
          <p:cNvPr id="6" name="Shape 4"/>
          <p:cNvSpPr/>
          <p:nvPr/>
        </p:nvSpPr>
        <p:spPr>
          <a:xfrm>
            <a:off x="868680" y="3685032"/>
            <a:ext cx="118872" cy="118872"/>
          </a:xfrm>
          <a:prstGeom prst="diamond">
            <a:avLst/>
          </a:prstGeom>
          <a:solidFill>
            <a:srgbClr val="C9A227"/>
          </a:solidFill>
          <a:ln/>
        </p:spPr>
      </p:sp>
      <p:sp>
        <p:nvSpPr>
          <p:cNvPr id="7" name="Text 5"/>
          <p:cNvSpPr/>
          <p:nvPr/>
        </p:nvSpPr>
        <p:spPr>
          <a:xfrm>
            <a:off x="1188720" y="3611880"/>
            <a:ext cx="6035040" cy="411480"/>
          </a:xfrm>
          <a:prstGeom prst="rect">
            <a:avLst/>
          </a:prstGeom>
          <a:noFill/>
          <a:ln/>
        </p:spPr>
        <p:txBody>
          <a:bodyPr wrap="square" lIns="0" tIns="0" rIns="0" bIns="0" rtlCol="0" anchor="t"/>
          <a:lstStyle/>
          <a:p>
            <a:pPr indent="0" marL="0">
              <a:buNone/>
            </a:pPr>
            <a:r>
              <a:rPr lang="en-US" sz="1400" b="1" dirty="0">
                <a:solidFill>
                  <a:srgbClr val="E7C766"/>
                </a:solidFill>
                <a:latin typeface="Inter" pitchFamily="34" charset="0"/>
                <a:ea typeface="Inter" pitchFamily="34" charset="-122"/>
                <a:cs typeface="Inter" pitchFamily="34" charset="-120"/>
              </a:rPr>
              <a:t>Website   </a:t>
            </a:r>
            <a:pPr indent="0" marL="0">
              <a:buNone/>
            </a:pPr>
            <a:r>
              <a:rPr lang="en-US" sz="1400" dirty="0">
                <a:solidFill>
                  <a:srgbClr val="F4EFE1"/>
                </a:solidFill>
                <a:latin typeface="Inter" pitchFamily="34" charset="0"/>
                <a:ea typeface="Inter" pitchFamily="34" charset="-122"/>
                <a:cs typeface="Inter" pitchFamily="34" charset="-120"/>
              </a:rPr>
              <a:t>denisegosnell.ai</a:t>
            </a:r>
            <a:endParaRPr lang="en-US" sz="1400" dirty="0"/>
          </a:p>
        </p:txBody>
      </p:sp>
      <p:sp>
        <p:nvSpPr>
          <p:cNvPr id="8" name="Shape 6"/>
          <p:cNvSpPr/>
          <p:nvPr/>
        </p:nvSpPr>
        <p:spPr>
          <a:xfrm>
            <a:off x="868680" y="4187952"/>
            <a:ext cx="118872" cy="118872"/>
          </a:xfrm>
          <a:prstGeom prst="diamond">
            <a:avLst/>
          </a:prstGeom>
          <a:solidFill>
            <a:srgbClr val="C9A227"/>
          </a:solidFill>
          <a:ln/>
        </p:spPr>
      </p:sp>
      <p:sp>
        <p:nvSpPr>
          <p:cNvPr id="9" name="Text 7"/>
          <p:cNvSpPr/>
          <p:nvPr/>
        </p:nvSpPr>
        <p:spPr>
          <a:xfrm>
            <a:off x="1188720" y="4114800"/>
            <a:ext cx="6035040" cy="411480"/>
          </a:xfrm>
          <a:prstGeom prst="rect">
            <a:avLst/>
          </a:prstGeom>
          <a:noFill/>
          <a:ln/>
        </p:spPr>
        <p:txBody>
          <a:bodyPr wrap="square" lIns="0" tIns="0" rIns="0" bIns="0" rtlCol="0" anchor="t"/>
          <a:lstStyle/>
          <a:p>
            <a:pPr indent="0" marL="0">
              <a:buNone/>
            </a:pPr>
            <a:r>
              <a:rPr lang="en-US" sz="1400" b="1" dirty="0">
                <a:solidFill>
                  <a:srgbClr val="E7C766"/>
                </a:solidFill>
                <a:latin typeface="Inter" pitchFamily="34" charset="0"/>
                <a:ea typeface="Inter" pitchFamily="34" charset="-122"/>
                <a:cs typeface="Inter" pitchFamily="34" charset="-120"/>
              </a:rPr>
              <a:t>Substack   </a:t>
            </a:r>
            <a:pPr indent="0" marL="0">
              <a:buNone/>
            </a:pPr>
            <a:r>
              <a:rPr lang="en-US" sz="1400" dirty="0">
                <a:solidFill>
                  <a:srgbClr val="F4EFE1"/>
                </a:solidFill>
                <a:latin typeface="Inter" pitchFamily="34" charset="0"/>
                <a:ea typeface="Inter" pitchFamily="34" charset="-122"/>
                <a:cs typeface="Inter" pitchFamily="34" charset="-120"/>
              </a:rPr>
              <a:t>substack.com/@denisegosnell</a:t>
            </a:r>
            <a:endParaRPr lang="en-US" sz="1400" dirty="0"/>
          </a:p>
        </p:txBody>
      </p:sp>
      <p:sp>
        <p:nvSpPr>
          <p:cNvPr id="10" name="Shape 8"/>
          <p:cNvSpPr/>
          <p:nvPr/>
        </p:nvSpPr>
        <p:spPr>
          <a:xfrm>
            <a:off x="868680" y="4690872"/>
            <a:ext cx="118872" cy="118872"/>
          </a:xfrm>
          <a:prstGeom prst="diamond">
            <a:avLst/>
          </a:prstGeom>
          <a:solidFill>
            <a:srgbClr val="C9A227"/>
          </a:solidFill>
          <a:ln/>
        </p:spPr>
      </p:sp>
      <p:sp>
        <p:nvSpPr>
          <p:cNvPr id="11" name="Text 9"/>
          <p:cNvSpPr/>
          <p:nvPr/>
        </p:nvSpPr>
        <p:spPr>
          <a:xfrm>
            <a:off x="1188720" y="4617720"/>
            <a:ext cx="6035040" cy="411480"/>
          </a:xfrm>
          <a:prstGeom prst="rect">
            <a:avLst/>
          </a:prstGeom>
          <a:noFill/>
          <a:ln/>
        </p:spPr>
        <p:txBody>
          <a:bodyPr wrap="square" lIns="0" tIns="0" rIns="0" bIns="0" rtlCol="0" anchor="t"/>
          <a:lstStyle/>
          <a:p>
            <a:pPr indent="0" marL="0">
              <a:buNone/>
            </a:pPr>
            <a:r>
              <a:rPr lang="en-US" sz="1400" b="1" dirty="0">
                <a:solidFill>
                  <a:srgbClr val="E7C766"/>
                </a:solidFill>
                <a:latin typeface="Inter" pitchFamily="34" charset="0"/>
                <a:ea typeface="Inter" pitchFamily="34" charset="-122"/>
                <a:cs typeface="Inter" pitchFamily="34" charset="-120"/>
              </a:rPr>
              <a:t>LinkedIn   </a:t>
            </a:r>
            <a:pPr indent="0" marL="0">
              <a:buNone/>
            </a:pPr>
            <a:r>
              <a:rPr lang="en-US" sz="1400" dirty="0">
                <a:solidFill>
                  <a:srgbClr val="F4EFE1"/>
                </a:solidFill>
                <a:latin typeface="Inter" pitchFamily="34" charset="0"/>
                <a:ea typeface="Inter" pitchFamily="34" charset="-122"/>
                <a:cs typeface="Inter" pitchFamily="34" charset="-120"/>
              </a:rPr>
              <a:t>linkedin.com/in/denisekgosnell</a:t>
            </a:r>
            <a:endParaRPr lang="en-US" sz="1400" dirty="0"/>
          </a:p>
        </p:txBody>
      </p:sp>
      <p:sp>
        <p:nvSpPr>
          <p:cNvPr id="12" name="Shape 10"/>
          <p:cNvSpPr/>
          <p:nvPr/>
        </p:nvSpPr>
        <p:spPr>
          <a:xfrm>
            <a:off x="868680" y="5193792"/>
            <a:ext cx="118872" cy="118872"/>
          </a:xfrm>
          <a:prstGeom prst="diamond">
            <a:avLst/>
          </a:prstGeom>
          <a:solidFill>
            <a:srgbClr val="C9A227"/>
          </a:solidFill>
          <a:ln/>
        </p:spPr>
      </p:sp>
      <p:sp>
        <p:nvSpPr>
          <p:cNvPr id="13" name="Text 11"/>
          <p:cNvSpPr/>
          <p:nvPr/>
        </p:nvSpPr>
        <p:spPr>
          <a:xfrm>
            <a:off x="1188720" y="5120640"/>
            <a:ext cx="6035040" cy="411480"/>
          </a:xfrm>
          <a:prstGeom prst="rect">
            <a:avLst/>
          </a:prstGeom>
          <a:noFill/>
          <a:ln/>
        </p:spPr>
        <p:txBody>
          <a:bodyPr wrap="square" lIns="0" tIns="0" rIns="0" bIns="0" rtlCol="0" anchor="t"/>
          <a:lstStyle/>
          <a:p>
            <a:pPr indent="0" marL="0">
              <a:buNone/>
            </a:pPr>
            <a:r>
              <a:rPr lang="en-US" sz="1400" b="1" dirty="0">
                <a:solidFill>
                  <a:srgbClr val="E7C766"/>
                </a:solidFill>
                <a:latin typeface="Inter" pitchFamily="34" charset="0"/>
                <a:ea typeface="Inter" pitchFamily="34" charset="-122"/>
                <a:cs typeface="Inter" pitchFamily="34" charset="-120"/>
              </a:rPr>
              <a:t>Instagram   </a:t>
            </a:r>
            <a:pPr indent="0" marL="0">
              <a:buNone/>
            </a:pPr>
            <a:r>
              <a:rPr lang="en-US" sz="1400" dirty="0">
                <a:solidFill>
                  <a:srgbClr val="F4EFE1"/>
                </a:solidFill>
                <a:latin typeface="Inter" pitchFamily="34" charset="0"/>
                <a:ea typeface="Inter" pitchFamily="34" charset="-122"/>
                <a:cs typeface="Inter" pitchFamily="34" charset="-120"/>
              </a:rPr>
              <a:t>@denisegosnell.ai</a:t>
            </a:r>
            <a:endParaRPr lang="en-US" sz="1400" dirty="0"/>
          </a:p>
        </p:txBody>
      </p:sp>
      <p:sp>
        <p:nvSpPr>
          <p:cNvPr id="14" name="Text 12"/>
          <p:cNvSpPr/>
          <p:nvPr/>
        </p:nvSpPr>
        <p:spPr>
          <a:xfrm>
            <a:off x="822960" y="5760720"/>
            <a:ext cx="6583680" cy="365760"/>
          </a:xfrm>
          <a:prstGeom prst="rect">
            <a:avLst/>
          </a:prstGeom>
          <a:noFill/>
          <a:ln/>
        </p:spPr>
        <p:txBody>
          <a:bodyPr wrap="square" lIns="0" tIns="0" rIns="0" bIns="0" rtlCol="0" anchor="ctr"/>
          <a:lstStyle/>
          <a:p>
            <a:pPr indent="0" marL="0">
              <a:buNone/>
            </a:pPr>
            <a:r>
              <a:rPr lang="en-US" sz="1300" i="1" dirty="0">
                <a:solidFill>
                  <a:srgbClr val="CBC4AE"/>
                </a:solidFill>
                <a:latin typeface="Inter" pitchFamily="34" charset="0"/>
                <a:ea typeface="Inter" pitchFamily="34" charset="-122"/>
                <a:cs typeface="Inter" pitchFamily="34" charset="-120"/>
              </a:rPr>
              <a:t>Questions any time: denise@denisegosnell.ai</a:t>
            </a:r>
            <a:endParaRPr lang="en-US" sz="1300" dirty="0"/>
          </a:p>
        </p:txBody>
      </p:sp>
      <p:sp>
        <p:nvSpPr>
          <p:cNvPr id="15" name="Shape 13"/>
          <p:cNvSpPr/>
          <p:nvPr/>
        </p:nvSpPr>
        <p:spPr>
          <a:xfrm>
            <a:off x="8138160" y="1417320"/>
            <a:ext cx="3108960" cy="3977640"/>
          </a:xfrm>
          <a:prstGeom prst="roundRect">
            <a:avLst>
              <a:gd name="adj" fmla="val 1471"/>
            </a:avLst>
          </a:prstGeom>
          <a:solidFill>
            <a:srgbClr val="1B2742"/>
          </a:solidFill>
          <a:ln w="12700">
            <a:solidFill>
              <a:srgbClr val="595235"/>
            </a:solidFill>
            <a:prstDash val="solid"/>
          </a:ln>
        </p:spPr>
      </p:sp>
      <p:pic>
        <p:nvPicPr>
          <p:cNvPr id="16" name="Image 0" descr="qr.png">    </p:cNvPr>
          <p:cNvPicPr>
            <a:picLocks noChangeAspect="1"/>
          </p:cNvPicPr>
          <p:nvPr/>
        </p:nvPicPr>
        <p:blipFill>
          <a:blip r:embed="rId2"/>
          <a:stretch>
            <a:fillRect/>
          </a:stretch>
        </p:blipFill>
        <p:spPr>
          <a:xfrm>
            <a:off x="8549640" y="1737360"/>
            <a:ext cx="2286000" cy="2286000"/>
          </a:xfrm>
          <a:prstGeom prst="rect">
            <a:avLst/>
          </a:prstGeom>
        </p:spPr>
      </p:pic>
      <p:sp>
        <p:nvSpPr>
          <p:cNvPr id="17" name="Text 14"/>
          <p:cNvSpPr/>
          <p:nvPr/>
        </p:nvSpPr>
        <p:spPr>
          <a:xfrm>
            <a:off x="8229600" y="4160520"/>
            <a:ext cx="2926080" cy="320040"/>
          </a:xfrm>
          <a:prstGeom prst="rect">
            <a:avLst/>
          </a:prstGeom>
          <a:noFill/>
          <a:ln/>
        </p:spPr>
        <p:txBody>
          <a:bodyPr wrap="square" lIns="0" tIns="0" rIns="0" bIns="0" rtlCol="0" anchor="ctr"/>
          <a:lstStyle/>
          <a:p>
            <a:pPr algn="ctr" indent="0" marL="0">
              <a:buNone/>
            </a:pPr>
            <a:r>
              <a:rPr lang="en-US" sz="1150" dirty="0">
                <a:solidFill>
                  <a:srgbClr val="E7C766"/>
                </a:solidFill>
                <a:latin typeface="Courier New" pitchFamily="34" charset="0"/>
                <a:ea typeface="Courier New" pitchFamily="34" charset="-122"/>
                <a:cs typeface="Courier New" pitchFamily="34" charset="-120"/>
              </a:rPr>
              <a:t>denisekgosnell.github.io/Donna</a:t>
            </a:r>
            <a:endParaRPr lang="en-US" sz="1150" dirty="0"/>
          </a:p>
        </p:txBody>
      </p:sp>
      <p:sp>
        <p:nvSpPr>
          <p:cNvPr id="18" name="Text 15"/>
          <p:cNvSpPr/>
          <p:nvPr/>
        </p:nvSpPr>
        <p:spPr>
          <a:xfrm>
            <a:off x="8321040" y="4526280"/>
            <a:ext cx="2743200" cy="731520"/>
          </a:xfrm>
          <a:prstGeom prst="rect">
            <a:avLst/>
          </a:prstGeom>
          <a:noFill/>
          <a:ln/>
        </p:spPr>
        <p:txBody>
          <a:bodyPr wrap="square" lIns="0" tIns="0" rIns="0" bIns="0" rtlCol="0" anchor="ctr"/>
          <a:lstStyle/>
          <a:p>
            <a:pPr algn="ctr" indent="0" marL="0">
              <a:buNone/>
            </a:pPr>
            <a:r>
              <a:rPr lang="en-US" sz="1100" i="1" dirty="0">
                <a:solidFill>
                  <a:srgbClr val="CBC4AE"/>
                </a:solidFill>
                <a:latin typeface="Inter" pitchFamily="34" charset="0"/>
                <a:ea typeface="Inter" pitchFamily="34" charset="-122"/>
                <a:cs typeface="Inter" pitchFamily="34" charset="-120"/>
              </a:rPr>
              <a:t>The site stays up: every prompt, every fallback, the skill itself.</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914400"/>
            <a:ext cx="10515600" cy="292608"/>
          </a:xfrm>
          <a:prstGeom prst="rect">
            <a:avLst/>
          </a:prstGeom>
          <a:noFill/>
          <a:ln/>
        </p:spPr>
        <p:txBody>
          <a:bodyPr wrap="square" lIns="0" tIns="0" rIns="0" bIns="0" rtlCol="0" anchor="ctr"/>
          <a:lstStyle/>
          <a:p>
            <a:pPr algn="ctr" indent="0" marL="0">
              <a:buNone/>
            </a:pPr>
            <a:r>
              <a:rPr lang="en-US" sz="1200" b="1" spc="400" kern="0" dirty="0">
                <a:solidFill>
                  <a:srgbClr val="E7C766"/>
                </a:solidFill>
                <a:latin typeface="Inter" pitchFamily="34" charset="0"/>
                <a:ea typeface="Inter" pitchFamily="34" charset="-122"/>
                <a:cs typeface="Inter" pitchFamily="34" charset="-120"/>
              </a:rPr>
              <a:t>BEFORE YOU LEAVE</a:t>
            </a:r>
            <a:endParaRPr lang="en-US" sz="1200" dirty="0"/>
          </a:p>
        </p:txBody>
      </p:sp>
      <p:sp>
        <p:nvSpPr>
          <p:cNvPr id="3" name="Text 1"/>
          <p:cNvSpPr/>
          <p:nvPr/>
        </p:nvSpPr>
        <p:spPr>
          <a:xfrm>
            <a:off x="822960" y="1371600"/>
            <a:ext cx="10515600" cy="1005840"/>
          </a:xfrm>
          <a:prstGeom prst="rect">
            <a:avLst/>
          </a:prstGeom>
          <a:noFill/>
          <a:ln/>
        </p:spPr>
        <p:txBody>
          <a:bodyPr wrap="square" lIns="0" tIns="0" rIns="0" bIns="0" rtlCol="0" anchor="ctr"/>
          <a:lstStyle/>
          <a:p>
            <a:pPr algn="ctr" indent="0" marL="0">
              <a:buNone/>
            </a:pPr>
            <a:r>
              <a:rPr lang="en-US" sz="4800" b="1" dirty="0">
                <a:solidFill>
                  <a:srgbClr val="F7F3E9"/>
                </a:solidFill>
                <a:latin typeface="Playfair Display" pitchFamily="34" charset="0"/>
                <a:ea typeface="Playfair Display" pitchFamily="34" charset="-122"/>
                <a:cs typeface="Playfair Display" pitchFamily="34" charset="-120"/>
              </a:rPr>
              <a:t>Tell me the truth.</a:t>
            </a:r>
            <a:endParaRPr lang="en-US" sz="4800" dirty="0"/>
          </a:p>
        </p:txBody>
      </p:sp>
      <p:sp>
        <p:nvSpPr>
          <p:cNvPr id="4" name="Text 2"/>
          <p:cNvSpPr/>
          <p:nvPr/>
        </p:nvSpPr>
        <p:spPr>
          <a:xfrm>
            <a:off x="1371600" y="2606040"/>
            <a:ext cx="9418320" cy="457200"/>
          </a:xfrm>
          <a:prstGeom prst="rect">
            <a:avLst/>
          </a:prstGeom>
          <a:noFill/>
          <a:ln/>
        </p:spPr>
        <p:txBody>
          <a:bodyPr wrap="square" lIns="0" tIns="0" rIns="0" bIns="0" rtlCol="0" anchor="ctr"/>
          <a:lstStyle/>
          <a:p>
            <a:pPr algn="ctr" indent="0" marL="0">
              <a:buNone/>
            </a:pPr>
            <a:r>
              <a:rPr lang="en-US" sz="1600" dirty="0">
                <a:solidFill>
                  <a:srgbClr val="F4EFE1"/>
                </a:solidFill>
                <a:latin typeface="Inter" pitchFamily="34" charset="0"/>
                <a:ea typeface="Inter" pitchFamily="34" charset="-122"/>
                <a:cs typeface="Inter" pitchFamily="34" charset="-120"/>
              </a:rPr>
              <a:t>You were the dry run. San Antonio and Charleston get the version you shape right now.</a:t>
            </a:r>
            <a:endParaRPr lang="en-US" sz="1600" dirty="0"/>
          </a:p>
        </p:txBody>
      </p:sp>
      <p:sp>
        <p:nvSpPr>
          <p:cNvPr id="5" name="Shape 3"/>
          <p:cNvSpPr/>
          <p:nvPr/>
        </p:nvSpPr>
        <p:spPr>
          <a:xfrm>
            <a:off x="1051560" y="3429000"/>
            <a:ext cx="3246120" cy="1051560"/>
          </a:xfrm>
          <a:prstGeom prst="roundRect">
            <a:avLst>
              <a:gd name="adj" fmla="val 5217"/>
            </a:avLst>
          </a:prstGeom>
          <a:solidFill>
            <a:srgbClr val="1B2742"/>
          </a:solidFill>
          <a:ln w="12700">
            <a:solidFill>
              <a:srgbClr val="595235"/>
            </a:solidFill>
            <a:prstDash val="solid"/>
          </a:ln>
        </p:spPr>
      </p:sp>
      <p:sp>
        <p:nvSpPr>
          <p:cNvPr id="6" name="Text 4"/>
          <p:cNvSpPr/>
          <p:nvPr/>
        </p:nvSpPr>
        <p:spPr>
          <a:xfrm>
            <a:off x="1234440" y="3429000"/>
            <a:ext cx="2880360" cy="1051560"/>
          </a:xfrm>
          <a:prstGeom prst="rect">
            <a:avLst/>
          </a:prstGeom>
          <a:noFill/>
          <a:ln/>
        </p:spPr>
        <p:txBody>
          <a:bodyPr wrap="square" lIns="0" tIns="0" rIns="0" bIns="0" rtlCol="0" anchor="ctr"/>
          <a:lstStyle/>
          <a:p>
            <a:pPr algn="ctr" indent="0" marL="0">
              <a:buNone/>
            </a:pPr>
            <a:r>
              <a:rPr lang="en-US" sz="1700" dirty="0">
                <a:solidFill>
                  <a:srgbClr val="F7F3E9"/>
                </a:solidFill>
                <a:latin typeface="Playfair Display" pitchFamily="34" charset="0"/>
                <a:ea typeface="Playfair Display" pitchFamily="34" charset="-122"/>
                <a:cs typeface="Playfair Display" pitchFamily="34" charset="-120"/>
              </a:rPr>
              <a:t>Where did I lose you?</a:t>
            </a:r>
            <a:endParaRPr lang="en-US" sz="1700" dirty="0"/>
          </a:p>
        </p:txBody>
      </p:sp>
      <p:sp>
        <p:nvSpPr>
          <p:cNvPr id="7" name="Shape 5"/>
          <p:cNvSpPr/>
          <p:nvPr/>
        </p:nvSpPr>
        <p:spPr>
          <a:xfrm>
            <a:off x="4480560" y="3429000"/>
            <a:ext cx="3246120" cy="1051560"/>
          </a:xfrm>
          <a:prstGeom prst="roundRect">
            <a:avLst>
              <a:gd name="adj" fmla="val 5217"/>
            </a:avLst>
          </a:prstGeom>
          <a:solidFill>
            <a:srgbClr val="1B2742"/>
          </a:solidFill>
          <a:ln w="12700">
            <a:solidFill>
              <a:srgbClr val="595235"/>
            </a:solidFill>
            <a:prstDash val="solid"/>
          </a:ln>
        </p:spPr>
      </p:sp>
      <p:sp>
        <p:nvSpPr>
          <p:cNvPr id="8" name="Text 6"/>
          <p:cNvSpPr/>
          <p:nvPr/>
        </p:nvSpPr>
        <p:spPr>
          <a:xfrm>
            <a:off x="4663440" y="3429000"/>
            <a:ext cx="2880360" cy="1051560"/>
          </a:xfrm>
          <a:prstGeom prst="rect">
            <a:avLst/>
          </a:prstGeom>
          <a:noFill/>
          <a:ln/>
        </p:spPr>
        <p:txBody>
          <a:bodyPr wrap="square" lIns="0" tIns="0" rIns="0" bIns="0" rtlCol="0" anchor="ctr"/>
          <a:lstStyle/>
          <a:p>
            <a:pPr algn="ctr" indent="0" marL="0">
              <a:buNone/>
            </a:pPr>
            <a:r>
              <a:rPr lang="en-US" sz="1700" dirty="0">
                <a:solidFill>
                  <a:srgbClr val="F7F3E9"/>
                </a:solidFill>
                <a:latin typeface="Playfair Display" pitchFamily="34" charset="0"/>
                <a:ea typeface="Playfair Display" pitchFamily="34" charset="-122"/>
                <a:cs typeface="Playfair Display" pitchFamily="34" charset="-120"/>
              </a:rPr>
              <a:t>What would you cut?</a:t>
            </a:r>
            <a:endParaRPr lang="en-US" sz="1700" dirty="0"/>
          </a:p>
        </p:txBody>
      </p:sp>
      <p:sp>
        <p:nvSpPr>
          <p:cNvPr id="9" name="Shape 7"/>
          <p:cNvSpPr/>
          <p:nvPr/>
        </p:nvSpPr>
        <p:spPr>
          <a:xfrm>
            <a:off x="7909560" y="3429000"/>
            <a:ext cx="3246120" cy="1051560"/>
          </a:xfrm>
          <a:prstGeom prst="roundRect">
            <a:avLst>
              <a:gd name="adj" fmla="val 5217"/>
            </a:avLst>
          </a:prstGeom>
          <a:solidFill>
            <a:srgbClr val="1B2742"/>
          </a:solidFill>
          <a:ln w="12700">
            <a:solidFill>
              <a:srgbClr val="595235"/>
            </a:solidFill>
            <a:prstDash val="solid"/>
          </a:ln>
        </p:spPr>
      </p:sp>
      <p:sp>
        <p:nvSpPr>
          <p:cNvPr id="10" name="Text 8"/>
          <p:cNvSpPr/>
          <p:nvPr/>
        </p:nvSpPr>
        <p:spPr>
          <a:xfrm>
            <a:off x="8092440" y="3429000"/>
            <a:ext cx="2880360" cy="1051560"/>
          </a:xfrm>
          <a:prstGeom prst="rect">
            <a:avLst/>
          </a:prstGeom>
          <a:noFill/>
          <a:ln/>
        </p:spPr>
        <p:txBody>
          <a:bodyPr wrap="square" lIns="0" tIns="0" rIns="0" bIns="0" rtlCol="0" anchor="ctr"/>
          <a:lstStyle/>
          <a:p>
            <a:pPr algn="ctr" indent="0" marL="0">
              <a:buNone/>
            </a:pPr>
            <a:r>
              <a:rPr lang="en-US" sz="1700" dirty="0">
                <a:solidFill>
                  <a:srgbClr val="F7F3E9"/>
                </a:solidFill>
                <a:latin typeface="Playfair Display" pitchFamily="34" charset="0"/>
                <a:ea typeface="Playfair Display" pitchFamily="34" charset="-122"/>
                <a:cs typeface="Playfair Display" pitchFamily="34" charset="-120"/>
              </a:rPr>
              <a:t>What made you lean in?</a:t>
            </a:r>
            <a:endParaRPr lang="en-US" sz="1700" dirty="0"/>
          </a:p>
        </p:txBody>
      </p:sp>
      <p:sp>
        <p:nvSpPr>
          <p:cNvPr id="11" name="Text 9"/>
          <p:cNvSpPr/>
          <p:nvPr/>
        </p:nvSpPr>
        <p:spPr>
          <a:xfrm>
            <a:off x="1371600" y="4892040"/>
            <a:ext cx="9418320" cy="411480"/>
          </a:xfrm>
          <a:prstGeom prst="rect">
            <a:avLst/>
          </a:prstGeom>
          <a:noFill/>
          <a:ln/>
        </p:spPr>
        <p:txBody>
          <a:bodyPr wrap="square" lIns="0" tIns="0" rIns="0" bIns="0" rtlCol="0" anchor="ctr"/>
          <a:lstStyle/>
          <a:p>
            <a:pPr algn="ctr" indent="0" marL="0">
              <a:buNone/>
            </a:pPr>
            <a:r>
              <a:rPr lang="en-US" sz="1450" dirty="0">
                <a:solidFill>
                  <a:srgbClr val="CBC4AE"/>
                </a:solidFill>
                <a:latin typeface="Inter" pitchFamily="34" charset="0"/>
                <a:ea typeface="Inter" pitchFamily="34" charset="-122"/>
                <a:cs typeface="Inter" pitchFamily="34" charset="-120"/>
              </a:rPr>
              <a:t>Right now out loud, or tonight by email:  </a:t>
            </a:r>
            <a:pPr algn="ctr" indent="0" marL="0">
              <a:buNone/>
            </a:pPr>
            <a:r>
              <a:rPr lang="en-US" sz="1450" b="1" dirty="0">
                <a:solidFill>
                  <a:srgbClr val="E7C766"/>
                </a:solidFill>
                <a:latin typeface="Inter" pitchFamily="34" charset="0"/>
                <a:ea typeface="Inter" pitchFamily="34" charset="-122"/>
                <a:cs typeface="Inter" pitchFamily="34" charset="-120"/>
              </a:rPr>
              <a:t>denise@denisegosnell.ai</a:t>
            </a:r>
            <a:endParaRPr lang="en-US" sz="1450" dirty="0"/>
          </a:p>
        </p:txBody>
      </p:sp>
      <p:pic>
        <p:nvPicPr>
          <p:cNvPr id="12" name="Image 0" descr="skyline.png">    </p:cNvPr>
          <p:cNvPicPr>
            <a:picLocks noChangeAspect="1"/>
          </p:cNvPicPr>
          <p:nvPr/>
        </p:nvPicPr>
        <p:blipFill>
          <a:blip r:embed="rId2"/>
          <a:stretch>
            <a:fillRect/>
          </a:stretch>
        </p:blipFill>
        <p:spPr>
          <a:xfrm>
            <a:off x="0" y="6053328"/>
            <a:ext cx="12191695" cy="10835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2026-07-24T22:09:29Z</dcterms:created>
  <dcterms:modified xsi:type="dcterms:W3CDTF">2026-07-24T22:09:29Z</dcterms:modified>
</cp:coreProperties>
</file>