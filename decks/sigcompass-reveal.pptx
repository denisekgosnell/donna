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[SAY] The engine is real, it is running inside Signature's cloud, and in twenty minutes you are going to be driving it. Today has two halves. This first hour is the strategy: where we are pointing the business and how the data gets it there. After the break we do the execution side.
[DO] Let the room settle on the ring before you speak. Name the two halves of the afternoon so nobody wonders what the second session is.
[WATCH] Do not open with status or slide counts. Open with the claim that the engine is real.
[NEXT] Before we look at it, remember what we told you in February.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[SAY] Left column is verbatim from what I put in front of you in February. Right column is what stands deployed today. The last row is the one that matters: most data programs die before production, and this one did not.
[DO] Read three rows, not five. Let them read the rest.
[WATCH] Do not get pulled into architecture here. If someone asks how, say we will show you in twenty minutes.
[NEXT] So why release it now, and why does it matter to you rather than to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[SAY] This is why we are releasing SigCompass now. Not because the build finished. Because decisions are being made today with fragmented information, and we can finally change that.
[DO] Pause after the headline. It is the thesis of the hour.
[WATCH] Resist listing features. The features come in the tour.
[NEXT] And here is where revenue actually shows up in a data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[SAY] Reporting tells us what happened. Insight tells us why. Recommendation tells us what to do next. Automation makes it repeatable. All four matter, and revenue does not materially show up until the third one.
[DO] Point at the gap between card two and card three. That gap is where most programs die.
[WATCH] Someone will defend reporting. Agree with them: reporting is necessary and it is not sufficient.
[NEXT] Here are the three ways a program dies in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[SAY] These initiatives do not fail randomly and they do not fail quietly. They fail on time, on money, and on people. Every architectural choice we made was aimed at one of those three.
[DO] Say the 87% out loud once, then leave it alone. The number does the work.
[WATCH] Do not turn this into a vendor pitch. The point is that we knew the failure modes going in.
[NEXT] So here is the strategy in one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
[SAY] Walk it clockwise from the top. More bookings is the goal every one of you already has. Here is the part that is new: every booking is also data, data makes the recommendation personal, and a personal recommendation is what wins the next booking. Revenue growth sits in the middle because it is the output of the loop, not a stop on it.
[DO] Trace the circle with your hand. This is the one picture to remember from this hour.
[WATCH] Someone will ask whether this is just a recommendation engine. It is a recommendation engine that feeds itself, and the feeding is the strategy.
[NEXT] So why start with personalization and not somewhere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
[SAY] Our hypothesis is straightforward. Deploy a unified recommendations product, starting with cruise, and we should be able to measure incremental revenue inside six months. That is not a hunch, it is the best documented data product in the industry.
[DO] Read the McKinsey number and the Amazon number. Skip the third unless someone pushes for more evidence.
[WATCH] The low-risk argument is the one that lands with owners: we are not asking anyone to change how they work.
[NEXT] That is the strategy. Now the harder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[SAY] Everything so far was direction. Direction is the easy half. The rest of this hour is about what makes the wheel actually turn inside a company of this size.
[DO] Breathe. This is the hinge of the deck.
[NEXT] So we turn the strategy into one loop the company can feel.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[SAY] A strategy you can name is not the same as a loop your company can feel. The left column is where we are. The right column is what we are building, and none of it is technology.
[DO] Ask the room which of the three things on the right they already have for any metric. Usually the answer is one.
[WATCH] Do not let this become a governance conversation yet. That is the second session.
[NEXT] And this next part is the exact point both sessions today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
[SAY] Hold onto this slide. The second session at 2:40 is the same question from the execution side: how does what one person knows get out of their head and into an organization. Here we are asking it about booking data. There we ask it about your own workflow.
[DO] Say plainly that we are at step 1, and that we are not pretending otherwise.
[WATCH] The temptation is to promise step 3. Do not. Step 1 done well is the whole credibility of this program.
[NEXT] Same loop you already saw, now with instruments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
[SAY] Same four stations. The difference is the four gates, and they are deliberately blank. These are the conversion numbers between one stage and the next, and filling them in is the work we do together over the next quarter.
[DO] Point at an empty gate and say: nobody in this room can tell me that number today. That is the gap.
[WATCH] Do not guess a number to be helpful. Blank is the honest answer and it is the more powerful slide.
[NEXT] And when we have them, here is how we decide what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[SAY] If you start from a loss you get seven plausible causes and you have to pick one. If you start from a win you get one or two answers, and both are already proven inside your own business. That is why the tool leads with what is working.
[DO] Count the seven causes on your fingers. The absurdity is the argument.
[WATCH] Someone will say we should fix what is broken. Agree, and say: after we know what winning looks like, so we have something to compare it to.
[NEXT] Which brings us to what your job actually is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
[SAY] At the board walk-through I called it the tour of the ship before the voyage. This is the part where you learn to read the instruments. A captain does not read one gauge once. They read the panel week after week until the pattern is obvious, and then they change heading before anyone else notices the weather.
[DO] This is the emotional centre of the hour. Slow down and let the metaphor land.
[WATCH] Do not over-explain. One pass through the translation, then the week-over-week line.
[NEXT] So here is what the instrument panel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[SAY] Four things, and they are the four things an instrument panel does. See the flow, see the gap, see the win, and ask it a question in your own words.
[DO] Read the four labels only. The descriptions are for the people reading ahead.
[WATCH] Keep this short. The product answers this better than the slide does.
[NEXT] Let's take the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[SAY] Twelve minutes, five stops. Interrupt whenever you want, and at the last stop somebody else is driving.
[DO] Get the live environment on screen before you leave this slide.
[NEXT] Here is the map of the five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then eight minutes live.
[SAY] Five stops, and at each one I will tell you what to watch for. Stop five is where one of you takes the keyboard.
[DO] Leave this up while people settle, then switch to the live product.
[WATCH] Stop 4 renders representative sample data until the upstream event stream lands. Say that out loud BEFORE you show the tab, exactly as we did on the walkthrough.
[NEXT] Switch to the live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 min. This is the live block.
[SAY] Nothing. Drive the product.
[DO] Switch to the live environment. Five stops, roughly two minutes each. Hand the keyboard to a board member at stop five and let them ask something real.
[WATCH] Say 'representative sample data' out loud before the booking-journey tab. If the network dies, come back to this slide and walk the captures.
[NEXT] Then open the floor with the magic wand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here. The real discussion continues into the break.
[SAY] If you had a magic wand and this thing did anything you wanted, what would it do? And where would it find you, because a tool you have to remember to open is a tool you will not use.
[DO] Take answers, do not present. Write them somewhere the room can see. Question four is the one that produces the most useful answers.
[WATCH] Do not defend the current product. Every wish is roadmap data.
[NEXT] Come back to the flywheel and name what is still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[SAY] Filled diamond means we have it. Open means we do not yet. Look at the fourth one: a loop that runs without anyone remembering to run it. That is not a data problem, that is an operating problem, and it is what we spend the next ninety minutes on.
[DO] This is the handoff. Point at the open diamonds.
[WATCH] Do not answer the fourth item here. Leaving it open is the point.
[NEXT] Before the break, the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[SAY] Walk it left to right. The band is your window. Production comes on August 28 and has to be in full test by September 4, and that is what makes the Owners Meeting a full-data reveal.
[DO] Point at the highlighted milestone. San Antonio is the commitment.
[WATCH] VERIFY THESE DATES ON THE DAY. Milestone one is anchored to this session; the rest are as published in the August walkthrough. If any have passed, update before presenting.
[NEXT] Fifteen minutes, then we go from strategy to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then a 15 minute break.
[SAY] Fifteen minutes. Get coffee, and come back with the laptop open and Claude signed in, because the next session you build something rather than watch something.
[DO] Walk the room during the break and fix any laptop that is not ready. That is the single highest-value fifteen minutes of the afternoon.
[WATCH] Anyone missing the desktop app or the workspace invite needs to be found NOW, not at 2:41.
[NEXT] Deck B, slide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364785" y="841248"/>
            <a:ext cx="1463040" cy="1463040"/>
          </a:xfrm>
          <a:prstGeom prst="ellipse">
            <a:avLst/>
          </a:prstGeom>
          <a:ln w="12700">
            <a:solidFill>
              <a:srgbClr val="C9A227"/>
            </a:solidFill>
            <a:prstDash val="solid"/>
          </a:ln>
        </p:spPr>
      </p:sp>
      <p:sp>
        <p:nvSpPr>
          <p:cNvPr id="3" name="Shape 1"/>
          <p:cNvSpPr/>
          <p:nvPr/>
        </p:nvSpPr>
        <p:spPr>
          <a:xfrm>
            <a:off x="5473050" y="949513"/>
            <a:ext cx="1246510" cy="1246510"/>
          </a:xfrm>
          <a:prstGeom prst="ellipse">
            <a:avLst/>
          </a:prstGeom>
          <a:ln w="12700">
            <a:solidFill>
              <a:srgbClr val="C9A227"/>
            </a:solidFill>
            <a:prstDash val="solid"/>
          </a:ln>
        </p:spPr>
      </p:sp>
      <p:sp>
        <p:nvSpPr>
          <p:cNvPr id="4" name="Shape 2"/>
          <p:cNvSpPr/>
          <p:nvPr/>
        </p:nvSpPr>
        <p:spPr>
          <a:xfrm>
            <a:off x="6096305" y="804672"/>
            <a:ext cx="0" cy="73152"/>
          </a:xfrm>
          <a:prstGeom prst="line">
            <a:avLst/>
          </a:prstGeom>
          <a:noFill/>
          <a:ln w="12700">
            <a:solidFill>
              <a:srgbClr val="C9A227"/>
            </a:solidFill>
            <a:prstDash val="solid"/>
          </a:ln>
        </p:spPr>
      </p:sp>
      <p:sp>
        <p:nvSpPr>
          <p:cNvPr id="5" name="Shape 3"/>
          <p:cNvSpPr/>
          <p:nvPr/>
        </p:nvSpPr>
        <p:spPr>
          <a:xfrm>
            <a:off x="6096305" y="2267712"/>
            <a:ext cx="0" cy="73152"/>
          </a:xfrm>
          <a:prstGeom prst="line">
            <a:avLst/>
          </a:prstGeom>
          <a:noFill/>
          <a:ln w="12700">
            <a:solidFill>
              <a:srgbClr val="C9A227"/>
            </a:solidFill>
            <a:prstDash val="solid"/>
          </a:ln>
        </p:spPr>
      </p:sp>
      <p:sp>
        <p:nvSpPr>
          <p:cNvPr id="6" name="Shape 4"/>
          <p:cNvSpPr/>
          <p:nvPr/>
        </p:nvSpPr>
        <p:spPr>
          <a:xfrm>
            <a:off x="5328209" y="1572768"/>
            <a:ext cx="73152" cy="0"/>
          </a:xfrm>
          <a:prstGeom prst="line">
            <a:avLst/>
          </a:prstGeom>
          <a:noFill/>
          <a:ln w="12700">
            <a:solidFill>
              <a:srgbClr val="C9A227"/>
            </a:solidFill>
            <a:prstDash val="solid"/>
          </a:ln>
        </p:spPr>
      </p:sp>
      <p:sp>
        <p:nvSpPr>
          <p:cNvPr id="7" name="Shape 5"/>
          <p:cNvSpPr/>
          <p:nvPr/>
        </p:nvSpPr>
        <p:spPr>
          <a:xfrm>
            <a:off x="6791249" y="1572768"/>
            <a:ext cx="73152" cy="0"/>
          </a:xfrm>
          <a:prstGeom prst="line">
            <a:avLst/>
          </a:prstGeom>
          <a:noFill/>
          <a:ln w="12700">
            <a:solidFill>
              <a:srgbClr val="C9A227"/>
            </a:solidFill>
            <a:prstDash val="solid"/>
          </a:ln>
        </p:spPr>
      </p:sp>
      <p:sp>
        <p:nvSpPr>
          <p:cNvPr id="8" name="Shape 6"/>
          <p:cNvSpPr/>
          <p:nvPr/>
        </p:nvSpPr>
        <p:spPr>
          <a:xfrm>
            <a:off x="5986869" y="1075334"/>
            <a:ext cx="218871" cy="497434"/>
          </a:xfrm>
          <a:prstGeom prst="triangle">
            <a:avLst/>
          </a:prstGeom>
          <a:solidFill>
            <a:srgbClr val="1E808F"/>
          </a:solidFill>
          <a:ln/>
        </p:spPr>
      </p:sp>
      <p:sp>
        <p:nvSpPr>
          <p:cNvPr id="9" name="Shape 7"/>
          <p:cNvSpPr/>
          <p:nvPr/>
        </p:nvSpPr>
        <p:spPr>
          <a:xfrm rot="10800000">
            <a:off x="5986869" y="1572768"/>
            <a:ext cx="218871" cy="497434"/>
          </a:xfrm>
          <a:prstGeom prst="triangle">
            <a:avLst/>
          </a:prstGeom>
          <a:solidFill>
            <a:srgbClr val="C9A227">
              <a:alpha val="65000"/>
            </a:srgbClr>
          </a:solidFill>
          <a:ln/>
        </p:spPr>
      </p:sp>
      <p:sp>
        <p:nvSpPr>
          <p:cNvPr id="10" name="Shape 8"/>
          <p:cNvSpPr/>
          <p:nvPr/>
        </p:nvSpPr>
        <p:spPr>
          <a:xfrm rot="5400000">
            <a:off x="6235586" y="1324051"/>
            <a:ext cx="218871" cy="497434"/>
          </a:xfrm>
          <a:prstGeom prst="triangle">
            <a:avLst/>
          </a:prstGeom>
          <a:solidFill>
            <a:srgbClr val="C9A227">
              <a:alpha val="65000"/>
            </a:srgbClr>
          </a:solidFill>
          <a:ln/>
        </p:spPr>
      </p:sp>
      <p:sp>
        <p:nvSpPr>
          <p:cNvPr id="11" name="Shape 9"/>
          <p:cNvSpPr/>
          <p:nvPr/>
        </p:nvSpPr>
        <p:spPr>
          <a:xfrm rot="16200000">
            <a:off x="5738153" y="1324051"/>
            <a:ext cx="218871" cy="497434"/>
          </a:xfrm>
          <a:prstGeom prst="triangle">
            <a:avLst/>
          </a:prstGeom>
          <a:solidFill>
            <a:srgbClr val="C9A227">
              <a:alpha val="65000"/>
            </a:srgbClr>
          </a:solidFill>
          <a:ln/>
        </p:spPr>
      </p:sp>
      <p:sp>
        <p:nvSpPr>
          <p:cNvPr id="12" name="Shape 10"/>
          <p:cNvSpPr/>
          <p:nvPr/>
        </p:nvSpPr>
        <p:spPr>
          <a:xfrm>
            <a:off x="2163928" y="2542032"/>
            <a:ext cx="7863840" cy="1342827"/>
          </a:xfrm>
          <a:prstGeom prst="rect">
            <a:avLst/>
          </a:prstGeom>
          <a:solidFill>
            <a:srgbClr val="E8E2D2"/>
          </a:solidFill>
          <a:ln/>
        </p:spPr>
      </p:sp>
      <p:sp>
        <p:nvSpPr>
          <p:cNvPr id="13" name="Text 11"/>
          <p:cNvSpPr/>
          <p:nvPr/>
        </p:nvSpPr>
        <p:spPr>
          <a:xfrm>
            <a:off x="2621128" y="2798064"/>
            <a:ext cx="6949440" cy="556443"/>
          </a:xfrm>
          <a:prstGeom prst="rect">
            <a:avLst/>
          </a:prstGeom>
          <a:noFill/>
          <a:ln/>
        </p:spPr>
        <p:txBody>
          <a:bodyPr wrap="square" lIns="0" tIns="0" rIns="0" bIns="0" rtlCol="0" anchor="ctr"/>
          <a:lstStyle/>
          <a:p>
            <a:pPr algn="ctr" indent="0" marL="0">
              <a:buNone/>
            </a:pPr>
            <a:r>
              <a:rPr lang="en-US" sz="2800" b="1" i="1" dirty="0">
                <a:solidFill>
                  <a:srgbClr val="14213D"/>
                </a:solidFill>
                <a:latin typeface="Georgia" pitchFamily="34" charset="0"/>
                <a:ea typeface="Georgia" pitchFamily="34" charset="-122"/>
                <a:cs typeface="Georgia" pitchFamily="34" charset="-120"/>
              </a:rPr>
              <a:t>One cooperative. One direction.</a:t>
            </a:r>
            <a:endParaRPr lang="en-US" sz="2800" dirty="0"/>
          </a:p>
        </p:txBody>
      </p:sp>
      <p:sp>
        <p:nvSpPr>
          <p:cNvPr id="14" name="Text 12"/>
          <p:cNvSpPr/>
          <p:nvPr/>
        </p:nvSpPr>
        <p:spPr>
          <a:xfrm>
            <a:off x="2621128" y="3482523"/>
            <a:ext cx="6949440" cy="219456"/>
          </a:xfrm>
          <a:prstGeom prst="rect">
            <a:avLst/>
          </a:prstGeom>
          <a:noFill/>
          <a:ln/>
        </p:spPr>
        <p:txBody>
          <a:bodyPr wrap="square" lIns="0" tIns="0" rIns="0" bIns="0" rtlCol="0" anchor="ctr"/>
          <a:lstStyle/>
          <a:p>
            <a:pPr algn="ctr" indent="0" marL="0">
              <a:buNone/>
            </a:pPr>
            <a:r>
              <a:rPr lang="en-US" sz="1100" b="1" spc="160" kern="0" dirty="0">
                <a:solidFill>
                  <a:srgbClr val="14213D"/>
                </a:solidFill>
                <a:latin typeface="Arial" pitchFamily="34" charset="0"/>
                <a:ea typeface="Arial" pitchFamily="34" charset="-122"/>
                <a:cs typeface="Arial" pitchFamily="34" charset="-120"/>
              </a:rPr>
              <a:t>SIGNATURE TRAVEL NETWORK</a:t>
            </a:r>
            <a:endParaRPr lang="en-US" sz="1100" dirty="0"/>
          </a:p>
        </p:txBody>
      </p:sp>
      <p:sp>
        <p:nvSpPr>
          <p:cNvPr id="15" name="Text 13"/>
          <p:cNvSpPr/>
          <p:nvPr/>
        </p:nvSpPr>
        <p:spPr>
          <a:xfrm>
            <a:off x="813816" y="4122603"/>
            <a:ext cx="10570464" cy="566928"/>
          </a:xfrm>
          <a:prstGeom prst="rect">
            <a:avLst/>
          </a:prstGeom>
          <a:noFill/>
          <a:ln/>
        </p:spPr>
        <p:txBody>
          <a:bodyPr wrap="square" lIns="0" tIns="0" rIns="0" bIns="0" rtlCol="0" anchor="ctr"/>
          <a:lstStyle/>
          <a:p>
            <a:pPr algn="ctr" indent="0" marL="0">
              <a:buNone/>
            </a:pPr>
            <a:r>
              <a:rPr lang="en-US" sz="3400" b="1" spc="200" kern="0" dirty="0">
                <a:solidFill>
                  <a:srgbClr val="F7F3EA"/>
                </a:solidFill>
                <a:latin typeface="Arial" pitchFamily="34" charset="0"/>
                <a:ea typeface="Arial" pitchFamily="34" charset="-122"/>
                <a:cs typeface="Arial" pitchFamily="34" charset="-120"/>
              </a:rPr>
              <a:t>SIGCOMPASS</a:t>
            </a:r>
            <a:endParaRPr lang="en-US" sz="3400" dirty="0"/>
          </a:p>
        </p:txBody>
      </p:sp>
      <p:sp>
        <p:nvSpPr>
          <p:cNvPr id="16" name="Text 14"/>
          <p:cNvSpPr/>
          <p:nvPr/>
        </p:nvSpPr>
        <p:spPr>
          <a:xfrm>
            <a:off x="813816" y="4707819"/>
            <a:ext cx="10570464" cy="274320"/>
          </a:xfrm>
          <a:prstGeom prst="rect">
            <a:avLst/>
          </a:prstGeom>
          <a:noFill/>
          <a:ln/>
        </p:spPr>
        <p:txBody>
          <a:bodyPr wrap="square" lIns="0" tIns="0" rIns="0" bIns="0" rtlCol="0" anchor="ctr"/>
          <a:lstStyle/>
          <a:p>
            <a:pPr algn="ctr" indent="0" marL="0">
              <a:buNone/>
            </a:pPr>
            <a:r>
              <a:rPr lang="en-US" sz="1500" dirty="0">
                <a:solidFill>
                  <a:srgbClr val="AFA893"/>
                </a:solidFill>
                <a:latin typeface="Arial" pitchFamily="34" charset="0"/>
                <a:ea typeface="Arial" pitchFamily="34" charset="-122"/>
                <a:cs typeface="Arial" pitchFamily="34" charset="-120"/>
              </a:rPr>
              <a:t>The reveal, and the tour. Signature's executive data engine.</a:t>
            </a:r>
            <a:endParaRPr lang="en-US" sz="1500" dirty="0"/>
          </a:p>
        </p:txBody>
      </p:sp>
      <p:sp>
        <p:nvSpPr>
          <p:cNvPr id="17" name="Text 15"/>
          <p:cNvSpPr/>
          <p:nvPr/>
        </p:nvSpPr>
        <p:spPr>
          <a:xfrm>
            <a:off x="813816" y="5073579"/>
            <a:ext cx="10570464" cy="219456"/>
          </a:xfrm>
          <a:prstGeom prst="rect">
            <a:avLst/>
          </a:prstGeom>
          <a:noFill/>
          <a:ln/>
        </p:spPr>
        <p:txBody>
          <a:bodyPr wrap="square" lIns="0" tIns="0" rIns="0" bIns="0" rtlCol="0" anchor="ctr"/>
          <a:lstStyle/>
          <a:p>
            <a:pPr algn="ctr" indent="0" marL="0">
              <a:buNone/>
            </a:pPr>
            <a:r>
              <a:rPr lang="en-US" sz="1000" spc="160" kern="0" dirty="0">
                <a:solidFill>
                  <a:srgbClr val="AFA893"/>
                </a:solidFill>
                <a:latin typeface="Arial" pitchFamily="34" charset="0"/>
                <a:ea typeface="Arial" pitchFamily="34" charset="-122"/>
                <a:cs typeface="Arial" pitchFamily="34" charset="-120"/>
              </a:rPr>
              <a:t>DENISE GOSNELL, PH.D.   ·   AUGUST 2026</a:t>
            </a:r>
            <a:endParaRPr lang="en-US" sz="1000" dirty="0"/>
          </a:p>
        </p:txBody>
      </p:sp>
      <p:sp>
        <p:nvSpPr>
          <p:cNvPr id="18" name="Shape 16"/>
          <p:cNvSpPr/>
          <p:nvPr/>
        </p:nvSpPr>
        <p:spPr>
          <a:xfrm>
            <a:off x="2438248" y="6108192"/>
            <a:ext cx="7315200" cy="0"/>
          </a:xfrm>
          <a:prstGeom prst="line">
            <a:avLst/>
          </a:prstGeom>
          <a:noFill/>
          <a:ln w="9525">
            <a:solidFill>
              <a:srgbClr val="C9A227">
                <a:alpha val="60000"/>
              </a:srgbClr>
            </a:solidFill>
            <a:prstDash val="solid"/>
          </a:ln>
        </p:spPr>
      </p:sp>
      <p:sp>
        <p:nvSpPr>
          <p:cNvPr id="19" name="Shape 17"/>
          <p:cNvSpPr/>
          <p:nvPr/>
        </p:nvSpPr>
        <p:spPr>
          <a:xfrm rot="2700000">
            <a:off x="6050128" y="6062472"/>
            <a:ext cx="91440" cy="91440"/>
          </a:xfrm>
          <a:prstGeom prst="rect">
            <a:avLst/>
          </a:prstGeom>
          <a:solidFill>
            <a:srgbClr val="1E808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1786128"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SIGCOMPASS REVEAL</a:t>
            </a:r>
            <a:endParaRPr lang="en-US" sz="900" dirty="0"/>
          </a:p>
        </p:txBody>
      </p:sp>
      <p:sp>
        <p:nvSpPr>
          <p:cNvPr id="6" name="Shape 4"/>
          <p:cNvSpPr/>
          <p:nvPr/>
        </p:nvSpPr>
        <p:spPr>
          <a:xfrm rot="2700000">
            <a:off x="3898392" y="6003036"/>
            <a:ext cx="64008" cy="64008"/>
          </a:xfrm>
          <a:prstGeom prst="rect">
            <a:avLst/>
          </a:prstGeom>
          <a:solidFill>
            <a:srgbClr val="C9A227"/>
          </a:solidFill>
          <a:ln w="3175">
            <a:solidFill>
              <a:srgbClr val="C9A227"/>
            </a:solidFill>
            <a:prstDash val="solid"/>
          </a:ln>
        </p:spPr>
      </p:sp>
      <p:sp>
        <p:nvSpPr>
          <p:cNvPr id="7" name="Text 5"/>
          <p:cNvSpPr/>
          <p:nvPr/>
        </p:nvSpPr>
        <p:spPr>
          <a:xfrm>
            <a:off x="4081272" y="5943600"/>
            <a:ext cx="1200912"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5A6379"/>
                </a:solidFill>
                <a:latin typeface="Arial" pitchFamily="34" charset="0"/>
                <a:ea typeface="Arial" pitchFamily="34" charset="-122"/>
                <a:cs typeface="Arial" pitchFamily="34" charset="-120"/>
              </a:rPr>
              <a:t>2</a:t>
            </a:r>
            <a:endParaRPr lang="en-US" sz="900" dirty="0"/>
          </a:p>
        </p:txBody>
      </p:sp>
      <p:sp>
        <p:nvSpPr>
          <p:cNvPr id="9" name="Text 7"/>
          <p:cNvSpPr/>
          <p:nvPr/>
        </p:nvSpPr>
        <p:spPr>
          <a:xfrm>
            <a:off x="813816" y="502920"/>
            <a:ext cx="10570464" cy="256032"/>
          </a:xfrm>
          <a:prstGeom prst="rect">
            <a:avLst/>
          </a:prstGeom>
          <a:noFill/>
          <a:ln/>
        </p:spPr>
        <p:txBody>
          <a:bodyPr wrap="square" lIns="0" tIns="0" rIns="0" bIns="0" rtlCol="0" anchor="ctr"/>
          <a:lstStyle/>
          <a:p>
            <a:pPr indent="0" marL="0">
              <a:buNone/>
            </a:pPr>
            <a:r>
              <a:rPr lang="en-US" sz="1200" b="1" spc="220" kern="0" dirty="0">
                <a:solidFill>
                  <a:srgbClr val="8A6D14"/>
                </a:solidFill>
                <a:latin typeface="Arial" pitchFamily="34" charset="0"/>
                <a:ea typeface="Arial" pitchFamily="34" charset="-122"/>
                <a:cs typeface="Arial" pitchFamily="34" charset="-120"/>
              </a:rPr>
              <a:t>FEBRUARY 2026 · CLOSING THE LOOP</a:t>
            </a:r>
            <a:endParaRPr lang="en-US" sz="1200" dirty="0"/>
          </a:p>
        </p:txBody>
      </p:sp>
      <p:sp>
        <p:nvSpPr>
          <p:cNvPr id="10" name="Text 8"/>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We promised a revenue engine.</a:t>
            </a:r>
            <a:endParaRPr lang="en-US" sz="4000" dirty="0"/>
          </a:p>
        </p:txBody>
      </p:sp>
      <p:sp>
        <p:nvSpPr>
          <p:cNvPr id="11" name="Text 9"/>
          <p:cNvSpPr/>
          <p:nvPr/>
        </p:nvSpPr>
        <p:spPr>
          <a:xfrm>
            <a:off x="813816" y="1756867"/>
            <a:ext cx="5687568" cy="299466"/>
          </a:xfrm>
          <a:prstGeom prst="rect">
            <a:avLst/>
          </a:prstGeom>
          <a:noFill/>
          <a:ln/>
        </p:spPr>
        <p:txBody>
          <a:bodyPr wrap="square" lIns="0" tIns="0" rIns="0" bIns="0" rtlCol="0" anchor="t"/>
          <a:lstStyle/>
          <a:p>
            <a:pPr algn="l" indent="0" marL="0">
              <a:buNone/>
            </a:pPr>
            <a:r>
              <a:rPr lang="en-US" sz="1300" b="1" spc="120" kern="0" dirty="0">
                <a:solidFill>
                  <a:srgbClr val="5A6379"/>
                </a:solidFill>
                <a:latin typeface="Arial" pitchFamily="34" charset="0"/>
                <a:ea typeface="Arial" pitchFamily="34" charset="-122"/>
                <a:cs typeface="Arial" pitchFamily="34" charset="-120"/>
              </a:rPr>
              <a:t>WE SAID</a:t>
            </a:r>
            <a:endParaRPr lang="en-US" sz="1300" dirty="0"/>
          </a:p>
        </p:txBody>
      </p:sp>
      <p:sp>
        <p:nvSpPr>
          <p:cNvPr id="12" name="Text 10"/>
          <p:cNvSpPr/>
          <p:nvPr/>
        </p:nvSpPr>
        <p:spPr>
          <a:xfrm>
            <a:off x="6903720" y="1756867"/>
            <a:ext cx="4480560" cy="299466"/>
          </a:xfrm>
          <a:prstGeom prst="rect">
            <a:avLst/>
          </a:prstGeom>
          <a:noFill/>
          <a:ln/>
        </p:spPr>
        <p:txBody>
          <a:bodyPr wrap="square" lIns="0" tIns="0" rIns="0" bIns="0" rtlCol="0" anchor="t"/>
          <a:lstStyle/>
          <a:p>
            <a:pPr algn="l" indent="0" marL="0">
              <a:buNone/>
            </a:pPr>
            <a:r>
              <a:rPr lang="en-US" sz="1300" b="1" spc="120" kern="0" dirty="0">
                <a:solidFill>
                  <a:srgbClr val="15616D"/>
                </a:solidFill>
                <a:latin typeface="Arial" pitchFamily="34" charset="0"/>
                <a:ea typeface="Arial" pitchFamily="34" charset="-122"/>
                <a:cs typeface="Arial" pitchFamily="34" charset="-120"/>
              </a:rPr>
              <a:t>WE SHIPPED</a:t>
            </a:r>
            <a:endParaRPr lang="en-US" sz="1300" dirty="0"/>
          </a:p>
        </p:txBody>
      </p:sp>
      <p:sp>
        <p:nvSpPr>
          <p:cNvPr id="13" name="Shape 11"/>
          <p:cNvSpPr/>
          <p:nvPr/>
        </p:nvSpPr>
        <p:spPr>
          <a:xfrm rot="2700000">
            <a:off x="813816" y="2131771"/>
            <a:ext cx="100584" cy="100584"/>
          </a:xfrm>
          <a:prstGeom prst="rect">
            <a:avLst/>
          </a:prstGeom>
          <a:solidFill>
            <a:srgbClr val="C9A227"/>
          </a:solidFill>
          <a:ln w="3175">
            <a:solidFill>
              <a:srgbClr val="C9A227"/>
            </a:solidFill>
            <a:prstDash val="solid"/>
          </a:ln>
        </p:spPr>
      </p:sp>
      <p:sp>
        <p:nvSpPr>
          <p:cNvPr id="14" name="Text 12"/>
          <p:cNvSpPr/>
          <p:nvPr/>
        </p:nvSpPr>
        <p:spPr>
          <a:xfrm>
            <a:off x="1124712" y="2067763"/>
            <a:ext cx="5376672" cy="299466"/>
          </a:xfrm>
          <a:prstGeom prst="rect">
            <a:avLst/>
          </a:prstGeom>
          <a:noFill/>
          <a:ln/>
        </p:spPr>
        <p:txBody>
          <a:bodyPr wrap="square" lIns="0" tIns="0" rIns="0" bIns="0" rtlCol="0" anchor="t"/>
          <a:lstStyle/>
          <a:p>
            <a:pPr indent="0" marL="0">
              <a:lnSpc>
                <a:spcPct val="116000"/>
              </a:lnSpc>
              <a:buNone/>
            </a:pPr>
            <a:r>
              <a:rPr lang="en-US" sz="1300" dirty="0">
                <a:solidFill>
                  <a:srgbClr val="14213D"/>
                </a:solidFill>
                <a:latin typeface="Arial" pitchFamily="34" charset="0"/>
                <a:ea typeface="Arial" pitchFamily="34" charset="-122"/>
                <a:cs typeface="Arial" pitchFamily="34" charset="-120"/>
              </a:rPr>
              <a:t>Start with the revenue decision</a:t>
            </a:r>
            <a:endParaRPr lang="en-US" sz="1300" dirty="0"/>
          </a:p>
        </p:txBody>
      </p:sp>
      <p:sp>
        <p:nvSpPr>
          <p:cNvPr id="15" name="Text 13"/>
          <p:cNvSpPr/>
          <p:nvPr/>
        </p:nvSpPr>
        <p:spPr>
          <a:xfrm>
            <a:off x="6903720" y="2067763"/>
            <a:ext cx="4480560" cy="507492"/>
          </a:xfrm>
          <a:prstGeom prst="rect">
            <a:avLst/>
          </a:prstGeom>
          <a:noFill/>
          <a:ln/>
        </p:spPr>
        <p:txBody>
          <a:bodyPr wrap="square" lIns="0" tIns="0" rIns="0" bIns="0" rtlCol="0" anchor="t"/>
          <a:lstStyle/>
          <a:p>
            <a:pPr indent="0" marL="0">
              <a:lnSpc>
                <a:spcPct val="116000"/>
              </a:lnSpc>
              <a:buNone/>
            </a:pPr>
            <a:r>
              <a:rPr lang="en-US" sz="1300" b="1" dirty="0">
                <a:solidFill>
                  <a:srgbClr val="15616D"/>
                </a:solidFill>
                <a:latin typeface="Arial" pitchFamily="34" charset="0"/>
                <a:ea typeface="Arial" pitchFamily="34" charset="-122"/>
                <a:cs typeface="Arial" pitchFamily="34" charset="-120"/>
              </a:rPr>
              <a:t>Revenue is a live data product: funnel, suppliers, advisors, by travel month</a:t>
            </a:r>
            <a:endParaRPr lang="en-US" sz="1300" dirty="0"/>
          </a:p>
        </p:txBody>
      </p:sp>
      <p:sp>
        <p:nvSpPr>
          <p:cNvPr id="16" name="Shape 14"/>
          <p:cNvSpPr/>
          <p:nvPr/>
        </p:nvSpPr>
        <p:spPr>
          <a:xfrm rot="2700000">
            <a:off x="813816" y="2812999"/>
            <a:ext cx="100584" cy="100584"/>
          </a:xfrm>
          <a:prstGeom prst="rect">
            <a:avLst/>
          </a:prstGeom>
          <a:solidFill>
            <a:srgbClr val="C9A227"/>
          </a:solidFill>
          <a:ln w="3175">
            <a:solidFill>
              <a:srgbClr val="C9A227"/>
            </a:solidFill>
            <a:prstDash val="solid"/>
          </a:ln>
        </p:spPr>
      </p:sp>
      <p:sp>
        <p:nvSpPr>
          <p:cNvPr id="17" name="Text 15"/>
          <p:cNvSpPr/>
          <p:nvPr/>
        </p:nvSpPr>
        <p:spPr>
          <a:xfrm>
            <a:off x="1124712" y="2748991"/>
            <a:ext cx="5376672" cy="299466"/>
          </a:xfrm>
          <a:prstGeom prst="rect">
            <a:avLst/>
          </a:prstGeom>
          <a:noFill/>
          <a:ln/>
        </p:spPr>
        <p:txBody>
          <a:bodyPr wrap="square" lIns="0" tIns="0" rIns="0" bIns="0" rtlCol="0" anchor="t"/>
          <a:lstStyle/>
          <a:p>
            <a:pPr indent="0" marL="0">
              <a:lnSpc>
                <a:spcPct val="116000"/>
              </a:lnSpc>
              <a:buNone/>
            </a:pPr>
            <a:r>
              <a:rPr lang="en-US" sz="1300" dirty="0">
                <a:solidFill>
                  <a:srgbClr val="14213D"/>
                </a:solidFill>
                <a:latin typeface="Arial" pitchFamily="34" charset="0"/>
                <a:ea typeface="Arial" pitchFamily="34" charset="-122"/>
                <a:cs typeface="Arial" pitchFamily="34" charset="-120"/>
              </a:rPr>
              <a:t>Build deep, not wide</a:t>
            </a:r>
            <a:endParaRPr lang="en-US" sz="1300" dirty="0"/>
          </a:p>
        </p:txBody>
      </p:sp>
      <p:sp>
        <p:nvSpPr>
          <p:cNvPr id="18" name="Text 16"/>
          <p:cNvSpPr/>
          <p:nvPr/>
        </p:nvSpPr>
        <p:spPr>
          <a:xfrm>
            <a:off x="6903720" y="2748991"/>
            <a:ext cx="4480560" cy="507492"/>
          </a:xfrm>
          <a:prstGeom prst="rect">
            <a:avLst/>
          </a:prstGeom>
          <a:noFill/>
          <a:ln/>
        </p:spPr>
        <p:txBody>
          <a:bodyPr wrap="square" lIns="0" tIns="0" rIns="0" bIns="0" rtlCol="0" anchor="t"/>
          <a:lstStyle/>
          <a:p>
            <a:pPr indent="0" marL="0">
              <a:lnSpc>
                <a:spcPct val="116000"/>
              </a:lnSpc>
              <a:buNone/>
            </a:pPr>
            <a:r>
              <a:rPr lang="en-US" sz="1300" b="1" dirty="0">
                <a:solidFill>
                  <a:srgbClr val="15616D"/>
                </a:solidFill>
                <a:latin typeface="Arial" pitchFamily="34" charset="0"/>
                <a:ea typeface="Arial" pitchFamily="34" charset="-122"/>
                <a:cs typeface="Arial" pitchFamily="34" charset="-120"/>
              </a:rPr>
              <a:t>Three deep data products, not dashboards for everyone</a:t>
            </a:r>
            <a:endParaRPr lang="en-US" sz="1300" dirty="0"/>
          </a:p>
        </p:txBody>
      </p:sp>
      <p:sp>
        <p:nvSpPr>
          <p:cNvPr id="19" name="Shape 17"/>
          <p:cNvSpPr/>
          <p:nvPr/>
        </p:nvSpPr>
        <p:spPr>
          <a:xfrm rot="2700000">
            <a:off x="813816" y="3494227"/>
            <a:ext cx="100584" cy="100584"/>
          </a:xfrm>
          <a:prstGeom prst="rect">
            <a:avLst/>
          </a:prstGeom>
          <a:solidFill>
            <a:srgbClr val="C9A227"/>
          </a:solidFill>
          <a:ln w="3175">
            <a:solidFill>
              <a:srgbClr val="C9A227"/>
            </a:solidFill>
            <a:prstDash val="solid"/>
          </a:ln>
        </p:spPr>
      </p:sp>
      <p:sp>
        <p:nvSpPr>
          <p:cNvPr id="20" name="Text 18"/>
          <p:cNvSpPr/>
          <p:nvPr/>
        </p:nvSpPr>
        <p:spPr>
          <a:xfrm>
            <a:off x="1124712" y="3430219"/>
            <a:ext cx="5376672" cy="299466"/>
          </a:xfrm>
          <a:prstGeom prst="rect">
            <a:avLst/>
          </a:prstGeom>
          <a:noFill/>
          <a:ln/>
        </p:spPr>
        <p:txBody>
          <a:bodyPr wrap="square" lIns="0" tIns="0" rIns="0" bIns="0" rtlCol="0" anchor="t"/>
          <a:lstStyle/>
          <a:p>
            <a:pPr indent="0" marL="0">
              <a:lnSpc>
                <a:spcPct val="116000"/>
              </a:lnSpc>
              <a:buNone/>
            </a:pPr>
            <a:r>
              <a:rPr lang="en-US" sz="1300" dirty="0">
                <a:solidFill>
                  <a:srgbClr val="14213D"/>
                </a:solidFill>
                <a:latin typeface="Arial" pitchFamily="34" charset="0"/>
                <a:ea typeface="Arial" pitchFamily="34" charset="-122"/>
                <a:cs typeface="Arial" pitchFamily="34" charset="-120"/>
              </a:rPr>
              <a:t>Automate the infrastructure</a:t>
            </a:r>
            <a:endParaRPr lang="en-US" sz="1300" dirty="0"/>
          </a:p>
        </p:txBody>
      </p:sp>
      <p:sp>
        <p:nvSpPr>
          <p:cNvPr id="21" name="Text 19"/>
          <p:cNvSpPr/>
          <p:nvPr/>
        </p:nvSpPr>
        <p:spPr>
          <a:xfrm>
            <a:off x="6903720" y="3430219"/>
            <a:ext cx="4480560" cy="507492"/>
          </a:xfrm>
          <a:prstGeom prst="rect">
            <a:avLst/>
          </a:prstGeom>
          <a:noFill/>
          <a:ln/>
        </p:spPr>
        <p:txBody>
          <a:bodyPr wrap="square" lIns="0" tIns="0" rIns="0" bIns="0" rtlCol="0" anchor="t"/>
          <a:lstStyle/>
          <a:p>
            <a:pPr indent="0" marL="0">
              <a:lnSpc>
                <a:spcPct val="116000"/>
              </a:lnSpc>
              <a:buNone/>
            </a:pPr>
            <a:r>
              <a:rPr lang="en-US" sz="1300" b="1" dirty="0">
                <a:solidFill>
                  <a:srgbClr val="15616D"/>
                </a:solidFill>
                <a:latin typeface="Arial" pitchFamily="34" charset="0"/>
                <a:ea typeface="Arial" pitchFamily="34" charset="-122"/>
                <a:cs typeface="Arial" pitchFamily="34" charset="-120"/>
              </a:rPr>
              <a:t>AI-generated pipelines, rebuilt and re-verified on every change</a:t>
            </a:r>
            <a:endParaRPr lang="en-US" sz="1300" dirty="0"/>
          </a:p>
        </p:txBody>
      </p:sp>
      <p:sp>
        <p:nvSpPr>
          <p:cNvPr id="22" name="Shape 20"/>
          <p:cNvSpPr/>
          <p:nvPr/>
        </p:nvSpPr>
        <p:spPr>
          <a:xfrm rot="2700000">
            <a:off x="813816" y="4175455"/>
            <a:ext cx="100584" cy="100584"/>
          </a:xfrm>
          <a:prstGeom prst="rect">
            <a:avLst/>
          </a:prstGeom>
          <a:solidFill>
            <a:srgbClr val="C9A227"/>
          </a:solidFill>
          <a:ln w="3175">
            <a:solidFill>
              <a:srgbClr val="C9A227"/>
            </a:solidFill>
            <a:prstDash val="solid"/>
          </a:ln>
        </p:spPr>
      </p:sp>
      <p:sp>
        <p:nvSpPr>
          <p:cNvPr id="23" name="Text 21"/>
          <p:cNvSpPr/>
          <p:nvPr/>
        </p:nvSpPr>
        <p:spPr>
          <a:xfrm>
            <a:off x="1124712" y="4111447"/>
            <a:ext cx="5376672" cy="299466"/>
          </a:xfrm>
          <a:prstGeom prst="rect">
            <a:avLst/>
          </a:prstGeom>
          <a:noFill/>
          <a:ln/>
        </p:spPr>
        <p:txBody>
          <a:bodyPr wrap="square" lIns="0" tIns="0" rIns="0" bIns="0" rtlCol="0" anchor="t"/>
          <a:lstStyle/>
          <a:p>
            <a:pPr indent="0" marL="0">
              <a:lnSpc>
                <a:spcPct val="116000"/>
              </a:lnSpc>
              <a:buNone/>
            </a:pPr>
            <a:r>
              <a:rPr lang="en-US" sz="1300" dirty="0">
                <a:solidFill>
                  <a:srgbClr val="14213D"/>
                </a:solidFill>
                <a:latin typeface="Arial" pitchFamily="34" charset="0"/>
                <a:ea typeface="Arial" pitchFamily="34" charset="-122"/>
                <a:cs typeface="Arial" pitchFamily="34" charset="-120"/>
              </a:rPr>
              <a:t>Secure, scalable, observable</a:t>
            </a:r>
            <a:endParaRPr lang="en-US" sz="1300" dirty="0"/>
          </a:p>
        </p:txBody>
      </p:sp>
      <p:sp>
        <p:nvSpPr>
          <p:cNvPr id="24" name="Text 22"/>
          <p:cNvSpPr/>
          <p:nvPr/>
        </p:nvSpPr>
        <p:spPr>
          <a:xfrm>
            <a:off x="6903720" y="4111447"/>
            <a:ext cx="4480560" cy="507492"/>
          </a:xfrm>
          <a:prstGeom prst="rect">
            <a:avLst/>
          </a:prstGeom>
          <a:noFill/>
          <a:ln/>
        </p:spPr>
        <p:txBody>
          <a:bodyPr wrap="square" lIns="0" tIns="0" rIns="0" bIns="0" rtlCol="0" anchor="t"/>
          <a:lstStyle/>
          <a:p>
            <a:pPr indent="0" marL="0">
              <a:lnSpc>
                <a:spcPct val="116000"/>
              </a:lnSpc>
              <a:buNone/>
            </a:pPr>
            <a:r>
              <a:rPr lang="en-US" sz="1300" b="1" dirty="0">
                <a:solidFill>
                  <a:srgbClr val="15616D"/>
                </a:solidFill>
                <a:latin typeface="Arial" pitchFamily="34" charset="0"/>
                <a:ea typeface="Arial" pitchFamily="34" charset="-122"/>
                <a:cs typeface="Arial" pitchFamily="34" charset="-120"/>
              </a:rPr>
              <a:t>One AWS environment, PII governed at the API layer, self-verifying assertions</a:t>
            </a:r>
            <a:endParaRPr lang="en-US" sz="1300" dirty="0"/>
          </a:p>
        </p:txBody>
      </p:sp>
      <p:sp>
        <p:nvSpPr>
          <p:cNvPr id="25" name="Shape 23"/>
          <p:cNvSpPr/>
          <p:nvPr/>
        </p:nvSpPr>
        <p:spPr>
          <a:xfrm rot="2700000">
            <a:off x="813816" y="4856683"/>
            <a:ext cx="100584" cy="100584"/>
          </a:xfrm>
          <a:prstGeom prst="rect">
            <a:avLst/>
          </a:prstGeom>
          <a:solidFill>
            <a:srgbClr val="C9A227"/>
          </a:solidFill>
          <a:ln w="3175">
            <a:solidFill>
              <a:srgbClr val="C9A227"/>
            </a:solidFill>
            <a:prstDash val="solid"/>
          </a:ln>
        </p:spPr>
      </p:sp>
      <p:sp>
        <p:nvSpPr>
          <p:cNvPr id="26" name="Text 24"/>
          <p:cNvSpPr/>
          <p:nvPr/>
        </p:nvSpPr>
        <p:spPr>
          <a:xfrm>
            <a:off x="1124712" y="4792675"/>
            <a:ext cx="5376672" cy="299466"/>
          </a:xfrm>
          <a:prstGeom prst="rect">
            <a:avLst/>
          </a:prstGeom>
          <a:noFill/>
          <a:ln/>
        </p:spPr>
        <p:txBody>
          <a:bodyPr wrap="square" lIns="0" tIns="0" rIns="0" bIns="0" rtlCol="0" anchor="t"/>
          <a:lstStyle/>
          <a:p>
            <a:pPr indent="0" marL="0">
              <a:lnSpc>
                <a:spcPct val="116000"/>
              </a:lnSpc>
              <a:buNone/>
            </a:pPr>
            <a:r>
              <a:rPr lang="en-US" sz="1300" dirty="0">
                <a:solidFill>
                  <a:srgbClr val="14213D"/>
                </a:solidFill>
                <a:latin typeface="Arial" pitchFamily="34" charset="0"/>
                <a:ea typeface="Arial" pitchFamily="34" charset="-122"/>
                <a:cs typeface="Arial" pitchFamily="34" charset="-120"/>
              </a:rPr>
              <a:t>87% of data projects never reach production</a:t>
            </a:r>
            <a:endParaRPr lang="en-US" sz="1300" dirty="0"/>
          </a:p>
        </p:txBody>
      </p:sp>
      <p:sp>
        <p:nvSpPr>
          <p:cNvPr id="27" name="Text 25"/>
          <p:cNvSpPr/>
          <p:nvPr/>
        </p:nvSpPr>
        <p:spPr>
          <a:xfrm>
            <a:off x="6903720" y="4792675"/>
            <a:ext cx="4480560" cy="299466"/>
          </a:xfrm>
          <a:prstGeom prst="rect">
            <a:avLst/>
          </a:prstGeom>
          <a:noFill/>
          <a:ln/>
        </p:spPr>
        <p:txBody>
          <a:bodyPr wrap="square" lIns="0" tIns="0" rIns="0" bIns="0" rtlCol="0" anchor="t"/>
          <a:lstStyle/>
          <a:p>
            <a:pPr indent="0" marL="0">
              <a:lnSpc>
                <a:spcPct val="116000"/>
              </a:lnSpc>
              <a:buNone/>
            </a:pPr>
            <a:r>
              <a:rPr lang="en-US" sz="1300" b="1" dirty="0">
                <a:solidFill>
                  <a:srgbClr val="15616D"/>
                </a:solidFill>
                <a:latin typeface="Arial" pitchFamily="34" charset="0"/>
                <a:ea typeface="Arial" pitchFamily="34" charset="-122"/>
                <a:cs typeface="Arial" pitchFamily="34" charset="-120"/>
              </a:rPr>
              <a:t>This one is deployed, and you are about to use it</a:t>
            </a:r>
            <a:endParaRPr lang="en-US" sz="1300" dirty="0"/>
          </a:p>
        </p:txBody>
      </p:sp>
      <p:sp>
        <p:nvSpPr>
          <p:cNvPr id="28" name="Text 26"/>
          <p:cNvSpPr/>
          <p:nvPr/>
        </p:nvSpPr>
        <p:spPr>
          <a:xfrm>
            <a:off x="813816" y="5486400"/>
            <a:ext cx="10570464" cy="164592"/>
          </a:xfrm>
          <a:prstGeom prst="rect">
            <a:avLst/>
          </a:prstGeom>
          <a:noFill/>
          <a:ln/>
        </p:spPr>
        <p:txBody>
          <a:bodyPr wrap="square" lIns="0" tIns="0" rIns="0" bIns="0" rtlCol="0" anchor="ctr"/>
          <a:lstStyle/>
          <a:p>
            <a:pPr algn="r" indent="0" marL="0">
              <a:buNone/>
            </a:pPr>
            <a:r>
              <a:rPr lang="en-US" sz="900" i="1" dirty="0">
                <a:solidFill>
                  <a:srgbClr val="5A6379"/>
                </a:solidFill>
                <a:latin typeface="Arial" pitchFamily="34" charset="0"/>
                <a:ea typeface="Arial" pitchFamily="34" charset="-122"/>
                <a:cs typeface="Arial" pitchFamily="34" charset="-120"/>
              </a:rPr>
              <a:t>Gartner. Signature data strategy, February 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1786128"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SIGCOMPASS REVEAL</a:t>
            </a:r>
            <a:endParaRPr lang="en-US" sz="900" dirty="0"/>
          </a:p>
        </p:txBody>
      </p:sp>
      <p:sp>
        <p:nvSpPr>
          <p:cNvPr id="6" name="Shape 4"/>
          <p:cNvSpPr/>
          <p:nvPr/>
        </p:nvSpPr>
        <p:spPr>
          <a:xfrm rot="2700000">
            <a:off x="3898392" y="6003036"/>
            <a:ext cx="64008" cy="64008"/>
          </a:xfrm>
          <a:prstGeom prst="rect">
            <a:avLst/>
          </a:prstGeom>
          <a:solidFill>
            <a:srgbClr val="C9A227"/>
          </a:solidFill>
          <a:ln w="3175">
            <a:solidFill>
              <a:srgbClr val="C9A227"/>
            </a:solidFill>
            <a:prstDash val="solid"/>
          </a:ln>
        </p:spPr>
      </p:sp>
      <p:sp>
        <p:nvSpPr>
          <p:cNvPr id="7" name="Text 5"/>
          <p:cNvSpPr/>
          <p:nvPr/>
        </p:nvSpPr>
        <p:spPr>
          <a:xfrm>
            <a:off x="4081272" y="5943600"/>
            <a:ext cx="1200912"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AFA893"/>
                </a:solidFill>
                <a:latin typeface="Arial" pitchFamily="34" charset="0"/>
                <a:ea typeface="Arial" pitchFamily="34" charset="-122"/>
                <a:cs typeface="Arial" pitchFamily="34" charset="-120"/>
              </a:rPr>
              <a:t>3</a:t>
            </a:r>
            <a:endParaRPr lang="en-US" sz="900" dirty="0"/>
          </a:p>
        </p:txBody>
      </p:sp>
      <p:sp>
        <p:nvSpPr>
          <p:cNvPr id="9" name="Text 7"/>
          <p:cNvSpPr/>
          <p:nvPr/>
        </p:nvSpPr>
        <p:spPr>
          <a:xfrm>
            <a:off x="1066648" y="1234440"/>
            <a:ext cx="10058400" cy="2242840"/>
          </a:xfrm>
          <a:prstGeom prst="rect">
            <a:avLst/>
          </a:prstGeom>
          <a:noFill/>
          <a:ln/>
        </p:spPr>
        <p:txBody>
          <a:bodyPr wrap="square" lIns="0" tIns="0" rIns="0" bIns="0" rtlCol="0" anchor="t"/>
          <a:lstStyle/>
          <a:p>
            <a:pPr algn="ctr" indent="0" marL="0">
              <a:buNone/>
            </a:pPr>
            <a:r>
              <a:rPr lang="en-US" sz="4400" b="1" dirty="0">
                <a:solidFill>
                  <a:srgbClr val="F7F3EA"/>
                </a:solidFill>
                <a:latin typeface="Georgia" pitchFamily="34" charset="0"/>
                <a:ea typeface="Georgia" pitchFamily="34" charset="-122"/>
                <a:cs typeface="Georgia" pitchFamily="34" charset="-120"/>
              </a:rPr>
              <a:t>Twenty years of digital transformation gave you data. It never gave you a decision.</a:t>
            </a:r>
            <a:endParaRPr lang="en-US" sz="4400" dirty="0"/>
          </a:p>
        </p:txBody>
      </p:sp>
      <p:sp>
        <p:nvSpPr>
          <p:cNvPr id="10" name="Text 8"/>
          <p:cNvSpPr/>
          <p:nvPr/>
        </p:nvSpPr>
        <p:spPr>
          <a:xfrm>
            <a:off x="1706728" y="3916192"/>
            <a:ext cx="8778240" cy="1051560"/>
          </a:xfrm>
          <a:prstGeom prst="rect">
            <a:avLst/>
          </a:prstGeom>
          <a:noFill/>
          <a:ln/>
        </p:spPr>
        <p:txBody>
          <a:bodyPr wrap="square" lIns="0" tIns="0" rIns="0" bIns="0" rtlCol="0" anchor="t"/>
          <a:lstStyle/>
          <a:p>
            <a:pPr algn="l" indent="0" marL="0">
              <a:lnSpc>
                <a:spcPct val="116000"/>
              </a:lnSpc>
              <a:buNone/>
            </a:pPr>
            <a:r>
              <a:rPr lang="en-US" sz="1500" dirty="0">
                <a:solidFill>
                  <a:srgbClr val="F7F3EA"/>
                </a:solidFill>
                <a:latin typeface="Arial" pitchFamily="34" charset="0"/>
                <a:ea typeface="Arial" pitchFamily="34" charset="-122"/>
                <a:cs typeface="Arial" pitchFamily="34" charset="-120"/>
              </a:rPr>
              <a:t>Decisions are already being made across this business every day, by executives, advisors, leaders, and partners, whether the data is there or not. SigCompass exists to put the best available information in front of the person making the decision, at the moment they are making it.</a:t>
            </a:r>
            <a:endParaRPr lang="en-US" sz="1500" dirty="0"/>
          </a:p>
        </p:txBody>
      </p:sp>
      <p:sp>
        <p:nvSpPr>
          <p:cNvPr id="11" name="Text 9"/>
          <p:cNvSpPr/>
          <p:nvPr/>
        </p:nvSpPr>
        <p:spPr>
          <a:xfrm>
            <a:off x="1066648" y="5212080"/>
            <a:ext cx="10058400" cy="299466"/>
          </a:xfrm>
          <a:prstGeom prst="rect">
            <a:avLst/>
          </a:prstGeom>
          <a:noFill/>
          <a:ln/>
        </p:spPr>
        <p:txBody>
          <a:bodyPr wrap="square" lIns="0" tIns="0" rIns="0" bIns="0" rtlCol="0" anchor="t"/>
          <a:lstStyle/>
          <a:p>
            <a:pPr algn="ctr" indent="0" marL="0">
              <a:lnSpc>
                <a:spcPct val="116000"/>
              </a:lnSpc>
              <a:buNone/>
            </a:pPr>
            <a:r>
              <a:rPr lang="en-US" sz="1300" b="1" dirty="0">
                <a:solidFill>
                  <a:srgbClr val="E7C766"/>
                </a:solidFill>
                <a:latin typeface="Arial" pitchFamily="34" charset="0"/>
                <a:ea typeface="Arial" pitchFamily="34" charset="-122"/>
                <a:cs typeface="Arial" pitchFamily="34" charset="-120"/>
              </a:rPr>
              <a:t>The art of a data strategy is choosing which decisions we support first, and whether they move revenue.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1786128"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SIGCOMPASS REVEAL</a:t>
            </a:r>
            <a:endParaRPr lang="en-US" sz="900" dirty="0"/>
          </a:p>
        </p:txBody>
      </p:sp>
      <p:sp>
        <p:nvSpPr>
          <p:cNvPr id="6" name="Shape 4"/>
          <p:cNvSpPr/>
          <p:nvPr/>
        </p:nvSpPr>
        <p:spPr>
          <a:xfrm rot="2700000">
            <a:off x="3898392" y="6003036"/>
            <a:ext cx="64008" cy="64008"/>
          </a:xfrm>
          <a:prstGeom prst="rect">
            <a:avLst/>
          </a:prstGeom>
          <a:solidFill>
            <a:srgbClr val="C9A227"/>
          </a:solidFill>
          <a:ln w="3175">
            <a:solidFill>
              <a:srgbClr val="C9A227"/>
            </a:solidFill>
            <a:prstDash val="solid"/>
          </a:ln>
        </p:spPr>
      </p:sp>
      <p:sp>
        <p:nvSpPr>
          <p:cNvPr id="7" name="Text 5"/>
          <p:cNvSpPr/>
          <p:nvPr/>
        </p:nvSpPr>
        <p:spPr>
          <a:xfrm>
            <a:off x="4081272" y="5943600"/>
            <a:ext cx="1200912"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5A6379"/>
                </a:solidFill>
                <a:latin typeface="Arial" pitchFamily="34" charset="0"/>
                <a:ea typeface="Arial" pitchFamily="34" charset="-122"/>
                <a:cs typeface="Arial" pitchFamily="34" charset="-120"/>
              </a:rPr>
              <a:t>4</a:t>
            </a:r>
            <a:endParaRPr lang="en-US" sz="900" dirty="0"/>
          </a:p>
        </p:txBody>
      </p:sp>
      <p:sp>
        <p:nvSpPr>
          <p:cNvPr id="9" name="Text 7"/>
          <p:cNvSpPr/>
          <p:nvPr/>
        </p:nvSpPr>
        <p:spPr>
          <a:xfrm>
            <a:off x="813816" y="502920"/>
            <a:ext cx="10570464" cy="256032"/>
          </a:xfrm>
          <a:prstGeom prst="rect">
            <a:avLst/>
          </a:prstGeom>
          <a:noFill/>
          <a:ln/>
        </p:spPr>
        <p:txBody>
          <a:bodyPr wrap="square" lIns="0" tIns="0" rIns="0" bIns="0" rtlCol="0" anchor="ctr"/>
          <a:lstStyle/>
          <a:p>
            <a:pPr indent="0" marL="0">
              <a:buNone/>
            </a:pPr>
            <a:r>
              <a:rPr lang="en-US" sz="1200" b="1" spc="220" kern="0" dirty="0">
                <a:solidFill>
                  <a:srgbClr val="8A6D14"/>
                </a:solidFill>
                <a:latin typeface="Arial" pitchFamily="34" charset="0"/>
                <a:ea typeface="Arial" pitchFamily="34" charset="-122"/>
                <a:cs typeface="Arial" pitchFamily="34" charset="-120"/>
              </a:rPr>
              <a:t>WHERE REVENUE ACTUALLY SHOWS UP</a:t>
            </a:r>
            <a:endParaRPr lang="en-US" sz="1200" dirty="0"/>
          </a:p>
        </p:txBody>
      </p:sp>
      <p:sp>
        <p:nvSpPr>
          <p:cNvPr id="10" name="Text 8"/>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Revenue starts at stage three.</a:t>
            </a:r>
            <a:endParaRPr lang="en-US" sz="4000" dirty="0"/>
          </a:p>
        </p:txBody>
      </p:sp>
      <p:sp>
        <p:nvSpPr>
          <p:cNvPr id="11" name="Shape 9"/>
          <p:cNvSpPr/>
          <p:nvPr/>
        </p:nvSpPr>
        <p:spPr>
          <a:xfrm>
            <a:off x="813816" y="2067763"/>
            <a:ext cx="2395728" cy="2139696"/>
          </a:xfrm>
          <a:prstGeom prst="rect">
            <a:avLst/>
          </a:prstGeom>
          <a:solidFill>
            <a:srgbClr val="E8E2D2"/>
          </a:solidFill>
          <a:ln/>
        </p:spPr>
      </p:sp>
      <p:sp>
        <p:nvSpPr>
          <p:cNvPr id="12" name="Text 10"/>
          <p:cNvSpPr/>
          <p:nvPr/>
        </p:nvSpPr>
        <p:spPr>
          <a:xfrm>
            <a:off x="1051560" y="2250643"/>
            <a:ext cx="1920240" cy="548640"/>
          </a:xfrm>
          <a:prstGeom prst="rect">
            <a:avLst/>
          </a:prstGeom>
          <a:noFill/>
          <a:ln/>
        </p:spPr>
        <p:txBody>
          <a:bodyPr wrap="square" lIns="0" tIns="0" rIns="0" bIns="0" rtlCol="0" anchor="t"/>
          <a:lstStyle/>
          <a:p>
            <a:pPr indent="0" marL="0">
              <a:buNone/>
            </a:pPr>
            <a:r>
              <a:rPr lang="en-US" sz="3400" b="1" dirty="0">
                <a:solidFill>
                  <a:srgbClr val="5A6379"/>
                </a:solidFill>
                <a:latin typeface="Georgia" pitchFamily="34" charset="0"/>
                <a:ea typeface="Georgia" pitchFamily="34" charset="-122"/>
                <a:cs typeface="Georgia" pitchFamily="34" charset="-120"/>
              </a:rPr>
              <a:t>01</a:t>
            </a:r>
            <a:endParaRPr lang="en-US" sz="3400" dirty="0"/>
          </a:p>
        </p:txBody>
      </p:sp>
      <p:sp>
        <p:nvSpPr>
          <p:cNvPr id="13" name="Text 11"/>
          <p:cNvSpPr/>
          <p:nvPr/>
        </p:nvSpPr>
        <p:spPr>
          <a:xfrm>
            <a:off x="1051560" y="2854147"/>
            <a:ext cx="1920240" cy="475488"/>
          </a:xfrm>
          <a:prstGeom prst="rect">
            <a:avLst/>
          </a:prstGeom>
          <a:noFill/>
          <a:ln/>
        </p:spPr>
        <p:txBody>
          <a:bodyPr wrap="square" lIns="0" tIns="0" rIns="0" bIns="0" rtlCol="0" anchor="t"/>
          <a:lstStyle/>
          <a:p>
            <a:pPr indent="0" marL="0">
              <a:buNone/>
            </a:pPr>
            <a:r>
              <a:rPr lang="en-US" sz="1300" b="1" spc="100" kern="0" dirty="0">
                <a:solidFill>
                  <a:srgbClr val="14213D"/>
                </a:solidFill>
                <a:latin typeface="Arial" pitchFamily="34" charset="0"/>
                <a:ea typeface="Arial" pitchFamily="34" charset="-122"/>
                <a:cs typeface="Arial" pitchFamily="34" charset="-120"/>
              </a:rPr>
              <a:t>REPORTING</a:t>
            </a:r>
            <a:endParaRPr lang="en-US" sz="1300" dirty="0"/>
          </a:p>
        </p:txBody>
      </p:sp>
      <p:sp>
        <p:nvSpPr>
          <p:cNvPr id="14" name="Text 12"/>
          <p:cNvSpPr/>
          <p:nvPr/>
        </p:nvSpPr>
        <p:spPr>
          <a:xfrm>
            <a:off x="1051560" y="3384499"/>
            <a:ext cx="1920240" cy="365760"/>
          </a:xfrm>
          <a:prstGeom prst="rect">
            <a:avLst/>
          </a:prstGeom>
          <a:noFill/>
          <a:ln/>
        </p:spPr>
        <p:txBody>
          <a:bodyPr wrap="square" lIns="0" tIns="0" rIns="0" bIns="0" rtlCol="0" anchor="t"/>
          <a:lstStyle/>
          <a:p>
            <a:pPr indent="0" marL="0">
              <a:buNone/>
            </a:pPr>
            <a:r>
              <a:rPr lang="en-US" sz="1300" dirty="0">
                <a:solidFill>
                  <a:srgbClr val="5A6379"/>
                </a:solidFill>
                <a:latin typeface="Arial" pitchFamily="34" charset="0"/>
                <a:ea typeface="Arial" pitchFamily="34" charset="-122"/>
                <a:cs typeface="Arial" pitchFamily="34" charset="-120"/>
              </a:rPr>
              <a:t>What happened.</a:t>
            </a:r>
            <a:endParaRPr lang="en-US" sz="1300" dirty="0"/>
          </a:p>
        </p:txBody>
      </p:sp>
      <p:sp>
        <p:nvSpPr>
          <p:cNvPr id="15" name="Shape 13"/>
          <p:cNvSpPr/>
          <p:nvPr/>
        </p:nvSpPr>
        <p:spPr>
          <a:xfrm>
            <a:off x="3538728" y="2067763"/>
            <a:ext cx="2395728" cy="2139696"/>
          </a:xfrm>
          <a:prstGeom prst="rect">
            <a:avLst/>
          </a:prstGeom>
          <a:solidFill>
            <a:srgbClr val="E8E2D2"/>
          </a:solidFill>
          <a:ln/>
        </p:spPr>
      </p:sp>
      <p:sp>
        <p:nvSpPr>
          <p:cNvPr id="16" name="Text 14"/>
          <p:cNvSpPr/>
          <p:nvPr/>
        </p:nvSpPr>
        <p:spPr>
          <a:xfrm>
            <a:off x="3776472" y="2250643"/>
            <a:ext cx="1920240" cy="548640"/>
          </a:xfrm>
          <a:prstGeom prst="rect">
            <a:avLst/>
          </a:prstGeom>
          <a:noFill/>
          <a:ln/>
        </p:spPr>
        <p:txBody>
          <a:bodyPr wrap="square" lIns="0" tIns="0" rIns="0" bIns="0" rtlCol="0" anchor="t"/>
          <a:lstStyle/>
          <a:p>
            <a:pPr indent="0" marL="0">
              <a:buNone/>
            </a:pPr>
            <a:r>
              <a:rPr lang="en-US" sz="3400" b="1" dirty="0">
                <a:solidFill>
                  <a:srgbClr val="5A6379"/>
                </a:solidFill>
                <a:latin typeface="Georgia" pitchFamily="34" charset="0"/>
                <a:ea typeface="Georgia" pitchFamily="34" charset="-122"/>
                <a:cs typeface="Georgia" pitchFamily="34" charset="-120"/>
              </a:rPr>
              <a:t>02</a:t>
            </a:r>
            <a:endParaRPr lang="en-US" sz="3400" dirty="0"/>
          </a:p>
        </p:txBody>
      </p:sp>
      <p:sp>
        <p:nvSpPr>
          <p:cNvPr id="17" name="Text 15"/>
          <p:cNvSpPr/>
          <p:nvPr/>
        </p:nvSpPr>
        <p:spPr>
          <a:xfrm>
            <a:off x="3776472" y="2854147"/>
            <a:ext cx="1920240" cy="475488"/>
          </a:xfrm>
          <a:prstGeom prst="rect">
            <a:avLst/>
          </a:prstGeom>
          <a:noFill/>
          <a:ln/>
        </p:spPr>
        <p:txBody>
          <a:bodyPr wrap="square" lIns="0" tIns="0" rIns="0" bIns="0" rtlCol="0" anchor="t"/>
          <a:lstStyle/>
          <a:p>
            <a:pPr indent="0" marL="0">
              <a:buNone/>
            </a:pPr>
            <a:r>
              <a:rPr lang="en-US" sz="1300" b="1" spc="100" kern="0" dirty="0">
                <a:solidFill>
                  <a:srgbClr val="14213D"/>
                </a:solidFill>
                <a:latin typeface="Arial" pitchFamily="34" charset="0"/>
                <a:ea typeface="Arial" pitchFamily="34" charset="-122"/>
                <a:cs typeface="Arial" pitchFamily="34" charset="-120"/>
              </a:rPr>
              <a:t>INSIGHT</a:t>
            </a:r>
            <a:endParaRPr lang="en-US" sz="1300" dirty="0"/>
          </a:p>
        </p:txBody>
      </p:sp>
      <p:sp>
        <p:nvSpPr>
          <p:cNvPr id="18" name="Text 16"/>
          <p:cNvSpPr/>
          <p:nvPr/>
        </p:nvSpPr>
        <p:spPr>
          <a:xfrm>
            <a:off x="3776472" y="3384499"/>
            <a:ext cx="1920240" cy="365760"/>
          </a:xfrm>
          <a:prstGeom prst="rect">
            <a:avLst/>
          </a:prstGeom>
          <a:noFill/>
          <a:ln/>
        </p:spPr>
        <p:txBody>
          <a:bodyPr wrap="square" lIns="0" tIns="0" rIns="0" bIns="0" rtlCol="0" anchor="t"/>
          <a:lstStyle/>
          <a:p>
            <a:pPr indent="0" marL="0">
              <a:buNone/>
            </a:pPr>
            <a:r>
              <a:rPr lang="en-US" sz="1300" dirty="0">
                <a:solidFill>
                  <a:srgbClr val="5A6379"/>
                </a:solidFill>
                <a:latin typeface="Arial" pitchFamily="34" charset="0"/>
                <a:ea typeface="Arial" pitchFamily="34" charset="-122"/>
                <a:cs typeface="Arial" pitchFamily="34" charset="-120"/>
              </a:rPr>
              <a:t>Why it happened.</a:t>
            </a:r>
            <a:endParaRPr lang="en-US" sz="1300" dirty="0"/>
          </a:p>
        </p:txBody>
      </p:sp>
      <p:sp>
        <p:nvSpPr>
          <p:cNvPr id="19" name="Shape 17"/>
          <p:cNvSpPr/>
          <p:nvPr/>
        </p:nvSpPr>
        <p:spPr>
          <a:xfrm>
            <a:off x="6263640" y="2067763"/>
            <a:ext cx="2395728" cy="2139696"/>
          </a:xfrm>
          <a:prstGeom prst="rect">
            <a:avLst/>
          </a:prstGeom>
          <a:solidFill>
            <a:srgbClr val="14213D"/>
          </a:solidFill>
          <a:ln/>
        </p:spPr>
      </p:sp>
      <p:sp>
        <p:nvSpPr>
          <p:cNvPr id="20" name="Text 18"/>
          <p:cNvSpPr/>
          <p:nvPr/>
        </p:nvSpPr>
        <p:spPr>
          <a:xfrm>
            <a:off x="6501384" y="2250643"/>
            <a:ext cx="1920240" cy="548640"/>
          </a:xfrm>
          <a:prstGeom prst="rect">
            <a:avLst/>
          </a:prstGeom>
          <a:noFill/>
          <a:ln/>
        </p:spPr>
        <p:txBody>
          <a:bodyPr wrap="square" lIns="0" tIns="0" rIns="0" bIns="0" rtlCol="0" anchor="t"/>
          <a:lstStyle/>
          <a:p>
            <a:pPr indent="0" marL="0">
              <a:buNone/>
            </a:pPr>
            <a:r>
              <a:rPr lang="en-US" sz="3400" b="1" dirty="0">
                <a:solidFill>
                  <a:srgbClr val="E7C766"/>
                </a:solidFill>
                <a:latin typeface="Georgia" pitchFamily="34" charset="0"/>
                <a:ea typeface="Georgia" pitchFamily="34" charset="-122"/>
                <a:cs typeface="Georgia" pitchFamily="34" charset="-120"/>
              </a:rPr>
              <a:t>03</a:t>
            </a:r>
            <a:endParaRPr lang="en-US" sz="3400" dirty="0"/>
          </a:p>
        </p:txBody>
      </p:sp>
      <p:sp>
        <p:nvSpPr>
          <p:cNvPr id="21" name="Text 19"/>
          <p:cNvSpPr/>
          <p:nvPr/>
        </p:nvSpPr>
        <p:spPr>
          <a:xfrm>
            <a:off x="6501384" y="2854147"/>
            <a:ext cx="1920240" cy="475488"/>
          </a:xfrm>
          <a:prstGeom prst="rect">
            <a:avLst/>
          </a:prstGeom>
          <a:noFill/>
          <a:ln/>
        </p:spPr>
        <p:txBody>
          <a:bodyPr wrap="square" lIns="0" tIns="0" rIns="0" bIns="0" rtlCol="0" anchor="t"/>
          <a:lstStyle/>
          <a:p>
            <a:pPr indent="0" marL="0">
              <a:buNone/>
            </a:pPr>
            <a:r>
              <a:rPr lang="en-US" sz="1300" b="1" spc="100" kern="0" dirty="0">
                <a:solidFill>
                  <a:srgbClr val="F7F3EA"/>
                </a:solidFill>
                <a:latin typeface="Arial" pitchFamily="34" charset="0"/>
                <a:ea typeface="Arial" pitchFamily="34" charset="-122"/>
                <a:cs typeface="Arial" pitchFamily="34" charset="-120"/>
              </a:rPr>
              <a:t>RECOMMENDATION</a:t>
            </a:r>
            <a:endParaRPr lang="en-US" sz="1300" dirty="0"/>
          </a:p>
        </p:txBody>
      </p:sp>
      <p:sp>
        <p:nvSpPr>
          <p:cNvPr id="22" name="Text 20"/>
          <p:cNvSpPr/>
          <p:nvPr/>
        </p:nvSpPr>
        <p:spPr>
          <a:xfrm>
            <a:off x="6501384" y="3384499"/>
            <a:ext cx="1920240" cy="365760"/>
          </a:xfrm>
          <a:prstGeom prst="rect">
            <a:avLst/>
          </a:prstGeom>
          <a:noFill/>
          <a:ln/>
        </p:spPr>
        <p:txBody>
          <a:bodyPr wrap="square" lIns="0" tIns="0" rIns="0" bIns="0" rtlCol="0" anchor="t"/>
          <a:lstStyle/>
          <a:p>
            <a:pPr indent="0" marL="0">
              <a:buNone/>
            </a:pPr>
            <a:r>
              <a:rPr lang="en-US" sz="1300" dirty="0">
                <a:solidFill>
                  <a:srgbClr val="F7F3EA"/>
                </a:solidFill>
                <a:latin typeface="Arial" pitchFamily="34" charset="0"/>
                <a:ea typeface="Arial" pitchFamily="34" charset="-122"/>
                <a:cs typeface="Arial" pitchFamily="34" charset="-120"/>
              </a:rPr>
              <a:t>What to do next.</a:t>
            </a:r>
            <a:endParaRPr lang="en-US" sz="1300" dirty="0"/>
          </a:p>
        </p:txBody>
      </p:sp>
      <p:sp>
        <p:nvSpPr>
          <p:cNvPr id="23" name="Shape 21"/>
          <p:cNvSpPr/>
          <p:nvPr/>
        </p:nvSpPr>
        <p:spPr>
          <a:xfrm rot="2700000">
            <a:off x="8275320" y="2323795"/>
            <a:ext cx="100584" cy="100584"/>
          </a:xfrm>
          <a:prstGeom prst="rect">
            <a:avLst/>
          </a:prstGeom>
          <a:solidFill>
            <a:srgbClr val="1E808F"/>
          </a:solidFill>
          <a:ln w="3175">
            <a:solidFill>
              <a:srgbClr val="1E808F"/>
            </a:solidFill>
            <a:prstDash val="solid"/>
          </a:ln>
        </p:spPr>
      </p:sp>
      <p:sp>
        <p:nvSpPr>
          <p:cNvPr id="24" name="Shape 22"/>
          <p:cNvSpPr/>
          <p:nvPr/>
        </p:nvSpPr>
        <p:spPr>
          <a:xfrm>
            <a:off x="8988552" y="2067763"/>
            <a:ext cx="2395728" cy="2139696"/>
          </a:xfrm>
          <a:prstGeom prst="rect">
            <a:avLst/>
          </a:prstGeom>
          <a:solidFill>
            <a:srgbClr val="14213D"/>
          </a:solidFill>
          <a:ln/>
        </p:spPr>
      </p:sp>
      <p:sp>
        <p:nvSpPr>
          <p:cNvPr id="25" name="Text 23"/>
          <p:cNvSpPr/>
          <p:nvPr/>
        </p:nvSpPr>
        <p:spPr>
          <a:xfrm>
            <a:off x="9226296" y="2250643"/>
            <a:ext cx="1920240" cy="548640"/>
          </a:xfrm>
          <a:prstGeom prst="rect">
            <a:avLst/>
          </a:prstGeom>
          <a:noFill/>
          <a:ln/>
        </p:spPr>
        <p:txBody>
          <a:bodyPr wrap="square" lIns="0" tIns="0" rIns="0" bIns="0" rtlCol="0" anchor="t"/>
          <a:lstStyle/>
          <a:p>
            <a:pPr indent="0" marL="0">
              <a:buNone/>
            </a:pPr>
            <a:r>
              <a:rPr lang="en-US" sz="3400" b="1" dirty="0">
                <a:solidFill>
                  <a:srgbClr val="E7C766"/>
                </a:solidFill>
                <a:latin typeface="Georgia" pitchFamily="34" charset="0"/>
                <a:ea typeface="Georgia" pitchFamily="34" charset="-122"/>
                <a:cs typeface="Georgia" pitchFamily="34" charset="-120"/>
              </a:rPr>
              <a:t>04</a:t>
            </a:r>
            <a:endParaRPr lang="en-US" sz="3400" dirty="0"/>
          </a:p>
        </p:txBody>
      </p:sp>
      <p:sp>
        <p:nvSpPr>
          <p:cNvPr id="26" name="Text 24"/>
          <p:cNvSpPr/>
          <p:nvPr/>
        </p:nvSpPr>
        <p:spPr>
          <a:xfrm>
            <a:off x="9226296" y="2854147"/>
            <a:ext cx="1920240" cy="475488"/>
          </a:xfrm>
          <a:prstGeom prst="rect">
            <a:avLst/>
          </a:prstGeom>
          <a:noFill/>
          <a:ln/>
        </p:spPr>
        <p:txBody>
          <a:bodyPr wrap="square" lIns="0" tIns="0" rIns="0" bIns="0" rtlCol="0" anchor="t"/>
          <a:lstStyle/>
          <a:p>
            <a:pPr indent="0" marL="0">
              <a:buNone/>
            </a:pPr>
            <a:r>
              <a:rPr lang="en-US" sz="1300" b="1" spc="100" kern="0" dirty="0">
                <a:solidFill>
                  <a:srgbClr val="F7F3EA"/>
                </a:solidFill>
                <a:latin typeface="Arial" pitchFamily="34" charset="0"/>
                <a:ea typeface="Arial" pitchFamily="34" charset="-122"/>
                <a:cs typeface="Arial" pitchFamily="34" charset="-120"/>
              </a:rPr>
              <a:t>AUTOMATION</a:t>
            </a:r>
            <a:endParaRPr lang="en-US" sz="1300" dirty="0"/>
          </a:p>
        </p:txBody>
      </p:sp>
      <p:sp>
        <p:nvSpPr>
          <p:cNvPr id="27" name="Text 25"/>
          <p:cNvSpPr/>
          <p:nvPr/>
        </p:nvSpPr>
        <p:spPr>
          <a:xfrm>
            <a:off x="9226296" y="3384499"/>
            <a:ext cx="1920240" cy="365760"/>
          </a:xfrm>
          <a:prstGeom prst="rect">
            <a:avLst/>
          </a:prstGeom>
          <a:noFill/>
          <a:ln/>
        </p:spPr>
        <p:txBody>
          <a:bodyPr wrap="square" lIns="0" tIns="0" rIns="0" bIns="0" rtlCol="0" anchor="t"/>
          <a:lstStyle/>
          <a:p>
            <a:pPr indent="0" marL="0">
              <a:buNone/>
            </a:pPr>
            <a:r>
              <a:rPr lang="en-US" sz="1300" dirty="0">
                <a:solidFill>
                  <a:srgbClr val="F7F3EA"/>
                </a:solidFill>
                <a:latin typeface="Arial" pitchFamily="34" charset="0"/>
                <a:ea typeface="Arial" pitchFamily="34" charset="-122"/>
                <a:cs typeface="Arial" pitchFamily="34" charset="-120"/>
              </a:rPr>
              <a:t>Repeatable at scale.</a:t>
            </a:r>
            <a:endParaRPr lang="en-US" sz="1300" dirty="0"/>
          </a:p>
        </p:txBody>
      </p:sp>
      <p:sp>
        <p:nvSpPr>
          <p:cNvPr id="28" name="Shape 26"/>
          <p:cNvSpPr/>
          <p:nvPr/>
        </p:nvSpPr>
        <p:spPr>
          <a:xfrm rot="2700000">
            <a:off x="11000232" y="2323795"/>
            <a:ext cx="100584" cy="100584"/>
          </a:xfrm>
          <a:prstGeom prst="rect">
            <a:avLst/>
          </a:prstGeom>
          <a:solidFill>
            <a:srgbClr val="1E808F"/>
          </a:solidFill>
          <a:ln w="3175">
            <a:solidFill>
              <a:srgbClr val="1E808F"/>
            </a:solidFill>
            <a:prstDash val="solid"/>
          </a:ln>
        </p:spPr>
      </p:sp>
      <p:sp>
        <p:nvSpPr>
          <p:cNvPr id="29" name="Text 27"/>
          <p:cNvSpPr/>
          <p:nvPr/>
        </p:nvSpPr>
        <p:spPr>
          <a:xfrm>
            <a:off x="6263640" y="4335475"/>
            <a:ext cx="5120640" cy="256032"/>
          </a:xfrm>
          <a:prstGeom prst="rect">
            <a:avLst/>
          </a:prstGeom>
          <a:noFill/>
          <a:ln/>
        </p:spPr>
        <p:txBody>
          <a:bodyPr wrap="square" lIns="0" tIns="0" rIns="0" bIns="0" rtlCol="0" anchor="ctr"/>
          <a:lstStyle/>
          <a:p>
            <a:pPr algn="ctr" indent="0" marL="0">
              <a:buNone/>
            </a:pPr>
            <a:r>
              <a:rPr lang="en-US" sz="1400" b="1" spc="160" kern="0" dirty="0">
                <a:solidFill>
                  <a:srgbClr val="15616D"/>
                </a:solidFill>
                <a:latin typeface="Arial" pitchFamily="34" charset="0"/>
                <a:ea typeface="Arial" pitchFamily="34" charset="-122"/>
                <a:cs typeface="Arial" pitchFamily="34" charset="-120"/>
              </a:rPr>
              <a:t>REVENUE BEGINS HERE</a:t>
            </a:r>
            <a:endParaRPr lang="en-US" sz="1400" dirty="0"/>
          </a:p>
        </p:txBody>
      </p:sp>
      <p:sp>
        <p:nvSpPr>
          <p:cNvPr id="30" name="Text 28"/>
          <p:cNvSpPr/>
          <p:nvPr/>
        </p:nvSpPr>
        <p:spPr>
          <a:xfrm>
            <a:off x="813816" y="4773168"/>
            <a:ext cx="10570464" cy="507492"/>
          </a:xfrm>
          <a:prstGeom prst="rect">
            <a:avLst/>
          </a:prstGeom>
          <a:noFill/>
          <a:ln/>
        </p:spPr>
        <p:txBody>
          <a:bodyPr wrap="square" lIns="0" tIns="0" rIns="0" bIns="0" rtlCol="0" anchor="t"/>
          <a:lstStyle/>
          <a:p>
            <a:pPr algn="l" indent="0" marL="0">
              <a:lnSpc>
                <a:spcPct val="116000"/>
              </a:lnSpc>
              <a:buNone/>
            </a:pPr>
            <a:r>
              <a:rPr lang="en-US" sz="1300" i="1" dirty="0">
                <a:solidFill>
                  <a:srgbClr val="5A6379"/>
                </a:solidFill>
                <a:latin typeface="Arial" pitchFamily="34" charset="0"/>
                <a:ea typeface="Arial" pitchFamily="34" charset="-122"/>
                <a:cs typeface="Arial" pitchFamily="34" charset="-120"/>
              </a:rPr>
              <a:t>Most data programs stall between stages one and two, cycling through reports and definitions without ever crossing into action. That is not a failure of intelligence. It is a failure of sequencing.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1786128"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SIGCOMPASS REVEAL</a:t>
            </a:r>
            <a:endParaRPr lang="en-US" sz="900" dirty="0"/>
          </a:p>
        </p:txBody>
      </p:sp>
      <p:sp>
        <p:nvSpPr>
          <p:cNvPr id="6" name="Shape 4"/>
          <p:cNvSpPr/>
          <p:nvPr/>
        </p:nvSpPr>
        <p:spPr>
          <a:xfrm rot="2700000">
            <a:off x="3898392" y="6003036"/>
            <a:ext cx="64008" cy="64008"/>
          </a:xfrm>
          <a:prstGeom prst="rect">
            <a:avLst/>
          </a:prstGeom>
          <a:solidFill>
            <a:srgbClr val="C9A227"/>
          </a:solidFill>
          <a:ln w="3175">
            <a:solidFill>
              <a:srgbClr val="C9A227"/>
            </a:solidFill>
            <a:prstDash val="solid"/>
          </a:ln>
        </p:spPr>
      </p:sp>
      <p:sp>
        <p:nvSpPr>
          <p:cNvPr id="7" name="Text 5"/>
          <p:cNvSpPr/>
          <p:nvPr/>
        </p:nvSpPr>
        <p:spPr>
          <a:xfrm>
            <a:off x="4081272" y="5943600"/>
            <a:ext cx="1200912"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5A6379"/>
                </a:solidFill>
                <a:latin typeface="Arial" pitchFamily="34" charset="0"/>
                <a:ea typeface="Arial" pitchFamily="34" charset="-122"/>
                <a:cs typeface="Arial" pitchFamily="34" charset="-120"/>
              </a:rPr>
              <a:t>5</a:t>
            </a:r>
            <a:endParaRPr lang="en-US" sz="900" dirty="0"/>
          </a:p>
        </p:txBody>
      </p:sp>
      <p:sp>
        <p:nvSpPr>
          <p:cNvPr id="9" name="Text 7"/>
          <p:cNvSpPr/>
          <p:nvPr/>
        </p:nvSpPr>
        <p:spPr>
          <a:xfrm>
            <a:off x="813816" y="502920"/>
            <a:ext cx="10570464" cy="256032"/>
          </a:xfrm>
          <a:prstGeom prst="rect">
            <a:avLst/>
          </a:prstGeom>
          <a:noFill/>
          <a:ln/>
        </p:spPr>
        <p:txBody>
          <a:bodyPr wrap="square" lIns="0" tIns="0" rIns="0" bIns="0" rtlCol="0" anchor="ctr"/>
          <a:lstStyle/>
          <a:p>
            <a:pPr indent="0" marL="0">
              <a:buNone/>
            </a:pPr>
            <a:r>
              <a:rPr lang="en-US" sz="1200" b="1" spc="220" kern="0" dirty="0">
                <a:solidFill>
                  <a:srgbClr val="8A6D14"/>
                </a:solidFill>
                <a:latin typeface="Arial" pitchFamily="34" charset="0"/>
                <a:ea typeface="Arial" pitchFamily="34" charset="-122"/>
                <a:cs typeface="Arial" pitchFamily="34" charset="-120"/>
              </a:rPr>
              <a:t>WHY MOST OF THIS FAILS</a:t>
            </a:r>
            <a:endParaRPr lang="en-US" sz="1200" dirty="0"/>
          </a:p>
        </p:txBody>
      </p:sp>
      <p:sp>
        <p:nvSpPr>
          <p:cNvPr id="10" name="Text 8"/>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Three ways a data program dies.</a:t>
            </a:r>
            <a:endParaRPr lang="en-US" sz="4000" dirty="0"/>
          </a:p>
        </p:txBody>
      </p:sp>
      <p:sp>
        <p:nvSpPr>
          <p:cNvPr id="11" name="Shape 9"/>
          <p:cNvSpPr/>
          <p:nvPr/>
        </p:nvSpPr>
        <p:spPr>
          <a:xfrm>
            <a:off x="813816" y="2067763"/>
            <a:ext cx="2487168" cy="2395728"/>
          </a:xfrm>
          <a:prstGeom prst="rect">
            <a:avLst/>
          </a:prstGeom>
          <a:solidFill>
            <a:srgbClr val="E8E2D2"/>
          </a:solidFill>
          <a:ln/>
        </p:spPr>
      </p:sp>
      <p:sp>
        <p:nvSpPr>
          <p:cNvPr id="12" name="Text 10"/>
          <p:cNvSpPr/>
          <p:nvPr/>
        </p:nvSpPr>
        <p:spPr>
          <a:xfrm>
            <a:off x="1051560" y="2268931"/>
            <a:ext cx="2011680" cy="530352"/>
          </a:xfrm>
          <a:prstGeom prst="rect">
            <a:avLst/>
          </a:prstGeom>
          <a:noFill/>
          <a:ln/>
        </p:spPr>
        <p:txBody>
          <a:bodyPr wrap="square" lIns="0" tIns="0" rIns="0" bIns="0" rtlCol="0" anchor="t"/>
          <a:lstStyle/>
          <a:p>
            <a:pPr indent="0" marL="0">
              <a:buNone/>
            </a:pPr>
            <a:r>
              <a:rPr lang="en-US" sz="3200" b="1" dirty="0">
                <a:solidFill>
                  <a:srgbClr val="8A6D14"/>
                </a:solidFill>
                <a:latin typeface="Georgia" pitchFamily="34" charset="0"/>
                <a:ea typeface="Georgia" pitchFamily="34" charset="-122"/>
                <a:cs typeface="Georgia" pitchFamily="34" charset="-120"/>
              </a:rPr>
              <a:t>01</a:t>
            </a:r>
            <a:endParaRPr lang="en-US" sz="3200" dirty="0"/>
          </a:p>
        </p:txBody>
      </p:sp>
      <p:sp>
        <p:nvSpPr>
          <p:cNvPr id="13" name="Text 11"/>
          <p:cNvSpPr/>
          <p:nvPr/>
        </p:nvSpPr>
        <p:spPr>
          <a:xfrm>
            <a:off x="1051560" y="2854147"/>
            <a:ext cx="2011680" cy="274320"/>
          </a:xfrm>
          <a:prstGeom prst="rect">
            <a:avLst/>
          </a:prstGeom>
          <a:noFill/>
          <a:ln/>
        </p:spPr>
        <p:txBody>
          <a:bodyPr wrap="square" lIns="0" tIns="0" rIns="0" bIns="0" rtlCol="0" anchor="t"/>
          <a:lstStyle/>
          <a:p>
            <a:pPr indent="0" marL="0">
              <a:buNone/>
            </a:pPr>
            <a:r>
              <a:rPr lang="en-US" sz="1500" b="1" spc="120" kern="0" dirty="0">
                <a:solidFill>
                  <a:srgbClr val="14213D"/>
                </a:solidFill>
                <a:latin typeface="Arial" pitchFamily="34" charset="0"/>
                <a:ea typeface="Arial" pitchFamily="34" charset="-122"/>
                <a:cs typeface="Arial" pitchFamily="34" charset="-120"/>
              </a:rPr>
              <a:t>TIME</a:t>
            </a:r>
            <a:endParaRPr lang="en-US" sz="1500" dirty="0"/>
          </a:p>
        </p:txBody>
      </p:sp>
      <p:sp>
        <p:nvSpPr>
          <p:cNvPr id="14" name="Text 12"/>
          <p:cNvSpPr/>
          <p:nvPr/>
        </p:nvSpPr>
        <p:spPr>
          <a:xfrm>
            <a:off x="1051560" y="3183331"/>
            <a:ext cx="2011680" cy="1097280"/>
          </a:xfrm>
          <a:prstGeom prst="rect">
            <a:avLst/>
          </a:prstGeom>
          <a:noFill/>
          <a:ln/>
        </p:spPr>
        <p:txBody>
          <a:bodyPr wrap="square" lIns="0" tIns="0" rIns="0" bIns="0" rtlCol="0" anchor="t"/>
          <a:lstStyle/>
          <a:p>
            <a:pPr indent="0" marL="0">
              <a:lnSpc>
                <a:spcPct val="116000"/>
              </a:lnSpc>
              <a:buNone/>
            </a:pPr>
            <a:r>
              <a:rPr lang="en-US" sz="1200" dirty="0">
                <a:solidFill>
                  <a:srgbClr val="14213D"/>
                </a:solidFill>
                <a:latin typeface="Arial" pitchFamily="34" charset="0"/>
                <a:ea typeface="Arial" pitchFamily="34" charset="-122"/>
                <a:cs typeface="Arial" pitchFamily="34" charset="-120"/>
              </a:rPr>
              <a:t>Slow infrastructure delays delivery until the business has already moved on.</a:t>
            </a:r>
            <a:endParaRPr lang="en-US" sz="1200" dirty="0"/>
          </a:p>
        </p:txBody>
      </p:sp>
      <p:sp>
        <p:nvSpPr>
          <p:cNvPr id="15" name="Shape 13"/>
          <p:cNvSpPr/>
          <p:nvPr/>
        </p:nvSpPr>
        <p:spPr>
          <a:xfrm>
            <a:off x="3575304" y="2067763"/>
            <a:ext cx="2487168" cy="2395728"/>
          </a:xfrm>
          <a:prstGeom prst="rect">
            <a:avLst/>
          </a:prstGeom>
          <a:solidFill>
            <a:srgbClr val="E8E2D2"/>
          </a:solidFill>
          <a:ln/>
        </p:spPr>
      </p:sp>
      <p:sp>
        <p:nvSpPr>
          <p:cNvPr id="16" name="Text 14"/>
          <p:cNvSpPr/>
          <p:nvPr/>
        </p:nvSpPr>
        <p:spPr>
          <a:xfrm>
            <a:off x="3813048" y="2268931"/>
            <a:ext cx="2011680" cy="530352"/>
          </a:xfrm>
          <a:prstGeom prst="rect">
            <a:avLst/>
          </a:prstGeom>
          <a:noFill/>
          <a:ln/>
        </p:spPr>
        <p:txBody>
          <a:bodyPr wrap="square" lIns="0" tIns="0" rIns="0" bIns="0" rtlCol="0" anchor="t"/>
          <a:lstStyle/>
          <a:p>
            <a:pPr indent="0" marL="0">
              <a:buNone/>
            </a:pPr>
            <a:r>
              <a:rPr lang="en-US" sz="3200" b="1" dirty="0">
                <a:solidFill>
                  <a:srgbClr val="8A6D14"/>
                </a:solidFill>
                <a:latin typeface="Georgia" pitchFamily="34" charset="0"/>
                <a:ea typeface="Georgia" pitchFamily="34" charset="-122"/>
                <a:cs typeface="Georgia" pitchFamily="34" charset="-120"/>
              </a:rPr>
              <a:t>02</a:t>
            </a:r>
            <a:endParaRPr lang="en-US" sz="3200" dirty="0"/>
          </a:p>
        </p:txBody>
      </p:sp>
      <p:sp>
        <p:nvSpPr>
          <p:cNvPr id="17" name="Text 15"/>
          <p:cNvSpPr/>
          <p:nvPr/>
        </p:nvSpPr>
        <p:spPr>
          <a:xfrm>
            <a:off x="3813048" y="2854147"/>
            <a:ext cx="2011680" cy="274320"/>
          </a:xfrm>
          <a:prstGeom prst="rect">
            <a:avLst/>
          </a:prstGeom>
          <a:noFill/>
          <a:ln/>
        </p:spPr>
        <p:txBody>
          <a:bodyPr wrap="square" lIns="0" tIns="0" rIns="0" bIns="0" rtlCol="0" anchor="t"/>
          <a:lstStyle/>
          <a:p>
            <a:pPr indent="0" marL="0">
              <a:buNone/>
            </a:pPr>
            <a:r>
              <a:rPr lang="en-US" sz="1500" b="1" spc="120" kern="0" dirty="0">
                <a:solidFill>
                  <a:srgbClr val="14213D"/>
                </a:solidFill>
                <a:latin typeface="Arial" pitchFamily="34" charset="0"/>
                <a:ea typeface="Arial" pitchFamily="34" charset="-122"/>
                <a:cs typeface="Arial" pitchFamily="34" charset="-120"/>
              </a:rPr>
              <a:t>MONEY</a:t>
            </a:r>
            <a:endParaRPr lang="en-US" sz="1500" dirty="0"/>
          </a:p>
        </p:txBody>
      </p:sp>
      <p:sp>
        <p:nvSpPr>
          <p:cNvPr id="18" name="Text 16"/>
          <p:cNvSpPr/>
          <p:nvPr/>
        </p:nvSpPr>
        <p:spPr>
          <a:xfrm>
            <a:off x="3813048" y="3183331"/>
            <a:ext cx="2011680" cy="1097280"/>
          </a:xfrm>
          <a:prstGeom prst="rect">
            <a:avLst/>
          </a:prstGeom>
          <a:noFill/>
          <a:ln/>
        </p:spPr>
        <p:txBody>
          <a:bodyPr wrap="square" lIns="0" tIns="0" rIns="0" bIns="0" rtlCol="0" anchor="t"/>
          <a:lstStyle/>
          <a:p>
            <a:pPr indent="0" marL="0">
              <a:lnSpc>
                <a:spcPct val="116000"/>
              </a:lnSpc>
              <a:buNone/>
            </a:pPr>
            <a:r>
              <a:rPr lang="en-US" sz="1200" dirty="0">
                <a:solidFill>
                  <a:srgbClr val="14213D"/>
                </a:solidFill>
                <a:latin typeface="Arial" pitchFamily="34" charset="0"/>
                <a:ea typeface="Arial" pitchFamily="34" charset="-122"/>
                <a:cs typeface="Arial" pitchFamily="34" charset="-120"/>
              </a:rPr>
              <a:t>Investment keeps going in while the returns never arrive.</a:t>
            </a:r>
            <a:endParaRPr lang="en-US" sz="1200" dirty="0"/>
          </a:p>
        </p:txBody>
      </p:sp>
      <p:sp>
        <p:nvSpPr>
          <p:cNvPr id="19" name="Shape 17"/>
          <p:cNvSpPr/>
          <p:nvPr/>
        </p:nvSpPr>
        <p:spPr>
          <a:xfrm>
            <a:off x="6336792" y="2067763"/>
            <a:ext cx="2487168" cy="2395728"/>
          </a:xfrm>
          <a:prstGeom prst="rect">
            <a:avLst/>
          </a:prstGeom>
          <a:solidFill>
            <a:srgbClr val="E8E2D2"/>
          </a:solidFill>
          <a:ln/>
        </p:spPr>
      </p:sp>
      <p:sp>
        <p:nvSpPr>
          <p:cNvPr id="20" name="Text 18"/>
          <p:cNvSpPr/>
          <p:nvPr/>
        </p:nvSpPr>
        <p:spPr>
          <a:xfrm>
            <a:off x="6574536" y="2268931"/>
            <a:ext cx="2011680" cy="530352"/>
          </a:xfrm>
          <a:prstGeom prst="rect">
            <a:avLst/>
          </a:prstGeom>
          <a:noFill/>
          <a:ln/>
        </p:spPr>
        <p:txBody>
          <a:bodyPr wrap="square" lIns="0" tIns="0" rIns="0" bIns="0" rtlCol="0" anchor="t"/>
          <a:lstStyle/>
          <a:p>
            <a:pPr indent="0" marL="0">
              <a:buNone/>
            </a:pPr>
            <a:r>
              <a:rPr lang="en-US" sz="3200" b="1" dirty="0">
                <a:solidFill>
                  <a:srgbClr val="8A6D14"/>
                </a:solidFill>
                <a:latin typeface="Georgia" pitchFamily="34" charset="0"/>
                <a:ea typeface="Georgia" pitchFamily="34" charset="-122"/>
                <a:cs typeface="Georgia" pitchFamily="34" charset="-120"/>
              </a:rPr>
              <a:t>03</a:t>
            </a:r>
            <a:endParaRPr lang="en-US" sz="3200" dirty="0"/>
          </a:p>
        </p:txBody>
      </p:sp>
      <p:sp>
        <p:nvSpPr>
          <p:cNvPr id="21" name="Text 19"/>
          <p:cNvSpPr/>
          <p:nvPr/>
        </p:nvSpPr>
        <p:spPr>
          <a:xfrm>
            <a:off x="6574536" y="2854147"/>
            <a:ext cx="2011680" cy="274320"/>
          </a:xfrm>
          <a:prstGeom prst="rect">
            <a:avLst/>
          </a:prstGeom>
          <a:noFill/>
          <a:ln/>
        </p:spPr>
        <p:txBody>
          <a:bodyPr wrap="square" lIns="0" tIns="0" rIns="0" bIns="0" rtlCol="0" anchor="t"/>
          <a:lstStyle/>
          <a:p>
            <a:pPr indent="0" marL="0">
              <a:buNone/>
            </a:pPr>
            <a:r>
              <a:rPr lang="en-US" sz="1500" b="1" spc="120" kern="0" dirty="0">
                <a:solidFill>
                  <a:srgbClr val="14213D"/>
                </a:solidFill>
                <a:latin typeface="Arial" pitchFamily="34" charset="0"/>
                <a:ea typeface="Arial" pitchFamily="34" charset="-122"/>
                <a:cs typeface="Arial" pitchFamily="34" charset="-120"/>
              </a:rPr>
              <a:t>PEOPLE</a:t>
            </a:r>
            <a:endParaRPr lang="en-US" sz="1500" dirty="0"/>
          </a:p>
        </p:txBody>
      </p:sp>
      <p:sp>
        <p:nvSpPr>
          <p:cNvPr id="22" name="Text 20"/>
          <p:cNvSpPr/>
          <p:nvPr/>
        </p:nvSpPr>
        <p:spPr>
          <a:xfrm>
            <a:off x="6574536" y="3183331"/>
            <a:ext cx="2011680" cy="1097280"/>
          </a:xfrm>
          <a:prstGeom prst="rect">
            <a:avLst/>
          </a:prstGeom>
          <a:noFill/>
          <a:ln/>
        </p:spPr>
        <p:txBody>
          <a:bodyPr wrap="square" lIns="0" tIns="0" rIns="0" bIns="0" rtlCol="0" anchor="t"/>
          <a:lstStyle/>
          <a:p>
            <a:pPr indent="0" marL="0">
              <a:lnSpc>
                <a:spcPct val="116000"/>
              </a:lnSpc>
              <a:buNone/>
            </a:pPr>
            <a:r>
              <a:rPr lang="en-US" sz="1200" dirty="0">
                <a:solidFill>
                  <a:srgbClr val="14213D"/>
                </a:solidFill>
                <a:latin typeface="Arial" pitchFamily="34" charset="0"/>
                <a:ea typeface="Arial" pitchFamily="34" charset="-122"/>
                <a:cs typeface="Arial" pitchFamily="34" charset="-120"/>
              </a:rPr>
              <a:t>Specialized teams are expensive, fragile, and hard to scale.</a:t>
            </a:r>
            <a:endParaRPr lang="en-US" sz="1200" dirty="0"/>
          </a:p>
        </p:txBody>
      </p:sp>
      <p:sp>
        <p:nvSpPr>
          <p:cNvPr id="23" name="Text 21"/>
          <p:cNvSpPr/>
          <p:nvPr/>
        </p:nvSpPr>
        <p:spPr>
          <a:xfrm>
            <a:off x="9226296" y="2159203"/>
            <a:ext cx="2151583" cy="1172627"/>
          </a:xfrm>
          <a:prstGeom prst="rect">
            <a:avLst/>
          </a:prstGeom>
          <a:noFill/>
          <a:ln/>
        </p:spPr>
        <p:txBody>
          <a:bodyPr wrap="square" lIns="0" tIns="0" rIns="0" bIns="0" rtlCol="0" anchor="t"/>
          <a:lstStyle/>
          <a:p>
            <a:pPr indent="0" marL="0">
              <a:buNone/>
            </a:pPr>
            <a:r>
              <a:rPr lang="en-US" sz="6600" b="1" dirty="0">
                <a:solidFill>
                  <a:srgbClr val="8A6D14"/>
                </a:solidFill>
                <a:latin typeface="Georgia" pitchFamily="34" charset="0"/>
                <a:ea typeface="Georgia" pitchFamily="34" charset="-122"/>
                <a:cs typeface="Georgia" pitchFamily="34" charset="-120"/>
              </a:rPr>
              <a:t>87%</a:t>
            </a:r>
            <a:endParaRPr lang="en-US" sz="6600" dirty="0"/>
          </a:p>
        </p:txBody>
      </p:sp>
      <p:sp>
        <p:nvSpPr>
          <p:cNvPr id="24" name="Text 22"/>
          <p:cNvSpPr/>
          <p:nvPr/>
        </p:nvSpPr>
        <p:spPr>
          <a:xfrm>
            <a:off x="9226296" y="3368406"/>
            <a:ext cx="2151583" cy="507492"/>
          </a:xfrm>
          <a:prstGeom prst="rect">
            <a:avLst/>
          </a:prstGeom>
          <a:noFill/>
          <a:ln/>
        </p:spPr>
        <p:txBody>
          <a:bodyPr wrap="square" lIns="0" tIns="0" rIns="0" bIns="0" rtlCol="0" anchor="t"/>
          <a:lstStyle/>
          <a:p>
            <a:pPr indent="0" marL="0">
              <a:lnSpc>
                <a:spcPct val="116000"/>
              </a:lnSpc>
              <a:buNone/>
            </a:pPr>
            <a:r>
              <a:rPr lang="en-US" sz="1300" dirty="0">
                <a:solidFill>
                  <a:srgbClr val="14213D"/>
                </a:solidFill>
                <a:latin typeface="Arial" pitchFamily="34" charset="0"/>
                <a:ea typeface="Arial" pitchFamily="34" charset="-122"/>
                <a:cs typeface="Arial" pitchFamily="34" charset="-120"/>
              </a:rPr>
              <a:t>of data science projects never reach production.</a:t>
            </a:r>
            <a:endParaRPr lang="en-US" sz="1300" dirty="0"/>
          </a:p>
        </p:txBody>
      </p:sp>
      <p:sp>
        <p:nvSpPr>
          <p:cNvPr id="25" name="Text 23"/>
          <p:cNvSpPr/>
          <p:nvPr/>
        </p:nvSpPr>
        <p:spPr>
          <a:xfrm>
            <a:off x="9226296" y="3930762"/>
            <a:ext cx="2151583" cy="164592"/>
          </a:xfrm>
          <a:prstGeom prst="rect">
            <a:avLst/>
          </a:prstGeom>
          <a:noFill/>
          <a:ln/>
        </p:spPr>
        <p:txBody>
          <a:bodyPr wrap="square" lIns="0" tIns="0" rIns="0" bIns="0" rtlCol="0" anchor="t"/>
          <a:lstStyle/>
          <a:p>
            <a:pPr indent="0" marL="0">
              <a:buNone/>
            </a:pPr>
            <a:r>
              <a:rPr lang="en-US" sz="900" i="1" dirty="0">
                <a:solidFill>
                  <a:srgbClr val="5A6379"/>
                </a:solidFill>
                <a:latin typeface="Arial" pitchFamily="34" charset="0"/>
                <a:ea typeface="Arial" pitchFamily="34" charset="-122"/>
                <a:cs typeface="Arial" pitchFamily="34" charset="-120"/>
              </a:rPr>
              <a:t>Gartner.</a:t>
            </a:r>
            <a:endParaRPr lang="en-US" sz="900" dirty="0"/>
          </a:p>
        </p:txBody>
      </p:sp>
      <p:sp>
        <p:nvSpPr>
          <p:cNvPr id="26" name="Text 24"/>
          <p:cNvSpPr/>
          <p:nvPr/>
        </p:nvSpPr>
        <p:spPr>
          <a:xfrm>
            <a:off x="813816" y="4791456"/>
            <a:ext cx="10570464" cy="299466"/>
          </a:xfrm>
          <a:prstGeom prst="rect">
            <a:avLst/>
          </a:prstGeom>
          <a:noFill/>
          <a:ln/>
        </p:spPr>
        <p:txBody>
          <a:bodyPr wrap="square" lIns="0" tIns="0" rIns="0" bIns="0" rtlCol="0" anchor="t"/>
          <a:lstStyle/>
          <a:p>
            <a:pPr algn="l" indent="0" marL="0">
              <a:lnSpc>
                <a:spcPct val="116000"/>
              </a:lnSpc>
              <a:buNone/>
            </a:pPr>
            <a:r>
              <a:rPr lang="en-US" sz="1300" b="1" dirty="0">
                <a:solidFill>
                  <a:srgbClr val="15616D"/>
                </a:solidFill>
                <a:latin typeface="Arial" pitchFamily="34" charset="0"/>
                <a:ea typeface="Arial" pitchFamily="34" charset="-122"/>
                <a:cs typeface="Arial" pitchFamily="34" charset="-120"/>
              </a:rPr>
              <a:t>Every choice in this strategy was made to dodge one of those three.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1786128"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SIGCOMPASS REVEAL</a:t>
            </a:r>
            <a:endParaRPr lang="en-US" sz="900" dirty="0"/>
          </a:p>
        </p:txBody>
      </p:sp>
      <p:sp>
        <p:nvSpPr>
          <p:cNvPr id="6" name="Shape 4"/>
          <p:cNvSpPr/>
          <p:nvPr/>
        </p:nvSpPr>
        <p:spPr>
          <a:xfrm rot="2700000">
            <a:off x="3898392" y="6003036"/>
            <a:ext cx="64008" cy="64008"/>
          </a:xfrm>
          <a:prstGeom prst="rect">
            <a:avLst/>
          </a:prstGeom>
          <a:solidFill>
            <a:srgbClr val="C9A227"/>
          </a:solidFill>
          <a:ln w="3175">
            <a:solidFill>
              <a:srgbClr val="C9A227"/>
            </a:solidFill>
            <a:prstDash val="solid"/>
          </a:ln>
        </p:spPr>
      </p:sp>
      <p:sp>
        <p:nvSpPr>
          <p:cNvPr id="7" name="Text 5"/>
          <p:cNvSpPr/>
          <p:nvPr/>
        </p:nvSpPr>
        <p:spPr>
          <a:xfrm>
            <a:off x="4081272" y="5943600"/>
            <a:ext cx="1200912"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AFA893"/>
                </a:solidFill>
                <a:latin typeface="Arial" pitchFamily="34" charset="0"/>
                <a:ea typeface="Arial" pitchFamily="34" charset="-122"/>
                <a:cs typeface="Arial" pitchFamily="34" charset="-120"/>
              </a:rPr>
              <a:t>6</a:t>
            </a:r>
            <a:endParaRPr lang="en-US" sz="900" dirty="0"/>
          </a:p>
        </p:txBody>
      </p:sp>
      <p:sp>
        <p:nvSpPr>
          <p:cNvPr id="9" name="Text 7"/>
          <p:cNvSpPr/>
          <p:nvPr/>
        </p:nvSpPr>
        <p:spPr>
          <a:xfrm>
            <a:off x="813816" y="502920"/>
            <a:ext cx="10570464" cy="256032"/>
          </a:xfrm>
          <a:prstGeom prst="rect">
            <a:avLst/>
          </a:prstGeom>
          <a:noFill/>
          <a:ln/>
        </p:spPr>
        <p:txBody>
          <a:bodyPr wrap="square" lIns="0" tIns="0" rIns="0" bIns="0" rtlCol="0" anchor="ctr"/>
          <a:lstStyle/>
          <a:p>
            <a:pPr indent="0" marL="0">
              <a:buNone/>
            </a:pPr>
            <a:r>
              <a:rPr lang="en-US" sz="1200" b="1" spc="220" kern="0" dirty="0">
                <a:solidFill>
                  <a:srgbClr val="E7C766"/>
                </a:solidFill>
                <a:latin typeface="Arial" pitchFamily="34" charset="0"/>
                <a:ea typeface="Arial" pitchFamily="34" charset="-122"/>
                <a:cs typeface="Arial" pitchFamily="34" charset="-120"/>
              </a:rPr>
              <a:t>SIGNATURE'S EXECUTIVE DATA STRATEGY</a:t>
            </a:r>
            <a:endParaRPr lang="en-US" sz="1200" dirty="0"/>
          </a:p>
        </p:txBody>
      </p:sp>
      <p:sp>
        <p:nvSpPr>
          <p:cNvPr id="10" name="Text 8"/>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F7F3EA"/>
                </a:solidFill>
                <a:latin typeface="Georgia" pitchFamily="34" charset="0"/>
                <a:ea typeface="Georgia" pitchFamily="34" charset="-122"/>
                <a:cs typeface="Georgia" pitchFamily="34" charset="-120"/>
              </a:rPr>
              <a:t>The strategy flywheel.</a:t>
            </a:r>
            <a:endParaRPr lang="en-US" sz="4000" dirty="0"/>
          </a:p>
        </p:txBody>
      </p:sp>
      <p:sp>
        <p:nvSpPr>
          <p:cNvPr id="11" name="Shape 9"/>
          <p:cNvSpPr/>
          <p:nvPr/>
        </p:nvSpPr>
        <p:spPr>
          <a:xfrm>
            <a:off x="3027274" y="2424379"/>
            <a:ext cx="1809293" cy="1809293"/>
          </a:xfrm>
          <a:prstGeom prst="ellipse">
            <a:avLst/>
          </a:prstGeom>
          <a:ln w="12700">
            <a:solidFill>
              <a:srgbClr val="C9A227"/>
            </a:solidFill>
            <a:prstDash val="solid"/>
          </a:ln>
        </p:spPr>
      </p:sp>
      <p:sp>
        <p:nvSpPr>
          <p:cNvPr id="12" name="Shape 10"/>
          <p:cNvSpPr/>
          <p:nvPr/>
        </p:nvSpPr>
        <p:spPr>
          <a:xfrm rot="2700000">
            <a:off x="4512166" y="2629908"/>
            <a:ext cx="118872" cy="118872"/>
          </a:xfrm>
          <a:prstGeom prst="triangle">
            <a:avLst/>
          </a:prstGeom>
          <a:solidFill>
            <a:srgbClr val="C9A227"/>
          </a:solidFill>
          <a:ln/>
        </p:spPr>
      </p:sp>
      <p:sp>
        <p:nvSpPr>
          <p:cNvPr id="13" name="Shape 11"/>
          <p:cNvSpPr/>
          <p:nvPr/>
        </p:nvSpPr>
        <p:spPr>
          <a:xfrm rot="8100000">
            <a:off x="4512166" y="3909271"/>
            <a:ext cx="118872" cy="118872"/>
          </a:xfrm>
          <a:prstGeom prst="triangle">
            <a:avLst/>
          </a:prstGeom>
          <a:solidFill>
            <a:srgbClr val="C9A227"/>
          </a:solidFill>
          <a:ln/>
        </p:spPr>
      </p:sp>
      <p:sp>
        <p:nvSpPr>
          <p:cNvPr id="14" name="Shape 12"/>
          <p:cNvSpPr/>
          <p:nvPr/>
        </p:nvSpPr>
        <p:spPr>
          <a:xfrm rot="13500000">
            <a:off x="3232802" y="3909271"/>
            <a:ext cx="118872" cy="118872"/>
          </a:xfrm>
          <a:prstGeom prst="triangle">
            <a:avLst/>
          </a:prstGeom>
          <a:solidFill>
            <a:srgbClr val="C9A227"/>
          </a:solidFill>
          <a:ln/>
        </p:spPr>
      </p:sp>
      <p:sp>
        <p:nvSpPr>
          <p:cNvPr id="15" name="Shape 13"/>
          <p:cNvSpPr/>
          <p:nvPr/>
        </p:nvSpPr>
        <p:spPr>
          <a:xfrm rot="18900000">
            <a:off x="3232802" y="2629908"/>
            <a:ext cx="118872" cy="118872"/>
          </a:xfrm>
          <a:prstGeom prst="triangle">
            <a:avLst/>
          </a:prstGeom>
          <a:solidFill>
            <a:srgbClr val="C9A227"/>
          </a:solidFill>
          <a:ln/>
        </p:spPr>
      </p:sp>
      <p:sp>
        <p:nvSpPr>
          <p:cNvPr id="16" name="Shape 14"/>
          <p:cNvSpPr/>
          <p:nvPr/>
        </p:nvSpPr>
        <p:spPr>
          <a:xfrm>
            <a:off x="3407225" y="2804331"/>
            <a:ext cx="1049390" cy="1049390"/>
          </a:xfrm>
          <a:prstGeom prst="ellipse">
            <a:avLst/>
          </a:prstGeom>
          <a:solidFill>
            <a:srgbClr val="1E808F"/>
          </a:solidFill>
          <a:ln/>
        </p:spPr>
      </p:sp>
      <p:sp>
        <p:nvSpPr>
          <p:cNvPr id="17" name="Text 15"/>
          <p:cNvSpPr/>
          <p:nvPr/>
        </p:nvSpPr>
        <p:spPr>
          <a:xfrm>
            <a:off x="3452945" y="3147416"/>
            <a:ext cx="957950" cy="363220"/>
          </a:xfrm>
          <a:prstGeom prst="rect">
            <a:avLst/>
          </a:prstGeom>
          <a:noFill/>
          <a:ln/>
        </p:spPr>
        <p:txBody>
          <a:bodyPr wrap="square" lIns="0" tIns="0" rIns="0" bIns="0" rtlCol="0" anchor="ctr"/>
          <a:lstStyle/>
          <a:p>
            <a:pPr algn="ctr" indent="0" marL="0">
              <a:lnSpc>
                <a:spcPct val="102000"/>
              </a:lnSpc>
              <a:buNone/>
            </a:pPr>
            <a:r>
              <a:rPr lang="en-US" sz="1100" b="1" dirty="0">
                <a:solidFill>
                  <a:srgbClr val="FFFFFF"/>
                </a:solidFill>
                <a:latin typeface="Georgia" pitchFamily="34" charset="0"/>
                <a:ea typeface="Georgia" pitchFamily="34" charset="-122"/>
                <a:cs typeface="Georgia" pitchFamily="34" charset="-120"/>
              </a:rPr>
              <a:t>REVENUE</a:t>
            </a:r>
            <a:endParaRPr lang="en-US" sz="1100" dirty="0"/>
          </a:p>
          <a:p>
            <a:pPr algn="ctr" indent="0" marL="0">
              <a:lnSpc>
                <a:spcPct val="102000"/>
              </a:lnSpc>
              <a:buNone/>
            </a:pPr>
            <a:r>
              <a:rPr lang="en-US" sz="1100" b="1" dirty="0">
                <a:solidFill>
                  <a:srgbClr val="FFFFFF"/>
                </a:solidFill>
                <a:latin typeface="Georgia" pitchFamily="34" charset="0"/>
                <a:ea typeface="Georgia" pitchFamily="34" charset="-122"/>
                <a:cs typeface="Georgia" pitchFamily="34" charset="-120"/>
              </a:rPr>
              <a:t>GROWTH</a:t>
            </a:r>
            <a:endParaRPr lang="en-US" sz="1100" dirty="0"/>
          </a:p>
        </p:txBody>
      </p:sp>
      <p:sp>
        <p:nvSpPr>
          <p:cNvPr id="18" name="Shape 16"/>
          <p:cNvSpPr/>
          <p:nvPr/>
        </p:nvSpPr>
        <p:spPr>
          <a:xfrm>
            <a:off x="3648456" y="2140915"/>
            <a:ext cx="566928" cy="566928"/>
          </a:xfrm>
          <a:prstGeom prst="ellipse">
            <a:avLst/>
          </a:prstGeom>
          <a:solidFill>
            <a:srgbClr val="14213D"/>
          </a:solidFill>
          <a:ln w="12700">
            <a:solidFill>
              <a:srgbClr val="C9A227"/>
            </a:solidFill>
            <a:prstDash val="solid"/>
          </a:ln>
        </p:spPr>
      </p:sp>
      <p:sp>
        <p:nvSpPr>
          <p:cNvPr id="19" name="Text 17"/>
          <p:cNvSpPr/>
          <p:nvPr/>
        </p:nvSpPr>
        <p:spPr>
          <a:xfrm>
            <a:off x="3648456" y="2140915"/>
            <a:ext cx="566928" cy="566928"/>
          </a:xfrm>
          <a:prstGeom prst="rect">
            <a:avLst/>
          </a:prstGeom>
          <a:noFill/>
          <a:ln/>
        </p:spPr>
        <p:txBody>
          <a:bodyPr wrap="square" lIns="0" tIns="0" rIns="0" bIns="0" rtlCol="0" anchor="ctr"/>
          <a:lstStyle/>
          <a:p>
            <a:pPr algn="ctr" indent="0" marL="0">
              <a:buNone/>
            </a:pPr>
            <a:r>
              <a:rPr lang="en-US" sz="1200" b="1" dirty="0">
                <a:solidFill>
                  <a:srgbClr val="E7C766"/>
                </a:solidFill>
                <a:latin typeface="Georgia" pitchFamily="34" charset="0"/>
                <a:ea typeface="Georgia" pitchFamily="34" charset="-122"/>
                <a:cs typeface="Georgia" pitchFamily="34" charset="-120"/>
              </a:rPr>
              <a:t>01</a:t>
            </a:r>
            <a:endParaRPr lang="en-US" sz="1200" dirty="0"/>
          </a:p>
        </p:txBody>
      </p:sp>
      <p:sp>
        <p:nvSpPr>
          <p:cNvPr id="20" name="Text 18"/>
          <p:cNvSpPr/>
          <p:nvPr/>
        </p:nvSpPr>
        <p:spPr>
          <a:xfrm>
            <a:off x="3145536" y="1816303"/>
            <a:ext cx="1572768" cy="251460"/>
          </a:xfrm>
          <a:prstGeom prst="rect">
            <a:avLst/>
          </a:prstGeom>
          <a:noFill/>
          <a:ln/>
        </p:spPr>
        <p:txBody>
          <a:bodyPr wrap="square" lIns="0" tIns="0" rIns="0" bIns="0" rtlCol="0" anchor="ctr"/>
          <a:lstStyle/>
          <a:p>
            <a:pPr algn="ctr" indent="0" marL="0">
              <a:buNone/>
            </a:pPr>
            <a:r>
              <a:rPr lang="en-US" sz="1000" b="1" spc="120" kern="0" dirty="0">
                <a:solidFill>
                  <a:srgbClr val="E7C766"/>
                </a:solidFill>
                <a:latin typeface="Arial" pitchFamily="34" charset="0"/>
                <a:ea typeface="Arial" pitchFamily="34" charset="-122"/>
                <a:cs typeface="Arial" pitchFamily="34" charset="-120"/>
              </a:rPr>
              <a:t>MORE BOOKINGS</a:t>
            </a:r>
            <a:endParaRPr lang="en-US" sz="1000" dirty="0"/>
          </a:p>
        </p:txBody>
      </p:sp>
      <p:sp>
        <p:nvSpPr>
          <p:cNvPr id="21" name="Shape 19"/>
          <p:cNvSpPr/>
          <p:nvPr/>
        </p:nvSpPr>
        <p:spPr>
          <a:xfrm>
            <a:off x="4553102" y="3045562"/>
            <a:ext cx="566928" cy="566928"/>
          </a:xfrm>
          <a:prstGeom prst="ellipse">
            <a:avLst/>
          </a:prstGeom>
          <a:solidFill>
            <a:srgbClr val="14213D"/>
          </a:solidFill>
          <a:ln w="12700">
            <a:solidFill>
              <a:srgbClr val="C9A227"/>
            </a:solidFill>
            <a:prstDash val="solid"/>
          </a:ln>
        </p:spPr>
      </p:sp>
      <p:sp>
        <p:nvSpPr>
          <p:cNvPr id="22" name="Text 20"/>
          <p:cNvSpPr/>
          <p:nvPr/>
        </p:nvSpPr>
        <p:spPr>
          <a:xfrm>
            <a:off x="4553102" y="3045562"/>
            <a:ext cx="566928" cy="566928"/>
          </a:xfrm>
          <a:prstGeom prst="rect">
            <a:avLst/>
          </a:prstGeom>
          <a:noFill/>
          <a:ln/>
        </p:spPr>
        <p:txBody>
          <a:bodyPr wrap="square" lIns="0" tIns="0" rIns="0" bIns="0" rtlCol="0" anchor="ctr"/>
          <a:lstStyle/>
          <a:p>
            <a:pPr algn="ctr" indent="0" marL="0">
              <a:buNone/>
            </a:pPr>
            <a:r>
              <a:rPr lang="en-US" sz="1200" b="1" dirty="0">
                <a:solidFill>
                  <a:srgbClr val="E7C766"/>
                </a:solidFill>
                <a:latin typeface="Georgia" pitchFamily="34" charset="0"/>
                <a:ea typeface="Georgia" pitchFamily="34" charset="-122"/>
                <a:cs typeface="Georgia" pitchFamily="34" charset="-120"/>
              </a:rPr>
              <a:t>02</a:t>
            </a:r>
            <a:endParaRPr lang="en-US" sz="1200" dirty="0"/>
          </a:p>
        </p:txBody>
      </p:sp>
      <p:sp>
        <p:nvSpPr>
          <p:cNvPr id="23" name="Text 21"/>
          <p:cNvSpPr/>
          <p:nvPr/>
        </p:nvSpPr>
        <p:spPr>
          <a:xfrm>
            <a:off x="5248046" y="3203296"/>
            <a:ext cx="1069848" cy="251460"/>
          </a:xfrm>
          <a:prstGeom prst="rect">
            <a:avLst/>
          </a:prstGeom>
          <a:noFill/>
          <a:ln/>
        </p:spPr>
        <p:txBody>
          <a:bodyPr wrap="square" lIns="0" tIns="0" rIns="0" bIns="0" rtlCol="0" anchor="ctr"/>
          <a:lstStyle/>
          <a:p>
            <a:pPr algn="l" indent="0" marL="0">
              <a:buNone/>
            </a:pPr>
            <a:r>
              <a:rPr lang="en-US" sz="1000" b="1" spc="120" kern="0" dirty="0">
                <a:solidFill>
                  <a:srgbClr val="E7C766"/>
                </a:solidFill>
                <a:latin typeface="Arial" pitchFamily="34" charset="0"/>
                <a:ea typeface="Arial" pitchFamily="34" charset="-122"/>
                <a:cs typeface="Arial" pitchFamily="34" charset="-120"/>
              </a:rPr>
              <a:t>MORE DATA</a:t>
            </a:r>
            <a:endParaRPr lang="en-US" sz="1000" dirty="0"/>
          </a:p>
        </p:txBody>
      </p:sp>
      <p:sp>
        <p:nvSpPr>
          <p:cNvPr id="24" name="Shape 22"/>
          <p:cNvSpPr/>
          <p:nvPr/>
        </p:nvSpPr>
        <p:spPr>
          <a:xfrm>
            <a:off x="3648456" y="3950208"/>
            <a:ext cx="566928" cy="566928"/>
          </a:xfrm>
          <a:prstGeom prst="ellipse">
            <a:avLst/>
          </a:prstGeom>
          <a:solidFill>
            <a:srgbClr val="14213D"/>
          </a:solidFill>
          <a:ln w="12700">
            <a:solidFill>
              <a:srgbClr val="C9A227"/>
            </a:solidFill>
            <a:prstDash val="solid"/>
          </a:ln>
        </p:spPr>
      </p:sp>
      <p:sp>
        <p:nvSpPr>
          <p:cNvPr id="25" name="Text 23"/>
          <p:cNvSpPr/>
          <p:nvPr/>
        </p:nvSpPr>
        <p:spPr>
          <a:xfrm>
            <a:off x="3648456" y="3950208"/>
            <a:ext cx="566928" cy="566928"/>
          </a:xfrm>
          <a:prstGeom prst="rect">
            <a:avLst/>
          </a:prstGeom>
          <a:noFill/>
          <a:ln/>
        </p:spPr>
        <p:txBody>
          <a:bodyPr wrap="square" lIns="0" tIns="0" rIns="0" bIns="0" rtlCol="0" anchor="ctr"/>
          <a:lstStyle/>
          <a:p>
            <a:pPr algn="ctr" indent="0" marL="0">
              <a:buNone/>
            </a:pPr>
            <a:r>
              <a:rPr lang="en-US" sz="1200" b="1" dirty="0">
                <a:solidFill>
                  <a:srgbClr val="E7C766"/>
                </a:solidFill>
                <a:latin typeface="Georgia" pitchFamily="34" charset="0"/>
                <a:ea typeface="Georgia" pitchFamily="34" charset="-122"/>
                <a:cs typeface="Georgia" pitchFamily="34" charset="-120"/>
              </a:rPr>
              <a:t>03</a:t>
            </a:r>
            <a:endParaRPr lang="en-US" sz="1200" dirty="0"/>
          </a:p>
        </p:txBody>
      </p:sp>
      <p:sp>
        <p:nvSpPr>
          <p:cNvPr id="26" name="Text 24"/>
          <p:cNvSpPr/>
          <p:nvPr/>
        </p:nvSpPr>
        <p:spPr>
          <a:xfrm>
            <a:off x="2863596" y="4590288"/>
            <a:ext cx="2136648" cy="251460"/>
          </a:xfrm>
          <a:prstGeom prst="rect">
            <a:avLst/>
          </a:prstGeom>
          <a:noFill/>
          <a:ln/>
        </p:spPr>
        <p:txBody>
          <a:bodyPr wrap="square" lIns="0" tIns="0" rIns="0" bIns="0" rtlCol="0" anchor="ctr"/>
          <a:lstStyle/>
          <a:p>
            <a:pPr algn="ctr" indent="0" marL="0">
              <a:buNone/>
            </a:pPr>
            <a:r>
              <a:rPr lang="en-US" sz="1000" b="1" spc="120" kern="0" dirty="0">
                <a:solidFill>
                  <a:srgbClr val="E7C766"/>
                </a:solidFill>
                <a:latin typeface="Arial" pitchFamily="34" charset="0"/>
                <a:ea typeface="Arial" pitchFamily="34" charset="-122"/>
                <a:cs typeface="Arial" pitchFamily="34" charset="-120"/>
              </a:rPr>
              <a:t>MORE PERSONAL TRIPS</a:t>
            </a:r>
            <a:endParaRPr lang="en-US" sz="1000" dirty="0"/>
          </a:p>
        </p:txBody>
      </p:sp>
      <p:sp>
        <p:nvSpPr>
          <p:cNvPr id="27" name="Shape 25"/>
          <p:cNvSpPr/>
          <p:nvPr/>
        </p:nvSpPr>
        <p:spPr>
          <a:xfrm>
            <a:off x="2743810" y="3045562"/>
            <a:ext cx="566928" cy="566928"/>
          </a:xfrm>
          <a:prstGeom prst="ellipse">
            <a:avLst/>
          </a:prstGeom>
          <a:solidFill>
            <a:srgbClr val="14213D"/>
          </a:solidFill>
          <a:ln w="12700">
            <a:solidFill>
              <a:srgbClr val="C9A227"/>
            </a:solidFill>
            <a:prstDash val="solid"/>
          </a:ln>
        </p:spPr>
      </p:sp>
      <p:sp>
        <p:nvSpPr>
          <p:cNvPr id="28" name="Text 26"/>
          <p:cNvSpPr/>
          <p:nvPr/>
        </p:nvSpPr>
        <p:spPr>
          <a:xfrm>
            <a:off x="2743810" y="3045562"/>
            <a:ext cx="566928" cy="566928"/>
          </a:xfrm>
          <a:prstGeom prst="rect">
            <a:avLst/>
          </a:prstGeom>
          <a:noFill/>
          <a:ln/>
        </p:spPr>
        <p:txBody>
          <a:bodyPr wrap="square" lIns="0" tIns="0" rIns="0" bIns="0" rtlCol="0" anchor="ctr"/>
          <a:lstStyle/>
          <a:p>
            <a:pPr algn="ctr" indent="0" marL="0">
              <a:buNone/>
            </a:pPr>
            <a:r>
              <a:rPr lang="en-US" sz="1200" b="1" dirty="0">
                <a:solidFill>
                  <a:srgbClr val="E7C766"/>
                </a:solidFill>
                <a:latin typeface="Georgia" pitchFamily="34" charset="0"/>
                <a:ea typeface="Georgia" pitchFamily="34" charset="-122"/>
                <a:cs typeface="Georgia" pitchFamily="34" charset="-120"/>
              </a:rPr>
              <a:t>04</a:t>
            </a:r>
            <a:endParaRPr lang="en-US" sz="1200" dirty="0"/>
          </a:p>
        </p:txBody>
      </p:sp>
      <p:sp>
        <p:nvSpPr>
          <p:cNvPr id="29" name="Text 27"/>
          <p:cNvSpPr/>
          <p:nvPr/>
        </p:nvSpPr>
        <p:spPr>
          <a:xfrm>
            <a:off x="1119226" y="3203296"/>
            <a:ext cx="1496568" cy="251460"/>
          </a:xfrm>
          <a:prstGeom prst="rect">
            <a:avLst/>
          </a:prstGeom>
          <a:noFill/>
          <a:ln/>
        </p:spPr>
        <p:txBody>
          <a:bodyPr wrap="square" lIns="0" tIns="0" rIns="0" bIns="0" rtlCol="0" anchor="ctr"/>
          <a:lstStyle/>
          <a:p>
            <a:pPr algn="r" indent="0" marL="0">
              <a:buNone/>
            </a:pPr>
            <a:r>
              <a:rPr lang="en-US" sz="1000" b="1" spc="120" kern="0" dirty="0">
                <a:solidFill>
                  <a:srgbClr val="E7C766"/>
                </a:solidFill>
                <a:latin typeface="Arial" pitchFamily="34" charset="0"/>
                <a:ea typeface="Arial" pitchFamily="34" charset="-122"/>
                <a:cs typeface="Arial" pitchFamily="34" charset="-120"/>
              </a:rPr>
              <a:t>MORE BOOKINGS</a:t>
            </a:r>
            <a:endParaRPr lang="en-US" sz="1000" dirty="0"/>
          </a:p>
        </p:txBody>
      </p:sp>
      <p:sp>
        <p:nvSpPr>
          <p:cNvPr id="30" name="Text 28"/>
          <p:cNvSpPr/>
          <p:nvPr/>
        </p:nvSpPr>
        <p:spPr>
          <a:xfrm>
            <a:off x="6903720" y="1811731"/>
            <a:ext cx="4480560" cy="299466"/>
          </a:xfrm>
          <a:prstGeom prst="rect">
            <a:avLst/>
          </a:prstGeom>
          <a:noFill/>
          <a:ln/>
        </p:spPr>
        <p:txBody>
          <a:bodyPr wrap="square" lIns="0" tIns="0" rIns="0" bIns="0" rtlCol="0" anchor="t"/>
          <a:lstStyle/>
          <a:p>
            <a:pPr indent="0" marL="0">
              <a:buNone/>
            </a:pPr>
            <a:r>
              <a:rPr lang="en-US" sz="1300" b="1" dirty="0">
                <a:solidFill>
                  <a:srgbClr val="E7C766"/>
                </a:solidFill>
                <a:latin typeface="Arial" pitchFamily="34" charset="0"/>
                <a:ea typeface="Arial" pitchFamily="34" charset="-122"/>
                <a:cs typeface="Arial" pitchFamily="34" charset="-120"/>
              </a:rPr>
              <a:t>01  </a:t>
            </a:r>
            <a:pPr indent="0" marL="0">
              <a:buNone/>
            </a:pPr>
            <a:r>
              <a:rPr lang="en-US" sz="1300" b="1" spc="100" kern="0" dirty="0">
                <a:solidFill>
                  <a:srgbClr val="F7F3EA"/>
                </a:solidFill>
                <a:latin typeface="Arial" pitchFamily="34" charset="0"/>
                <a:ea typeface="Arial" pitchFamily="34" charset="-122"/>
                <a:cs typeface="Arial" pitchFamily="34" charset="-120"/>
              </a:rPr>
              <a:t>MORE BOOKINGS</a:t>
            </a:r>
            <a:endParaRPr lang="en-US" sz="1300" dirty="0"/>
          </a:p>
        </p:txBody>
      </p:sp>
      <p:sp>
        <p:nvSpPr>
          <p:cNvPr id="31" name="Text 29"/>
          <p:cNvSpPr/>
          <p:nvPr/>
        </p:nvSpPr>
        <p:spPr>
          <a:xfrm>
            <a:off x="6903720" y="2129485"/>
            <a:ext cx="4480560" cy="283464"/>
          </a:xfrm>
          <a:prstGeom prst="rect">
            <a:avLst/>
          </a:prstGeom>
          <a:noFill/>
          <a:ln/>
        </p:spPr>
        <p:txBody>
          <a:bodyPr wrap="square" lIns="0" tIns="0" rIns="0" bIns="0" rtlCol="0" anchor="t"/>
          <a:lstStyle/>
          <a:p>
            <a:pPr indent="0" marL="0">
              <a:lnSpc>
                <a:spcPct val="116000"/>
              </a:lnSpc>
              <a:buNone/>
            </a:pPr>
            <a:r>
              <a:rPr lang="en-US" sz="1200" dirty="0">
                <a:solidFill>
                  <a:srgbClr val="F7F3EA"/>
                </a:solidFill>
                <a:latin typeface="Arial" pitchFamily="34" charset="0"/>
                <a:ea typeface="Arial" pitchFamily="34" charset="-122"/>
                <a:cs typeface="Arial" pitchFamily="34" charset="-120"/>
              </a:rPr>
              <a:t>Every booking is revenue today, and a record tomorrow.</a:t>
            </a:r>
            <a:endParaRPr lang="en-US" sz="1200" dirty="0"/>
          </a:p>
        </p:txBody>
      </p:sp>
      <p:sp>
        <p:nvSpPr>
          <p:cNvPr id="32" name="Text 30"/>
          <p:cNvSpPr/>
          <p:nvPr/>
        </p:nvSpPr>
        <p:spPr>
          <a:xfrm>
            <a:off x="6903720" y="2559253"/>
            <a:ext cx="4480560" cy="299466"/>
          </a:xfrm>
          <a:prstGeom prst="rect">
            <a:avLst/>
          </a:prstGeom>
          <a:noFill/>
          <a:ln/>
        </p:spPr>
        <p:txBody>
          <a:bodyPr wrap="square" lIns="0" tIns="0" rIns="0" bIns="0" rtlCol="0" anchor="t"/>
          <a:lstStyle/>
          <a:p>
            <a:pPr indent="0" marL="0">
              <a:buNone/>
            </a:pPr>
            <a:r>
              <a:rPr lang="en-US" sz="1300" b="1" dirty="0">
                <a:solidFill>
                  <a:srgbClr val="E7C766"/>
                </a:solidFill>
                <a:latin typeface="Arial" pitchFamily="34" charset="0"/>
                <a:ea typeface="Arial" pitchFamily="34" charset="-122"/>
                <a:cs typeface="Arial" pitchFamily="34" charset="-120"/>
              </a:rPr>
              <a:t>02  </a:t>
            </a:r>
            <a:pPr indent="0" marL="0">
              <a:buNone/>
            </a:pPr>
            <a:r>
              <a:rPr lang="en-US" sz="1300" b="1" spc="100" kern="0" dirty="0">
                <a:solidFill>
                  <a:srgbClr val="F7F3EA"/>
                </a:solidFill>
                <a:latin typeface="Arial" pitchFamily="34" charset="0"/>
                <a:ea typeface="Arial" pitchFamily="34" charset="-122"/>
                <a:cs typeface="Arial" pitchFamily="34" charset="-120"/>
              </a:rPr>
              <a:t>MORE DATA</a:t>
            </a:r>
            <a:endParaRPr lang="en-US" sz="1300" dirty="0"/>
          </a:p>
        </p:txBody>
      </p:sp>
      <p:sp>
        <p:nvSpPr>
          <p:cNvPr id="33" name="Text 31"/>
          <p:cNvSpPr/>
          <p:nvPr/>
        </p:nvSpPr>
        <p:spPr>
          <a:xfrm>
            <a:off x="6903720" y="2877007"/>
            <a:ext cx="4480560" cy="283464"/>
          </a:xfrm>
          <a:prstGeom prst="rect">
            <a:avLst/>
          </a:prstGeom>
          <a:noFill/>
          <a:ln/>
        </p:spPr>
        <p:txBody>
          <a:bodyPr wrap="square" lIns="0" tIns="0" rIns="0" bIns="0" rtlCol="0" anchor="t"/>
          <a:lstStyle/>
          <a:p>
            <a:pPr indent="0" marL="0">
              <a:lnSpc>
                <a:spcPct val="116000"/>
              </a:lnSpc>
              <a:buNone/>
            </a:pPr>
            <a:r>
              <a:rPr lang="en-US" sz="1200" dirty="0">
                <a:solidFill>
                  <a:srgbClr val="F7F3EA"/>
                </a:solidFill>
                <a:latin typeface="Arial" pitchFamily="34" charset="0"/>
                <a:ea typeface="Arial" pitchFamily="34" charset="-122"/>
                <a:cs typeface="Arial" pitchFamily="34" charset="-120"/>
              </a:rPr>
              <a:t>Every booking and session enriches the shared asset.</a:t>
            </a:r>
            <a:endParaRPr lang="en-US" sz="1200" dirty="0"/>
          </a:p>
        </p:txBody>
      </p:sp>
      <p:sp>
        <p:nvSpPr>
          <p:cNvPr id="34" name="Text 32"/>
          <p:cNvSpPr/>
          <p:nvPr/>
        </p:nvSpPr>
        <p:spPr>
          <a:xfrm>
            <a:off x="6903720" y="3306775"/>
            <a:ext cx="4480560" cy="299466"/>
          </a:xfrm>
          <a:prstGeom prst="rect">
            <a:avLst/>
          </a:prstGeom>
          <a:noFill/>
          <a:ln/>
        </p:spPr>
        <p:txBody>
          <a:bodyPr wrap="square" lIns="0" tIns="0" rIns="0" bIns="0" rtlCol="0" anchor="t"/>
          <a:lstStyle/>
          <a:p>
            <a:pPr indent="0" marL="0">
              <a:buNone/>
            </a:pPr>
            <a:r>
              <a:rPr lang="en-US" sz="1300" b="1" dirty="0">
                <a:solidFill>
                  <a:srgbClr val="E7C766"/>
                </a:solidFill>
                <a:latin typeface="Arial" pitchFamily="34" charset="0"/>
                <a:ea typeface="Arial" pitchFamily="34" charset="-122"/>
                <a:cs typeface="Arial" pitchFamily="34" charset="-120"/>
              </a:rPr>
              <a:t>03  </a:t>
            </a:r>
            <a:pPr indent="0" marL="0">
              <a:buNone/>
            </a:pPr>
            <a:r>
              <a:rPr lang="en-US" sz="1300" b="1" spc="100" kern="0" dirty="0">
                <a:solidFill>
                  <a:srgbClr val="F7F3EA"/>
                </a:solidFill>
                <a:latin typeface="Arial" pitchFamily="34" charset="0"/>
                <a:ea typeface="Arial" pitchFamily="34" charset="-122"/>
                <a:cs typeface="Arial" pitchFamily="34" charset="-120"/>
              </a:rPr>
              <a:t>MORE PERSONAL TRIPS</a:t>
            </a:r>
            <a:endParaRPr lang="en-US" sz="1300" dirty="0"/>
          </a:p>
        </p:txBody>
      </p:sp>
      <p:sp>
        <p:nvSpPr>
          <p:cNvPr id="35" name="Text 33"/>
          <p:cNvSpPr/>
          <p:nvPr/>
        </p:nvSpPr>
        <p:spPr>
          <a:xfrm>
            <a:off x="6903720" y="3624529"/>
            <a:ext cx="4480560" cy="283464"/>
          </a:xfrm>
          <a:prstGeom prst="rect">
            <a:avLst/>
          </a:prstGeom>
          <a:noFill/>
          <a:ln/>
        </p:spPr>
        <p:txBody>
          <a:bodyPr wrap="square" lIns="0" tIns="0" rIns="0" bIns="0" rtlCol="0" anchor="t"/>
          <a:lstStyle/>
          <a:p>
            <a:pPr indent="0" marL="0">
              <a:lnSpc>
                <a:spcPct val="116000"/>
              </a:lnSpc>
              <a:buNone/>
            </a:pPr>
            <a:r>
              <a:rPr lang="en-US" sz="1200" dirty="0">
                <a:solidFill>
                  <a:srgbClr val="F7F3EA"/>
                </a:solidFill>
                <a:latin typeface="Arial" pitchFamily="34" charset="0"/>
                <a:ea typeface="Arial" pitchFamily="34" charset="-122"/>
                <a:cs typeface="Arial" pitchFamily="34" charset="-120"/>
              </a:rPr>
              <a:t>Advisors meet every client with full context.</a:t>
            </a:r>
            <a:endParaRPr lang="en-US" sz="1200" dirty="0"/>
          </a:p>
        </p:txBody>
      </p:sp>
      <p:sp>
        <p:nvSpPr>
          <p:cNvPr id="36" name="Text 34"/>
          <p:cNvSpPr/>
          <p:nvPr/>
        </p:nvSpPr>
        <p:spPr>
          <a:xfrm>
            <a:off x="6903720" y="4054297"/>
            <a:ext cx="4480560" cy="299466"/>
          </a:xfrm>
          <a:prstGeom prst="rect">
            <a:avLst/>
          </a:prstGeom>
          <a:noFill/>
          <a:ln/>
        </p:spPr>
        <p:txBody>
          <a:bodyPr wrap="square" lIns="0" tIns="0" rIns="0" bIns="0" rtlCol="0" anchor="t"/>
          <a:lstStyle/>
          <a:p>
            <a:pPr indent="0" marL="0">
              <a:buNone/>
            </a:pPr>
            <a:r>
              <a:rPr lang="en-US" sz="1300" b="1" dirty="0">
                <a:solidFill>
                  <a:srgbClr val="E7C766"/>
                </a:solidFill>
                <a:latin typeface="Arial" pitchFamily="34" charset="0"/>
                <a:ea typeface="Arial" pitchFamily="34" charset="-122"/>
                <a:cs typeface="Arial" pitchFamily="34" charset="-120"/>
              </a:rPr>
              <a:t>04  </a:t>
            </a:r>
            <a:pPr indent="0" marL="0">
              <a:buNone/>
            </a:pPr>
            <a:r>
              <a:rPr lang="en-US" sz="1300" b="1" spc="100" kern="0" dirty="0">
                <a:solidFill>
                  <a:srgbClr val="F7F3EA"/>
                </a:solidFill>
                <a:latin typeface="Arial" pitchFamily="34" charset="0"/>
                <a:ea typeface="Arial" pitchFamily="34" charset="-122"/>
                <a:cs typeface="Arial" pitchFamily="34" charset="-120"/>
              </a:rPr>
              <a:t>MORE BOOKINGS</a:t>
            </a:r>
            <a:endParaRPr lang="en-US" sz="1300" dirty="0"/>
          </a:p>
        </p:txBody>
      </p:sp>
      <p:sp>
        <p:nvSpPr>
          <p:cNvPr id="37" name="Text 35"/>
          <p:cNvSpPr/>
          <p:nvPr/>
        </p:nvSpPr>
        <p:spPr>
          <a:xfrm>
            <a:off x="6903720" y="4372051"/>
            <a:ext cx="4480560" cy="283464"/>
          </a:xfrm>
          <a:prstGeom prst="rect">
            <a:avLst/>
          </a:prstGeom>
          <a:noFill/>
          <a:ln/>
        </p:spPr>
        <p:txBody>
          <a:bodyPr wrap="square" lIns="0" tIns="0" rIns="0" bIns="0" rtlCol="0" anchor="t"/>
          <a:lstStyle/>
          <a:p>
            <a:pPr indent="0" marL="0">
              <a:lnSpc>
                <a:spcPct val="116000"/>
              </a:lnSpc>
              <a:buNone/>
            </a:pPr>
            <a:r>
              <a:rPr lang="en-US" sz="1200" dirty="0">
                <a:solidFill>
                  <a:srgbClr val="F7F3EA"/>
                </a:solidFill>
                <a:latin typeface="Arial" pitchFamily="34" charset="0"/>
                <a:ea typeface="Arial" pitchFamily="34" charset="-122"/>
                <a:cs typeface="Arial" pitchFamily="34" charset="-120"/>
              </a:rPr>
              <a:t>Personal experiences convert. The loop widens.</a:t>
            </a:r>
            <a:endParaRPr lang="en-US" sz="1200" dirty="0"/>
          </a:p>
        </p:txBody>
      </p:sp>
      <p:sp>
        <p:nvSpPr>
          <p:cNvPr id="38" name="Text 36"/>
          <p:cNvSpPr/>
          <p:nvPr/>
        </p:nvSpPr>
        <p:spPr>
          <a:xfrm>
            <a:off x="813816" y="5029200"/>
            <a:ext cx="10570464" cy="507492"/>
          </a:xfrm>
          <a:prstGeom prst="rect">
            <a:avLst/>
          </a:prstGeom>
          <a:noFill/>
          <a:ln/>
        </p:spPr>
        <p:txBody>
          <a:bodyPr wrap="square" lIns="0" tIns="0" rIns="0" bIns="0" rtlCol="0" anchor="t"/>
          <a:lstStyle/>
          <a:p>
            <a:pPr algn="l" indent="0" marL="0">
              <a:lnSpc>
                <a:spcPct val="116000"/>
              </a:lnSpc>
              <a:buNone/>
            </a:pPr>
            <a:r>
              <a:rPr lang="en-US" sz="1300" i="1" dirty="0">
                <a:solidFill>
                  <a:srgbClr val="AFA893"/>
                </a:solidFill>
                <a:latin typeface="Arial" pitchFamily="34" charset="0"/>
                <a:ea typeface="Arial" pitchFamily="34" charset="-122"/>
                <a:cs typeface="Arial" pitchFamily="34" charset="-120"/>
              </a:rPr>
              <a:t>Bookings create data, data creates personalization, and personalization creates bookings. Our job is to make data flow in a way that grows revenue.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1786128"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SIGCOMPASS REVEAL</a:t>
            </a:r>
            <a:endParaRPr lang="en-US" sz="900" dirty="0"/>
          </a:p>
        </p:txBody>
      </p:sp>
      <p:sp>
        <p:nvSpPr>
          <p:cNvPr id="6" name="Shape 4"/>
          <p:cNvSpPr/>
          <p:nvPr/>
        </p:nvSpPr>
        <p:spPr>
          <a:xfrm rot="2700000">
            <a:off x="3898392" y="6003036"/>
            <a:ext cx="64008" cy="64008"/>
          </a:xfrm>
          <a:prstGeom prst="rect">
            <a:avLst/>
          </a:prstGeom>
          <a:solidFill>
            <a:srgbClr val="C9A227"/>
          </a:solidFill>
          <a:ln w="3175">
            <a:solidFill>
              <a:srgbClr val="C9A227"/>
            </a:solidFill>
            <a:prstDash val="solid"/>
          </a:ln>
        </p:spPr>
      </p:sp>
      <p:sp>
        <p:nvSpPr>
          <p:cNvPr id="7" name="Text 5"/>
          <p:cNvSpPr/>
          <p:nvPr/>
        </p:nvSpPr>
        <p:spPr>
          <a:xfrm>
            <a:off x="4081272" y="5943600"/>
            <a:ext cx="1200912"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5A6379"/>
                </a:solidFill>
                <a:latin typeface="Arial" pitchFamily="34" charset="0"/>
                <a:ea typeface="Arial" pitchFamily="34" charset="-122"/>
                <a:cs typeface="Arial" pitchFamily="34" charset="-120"/>
              </a:rPr>
              <a:t>7</a:t>
            </a:r>
            <a:endParaRPr lang="en-US" sz="900" dirty="0"/>
          </a:p>
        </p:txBody>
      </p:sp>
      <p:sp>
        <p:nvSpPr>
          <p:cNvPr id="9" name="Text 7"/>
          <p:cNvSpPr/>
          <p:nvPr/>
        </p:nvSpPr>
        <p:spPr>
          <a:xfrm>
            <a:off x="813816" y="502920"/>
            <a:ext cx="10570464" cy="256032"/>
          </a:xfrm>
          <a:prstGeom prst="rect">
            <a:avLst/>
          </a:prstGeom>
          <a:noFill/>
          <a:ln/>
        </p:spPr>
        <p:txBody>
          <a:bodyPr wrap="square" lIns="0" tIns="0" rIns="0" bIns="0" rtlCol="0" anchor="ctr"/>
          <a:lstStyle/>
          <a:p>
            <a:pPr indent="0" marL="0">
              <a:buNone/>
            </a:pPr>
            <a:r>
              <a:rPr lang="en-US" sz="1200" b="1" spc="220" kern="0" dirty="0">
                <a:solidFill>
                  <a:srgbClr val="8A6D14"/>
                </a:solidFill>
                <a:latin typeface="Arial" pitchFamily="34" charset="0"/>
                <a:ea typeface="Arial" pitchFamily="34" charset="-122"/>
                <a:cs typeface="Arial" pitchFamily="34" charset="-120"/>
              </a:rPr>
              <a:t>THE LOWEST-RISK PLACE TO START</a:t>
            </a:r>
            <a:endParaRPr lang="en-US" sz="1200" dirty="0"/>
          </a:p>
        </p:txBody>
      </p:sp>
      <p:sp>
        <p:nvSpPr>
          <p:cNvPr id="10" name="Text 8"/>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Recommendations have a track record.</a:t>
            </a:r>
            <a:endParaRPr lang="en-US" sz="4000" dirty="0"/>
          </a:p>
        </p:txBody>
      </p:sp>
      <p:sp>
        <p:nvSpPr>
          <p:cNvPr id="11" name="Text 9"/>
          <p:cNvSpPr/>
          <p:nvPr/>
        </p:nvSpPr>
        <p:spPr>
          <a:xfrm>
            <a:off x="813816" y="1811731"/>
            <a:ext cx="3255264" cy="913181"/>
          </a:xfrm>
          <a:prstGeom prst="rect">
            <a:avLst/>
          </a:prstGeom>
          <a:noFill/>
          <a:ln/>
        </p:spPr>
        <p:txBody>
          <a:bodyPr wrap="square" lIns="0" tIns="0" rIns="0" bIns="0" rtlCol="0" anchor="t"/>
          <a:lstStyle/>
          <a:p>
            <a:pPr indent="0" marL="0">
              <a:buNone/>
            </a:pPr>
            <a:r>
              <a:rPr lang="en-US" sz="5000" b="1" dirty="0">
                <a:solidFill>
                  <a:srgbClr val="8A6D14"/>
                </a:solidFill>
                <a:latin typeface="Georgia" pitchFamily="34" charset="0"/>
                <a:ea typeface="Georgia" pitchFamily="34" charset="-122"/>
                <a:cs typeface="Georgia" pitchFamily="34" charset="-120"/>
              </a:rPr>
              <a:t>10-15%</a:t>
            </a:r>
            <a:endParaRPr lang="en-US" sz="5000" dirty="0"/>
          </a:p>
        </p:txBody>
      </p:sp>
      <p:sp>
        <p:nvSpPr>
          <p:cNvPr id="12" name="Text 10"/>
          <p:cNvSpPr/>
          <p:nvPr/>
        </p:nvSpPr>
        <p:spPr>
          <a:xfrm>
            <a:off x="813816" y="2761488"/>
            <a:ext cx="3255264" cy="507492"/>
          </a:xfrm>
          <a:prstGeom prst="rect">
            <a:avLst/>
          </a:prstGeom>
          <a:noFill/>
          <a:ln/>
        </p:spPr>
        <p:txBody>
          <a:bodyPr wrap="square" lIns="0" tIns="0" rIns="0" bIns="0" rtlCol="0" anchor="t"/>
          <a:lstStyle/>
          <a:p>
            <a:pPr indent="0" marL="0">
              <a:lnSpc>
                <a:spcPct val="116000"/>
              </a:lnSpc>
              <a:buNone/>
            </a:pPr>
            <a:r>
              <a:rPr lang="en-US" sz="1300" dirty="0">
                <a:solidFill>
                  <a:srgbClr val="14213D"/>
                </a:solidFill>
                <a:latin typeface="Arial" pitchFamily="34" charset="0"/>
                <a:ea typeface="Arial" pitchFamily="34" charset="-122"/>
                <a:cs typeface="Arial" pitchFamily="34" charset="-120"/>
              </a:rPr>
              <a:t>increase in sales conversion from personalization.</a:t>
            </a:r>
            <a:endParaRPr lang="en-US" sz="1300" dirty="0"/>
          </a:p>
        </p:txBody>
      </p:sp>
      <p:sp>
        <p:nvSpPr>
          <p:cNvPr id="13" name="Text 11"/>
          <p:cNvSpPr/>
          <p:nvPr/>
        </p:nvSpPr>
        <p:spPr>
          <a:xfrm>
            <a:off x="813816" y="3323844"/>
            <a:ext cx="3255264" cy="164592"/>
          </a:xfrm>
          <a:prstGeom prst="rect">
            <a:avLst/>
          </a:prstGeom>
          <a:noFill/>
          <a:ln/>
        </p:spPr>
        <p:txBody>
          <a:bodyPr wrap="square" lIns="0" tIns="0" rIns="0" bIns="0" rtlCol="0" anchor="t"/>
          <a:lstStyle/>
          <a:p>
            <a:pPr indent="0" marL="0">
              <a:buNone/>
            </a:pPr>
            <a:r>
              <a:rPr lang="en-US" sz="900" i="1" dirty="0">
                <a:solidFill>
                  <a:srgbClr val="5A6379"/>
                </a:solidFill>
                <a:latin typeface="Arial" pitchFamily="34" charset="0"/>
                <a:ea typeface="Arial" pitchFamily="34" charset="-122"/>
                <a:cs typeface="Arial" pitchFamily="34" charset="-120"/>
              </a:rPr>
              <a:t>McKinsey.</a:t>
            </a:r>
            <a:endParaRPr lang="en-US" sz="900" dirty="0"/>
          </a:p>
        </p:txBody>
      </p:sp>
      <p:sp>
        <p:nvSpPr>
          <p:cNvPr id="14" name="Text 12"/>
          <p:cNvSpPr/>
          <p:nvPr/>
        </p:nvSpPr>
        <p:spPr>
          <a:xfrm>
            <a:off x="4471416" y="1811731"/>
            <a:ext cx="3255264" cy="913181"/>
          </a:xfrm>
          <a:prstGeom prst="rect">
            <a:avLst/>
          </a:prstGeom>
          <a:noFill/>
          <a:ln/>
        </p:spPr>
        <p:txBody>
          <a:bodyPr wrap="square" lIns="0" tIns="0" rIns="0" bIns="0" rtlCol="0" anchor="t"/>
          <a:lstStyle/>
          <a:p>
            <a:pPr indent="0" marL="0">
              <a:buNone/>
            </a:pPr>
            <a:r>
              <a:rPr lang="en-US" sz="5000" b="1" dirty="0">
                <a:solidFill>
                  <a:srgbClr val="8A6D14"/>
                </a:solidFill>
                <a:latin typeface="Georgia" pitchFamily="34" charset="0"/>
                <a:ea typeface="Georgia" pitchFamily="34" charset="-122"/>
                <a:cs typeface="Georgia" pitchFamily="34" charset="-120"/>
              </a:rPr>
              <a:t>~35%</a:t>
            </a:r>
            <a:endParaRPr lang="en-US" sz="5000" dirty="0"/>
          </a:p>
        </p:txBody>
      </p:sp>
      <p:sp>
        <p:nvSpPr>
          <p:cNvPr id="15" name="Text 13"/>
          <p:cNvSpPr/>
          <p:nvPr/>
        </p:nvSpPr>
        <p:spPr>
          <a:xfrm>
            <a:off x="4471416" y="2761488"/>
            <a:ext cx="3255264" cy="507492"/>
          </a:xfrm>
          <a:prstGeom prst="rect">
            <a:avLst/>
          </a:prstGeom>
          <a:noFill/>
          <a:ln/>
        </p:spPr>
        <p:txBody>
          <a:bodyPr wrap="square" lIns="0" tIns="0" rIns="0" bIns="0" rtlCol="0" anchor="t"/>
          <a:lstStyle/>
          <a:p>
            <a:pPr indent="0" marL="0">
              <a:lnSpc>
                <a:spcPct val="116000"/>
              </a:lnSpc>
              <a:buNone/>
            </a:pPr>
            <a:r>
              <a:rPr lang="en-US" sz="1300" dirty="0">
                <a:solidFill>
                  <a:srgbClr val="14213D"/>
                </a:solidFill>
                <a:latin typeface="Arial" pitchFamily="34" charset="0"/>
                <a:ea typeface="Arial" pitchFamily="34" charset="-122"/>
                <a:cs typeface="Arial" pitchFamily="34" charset="-120"/>
              </a:rPr>
              <a:t>of Amazon's revenue is attributed to its recommendation engine.</a:t>
            </a:r>
            <a:endParaRPr lang="en-US" sz="1300" dirty="0"/>
          </a:p>
        </p:txBody>
      </p:sp>
      <p:sp>
        <p:nvSpPr>
          <p:cNvPr id="16" name="Text 14"/>
          <p:cNvSpPr/>
          <p:nvPr/>
        </p:nvSpPr>
        <p:spPr>
          <a:xfrm>
            <a:off x="4471416" y="3323844"/>
            <a:ext cx="3255264" cy="164592"/>
          </a:xfrm>
          <a:prstGeom prst="rect">
            <a:avLst/>
          </a:prstGeom>
          <a:noFill/>
          <a:ln/>
        </p:spPr>
        <p:txBody>
          <a:bodyPr wrap="square" lIns="0" tIns="0" rIns="0" bIns="0" rtlCol="0" anchor="t"/>
          <a:lstStyle/>
          <a:p>
            <a:pPr indent="0" marL="0">
              <a:buNone/>
            </a:pPr>
            <a:r>
              <a:rPr lang="en-US" sz="900" i="1" dirty="0">
                <a:solidFill>
                  <a:srgbClr val="5A6379"/>
                </a:solidFill>
                <a:latin typeface="Arial" pitchFamily="34" charset="0"/>
                <a:ea typeface="Arial" pitchFamily="34" charset="-122"/>
                <a:cs typeface="Arial" pitchFamily="34" charset="-120"/>
              </a:rPr>
              <a:t>Amazon, publicly reported.</a:t>
            </a:r>
            <a:endParaRPr lang="en-US" sz="900" dirty="0"/>
          </a:p>
        </p:txBody>
      </p:sp>
      <p:sp>
        <p:nvSpPr>
          <p:cNvPr id="17" name="Text 15"/>
          <p:cNvSpPr/>
          <p:nvPr/>
        </p:nvSpPr>
        <p:spPr>
          <a:xfrm>
            <a:off x="8129016" y="1811731"/>
            <a:ext cx="3255264" cy="913181"/>
          </a:xfrm>
          <a:prstGeom prst="rect">
            <a:avLst/>
          </a:prstGeom>
          <a:noFill/>
          <a:ln/>
        </p:spPr>
        <p:txBody>
          <a:bodyPr wrap="square" lIns="0" tIns="0" rIns="0" bIns="0" rtlCol="0" anchor="t"/>
          <a:lstStyle/>
          <a:p>
            <a:pPr indent="0" marL="0">
              <a:buNone/>
            </a:pPr>
            <a:r>
              <a:rPr lang="en-US" sz="5000" b="1" dirty="0">
                <a:solidFill>
                  <a:srgbClr val="8A6D14"/>
                </a:solidFill>
                <a:latin typeface="Georgia" pitchFamily="34" charset="0"/>
                <a:ea typeface="Georgia" pitchFamily="34" charset="-122"/>
                <a:cs typeface="Georgia" pitchFamily="34" charset="-120"/>
              </a:rPr>
              <a:t>Faster</a:t>
            </a:r>
            <a:endParaRPr lang="en-US" sz="5000" dirty="0"/>
          </a:p>
        </p:txBody>
      </p:sp>
      <p:sp>
        <p:nvSpPr>
          <p:cNvPr id="18" name="Text 16"/>
          <p:cNvSpPr/>
          <p:nvPr/>
        </p:nvSpPr>
        <p:spPr>
          <a:xfrm>
            <a:off x="8129016" y="2761488"/>
            <a:ext cx="3255264" cy="507492"/>
          </a:xfrm>
          <a:prstGeom prst="rect">
            <a:avLst/>
          </a:prstGeom>
          <a:noFill/>
          <a:ln/>
        </p:spPr>
        <p:txBody>
          <a:bodyPr wrap="square" lIns="0" tIns="0" rIns="0" bIns="0" rtlCol="0" anchor="t"/>
          <a:lstStyle/>
          <a:p>
            <a:pPr indent="0" marL="0">
              <a:lnSpc>
                <a:spcPct val="116000"/>
              </a:lnSpc>
              <a:buNone/>
            </a:pPr>
            <a:r>
              <a:rPr lang="en-US" sz="1300" dirty="0">
                <a:solidFill>
                  <a:srgbClr val="14213D"/>
                </a:solidFill>
                <a:latin typeface="Arial" pitchFamily="34" charset="0"/>
                <a:ea typeface="Arial" pitchFamily="34" charset="-122"/>
                <a:cs typeface="Arial" pitchFamily="34" charset="-120"/>
              </a:rPr>
              <a:t>time to booking and higher completion from AI-driven recommendations.</a:t>
            </a:r>
            <a:endParaRPr lang="en-US" sz="1300" dirty="0"/>
          </a:p>
        </p:txBody>
      </p:sp>
      <p:sp>
        <p:nvSpPr>
          <p:cNvPr id="19" name="Text 17"/>
          <p:cNvSpPr/>
          <p:nvPr/>
        </p:nvSpPr>
        <p:spPr>
          <a:xfrm>
            <a:off x="8129016" y="3323844"/>
            <a:ext cx="3255264" cy="164592"/>
          </a:xfrm>
          <a:prstGeom prst="rect">
            <a:avLst/>
          </a:prstGeom>
          <a:noFill/>
          <a:ln/>
        </p:spPr>
        <p:txBody>
          <a:bodyPr wrap="square" lIns="0" tIns="0" rIns="0" bIns="0" rtlCol="0" anchor="t"/>
          <a:lstStyle/>
          <a:p>
            <a:pPr indent="0" marL="0">
              <a:buNone/>
            </a:pPr>
            <a:r>
              <a:rPr lang="en-US" sz="900" i="1" dirty="0">
                <a:solidFill>
                  <a:srgbClr val="5A6379"/>
                </a:solidFill>
                <a:latin typeface="Arial" pitchFamily="34" charset="0"/>
                <a:ea typeface="Arial" pitchFamily="34" charset="-122"/>
                <a:cs typeface="Arial" pitchFamily="34" charset="-120"/>
              </a:rPr>
              <a:t>Booking Holdings.</a:t>
            </a:r>
            <a:endParaRPr lang="en-US" sz="900" dirty="0"/>
          </a:p>
        </p:txBody>
      </p:sp>
      <p:sp>
        <p:nvSpPr>
          <p:cNvPr id="20" name="Shape 18"/>
          <p:cNvSpPr/>
          <p:nvPr/>
        </p:nvSpPr>
        <p:spPr>
          <a:xfrm>
            <a:off x="813816" y="3639312"/>
            <a:ext cx="10570464" cy="1531620"/>
          </a:xfrm>
          <a:prstGeom prst="rect">
            <a:avLst/>
          </a:prstGeom>
          <a:solidFill>
            <a:srgbClr val="E8E2D2"/>
          </a:solidFill>
          <a:ln/>
        </p:spPr>
      </p:sp>
      <p:sp>
        <p:nvSpPr>
          <p:cNvPr id="21" name="Text 19"/>
          <p:cNvSpPr/>
          <p:nvPr/>
        </p:nvSpPr>
        <p:spPr>
          <a:xfrm>
            <a:off x="1088136" y="3858768"/>
            <a:ext cx="10021824" cy="299466"/>
          </a:xfrm>
          <a:prstGeom prst="rect">
            <a:avLst/>
          </a:prstGeom>
          <a:noFill/>
          <a:ln/>
        </p:spPr>
        <p:txBody>
          <a:bodyPr wrap="square" lIns="0" tIns="0" rIns="0" bIns="0" rtlCol="0" anchor="t"/>
          <a:lstStyle/>
          <a:p>
            <a:pPr algn="l" indent="0" marL="0">
              <a:buNone/>
            </a:pPr>
            <a:r>
              <a:rPr lang="en-US" sz="1300" b="1" spc="160" kern="0" dirty="0">
                <a:solidFill>
                  <a:srgbClr val="15616D"/>
                </a:solidFill>
                <a:latin typeface="Arial" pitchFamily="34" charset="0"/>
                <a:ea typeface="Arial" pitchFamily="34" charset="-122"/>
                <a:cs typeface="Arial" pitchFamily="34" charset="-120"/>
              </a:rPr>
              <a:t>WHY THIS IS THE LOW-RISK ENTRY POINT</a:t>
            </a:r>
            <a:endParaRPr lang="en-US" sz="1300" dirty="0"/>
          </a:p>
        </p:txBody>
      </p:sp>
      <p:sp>
        <p:nvSpPr>
          <p:cNvPr id="22" name="Shape 20"/>
          <p:cNvSpPr/>
          <p:nvPr/>
        </p:nvSpPr>
        <p:spPr>
          <a:xfrm rot="2700000">
            <a:off x="1088136" y="4302252"/>
            <a:ext cx="100584" cy="100584"/>
          </a:xfrm>
          <a:prstGeom prst="rect">
            <a:avLst/>
          </a:prstGeom>
          <a:solidFill>
            <a:srgbClr val="C9A227"/>
          </a:solidFill>
          <a:ln w="3175">
            <a:solidFill>
              <a:srgbClr val="C9A227"/>
            </a:solidFill>
            <a:prstDash val="solid"/>
          </a:ln>
        </p:spPr>
      </p:sp>
      <p:sp>
        <p:nvSpPr>
          <p:cNvPr id="23" name="Text 21"/>
          <p:cNvSpPr/>
          <p:nvPr/>
        </p:nvSpPr>
        <p:spPr>
          <a:xfrm>
            <a:off x="1399032" y="4224528"/>
            <a:ext cx="4562856" cy="299466"/>
          </a:xfrm>
          <a:prstGeom prst="rect">
            <a:avLst/>
          </a:prstGeom>
          <a:noFill/>
          <a:ln/>
        </p:spPr>
        <p:txBody>
          <a:bodyPr wrap="square" lIns="0" tIns="0" rIns="0" bIns="0" rtlCol="0" anchor="t"/>
          <a:lstStyle/>
          <a:p>
            <a:pPr indent="0" marL="0">
              <a:lnSpc>
                <a:spcPct val="116000"/>
              </a:lnSpc>
              <a:buNone/>
            </a:pPr>
            <a:r>
              <a:rPr lang="en-US" sz="1300" dirty="0">
                <a:solidFill>
                  <a:srgbClr val="14213D"/>
                </a:solidFill>
                <a:latin typeface="Arial" pitchFamily="34" charset="0"/>
                <a:ea typeface="Arial" pitchFamily="34" charset="-122"/>
                <a:cs typeface="Arial" pitchFamily="34" charset="-120"/>
              </a:rPr>
              <a:t>The decision already exists today.</a:t>
            </a:r>
            <a:endParaRPr lang="en-US" sz="1300" dirty="0"/>
          </a:p>
        </p:txBody>
      </p:sp>
      <p:sp>
        <p:nvSpPr>
          <p:cNvPr id="24" name="Shape 22"/>
          <p:cNvSpPr/>
          <p:nvPr/>
        </p:nvSpPr>
        <p:spPr>
          <a:xfrm rot="2700000">
            <a:off x="1088136" y="4711446"/>
            <a:ext cx="100584" cy="100584"/>
          </a:xfrm>
          <a:prstGeom prst="rect">
            <a:avLst/>
          </a:prstGeom>
          <a:solidFill>
            <a:srgbClr val="C9A227"/>
          </a:solidFill>
          <a:ln w="3175">
            <a:solidFill>
              <a:srgbClr val="C9A227"/>
            </a:solidFill>
            <a:prstDash val="solid"/>
          </a:ln>
        </p:spPr>
      </p:sp>
      <p:sp>
        <p:nvSpPr>
          <p:cNvPr id="25" name="Text 23"/>
          <p:cNvSpPr/>
          <p:nvPr/>
        </p:nvSpPr>
        <p:spPr>
          <a:xfrm>
            <a:off x="1399032" y="4633722"/>
            <a:ext cx="4562856" cy="299466"/>
          </a:xfrm>
          <a:prstGeom prst="rect">
            <a:avLst/>
          </a:prstGeom>
          <a:noFill/>
          <a:ln/>
        </p:spPr>
        <p:txBody>
          <a:bodyPr wrap="square" lIns="0" tIns="0" rIns="0" bIns="0" rtlCol="0" anchor="t"/>
          <a:lstStyle/>
          <a:p>
            <a:pPr indent="0" marL="0">
              <a:lnSpc>
                <a:spcPct val="116000"/>
              </a:lnSpc>
              <a:buNone/>
            </a:pPr>
            <a:r>
              <a:rPr lang="en-US" sz="1300" dirty="0">
                <a:solidFill>
                  <a:srgbClr val="14213D"/>
                </a:solidFill>
                <a:latin typeface="Arial" pitchFamily="34" charset="0"/>
                <a:ea typeface="Arial" pitchFamily="34" charset="-122"/>
                <a:cs typeface="Arial" pitchFamily="34" charset="-120"/>
              </a:rPr>
              <a:t>No process has to change to get value.</a:t>
            </a:r>
            <a:endParaRPr lang="en-US" sz="1300" dirty="0"/>
          </a:p>
        </p:txBody>
      </p:sp>
      <p:sp>
        <p:nvSpPr>
          <p:cNvPr id="26" name="Shape 24"/>
          <p:cNvSpPr/>
          <p:nvPr/>
        </p:nvSpPr>
        <p:spPr>
          <a:xfrm rot="2700000">
            <a:off x="6236208" y="4302252"/>
            <a:ext cx="100584" cy="100584"/>
          </a:xfrm>
          <a:prstGeom prst="rect">
            <a:avLst/>
          </a:prstGeom>
          <a:solidFill>
            <a:srgbClr val="C9A227"/>
          </a:solidFill>
          <a:ln w="3175">
            <a:solidFill>
              <a:srgbClr val="C9A227"/>
            </a:solidFill>
            <a:prstDash val="solid"/>
          </a:ln>
        </p:spPr>
      </p:sp>
      <p:sp>
        <p:nvSpPr>
          <p:cNvPr id="27" name="Text 25"/>
          <p:cNvSpPr/>
          <p:nvPr/>
        </p:nvSpPr>
        <p:spPr>
          <a:xfrm>
            <a:off x="6547104" y="4224528"/>
            <a:ext cx="4562856" cy="299466"/>
          </a:xfrm>
          <a:prstGeom prst="rect">
            <a:avLst/>
          </a:prstGeom>
          <a:noFill/>
          <a:ln/>
        </p:spPr>
        <p:txBody>
          <a:bodyPr wrap="square" lIns="0" tIns="0" rIns="0" bIns="0" rtlCol="0" anchor="t"/>
          <a:lstStyle/>
          <a:p>
            <a:pPr indent="0" marL="0">
              <a:lnSpc>
                <a:spcPct val="116000"/>
              </a:lnSpc>
              <a:buNone/>
            </a:pPr>
            <a:r>
              <a:rPr lang="en-US" sz="1300" dirty="0">
                <a:solidFill>
                  <a:srgbClr val="14213D"/>
                </a:solidFill>
                <a:latin typeface="Arial" pitchFamily="34" charset="0"/>
                <a:ea typeface="Arial" pitchFamily="34" charset="-122"/>
                <a:cs typeface="Arial" pitchFamily="34" charset="-120"/>
              </a:rPr>
              <a:t>Measurable inside six months, against revenue.</a:t>
            </a:r>
            <a:endParaRPr lang="en-US" sz="1300" dirty="0"/>
          </a:p>
        </p:txBody>
      </p:sp>
      <p:sp>
        <p:nvSpPr>
          <p:cNvPr id="28" name="Shape 26"/>
          <p:cNvSpPr/>
          <p:nvPr/>
        </p:nvSpPr>
        <p:spPr>
          <a:xfrm rot="2700000">
            <a:off x="6236208" y="4711446"/>
            <a:ext cx="100584" cy="100584"/>
          </a:xfrm>
          <a:prstGeom prst="rect">
            <a:avLst/>
          </a:prstGeom>
          <a:solidFill>
            <a:srgbClr val="C9A227"/>
          </a:solidFill>
          <a:ln w="3175">
            <a:solidFill>
              <a:srgbClr val="C9A227"/>
            </a:solidFill>
            <a:prstDash val="solid"/>
          </a:ln>
        </p:spPr>
      </p:sp>
      <p:sp>
        <p:nvSpPr>
          <p:cNvPr id="29" name="Text 27"/>
          <p:cNvSpPr/>
          <p:nvPr/>
        </p:nvSpPr>
        <p:spPr>
          <a:xfrm>
            <a:off x="6547104" y="4633722"/>
            <a:ext cx="4562856" cy="299466"/>
          </a:xfrm>
          <a:prstGeom prst="rect">
            <a:avLst/>
          </a:prstGeom>
          <a:noFill/>
          <a:ln/>
        </p:spPr>
        <p:txBody>
          <a:bodyPr wrap="square" lIns="0" tIns="0" rIns="0" bIns="0" rtlCol="0" anchor="t"/>
          <a:lstStyle/>
          <a:p>
            <a:pPr indent="0" marL="0">
              <a:lnSpc>
                <a:spcPct val="116000"/>
              </a:lnSpc>
              <a:buNone/>
            </a:pPr>
            <a:r>
              <a:rPr lang="en-US" sz="1300" dirty="0">
                <a:solidFill>
                  <a:srgbClr val="14213D"/>
                </a:solidFill>
                <a:latin typeface="Arial" pitchFamily="34" charset="0"/>
                <a:ea typeface="Arial" pitchFamily="34" charset="-122"/>
                <a:cs typeface="Arial" pitchFamily="34" charset="-120"/>
              </a:rPr>
              <a:t>The longest record of paying for itself early.</a:t>
            </a:r>
            <a:endParaRPr lang="en-US" sz="1300" dirty="0"/>
          </a:p>
        </p:txBody>
      </p:sp>
      <p:sp>
        <p:nvSpPr>
          <p:cNvPr id="30" name="Text 28"/>
          <p:cNvSpPr/>
          <p:nvPr/>
        </p:nvSpPr>
        <p:spPr>
          <a:xfrm>
            <a:off x="813816" y="5296662"/>
            <a:ext cx="10570464" cy="299466"/>
          </a:xfrm>
          <a:prstGeom prst="rect">
            <a:avLst/>
          </a:prstGeom>
          <a:noFill/>
          <a:ln/>
        </p:spPr>
        <p:txBody>
          <a:bodyPr wrap="square" lIns="0" tIns="0" rIns="0" bIns="0" rtlCol="0" anchor="t"/>
          <a:lstStyle/>
          <a:p>
            <a:pPr algn="l" indent="0" marL="0">
              <a:lnSpc>
                <a:spcPct val="116000"/>
              </a:lnSpc>
              <a:buNone/>
            </a:pPr>
            <a:r>
              <a:rPr lang="en-US" sz="1300" i="1" dirty="0">
                <a:solidFill>
                  <a:srgbClr val="5A6379"/>
                </a:solidFill>
                <a:latin typeface="Arial" pitchFamily="34" charset="0"/>
                <a:ea typeface="Arial" pitchFamily="34" charset="-122"/>
                <a:cs typeface="Arial" pitchFamily="34" charset="-120"/>
              </a:rPr>
              <a:t>Not because recommendations are flashy. Because they have a documented history of paying for themselves early.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1786128"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SIGCOMPASS REVEAL</a:t>
            </a:r>
            <a:endParaRPr lang="en-US" sz="900" dirty="0"/>
          </a:p>
        </p:txBody>
      </p:sp>
      <p:sp>
        <p:nvSpPr>
          <p:cNvPr id="6" name="Shape 4"/>
          <p:cNvSpPr/>
          <p:nvPr/>
        </p:nvSpPr>
        <p:spPr>
          <a:xfrm rot="2700000">
            <a:off x="3898392" y="6003036"/>
            <a:ext cx="64008" cy="64008"/>
          </a:xfrm>
          <a:prstGeom prst="rect">
            <a:avLst/>
          </a:prstGeom>
          <a:solidFill>
            <a:srgbClr val="C9A227"/>
          </a:solidFill>
          <a:ln w="3175">
            <a:solidFill>
              <a:srgbClr val="C9A227"/>
            </a:solidFill>
            <a:prstDash val="solid"/>
          </a:ln>
        </p:spPr>
      </p:sp>
      <p:sp>
        <p:nvSpPr>
          <p:cNvPr id="7" name="Text 5"/>
          <p:cNvSpPr/>
          <p:nvPr/>
        </p:nvSpPr>
        <p:spPr>
          <a:xfrm>
            <a:off x="4081272" y="5943600"/>
            <a:ext cx="1200912"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AUGUST 2026</a:t>
            </a:r>
            <a:endParaRPr lang="en-US" sz="900" dirty="0"/>
          </a:p>
        </p:txBody>
      </p:sp>
      <p:sp>
        <p:nvSpPr>
          <p:cNvPr id="8" name="Shape 6"/>
          <p:cNvSpPr/>
          <p:nvPr/>
        </p:nvSpPr>
        <p:spPr>
          <a:xfrm rot="2700000">
            <a:off x="6046013" y="2231136"/>
            <a:ext cx="100584" cy="100584"/>
          </a:xfrm>
          <a:prstGeom prst="rect">
            <a:avLst/>
          </a:prstGeom>
          <a:solidFill>
            <a:srgbClr val="C9A227"/>
          </a:solidFill>
          <a:ln w="3175">
            <a:solidFill>
              <a:srgbClr val="C9A227"/>
            </a:solidFill>
            <a:prstDash val="solid"/>
          </a:ln>
        </p:spPr>
      </p:sp>
      <p:sp>
        <p:nvSpPr>
          <p:cNvPr id="9" name="Text 7"/>
          <p:cNvSpPr/>
          <p:nvPr/>
        </p:nvSpPr>
        <p:spPr>
          <a:xfrm>
            <a:off x="1432408" y="2651760"/>
            <a:ext cx="9326880" cy="1464503"/>
          </a:xfrm>
          <a:prstGeom prst="rect">
            <a:avLst/>
          </a:prstGeom>
          <a:noFill/>
          <a:ln/>
        </p:spPr>
        <p:txBody>
          <a:bodyPr wrap="square" lIns="0" tIns="0" rIns="0" bIns="0" rtlCol="0" anchor="t"/>
          <a:lstStyle/>
          <a:p>
            <a:pPr algn="ctr" indent="0" marL="0">
              <a:buNone/>
            </a:pPr>
            <a:r>
              <a:rPr lang="en-US" sz="4200" b="1" dirty="0">
                <a:solidFill>
                  <a:srgbClr val="F7F3EA"/>
                </a:solidFill>
                <a:latin typeface="Georgia" pitchFamily="34" charset="0"/>
                <a:ea typeface="Georgia" pitchFamily="34" charset="-122"/>
                <a:cs typeface="Georgia" pitchFamily="34" charset="-120"/>
              </a:rPr>
              <a:t>A flywheel is a picture until somebody turns it.</a:t>
            </a:r>
            <a:endParaRPr lang="en-US" sz="4200" dirty="0"/>
          </a:p>
        </p:txBody>
      </p:sp>
      <p:sp>
        <p:nvSpPr>
          <p:cNvPr id="10" name="Text 8"/>
          <p:cNvSpPr/>
          <p:nvPr/>
        </p:nvSpPr>
        <p:spPr>
          <a:xfrm>
            <a:off x="813816" y="4427159"/>
            <a:ext cx="10570464" cy="274320"/>
          </a:xfrm>
          <a:prstGeom prst="rect">
            <a:avLst/>
          </a:prstGeom>
          <a:noFill/>
          <a:ln/>
        </p:spPr>
        <p:txBody>
          <a:bodyPr wrap="square" lIns="0" tIns="0" rIns="0" bIns="0" rtlCol="0" anchor="ctr"/>
          <a:lstStyle/>
          <a:p>
            <a:pPr algn="ctr" indent="0" marL="0">
              <a:buNone/>
            </a:pPr>
            <a:r>
              <a:rPr lang="en-US" sz="1500" b="1" spc="200" kern="0" dirty="0">
                <a:solidFill>
                  <a:srgbClr val="E7C766"/>
                </a:solidFill>
                <a:latin typeface="Arial" pitchFamily="34" charset="0"/>
                <a:ea typeface="Arial" pitchFamily="34" charset="-122"/>
                <a:cs typeface="Arial" pitchFamily="34" charset="-120"/>
              </a:rPr>
              <a:t>PART TWO   ·   MAKING THE FLYWHEEL TURN</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1786128"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SIGCOMPASS REVEAL</a:t>
            </a:r>
            <a:endParaRPr lang="en-US" sz="900" dirty="0"/>
          </a:p>
        </p:txBody>
      </p:sp>
      <p:sp>
        <p:nvSpPr>
          <p:cNvPr id="6" name="Shape 4"/>
          <p:cNvSpPr/>
          <p:nvPr/>
        </p:nvSpPr>
        <p:spPr>
          <a:xfrm rot="2700000">
            <a:off x="3898392" y="6003036"/>
            <a:ext cx="64008" cy="64008"/>
          </a:xfrm>
          <a:prstGeom prst="rect">
            <a:avLst/>
          </a:prstGeom>
          <a:solidFill>
            <a:srgbClr val="C9A227"/>
          </a:solidFill>
          <a:ln w="3175">
            <a:solidFill>
              <a:srgbClr val="C9A227"/>
            </a:solidFill>
            <a:prstDash val="solid"/>
          </a:ln>
        </p:spPr>
      </p:sp>
      <p:sp>
        <p:nvSpPr>
          <p:cNvPr id="7" name="Text 5"/>
          <p:cNvSpPr/>
          <p:nvPr/>
        </p:nvSpPr>
        <p:spPr>
          <a:xfrm>
            <a:off x="4081272" y="5943600"/>
            <a:ext cx="1200912"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5A6379"/>
                </a:solidFill>
                <a:latin typeface="Arial" pitchFamily="34" charset="0"/>
                <a:ea typeface="Arial" pitchFamily="34" charset="-122"/>
                <a:cs typeface="Arial" pitchFamily="34" charset="-120"/>
              </a:rPr>
              <a:t>9</a:t>
            </a:r>
            <a:endParaRPr lang="en-US" sz="900" dirty="0"/>
          </a:p>
        </p:txBody>
      </p:sp>
      <p:sp>
        <p:nvSpPr>
          <p:cNvPr id="9" name="Text 7"/>
          <p:cNvSpPr/>
          <p:nvPr/>
        </p:nvSpPr>
        <p:spPr>
          <a:xfrm>
            <a:off x="813816" y="502920"/>
            <a:ext cx="10570464" cy="256032"/>
          </a:xfrm>
          <a:prstGeom prst="rect">
            <a:avLst/>
          </a:prstGeom>
          <a:noFill/>
          <a:ln/>
        </p:spPr>
        <p:txBody>
          <a:bodyPr wrap="square" lIns="0" tIns="0" rIns="0" bIns="0" rtlCol="0" anchor="ctr"/>
          <a:lstStyle/>
          <a:p>
            <a:pPr indent="0" marL="0">
              <a:buNone/>
            </a:pPr>
            <a:r>
              <a:rPr lang="en-US" sz="1200" b="1" spc="220" kern="0" dirty="0">
                <a:solidFill>
                  <a:srgbClr val="8A6D14"/>
                </a:solidFill>
                <a:latin typeface="Arial" pitchFamily="34" charset="0"/>
                <a:ea typeface="Arial" pitchFamily="34" charset="-122"/>
                <a:cs typeface="Arial" pitchFamily="34" charset="-120"/>
              </a:rPr>
              <a:t>FROM STRATEGY TO OPERATIONS</a:t>
            </a:r>
            <a:endParaRPr lang="en-US" sz="1200" dirty="0"/>
          </a:p>
        </p:txBody>
      </p:sp>
      <p:sp>
        <p:nvSpPr>
          <p:cNvPr id="10" name="Text 8"/>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From a picture to a rhythm.</a:t>
            </a:r>
            <a:endParaRPr lang="en-US" sz="4000" dirty="0"/>
          </a:p>
        </p:txBody>
      </p:sp>
      <p:sp>
        <p:nvSpPr>
          <p:cNvPr id="11" name="Text 9"/>
          <p:cNvSpPr/>
          <p:nvPr/>
        </p:nvSpPr>
        <p:spPr>
          <a:xfrm>
            <a:off x="813816" y="1848307"/>
            <a:ext cx="5394960" cy="331470"/>
          </a:xfrm>
          <a:prstGeom prst="rect">
            <a:avLst/>
          </a:prstGeom>
          <a:noFill/>
          <a:ln/>
        </p:spPr>
        <p:txBody>
          <a:bodyPr wrap="square" lIns="0" tIns="0" rIns="0" bIns="0" rtlCol="0" anchor="t"/>
          <a:lstStyle/>
          <a:p>
            <a:pPr algn="l" indent="0" marL="0">
              <a:buNone/>
            </a:pPr>
            <a:r>
              <a:rPr lang="en-US" sz="1500" b="1" spc="120" kern="0" dirty="0">
                <a:solidFill>
                  <a:srgbClr val="5A6379"/>
                </a:solidFill>
                <a:latin typeface="Arial" pitchFamily="34" charset="0"/>
                <a:ea typeface="Arial" pitchFamily="34" charset="-122"/>
                <a:cs typeface="Arial" pitchFamily="34" charset="-120"/>
              </a:rPr>
              <a:t>A STRATEGY IS</a:t>
            </a:r>
            <a:endParaRPr lang="en-US" sz="1500" dirty="0"/>
          </a:p>
        </p:txBody>
      </p:sp>
      <p:sp>
        <p:nvSpPr>
          <p:cNvPr id="12" name="Shape 10"/>
          <p:cNvSpPr/>
          <p:nvPr/>
        </p:nvSpPr>
        <p:spPr>
          <a:xfrm rot="2700000">
            <a:off x="813816" y="2310079"/>
            <a:ext cx="100584" cy="100584"/>
          </a:xfrm>
          <a:prstGeom prst="rect">
            <a:avLst/>
          </a:prstGeom>
          <a:solidFill>
            <a:srgbClr val="C9A227"/>
          </a:solidFill>
          <a:ln w="3175">
            <a:solidFill>
              <a:srgbClr val="C9A227"/>
            </a:solidFill>
            <a:prstDash val="solid"/>
          </a:ln>
        </p:spPr>
      </p:sp>
      <p:sp>
        <p:nvSpPr>
          <p:cNvPr id="13" name="Text 11"/>
          <p:cNvSpPr/>
          <p:nvPr/>
        </p:nvSpPr>
        <p:spPr>
          <a:xfrm>
            <a:off x="1124712" y="2232355"/>
            <a:ext cx="5084064" cy="331470"/>
          </a:xfrm>
          <a:prstGeom prst="rect">
            <a:avLst/>
          </a:prstGeom>
          <a:noFill/>
          <a:ln/>
        </p:spPr>
        <p:txBody>
          <a:bodyPr wrap="square" lIns="0" tIns="0" rIns="0" bIns="0" rtlCol="0" anchor="t"/>
          <a:lstStyle/>
          <a:p>
            <a:pPr indent="0" marL="0">
              <a:lnSpc>
                <a:spcPct val="116000"/>
              </a:lnSpc>
              <a:buNone/>
            </a:pPr>
            <a:r>
              <a:rPr lang="en-US" sz="1500" dirty="0">
                <a:solidFill>
                  <a:srgbClr val="14213D"/>
                </a:solidFill>
                <a:latin typeface="Arial" pitchFamily="34" charset="0"/>
                <a:ea typeface="Arial" pitchFamily="34" charset="-122"/>
                <a:cs typeface="Arial" pitchFamily="34" charset="-120"/>
              </a:rPr>
              <a:t>A direction everyone can name.</a:t>
            </a:r>
            <a:endParaRPr lang="en-US" sz="1500" dirty="0"/>
          </a:p>
        </p:txBody>
      </p:sp>
      <p:sp>
        <p:nvSpPr>
          <p:cNvPr id="14" name="Shape 12"/>
          <p:cNvSpPr/>
          <p:nvPr/>
        </p:nvSpPr>
        <p:spPr>
          <a:xfrm rot="2700000">
            <a:off x="813816" y="2842717"/>
            <a:ext cx="100584" cy="100584"/>
          </a:xfrm>
          <a:prstGeom prst="rect">
            <a:avLst/>
          </a:prstGeom>
          <a:solidFill>
            <a:srgbClr val="C9A227"/>
          </a:solidFill>
          <a:ln w="3175">
            <a:solidFill>
              <a:srgbClr val="C9A227"/>
            </a:solidFill>
            <a:prstDash val="solid"/>
          </a:ln>
        </p:spPr>
      </p:sp>
      <p:sp>
        <p:nvSpPr>
          <p:cNvPr id="15" name="Text 13"/>
          <p:cNvSpPr/>
          <p:nvPr/>
        </p:nvSpPr>
        <p:spPr>
          <a:xfrm>
            <a:off x="1124712" y="2764993"/>
            <a:ext cx="5084064" cy="331470"/>
          </a:xfrm>
          <a:prstGeom prst="rect">
            <a:avLst/>
          </a:prstGeom>
          <a:noFill/>
          <a:ln/>
        </p:spPr>
        <p:txBody>
          <a:bodyPr wrap="square" lIns="0" tIns="0" rIns="0" bIns="0" rtlCol="0" anchor="t"/>
          <a:lstStyle/>
          <a:p>
            <a:pPr indent="0" marL="0">
              <a:lnSpc>
                <a:spcPct val="116000"/>
              </a:lnSpc>
              <a:buNone/>
            </a:pPr>
            <a:r>
              <a:rPr lang="en-US" sz="1500" dirty="0">
                <a:solidFill>
                  <a:srgbClr val="14213D"/>
                </a:solidFill>
                <a:latin typeface="Arial" pitchFamily="34" charset="0"/>
                <a:ea typeface="Arial" pitchFamily="34" charset="-122"/>
                <a:cs typeface="Arial" pitchFamily="34" charset="-120"/>
              </a:rPr>
              <a:t>A bet you can defend to owners.</a:t>
            </a:r>
            <a:endParaRPr lang="en-US" sz="1500" dirty="0"/>
          </a:p>
        </p:txBody>
      </p:sp>
      <p:sp>
        <p:nvSpPr>
          <p:cNvPr id="16" name="Shape 14"/>
          <p:cNvSpPr/>
          <p:nvPr/>
        </p:nvSpPr>
        <p:spPr>
          <a:xfrm rot="2700000">
            <a:off x="813816" y="3375355"/>
            <a:ext cx="100584" cy="100584"/>
          </a:xfrm>
          <a:prstGeom prst="rect">
            <a:avLst/>
          </a:prstGeom>
          <a:solidFill>
            <a:srgbClr val="C9A227"/>
          </a:solidFill>
          <a:ln w="3175">
            <a:solidFill>
              <a:srgbClr val="C9A227"/>
            </a:solidFill>
            <a:prstDash val="solid"/>
          </a:ln>
        </p:spPr>
      </p:sp>
      <p:sp>
        <p:nvSpPr>
          <p:cNvPr id="17" name="Text 15"/>
          <p:cNvSpPr/>
          <p:nvPr/>
        </p:nvSpPr>
        <p:spPr>
          <a:xfrm>
            <a:off x="1124712" y="3297631"/>
            <a:ext cx="5084064" cy="331470"/>
          </a:xfrm>
          <a:prstGeom prst="rect">
            <a:avLst/>
          </a:prstGeom>
          <a:noFill/>
          <a:ln/>
        </p:spPr>
        <p:txBody>
          <a:bodyPr wrap="square" lIns="0" tIns="0" rIns="0" bIns="0" rtlCol="0" anchor="t"/>
          <a:lstStyle/>
          <a:p>
            <a:pPr indent="0" marL="0">
              <a:lnSpc>
                <a:spcPct val="116000"/>
              </a:lnSpc>
              <a:buNone/>
            </a:pPr>
            <a:r>
              <a:rPr lang="en-US" sz="1500" dirty="0">
                <a:solidFill>
                  <a:srgbClr val="14213D"/>
                </a:solidFill>
                <a:latin typeface="Arial" pitchFamily="34" charset="0"/>
                <a:ea typeface="Arial" pitchFamily="34" charset="-122"/>
                <a:cs typeface="Arial" pitchFamily="34" charset="-120"/>
              </a:rPr>
              <a:t>A picture on a slide.</a:t>
            </a:r>
            <a:endParaRPr lang="en-US" sz="1500" dirty="0"/>
          </a:p>
        </p:txBody>
      </p:sp>
      <p:sp>
        <p:nvSpPr>
          <p:cNvPr id="18" name="Shape 16"/>
          <p:cNvSpPr/>
          <p:nvPr/>
        </p:nvSpPr>
        <p:spPr>
          <a:xfrm>
            <a:off x="6629400" y="1702003"/>
            <a:ext cx="4754880" cy="2866644"/>
          </a:xfrm>
          <a:prstGeom prst="rect">
            <a:avLst/>
          </a:prstGeom>
          <a:solidFill>
            <a:srgbClr val="E8E2D2"/>
          </a:solidFill>
          <a:ln/>
        </p:spPr>
      </p:sp>
      <p:sp>
        <p:nvSpPr>
          <p:cNvPr id="19" name="Text 17"/>
          <p:cNvSpPr/>
          <p:nvPr/>
        </p:nvSpPr>
        <p:spPr>
          <a:xfrm>
            <a:off x="6903720" y="1976323"/>
            <a:ext cx="4206240" cy="331470"/>
          </a:xfrm>
          <a:prstGeom prst="rect">
            <a:avLst/>
          </a:prstGeom>
          <a:noFill/>
          <a:ln/>
        </p:spPr>
        <p:txBody>
          <a:bodyPr wrap="square" lIns="0" tIns="0" rIns="0" bIns="0" rtlCol="0" anchor="t"/>
          <a:lstStyle/>
          <a:p>
            <a:pPr indent="0" marL="0">
              <a:buNone/>
            </a:pPr>
            <a:r>
              <a:rPr lang="en-US" sz="1500" b="1" spc="160" kern="0" dirty="0">
                <a:solidFill>
                  <a:srgbClr val="15616D"/>
                </a:solidFill>
                <a:latin typeface="Arial" pitchFamily="34" charset="0"/>
                <a:ea typeface="Arial" pitchFamily="34" charset="-122"/>
                <a:cs typeface="Arial" pitchFamily="34" charset="-120"/>
              </a:rPr>
              <a:t>AN OPERATING RHYTHM IS</a:t>
            </a:r>
            <a:endParaRPr lang="en-US" sz="1500" dirty="0"/>
          </a:p>
        </p:txBody>
      </p:sp>
      <p:sp>
        <p:nvSpPr>
          <p:cNvPr id="20" name="Shape 18"/>
          <p:cNvSpPr/>
          <p:nvPr/>
        </p:nvSpPr>
        <p:spPr>
          <a:xfrm rot="2700000">
            <a:off x="6903720" y="2495245"/>
            <a:ext cx="100584" cy="100584"/>
          </a:xfrm>
          <a:prstGeom prst="rect">
            <a:avLst/>
          </a:prstGeom>
          <a:solidFill>
            <a:srgbClr val="C9A227"/>
          </a:solidFill>
          <a:ln w="3175">
            <a:solidFill>
              <a:srgbClr val="C9A227"/>
            </a:solidFill>
            <a:prstDash val="solid"/>
          </a:ln>
        </p:spPr>
      </p:sp>
      <p:sp>
        <p:nvSpPr>
          <p:cNvPr id="21" name="Text 19"/>
          <p:cNvSpPr/>
          <p:nvPr/>
        </p:nvSpPr>
        <p:spPr>
          <a:xfrm>
            <a:off x="7214616" y="2417521"/>
            <a:ext cx="3895344" cy="331470"/>
          </a:xfrm>
          <a:prstGeom prst="rect">
            <a:avLst/>
          </a:prstGeom>
          <a:noFill/>
          <a:ln/>
        </p:spPr>
        <p:txBody>
          <a:bodyPr wrap="square" lIns="0" tIns="0" rIns="0" bIns="0" rtlCol="0" anchor="t"/>
          <a:lstStyle/>
          <a:p>
            <a:pPr indent="0" marL="0">
              <a:lnSpc>
                <a:spcPct val="116000"/>
              </a:lnSpc>
              <a:buNone/>
            </a:pPr>
            <a:r>
              <a:rPr lang="en-US" sz="1500" dirty="0">
                <a:solidFill>
                  <a:srgbClr val="14213D"/>
                </a:solidFill>
                <a:latin typeface="Arial" pitchFamily="34" charset="0"/>
                <a:ea typeface="Arial" pitchFamily="34" charset="-122"/>
                <a:cs typeface="Arial" pitchFamily="34" charset="-120"/>
              </a:rPr>
              <a:t>A number somebody owns.</a:t>
            </a:r>
            <a:endParaRPr lang="en-US" sz="1500" dirty="0"/>
          </a:p>
        </p:txBody>
      </p:sp>
      <p:sp>
        <p:nvSpPr>
          <p:cNvPr id="22" name="Shape 20"/>
          <p:cNvSpPr/>
          <p:nvPr/>
        </p:nvSpPr>
        <p:spPr>
          <a:xfrm rot="2700000">
            <a:off x="6903720" y="3027883"/>
            <a:ext cx="100584" cy="100584"/>
          </a:xfrm>
          <a:prstGeom prst="rect">
            <a:avLst/>
          </a:prstGeom>
          <a:solidFill>
            <a:srgbClr val="C9A227"/>
          </a:solidFill>
          <a:ln w="3175">
            <a:solidFill>
              <a:srgbClr val="C9A227"/>
            </a:solidFill>
            <a:prstDash val="solid"/>
          </a:ln>
        </p:spPr>
      </p:sp>
      <p:sp>
        <p:nvSpPr>
          <p:cNvPr id="23" name="Text 21"/>
          <p:cNvSpPr/>
          <p:nvPr/>
        </p:nvSpPr>
        <p:spPr>
          <a:xfrm>
            <a:off x="7214616" y="2950159"/>
            <a:ext cx="3895344" cy="571500"/>
          </a:xfrm>
          <a:prstGeom prst="rect">
            <a:avLst/>
          </a:prstGeom>
          <a:noFill/>
          <a:ln/>
        </p:spPr>
        <p:txBody>
          <a:bodyPr wrap="square" lIns="0" tIns="0" rIns="0" bIns="0" rtlCol="0" anchor="t"/>
          <a:lstStyle/>
          <a:p>
            <a:pPr indent="0" marL="0">
              <a:lnSpc>
                <a:spcPct val="116000"/>
              </a:lnSpc>
              <a:buNone/>
            </a:pPr>
            <a:r>
              <a:rPr lang="en-US" sz="1500" dirty="0">
                <a:solidFill>
                  <a:srgbClr val="14213D"/>
                </a:solidFill>
                <a:latin typeface="Arial" pitchFamily="34" charset="0"/>
                <a:ea typeface="Arial" pitchFamily="34" charset="-122"/>
                <a:cs typeface="Arial" pitchFamily="34" charset="-120"/>
              </a:rPr>
              <a:t>A weekly rhythm that shows whether it moved.</a:t>
            </a:r>
            <a:endParaRPr lang="en-US" sz="1500" dirty="0"/>
          </a:p>
        </p:txBody>
      </p:sp>
      <p:sp>
        <p:nvSpPr>
          <p:cNvPr id="24" name="Shape 22"/>
          <p:cNvSpPr/>
          <p:nvPr/>
        </p:nvSpPr>
        <p:spPr>
          <a:xfrm rot="2700000">
            <a:off x="6903720" y="3800551"/>
            <a:ext cx="100584" cy="100584"/>
          </a:xfrm>
          <a:prstGeom prst="rect">
            <a:avLst/>
          </a:prstGeom>
          <a:solidFill>
            <a:srgbClr val="C9A227"/>
          </a:solidFill>
          <a:ln w="3175">
            <a:solidFill>
              <a:srgbClr val="C9A227"/>
            </a:solidFill>
            <a:prstDash val="solid"/>
          </a:ln>
        </p:spPr>
      </p:sp>
      <p:sp>
        <p:nvSpPr>
          <p:cNvPr id="25" name="Text 23"/>
          <p:cNvSpPr/>
          <p:nvPr/>
        </p:nvSpPr>
        <p:spPr>
          <a:xfrm>
            <a:off x="7214616" y="3722827"/>
            <a:ext cx="3895344" cy="571500"/>
          </a:xfrm>
          <a:prstGeom prst="rect">
            <a:avLst/>
          </a:prstGeom>
          <a:noFill/>
          <a:ln/>
        </p:spPr>
        <p:txBody>
          <a:bodyPr wrap="square" lIns="0" tIns="0" rIns="0" bIns="0" rtlCol="0" anchor="t"/>
          <a:lstStyle/>
          <a:p>
            <a:pPr indent="0" marL="0">
              <a:lnSpc>
                <a:spcPct val="116000"/>
              </a:lnSpc>
              <a:buNone/>
            </a:pPr>
            <a:r>
              <a:rPr lang="en-US" sz="1500" dirty="0">
                <a:solidFill>
                  <a:srgbClr val="14213D"/>
                </a:solidFill>
                <a:latin typeface="Arial" pitchFamily="34" charset="0"/>
                <a:ea typeface="Arial" pitchFamily="34" charset="-122"/>
                <a:cs typeface="Arial" pitchFamily="34" charset="-120"/>
              </a:rPr>
              <a:t>A habit that survives you being on a plane.</a:t>
            </a:r>
            <a:endParaRPr lang="en-US" sz="1500" dirty="0"/>
          </a:p>
        </p:txBody>
      </p:sp>
      <p:sp>
        <p:nvSpPr>
          <p:cNvPr id="26" name="Text 24"/>
          <p:cNvSpPr/>
          <p:nvPr/>
        </p:nvSpPr>
        <p:spPr>
          <a:xfrm>
            <a:off x="813816" y="4846320"/>
            <a:ext cx="10570464" cy="299466"/>
          </a:xfrm>
          <a:prstGeom prst="rect">
            <a:avLst/>
          </a:prstGeom>
          <a:noFill/>
          <a:ln/>
        </p:spPr>
        <p:txBody>
          <a:bodyPr wrap="square" lIns="0" tIns="0" rIns="0" bIns="0" rtlCol="0" anchor="t"/>
          <a:lstStyle/>
          <a:p>
            <a:pPr algn="l" indent="0" marL="0">
              <a:lnSpc>
                <a:spcPct val="116000"/>
              </a:lnSpc>
              <a:buNone/>
            </a:pPr>
            <a:r>
              <a:rPr lang="en-US" sz="1300" b="1" dirty="0">
                <a:solidFill>
                  <a:srgbClr val="15616D"/>
                </a:solidFill>
                <a:latin typeface="Arial" pitchFamily="34" charset="0"/>
                <a:ea typeface="Arial" pitchFamily="34" charset="-122"/>
                <a:cs typeface="Arial" pitchFamily="34" charset="-120"/>
              </a:rPr>
              <a:t>The strategy is agreed. Now we build the weekly rhythm that makes the flywheel turn.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1786128"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SIGCOMPASS REVEAL</a:t>
            </a:r>
            <a:endParaRPr lang="en-US" sz="900" dirty="0"/>
          </a:p>
        </p:txBody>
      </p:sp>
      <p:sp>
        <p:nvSpPr>
          <p:cNvPr id="6" name="Shape 4"/>
          <p:cNvSpPr/>
          <p:nvPr/>
        </p:nvSpPr>
        <p:spPr>
          <a:xfrm rot="2700000">
            <a:off x="3898392" y="6003036"/>
            <a:ext cx="64008" cy="64008"/>
          </a:xfrm>
          <a:prstGeom prst="rect">
            <a:avLst/>
          </a:prstGeom>
          <a:solidFill>
            <a:srgbClr val="C9A227"/>
          </a:solidFill>
          <a:ln w="3175">
            <a:solidFill>
              <a:srgbClr val="C9A227"/>
            </a:solidFill>
            <a:prstDash val="solid"/>
          </a:ln>
        </p:spPr>
      </p:sp>
      <p:sp>
        <p:nvSpPr>
          <p:cNvPr id="7" name="Text 5"/>
          <p:cNvSpPr/>
          <p:nvPr/>
        </p:nvSpPr>
        <p:spPr>
          <a:xfrm>
            <a:off x="4081272" y="5943600"/>
            <a:ext cx="1200912"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AFA893"/>
                </a:solidFill>
                <a:latin typeface="Arial" pitchFamily="34" charset="0"/>
                <a:ea typeface="Arial" pitchFamily="34" charset="-122"/>
                <a:cs typeface="Arial" pitchFamily="34" charset="-120"/>
              </a:rPr>
              <a:t>10</a:t>
            </a:r>
            <a:endParaRPr lang="en-US" sz="900" dirty="0"/>
          </a:p>
        </p:txBody>
      </p:sp>
      <p:sp>
        <p:nvSpPr>
          <p:cNvPr id="9" name="Text 7"/>
          <p:cNvSpPr/>
          <p:nvPr/>
        </p:nvSpPr>
        <p:spPr>
          <a:xfrm>
            <a:off x="813816" y="502920"/>
            <a:ext cx="10570464" cy="256032"/>
          </a:xfrm>
          <a:prstGeom prst="rect">
            <a:avLst/>
          </a:prstGeom>
          <a:noFill/>
          <a:ln/>
        </p:spPr>
        <p:txBody>
          <a:bodyPr wrap="square" lIns="0" tIns="0" rIns="0" bIns="0" rtlCol="0" anchor="ctr"/>
          <a:lstStyle/>
          <a:p>
            <a:pPr indent="0" marL="0">
              <a:buNone/>
            </a:pPr>
            <a:r>
              <a:rPr lang="en-US" sz="1200" b="1" spc="220" kern="0" dirty="0">
                <a:solidFill>
                  <a:srgbClr val="E7C766"/>
                </a:solidFill>
                <a:latin typeface="Arial" pitchFamily="34" charset="0"/>
                <a:ea typeface="Arial" pitchFamily="34" charset="-122"/>
                <a:cs typeface="Arial" pitchFamily="34" charset="-120"/>
              </a:rPr>
              <a:t>THE PART BOTH SESSIONS SHARE · DIGITAL TRANSFORMATION</a:t>
            </a:r>
            <a:endParaRPr lang="en-US" sz="1200" dirty="0"/>
          </a:p>
        </p:txBody>
      </p:sp>
      <p:sp>
        <p:nvSpPr>
          <p:cNvPr id="10" name="Text 8"/>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F7F3EA"/>
                </a:solidFill>
                <a:latin typeface="Georgia" pitchFamily="34" charset="0"/>
                <a:ea typeface="Georgia" pitchFamily="34" charset="-122"/>
                <a:cs typeface="Georgia" pitchFamily="34" charset="-120"/>
              </a:rPr>
              <a:t>This is the executive workflow.</a:t>
            </a:r>
            <a:endParaRPr lang="en-US" sz="4000" dirty="0"/>
          </a:p>
        </p:txBody>
      </p:sp>
      <p:sp>
        <p:nvSpPr>
          <p:cNvPr id="11" name="Text 9"/>
          <p:cNvSpPr/>
          <p:nvPr/>
        </p:nvSpPr>
        <p:spPr>
          <a:xfrm>
            <a:off x="813816" y="1775155"/>
            <a:ext cx="9692640" cy="811530"/>
          </a:xfrm>
          <a:prstGeom prst="rect">
            <a:avLst/>
          </a:prstGeom>
          <a:noFill/>
          <a:ln/>
        </p:spPr>
        <p:txBody>
          <a:bodyPr wrap="square" lIns="0" tIns="0" rIns="0" bIns="0" rtlCol="0" anchor="t"/>
          <a:lstStyle/>
          <a:p>
            <a:pPr algn="l" indent="0" marL="0">
              <a:lnSpc>
                <a:spcPct val="116000"/>
              </a:lnSpc>
              <a:buNone/>
            </a:pPr>
            <a:r>
              <a:rPr lang="en-US" sz="1500" dirty="0">
                <a:solidFill>
                  <a:srgbClr val="F7F3EA"/>
                </a:solidFill>
                <a:latin typeface="Arial" pitchFamily="34" charset="0"/>
                <a:ea typeface="Arial" pitchFamily="34" charset="-122"/>
                <a:cs typeface="Arial" pitchFamily="34" charset="-120"/>
              </a:rPr>
              <a:t>Everything we do this afternoon is one question asked twice: how does knowledge move across a business? Every company that has done this followed a recognizable pattern, and not one of them started at the end.</a:t>
            </a:r>
            <a:endParaRPr lang="en-US" sz="1500" dirty="0"/>
          </a:p>
        </p:txBody>
      </p:sp>
      <p:sp>
        <p:nvSpPr>
          <p:cNvPr id="12" name="Shape 10"/>
          <p:cNvSpPr/>
          <p:nvPr/>
        </p:nvSpPr>
        <p:spPr>
          <a:xfrm>
            <a:off x="813816" y="2824429"/>
            <a:ext cx="10570464" cy="2048256"/>
          </a:xfrm>
          <a:prstGeom prst="rect">
            <a:avLst/>
          </a:prstGeom>
          <a:solidFill>
            <a:srgbClr val="2A3244"/>
          </a:solidFill>
          <a:ln/>
        </p:spPr>
      </p:sp>
      <p:sp>
        <p:nvSpPr>
          <p:cNvPr id="13" name="Shape 11"/>
          <p:cNvSpPr/>
          <p:nvPr/>
        </p:nvSpPr>
        <p:spPr>
          <a:xfrm rot="2700000">
            <a:off x="1106424" y="3194761"/>
            <a:ext cx="100584" cy="100584"/>
          </a:xfrm>
          <a:prstGeom prst="rect">
            <a:avLst/>
          </a:prstGeom>
          <a:solidFill>
            <a:srgbClr val="1E808F"/>
          </a:solidFill>
          <a:ln w="3175">
            <a:solidFill>
              <a:srgbClr val="1E808F"/>
            </a:solidFill>
            <a:prstDash val="solid"/>
          </a:ln>
        </p:spPr>
      </p:sp>
      <p:sp>
        <p:nvSpPr>
          <p:cNvPr id="14" name="Text 12"/>
          <p:cNvSpPr/>
          <p:nvPr/>
        </p:nvSpPr>
        <p:spPr>
          <a:xfrm>
            <a:off x="1417320" y="3117037"/>
            <a:ext cx="9674352" cy="539496"/>
          </a:xfrm>
          <a:prstGeom prst="rect">
            <a:avLst/>
          </a:prstGeom>
          <a:noFill/>
          <a:ln/>
        </p:spPr>
        <p:txBody>
          <a:bodyPr wrap="square" lIns="0" tIns="0" rIns="0" bIns="0" rtlCol="0" anchor="t"/>
          <a:lstStyle/>
          <a:p>
            <a:pPr indent="0" marL="0">
              <a:lnSpc>
                <a:spcPct val="116000"/>
              </a:lnSpc>
              <a:buNone/>
            </a:pPr>
            <a:r>
              <a:rPr lang="en-US" sz="1400" b="1" dirty="0">
                <a:solidFill>
                  <a:srgbClr val="E7C766"/>
                </a:solidFill>
                <a:latin typeface="Arial" pitchFamily="34" charset="0"/>
                <a:ea typeface="Arial" pitchFamily="34" charset="-122"/>
                <a:cs typeface="Arial" pitchFamily="34" charset="-120"/>
              </a:rPr>
              <a:t>STEP 1 · WHERE WE ARE · </a:t>
            </a:r>
            <a:pPr indent="0" marL="0">
              <a:lnSpc>
                <a:spcPct val="116000"/>
              </a:lnSpc>
              <a:buNone/>
            </a:pPr>
            <a:r>
              <a:rPr lang="en-US" sz="1400" dirty="0">
                <a:solidFill>
                  <a:srgbClr val="F7F3EA"/>
                </a:solidFill>
                <a:latin typeface="Arial" pitchFamily="34" charset="0"/>
                <a:ea typeface="Arial" pitchFamily="34" charset="-122"/>
                <a:cs typeface="Arial" pitchFamily="34" charset="-120"/>
              </a:rPr>
              <a:t>Get the data flowing from offer to closed booking, and measure the confidence gap at every handoff.</a:t>
            </a:r>
            <a:endParaRPr lang="en-US" sz="1400" dirty="0"/>
          </a:p>
        </p:txBody>
      </p:sp>
      <p:sp>
        <p:nvSpPr>
          <p:cNvPr id="15" name="Shape 13"/>
          <p:cNvSpPr/>
          <p:nvPr/>
        </p:nvSpPr>
        <p:spPr>
          <a:xfrm rot="2700000">
            <a:off x="1106424" y="3880561"/>
            <a:ext cx="100584" cy="100584"/>
          </a:xfrm>
          <a:prstGeom prst="rect">
            <a:avLst/>
          </a:prstGeom>
          <a:solidFill>
            <a:srgbClr val="C9A227"/>
          </a:solidFill>
          <a:ln w="3175">
            <a:solidFill>
              <a:srgbClr val="C9A227"/>
            </a:solidFill>
            <a:prstDash val="solid"/>
          </a:ln>
        </p:spPr>
      </p:sp>
      <p:sp>
        <p:nvSpPr>
          <p:cNvPr id="16" name="Text 14"/>
          <p:cNvSpPr/>
          <p:nvPr/>
        </p:nvSpPr>
        <p:spPr>
          <a:xfrm>
            <a:off x="1417320" y="3802837"/>
            <a:ext cx="9674352" cy="315468"/>
          </a:xfrm>
          <a:prstGeom prst="rect">
            <a:avLst/>
          </a:prstGeom>
          <a:noFill/>
          <a:ln/>
        </p:spPr>
        <p:txBody>
          <a:bodyPr wrap="square" lIns="0" tIns="0" rIns="0" bIns="0" rtlCol="0" anchor="t"/>
          <a:lstStyle/>
          <a:p>
            <a:pPr indent="0" marL="0">
              <a:lnSpc>
                <a:spcPct val="116000"/>
              </a:lnSpc>
              <a:buNone/>
            </a:pPr>
            <a:r>
              <a:rPr lang="en-US" sz="1400" b="1" dirty="0">
                <a:solidFill>
                  <a:srgbClr val="E7C766"/>
                </a:solidFill>
                <a:latin typeface="Arial" pitchFamily="34" charset="0"/>
                <a:ea typeface="Arial" pitchFamily="34" charset="-122"/>
                <a:cs typeface="Arial" pitchFamily="34" charset="-120"/>
              </a:rPr>
              <a:t>STEP 2 · NEXT · </a:t>
            </a:r>
            <a:pPr indent="0" marL="0">
              <a:lnSpc>
                <a:spcPct val="116000"/>
              </a:lnSpc>
              <a:buNone/>
            </a:pPr>
            <a:r>
              <a:rPr lang="en-US" sz="1400" dirty="0">
                <a:solidFill>
                  <a:srgbClr val="F7F3EA"/>
                </a:solidFill>
                <a:latin typeface="Arial" pitchFamily="34" charset="0"/>
                <a:ea typeface="Arial" pitchFamily="34" charset="-122"/>
                <a:cs typeface="Arial" pitchFamily="34" charset="-120"/>
              </a:rPr>
              <a:t>Put that flow in front of the person making the decision, at the moment they make it.</a:t>
            </a:r>
            <a:endParaRPr lang="en-US" sz="1400" dirty="0"/>
          </a:p>
        </p:txBody>
      </p:sp>
      <p:sp>
        <p:nvSpPr>
          <p:cNvPr id="17" name="Shape 15"/>
          <p:cNvSpPr/>
          <p:nvPr/>
        </p:nvSpPr>
        <p:spPr>
          <a:xfrm rot="2700000">
            <a:off x="1106424" y="4342333"/>
            <a:ext cx="100584" cy="100584"/>
          </a:xfrm>
          <a:prstGeom prst="rect">
            <a:avLst/>
          </a:prstGeom>
          <a:solidFill>
            <a:srgbClr val="C9A227"/>
          </a:solidFill>
          <a:ln w="3175">
            <a:solidFill>
              <a:srgbClr val="C9A227"/>
            </a:solidFill>
            <a:prstDash val="solid"/>
          </a:ln>
        </p:spPr>
      </p:sp>
      <p:sp>
        <p:nvSpPr>
          <p:cNvPr id="18" name="Text 16"/>
          <p:cNvSpPr/>
          <p:nvPr/>
        </p:nvSpPr>
        <p:spPr>
          <a:xfrm>
            <a:off x="1417320" y="4264609"/>
            <a:ext cx="9674352" cy="315468"/>
          </a:xfrm>
          <a:prstGeom prst="rect">
            <a:avLst/>
          </a:prstGeom>
          <a:noFill/>
          <a:ln/>
        </p:spPr>
        <p:txBody>
          <a:bodyPr wrap="square" lIns="0" tIns="0" rIns="0" bIns="0" rtlCol="0" anchor="t"/>
          <a:lstStyle/>
          <a:p>
            <a:pPr indent="0" marL="0">
              <a:lnSpc>
                <a:spcPct val="116000"/>
              </a:lnSpc>
              <a:buNone/>
            </a:pPr>
            <a:r>
              <a:rPr lang="en-US" sz="1400" b="1" dirty="0">
                <a:solidFill>
                  <a:srgbClr val="E7C766"/>
                </a:solidFill>
                <a:latin typeface="Arial" pitchFamily="34" charset="0"/>
                <a:ea typeface="Arial" pitchFamily="34" charset="-122"/>
                <a:cs typeface="Arial" pitchFamily="34" charset="-120"/>
              </a:rPr>
              <a:t>STEP 3 · THEN · </a:t>
            </a:r>
            <a:pPr indent="0" marL="0">
              <a:lnSpc>
                <a:spcPct val="116000"/>
              </a:lnSpc>
              <a:buNone/>
            </a:pPr>
            <a:r>
              <a:rPr lang="en-US" sz="1400" dirty="0">
                <a:solidFill>
                  <a:srgbClr val="F7F3EA"/>
                </a:solidFill>
                <a:latin typeface="Arial" pitchFamily="34" charset="0"/>
                <a:ea typeface="Arial" pitchFamily="34" charset="-122"/>
                <a:cs typeface="Arial" pitchFamily="34" charset="-120"/>
              </a:rPr>
              <a:t>Let it run without anyone remembering to run it.</a:t>
            </a:r>
            <a:endParaRPr lang="en-US" sz="1400" dirty="0"/>
          </a:p>
        </p:txBody>
      </p:sp>
      <p:sp>
        <p:nvSpPr>
          <p:cNvPr id="19" name="Text 17"/>
          <p:cNvSpPr/>
          <p:nvPr/>
        </p:nvSpPr>
        <p:spPr>
          <a:xfrm>
            <a:off x="813816" y="5296662"/>
            <a:ext cx="10570464" cy="299466"/>
          </a:xfrm>
          <a:prstGeom prst="rect">
            <a:avLst/>
          </a:prstGeom>
          <a:noFill/>
          <a:ln/>
        </p:spPr>
        <p:txBody>
          <a:bodyPr wrap="square" lIns="0" tIns="0" rIns="0" bIns="0" rtlCol="0" anchor="t"/>
          <a:lstStyle/>
          <a:p>
            <a:pPr algn="l" indent="0" marL="0">
              <a:lnSpc>
                <a:spcPct val="116000"/>
              </a:lnSpc>
              <a:buNone/>
            </a:pPr>
            <a:r>
              <a:rPr lang="en-US" sz="1300" b="1" dirty="0">
                <a:solidFill>
                  <a:srgbClr val="E7C766"/>
                </a:solidFill>
                <a:latin typeface="Arial" pitchFamily="34" charset="0"/>
                <a:ea typeface="Arial" pitchFamily="34" charset="-122"/>
                <a:cs typeface="Arial" pitchFamily="34" charset="-120"/>
              </a:rPr>
              <a:t>We are at step 1. That is not a small ambition. It is the only one that makes steps 2 and 3 possible.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1786128"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SIGCOMPASS REVEAL</a:t>
            </a:r>
            <a:endParaRPr lang="en-US" sz="900" dirty="0"/>
          </a:p>
        </p:txBody>
      </p:sp>
      <p:sp>
        <p:nvSpPr>
          <p:cNvPr id="6" name="Shape 4"/>
          <p:cNvSpPr/>
          <p:nvPr/>
        </p:nvSpPr>
        <p:spPr>
          <a:xfrm rot="2700000">
            <a:off x="3898392" y="6003036"/>
            <a:ext cx="64008" cy="64008"/>
          </a:xfrm>
          <a:prstGeom prst="rect">
            <a:avLst/>
          </a:prstGeom>
          <a:solidFill>
            <a:srgbClr val="C9A227"/>
          </a:solidFill>
          <a:ln w="3175">
            <a:solidFill>
              <a:srgbClr val="C9A227"/>
            </a:solidFill>
            <a:prstDash val="solid"/>
          </a:ln>
        </p:spPr>
      </p:sp>
      <p:sp>
        <p:nvSpPr>
          <p:cNvPr id="7" name="Text 5"/>
          <p:cNvSpPr/>
          <p:nvPr/>
        </p:nvSpPr>
        <p:spPr>
          <a:xfrm>
            <a:off x="4081272" y="5943600"/>
            <a:ext cx="1200912"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5A6379"/>
                </a:solidFill>
                <a:latin typeface="Arial" pitchFamily="34" charset="0"/>
                <a:ea typeface="Arial" pitchFamily="34" charset="-122"/>
                <a:cs typeface="Arial" pitchFamily="34" charset="-120"/>
              </a:rPr>
              <a:t>11</a:t>
            </a:r>
            <a:endParaRPr lang="en-US" sz="900" dirty="0"/>
          </a:p>
        </p:txBody>
      </p:sp>
      <p:sp>
        <p:nvSpPr>
          <p:cNvPr id="9" name="Text 7"/>
          <p:cNvSpPr/>
          <p:nvPr/>
        </p:nvSpPr>
        <p:spPr>
          <a:xfrm>
            <a:off x="813816" y="502920"/>
            <a:ext cx="10570464" cy="256032"/>
          </a:xfrm>
          <a:prstGeom prst="rect">
            <a:avLst/>
          </a:prstGeom>
          <a:noFill/>
          <a:ln/>
        </p:spPr>
        <p:txBody>
          <a:bodyPr wrap="square" lIns="0" tIns="0" rIns="0" bIns="0" rtlCol="0" anchor="ctr"/>
          <a:lstStyle/>
          <a:p>
            <a:pPr indent="0" marL="0">
              <a:buNone/>
            </a:pPr>
            <a:r>
              <a:rPr lang="en-US" sz="1200" b="1" spc="220" kern="0" dirty="0">
                <a:solidFill>
                  <a:srgbClr val="8A6D14"/>
                </a:solidFill>
                <a:latin typeface="Arial" pitchFamily="34" charset="0"/>
                <a:ea typeface="Arial" pitchFamily="34" charset="-122"/>
                <a:cs typeface="Arial" pitchFamily="34" charset="-120"/>
              </a:rPr>
              <a:t>THE WORK AHEAD</a:t>
            </a:r>
            <a:endParaRPr lang="en-US" sz="1200" dirty="0"/>
          </a:p>
        </p:txBody>
      </p:sp>
      <p:sp>
        <p:nvSpPr>
          <p:cNvPr id="10" name="Text 8"/>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Same flywheel, now with numbers.</a:t>
            </a:r>
            <a:endParaRPr lang="en-US" sz="4000" dirty="0"/>
          </a:p>
        </p:txBody>
      </p:sp>
      <p:sp>
        <p:nvSpPr>
          <p:cNvPr id="11" name="Shape 9"/>
          <p:cNvSpPr/>
          <p:nvPr/>
        </p:nvSpPr>
        <p:spPr>
          <a:xfrm>
            <a:off x="1966570" y="2369515"/>
            <a:ext cx="1772717" cy="1772717"/>
          </a:xfrm>
          <a:prstGeom prst="ellipse">
            <a:avLst/>
          </a:prstGeom>
          <a:ln w="12700">
            <a:solidFill>
              <a:srgbClr val="C9A227"/>
            </a:solidFill>
            <a:prstDash val="solid"/>
          </a:ln>
        </p:spPr>
      </p:sp>
      <p:sp>
        <p:nvSpPr>
          <p:cNvPr id="12" name="Shape 10"/>
          <p:cNvSpPr/>
          <p:nvPr/>
        </p:nvSpPr>
        <p:spPr>
          <a:xfrm rot="2700000">
            <a:off x="3420242" y="2569688"/>
            <a:ext cx="118872" cy="118872"/>
          </a:xfrm>
          <a:prstGeom prst="triangle">
            <a:avLst/>
          </a:prstGeom>
          <a:solidFill>
            <a:srgbClr val="C9A227"/>
          </a:solidFill>
          <a:ln/>
        </p:spPr>
      </p:sp>
      <p:sp>
        <p:nvSpPr>
          <p:cNvPr id="13" name="Shape 11"/>
          <p:cNvSpPr/>
          <p:nvPr/>
        </p:nvSpPr>
        <p:spPr>
          <a:xfrm rot="8100000">
            <a:off x="3420242" y="3823188"/>
            <a:ext cx="118872" cy="118872"/>
          </a:xfrm>
          <a:prstGeom prst="triangle">
            <a:avLst/>
          </a:prstGeom>
          <a:solidFill>
            <a:srgbClr val="C9A227"/>
          </a:solidFill>
          <a:ln/>
        </p:spPr>
      </p:sp>
      <p:sp>
        <p:nvSpPr>
          <p:cNvPr id="14" name="Shape 12"/>
          <p:cNvSpPr/>
          <p:nvPr/>
        </p:nvSpPr>
        <p:spPr>
          <a:xfrm rot="13500000">
            <a:off x="2166742" y="3823188"/>
            <a:ext cx="118872" cy="118872"/>
          </a:xfrm>
          <a:prstGeom prst="triangle">
            <a:avLst/>
          </a:prstGeom>
          <a:solidFill>
            <a:srgbClr val="C9A227"/>
          </a:solidFill>
          <a:ln/>
        </p:spPr>
      </p:sp>
      <p:sp>
        <p:nvSpPr>
          <p:cNvPr id="15" name="Shape 13"/>
          <p:cNvSpPr/>
          <p:nvPr/>
        </p:nvSpPr>
        <p:spPr>
          <a:xfrm rot="18900000">
            <a:off x="2166742" y="2569688"/>
            <a:ext cx="118872" cy="118872"/>
          </a:xfrm>
          <a:prstGeom prst="triangle">
            <a:avLst/>
          </a:prstGeom>
          <a:solidFill>
            <a:srgbClr val="C9A227"/>
          </a:solidFill>
          <a:ln/>
        </p:spPr>
      </p:sp>
      <p:sp>
        <p:nvSpPr>
          <p:cNvPr id="16" name="Shape 14"/>
          <p:cNvSpPr/>
          <p:nvPr/>
        </p:nvSpPr>
        <p:spPr>
          <a:xfrm>
            <a:off x="2338840" y="2741786"/>
            <a:ext cx="1028176" cy="1028176"/>
          </a:xfrm>
          <a:prstGeom prst="ellipse">
            <a:avLst/>
          </a:prstGeom>
          <a:solidFill>
            <a:srgbClr val="1E808F"/>
          </a:solidFill>
          <a:ln/>
        </p:spPr>
      </p:sp>
      <p:sp>
        <p:nvSpPr>
          <p:cNvPr id="17" name="Text 15"/>
          <p:cNvSpPr/>
          <p:nvPr/>
        </p:nvSpPr>
        <p:spPr>
          <a:xfrm>
            <a:off x="2384560" y="3074264"/>
            <a:ext cx="936736" cy="363220"/>
          </a:xfrm>
          <a:prstGeom prst="rect">
            <a:avLst/>
          </a:prstGeom>
          <a:noFill/>
          <a:ln/>
        </p:spPr>
        <p:txBody>
          <a:bodyPr wrap="square" lIns="0" tIns="0" rIns="0" bIns="0" rtlCol="0" anchor="ctr"/>
          <a:lstStyle/>
          <a:p>
            <a:pPr algn="ctr" indent="0" marL="0">
              <a:lnSpc>
                <a:spcPct val="102000"/>
              </a:lnSpc>
              <a:buNone/>
            </a:pPr>
            <a:r>
              <a:rPr lang="en-US" sz="1100" b="1" dirty="0">
                <a:solidFill>
                  <a:srgbClr val="FFFFFF"/>
                </a:solidFill>
                <a:latin typeface="Georgia" pitchFamily="34" charset="0"/>
                <a:ea typeface="Georgia" pitchFamily="34" charset="-122"/>
                <a:cs typeface="Georgia" pitchFamily="34" charset="-120"/>
              </a:rPr>
              <a:t>REVENUE</a:t>
            </a:r>
            <a:endParaRPr lang="en-US" sz="1100" dirty="0"/>
          </a:p>
          <a:p>
            <a:pPr algn="ctr" indent="0" marL="0">
              <a:lnSpc>
                <a:spcPct val="102000"/>
              </a:lnSpc>
              <a:buNone/>
            </a:pPr>
            <a:r>
              <a:rPr lang="en-US" sz="1100" b="1" dirty="0">
                <a:solidFill>
                  <a:srgbClr val="FFFFFF"/>
                </a:solidFill>
                <a:latin typeface="Georgia" pitchFamily="34" charset="0"/>
                <a:ea typeface="Georgia" pitchFamily="34" charset="-122"/>
                <a:cs typeface="Georgia" pitchFamily="34" charset="-120"/>
              </a:rPr>
              <a:t>GROWTH</a:t>
            </a:r>
            <a:endParaRPr lang="en-US" sz="1100" dirty="0"/>
          </a:p>
        </p:txBody>
      </p:sp>
      <p:sp>
        <p:nvSpPr>
          <p:cNvPr id="18" name="Shape 16"/>
          <p:cNvSpPr/>
          <p:nvPr/>
        </p:nvSpPr>
        <p:spPr>
          <a:xfrm>
            <a:off x="2624328" y="2140915"/>
            <a:ext cx="457200" cy="457200"/>
          </a:xfrm>
          <a:prstGeom prst="ellipse">
            <a:avLst/>
          </a:prstGeom>
          <a:solidFill>
            <a:srgbClr val="F7F3EA"/>
          </a:solidFill>
          <a:ln w="12700">
            <a:solidFill>
              <a:srgbClr val="C9A227"/>
            </a:solidFill>
            <a:prstDash val="solid"/>
          </a:ln>
        </p:spPr>
      </p:sp>
      <p:sp>
        <p:nvSpPr>
          <p:cNvPr id="19" name="Text 17"/>
          <p:cNvSpPr/>
          <p:nvPr/>
        </p:nvSpPr>
        <p:spPr>
          <a:xfrm>
            <a:off x="2624328" y="2140915"/>
            <a:ext cx="457200" cy="457200"/>
          </a:xfrm>
          <a:prstGeom prst="rect">
            <a:avLst/>
          </a:prstGeom>
          <a:noFill/>
          <a:ln/>
        </p:spPr>
        <p:txBody>
          <a:bodyPr wrap="square" lIns="0" tIns="0" rIns="0" bIns="0" rtlCol="0" anchor="ctr"/>
          <a:lstStyle/>
          <a:p>
            <a:pPr algn="ctr" indent="0" marL="0">
              <a:buNone/>
            </a:pPr>
            <a:r>
              <a:rPr lang="en-US" sz="1200" b="1" dirty="0">
                <a:solidFill>
                  <a:srgbClr val="8A6D14"/>
                </a:solidFill>
                <a:latin typeface="Georgia" pitchFamily="34" charset="0"/>
                <a:ea typeface="Georgia" pitchFamily="34" charset="-122"/>
                <a:cs typeface="Georgia" pitchFamily="34" charset="-120"/>
              </a:rPr>
              <a:t>01</a:t>
            </a:r>
            <a:endParaRPr lang="en-US" sz="1200" dirty="0"/>
          </a:p>
        </p:txBody>
      </p:sp>
      <p:sp>
        <p:nvSpPr>
          <p:cNvPr id="20" name="Text 18"/>
          <p:cNvSpPr/>
          <p:nvPr/>
        </p:nvSpPr>
        <p:spPr>
          <a:xfrm>
            <a:off x="2066544" y="1816303"/>
            <a:ext cx="1572768" cy="251460"/>
          </a:xfrm>
          <a:prstGeom prst="rect">
            <a:avLst/>
          </a:prstGeom>
          <a:noFill/>
          <a:ln/>
        </p:spPr>
        <p:txBody>
          <a:bodyPr wrap="square" lIns="0" tIns="0" rIns="0" bIns="0" rtlCol="0" anchor="ctr"/>
          <a:lstStyle/>
          <a:p>
            <a:pPr algn="ctr" indent="0" marL="0">
              <a:buNone/>
            </a:pPr>
            <a:r>
              <a:rPr lang="en-US" sz="1000" b="1" spc="120" kern="0" dirty="0">
                <a:solidFill>
                  <a:srgbClr val="8A6D14"/>
                </a:solidFill>
                <a:latin typeface="Arial" pitchFamily="34" charset="0"/>
                <a:ea typeface="Arial" pitchFamily="34" charset="-122"/>
                <a:cs typeface="Arial" pitchFamily="34" charset="-120"/>
              </a:rPr>
              <a:t>MORE BOOKINGS</a:t>
            </a:r>
            <a:endParaRPr lang="en-US" sz="1000" dirty="0"/>
          </a:p>
        </p:txBody>
      </p:sp>
      <p:sp>
        <p:nvSpPr>
          <p:cNvPr id="21" name="Shape 19"/>
          <p:cNvSpPr/>
          <p:nvPr/>
        </p:nvSpPr>
        <p:spPr>
          <a:xfrm>
            <a:off x="3510686" y="3027274"/>
            <a:ext cx="457200" cy="457200"/>
          </a:xfrm>
          <a:prstGeom prst="ellipse">
            <a:avLst/>
          </a:prstGeom>
          <a:solidFill>
            <a:srgbClr val="F7F3EA"/>
          </a:solidFill>
          <a:ln w="12700">
            <a:solidFill>
              <a:srgbClr val="C9A227"/>
            </a:solidFill>
            <a:prstDash val="solid"/>
          </a:ln>
        </p:spPr>
      </p:sp>
      <p:sp>
        <p:nvSpPr>
          <p:cNvPr id="22" name="Text 20"/>
          <p:cNvSpPr/>
          <p:nvPr/>
        </p:nvSpPr>
        <p:spPr>
          <a:xfrm>
            <a:off x="3510686" y="3027274"/>
            <a:ext cx="457200" cy="457200"/>
          </a:xfrm>
          <a:prstGeom prst="rect">
            <a:avLst/>
          </a:prstGeom>
          <a:noFill/>
          <a:ln/>
        </p:spPr>
        <p:txBody>
          <a:bodyPr wrap="square" lIns="0" tIns="0" rIns="0" bIns="0" rtlCol="0" anchor="ctr"/>
          <a:lstStyle/>
          <a:p>
            <a:pPr algn="ctr" indent="0" marL="0">
              <a:buNone/>
            </a:pPr>
            <a:r>
              <a:rPr lang="en-US" sz="1200" b="1" dirty="0">
                <a:solidFill>
                  <a:srgbClr val="8A6D14"/>
                </a:solidFill>
                <a:latin typeface="Georgia" pitchFamily="34" charset="0"/>
                <a:ea typeface="Georgia" pitchFamily="34" charset="-122"/>
                <a:cs typeface="Georgia" pitchFamily="34" charset="-120"/>
              </a:rPr>
              <a:t>02</a:t>
            </a:r>
            <a:endParaRPr lang="en-US" sz="1200" dirty="0"/>
          </a:p>
        </p:txBody>
      </p:sp>
      <p:sp>
        <p:nvSpPr>
          <p:cNvPr id="23" name="Text 21"/>
          <p:cNvSpPr/>
          <p:nvPr/>
        </p:nvSpPr>
        <p:spPr>
          <a:xfrm>
            <a:off x="4095902" y="3130144"/>
            <a:ext cx="731520" cy="251460"/>
          </a:xfrm>
          <a:prstGeom prst="rect">
            <a:avLst/>
          </a:prstGeom>
          <a:noFill/>
          <a:ln/>
        </p:spPr>
        <p:txBody>
          <a:bodyPr wrap="square" lIns="0" tIns="0" rIns="0" bIns="0" rtlCol="0" anchor="ctr"/>
          <a:lstStyle/>
          <a:p>
            <a:pPr algn="l" indent="0" marL="0">
              <a:buNone/>
            </a:pPr>
            <a:r>
              <a:rPr lang="en-US" sz="1000" b="1" spc="120" kern="0" dirty="0">
                <a:solidFill>
                  <a:srgbClr val="8A6D14"/>
                </a:solidFill>
                <a:latin typeface="Arial" pitchFamily="34" charset="0"/>
                <a:ea typeface="Arial" pitchFamily="34" charset="-122"/>
                <a:cs typeface="Arial" pitchFamily="34" charset="-120"/>
              </a:rPr>
              <a:t>MORE DATA</a:t>
            </a:r>
            <a:endParaRPr lang="en-US" sz="1000" dirty="0"/>
          </a:p>
        </p:txBody>
      </p:sp>
      <p:sp>
        <p:nvSpPr>
          <p:cNvPr id="24" name="Shape 22"/>
          <p:cNvSpPr/>
          <p:nvPr/>
        </p:nvSpPr>
        <p:spPr>
          <a:xfrm>
            <a:off x="2624328" y="3913632"/>
            <a:ext cx="457200" cy="457200"/>
          </a:xfrm>
          <a:prstGeom prst="ellipse">
            <a:avLst/>
          </a:prstGeom>
          <a:solidFill>
            <a:srgbClr val="F7F3EA"/>
          </a:solidFill>
          <a:ln w="12700">
            <a:solidFill>
              <a:srgbClr val="C9A227"/>
            </a:solidFill>
            <a:prstDash val="solid"/>
          </a:ln>
        </p:spPr>
      </p:sp>
      <p:sp>
        <p:nvSpPr>
          <p:cNvPr id="25" name="Text 23"/>
          <p:cNvSpPr/>
          <p:nvPr/>
        </p:nvSpPr>
        <p:spPr>
          <a:xfrm>
            <a:off x="2624328" y="3913632"/>
            <a:ext cx="457200" cy="457200"/>
          </a:xfrm>
          <a:prstGeom prst="rect">
            <a:avLst/>
          </a:prstGeom>
          <a:noFill/>
          <a:ln/>
        </p:spPr>
        <p:txBody>
          <a:bodyPr wrap="square" lIns="0" tIns="0" rIns="0" bIns="0" rtlCol="0" anchor="ctr"/>
          <a:lstStyle/>
          <a:p>
            <a:pPr algn="ctr" indent="0" marL="0">
              <a:buNone/>
            </a:pPr>
            <a:r>
              <a:rPr lang="en-US" sz="1200" b="1" dirty="0">
                <a:solidFill>
                  <a:srgbClr val="8A6D14"/>
                </a:solidFill>
                <a:latin typeface="Georgia" pitchFamily="34" charset="0"/>
                <a:ea typeface="Georgia" pitchFamily="34" charset="-122"/>
                <a:cs typeface="Georgia" pitchFamily="34" charset="-120"/>
              </a:rPr>
              <a:t>03</a:t>
            </a:r>
            <a:endParaRPr lang="en-US" sz="1200" dirty="0"/>
          </a:p>
        </p:txBody>
      </p:sp>
      <p:sp>
        <p:nvSpPr>
          <p:cNvPr id="26" name="Text 24"/>
          <p:cNvSpPr/>
          <p:nvPr/>
        </p:nvSpPr>
        <p:spPr>
          <a:xfrm>
            <a:off x="1784604" y="4443984"/>
            <a:ext cx="2136648" cy="251460"/>
          </a:xfrm>
          <a:prstGeom prst="rect">
            <a:avLst/>
          </a:prstGeom>
          <a:noFill/>
          <a:ln/>
        </p:spPr>
        <p:txBody>
          <a:bodyPr wrap="square" lIns="0" tIns="0" rIns="0" bIns="0" rtlCol="0" anchor="ctr"/>
          <a:lstStyle/>
          <a:p>
            <a:pPr algn="ctr" indent="0" marL="0">
              <a:buNone/>
            </a:pPr>
            <a:r>
              <a:rPr lang="en-US" sz="1000" b="1" spc="120" kern="0" dirty="0">
                <a:solidFill>
                  <a:srgbClr val="8A6D14"/>
                </a:solidFill>
                <a:latin typeface="Arial" pitchFamily="34" charset="0"/>
                <a:ea typeface="Arial" pitchFamily="34" charset="-122"/>
                <a:cs typeface="Arial" pitchFamily="34" charset="-120"/>
              </a:rPr>
              <a:t>MORE PERSONAL TRIPS</a:t>
            </a:r>
            <a:endParaRPr lang="en-US" sz="1000" dirty="0"/>
          </a:p>
        </p:txBody>
      </p:sp>
      <p:sp>
        <p:nvSpPr>
          <p:cNvPr id="27" name="Shape 25"/>
          <p:cNvSpPr/>
          <p:nvPr/>
        </p:nvSpPr>
        <p:spPr>
          <a:xfrm>
            <a:off x="1737970" y="3027274"/>
            <a:ext cx="457200" cy="457200"/>
          </a:xfrm>
          <a:prstGeom prst="ellipse">
            <a:avLst/>
          </a:prstGeom>
          <a:solidFill>
            <a:srgbClr val="F7F3EA"/>
          </a:solidFill>
          <a:ln w="12700">
            <a:solidFill>
              <a:srgbClr val="C9A227"/>
            </a:solidFill>
            <a:prstDash val="solid"/>
          </a:ln>
        </p:spPr>
      </p:sp>
      <p:sp>
        <p:nvSpPr>
          <p:cNvPr id="28" name="Text 26"/>
          <p:cNvSpPr/>
          <p:nvPr/>
        </p:nvSpPr>
        <p:spPr>
          <a:xfrm>
            <a:off x="1737970" y="3027274"/>
            <a:ext cx="457200" cy="457200"/>
          </a:xfrm>
          <a:prstGeom prst="rect">
            <a:avLst/>
          </a:prstGeom>
          <a:noFill/>
          <a:ln/>
        </p:spPr>
        <p:txBody>
          <a:bodyPr wrap="square" lIns="0" tIns="0" rIns="0" bIns="0" rtlCol="0" anchor="ctr"/>
          <a:lstStyle/>
          <a:p>
            <a:pPr algn="ctr" indent="0" marL="0">
              <a:buNone/>
            </a:pPr>
            <a:r>
              <a:rPr lang="en-US" sz="1200" b="1" dirty="0">
                <a:solidFill>
                  <a:srgbClr val="8A6D14"/>
                </a:solidFill>
                <a:latin typeface="Georgia" pitchFamily="34" charset="0"/>
                <a:ea typeface="Georgia" pitchFamily="34" charset="-122"/>
                <a:cs typeface="Georgia" pitchFamily="34" charset="-120"/>
              </a:rPr>
              <a:t>04</a:t>
            </a:r>
            <a:endParaRPr lang="en-US" sz="1200" dirty="0"/>
          </a:p>
        </p:txBody>
      </p:sp>
      <p:sp>
        <p:nvSpPr>
          <p:cNvPr id="29" name="Text 27"/>
          <p:cNvSpPr/>
          <p:nvPr/>
        </p:nvSpPr>
        <p:spPr>
          <a:xfrm>
            <a:off x="502920" y="3130144"/>
            <a:ext cx="1107034" cy="251460"/>
          </a:xfrm>
          <a:prstGeom prst="rect">
            <a:avLst/>
          </a:prstGeom>
          <a:noFill/>
          <a:ln/>
        </p:spPr>
        <p:txBody>
          <a:bodyPr wrap="square" lIns="0" tIns="0" rIns="0" bIns="0" rtlCol="0" anchor="ctr"/>
          <a:lstStyle/>
          <a:p>
            <a:pPr algn="r" indent="0" marL="0">
              <a:buNone/>
            </a:pPr>
            <a:r>
              <a:rPr lang="en-US" sz="1000" b="1" spc="120" kern="0" dirty="0">
                <a:solidFill>
                  <a:srgbClr val="8A6D14"/>
                </a:solidFill>
                <a:latin typeface="Arial" pitchFamily="34" charset="0"/>
                <a:ea typeface="Arial" pitchFamily="34" charset="-122"/>
                <a:cs typeface="Arial" pitchFamily="34" charset="-120"/>
              </a:rPr>
              <a:t>MORE BOOKINGS</a:t>
            </a:r>
            <a:endParaRPr lang="en-US" sz="1000" dirty="0"/>
          </a:p>
        </p:txBody>
      </p:sp>
      <p:sp>
        <p:nvSpPr>
          <p:cNvPr id="30" name="Shape 28"/>
          <p:cNvSpPr/>
          <p:nvPr/>
        </p:nvSpPr>
        <p:spPr>
          <a:xfrm>
            <a:off x="4864608" y="1848307"/>
            <a:ext cx="1481328" cy="658368"/>
          </a:xfrm>
          <a:prstGeom prst="roundRect">
            <a:avLst>
              <a:gd name="adj" fmla="val 6944"/>
            </a:avLst>
          </a:prstGeom>
          <a:solidFill>
            <a:srgbClr val="E8E2D2"/>
          </a:solidFill>
          <a:ln w="9525">
            <a:solidFill>
              <a:srgbClr val="C9A227"/>
            </a:solidFill>
            <a:prstDash val="solid"/>
          </a:ln>
        </p:spPr>
      </p:sp>
      <p:sp>
        <p:nvSpPr>
          <p:cNvPr id="31" name="Text 29"/>
          <p:cNvSpPr/>
          <p:nvPr/>
        </p:nvSpPr>
        <p:spPr>
          <a:xfrm>
            <a:off x="4864608" y="1939747"/>
            <a:ext cx="1481328" cy="164592"/>
          </a:xfrm>
          <a:prstGeom prst="rect">
            <a:avLst/>
          </a:prstGeom>
          <a:noFill/>
          <a:ln/>
        </p:spPr>
        <p:txBody>
          <a:bodyPr wrap="square" lIns="0" tIns="0" rIns="0" bIns="0" rtlCol="0" anchor="ctr"/>
          <a:lstStyle/>
          <a:p>
            <a:pPr algn="ctr" indent="0" marL="0">
              <a:buNone/>
            </a:pPr>
            <a:r>
              <a:rPr lang="en-US" sz="800" b="1" spc="60" kern="0" dirty="0">
                <a:solidFill>
                  <a:srgbClr val="8A6D14"/>
                </a:solidFill>
                <a:latin typeface="Arial" pitchFamily="34" charset="0"/>
                <a:ea typeface="Arial" pitchFamily="34" charset="-122"/>
                <a:cs typeface="Arial" pitchFamily="34" charset="-120"/>
              </a:rPr>
              <a:t>01 → 02  ·  CONVERSION</a:t>
            </a:r>
            <a:endParaRPr lang="en-US" sz="800" dirty="0"/>
          </a:p>
        </p:txBody>
      </p:sp>
      <p:sp>
        <p:nvSpPr>
          <p:cNvPr id="32" name="Text 30"/>
          <p:cNvSpPr/>
          <p:nvPr/>
        </p:nvSpPr>
        <p:spPr>
          <a:xfrm>
            <a:off x="4864608" y="2122627"/>
            <a:ext cx="1481328" cy="274320"/>
          </a:xfrm>
          <a:prstGeom prst="rect">
            <a:avLst/>
          </a:prstGeom>
          <a:noFill/>
          <a:ln/>
        </p:spPr>
        <p:txBody>
          <a:bodyPr wrap="square" lIns="0" tIns="0" rIns="0" bIns="0" rtlCol="0" anchor="ctr"/>
          <a:lstStyle/>
          <a:p>
            <a:pPr algn="ctr" indent="0" marL="0">
              <a:buNone/>
            </a:pPr>
            <a:r>
              <a:rPr lang="en-US" sz="1700" b="1" dirty="0">
                <a:solidFill>
                  <a:srgbClr val="5A6379"/>
                </a:solidFill>
                <a:latin typeface="Georgia" pitchFamily="34" charset="0"/>
                <a:ea typeface="Georgia" pitchFamily="34" charset="-122"/>
                <a:cs typeface="Georgia" pitchFamily="34" charset="-120"/>
              </a:rPr>
              <a:t>___%</a:t>
            </a:r>
            <a:endParaRPr lang="en-US" sz="1700" dirty="0"/>
          </a:p>
        </p:txBody>
      </p:sp>
      <p:sp>
        <p:nvSpPr>
          <p:cNvPr id="33" name="Shape 31"/>
          <p:cNvSpPr/>
          <p:nvPr/>
        </p:nvSpPr>
        <p:spPr>
          <a:xfrm>
            <a:off x="4864608" y="2652979"/>
            <a:ext cx="1481328" cy="658368"/>
          </a:xfrm>
          <a:prstGeom prst="roundRect">
            <a:avLst>
              <a:gd name="adj" fmla="val 6944"/>
            </a:avLst>
          </a:prstGeom>
          <a:solidFill>
            <a:srgbClr val="E8E2D2"/>
          </a:solidFill>
          <a:ln w="9525">
            <a:solidFill>
              <a:srgbClr val="C9A227"/>
            </a:solidFill>
            <a:prstDash val="solid"/>
          </a:ln>
        </p:spPr>
      </p:sp>
      <p:sp>
        <p:nvSpPr>
          <p:cNvPr id="34" name="Text 32"/>
          <p:cNvSpPr/>
          <p:nvPr/>
        </p:nvSpPr>
        <p:spPr>
          <a:xfrm>
            <a:off x="4864608" y="2744419"/>
            <a:ext cx="1481328" cy="164592"/>
          </a:xfrm>
          <a:prstGeom prst="rect">
            <a:avLst/>
          </a:prstGeom>
          <a:noFill/>
          <a:ln/>
        </p:spPr>
        <p:txBody>
          <a:bodyPr wrap="square" lIns="0" tIns="0" rIns="0" bIns="0" rtlCol="0" anchor="ctr"/>
          <a:lstStyle/>
          <a:p>
            <a:pPr algn="ctr" indent="0" marL="0">
              <a:buNone/>
            </a:pPr>
            <a:r>
              <a:rPr lang="en-US" sz="800" b="1" spc="60" kern="0" dirty="0">
                <a:solidFill>
                  <a:srgbClr val="8A6D14"/>
                </a:solidFill>
                <a:latin typeface="Arial" pitchFamily="34" charset="0"/>
                <a:ea typeface="Arial" pitchFamily="34" charset="-122"/>
                <a:cs typeface="Arial" pitchFamily="34" charset="-120"/>
              </a:rPr>
              <a:t>02 → 03  ·  CONVERSION</a:t>
            </a:r>
            <a:endParaRPr lang="en-US" sz="800" dirty="0"/>
          </a:p>
        </p:txBody>
      </p:sp>
      <p:sp>
        <p:nvSpPr>
          <p:cNvPr id="35" name="Text 33"/>
          <p:cNvSpPr/>
          <p:nvPr/>
        </p:nvSpPr>
        <p:spPr>
          <a:xfrm>
            <a:off x="4864608" y="2927299"/>
            <a:ext cx="1481328" cy="274320"/>
          </a:xfrm>
          <a:prstGeom prst="rect">
            <a:avLst/>
          </a:prstGeom>
          <a:noFill/>
          <a:ln/>
        </p:spPr>
        <p:txBody>
          <a:bodyPr wrap="square" lIns="0" tIns="0" rIns="0" bIns="0" rtlCol="0" anchor="ctr"/>
          <a:lstStyle/>
          <a:p>
            <a:pPr algn="ctr" indent="0" marL="0">
              <a:buNone/>
            </a:pPr>
            <a:r>
              <a:rPr lang="en-US" sz="1700" b="1" dirty="0">
                <a:solidFill>
                  <a:srgbClr val="5A6379"/>
                </a:solidFill>
                <a:latin typeface="Georgia" pitchFamily="34" charset="0"/>
                <a:ea typeface="Georgia" pitchFamily="34" charset="-122"/>
                <a:cs typeface="Georgia" pitchFamily="34" charset="-120"/>
              </a:rPr>
              <a:t>___%</a:t>
            </a:r>
            <a:endParaRPr lang="en-US" sz="1700" dirty="0"/>
          </a:p>
        </p:txBody>
      </p:sp>
      <p:sp>
        <p:nvSpPr>
          <p:cNvPr id="36" name="Shape 34"/>
          <p:cNvSpPr/>
          <p:nvPr/>
        </p:nvSpPr>
        <p:spPr>
          <a:xfrm>
            <a:off x="4864608" y="3457651"/>
            <a:ext cx="1481328" cy="658368"/>
          </a:xfrm>
          <a:prstGeom prst="roundRect">
            <a:avLst>
              <a:gd name="adj" fmla="val 6944"/>
            </a:avLst>
          </a:prstGeom>
          <a:solidFill>
            <a:srgbClr val="E8E2D2"/>
          </a:solidFill>
          <a:ln w="9525">
            <a:solidFill>
              <a:srgbClr val="C9A227"/>
            </a:solidFill>
            <a:prstDash val="solid"/>
          </a:ln>
        </p:spPr>
      </p:sp>
      <p:sp>
        <p:nvSpPr>
          <p:cNvPr id="37" name="Text 35"/>
          <p:cNvSpPr/>
          <p:nvPr/>
        </p:nvSpPr>
        <p:spPr>
          <a:xfrm>
            <a:off x="4864608" y="3549091"/>
            <a:ext cx="1481328" cy="164592"/>
          </a:xfrm>
          <a:prstGeom prst="rect">
            <a:avLst/>
          </a:prstGeom>
          <a:noFill/>
          <a:ln/>
        </p:spPr>
        <p:txBody>
          <a:bodyPr wrap="square" lIns="0" tIns="0" rIns="0" bIns="0" rtlCol="0" anchor="ctr"/>
          <a:lstStyle/>
          <a:p>
            <a:pPr algn="ctr" indent="0" marL="0">
              <a:buNone/>
            </a:pPr>
            <a:r>
              <a:rPr lang="en-US" sz="800" b="1" spc="60" kern="0" dirty="0">
                <a:solidFill>
                  <a:srgbClr val="8A6D14"/>
                </a:solidFill>
                <a:latin typeface="Arial" pitchFamily="34" charset="0"/>
                <a:ea typeface="Arial" pitchFamily="34" charset="-122"/>
                <a:cs typeface="Arial" pitchFamily="34" charset="-120"/>
              </a:rPr>
              <a:t>03 → 04  ·  CONVERSION</a:t>
            </a:r>
            <a:endParaRPr lang="en-US" sz="800" dirty="0"/>
          </a:p>
        </p:txBody>
      </p:sp>
      <p:sp>
        <p:nvSpPr>
          <p:cNvPr id="38" name="Text 36"/>
          <p:cNvSpPr/>
          <p:nvPr/>
        </p:nvSpPr>
        <p:spPr>
          <a:xfrm>
            <a:off x="4864608" y="3731971"/>
            <a:ext cx="1481328" cy="274320"/>
          </a:xfrm>
          <a:prstGeom prst="rect">
            <a:avLst/>
          </a:prstGeom>
          <a:noFill/>
          <a:ln/>
        </p:spPr>
        <p:txBody>
          <a:bodyPr wrap="square" lIns="0" tIns="0" rIns="0" bIns="0" rtlCol="0" anchor="ctr"/>
          <a:lstStyle/>
          <a:p>
            <a:pPr algn="ctr" indent="0" marL="0">
              <a:buNone/>
            </a:pPr>
            <a:r>
              <a:rPr lang="en-US" sz="1700" b="1" dirty="0">
                <a:solidFill>
                  <a:srgbClr val="5A6379"/>
                </a:solidFill>
                <a:latin typeface="Georgia" pitchFamily="34" charset="0"/>
                <a:ea typeface="Georgia" pitchFamily="34" charset="-122"/>
                <a:cs typeface="Georgia" pitchFamily="34" charset="-120"/>
              </a:rPr>
              <a:t>___%</a:t>
            </a:r>
            <a:endParaRPr lang="en-US" sz="1700" dirty="0"/>
          </a:p>
        </p:txBody>
      </p:sp>
      <p:sp>
        <p:nvSpPr>
          <p:cNvPr id="39" name="Shape 37"/>
          <p:cNvSpPr/>
          <p:nvPr/>
        </p:nvSpPr>
        <p:spPr>
          <a:xfrm>
            <a:off x="4864608" y="4262323"/>
            <a:ext cx="1481328" cy="658368"/>
          </a:xfrm>
          <a:prstGeom prst="roundRect">
            <a:avLst>
              <a:gd name="adj" fmla="val 6944"/>
            </a:avLst>
          </a:prstGeom>
          <a:solidFill>
            <a:srgbClr val="E8E2D2"/>
          </a:solidFill>
          <a:ln w="9525">
            <a:solidFill>
              <a:srgbClr val="C9A227"/>
            </a:solidFill>
            <a:prstDash val="solid"/>
          </a:ln>
        </p:spPr>
      </p:sp>
      <p:sp>
        <p:nvSpPr>
          <p:cNvPr id="40" name="Text 38"/>
          <p:cNvSpPr/>
          <p:nvPr/>
        </p:nvSpPr>
        <p:spPr>
          <a:xfrm>
            <a:off x="4864608" y="4353763"/>
            <a:ext cx="1481328" cy="164592"/>
          </a:xfrm>
          <a:prstGeom prst="rect">
            <a:avLst/>
          </a:prstGeom>
          <a:noFill/>
          <a:ln/>
        </p:spPr>
        <p:txBody>
          <a:bodyPr wrap="square" lIns="0" tIns="0" rIns="0" bIns="0" rtlCol="0" anchor="ctr"/>
          <a:lstStyle/>
          <a:p>
            <a:pPr algn="ctr" indent="0" marL="0">
              <a:buNone/>
            </a:pPr>
            <a:r>
              <a:rPr lang="en-US" sz="800" b="1" spc="60" kern="0" dirty="0">
                <a:solidFill>
                  <a:srgbClr val="8A6D14"/>
                </a:solidFill>
                <a:latin typeface="Arial" pitchFamily="34" charset="0"/>
                <a:ea typeface="Arial" pitchFamily="34" charset="-122"/>
                <a:cs typeface="Arial" pitchFamily="34" charset="-120"/>
              </a:rPr>
              <a:t>04 → 01  ·  CONVERSION</a:t>
            </a:r>
            <a:endParaRPr lang="en-US" sz="800" dirty="0"/>
          </a:p>
        </p:txBody>
      </p:sp>
      <p:sp>
        <p:nvSpPr>
          <p:cNvPr id="41" name="Text 39"/>
          <p:cNvSpPr/>
          <p:nvPr/>
        </p:nvSpPr>
        <p:spPr>
          <a:xfrm>
            <a:off x="4864608" y="4536643"/>
            <a:ext cx="1481328" cy="274320"/>
          </a:xfrm>
          <a:prstGeom prst="rect">
            <a:avLst/>
          </a:prstGeom>
          <a:noFill/>
          <a:ln/>
        </p:spPr>
        <p:txBody>
          <a:bodyPr wrap="square" lIns="0" tIns="0" rIns="0" bIns="0" rtlCol="0" anchor="ctr"/>
          <a:lstStyle/>
          <a:p>
            <a:pPr algn="ctr" indent="0" marL="0">
              <a:buNone/>
            </a:pPr>
            <a:r>
              <a:rPr lang="en-US" sz="1700" b="1" dirty="0">
                <a:solidFill>
                  <a:srgbClr val="5A6379"/>
                </a:solidFill>
                <a:latin typeface="Georgia" pitchFamily="34" charset="0"/>
                <a:ea typeface="Georgia" pitchFamily="34" charset="-122"/>
                <a:cs typeface="Georgia" pitchFamily="34" charset="-120"/>
              </a:rPr>
              <a:t>___%</a:t>
            </a:r>
            <a:endParaRPr lang="en-US" sz="1700" dirty="0"/>
          </a:p>
        </p:txBody>
      </p:sp>
      <p:sp>
        <p:nvSpPr>
          <p:cNvPr id="42" name="Text 40"/>
          <p:cNvSpPr/>
          <p:nvPr/>
        </p:nvSpPr>
        <p:spPr>
          <a:xfrm>
            <a:off x="6903720" y="1811731"/>
            <a:ext cx="4480560" cy="299466"/>
          </a:xfrm>
          <a:prstGeom prst="rect">
            <a:avLst/>
          </a:prstGeom>
          <a:noFill/>
          <a:ln/>
        </p:spPr>
        <p:txBody>
          <a:bodyPr wrap="square" lIns="0" tIns="0" rIns="0" bIns="0" rtlCol="0" anchor="t"/>
          <a:lstStyle/>
          <a:p>
            <a:pPr algn="l" indent="0" marL="0">
              <a:buNone/>
            </a:pPr>
            <a:r>
              <a:rPr lang="en-US" sz="1300" b="1" spc="160" kern="0" dirty="0">
                <a:solidFill>
                  <a:srgbClr val="15616D"/>
                </a:solidFill>
                <a:latin typeface="Arial" pitchFamily="34" charset="0"/>
                <a:ea typeface="Arial" pitchFamily="34" charset="-122"/>
                <a:cs typeface="Arial" pitchFamily="34" charset="-120"/>
              </a:rPr>
              <a:t>WHERE WE POINT THE WORK</a:t>
            </a:r>
            <a:endParaRPr lang="en-US" sz="1300" dirty="0"/>
          </a:p>
        </p:txBody>
      </p:sp>
      <p:sp>
        <p:nvSpPr>
          <p:cNvPr id="43" name="Shape 41"/>
          <p:cNvSpPr/>
          <p:nvPr/>
        </p:nvSpPr>
        <p:spPr>
          <a:xfrm rot="2700000">
            <a:off x="6903720" y="2236927"/>
            <a:ext cx="100584" cy="100584"/>
          </a:xfrm>
          <a:prstGeom prst="rect">
            <a:avLst/>
          </a:prstGeom>
          <a:solidFill>
            <a:srgbClr val="C9A227"/>
          </a:solidFill>
          <a:ln w="3175">
            <a:solidFill>
              <a:srgbClr val="C9A227"/>
            </a:solidFill>
            <a:prstDash val="solid"/>
          </a:ln>
        </p:spPr>
      </p:sp>
      <p:sp>
        <p:nvSpPr>
          <p:cNvPr id="44" name="Text 42"/>
          <p:cNvSpPr/>
          <p:nvPr/>
        </p:nvSpPr>
        <p:spPr>
          <a:xfrm>
            <a:off x="7214616" y="2159203"/>
            <a:ext cx="4169664" cy="507492"/>
          </a:xfrm>
          <a:prstGeom prst="rect">
            <a:avLst/>
          </a:prstGeom>
          <a:noFill/>
          <a:ln/>
        </p:spPr>
        <p:txBody>
          <a:bodyPr wrap="square" lIns="0" tIns="0" rIns="0" bIns="0" rtlCol="0" anchor="t"/>
          <a:lstStyle/>
          <a:p>
            <a:pPr indent="0" marL="0">
              <a:lnSpc>
                <a:spcPct val="116000"/>
              </a:lnSpc>
              <a:buNone/>
            </a:pPr>
            <a:r>
              <a:rPr lang="en-US" sz="1300" b="1" dirty="0">
                <a:solidFill>
                  <a:srgbClr val="8A6D14"/>
                </a:solidFill>
                <a:latin typeface="Arial" pitchFamily="34" charset="0"/>
                <a:ea typeface="Arial" pitchFamily="34" charset="-122"/>
                <a:cs typeface="Arial" pitchFamily="34" charset="-120"/>
              </a:rPr>
              <a:t>Measure every handoff. </a:t>
            </a:r>
            <a:pPr indent="0" marL="0">
              <a:lnSpc>
                <a:spcPct val="116000"/>
              </a:lnSpc>
              <a:buNone/>
            </a:pPr>
            <a:r>
              <a:rPr lang="en-US" sz="1300" dirty="0">
                <a:solidFill>
                  <a:srgbClr val="14213D"/>
                </a:solidFill>
                <a:latin typeface="Arial" pitchFamily="34" charset="0"/>
                <a:ea typeface="Arial" pitchFamily="34" charset="-122"/>
                <a:cs typeface="Arial" pitchFamily="34" charset="-120"/>
              </a:rPr>
              <a:t>Quoted to Confirmed to Travelled. Every stage, every month, by agency.</a:t>
            </a:r>
            <a:endParaRPr lang="en-US" sz="1300" dirty="0"/>
          </a:p>
        </p:txBody>
      </p:sp>
      <p:sp>
        <p:nvSpPr>
          <p:cNvPr id="45" name="Shape 43"/>
          <p:cNvSpPr/>
          <p:nvPr/>
        </p:nvSpPr>
        <p:spPr>
          <a:xfrm rot="2700000">
            <a:off x="6903720" y="2890723"/>
            <a:ext cx="100584" cy="100584"/>
          </a:xfrm>
          <a:prstGeom prst="rect">
            <a:avLst/>
          </a:prstGeom>
          <a:solidFill>
            <a:srgbClr val="C9A227"/>
          </a:solidFill>
          <a:ln w="3175">
            <a:solidFill>
              <a:srgbClr val="C9A227"/>
            </a:solidFill>
            <a:prstDash val="solid"/>
          </a:ln>
        </p:spPr>
      </p:sp>
      <p:sp>
        <p:nvSpPr>
          <p:cNvPr id="46" name="Text 44"/>
          <p:cNvSpPr/>
          <p:nvPr/>
        </p:nvSpPr>
        <p:spPr>
          <a:xfrm>
            <a:off x="7214616" y="2812999"/>
            <a:ext cx="4169664" cy="507492"/>
          </a:xfrm>
          <a:prstGeom prst="rect">
            <a:avLst/>
          </a:prstGeom>
          <a:noFill/>
          <a:ln/>
        </p:spPr>
        <p:txBody>
          <a:bodyPr wrap="square" lIns="0" tIns="0" rIns="0" bIns="0" rtlCol="0" anchor="t"/>
          <a:lstStyle/>
          <a:p>
            <a:pPr indent="0" marL="0">
              <a:lnSpc>
                <a:spcPct val="116000"/>
              </a:lnSpc>
              <a:buNone/>
            </a:pPr>
            <a:r>
              <a:rPr lang="en-US" sz="1300" b="1" dirty="0">
                <a:solidFill>
                  <a:srgbClr val="8A6D14"/>
                </a:solidFill>
                <a:latin typeface="Arial" pitchFamily="34" charset="0"/>
                <a:ea typeface="Arial" pitchFamily="34" charset="-122"/>
                <a:cs typeface="Arial" pitchFamily="34" charset="-120"/>
              </a:rPr>
              <a:t>Find where we already win. </a:t>
            </a:r>
            <a:pPr indent="0" marL="0">
              <a:lnSpc>
                <a:spcPct val="116000"/>
              </a:lnSpc>
              <a:buNone/>
            </a:pPr>
            <a:r>
              <a:rPr lang="en-US" sz="1300" dirty="0">
                <a:solidFill>
                  <a:srgbClr val="14213D"/>
                </a:solidFill>
                <a:latin typeface="Arial" pitchFamily="34" charset="0"/>
                <a:ea typeface="Arial" pitchFamily="34" charset="-122"/>
                <a:cs typeface="Arial" pitchFamily="34" charset="-120"/>
              </a:rPr>
              <a:t>The stages and segments converting above the rest.</a:t>
            </a:r>
            <a:endParaRPr lang="en-US" sz="1300" dirty="0"/>
          </a:p>
        </p:txBody>
      </p:sp>
      <p:sp>
        <p:nvSpPr>
          <p:cNvPr id="47" name="Shape 45"/>
          <p:cNvSpPr/>
          <p:nvPr/>
        </p:nvSpPr>
        <p:spPr>
          <a:xfrm rot="2700000">
            <a:off x="6903720" y="3544519"/>
            <a:ext cx="100584" cy="100584"/>
          </a:xfrm>
          <a:prstGeom prst="rect">
            <a:avLst/>
          </a:prstGeom>
          <a:solidFill>
            <a:srgbClr val="C9A227"/>
          </a:solidFill>
          <a:ln w="3175">
            <a:solidFill>
              <a:srgbClr val="C9A227"/>
            </a:solidFill>
            <a:prstDash val="solid"/>
          </a:ln>
        </p:spPr>
      </p:sp>
      <p:sp>
        <p:nvSpPr>
          <p:cNvPr id="48" name="Text 46"/>
          <p:cNvSpPr/>
          <p:nvPr/>
        </p:nvSpPr>
        <p:spPr>
          <a:xfrm>
            <a:off x="7214616" y="3466795"/>
            <a:ext cx="4169664" cy="507492"/>
          </a:xfrm>
          <a:prstGeom prst="rect">
            <a:avLst/>
          </a:prstGeom>
          <a:noFill/>
          <a:ln/>
        </p:spPr>
        <p:txBody>
          <a:bodyPr wrap="square" lIns="0" tIns="0" rIns="0" bIns="0" rtlCol="0" anchor="t"/>
          <a:lstStyle/>
          <a:p>
            <a:pPr indent="0" marL="0">
              <a:lnSpc>
                <a:spcPct val="116000"/>
              </a:lnSpc>
              <a:buNone/>
            </a:pPr>
            <a:r>
              <a:rPr lang="en-US" sz="1300" b="1" dirty="0">
                <a:solidFill>
                  <a:srgbClr val="8A6D14"/>
                </a:solidFill>
                <a:latin typeface="Arial" pitchFamily="34" charset="0"/>
                <a:ea typeface="Arial" pitchFamily="34" charset="-122"/>
                <a:cs typeface="Arial" pitchFamily="34" charset="-120"/>
              </a:rPr>
              <a:t>Double down there first. </a:t>
            </a:r>
            <a:pPr indent="0" marL="0">
              <a:lnSpc>
                <a:spcPct val="116000"/>
              </a:lnSpc>
              <a:buNone/>
            </a:pPr>
            <a:r>
              <a:rPr lang="en-US" sz="1300" dirty="0">
                <a:solidFill>
                  <a:srgbClr val="14213D"/>
                </a:solidFill>
                <a:latin typeface="Arial" pitchFamily="34" charset="0"/>
                <a:ea typeface="Arial" pitchFamily="34" charset="-122"/>
                <a:cs typeface="Arial" pitchFamily="34" charset="-120"/>
              </a:rPr>
              <a:t>Grow the flow where it is already flowing.</a:t>
            </a:r>
            <a:endParaRPr lang="en-US" sz="1300" dirty="0"/>
          </a:p>
        </p:txBody>
      </p:sp>
      <p:sp>
        <p:nvSpPr>
          <p:cNvPr id="49" name="Shape 47"/>
          <p:cNvSpPr/>
          <p:nvPr/>
        </p:nvSpPr>
        <p:spPr>
          <a:xfrm rot="2700000">
            <a:off x="6903720" y="4198315"/>
            <a:ext cx="100584" cy="100584"/>
          </a:xfrm>
          <a:prstGeom prst="rect">
            <a:avLst/>
          </a:prstGeom>
          <a:solidFill>
            <a:srgbClr val="C9A227"/>
          </a:solidFill>
          <a:ln w="3175">
            <a:solidFill>
              <a:srgbClr val="C9A227"/>
            </a:solidFill>
            <a:prstDash val="solid"/>
          </a:ln>
        </p:spPr>
      </p:sp>
      <p:sp>
        <p:nvSpPr>
          <p:cNvPr id="50" name="Text 48"/>
          <p:cNvSpPr/>
          <p:nvPr/>
        </p:nvSpPr>
        <p:spPr>
          <a:xfrm>
            <a:off x="7214616" y="4120591"/>
            <a:ext cx="4169664" cy="507492"/>
          </a:xfrm>
          <a:prstGeom prst="rect">
            <a:avLst/>
          </a:prstGeom>
          <a:noFill/>
          <a:ln/>
        </p:spPr>
        <p:txBody>
          <a:bodyPr wrap="square" lIns="0" tIns="0" rIns="0" bIns="0" rtlCol="0" anchor="t"/>
          <a:lstStyle/>
          <a:p>
            <a:pPr indent="0" marL="0">
              <a:lnSpc>
                <a:spcPct val="116000"/>
              </a:lnSpc>
              <a:buNone/>
            </a:pPr>
            <a:r>
              <a:rPr lang="en-US" sz="1300" b="1" dirty="0">
                <a:solidFill>
                  <a:srgbClr val="8A6D14"/>
                </a:solidFill>
                <a:latin typeface="Arial" pitchFamily="34" charset="0"/>
                <a:ea typeface="Arial" pitchFamily="34" charset="-122"/>
                <a:cs typeface="Arial" pitchFamily="34" charset="-120"/>
              </a:rPr>
              <a:t>Then go after the losses. </a:t>
            </a:r>
            <a:pPr indent="0" marL="0">
              <a:lnSpc>
                <a:spcPct val="116000"/>
              </a:lnSpc>
              <a:buNone/>
            </a:pPr>
            <a:r>
              <a:rPr lang="en-US" sz="1300" dirty="0">
                <a:solidFill>
                  <a:srgbClr val="14213D"/>
                </a:solidFill>
                <a:latin typeface="Arial" pitchFamily="34" charset="0"/>
                <a:ea typeface="Arial" pitchFamily="34" charset="-122"/>
                <a:cs typeface="Arial" pitchFamily="34" charset="-120"/>
              </a:rPr>
              <a:t>With a proven path to compare them against.</a:t>
            </a:r>
            <a:endParaRPr lang="en-US" sz="1300" dirty="0"/>
          </a:p>
        </p:txBody>
      </p:sp>
      <p:sp>
        <p:nvSpPr>
          <p:cNvPr id="51" name="Text 49"/>
          <p:cNvSpPr/>
          <p:nvPr/>
        </p:nvSpPr>
        <p:spPr>
          <a:xfrm>
            <a:off x="813816" y="4992624"/>
            <a:ext cx="6035040" cy="274320"/>
          </a:xfrm>
          <a:prstGeom prst="rect">
            <a:avLst/>
          </a:prstGeom>
          <a:noFill/>
          <a:ln/>
        </p:spPr>
        <p:txBody>
          <a:bodyPr wrap="square" lIns="0" tIns="0" rIns="0" bIns="0" rtlCol="0" anchor="ctr"/>
          <a:lstStyle/>
          <a:p>
            <a:pPr algn="ctr" indent="0" marL="0">
              <a:buNone/>
            </a:pPr>
            <a:r>
              <a:rPr lang="en-US" sz="1400" b="1" dirty="0">
                <a:solidFill>
                  <a:srgbClr val="15616D"/>
                </a:solidFill>
                <a:latin typeface="Arial" pitchFamily="34" charset="0"/>
                <a:ea typeface="Arial" pitchFamily="34" charset="-122"/>
                <a:cs typeface="Arial" pitchFamily="34" charset="-120"/>
              </a:rPr>
              <a:t>These four numbers are what we fill in together.</a:t>
            </a:r>
            <a:endParaRPr lang="en-US" sz="1400" dirty="0"/>
          </a:p>
        </p:txBody>
      </p:sp>
      <p:sp>
        <p:nvSpPr>
          <p:cNvPr id="52" name="Text 50"/>
          <p:cNvSpPr/>
          <p:nvPr/>
        </p:nvSpPr>
        <p:spPr>
          <a:xfrm>
            <a:off x="813816" y="5358384"/>
            <a:ext cx="10570464" cy="283464"/>
          </a:xfrm>
          <a:prstGeom prst="rect">
            <a:avLst/>
          </a:prstGeom>
          <a:noFill/>
          <a:ln/>
        </p:spPr>
        <p:txBody>
          <a:bodyPr wrap="square" lIns="0" tIns="0" rIns="0" bIns="0" rtlCol="0" anchor="t"/>
          <a:lstStyle/>
          <a:p>
            <a:pPr algn="l" indent="0" marL="0">
              <a:lnSpc>
                <a:spcPct val="116000"/>
              </a:lnSpc>
              <a:buNone/>
            </a:pPr>
            <a:r>
              <a:rPr lang="en-US" sz="1200" i="1" dirty="0">
                <a:solidFill>
                  <a:srgbClr val="5A6379"/>
                </a:solidFill>
                <a:latin typeface="Arial" pitchFamily="34" charset="0"/>
                <a:ea typeface="Arial" pitchFamily="34" charset="-122"/>
                <a:cs typeface="Arial" pitchFamily="34" charset="-120"/>
              </a:rPr>
              <a:t>Starting from a loss means guessing among many fixes. Starting from a win leaves one or two obvious moves.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1786128"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SIGCOMPASS REVEAL</a:t>
            </a:r>
            <a:endParaRPr lang="en-US" sz="900" dirty="0"/>
          </a:p>
        </p:txBody>
      </p:sp>
      <p:sp>
        <p:nvSpPr>
          <p:cNvPr id="6" name="Shape 4"/>
          <p:cNvSpPr/>
          <p:nvPr/>
        </p:nvSpPr>
        <p:spPr>
          <a:xfrm rot="2700000">
            <a:off x="3898392" y="6003036"/>
            <a:ext cx="64008" cy="64008"/>
          </a:xfrm>
          <a:prstGeom prst="rect">
            <a:avLst/>
          </a:prstGeom>
          <a:solidFill>
            <a:srgbClr val="C9A227"/>
          </a:solidFill>
          <a:ln w="3175">
            <a:solidFill>
              <a:srgbClr val="C9A227"/>
            </a:solidFill>
            <a:prstDash val="solid"/>
          </a:ln>
        </p:spPr>
      </p:sp>
      <p:sp>
        <p:nvSpPr>
          <p:cNvPr id="7" name="Text 5"/>
          <p:cNvSpPr/>
          <p:nvPr/>
        </p:nvSpPr>
        <p:spPr>
          <a:xfrm>
            <a:off x="4081272" y="5943600"/>
            <a:ext cx="1200912"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AFA893"/>
                </a:solidFill>
                <a:latin typeface="Arial" pitchFamily="34" charset="0"/>
                <a:ea typeface="Arial" pitchFamily="34" charset="-122"/>
                <a:cs typeface="Arial" pitchFamily="34" charset="-120"/>
              </a:rPr>
              <a:t>12</a:t>
            </a:r>
            <a:endParaRPr lang="en-US" sz="900" dirty="0"/>
          </a:p>
        </p:txBody>
      </p:sp>
      <p:sp>
        <p:nvSpPr>
          <p:cNvPr id="9" name="Text 7"/>
          <p:cNvSpPr/>
          <p:nvPr/>
        </p:nvSpPr>
        <p:spPr>
          <a:xfrm>
            <a:off x="813816" y="502920"/>
            <a:ext cx="10570464" cy="256032"/>
          </a:xfrm>
          <a:prstGeom prst="rect">
            <a:avLst/>
          </a:prstGeom>
          <a:noFill/>
          <a:ln/>
        </p:spPr>
        <p:txBody>
          <a:bodyPr wrap="square" lIns="0" tIns="0" rIns="0" bIns="0" rtlCol="0" anchor="ctr"/>
          <a:lstStyle/>
          <a:p>
            <a:pPr indent="0" marL="0">
              <a:buNone/>
            </a:pPr>
            <a:r>
              <a:rPr lang="en-US" sz="1200" b="1" spc="220" kern="0" dirty="0">
                <a:solidFill>
                  <a:srgbClr val="E7C766"/>
                </a:solidFill>
                <a:latin typeface="Arial" pitchFamily="34" charset="0"/>
                <a:ea typeface="Arial" pitchFamily="34" charset="-122"/>
                <a:cs typeface="Arial" pitchFamily="34" charset="-120"/>
              </a:rPr>
              <a:t>HOW WE PICK THE NEXT MOVE</a:t>
            </a:r>
            <a:endParaRPr lang="en-US" sz="1200" dirty="0"/>
          </a:p>
        </p:txBody>
      </p:sp>
      <p:sp>
        <p:nvSpPr>
          <p:cNvPr id="10" name="Text 8"/>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F7F3EA"/>
                </a:solidFill>
                <a:latin typeface="Georgia" pitchFamily="34" charset="0"/>
                <a:ea typeface="Georgia" pitchFamily="34" charset="-122"/>
                <a:cs typeface="Georgia" pitchFamily="34" charset="-120"/>
              </a:rPr>
              <a:t>Build off the wins.</a:t>
            </a:r>
            <a:endParaRPr lang="en-US" sz="4000" dirty="0"/>
          </a:p>
        </p:txBody>
      </p:sp>
      <p:sp>
        <p:nvSpPr>
          <p:cNvPr id="11" name="Text 9"/>
          <p:cNvSpPr/>
          <p:nvPr/>
        </p:nvSpPr>
        <p:spPr>
          <a:xfrm>
            <a:off x="813816" y="1848307"/>
            <a:ext cx="5394960" cy="331470"/>
          </a:xfrm>
          <a:prstGeom prst="rect">
            <a:avLst/>
          </a:prstGeom>
          <a:noFill/>
          <a:ln/>
        </p:spPr>
        <p:txBody>
          <a:bodyPr wrap="square" lIns="0" tIns="0" rIns="0" bIns="0" rtlCol="0" anchor="t"/>
          <a:lstStyle/>
          <a:p>
            <a:pPr algn="l" indent="0" marL="0">
              <a:buNone/>
            </a:pPr>
            <a:r>
              <a:rPr lang="en-US" sz="1500" b="1" spc="120" kern="0" dirty="0">
                <a:solidFill>
                  <a:srgbClr val="AFA893"/>
                </a:solidFill>
                <a:latin typeface="Arial" pitchFamily="34" charset="0"/>
                <a:ea typeface="Arial" pitchFamily="34" charset="-122"/>
                <a:cs typeface="Arial" pitchFamily="34" charset="-120"/>
              </a:rPr>
              <a:t>START FROM A LOSS</a:t>
            </a:r>
            <a:endParaRPr lang="en-US" sz="1500" dirty="0"/>
          </a:p>
        </p:txBody>
      </p:sp>
      <p:sp>
        <p:nvSpPr>
          <p:cNvPr id="12" name="Text 10"/>
          <p:cNvSpPr/>
          <p:nvPr/>
        </p:nvSpPr>
        <p:spPr>
          <a:xfrm>
            <a:off x="813816" y="2232355"/>
            <a:ext cx="5394960" cy="811530"/>
          </a:xfrm>
          <a:prstGeom prst="rect">
            <a:avLst/>
          </a:prstGeom>
          <a:noFill/>
          <a:ln/>
        </p:spPr>
        <p:txBody>
          <a:bodyPr wrap="square" lIns="0" tIns="0" rIns="0" bIns="0" rtlCol="0" anchor="t"/>
          <a:lstStyle/>
          <a:p>
            <a:pPr algn="l" indent="0" marL="0">
              <a:lnSpc>
                <a:spcPct val="116000"/>
              </a:lnSpc>
              <a:buNone/>
            </a:pPr>
            <a:r>
              <a:rPr lang="en-US" sz="1500" dirty="0">
                <a:solidFill>
                  <a:srgbClr val="F7F3EA"/>
                </a:solidFill>
                <a:latin typeface="Arial" pitchFamily="34" charset="0"/>
                <a:ea typeface="Arial" pitchFamily="34" charset="-122"/>
                <a:cs typeface="Arial" pitchFamily="34" charset="-120"/>
              </a:rPr>
              <a:t>Why did this stall? Price. Timing. Data quality. Follow-up. Supplier. Advisor load. The client simply changed their mind.</a:t>
            </a:r>
            <a:endParaRPr lang="en-US" sz="1500" dirty="0"/>
          </a:p>
        </p:txBody>
      </p:sp>
      <p:sp>
        <p:nvSpPr>
          <p:cNvPr id="13" name="Text 11"/>
          <p:cNvSpPr/>
          <p:nvPr/>
        </p:nvSpPr>
        <p:spPr>
          <a:xfrm>
            <a:off x="813816" y="3245053"/>
            <a:ext cx="5394960" cy="571500"/>
          </a:xfrm>
          <a:prstGeom prst="rect">
            <a:avLst/>
          </a:prstGeom>
          <a:noFill/>
          <a:ln/>
        </p:spPr>
        <p:txBody>
          <a:bodyPr wrap="square" lIns="0" tIns="0" rIns="0" bIns="0" rtlCol="0" anchor="t"/>
          <a:lstStyle/>
          <a:p>
            <a:pPr algn="l" indent="0" marL="0">
              <a:lnSpc>
                <a:spcPct val="116000"/>
              </a:lnSpc>
              <a:buNone/>
            </a:pPr>
            <a:r>
              <a:rPr lang="en-US" sz="1500" b="1" dirty="0">
                <a:solidFill>
                  <a:srgbClr val="AFA893"/>
                </a:solidFill>
                <a:latin typeface="Arial" pitchFamily="34" charset="0"/>
                <a:ea typeface="Arial" pitchFamily="34" charset="-122"/>
                <a:cs typeface="Arial" pitchFamily="34" charset="-120"/>
              </a:rPr>
              <a:t>Seven candidate causes. Every fix is a guess, and every guess costs a quarter.</a:t>
            </a:r>
            <a:endParaRPr lang="en-US" sz="1500" dirty="0"/>
          </a:p>
        </p:txBody>
      </p:sp>
      <p:sp>
        <p:nvSpPr>
          <p:cNvPr id="14" name="Shape 12"/>
          <p:cNvSpPr/>
          <p:nvPr/>
        </p:nvSpPr>
        <p:spPr>
          <a:xfrm>
            <a:off x="6629400" y="1702003"/>
            <a:ext cx="4754880" cy="2315718"/>
          </a:xfrm>
          <a:prstGeom prst="rect">
            <a:avLst/>
          </a:prstGeom>
          <a:solidFill>
            <a:srgbClr val="2A3244"/>
          </a:solidFill>
          <a:ln/>
        </p:spPr>
      </p:sp>
      <p:sp>
        <p:nvSpPr>
          <p:cNvPr id="15" name="Text 13"/>
          <p:cNvSpPr/>
          <p:nvPr/>
        </p:nvSpPr>
        <p:spPr>
          <a:xfrm>
            <a:off x="6903720" y="1976323"/>
            <a:ext cx="4206240" cy="331470"/>
          </a:xfrm>
          <a:prstGeom prst="rect">
            <a:avLst/>
          </a:prstGeom>
          <a:noFill/>
          <a:ln/>
        </p:spPr>
        <p:txBody>
          <a:bodyPr wrap="square" lIns="0" tIns="0" rIns="0" bIns="0" rtlCol="0" anchor="t"/>
          <a:lstStyle/>
          <a:p>
            <a:pPr indent="0" marL="0">
              <a:buNone/>
            </a:pPr>
            <a:r>
              <a:rPr lang="en-US" sz="1500" b="1" spc="160" kern="0" dirty="0">
                <a:solidFill>
                  <a:srgbClr val="E7C766"/>
                </a:solidFill>
                <a:latin typeface="Arial" pitchFamily="34" charset="0"/>
                <a:ea typeface="Arial" pitchFamily="34" charset="-122"/>
                <a:cs typeface="Arial" pitchFamily="34" charset="-120"/>
              </a:rPr>
              <a:t>START FROM A WIN</a:t>
            </a:r>
            <a:endParaRPr lang="en-US" sz="1500" dirty="0"/>
          </a:p>
        </p:txBody>
      </p:sp>
      <p:sp>
        <p:nvSpPr>
          <p:cNvPr id="16" name="Shape 14"/>
          <p:cNvSpPr/>
          <p:nvPr/>
        </p:nvSpPr>
        <p:spPr>
          <a:xfrm rot="2700000">
            <a:off x="6903720" y="2495245"/>
            <a:ext cx="100584" cy="100584"/>
          </a:xfrm>
          <a:prstGeom prst="rect">
            <a:avLst/>
          </a:prstGeom>
          <a:solidFill>
            <a:srgbClr val="C9A227"/>
          </a:solidFill>
          <a:ln w="3175">
            <a:solidFill>
              <a:srgbClr val="C9A227"/>
            </a:solidFill>
            <a:prstDash val="solid"/>
          </a:ln>
        </p:spPr>
      </p:sp>
      <p:sp>
        <p:nvSpPr>
          <p:cNvPr id="17" name="Text 15"/>
          <p:cNvSpPr/>
          <p:nvPr/>
        </p:nvSpPr>
        <p:spPr>
          <a:xfrm>
            <a:off x="7214616" y="2417521"/>
            <a:ext cx="3895344" cy="571500"/>
          </a:xfrm>
          <a:prstGeom prst="rect">
            <a:avLst/>
          </a:prstGeom>
          <a:noFill/>
          <a:ln/>
        </p:spPr>
        <p:txBody>
          <a:bodyPr wrap="square" lIns="0" tIns="0" rIns="0" bIns="0" rtlCol="0" anchor="t"/>
          <a:lstStyle/>
          <a:p>
            <a:pPr indent="0" marL="0">
              <a:lnSpc>
                <a:spcPct val="116000"/>
              </a:lnSpc>
              <a:buNone/>
            </a:pPr>
            <a:r>
              <a:rPr lang="en-US" sz="1500" dirty="0">
                <a:solidFill>
                  <a:srgbClr val="F7F3EA"/>
                </a:solidFill>
                <a:latin typeface="Arial" pitchFamily="34" charset="0"/>
                <a:ea typeface="Arial" pitchFamily="34" charset="-122"/>
                <a:cs typeface="Arial" pitchFamily="34" charset="-120"/>
              </a:rPr>
              <a:t>What did we do here that we are not doing everywhere else?</a:t>
            </a:r>
            <a:endParaRPr lang="en-US" sz="1500" dirty="0"/>
          </a:p>
        </p:txBody>
      </p:sp>
      <p:sp>
        <p:nvSpPr>
          <p:cNvPr id="18" name="Shape 16"/>
          <p:cNvSpPr/>
          <p:nvPr/>
        </p:nvSpPr>
        <p:spPr>
          <a:xfrm rot="2700000">
            <a:off x="6903720" y="3249625"/>
            <a:ext cx="100584" cy="100584"/>
          </a:xfrm>
          <a:prstGeom prst="rect">
            <a:avLst/>
          </a:prstGeom>
          <a:solidFill>
            <a:srgbClr val="C9A227"/>
          </a:solidFill>
          <a:ln w="3175">
            <a:solidFill>
              <a:srgbClr val="C9A227"/>
            </a:solidFill>
            <a:prstDash val="solid"/>
          </a:ln>
        </p:spPr>
      </p:sp>
      <p:sp>
        <p:nvSpPr>
          <p:cNvPr id="19" name="Text 17"/>
          <p:cNvSpPr/>
          <p:nvPr/>
        </p:nvSpPr>
        <p:spPr>
          <a:xfrm>
            <a:off x="7214616" y="3171901"/>
            <a:ext cx="3895344" cy="571500"/>
          </a:xfrm>
          <a:prstGeom prst="rect">
            <a:avLst/>
          </a:prstGeom>
          <a:noFill/>
          <a:ln/>
        </p:spPr>
        <p:txBody>
          <a:bodyPr wrap="square" lIns="0" tIns="0" rIns="0" bIns="0" rtlCol="0" anchor="t"/>
          <a:lstStyle/>
          <a:p>
            <a:pPr indent="0" marL="0">
              <a:lnSpc>
                <a:spcPct val="116000"/>
              </a:lnSpc>
              <a:buNone/>
            </a:pPr>
            <a:r>
              <a:rPr lang="en-US" sz="1500" b="1" dirty="0">
                <a:solidFill>
                  <a:srgbClr val="E7C766"/>
                </a:solidFill>
                <a:latin typeface="Arial" pitchFamily="34" charset="0"/>
                <a:ea typeface="Arial" pitchFamily="34" charset="-122"/>
                <a:cs typeface="Arial" pitchFamily="34" charset="-120"/>
              </a:rPr>
              <a:t>One or two answers. Both testable. Both already proven inside our own business.</a:t>
            </a:r>
            <a:endParaRPr lang="en-US" sz="1500" dirty="0"/>
          </a:p>
        </p:txBody>
      </p:sp>
      <p:sp>
        <p:nvSpPr>
          <p:cNvPr id="20" name="Text 18"/>
          <p:cNvSpPr/>
          <p:nvPr/>
        </p:nvSpPr>
        <p:spPr>
          <a:xfrm>
            <a:off x="813816" y="4937760"/>
            <a:ext cx="10570464" cy="299466"/>
          </a:xfrm>
          <a:prstGeom prst="rect">
            <a:avLst/>
          </a:prstGeom>
          <a:noFill/>
          <a:ln/>
        </p:spPr>
        <p:txBody>
          <a:bodyPr wrap="square" lIns="0" tIns="0" rIns="0" bIns="0" rtlCol="0" anchor="t"/>
          <a:lstStyle/>
          <a:p>
            <a:pPr algn="l" indent="0" marL="0">
              <a:lnSpc>
                <a:spcPct val="116000"/>
              </a:lnSpc>
              <a:buNone/>
            </a:pPr>
            <a:r>
              <a:rPr lang="en-US" sz="1300" b="1" dirty="0">
                <a:solidFill>
                  <a:srgbClr val="E7C766"/>
                </a:solidFill>
                <a:latin typeface="Arial" pitchFamily="34" charset="0"/>
                <a:ea typeface="Arial" pitchFamily="34" charset="-122"/>
                <a:cs typeface="Arial" pitchFamily="34" charset="-120"/>
              </a:rPr>
              <a:t>This is why SigCompass leads with what is working. Wins narrow your choices. Losses multiply them.</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1786128"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SIGCOMPASS REVEAL</a:t>
            </a:r>
            <a:endParaRPr lang="en-US" sz="900" dirty="0"/>
          </a:p>
        </p:txBody>
      </p:sp>
      <p:sp>
        <p:nvSpPr>
          <p:cNvPr id="6" name="Shape 4"/>
          <p:cNvSpPr/>
          <p:nvPr/>
        </p:nvSpPr>
        <p:spPr>
          <a:xfrm rot="2700000">
            <a:off x="3898392" y="6003036"/>
            <a:ext cx="64008" cy="64008"/>
          </a:xfrm>
          <a:prstGeom prst="rect">
            <a:avLst/>
          </a:prstGeom>
          <a:solidFill>
            <a:srgbClr val="C9A227"/>
          </a:solidFill>
          <a:ln w="3175">
            <a:solidFill>
              <a:srgbClr val="C9A227"/>
            </a:solidFill>
            <a:prstDash val="solid"/>
          </a:ln>
        </p:spPr>
      </p:sp>
      <p:sp>
        <p:nvSpPr>
          <p:cNvPr id="7" name="Text 5"/>
          <p:cNvSpPr/>
          <p:nvPr/>
        </p:nvSpPr>
        <p:spPr>
          <a:xfrm>
            <a:off x="4081272" y="5943600"/>
            <a:ext cx="1200912"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5A6379"/>
                </a:solidFill>
                <a:latin typeface="Arial" pitchFamily="34" charset="0"/>
                <a:ea typeface="Arial" pitchFamily="34" charset="-122"/>
                <a:cs typeface="Arial" pitchFamily="34" charset="-120"/>
              </a:rPr>
              <a:t>13</a:t>
            </a:r>
            <a:endParaRPr lang="en-US" sz="900" dirty="0"/>
          </a:p>
        </p:txBody>
      </p:sp>
      <p:sp>
        <p:nvSpPr>
          <p:cNvPr id="9" name="Text 7"/>
          <p:cNvSpPr/>
          <p:nvPr/>
        </p:nvSpPr>
        <p:spPr>
          <a:xfrm>
            <a:off x="813816" y="502920"/>
            <a:ext cx="10570464" cy="256032"/>
          </a:xfrm>
          <a:prstGeom prst="rect">
            <a:avLst/>
          </a:prstGeom>
          <a:noFill/>
          <a:ln/>
        </p:spPr>
        <p:txBody>
          <a:bodyPr wrap="square" lIns="0" tIns="0" rIns="0" bIns="0" rtlCol="0" anchor="ctr"/>
          <a:lstStyle/>
          <a:p>
            <a:pPr indent="0" marL="0">
              <a:buNone/>
            </a:pPr>
            <a:r>
              <a:rPr lang="en-US" sz="1200" b="1" spc="220" kern="0" dirty="0">
                <a:solidFill>
                  <a:srgbClr val="8A6D14"/>
                </a:solidFill>
                <a:latin typeface="Arial" pitchFamily="34" charset="0"/>
                <a:ea typeface="Arial" pitchFamily="34" charset="-122"/>
                <a:cs typeface="Arial" pitchFamily="34" charset="-120"/>
              </a:rPr>
              <a:t>THE COCKPIT · WHAT THE JOB ACTUALLY IS NOW</a:t>
            </a:r>
            <a:endParaRPr lang="en-US" sz="1200" dirty="0"/>
          </a:p>
        </p:txBody>
      </p:sp>
      <p:sp>
        <p:nvSpPr>
          <p:cNvPr id="10" name="Text 8"/>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Learning to fly your ship.</a:t>
            </a:r>
            <a:endParaRPr lang="en-US" sz="4000" dirty="0"/>
          </a:p>
        </p:txBody>
      </p:sp>
      <p:sp>
        <p:nvSpPr>
          <p:cNvPr id="11" name="Text 9"/>
          <p:cNvSpPr/>
          <p:nvPr/>
        </p:nvSpPr>
        <p:spPr>
          <a:xfrm>
            <a:off x="813816" y="1848307"/>
            <a:ext cx="5394960" cy="331470"/>
          </a:xfrm>
          <a:prstGeom prst="rect">
            <a:avLst/>
          </a:prstGeom>
          <a:noFill/>
          <a:ln/>
        </p:spPr>
        <p:txBody>
          <a:bodyPr wrap="square" lIns="0" tIns="0" rIns="0" bIns="0" rtlCol="0" anchor="t"/>
          <a:lstStyle/>
          <a:p>
            <a:pPr algn="l" indent="0" marL="0">
              <a:buNone/>
            </a:pPr>
            <a:r>
              <a:rPr lang="en-US" sz="1500" b="1" spc="120" kern="0" dirty="0">
                <a:solidFill>
                  <a:srgbClr val="5A6379"/>
                </a:solidFill>
                <a:latin typeface="Arial" pitchFamily="34" charset="0"/>
                <a:ea typeface="Arial" pitchFamily="34" charset="-122"/>
                <a:cs typeface="Arial" pitchFamily="34" charset="-120"/>
              </a:rPr>
              <a:t>A SHIP'S COCKPIT READS</a:t>
            </a:r>
            <a:endParaRPr lang="en-US" sz="1500" dirty="0"/>
          </a:p>
        </p:txBody>
      </p:sp>
      <p:sp>
        <p:nvSpPr>
          <p:cNvPr id="12" name="Shape 10"/>
          <p:cNvSpPr/>
          <p:nvPr/>
        </p:nvSpPr>
        <p:spPr>
          <a:xfrm rot="2700000">
            <a:off x="813816" y="2310079"/>
            <a:ext cx="100584" cy="100584"/>
          </a:xfrm>
          <a:prstGeom prst="rect">
            <a:avLst/>
          </a:prstGeom>
          <a:solidFill>
            <a:srgbClr val="C9A227"/>
          </a:solidFill>
          <a:ln w="3175">
            <a:solidFill>
              <a:srgbClr val="C9A227"/>
            </a:solidFill>
            <a:prstDash val="solid"/>
          </a:ln>
        </p:spPr>
      </p:sp>
      <p:sp>
        <p:nvSpPr>
          <p:cNvPr id="13" name="Text 11"/>
          <p:cNvSpPr/>
          <p:nvPr/>
        </p:nvSpPr>
        <p:spPr>
          <a:xfrm>
            <a:off x="1124712" y="2232355"/>
            <a:ext cx="5084064" cy="331470"/>
          </a:xfrm>
          <a:prstGeom prst="rect">
            <a:avLst/>
          </a:prstGeom>
          <a:noFill/>
          <a:ln/>
        </p:spPr>
        <p:txBody>
          <a:bodyPr wrap="square" lIns="0" tIns="0" rIns="0" bIns="0" rtlCol="0" anchor="t"/>
          <a:lstStyle/>
          <a:p>
            <a:pPr indent="0" marL="0">
              <a:lnSpc>
                <a:spcPct val="116000"/>
              </a:lnSpc>
              <a:buNone/>
            </a:pPr>
            <a:r>
              <a:rPr lang="en-US" sz="1500" dirty="0">
                <a:solidFill>
                  <a:srgbClr val="14213D"/>
                </a:solidFill>
                <a:latin typeface="Arial" pitchFamily="34" charset="0"/>
                <a:ea typeface="Arial" pitchFamily="34" charset="-122"/>
                <a:cs typeface="Arial" pitchFamily="34" charset="-120"/>
              </a:rPr>
              <a:t>Currents.</a:t>
            </a:r>
            <a:endParaRPr lang="en-US" sz="1500" dirty="0"/>
          </a:p>
        </p:txBody>
      </p:sp>
      <p:sp>
        <p:nvSpPr>
          <p:cNvPr id="14" name="Shape 12"/>
          <p:cNvSpPr/>
          <p:nvPr/>
        </p:nvSpPr>
        <p:spPr>
          <a:xfrm rot="2700000">
            <a:off x="813816" y="2824429"/>
            <a:ext cx="100584" cy="100584"/>
          </a:xfrm>
          <a:prstGeom prst="rect">
            <a:avLst/>
          </a:prstGeom>
          <a:solidFill>
            <a:srgbClr val="C9A227"/>
          </a:solidFill>
          <a:ln w="3175">
            <a:solidFill>
              <a:srgbClr val="C9A227"/>
            </a:solidFill>
            <a:prstDash val="solid"/>
          </a:ln>
        </p:spPr>
      </p:sp>
      <p:sp>
        <p:nvSpPr>
          <p:cNvPr id="15" name="Text 13"/>
          <p:cNvSpPr/>
          <p:nvPr/>
        </p:nvSpPr>
        <p:spPr>
          <a:xfrm>
            <a:off x="1124712" y="2746705"/>
            <a:ext cx="5084064" cy="331470"/>
          </a:xfrm>
          <a:prstGeom prst="rect">
            <a:avLst/>
          </a:prstGeom>
          <a:noFill/>
          <a:ln/>
        </p:spPr>
        <p:txBody>
          <a:bodyPr wrap="square" lIns="0" tIns="0" rIns="0" bIns="0" rtlCol="0" anchor="t"/>
          <a:lstStyle/>
          <a:p>
            <a:pPr indent="0" marL="0">
              <a:lnSpc>
                <a:spcPct val="116000"/>
              </a:lnSpc>
              <a:buNone/>
            </a:pPr>
            <a:r>
              <a:rPr lang="en-US" sz="1500" dirty="0">
                <a:solidFill>
                  <a:srgbClr val="14213D"/>
                </a:solidFill>
                <a:latin typeface="Arial" pitchFamily="34" charset="0"/>
                <a:ea typeface="Arial" pitchFamily="34" charset="-122"/>
                <a:cs typeface="Arial" pitchFamily="34" charset="-120"/>
              </a:rPr>
              <a:t>Weather.</a:t>
            </a:r>
            <a:endParaRPr lang="en-US" sz="1500" dirty="0"/>
          </a:p>
        </p:txBody>
      </p:sp>
      <p:sp>
        <p:nvSpPr>
          <p:cNvPr id="16" name="Shape 14"/>
          <p:cNvSpPr/>
          <p:nvPr/>
        </p:nvSpPr>
        <p:spPr>
          <a:xfrm rot="2700000">
            <a:off x="813816" y="3338779"/>
            <a:ext cx="100584" cy="100584"/>
          </a:xfrm>
          <a:prstGeom prst="rect">
            <a:avLst/>
          </a:prstGeom>
          <a:solidFill>
            <a:srgbClr val="C9A227"/>
          </a:solidFill>
          <a:ln w="3175">
            <a:solidFill>
              <a:srgbClr val="C9A227"/>
            </a:solidFill>
            <a:prstDash val="solid"/>
          </a:ln>
        </p:spPr>
      </p:sp>
      <p:sp>
        <p:nvSpPr>
          <p:cNvPr id="17" name="Text 15"/>
          <p:cNvSpPr/>
          <p:nvPr/>
        </p:nvSpPr>
        <p:spPr>
          <a:xfrm>
            <a:off x="1124712" y="3261055"/>
            <a:ext cx="5084064" cy="331470"/>
          </a:xfrm>
          <a:prstGeom prst="rect">
            <a:avLst/>
          </a:prstGeom>
          <a:noFill/>
          <a:ln/>
        </p:spPr>
        <p:txBody>
          <a:bodyPr wrap="square" lIns="0" tIns="0" rIns="0" bIns="0" rtlCol="0" anchor="t"/>
          <a:lstStyle/>
          <a:p>
            <a:pPr indent="0" marL="0">
              <a:lnSpc>
                <a:spcPct val="116000"/>
              </a:lnSpc>
              <a:buNone/>
            </a:pPr>
            <a:r>
              <a:rPr lang="en-US" sz="1500" dirty="0">
                <a:solidFill>
                  <a:srgbClr val="14213D"/>
                </a:solidFill>
                <a:latin typeface="Arial" pitchFamily="34" charset="0"/>
                <a:ea typeface="Arial" pitchFamily="34" charset="-122"/>
                <a:cs typeface="Arial" pitchFamily="34" charset="-120"/>
              </a:rPr>
              <a:t>Depth beneath the keel.</a:t>
            </a:r>
            <a:endParaRPr lang="en-US" sz="1500" dirty="0"/>
          </a:p>
        </p:txBody>
      </p:sp>
      <p:sp>
        <p:nvSpPr>
          <p:cNvPr id="18" name="Shape 16"/>
          <p:cNvSpPr/>
          <p:nvPr/>
        </p:nvSpPr>
        <p:spPr>
          <a:xfrm>
            <a:off x="6629400" y="1702003"/>
            <a:ext cx="4754880" cy="2516886"/>
          </a:xfrm>
          <a:prstGeom prst="rect">
            <a:avLst/>
          </a:prstGeom>
          <a:solidFill>
            <a:srgbClr val="E8E2D2"/>
          </a:solidFill>
          <a:ln/>
        </p:spPr>
      </p:sp>
      <p:sp>
        <p:nvSpPr>
          <p:cNvPr id="19" name="Text 17"/>
          <p:cNvSpPr/>
          <p:nvPr/>
        </p:nvSpPr>
        <p:spPr>
          <a:xfrm>
            <a:off x="6903720" y="1976323"/>
            <a:ext cx="4206240" cy="331470"/>
          </a:xfrm>
          <a:prstGeom prst="rect">
            <a:avLst/>
          </a:prstGeom>
          <a:noFill/>
          <a:ln/>
        </p:spPr>
        <p:txBody>
          <a:bodyPr wrap="square" lIns="0" tIns="0" rIns="0" bIns="0" rtlCol="0" anchor="t"/>
          <a:lstStyle/>
          <a:p>
            <a:pPr indent="0" marL="0">
              <a:buNone/>
            </a:pPr>
            <a:r>
              <a:rPr lang="en-US" sz="1500" b="1" spc="160" kern="0" dirty="0">
                <a:solidFill>
                  <a:srgbClr val="15616D"/>
                </a:solidFill>
                <a:latin typeface="Arial" pitchFamily="34" charset="0"/>
                <a:ea typeface="Arial" pitchFamily="34" charset="-122"/>
                <a:cs typeface="Arial" pitchFamily="34" charset="-120"/>
              </a:rPr>
              <a:t>YOUR COCKPIT READS</a:t>
            </a:r>
            <a:endParaRPr lang="en-US" sz="1500" dirty="0"/>
          </a:p>
        </p:txBody>
      </p:sp>
      <p:sp>
        <p:nvSpPr>
          <p:cNvPr id="20" name="Shape 18"/>
          <p:cNvSpPr/>
          <p:nvPr/>
        </p:nvSpPr>
        <p:spPr>
          <a:xfrm rot="2700000">
            <a:off x="6903720" y="2495245"/>
            <a:ext cx="100584" cy="100584"/>
          </a:xfrm>
          <a:prstGeom prst="rect">
            <a:avLst/>
          </a:prstGeom>
          <a:solidFill>
            <a:srgbClr val="C9A227"/>
          </a:solidFill>
          <a:ln w="3175">
            <a:solidFill>
              <a:srgbClr val="C9A227"/>
            </a:solidFill>
            <a:prstDash val="solid"/>
          </a:ln>
        </p:spPr>
      </p:sp>
      <p:sp>
        <p:nvSpPr>
          <p:cNvPr id="21" name="Text 19"/>
          <p:cNvSpPr/>
          <p:nvPr/>
        </p:nvSpPr>
        <p:spPr>
          <a:xfrm>
            <a:off x="7214616" y="2417521"/>
            <a:ext cx="3895344" cy="331470"/>
          </a:xfrm>
          <a:prstGeom prst="rect">
            <a:avLst/>
          </a:prstGeom>
          <a:noFill/>
          <a:ln/>
        </p:spPr>
        <p:txBody>
          <a:bodyPr wrap="square" lIns="0" tIns="0" rIns="0" bIns="0" rtlCol="0" anchor="t"/>
          <a:lstStyle/>
          <a:p>
            <a:pPr indent="0" marL="0">
              <a:lnSpc>
                <a:spcPct val="116000"/>
              </a:lnSpc>
              <a:buNone/>
            </a:pPr>
            <a:r>
              <a:rPr lang="en-US" sz="1500" dirty="0">
                <a:solidFill>
                  <a:srgbClr val="14213D"/>
                </a:solidFill>
                <a:latin typeface="Arial" pitchFamily="34" charset="0"/>
                <a:ea typeface="Arial" pitchFamily="34" charset="-122"/>
                <a:cs typeface="Arial" pitchFamily="34" charset="-120"/>
              </a:rPr>
              <a:t>Metrics.</a:t>
            </a:r>
            <a:endParaRPr lang="en-US" sz="1500" dirty="0"/>
          </a:p>
        </p:txBody>
      </p:sp>
      <p:sp>
        <p:nvSpPr>
          <p:cNvPr id="22" name="Shape 20"/>
          <p:cNvSpPr/>
          <p:nvPr/>
        </p:nvSpPr>
        <p:spPr>
          <a:xfrm rot="2700000">
            <a:off x="6903720" y="2973019"/>
            <a:ext cx="100584" cy="100584"/>
          </a:xfrm>
          <a:prstGeom prst="rect">
            <a:avLst/>
          </a:prstGeom>
          <a:solidFill>
            <a:srgbClr val="C9A227"/>
          </a:solidFill>
          <a:ln w="3175">
            <a:solidFill>
              <a:srgbClr val="C9A227"/>
            </a:solidFill>
            <a:prstDash val="solid"/>
          </a:ln>
        </p:spPr>
      </p:sp>
      <p:sp>
        <p:nvSpPr>
          <p:cNvPr id="23" name="Text 21"/>
          <p:cNvSpPr/>
          <p:nvPr/>
        </p:nvSpPr>
        <p:spPr>
          <a:xfrm>
            <a:off x="7214616" y="2895295"/>
            <a:ext cx="3895344" cy="331470"/>
          </a:xfrm>
          <a:prstGeom prst="rect">
            <a:avLst/>
          </a:prstGeom>
          <a:noFill/>
          <a:ln/>
        </p:spPr>
        <p:txBody>
          <a:bodyPr wrap="square" lIns="0" tIns="0" rIns="0" bIns="0" rtlCol="0" anchor="t"/>
          <a:lstStyle/>
          <a:p>
            <a:pPr indent="0" marL="0">
              <a:lnSpc>
                <a:spcPct val="116000"/>
              </a:lnSpc>
              <a:buNone/>
            </a:pPr>
            <a:r>
              <a:rPr lang="en-US" sz="1500" dirty="0">
                <a:solidFill>
                  <a:srgbClr val="14213D"/>
                </a:solidFill>
                <a:latin typeface="Arial" pitchFamily="34" charset="0"/>
                <a:ea typeface="Arial" pitchFamily="34" charset="-122"/>
                <a:cs typeface="Arial" pitchFamily="34" charset="-120"/>
              </a:rPr>
              <a:t>Weekly and monthly growth trends.</a:t>
            </a:r>
            <a:endParaRPr lang="en-US" sz="1500" dirty="0"/>
          </a:p>
        </p:txBody>
      </p:sp>
      <p:sp>
        <p:nvSpPr>
          <p:cNvPr id="24" name="Shape 22"/>
          <p:cNvSpPr/>
          <p:nvPr/>
        </p:nvSpPr>
        <p:spPr>
          <a:xfrm rot="2700000">
            <a:off x="6903720" y="3450793"/>
            <a:ext cx="100584" cy="100584"/>
          </a:xfrm>
          <a:prstGeom prst="rect">
            <a:avLst/>
          </a:prstGeom>
          <a:solidFill>
            <a:srgbClr val="C9A227"/>
          </a:solidFill>
          <a:ln w="3175">
            <a:solidFill>
              <a:srgbClr val="C9A227"/>
            </a:solidFill>
            <a:prstDash val="solid"/>
          </a:ln>
        </p:spPr>
      </p:sp>
      <p:sp>
        <p:nvSpPr>
          <p:cNvPr id="25" name="Text 23"/>
          <p:cNvSpPr/>
          <p:nvPr/>
        </p:nvSpPr>
        <p:spPr>
          <a:xfrm>
            <a:off x="7214616" y="3373069"/>
            <a:ext cx="3895344" cy="571500"/>
          </a:xfrm>
          <a:prstGeom prst="rect">
            <a:avLst/>
          </a:prstGeom>
          <a:noFill/>
          <a:ln/>
        </p:spPr>
        <p:txBody>
          <a:bodyPr wrap="square" lIns="0" tIns="0" rIns="0" bIns="0" rtlCol="0" anchor="t"/>
          <a:lstStyle/>
          <a:p>
            <a:pPr indent="0" marL="0">
              <a:lnSpc>
                <a:spcPct val="116000"/>
              </a:lnSpc>
              <a:buNone/>
            </a:pPr>
            <a:r>
              <a:rPr lang="en-US" sz="1500" dirty="0">
                <a:solidFill>
                  <a:srgbClr val="14213D"/>
                </a:solidFill>
                <a:latin typeface="Arial" pitchFamily="34" charset="0"/>
                <a:ea typeface="Arial" pitchFamily="34" charset="-122"/>
                <a:cs typeface="Arial" pitchFamily="34" charset="-120"/>
              </a:rPr>
              <a:t>The edge cases telling you what is working, and what is not.</a:t>
            </a:r>
            <a:endParaRPr lang="en-US" sz="1500" dirty="0"/>
          </a:p>
        </p:txBody>
      </p:sp>
      <p:sp>
        <p:nvSpPr>
          <p:cNvPr id="26" name="Text 24"/>
          <p:cNvSpPr/>
          <p:nvPr/>
        </p:nvSpPr>
        <p:spPr>
          <a:xfrm>
            <a:off x="813816" y="4315968"/>
            <a:ext cx="10570464" cy="571500"/>
          </a:xfrm>
          <a:prstGeom prst="rect">
            <a:avLst/>
          </a:prstGeom>
          <a:noFill/>
          <a:ln/>
        </p:spPr>
        <p:txBody>
          <a:bodyPr wrap="square" lIns="0" tIns="0" rIns="0" bIns="0" rtlCol="0" anchor="t"/>
          <a:lstStyle/>
          <a:p>
            <a:pPr algn="l" indent="0" marL="0">
              <a:lnSpc>
                <a:spcPct val="116000"/>
              </a:lnSpc>
              <a:buNone/>
            </a:pPr>
            <a:r>
              <a:rPr lang="en-US" sz="1500" dirty="0">
                <a:solidFill>
                  <a:srgbClr val="14213D"/>
                </a:solidFill>
                <a:latin typeface="Arial" pitchFamily="34" charset="0"/>
                <a:ea typeface="Arial" pitchFamily="34" charset="-122"/>
                <a:cs typeface="Arial" pitchFamily="34" charset="-120"/>
              </a:rPr>
              <a:t>Nobody reads one instrument once and knows where they are. You read them week over week, and the pattern appears: the waves, the currents, the headwinds actually moving your business.</a:t>
            </a:r>
            <a:endParaRPr lang="en-US" sz="1500" dirty="0"/>
          </a:p>
        </p:txBody>
      </p:sp>
      <p:sp>
        <p:nvSpPr>
          <p:cNvPr id="27" name="Text 25"/>
          <p:cNvSpPr/>
          <p:nvPr/>
        </p:nvSpPr>
        <p:spPr>
          <a:xfrm>
            <a:off x="813816" y="5120640"/>
            <a:ext cx="10570464" cy="299466"/>
          </a:xfrm>
          <a:prstGeom prst="rect">
            <a:avLst/>
          </a:prstGeom>
          <a:noFill/>
          <a:ln/>
        </p:spPr>
        <p:txBody>
          <a:bodyPr wrap="square" lIns="0" tIns="0" rIns="0" bIns="0" rtlCol="0" anchor="t"/>
          <a:lstStyle/>
          <a:p>
            <a:pPr algn="l" indent="0" marL="0">
              <a:lnSpc>
                <a:spcPct val="116000"/>
              </a:lnSpc>
              <a:buNone/>
            </a:pPr>
            <a:r>
              <a:rPr lang="en-US" sz="1300" b="1" dirty="0">
                <a:solidFill>
                  <a:srgbClr val="15616D"/>
                </a:solidFill>
                <a:latin typeface="Arial" pitchFamily="34" charset="0"/>
                <a:ea typeface="Arial" pitchFamily="34" charset="-122"/>
                <a:cs typeface="Arial" pitchFamily="34" charset="-120"/>
              </a:rPr>
              <a:t>That literacy is what we are starting to build together. Not the tool. The reading of it.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1786128"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SIGCOMPASS REVEAL</a:t>
            </a:r>
            <a:endParaRPr lang="en-US" sz="900" dirty="0"/>
          </a:p>
        </p:txBody>
      </p:sp>
      <p:sp>
        <p:nvSpPr>
          <p:cNvPr id="6" name="Shape 4"/>
          <p:cNvSpPr/>
          <p:nvPr/>
        </p:nvSpPr>
        <p:spPr>
          <a:xfrm rot="2700000">
            <a:off x="3898392" y="6003036"/>
            <a:ext cx="64008" cy="64008"/>
          </a:xfrm>
          <a:prstGeom prst="rect">
            <a:avLst/>
          </a:prstGeom>
          <a:solidFill>
            <a:srgbClr val="C9A227"/>
          </a:solidFill>
          <a:ln w="3175">
            <a:solidFill>
              <a:srgbClr val="C9A227"/>
            </a:solidFill>
            <a:prstDash val="solid"/>
          </a:ln>
        </p:spPr>
      </p:sp>
      <p:sp>
        <p:nvSpPr>
          <p:cNvPr id="7" name="Text 5"/>
          <p:cNvSpPr/>
          <p:nvPr/>
        </p:nvSpPr>
        <p:spPr>
          <a:xfrm>
            <a:off x="4081272" y="5943600"/>
            <a:ext cx="1200912"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AFA893"/>
                </a:solidFill>
                <a:latin typeface="Arial" pitchFamily="34" charset="0"/>
                <a:ea typeface="Arial" pitchFamily="34" charset="-122"/>
                <a:cs typeface="Arial" pitchFamily="34" charset="-120"/>
              </a:rPr>
              <a:t>14</a:t>
            </a:r>
            <a:endParaRPr lang="en-US" sz="900" dirty="0"/>
          </a:p>
        </p:txBody>
      </p:sp>
      <p:sp>
        <p:nvSpPr>
          <p:cNvPr id="9" name="Text 7"/>
          <p:cNvSpPr/>
          <p:nvPr/>
        </p:nvSpPr>
        <p:spPr>
          <a:xfrm>
            <a:off x="813816" y="502920"/>
            <a:ext cx="10570464" cy="256032"/>
          </a:xfrm>
          <a:prstGeom prst="rect">
            <a:avLst/>
          </a:prstGeom>
          <a:noFill/>
          <a:ln/>
        </p:spPr>
        <p:txBody>
          <a:bodyPr wrap="square" lIns="0" tIns="0" rIns="0" bIns="0" rtlCol="0" anchor="ctr"/>
          <a:lstStyle/>
          <a:p>
            <a:pPr indent="0" marL="0">
              <a:buNone/>
            </a:pPr>
            <a:r>
              <a:rPr lang="en-US" sz="1200" b="1" spc="220" kern="0" dirty="0">
                <a:solidFill>
                  <a:srgbClr val="E7C766"/>
                </a:solidFill>
                <a:latin typeface="Arial" pitchFamily="34" charset="0"/>
                <a:ea typeface="Arial" pitchFamily="34" charset="-122"/>
                <a:cs typeface="Arial" pitchFamily="34" charset="-120"/>
              </a:rPr>
              <a:t>SO HERE IS THE POINT OF THE TOOL</a:t>
            </a:r>
            <a:endParaRPr lang="en-US" sz="1200" dirty="0"/>
          </a:p>
        </p:txBody>
      </p:sp>
      <p:sp>
        <p:nvSpPr>
          <p:cNvPr id="10" name="Text 8"/>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F7F3EA"/>
                </a:solidFill>
                <a:latin typeface="Georgia" pitchFamily="34" charset="0"/>
                <a:ea typeface="Georgia" pitchFamily="34" charset="-122"/>
                <a:cs typeface="Georgia" pitchFamily="34" charset="-120"/>
              </a:rPr>
              <a:t>SigCompass is your cockpit.</a:t>
            </a:r>
            <a:endParaRPr lang="en-US" sz="4000" dirty="0"/>
          </a:p>
        </p:txBody>
      </p:sp>
      <p:sp>
        <p:nvSpPr>
          <p:cNvPr id="11" name="Shape 9"/>
          <p:cNvSpPr/>
          <p:nvPr/>
        </p:nvSpPr>
        <p:spPr>
          <a:xfrm>
            <a:off x="813816" y="1848307"/>
            <a:ext cx="5102352" cy="1207008"/>
          </a:xfrm>
          <a:prstGeom prst="rect">
            <a:avLst/>
          </a:prstGeom>
          <a:solidFill>
            <a:srgbClr val="2A3244"/>
          </a:solidFill>
          <a:ln/>
        </p:spPr>
      </p:sp>
      <p:sp>
        <p:nvSpPr>
          <p:cNvPr id="12" name="Shape 10"/>
          <p:cNvSpPr/>
          <p:nvPr/>
        </p:nvSpPr>
        <p:spPr>
          <a:xfrm rot="2700000">
            <a:off x="1088136" y="2159203"/>
            <a:ext cx="100584" cy="100584"/>
          </a:xfrm>
          <a:prstGeom prst="rect">
            <a:avLst/>
          </a:prstGeom>
          <a:solidFill>
            <a:srgbClr val="C9A227"/>
          </a:solidFill>
          <a:ln w="3175">
            <a:solidFill>
              <a:srgbClr val="C9A227"/>
            </a:solidFill>
            <a:prstDash val="solid"/>
          </a:ln>
        </p:spPr>
      </p:sp>
      <p:sp>
        <p:nvSpPr>
          <p:cNvPr id="13" name="Text 11"/>
          <p:cNvSpPr/>
          <p:nvPr/>
        </p:nvSpPr>
        <p:spPr>
          <a:xfrm>
            <a:off x="1399032" y="2086051"/>
            <a:ext cx="4242816" cy="274320"/>
          </a:xfrm>
          <a:prstGeom prst="rect">
            <a:avLst/>
          </a:prstGeom>
          <a:noFill/>
          <a:ln/>
        </p:spPr>
        <p:txBody>
          <a:bodyPr wrap="square" lIns="0" tIns="0" rIns="0" bIns="0" rtlCol="0" anchor="ctr"/>
          <a:lstStyle/>
          <a:p>
            <a:pPr indent="0" marL="0">
              <a:buNone/>
            </a:pPr>
            <a:r>
              <a:rPr lang="en-US" sz="1400" b="1" spc="120" kern="0" dirty="0">
                <a:solidFill>
                  <a:srgbClr val="E7C766"/>
                </a:solidFill>
                <a:latin typeface="Arial" pitchFamily="34" charset="0"/>
                <a:ea typeface="Arial" pitchFamily="34" charset="-122"/>
                <a:cs typeface="Arial" pitchFamily="34" charset="-120"/>
              </a:rPr>
              <a:t>SEE THE FLOW</a:t>
            </a:r>
            <a:endParaRPr lang="en-US" sz="1400" dirty="0"/>
          </a:p>
        </p:txBody>
      </p:sp>
      <p:sp>
        <p:nvSpPr>
          <p:cNvPr id="14" name="Text 12"/>
          <p:cNvSpPr/>
          <p:nvPr/>
        </p:nvSpPr>
        <p:spPr>
          <a:xfrm>
            <a:off x="1399032" y="2415235"/>
            <a:ext cx="4242816" cy="512064"/>
          </a:xfrm>
          <a:prstGeom prst="rect">
            <a:avLst/>
          </a:prstGeom>
          <a:noFill/>
          <a:ln/>
        </p:spPr>
        <p:txBody>
          <a:bodyPr wrap="square" lIns="0" tIns="0" rIns="0" bIns="0" rtlCol="0" anchor="t"/>
          <a:lstStyle/>
          <a:p>
            <a:pPr indent="0" marL="0">
              <a:lnSpc>
                <a:spcPct val="116000"/>
              </a:lnSpc>
              <a:buNone/>
            </a:pPr>
            <a:r>
              <a:rPr lang="en-US" sz="1300" dirty="0">
                <a:solidFill>
                  <a:srgbClr val="F7F3EA"/>
                </a:solidFill>
                <a:latin typeface="Arial" pitchFamily="34" charset="0"/>
                <a:ea typeface="Arial" pitchFamily="34" charset="-122"/>
                <a:cs typeface="Arial" pitchFamily="34" charset="-120"/>
              </a:rPr>
              <a:t>Where offers become bookings, and where they stop.</a:t>
            </a:r>
            <a:endParaRPr lang="en-US" sz="1300" dirty="0"/>
          </a:p>
        </p:txBody>
      </p:sp>
      <p:sp>
        <p:nvSpPr>
          <p:cNvPr id="15" name="Shape 13"/>
          <p:cNvSpPr/>
          <p:nvPr/>
        </p:nvSpPr>
        <p:spPr>
          <a:xfrm>
            <a:off x="6281928" y="1848307"/>
            <a:ext cx="5102352" cy="1207008"/>
          </a:xfrm>
          <a:prstGeom prst="rect">
            <a:avLst/>
          </a:prstGeom>
          <a:solidFill>
            <a:srgbClr val="2A3244"/>
          </a:solidFill>
          <a:ln/>
        </p:spPr>
      </p:sp>
      <p:sp>
        <p:nvSpPr>
          <p:cNvPr id="16" name="Shape 14"/>
          <p:cNvSpPr/>
          <p:nvPr/>
        </p:nvSpPr>
        <p:spPr>
          <a:xfrm rot="2700000">
            <a:off x="6556248" y="2159203"/>
            <a:ext cx="100584" cy="100584"/>
          </a:xfrm>
          <a:prstGeom prst="rect">
            <a:avLst/>
          </a:prstGeom>
          <a:solidFill>
            <a:srgbClr val="C9A227"/>
          </a:solidFill>
          <a:ln w="3175">
            <a:solidFill>
              <a:srgbClr val="C9A227"/>
            </a:solidFill>
            <a:prstDash val="solid"/>
          </a:ln>
        </p:spPr>
      </p:sp>
      <p:sp>
        <p:nvSpPr>
          <p:cNvPr id="17" name="Text 15"/>
          <p:cNvSpPr/>
          <p:nvPr/>
        </p:nvSpPr>
        <p:spPr>
          <a:xfrm>
            <a:off x="6867144" y="2086051"/>
            <a:ext cx="4242816" cy="274320"/>
          </a:xfrm>
          <a:prstGeom prst="rect">
            <a:avLst/>
          </a:prstGeom>
          <a:noFill/>
          <a:ln/>
        </p:spPr>
        <p:txBody>
          <a:bodyPr wrap="square" lIns="0" tIns="0" rIns="0" bIns="0" rtlCol="0" anchor="ctr"/>
          <a:lstStyle/>
          <a:p>
            <a:pPr indent="0" marL="0">
              <a:buNone/>
            </a:pPr>
            <a:r>
              <a:rPr lang="en-US" sz="1400" b="1" spc="120" kern="0" dirty="0">
                <a:solidFill>
                  <a:srgbClr val="E7C766"/>
                </a:solidFill>
                <a:latin typeface="Arial" pitchFamily="34" charset="0"/>
                <a:ea typeface="Arial" pitchFamily="34" charset="-122"/>
                <a:cs typeface="Arial" pitchFamily="34" charset="-120"/>
              </a:rPr>
              <a:t>SEE THE GAP</a:t>
            </a:r>
            <a:endParaRPr lang="en-US" sz="1400" dirty="0"/>
          </a:p>
        </p:txBody>
      </p:sp>
      <p:sp>
        <p:nvSpPr>
          <p:cNvPr id="18" name="Text 16"/>
          <p:cNvSpPr/>
          <p:nvPr/>
        </p:nvSpPr>
        <p:spPr>
          <a:xfrm>
            <a:off x="6867144" y="2415235"/>
            <a:ext cx="4242816" cy="512064"/>
          </a:xfrm>
          <a:prstGeom prst="rect">
            <a:avLst/>
          </a:prstGeom>
          <a:noFill/>
          <a:ln/>
        </p:spPr>
        <p:txBody>
          <a:bodyPr wrap="square" lIns="0" tIns="0" rIns="0" bIns="0" rtlCol="0" anchor="t"/>
          <a:lstStyle/>
          <a:p>
            <a:pPr indent="0" marL="0">
              <a:lnSpc>
                <a:spcPct val="116000"/>
              </a:lnSpc>
              <a:buNone/>
            </a:pPr>
            <a:r>
              <a:rPr lang="en-US" sz="1300" dirty="0">
                <a:solidFill>
                  <a:srgbClr val="F7F3EA"/>
                </a:solidFill>
                <a:latin typeface="Arial" pitchFamily="34" charset="0"/>
                <a:ea typeface="Arial" pitchFamily="34" charset="-122"/>
                <a:cs typeface="Arial" pitchFamily="34" charset="-120"/>
              </a:rPr>
              <a:t>Which handoff is leaking, by how much, this month against last.</a:t>
            </a:r>
            <a:endParaRPr lang="en-US" sz="1300" dirty="0"/>
          </a:p>
        </p:txBody>
      </p:sp>
      <p:sp>
        <p:nvSpPr>
          <p:cNvPr id="19" name="Shape 17"/>
          <p:cNvSpPr/>
          <p:nvPr/>
        </p:nvSpPr>
        <p:spPr>
          <a:xfrm>
            <a:off x="813816" y="3329635"/>
            <a:ext cx="5102352" cy="1207008"/>
          </a:xfrm>
          <a:prstGeom prst="rect">
            <a:avLst/>
          </a:prstGeom>
          <a:solidFill>
            <a:srgbClr val="2A3244"/>
          </a:solidFill>
          <a:ln/>
        </p:spPr>
      </p:sp>
      <p:sp>
        <p:nvSpPr>
          <p:cNvPr id="20" name="Shape 18"/>
          <p:cNvSpPr/>
          <p:nvPr/>
        </p:nvSpPr>
        <p:spPr>
          <a:xfrm rot="2700000">
            <a:off x="1088136" y="3640531"/>
            <a:ext cx="100584" cy="100584"/>
          </a:xfrm>
          <a:prstGeom prst="rect">
            <a:avLst/>
          </a:prstGeom>
          <a:solidFill>
            <a:srgbClr val="C9A227"/>
          </a:solidFill>
          <a:ln w="3175">
            <a:solidFill>
              <a:srgbClr val="C9A227"/>
            </a:solidFill>
            <a:prstDash val="solid"/>
          </a:ln>
        </p:spPr>
      </p:sp>
      <p:sp>
        <p:nvSpPr>
          <p:cNvPr id="21" name="Text 19"/>
          <p:cNvSpPr/>
          <p:nvPr/>
        </p:nvSpPr>
        <p:spPr>
          <a:xfrm>
            <a:off x="1399032" y="3567379"/>
            <a:ext cx="4242816" cy="274320"/>
          </a:xfrm>
          <a:prstGeom prst="rect">
            <a:avLst/>
          </a:prstGeom>
          <a:noFill/>
          <a:ln/>
        </p:spPr>
        <p:txBody>
          <a:bodyPr wrap="square" lIns="0" tIns="0" rIns="0" bIns="0" rtlCol="0" anchor="ctr"/>
          <a:lstStyle/>
          <a:p>
            <a:pPr indent="0" marL="0">
              <a:buNone/>
            </a:pPr>
            <a:r>
              <a:rPr lang="en-US" sz="1400" b="1" spc="120" kern="0" dirty="0">
                <a:solidFill>
                  <a:srgbClr val="E7C766"/>
                </a:solidFill>
                <a:latin typeface="Arial" pitchFamily="34" charset="0"/>
                <a:ea typeface="Arial" pitchFamily="34" charset="-122"/>
                <a:cs typeface="Arial" pitchFamily="34" charset="-120"/>
              </a:rPr>
              <a:t>SEE THE WIN</a:t>
            </a:r>
            <a:endParaRPr lang="en-US" sz="1400" dirty="0"/>
          </a:p>
        </p:txBody>
      </p:sp>
      <p:sp>
        <p:nvSpPr>
          <p:cNvPr id="22" name="Text 20"/>
          <p:cNvSpPr/>
          <p:nvPr/>
        </p:nvSpPr>
        <p:spPr>
          <a:xfrm>
            <a:off x="1399032" y="3896563"/>
            <a:ext cx="4242816" cy="512064"/>
          </a:xfrm>
          <a:prstGeom prst="rect">
            <a:avLst/>
          </a:prstGeom>
          <a:noFill/>
          <a:ln/>
        </p:spPr>
        <p:txBody>
          <a:bodyPr wrap="square" lIns="0" tIns="0" rIns="0" bIns="0" rtlCol="0" anchor="t"/>
          <a:lstStyle/>
          <a:p>
            <a:pPr indent="0" marL="0">
              <a:lnSpc>
                <a:spcPct val="116000"/>
              </a:lnSpc>
              <a:buNone/>
            </a:pPr>
            <a:r>
              <a:rPr lang="en-US" sz="1300" dirty="0">
                <a:solidFill>
                  <a:srgbClr val="F7F3EA"/>
                </a:solidFill>
                <a:latin typeface="Arial" pitchFamily="34" charset="0"/>
                <a:ea typeface="Arial" pitchFamily="34" charset="-122"/>
                <a:cs typeface="Arial" pitchFamily="34" charset="-120"/>
              </a:rPr>
              <a:t>Which agencies, advisors, suppliers, and segments convert above the rest.</a:t>
            </a:r>
            <a:endParaRPr lang="en-US" sz="1300" dirty="0"/>
          </a:p>
        </p:txBody>
      </p:sp>
      <p:sp>
        <p:nvSpPr>
          <p:cNvPr id="23" name="Shape 21"/>
          <p:cNvSpPr/>
          <p:nvPr/>
        </p:nvSpPr>
        <p:spPr>
          <a:xfrm>
            <a:off x="6281928" y="3329635"/>
            <a:ext cx="5102352" cy="1207008"/>
          </a:xfrm>
          <a:prstGeom prst="rect">
            <a:avLst/>
          </a:prstGeom>
          <a:solidFill>
            <a:srgbClr val="2A3244"/>
          </a:solidFill>
          <a:ln/>
        </p:spPr>
      </p:sp>
      <p:sp>
        <p:nvSpPr>
          <p:cNvPr id="24" name="Shape 22"/>
          <p:cNvSpPr/>
          <p:nvPr/>
        </p:nvSpPr>
        <p:spPr>
          <a:xfrm rot="2700000">
            <a:off x="6556248" y="3640531"/>
            <a:ext cx="100584" cy="100584"/>
          </a:xfrm>
          <a:prstGeom prst="rect">
            <a:avLst/>
          </a:prstGeom>
          <a:solidFill>
            <a:srgbClr val="C9A227"/>
          </a:solidFill>
          <a:ln w="3175">
            <a:solidFill>
              <a:srgbClr val="C9A227"/>
            </a:solidFill>
            <a:prstDash val="solid"/>
          </a:ln>
        </p:spPr>
      </p:sp>
      <p:sp>
        <p:nvSpPr>
          <p:cNvPr id="25" name="Text 23"/>
          <p:cNvSpPr/>
          <p:nvPr/>
        </p:nvSpPr>
        <p:spPr>
          <a:xfrm>
            <a:off x="6867144" y="3567379"/>
            <a:ext cx="4242816" cy="274320"/>
          </a:xfrm>
          <a:prstGeom prst="rect">
            <a:avLst/>
          </a:prstGeom>
          <a:noFill/>
          <a:ln/>
        </p:spPr>
        <p:txBody>
          <a:bodyPr wrap="square" lIns="0" tIns="0" rIns="0" bIns="0" rtlCol="0" anchor="ctr"/>
          <a:lstStyle/>
          <a:p>
            <a:pPr indent="0" marL="0">
              <a:buNone/>
            </a:pPr>
            <a:r>
              <a:rPr lang="en-US" sz="1400" b="1" spc="120" kern="0" dirty="0">
                <a:solidFill>
                  <a:srgbClr val="E7C766"/>
                </a:solidFill>
                <a:latin typeface="Arial" pitchFamily="34" charset="0"/>
                <a:ea typeface="Arial" pitchFamily="34" charset="-122"/>
                <a:cs typeface="Arial" pitchFamily="34" charset="-120"/>
              </a:rPr>
              <a:t>ASK IN PLAIN ENGLISH</a:t>
            </a:r>
            <a:endParaRPr lang="en-US" sz="1400" dirty="0"/>
          </a:p>
        </p:txBody>
      </p:sp>
      <p:sp>
        <p:nvSpPr>
          <p:cNvPr id="26" name="Text 24"/>
          <p:cNvSpPr/>
          <p:nvPr/>
        </p:nvSpPr>
        <p:spPr>
          <a:xfrm>
            <a:off x="6867144" y="3896563"/>
            <a:ext cx="4242816" cy="512064"/>
          </a:xfrm>
          <a:prstGeom prst="rect">
            <a:avLst/>
          </a:prstGeom>
          <a:noFill/>
          <a:ln/>
        </p:spPr>
        <p:txBody>
          <a:bodyPr wrap="square" lIns="0" tIns="0" rIns="0" bIns="0" rtlCol="0" anchor="t"/>
          <a:lstStyle/>
          <a:p>
            <a:pPr indent="0" marL="0">
              <a:lnSpc>
                <a:spcPct val="116000"/>
              </a:lnSpc>
              <a:buNone/>
            </a:pPr>
            <a:r>
              <a:rPr lang="en-US" sz="1300" dirty="0">
                <a:solidFill>
                  <a:srgbClr val="F7F3EA"/>
                </a:solidFill>
                <a:latin typeface="Arial" pitchFamily="34" charset="0"/>
                <a:ea typeface="Arial" pitchFamily="34" charset="-122"/>
                <a:cs typeface="Arial" pitchFamily="34" charset="-120"/>
              </a:rPr>
              <a:t>The questions you would ask an analyst, answered from governed data.</a:t>
            </a:r>
            <a:endParaRPr lang="en-US" sz="1300" dirty="0"/>
          </a:p>
        </p:txBody>
      </p:sp>
      <p:sp>
        <p:nvSpPr>
          <p:cNvPr id="27" name="Text 25"/>
          <p:cNvSpPr/>
          <p:nvPr/>
        </p:nvSpPr>
        <p:spPr>
          <a:xfrm>
            <a:off x="813816" y="5340096"/>
            <a:ext cx="10570464" cy="299466"/>
          </a:xfrm>
          <a:prstGeom prst="rect">
            <a:avLst/>
          </a:prstGeom>
          <a:noFill/>
          <a:ln/>
        </p:spPr>
        <p:txBody>
          <a:bodyPr wrap="square" lIns="0" tIns="0" rIns="0" bIns="0" rtlCol="0" anchor="t"/>
          <a:lstStyle/>
          <a:p>
            <a:pPr algn="l" indent="0" marL="0">
              <a:lnSpc>
                <a:spcPct val="116000"/>
              </a:lnSpc>
              <a:buNone/>
            </a:pPr>
            <a:r>
              <a:rPr lang="en-US" sz="1300" b="1" dirty="0">
                <a:solidFill>
                  <a:srgbClr val="E7C766"/>
                </a:solidFill>
                <a:latin typeface="Arial" pitchFamily="34" charset="0"/>
                <a:ea typeface="Arial" pitchFamily="34" charset="-122"/>
                <a:cs typeface="Arial" pitchFamily="34" charset="-120"/>
              </a:rPr>
              <a:t>Then you start making adjustments on where you are driving. Let's go look at it.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1786128"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SIGCOMPASS REVEAL</a:t>
            </a:r>
            <a:endParaRPr lang="en-US" sz="900" dirty="0"/>
          </a:p>
        </p:txBody>
      </p:sp>
      <p:sp>
        <p:nvSpPr>
          <p:cNvPr id="6" name="Shape 4"/>
          <p:cNvSpPr/>
          <p:nvPr/>
        </p:nvSpPr>
        <p:spPr>
          <a:xfrm rot="2700000">
            <a:off x="3898392" y="6003036"/>
            <a:ext cx="64008" cy="64008"/>
          </a:xfrm>
          <a:prstGeom prst="rect">
            <a:avLst/>
          </a:prstGeom>
          <a:solidFill>
            <a:srgbClr val="C9A227"/>
          </a:solidFill>
          <a:ln w="3175">
            <a:solidFill>
              <a:srgbClr val="C9A227"/>
            </a:solidFill>
            <a:prstDash val="solid"/>
          </a:ln>
        </p:spPr>
      </p:sp>
      <p:sp>
        <p:nvSpPr>
          <p:cNvPr id="7" name="Text 5"/>
          <p:cNvSpPr/>
          <p:nvPr/>
        </p:nvSpPr>
        <p:spPr>
          <a:xfrm>
            <a:off x="4081272" y="5943600"/>
            <a:ext cx="1200912"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AUGUST 2026</a:t>
            </a:r>
            <a:endParaRPr lang="en-US" sz="900" dirty="0"/>
          </a:p>
        </p:txBody>
      </p:sp>
      <p:sp>
        <p:nvSpPr>
          <p:cNvPr id="8" name="Shape 6"/>
          <p:cNvSpPr/>
          <p:nvPr/>
        </p:nvSpPr>
        <p:spPr>
          <a:xfrm rot="2700000">
            <a:off x="6046013" y="2286000"/>
            <a:ext cx="100584" cy="100584"/>
          </a:xfrm>
          <a:prstGeom prst="rect">
            <a:avLst/>
          </a:prstGeom>
          <a:solidFill>
            <a:srgbClr val="C9A227"/>
          </a:solidFill>
          <a:ln w="3175">
            <a:solidFill>
              <a:srgbClr val="C9A227"/>
            </a:solidFill>
            <a:prstDash val="solid"/>
          </a:ln>
        </p:spPr>
      </p:sp>
      <p:sp>
        <p:nvSpPr>
          <p:cNvPr id="9" name="Text 7"/>
          <p:cNvSpPr/>
          <p:nvPr/>
        </p:nvSpPr>
        <p:spPr>
          <a:xfrm>
            <a:off x="1432408" y="2706624"/>
            <a:ext cx="9326880" cy="848319"/>
          </a:xfrm>
          <a:prstGeom prst="rect">
            <a:avLst/>
          </a:prstGeom>
          <a:noFill/>
          <a:ln/>
        </p:spPr>
        <p:txBody>
          <a:bodyPr wrap="square" lIns="0" tIns="0" rIns="0" bIns="0" rtlCol="0" anchor="t"/>
          <a:lstStyle/>
          <a:p>
            <a:pPr algn="ctr" indent="0" marL="0">
              <a:buNone/>
            </a:pPr>
            <a:r>
              <a:rPr lang="en-US" sz="4600" b="1" dirty="0">
                <a:solidFill>
                  <a:srgbClr val="F7F3EA"/>
                </a:solidFill>
                <a:latin typeface="Georgia" pitchFamily="34" charset="0"/>
                <a:ea typeface="Georgia" pitchFamily="34" charset="-122"/>
                <a:cs typeface="Georgia" pitchFamily="34" charset="-120"/>
              </a:rPr>
              <a:t>Let's take the tour.</a:t>
            </a:r>
            <a:endParaRPr lang="en-US" sz="4600" dirty="0"/>
          </a:p>
        </p:txBody>
      </p:sp>
      <p:sp>
        <p:nvSpPr>
          <p:cNvPr id="10" name="Text 8"/>
          <p:cNvSpPr/>
          <p:nvPr/>
        </p:nvSpPr>
        <p:spPr>
          <a:xfrm>
            <a:off x="813816" y="3774399"/>
            <a:ext cx="10570464" cy="274320"/>
          </a:xfrm>
          <a:prstGeom prst="rect">
            <a:avLst/>
          </a:prstGeom>
          <a:noFill/>
          <a:ln/>
        </p:spPr>
        <p:txBody>
          <a:bodyPr wrap="square" lIns="0" tIns="0" rIns="0" bIns="0" rtlCol="0" anchor="ctr"/>
          <a:lstStyle/>
          <a:p>
            <a:pPr algn="ctr" indent="0" marL="0">
              <a:buNone/>
            </a:pPr>
            <a:r>
              <a:rPr lang="en-US" sz="1500" b="1" spc="200" kern="0" dirty="0">
                <a:solidFill>
                  <a:srgbClr val="E7C766"/>
                </a:solidFill>
                <a:latin typeface="Arial" pitchFamily="34" charset="0"/>
                <a:ea typeface="Arial" pitchFamily="34" charset="-122"/>
                <a:cs typeface="Arial" pitchFamily="34" charset="-120"/>
              </a:rPr>
              <a:t>PART THREE   ·   SIGCOMPASS, LIVE</a:t>
            </a:r>
            <a:endParaRPr lang="en-US" sz="1500" dirty="0"/>
          </a:p>
        </p:txBody>
      </p:sp>
      <p:sp>
        <p:nvSpPr>
          <p:cNvPr id="11" name="Text 9"/>
          <p:cNvSpPr/>
          <p:nvPr/>
        </p:nvSpPr>
        <p:spPr>
          <a:xfrm>
            <a:off x="813816" y="4158447"/>
            <a:ext cx="10570464" cy="274320"/>
          </a:xfrm>
          <a:prstGeom prst="rect">
            <a:avLst/>
          </a:prstGeom>
          <a:noFill/>
          <a:ln/>
        </p:spPr>
        <p:txBody>
          <a:bodyPr wrap="square" lIns="0" tIns="0" rIns="0" bIns="0" rtlCol="0" anchor="ctr"/>
          <a:lstStyle/>
          <a:p>
            <a:pPr algn="ctr" indent="0" marL="0">
              <a:buNone/>
            </a:pPr>
            <a:r>
              <a:rPr lang="en-US" sz="1300" i="1" dirty="0">
                <a:solidFill>
                  <a:srgbClr val="AFA893"/>
                </a:solidFill>
                <a:latin typeface="Arial" pitchFamily="34" charset="0"/>
                <a:ea typeface="Arial" pitchFamily="34" charset="-122"/>
                <a:cs typeface="Arial" pitchFamily="34" charset="-120"/>
              </a:rPr>
              <a:t>Interrupt freely. It is your engine.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1786128"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SIGCOMPASS REVEAL</a:t>
            </a:r>
            <a:endParaRPr lang="en-US" sz="900" dirty="0"/>
          </a:p>
        </p:txBody>
      </p:sp>
      <p:sp>
        <p:nvSpPr>
          <p:cNvPr id="6" name="Shape 4"/>
          <p:cNvSpPr/>
          <p:nvPr/>
        </p:nvSpPr>
        <p:spPr>
          <a:xfrm rot="2700000">
            <a:off x="3898392" y="6003036"/>
            <a:ext cx="64008" cy="64008"/>
          </a:xfrm>
          <a:prstGeom prst="rect">
            <a:avLst/>
          </a:prstGeom>
          <a:solidFill>
            <a:srgbClr val="C9A227"/>
          </a:solidFill>
          <a:ln w="3175">
            <a:solidFill>
              <a:srgbClr val="C9A227"/>
            </a:solidFill>
            <a:prstDash val="solid"/>
          </a:ln>
        </p:spPr>
      </p:sp>
      <p:sp>
        <p:nvSpPr>
          <p:cNvPr id="7" name="Text 5"/>
          <p:cNvSpPr/>
          <p:nvPr/>
        </p:nvSpPr>
        <p:spPr>
          <a:xfrm>
            <a:off x="4081272" y="5943600"/>
            <a:ext cx="1200912"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5A6379"/>
                </a:solidFill>
                <a:latin typeface="Arial" pitchFamily="34" charset="0"/>
                <a:ea typeface="Arial" pitchFamily="34" charset="-122"/>
                <a:cs typeface="Arial" pitchFamily="34" charset="-120"/>
              </a:rPr>
              <a:t>16</a:t>
            </a:r>
            <a:endParaRPr lang="en-US" sz="900" dirty="0"/>
          </a:p>
        </p:txBody>
      </p:sp>
      <p:sp>
        <p:nvSpPr>
          <p:cNvPr id="9" name="Text 7"/>
          <p:cNvSpPr/>
          <p:nvPr/>
        </p:nvSpPr>
        <p:spPr>
          <a:xfrm>
            <a:off x="813816" y="502920"/>
            <a:ext cx="10570464" cy="256032"/>
          </a:xfrm>
          <a:prstGeom prst="rect">
            <a:avLst/>
          </a:prstGeom>
          <a:noFill/>
          <a:ln/>
        </p:spPr>
        <p:txBody>
          <a:bodyPr wrap="square" lIns="0" tIns="0" rIns="0" bIns="0" rtlCol="0" anchor="ctr"/>
          <a:lstStyle/>
          <a:p>
            <a:pPr indent="0" marL="0">
              <a:buNone/>
            </a:pPr>
            <a:r>
              <a:rPr lang="en-US" sz="1200" b="1" spc="220" kern="0" dirty="0">
                <a:solidFill>
                  <a:srgbClr val="8A6D14"/>
                </a:solidFill>
                <a:latin typeface="Arial" pitchFamily="34" charset="0"/>
                <a:ea typeface="Arial" pitchFamily="34" charset="-122"/>
                <a:cs typeface="Arial" pitchFamily="34" charset="-120"/>
              </a:rPr>
              <a:t>FIVE STOPS</a:t>
            </a:r>
            <a:endParaRPr lang="en-US" sz="1200" dirty="0"/>
          </a:p>
        </p:txBody>
      </p:sp>
      <p:sp>
        <p:nvSpPr>
          <p:cNvPr id="10" name="Text 8"/>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What to watch for at each stop.</a:t>
            </a:r>
            <a:endParaRPr lang="en-US" sz="4000" dirty="0"/>
          </a:p>
        </p:txBody>
      </p:sp>
      <p:sp>
        <p:nvSpPr>
          <p:cNvPr id="11" name="Text 9"/>
          <p:cNvSpPr/>
          <p:nvPr/>
        </p:nvSpPr>
        <p:spPr>
          <a:xfrm>
            <a:off x="813816" y="1811731"/>
            <a:ext cx="402336" cy="310896"/>
          </a:xfrm>
          <a:prstGeom prst="rect">
            <a:avLst/>
          </a:prstGeom>
          <a:noFill/>
          <a:ln/>
        </p:spPr>
        <p:txBody>
          <a:bodyPr wrap="square" lIns="0" tIns="0" rIns="0" bIns="0" rtlCol="0" anchor="t"/>
          <a:lstStyle/>
          <a:p>
            <a:pPr indent="0" marL="0">
              <a:buNone/>
            </a:pPr>
            <a:r>
              <a:rPr lang="en-US" sz="2400" b="1" dirty="0">
                <a:solidFill>
                  <a:srgbClr val="8A6D14"/>
                </a:solidFill>
                <a:latin typeface="Georgia" pitchFamily="34" charset="0"/>
                <a:ea typeface="Georgia" pitchFamily="34" charset="-122"/>
                <a:cs typeface="Georgia" pitchFamily="34" charset="-120"/>
              </a:rPr>
              <a:t>1</a:t>
            </a:r>
            <a:endParaRPr lang="en-US" sz="2400" dirty="0"/>
          </a:p>
        </p:txBody>
      </p:sp>
      <p:sp>
        <p:nvSpPr>
          <p:cNvPr id="12" name="Text 10"/>
          <p:cNvSpPr/>
          <p:nvPr/>
        </p:nvSpPr>
        <p:spPr>
          <a:xfrm>
            <a:off x="1271016" y="1839163"/>
            <a:ext cx="2468880" cy="274320"/>
          </a:xfrm>
          <a:prstGeom prst="rect">
            <a:avLst/>
          </a:prstGeom>
          <a:noFill/>
          <a:ln/>
        </p:spPr>
        <p:txBody>
          <a:bodyPr wrap="square" lIns="0" tIns="0" rIns="0" bIns="0" rtlCol="0" anchor="t"/>
          <a:lstStyle/>
          <a:p>
            <a:pPr indent="0" marL="0">
              <a:buNone/>
            </a:pPr>
            <a:r>
              <a:rPr lang="en-US" sz="1500" b="1" dirty="0">
                <a:solidFill>
                  <a:srgbClr val="14213D"/>
                </a:solidFill>
                <a:latin typeface="Arial" pitchFamily="34" charset="0"/>
                <a:ea typeface="Arial" pitchFamily="34" charset="-122"/>
                <a:cs typeface="Arial" pitchFamily="34" charset="-120"/>
              </a:rPr>
              <a:t>Sign in from SigNet</a:t>
            </a:r>
            <a:endParaRPr lang="en-US" sz="1500" dirty="0"/>
          </a:p>
        </p:txBody>
      </p:sp>
      <p:sp>
        <p:nvSpPr>
          <p:cNvPr id="13" name="Text 11"/>
          <p:cNvSpPr/>
          <p:nvPr/>
        </p:nvSpPr>
        <p:spPr>
          <a:xfrm>
            <a:off x="3886200" y="1857451"/>
            <a:ext cx="4023360" cy="299466"/>
          </a:xfrm>
          <a:prstGeom prst="rect">
            <a:avLst/>
          </a:prstGeom>
          <a:noFill/>
          <a:ln/>
        </p:spPr>
        <p:txBody>
          <a:bodyPr wrap="square" lIns="0" tIns="0" rIns="0" bIns="0" rtlCol="0" anchor="t"/>
          <a:lstStyle/>
          <a:p>
            <a:pPr indent="0" marL="0">
              <a:lnSpc>
                <a:spcPct val="114000"/>
              </a:lnSpc>
              <a:buNone/>
            </a:pPr>
            <a:r>
              <a:rPr lang="en-US" sz="1300" dirty="0">
                <a:solidFill>
                  <a:srgbClr val="14213D"/>
                </a:solidFill>
                <a:latin typeface="Arial" pitchFamily="34" charset="0"/>
                <a:ea typeface="Arial" pitchFamily="34" charset="-122"/>
                <a:cs typeface="Arial" pitchFamily="34" charset="-120"/>
              </a:rPr>
              <a:t>One click, single sign-on, role-based access.</a:t>
            </a:r>
            <a:endParaRPr lang="en-US" sz="1300" dirty="0"/>
          </a:p>
        </p:txBody>
      </p:sp>
      <p:sp>
        <p:nvSpPr>
          <p:cNvPr id="14" name="Text 12"/>
          <p:cNvSpPr/>
          <p:nvPr/>
        </p:nvSpPr>
        <p:spPr>
          <a:xfrm>
            <a:off x="8092440" y="1857451"/>
            <a:ext cx="3291840" cy="507492"/>
          </a:xfrm>
          <a:prstGeom prst="rect">
            <a:avLst/>
          </a:prstGeom>
          <a:noFill/>
          <a:ln/>
        </p:spPr>
        <p:txBody>
          <a:bodyPr wrap="square" lIns="0" tIns="0" rIns="0" bIns="0" rtlCol="0" anchor="t"/>
          <a:lstStyle/>
          <a:p>
            <a:pPr indent="0" marL="0">
              <a:lnSpc>
                <a:spcPct val="114000"/>
              </a:lnSpc>
              <a:buNone/>
            </a:pPr>
            <a:r>
              <a:rPr lang="en-US" sz="1300" b="1" i="1" dirty="0">
                <a:solidFill>
                  <a:srgbClr val="15616D"/>
                </a:solidFill>
                <a:latin typeface="Arial" pitchFamily="34" charset="0"/>
                <a:ea typeface="Arial" pitchFamily="34" charset="-122"/>
                <a:cs typeface="Arial" pitchFamily="34" charset="-120"/>
              </a:rPr>
              <a:t>Watch for: </a:t>
            </a:r>
            <a:pPr indent="0" marL="0">
              <a:lnSpc>
                <a:spcPct val="114000"/>
              </a:lnSpc>
              <a:buNone/>
            </a:pPr>
            <a:r>
              <a:rPr lang="en-US" sz="1300" i="1" dirty="0">
                <a:solidFill>
                  <a:srgbClr val="15616D"/>
                </a:solidFill>
                <a:latin typeface="Arial" pitchFamily="34" charset="0"/>
                <a:ea typeface="Arial" pitchFamily="34" charset="-122"/>
                <a:cs typeface="Arial" pitchFamily="34" charset="-120"/>
              </a:rPr>
              <a:t>No new passwords, no new portals.</a:t>
            </a:r>
            <a:endParaRPr lang="en-US" sz="1300" dirty="0"/>
          </a:p>
        </p:txBody>
      </p:sp>
      <p:sp>
        <p:nvSpPr>
          <p:cNvPr id="15" name="Text 13"/>
          <p:cNvSpPr/>
          <p:nvPr/>
        </p:nvSpPr>
        <p:spPr>
          <a:xfrm>
            <a:off x="813816" y="2538679"/>
            <a:ext cx="402336" cy="310896"/>
          </a:xfrm>
          <a:prstGeom prst="rect">
            <a:avLst/>
          </a:prstGeom>
          <a:noFill/>
          <a:ln/>
        </p:spPr>
        <p:txBody>
          <a:bodyPr wrap="square" lIns="0" tIns="0" rIns="0" bIns="0" rtlCol="0" anchor="t"/>
          <a:lstStyle/>
          <a:p>
            <a:pPr indent="0" marL="0">
              <a:buNone/>
            </a:pPr>
            <a:r>
              <a:rPr lang="en-US" sz="2400" b="1" dirty="0">
                <a:solidFill>
                  <a:srgbClr val="8A6D14"/>
                </a:solidFill>
                <a:latin typeface="Georgia" pitchFamily="34" charset="0"/>
                <a:ea typeface="Georgia" pitchFamily="34" charset="-122"/>
                <a:cs typeface="Georgia" pitchFamily="34" charset="-120"/>
              </a:rPr>
              <a:t>2</a:t>
            </a:r>
            <a:endParaRPr lang="en-US" sz="2400" dirty="0"/>
          </a:p>
        </p:txBody>
      </p:sp>
      <p:sp>
        <p:nvSpPr>
          <p:cNvPr id="16" name="Text 14"/>
          <p:cNvSpPr/>
          <p:nvPr/>
        </p:nvSpPr>
        <p:spPr>
          <a:xfrm>
            <a:off x="1271016" y="2566111"/>
            <a:ext cx="2468880" cy="274320"/>
          </a:xfrm>
          <a:prstGeom prst="rect">
            <a:avLst/>
          </a:prstGeom>
          <a:noFill/>
          <a:ln/>
        </p:spPr>
        <p:txBody>
          <a:bodyPr wrap="square" lIns="0" tIns="0" rIns="0" bIns="0" rtlCol="0" anchor="t"/>
          <a:lstStyle/>
          <a:p>
            <a:pPr indent="0" marL="0">
              <a:buNone/>
            </a:pPr>
            <a:r>
              <a:rPr lang="en-US" sz="1500" b="1" dirty="0">
                <a:solidFill>
                  <a:srgbClr val="14213D"/>
                </a:solidFill>
                <a:latin typeface="Arial" pitchFamily="34" charset="0"/>
                <a:ea typeface="Arial" pitchFamily="34" charset="-122"/>
                <a:cs typeface="Arial" pitchFamily="34" charset="-120"/>
              </a:rPr>
              <a:t>Data quality</a:t>
            </a:r>
            <a:endParaRPr lang="en-US" sz="1500" dirty="0"/>
          </a:p>
        </p:txBody>
      </p:sp>
      <p:sp>
        <p:nvSpPr>
          <p:cNvPr id="17" name="Text 15"/>
          <p:cNvSpPr/>
          <p:nvPr/>
        </p:nvSpPr>
        <p:spPr>
          <a:xfrm>
            <a:off x="3886200" y="2584399"/>
            <a:ext cx="4023360" cy="299466"/>
          </a:xfrm>
          <a:prstGeom prst="rect">
            <a:avLst/>
          </a:prstGeom>
          <a:noFill/>
          <a:ln/>
        </p:spPr>
        <p:txBody>
          <a:bodyPr wrap="square" lIns="0" tIns="0" rIns="0" bIns="0" rtlCol="0" anchor="t"/>
          <a:lstStyle/>
          <a:p>
            <a:pPr indent="0" marL="0">
              <a:lnSpc>
                <a:spcPct val="114000"/>
              </a:lnSpc>
              <a:buNone/>
            </a:pPr>
            <a:r>
              <a:rPr lang="en-US" sz="1300" dirty="0">
                <a:solidFill>
                  <a:srgbClr val="14213D"/>
                </a:solidFill>
                <a:latin typeface="Arial" pitchFamily="34" charset="0"/>
                <a:ea typeface="Arial" pitchFamily="34" charset="-122"/>
                <a:cs typeface="Arial" pitchFamily="34" charset="-120"/>
              </a:rPr>
              <a:t>Client-record coverage by agency and advisor.</a:t>
            </a:r>
            <a:endParaRPr lang="en-US" sz="1300" dirty="0"/>
          </a:p>
        </p:txBody>
      </p:sp>
      <p:sp>
        <p:nvSpPr>
          <p:cNvPr id="18" name="Text 16"/>
          <p:cNvSpPr/>
          <p:nvPr/>
        </p:nvSpPr>
        <p:spPr>
          <a:xfrm>
            <a:off x="8092440" y="2584399"/>
            <a:ext cx="3291840" cy="507492"/>
          </a:xfrm>
          <a:prstGeom prst="rect">
            <a:avLst/>
          </a:prstGeom>
          <a:noFill/>
          <a:ln/>
        </p:spPr>
        <p:txBody>
          <a:bodyPr wrap="square" lIns="0" tIns="0" rIns="0" bIns="0" rtlCol="0" anchor="t"/>
          <a:lstStyle/>
          <a:p>
            <a:pPr indent="0" marL="0">
              <a:lnSpc>
                <a:spcPct val="114000"/>
              </a:lnSpc>
              <a:buNone/>
            </a:pPr>
            <a:r>
              <a:rPr lang="en-US" sz="1300" b="1" i="1" dirty="0">
                <a:solidFill>
                  <a:srgbClr val="15616D"/>
                </a:solidFill>
                <a:latin typeface="Arial" pitchFamily="34" charset="0"/>
                <a:ea typeface="Arial" pitchFamily="34" charset="-122"/>
                <a:cs typeface="Arial" pitchFamily="34" charset="-120"/>
              </a:rPr>
              <a:t>Watch for: </a:t>
            </a:r>
            <a:pPr indent="0" marL="0">
              <a:lnSpc>
                <a:spcPct val="114000"/>
              </a:lnSpc>
              <a:buNone/>
            </a:pPr>
            <a:r>
              <a:rPr lang="en-US" sz="1300" i="1" dirty="0">
                <a:solidFill>
                  <a:srgbClr val="15616D"/>
                </a:solidFill>
                <a:latin typeface="Arial" pitchFamily="34" charset="0"/>
                <a:ea typeface="Arial" pitchFamily="34" charset="-122"/>
                <a:cs typeface="Arial" pitchFamily="34" charset="-120"/>
              </a:rPr>
              <a:t>Where cleanup pays back fastest.</a:t>
            </a:r>
            <a:endParaRPr lang="en-US" sz="1300" dirty="0"/>
          </a:p>
        </p:txBody>
      </p:sp>
      <p:sp>
        <p:nvSpPr>
          <p:cNvPr id="19" name="Text 17"/>
          <p:cNvSpPr/>
          <p:nvPr/>
        </p:nvSpPr>
        <p:spPr>
          <a:xfrm>
            <a:off x="813816" y="3265627"/>
            <a:ext cx="402336" cy="310896"/>
          </a:xfrm>
          <a:prstGeom prst="rect">
            <a:avLst/>
          </a:prstGeom>
          <a:noFill/>
          <a:ln/>
        </p:spPr>
        <p:txBody>
          <a:bodyPr wrap="square" lIns="0" tIns="0" rIns="0" bIns="0" rtlCol="0" anchor="t"/>
          <a:lstStyle/>
          <a:p>
            <a:pPr indent="0" marL="0">
              <a:buNone/>
            </a:pPr>
            <a:r>
              <a:rPr lang="en-US" sz="2400" b="1" dirty="0">
                <a:solidFill>
                  <a:srgbClr val="8A6D14"/>
                </a:solidFill>
                <a:latin typeface="Georgia" pitchFamily="34" charset="0"/>
                <a:ea typeface="Georgia" pitchFamily="34" charset="-122"/>
                <a:cs typeface="Georgia" pitchFamily="34" charset="-120"/>
              </a:rPr>
              <a:t>3</a:t>
            </a:r>
            <a:endParaRPr lang="en-US" sz="2400" dirty="0"/>
          </a:p>
        </p:txBody>
      </p:sp>
      <p:sp>
        <p:nvSpPr>
          <p:cNvPr id="20" name="Text 18"/>
          <p:cNvSpPr/>
          <p:nvPr/>
        </p:nvSpPr>
        <p:spPr>
          <a:xfrm>
            <a:off x="1271016" y="3293059"/>
            <a:ext cx="2468880" cy="274320"/>
          </a:xfrm>
          <a:prstGeom prst="rect">
            <a:avLst/>
          </a:prstGeom>
          <a:noFill/>
          <a:ln/>
        </p:spPr>
        <p:txBody>
          <a:bodyPr wrap="square" lIns="0" tIns="0" rIns="0" bIns="0" rtlCol="0" anchor="t"/>
          <a:lstStyle/>
          <a:p>
            <a:pPr indent="0" marL="0">
              <a:buNone/>
            </a:pPr>
            <a:r>
              <a:rPr lang="en-US" sz="1500" b="1" dirty="0">
                <a:solidFill>
                  <a:srgbClr val="14213D"/>
                </a:solidFill>
                <a:latin typeface="Arial" pitchFamily="34" charset="0"/>
                <a:ea typeface="Arial" pitchFamily="34" charset="-122"/>
                <a:cs typeface="Arial" pitchFamily="34" charset="-120"/>
              </a:rPr>
              <a:t>Revenue</a:t>
            </a:r>
            <a:endParaRPr lang="en-US" sz="1500" dirty="0"/>
          </a:p>
        </p:txBody>
      </p:sp>
      <p:sp>
        <p:nvSpPr>
          <p:cNvPr id="21" name="Text 19"/>
          <p:cNvSpPr/>
          <p:nvPr/>
        </p:nvSpPr>
        <p:spPr>
          <a:xfrm>
            <a:off x="3886200" y="3311347"/>
            <a:ext cx="4023360" cy="507492"/>
          </a:xfrm>
          <a:prstGeom prst="rect">
            <a:avLst/>
          </a:prstGeom>
          <a:noFill/>
          <a:ln/>
        </p:spPr>
        <p:txBody>
          <a:bodyPr wrap="square" lIns="0" tIns="0" rIns="0" bIns="0" rtlCol="0" anchor="t"/>
          <a:lstStyle/>
          <a:p>
            <a:pPr indent="0" marL="0">
              <a:lnSpc>
                <a:spcPct val="114000"/>
              </a:lnSpc>
              <a:buNone/>
            </a:pPr>
            <a:r>
              <a:rPr lang="en-US" sz="1300" dirty="0">
                <a:solidFill>
                  <a:srgbClr val="14213D"/>
                </a:solidFill>
                <a:latin typeface="Arial" pitchFamily="34" charset="0"/>
                <a:ea typeface="Arial" pitchFamily="34" charset="-122"/>
                <a:cs typeface="Arial" pitchFamily="34" charset="-120"/>
              </a:rPr>
              <a:t>Quoted, Confirmed, Travelled by travel month. Suppliers by name.</a:t>
            </a:r>
            <a:endParaRPr lang="en-US" sz="1300" dirty="0"/>
          </a:p>
        </p:txBody>
      </p:sp>
      <p:sp>
        <p:nvSpPr>
          <p:cNvPr id="22" name="Text 20"/>
          <p:cNvSpPr/>
          <p:nvPr/>
        </p:nvSpPr>
        <p:spPr>
          <a:xfrm>
            <a:off x="8092440" y="3311347"/>
            <a:ext cx="3291840" cy="507492"/>
          </a:xfrm>
          <a:prstGeom prst="rect">
            <a:avLst/>
          </a:prstGeom>
          <a:noFill/>
          <a:ln/>
        </p:spPr>
        <p:txBody>
          <a:bodyPr wrap="square" lIns="0" tIns="0" rIns="0" bIns="0" rtlCol="0" anchor="t"/>
          <a:lstStyle/>
          <a:p>
            <a:pPr indent="0" marL="0">
              <a:lnSpc>
                <a:spcPct val="114000"/>
              </a:lnSpc>
              <a:buNone/>
            </a:pPr>
            <a:r>
              <a:rPr lang="en-US" sz="1300" b="1" i="1" dirty="0">
                <a:solidFill>
                  <a:srgbClr val="15616D"/>
                </a:solidFill>
                <a:latin typeface="Arial" pitchFamily="34" charset="0"/>
                <a:ea typeface="Arial" pitchFamily="34" charset="-122"/>
                <a:cs typeface="Arial" pitchFamily="34" charset="-120"/>
              </a:rPr>
              <a:t>Watch for: </a:t>
            </a:r>
            <a:pPr indent="0" marL="0">
              <a:lnSpc>
                <a:spcPct val="114000"/>
              </a:lnSpc>
              <a:buNone/>
            </a:pPr>
            <a:r>
              <a:rPr lang="en-US" sz="1300" i="1" dirty="0">
                <a:solidFill>
                  <a:srgbClr val="15616D"/>
                </a:solidFill>
                <a:latin typeface="Arial" pitchFamily="34" charset="0"/>
                <a:ea typeface="Arial" pitchFamily="34" charset="-122"/>
                <a:cs typeface="Arial" pitchFamily="34" charset="-120"/>
              </a:rPr>
              <a:t>The shape of the funnel, and where it narrows.</a:t>
            </a:r>
            <a:endParaRPr lang="en-US" sz="1300" dirty="0"/>
          </a:p>
        </p:txBody>
      </p:sp>
      <p:sp>
        <p:nvSpPr>
          <p:cNvPr id="23" name="Text 21"/>
          <p:cNvSpPr/>
          <p:nvPr/>
        </p:nvSpPr>
        <p:spPr>
          <a:xfrm>
            <a:off x="813816" y="3992575"/>
            <a:ext cx="402336" cy="310896"/>
          </a:xfrm>
          <a:prstGeom prst="rect">
            <a:avLst/>
          </a:prstGeom>
          <a:noFill/>
          <a:ln/>
        </p:spPr>
        <p:txBody>
          <a:bodyPr wrap="square" lIns="0" tIns="0" rIns="0" bIns="0" rtlCol="0" anchor="t"/>
          <a:lstStyle/>
          <a:p>
            <a:pPr indent="0" marL="0">
              <a:buNone/>
            </a:pPr>
            <a:r>
              <a:rPr lang="en-US" sz="2400" b="1" dirty="0">
                <a:solidFill>
                  <a:srgbClr val="8A6D14"/>
                </a:solidFill>
                <a:latin typeface="Georgia" pitchFamily="34" charset="0"/>
                <a:ea typeface="Georgia" pitchFamily="34" charset="-122"/>
                <a:cs typeface="Georgia" pitchFamily="34" charset="-120"/>
              </a:rPr>
              <a:t>4</a:t>
            </a:r>
            <a:endParaRPr lang="en-US" sz="2400" dirty="0"/>
          </a:p>
        </p:txBody>
      </p:sp>
      <p:sp>
        <p:nvSpPr>
          <p:cNvPr id="24" name="Text 22"/>
          <p:cNvSpPr/>
          <p:nvPr/>
        </p:nvSpPr>
        <p:spPr>
          <a:xfrm>
            <a:off x="1271016" y="4020007"/>
            <a:ext cx="2468880" cy="274320"/>
          </a:xfrm>
          <a:prstGeom prst="rect">
            <a:avLst/>
          </a:prstGeom>
          <a:noFill/>
          <a:ln/>
        </p:spPr>
        <p:txBody>
          <a:bodyPr wrap="square" lIns="0" tIns="0" rIns="0" bIns="0" rtlCol="0" anchor="t"/>
          <a:lstStyle/>
          <a:p>
            <a:pPr indent="0" marL="0">
              <a:buNone/>
            </a:pPr>
            <a:r>
              <a:rPr lang="en-US" sz="1500" b="1" dirty="0">
                <a:solidFill>
                  <a:srgbClr val="14213D"/>
                </a:solidFill>
                <a:latin typeface="Arial" pitchFamily="34" charset="0"/>
                <a:ea typeface="Arial" pitchFamily="34" charset="-122"/>
                <a:cs typeface="Arial" pitchFamily="34" charset="-120"/>
              </a:rPr>
              <a:t>Booking journey</a:t>
            </a:r>
            <a:endParaRPr lang="en-US" sz="1500" dirty="0"/>
          </a:p>
        </p:txBody>
      </p:sp>
      <p:sp>
        <p:nvSpPr>
          <p:cNvPr id="25" name="Text 23"/>
          <p:cNvSpPr/>
          <p:nvPr/>
        </p:nvSpPr>
        <p:spPr>
          <a:xfrm>
            <a:off x="3886200" y="4038295"/>
            <a:ext cx="4023360" cy="299466"/>
          </a:xfrm>
          <a:prstGeom prst="rect">
            <a:avLst/>
          </a:prstGeom>
          <a:noFill/>
          <a:ln/>
        </p:spPr>
        <p:txBody>
          <a:bodyPr wrap="square" lIns="0" tIns="0" rIns="0" bIns="0" rtlCol="0" anchor="t"/>
          <a:lstStyle/>
          <a:p>
            <a:pPr indent="0" marL="0">
              <a:lnSpc>
                <a:spcPct val="114000"/>
              </a:lnSpc>
              <a:buNone/>
            </a:pPr>
            <a:r>
              <a:rPr lang="en-US" sz="1300" dirty="0">
                <a:solidFill>
                  <a:srgbClr val="14213D"/>
                </a:solidFill>
                <a:latin typeface="Arial" pitchFamily="34" charset="0"/>
                <a:ea typeface="Arial" pitchFamily="34" charset="-122"/>
                <a:cs typeface="Arial" pitchFamily="34" charset="-120"/>
              </a:rPr>
              <a:t>Journey analytics and hot leads by family.</a:t>
            </a:r>
            <a:endParaRPr lang="en-US" sz="1300" dirty="0"/>
          </a:p>
        </p:txBody>
      </p:sp>
      <p:sp>
        <p:nvSpPr>
          <p:cNvPr id="26" name="Text 24"/>
          <p:cNvSpPr/>
          <p:nvPr/>
        </p:nvSpPr>
        <p:spPr>
          <a:xfrm>
            <a:off x="8092440" y="4038295"/>
            <a:ext cx="3291840" cy="507492"/>
          </a:xfrm>
          <a:prstGeom prst="rect">
            <a:avLst/>
          </a:prstGeom>
          <a:noFill/>
          <a:ln/>
        </p:spPr>
        <p:txBody>
          <a:bodyPr wrap="square" lIns="0" tIns="0" rIns="0" bIns="0" rtlCol="0" anchor="t"/>
          <a:lstStyle/>
          <a:p>
            <a:pPr indent="0" marL="0">
              <a:lnSpc>
                <a:spcPct val="114000"/>
              </a:lnSpc>
              <a:buNone/>
            </a:pPr>
            <a:r>
              <a:rPr lang="en-US" sz="1300" b="1" i="1" dirty="0">
                <a:solidFill>
                  <a:srgbClr val="15616D"/>
                </a:solidFill>
                <a:latin typeface="Arial" pitchFamily="34" charset="0"/>
                <a:ea typeface="Arial" pitchFamily="34" charset="-122"/>
                <a:cs typeface="Arial" pitchFamily="34" charset="-120"/>
              </a:rPr>
              <a:t>Watch for: </a:t>
            </a:r>
            <a:pPr indent="0" marL="0">
              <a:lnSpc>
                <a:spcPct val="114000"/>
              </a:lnSpc>
              <a:buNone/>
            </a:pPr>
            <a:r>
              <a:rPr lang="en-US" sz="1300" i="1" dirty="0">
                <a:solidFill>
                  <a:srgbClr val="15616D"/>
                </a:solidFill>
                <a:latin typeface="Arial" pitchFamily="34" charset="0"/>
                <a:ea typeface="Arial" pitchFamily="34" charset="-122"/>
                <a:cs typeface="Arial" pitchFamily="34" charset="-120"/>
              </a:rPr>
              <a:t>The stage where a personal touch changes the outcome.</a:t>
            </a:r>
            <a:endParaRPr lang="en-US" sz="1300" dirty="0"/>
          </a:p>
        </p:txBody>
      </p:sp>
      <p:sp>
        <p:nvSpPr>
          <p:cNvPr id="27" name="Text 25"/>
          <p:cNvSpPr/>
          <p:nvPr/>
        </p:nvSpPr>
        <p:spPr>
          <a:xfrm>
            <a:off x="813816" y="4719523"/>
            <a:ext cx="402336" cy="310896"/>
          </a:xfrm>
          <a:prstGeom prst="rect">
            <a:avLst/>
          </a:prstGeom>
          <a:noFill/>
          <a:ln/>
        </p:spPr>
        <p:txBody>
          <a:bodyPr wrap="square" lIns="0" tIns="0" rIns="0" bIns="0" rtlCol="0" anchor="t"/>
          <a:lstStyle/>
          <a:p>
            <a:pPr indent="0" marL="0">
              <a:buNone/>
            </a:pPr>
            <a:r>
              <a:rPr lang="en-US" sz="2400" b="1" dirty="0">
                <a:solidFill>
                  <a:srgbClr val="8A6D14"/>
                </a:solidFill>
                <a:latin typeface="Georgia" pitchFamily="34" charset="0"/>
                <a:ea typeface="Georgia" pitchFamily="34" charset="-122"/>
                <a:cs typeface="Georgia" pitchFamily="34" charset="-120"/>
              </a:rPr>
              <a:t>5</a:t>
            </a:r>
            <a:endParaRPr lang="en-US" sz="2400" dirty="0"/>
          </a:p>
        </p:txBody>
      </p:sp>
      <p:sp>
        <p:nvSpPr>
          <p:cNvPr id="28" name="Text 26"/>
          <p:cNvSpPr/>
          <p:nvPr/>
        </p:nvSpPr>
        <p:spPr>
          <a:xfrm>
            <a:off x="1271016" y="4746955"/>
            <a:ext cx="2468880" cy="274320"/>
          </a:xfrm>
          <a:prstGeom prst="rect">
            <a:avLst/>
          </a:prstGeom>
          <a:noFill/>
          <a:ln/>
        </p:spPr>
        <p:txBody>
          <a:bodyPr wrap="square" lIns="0" tIns="0" rIns="0" bIns="0" rtlCol="0" anchor="t"/>
          <a:lstStyle/>
          <a:p>
            <a:pPr indent="0" marL="0">
              <a:buNone/>
            </a:pPr>
            <a:r>
              <a:rPr lang="en-US" sz="1500" b="1" dirty="0">
                <a:solidFill>
                  <a:srgbClr val="14213D"/>
                </a:solidFill>
                <a:latin typeface="Arial" pitchFamily="34" charset="0"/>
                <a:ea typeface="Arial" pitchFamily="34" charset="-122"/>
                <a:cs typeface="Arial" pitchFamily="34" charset="-120"/>
              </a:rPr>
              <a:t>Ask it anything</a:t>
            </a:r>
            <a:endParaRPr lang="en-US" sz="1500" dirty="0"/>
          </a:p>
        </p:txBody>
      </p:sp>
      <p:sp>
        <p:nvSpPr>
          <p:cNvPr id="29" name="Text 27"/>
          <p:cNvSpPr/>
          <p:nvPr/>
        </p:nvSpPr>
        <p:spPr>
          <a:xfrm>
            <a:off x="3886200" y="4765243"/>
            <a:ext cx="4023360" cy="507492"/>
          </a:xfrm>
          <a:prstGeom prst="rect">
            <a:avLst/>
          </a:prstGeom>
          <a:noFill/>
          <a:ln/>
        </p:spPr>
        <p:txBody>
          <a:bodyPr wrap="square" lIns="0" tIns="0" rIns="0" bIns="0" rtlCol="0" anchor="t"/>
          <a:lstStyle/>
          <a:p>
            <a:pPr indent="0" marL="0">
              <a:lnSpc>
                <a:spcPct val="114000"/>
              </a:lnSpc>
              <a:buNone/>
            </a:pPr>
            <a:r>
              <a:rPr lang="en-US" sz="1300" dirty="0">
                <a:solidFill>
                  <a:srgbClr val="14213D"/>
                </a:solidFill>
                <a:latin typeface="Arial" pitchFamily="34" charset="0"/>
                <a:ea typeface="Arial" pitchFamily="34" charset="-122"/>
                <a:cs typeface="Arial" pitchFamily="34" charset="-120"/>
              </a:rPr>
              <a:t>Plain-English questions over the same governed data.</a:t>
            </a:r>
            <a:endParaRPr lang="en-US" sz="1300" dirty="0"/>
          </a:p>
        </p:txBody>
      </p:sp>
      <p:sp>
        <p:nvSpPr>
          <p:cNvPr id="30" name="Text 28"/>
          <p:cNvSpPr/>
          <p:nvPr/>
        </p:nvSpPr>
        <p:spPr>
          <a:xfrm>
            <a:off x="8092440" y="4765243"/>
            <a:ext cx="3291840" cy="507492"/>
          </a:xfrm>
          <a:prstGeom prst="rect">
            <a:avLst/>
          </a:prstGeom>
          <a:noFill/>
          <a:ln/>
        </p:spPr>
        <p:txBody>
          <a:bodyPr wrap="square" lIns="0" tIns="0" rIns="0" bIns="0" rtlCol="0" anchor="t"/>
          <a:lstStyle/>
          <a:p>
            <a:pPr indent="0" marL="0">
              <a:lnSpc>
                <a:spcPct val="114000"/>
              </a:lnSpc>
              <a:buNone/>
            </a:pPr>
            <a:r>
              <a:rPr lang="en-US" sz="1300" b="1" i="1" dirty="0">
                <a:solidFill>
                  <a:srgbClr val="15616D"/>
                </a:solidFill>
                <a:latin typeface="Arial" pitchFamily="34" charset="0"/>
                <a:ea typeface="Arial" pitchFamily="34" charset="-122"/>
                <a:cs typeface="Arial" pitchFamily="34" charset="-120"/>
              </a:rPr>
              <a:t>Watch for: </a:t>
            </a:r>
            <a:pPr indent="0" marL="0">
              <a:lnSpc>
                <a:spcPct val="114000"/>
              </a:lnSpc>
              <a:buNone/>
            </a:pPr>
            <a:r>
              <a:rPr lang="en-US" sz="1300" i="1" dirty="0">
                <a:solidFill>
                  <a:srgbClr val="15616D"/>
                </a:solidFill>
                <a:latin typeface="Arial" pitchFamily="34" charset="0"/>
                <a:ea typeface="Arial" pitchFamily="34" charset="-122"/>
                <a:cs typeface="Arial" pitchFamily="34" charset="-120"/>
              </a:rPr>
              <a:t>That the answer and the chart come from one source.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1786128"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SIGCOMPASS REVEAL</a:t>
            </a:r>
            <a:endParaRPr lang="en-US" sz="900" dirty="0"/>
          </a:p>
        </p:txBody>
      </p:sp>
      <p:sp>
        <p:nvSpPr>
          <p:cNvPr id="6" name="Shape 4"/>
          <p:cNvSpPr/>
          <p:nvPr/>
        </p:nvSpPr>
        <p:spPr>
          <a:xfrm rot="2700000">
            <a:off x="3898392" y="6003036"/>
            <a:ext cx="64008" cy="64008"/>
          </a:xfrm>
          <a:prstGeom prst="rect">
            <a:avLst/>
          </a:prstGeom>
          <a:solidFill>
            <a:srgbClr val="C9A227"/>
          </a:solidFill>
          <a:ln w="3175">
            <a:solidFill>
              <a:srgbClr val="C9A227"/>
            </a:solidFill>
            <a:prstDash val="solid"/>
          </a:ln>
        </p:spPr>
      </p:sp>
      <p:sp>
        <p:nvSpPr>
          <p:cNvPr id="7" name="Text 5"/>
          <p:cNvSpPr/>
          <p:nvPr/>
        </p:nvSpPr>
        <p:spPr>
          <a:xfrm>
            <a:off x="4081272" y="5943600"/>
            <a:ext cx="1200912"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5A6379"/>
                </a:solidFill>
                <a:latin typeface="Arial" pitchFamily="34" charset="0"/>
                <a:ea typeface="Arial" pitchFamily="34" charset="-122"/>
                <a:cs typeface="Arial" pitchFamily="34" charset="-120"/>
              </a:rPr>
              <a:t>17</a:t>
            </a:r>
            <a:endParaRPr lang="en-US" sz="900" dirty="0"/>
          </a:p>
        </p:txBody>
      </p:sp>
      <p:sp>
        <p:nvSpPr>
          <p:cNvPr id="9" name="Text 7"/>
          <p:cNvSpPr/>
          <p:nvPr/>
        </p:nvSpPr>
        <p:spPr>
          <a:xfrm>
            <a:off x="813816" y="502920"/>
            <a:ext cx="10570464" cy="256032"/>
          </a:xfrm>
          <a:prstGeom prst="rect">
            <a:avLst/>
          </a:prstGeom>
          <a:noFill/>
          <a:ln/>
        </p:spPr>
        <p:txBody>
          <a:bodyPr wrap="square" lIns="0" tIns="0" rIns="0" bIns="0" rtlCol="0" anchor="ctr"/>
          <a:lstStyle/>
          <a:p>
            <a:pPr indent="0" marL="0">
              <a:buNone/>
            </a:pPr>
            <a:r>
              <a:rPr lang="en-US" sz="1200" b="1" spc="220" kern="0" dirty="0">
                <a:solidFill>
                  <a:srgbClr val="8A6D14"/>
                </a:solidFill>
                <a:latin typeface="Arial" pitchFamily="34" charset="0"/>
                <a:ea typeface="Arial" pitchFamily="34" charset="-122"/>
                <a:cs typeface="Arial" pitchFamily="34" charset="-120"/>
              </a:rPr>
              <a:t>LIVE</a:t>
            </a:r>
            <a:endParaRPr lang="en-US" sz="1200" dirty="0"/>
          </a:p>
        </p:txBody>
      </p:sp>
      <p:sp>
        <p:nvSpPr>
          <p:cNvPr id="10" name="Text 8"/>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SigCompass.</a:t>
            </a:r>
            <a:endParaRPr lang="en-US" sz="4000" dirty="0"/>
          </a:p>
        </p:txBody>
      </p:sp>
      <p:sp>
        <p:nvSpPr>
          <p:cNvPr id="11" name="Shape 9"/>
          <p:cNvSpPr/>
          <p:nvPr/>
        </p:nvSpPr>
        <p:spPr>
          <a:xfrm>
            <a:off x="813816" y="2011680"/>
            <a:ext cx="10570464" cy="2798064"/>
          </a:xfrm>
          <a:prstGeom prst="rect">
            <a:avLst/>
          </a:prstGeom>
          <a:ln w="9525">
            <a:solidFill>
              <a:srgbClr val="C9A227">
                <a:alpha val="60000"/>
              </a:srgbClr>
            </a:solidFill>
            <a:prstDash val="solid"/>
          </a:ln>
        </p:spPr>
      </p:sp>
      <p:sp>
        <p:nvSpPr>
          <p:cNvPr id="12" name="Text 10"/>
          <p:cNvSpPr/>
          <p:nvPr/>
        </p:nvSpPr>
        <p:spPr>
          <a:xfrm>
            <a:off x="813816" y="4846320"/>
            <a:ext cx="10570464" cy="237744"/>
          </a:xfrm>
          <a:prstGeom prst="rect">
            <a:avLst/>
          </a:prstGeom>
          <a:noFill/>
          <a:ln/>
        </p:spPr>
        <p:txBody>
          <a:bodyPr wrap="square" lIns="0" tIns="0" rIns="0" bIns="0" rtlCol="0" anchor="ctr"/>
          <a:lstStyle/>
          <a:p>
            <a:pPr algn="ctr" indent="0" marL="0">
              <a:buNone/>
            </a:pPr>
            <a:r>
              <a:rPr lang="en-US" sz="1100" i="1" dirty="0">
                <a:solidFill>
                  <a:srgbClr val="5A6379"/>
                </a:solidFill>
                <a:latin typeface="Arial" pitchFamily="34" charset="0"/>
                <a:ea typeface="Arial" pitchFamily="34" charset="-122"/>
                <a:cs typeface="Arial" pitchFamily="34" charset="-120"/>
              </a:rPr>
              <a:t>Screenshot placeholder. Drop in the five tour captures before presenting.</a:t>
            </a:r>
            <a:endParaRPr lang="en-US" sz="1100" dirty="0"/>
          </a:p>
        </p:txBody>
      </p:sp>
      <p:sp>
        <p:nvSpPr>
          <p:cNvPr id="13" name="Shape 11"/>
          <p:cNvSpPr/>
          <p:nvPr/>
        </p:nvSpPr>
        <p:spPr>
          <a:xfrm>
            <a:off x="813816" y="5175504"/>
            <a:ext cx="10570464" cy="420624"/>
          </a:xfrm>
          <a:prstGeom prst="rect">
            <a:avLst/>
          </a:prstGeom>
          <a:solidFill>
            <a:srgbClr val="E8E2D2"/>
          </a:solidFill>
          <a:ln/>
        </p:spPr>
      </p:sp>
      <p:sp>
        <p:nvSpPr>
          <p:cNvPr id="14" name="Text 12"/>
          <p:cNvSpPr/>
          <p:nvPr/>
        </p:nvSpPr>
        <p:spPr>
          <a:xfrm>
            <a:off x="1088136" y="5175504"/>
            <a:ext cx="10021824" cy="420624"/>
          </a:xfrm>
          <a:prstGeom prst="rect">
            <a:avLst/>
          </a:prstGeom>
          <a:noFill/>
          <a:ln/>
        </p:spPr>
        <p:txBody>
          <a:bodyPr wrap="square" lIns="0" tIns="0" rIns="0" bIns="0" rtlCol="0" anchor="ctr"/>
          <a:lstStyle/>
          <a:p>
            <a:pPr indent="0" marL="0">
              <a:buNone/>
            </a:pPr>
            <a:r>
              <a:rPr lang="en-US" sz="1200" b="1" spc="140" kern="0" dirty="0">
                <a:solidFill>
                  <a:srgbClr val="8A6D14"/>
                </a:solidFill>
                <a:latin typeface="Arial" pitchFamily="34" charset="0"/>
                <a:ea typeface="Arial" pitchFamily="34" charset="-122"/>
                <a:cs typeface="Arial" pitchFamily="34" charset="-120"/>
              </a:rPr>
              <a:t>IF THE NETWORK MISBEHAVES:  </a:t>
            </a:r>
            <a:pPr indent="0" marL="0">
              <a:buNone/>
            </a:pPr>
            <a:r>
              <a:rPr lang="en-US" sz="1200" dirty="0">
                <a:solidFill>
                  <a:srgbClr val="14213D"/>
                </a:solidFill>
                <a:latin typeface="Arial" pitchFamily="34" charset="0"/>
                <a:ea typeface="Arial" pitchFamily="34" charset="-122"/>
                <a:cs typeface="Arial" pitchFamily="34" charset="-120"/>
              </a:rPr>
              <a:t>captures of all five stops live in this frame. The tour survives a dead network.</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1786128"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SIGCOMPASS REVEAL</a:t>
            </a:r>
            <a:endParaRPr lang="en-US" sz="900" dirty="0"/>
          </a:p>
        </p:txBody>
      </p:sp>
      <p:sp>
        <p:nvSpPr>
          <p:cNvPr id="6" name="Shape 4"/>
          <p:cNvSpPr/>
          <p:nvPr/>
        </p:nvSpPr>
        <p:spPr>
          <a:xfrm rot="2700000">
            <a:off x="3898392" y="6003036"/>
            <a:ext cx="64008" cy="64008"/>
          </a:xfrm>
          <a:prstGeom prst="rect">
            <a:avLst/>
          </a:prstGeom>
          <a:solidFill>
            <a:srgbClr val="C9A227"/>
          </a:solidFill>
          <a:ln w="3175">
            <a:solidFill>
              <a:srgbClr val="C9A227"/>
            </a:solidFill>
            <a:prstDash val="solid"/>
          </a:ln>
        </p:spPr>
      </p:sp>
      <p:sp>
        <p:nvSpPr>
          <p:cNvPr id="7" name="Text 5"/>
          <p:cNvSpPr/>
          <p:nvPr/>
        </p:nvSpPr>
        <p:spPr>
          <a:xfrm>
            <a:off x="4081272" y="5943600"/>
            <a:ext cx="1200912"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AFA893"/>
                </a:solidFill>
                <a:latin typeface="Arial" pitchFamily="34" charset="0"/>
                <a:ea typeface="Arial" pitchFamily="34" charset="-122"/>
                <a:cs typeface="Arial" pitchFamily="34" charset="-120"/>
              </a:rPr>
              <a:t>18</a:t>
            </a:r>
            <a:endParaRPr lang="en-US" sz="900" dirty="0"/>
          </a:p>
        </p:txBody>
      </p:sp>
      <p:sp>
        <p:nvSpPr>
          <p:cNvPr id="9" name="Text 7"/>
          <p:cNvSpPr/>
          <p:nvPr/>
        </p:nvSpPr>
        <p:spPr>
          <a:xfrm>
            <a:off x="813816" y="502920"/>
            <a:ext cx="10570464" cy="256032"/>
          </a:xfrm>
          <a:prstGeom prst="rect">
            <a:avLst/>
          </a:prstGeom>
          <a:noFill/>
          <a:ln/>
        </p:spPr>
        <p:txBody>
          <a:bodyPr wrap="square" lIns="0" tIns="0" rIns="0" bIns="0" rtlCol="0" anchor="ctr"/>
          <a:lstStyle/>
          <a:p>
            <a:pPr indent="0" marL="0">
              <a:buNone/>
            </a:pPr>
            <a:r>
              <a:rPr lang="en-US" sz="1200" b="1" spc="220" kern="0" dirty="0">
                <a:solidFill>
                  <a:srgbClr val="E7C766"/>
                </a:solidFill>
                <a:latin typeface="Arial" pitchFamily="34" charset="0"/>
                <a:ea typeface="Arial" pitchFamily="34" charset="-122"/>
                <a:cs typeface="Arial" pitchFamily="34" charset="-120"/>
              </a:rPr>
              <a:t>THE DISCUSSION</a:t>
            </a:r>
            <a:endParaRPr lang="en-US" sz="1200" dirty="0"/>
          </a:p>
        </p:txBody>
      </p:sp>
      <p:sp>
        <p:nvSpPr>
          <p:cNvPr id="10" name="Text 8"/>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F7F3EA"/>
                </a:solidFill>
                <a:latin typeface="Georgia" pitchFamily="34" charset="0"/>
                <a:ea typeface="Georgia" pitchFamily="34" charset="-122"/>
                <a:cs typeface="Georgia" pitchFamily="34" charset="-120"/>
              </a:rPr>
              <a:t>If you had a magic wand.</a:t>
            </a:r>
            <a:endParaRPr lang="en-US" sz="4000" dirty="0"/>
          </a:p>
        </p:txBody>
      </p:sp>
      <p:sp>
        <p:nvSpPr>
          <p:cNvPr id="11" name="Shape 9"/>
          <p:cNvSpPr/>
          <p:nvPr/>
        </p:nvSpPr>
        <p:spPr>
          <a:xfrm>
            <a:off x="813816" y="1811731"/>
            <a:ext cx="5102352" cy="1298448"/>
          </a:xfrm>
          <a:prstGeom prst="rect">
            <a:avLst/>
          </a:prstGeom>
          <a:solidFill>
            <a:srgbClr val="2A3244"/>
          </a:solidFill>
          <a:ln/>
        </p:spPr>
      </p:sp>
      <p:sp>
        <p:nvSpPr>
          <p:cNvPr id="12" name="Text 10"/>
          <p:cNvSpPr/>
          <p:nvPr/>
        </p:nvSpPr>
        <p:spPr>
          <a:xfrm>
            <a:off x="1088136" y="2012899"/>
            <a:ext cx="457200" cy="457200"/>
          </a:xfrm>
          <a:prstGeom prst="rect">
            <a:avLst/>
          </a:prstGeom>
          <a:noFill/>
          <a:ln/>
        </p:spPr>
        <p:txBody>
          <a:bodyPr wrap="square" lIns="0" tIns="0" rIns="0" bIns="0" rtlCol="0" anchor="t"/>
          <a:lstStyle/>
          <a:p>
            <a:pPr indent="0" marL="0">
              <a:buNone/>
            </a:pPr>
            <a:r>
              <a:rPr lang="en-US" sz="3000" b="1" dirty="0">
                <a:solidFill>
                  <a:srgbClr val="E7C766"/>
                </a:solidFill>
                <a:latin typeface="Georgia" pitchFamily="34" charset="0"/>
                <a:ea typeface="Georgia" pitchFamily="34" charset="-122"/>
                <a:cs typeface="Georgia" pitchFamily="34" charset="-120"/>
              </a:rPr>
              <a:t>1</a:t>
            </a:r>
            <a:endParaRPr lang="en-US" sz="3000" dirty="0"/>
          </a:p>
        </p:txBody>
      </p:sp>
      <p:sp>
        <p:nvSpPr>
          <p:cNvPr id="13" name="Text 11"/>
          <p:cNvSpPr/>
          <p:nvPr/>
        </p:nvSpPr>
        <p:spPr>
          <a:xfrm>
            <a:off x="1581912" y="2086051"/>
            <a:ext cx="4059936" cy="571500"/>
          </a:xfrm>
          <a:prstGeom prst="rect">
            <a:avLst/>
          </a:prstGeom>
          <a:noFill/>
          <a:ln/>
        </p:spPr>
        <p:txBody>
          <a:bodyPr wrap="square" lIns="0" tIns="0" rIns="0" bIns="0" rtlCol="0" anchor="t"/>
          <a:lstStyle/>
          <a:p>
            <a:pPr indent="0" marL="0">
              <a:lnSpc>
                <a:spcPct val="116000"/>
              </a:lnSpc>
              <a:buNone/>
            </a:pPr>
            <a:r>
              <a:rPr lang="en-US" sz="1500" dirty="0">
                <a:solidFill>
                  <a:srgbClr val="F7F3EA"/>
                </a:solidFill>
                <a:latin typeface="Arial" pitchFamily="34" charset="0"/>
                <a:ea typeface="Arial" pitchFamily="34" charset="-122"/>
                <a:cs typeface="Arial" pitchFamily="34" charset="-120"/>
              </a:rPr>
              <a:t>What would it do for you, if it could do anything at all?</a:t>
            </a:r>
            <a:endParaRPr lang="en-US" sz="1500" dirty="0"/>
          </a:p>
        </p:txBody>
      </p:sp>
      <p:sp>
        <p:nvSpPr>
          <p:cNvPr id="14" name="Shape 12"/>
          <p:cNvSpPr/>
          <p:nvPr/>
        </p:nvSpPr>
        <p:spPr>
          <a:xfrm>
            <a:off x="6281928" y="1811731"/>
            <a:ext cx="5102352" cy="1298448"/>
          </a:xfrm>
          <a:prstGeom prst="rect">
            <a:avLst/>
          </a:prstGeom>
          <a:solidFill>
            <a:srgbClr val="2A3244"/>
          </a:solidFill>
          <a:ln/>
        </p:spPr>
      </p:sp>
      <p:sp>
        <p:nvSpPr>
          <p:cNvPr id="15" name="Text 13"/>
          <p:cNvSpPr/>
          <p:nvPr/>
        </p:nvSpPr>
        <p:spPr>
          <a:xfrm>
            <a:off x="6556248" y="2012899"/>
            <a:ext cx="457200" cy="457200"/>
          </a:xfrm>
          <a:prstGeom prst="rect">
            <a:avLst/>
          </a:prstGeom>
          <a:noFill/>
          <a:ln/>
        </p:spPr>
        <p:txBody>
          <a:bodyPr wrap="square" lIns="0" tIns="0" rIns="0" bIns="0" rtlCol="0" anchor="t"/>
          <a:lstStyle/>
          <a:p>
            <a:pPr indent="0" marL="0">
              <a:buNone/>
            </a:pPr>
            <a:r>
              <a:rPr lang="en-US" sz="3000" b="1" dirty="0">
                <a:solidFill>
                  <a:srgbClr val="E7C766"/>
                </a:solidFill>
                <a:latin typeface="Georgia" pitchFamily="34" charset="0"/>
                <a:ea typeface="Georgia" pitchFamily="34" charset="-122"/>
                <a:cs typeface="Georgia" pitchFamily="34" charset="-120"/>
              </a:rPr>
              <a:t>2</a:t>
            </a:r>
            <a:endParaRPr lang="en-US" sz="3000" dirty="0"/>
          </a:p>
        </p:txBody>
      </p:sp>
      <p:sp>
        <p:nvSpPr>
          <p:cNvPr id="16" name="Text 14"/>
          <p:cNvSpPr/>
          <p:nvPr/>
        </p:nvSpPr>
        <p:spPr>
          <a:xfrm>
            <a:off x="7050024" y="2086051"/>
            <a:ext cx="4059936" cy="571500"/>
          </a:xfrm>
          <a:prstGeom prst="rect">
            <a:avLst/>
          </a:prstGeom>
          <a:noFill/>
          <a:ln/>
        </p:spPr>
        <p:txBody>
          <a:bodyPr wrap="square" lIns="0" tIns="0" rIns="0" bIns="0" rtlCol="0" anchor="t"/>
          <a:lstStyle/>
          <a:p>
            <a:pPr indent="0" marL="0">
              <a:lnSpc>
                <a:spcPct val="116000"/>
              </a:lnSpc>
              <a:buNone/>
            </a:pPr>
            <a:r>
              <a:rPr lang="en-US" sz="1500" dirty="0">
                <a:solidFill>
                  <a:srgbClr val="F7F3EA"/>
                </a:solidFill>
                <a:latin typeface="Arial" pitchFamily="34" charset="0"/>
                <a:ea typeface="Arial" pitchFamily="34" charset="-122"/>
                <a:cs typeface="Arial" pitchFamily="34" charset="-120"/>
              </a:rPr>
              <a:t>Where does it fit in the rhythm of how you run your week?</a:t>
            </a:r>
            <a:endParaRPr lang="en-US" sz="1500" dirty="0"/>
          </a:p>
        </p:txBody>
      </p:sp>
      <p:sp>
        <p:nvSpPr>
          <p:cNvPr id="17" name="Shape 15"/>
          <p:cNvSpPr/>
          <p:nvPr/>
        </p:nvSpPr>
        <p:spPr>
          <a:xfrm>
            <a:off x="813816" y="3384499"/>
            <a:ext cx="5102352" cy="1298448"/>
          </a:xfrm>
          <a:prstGeom prst="rect">
            <a:avLst/>
          </a:prstGeom>
          <a:solidFill>
            <a:srgbClr val="2A3244"/>
          </a:solidFill>
          <a:ln/>
        </p:spPr>
      </p:sp>
      <p:sp>
        <p:nvSpPr>
          <p:cNvPr id="18" name="Text 16"/>
          <p:cNvSpPr/>
          <p:nvPr/>
        </p:nvSpPr>
        <p:spPr>
          <a:xfrm>
            <a:off x="1088136" y="3585667"/>
            <a:ext cx="457200" cy="457200"/>
          </a:xfrm>
          <a:prstGeom prst="rect">
            <a:avLst/>
          </a:prstGeom>
          <a:noFill/>
          <a:ln/>
        </p:spPr>
        <p:txBody>
          <a:bodyPr wrap="square" lIns="0" tIns="0" rIns="0" bIns="0" rtlCol="0" anchor="t"/>
          <a:lstStyle/>
          <a:p>
            <a:pPr indent="0" marL="0">
              <a:buNone/>
            </a:pPr>
            <a:r>
              <a:rPr lang="en-US" sz="3000" b="1" dirty="0">
                <a:solidFill>
                  <a:srgbClr val="E7C766"/>
                </a:solidFill>
                <a:latin typeface="Georgia" pitchFamily="34" charset="0"/>
                <a:ea typeface="Georgia" pitchFamily="34" charset="-122"/>
                <a:cs typeface="Georgia" pitchFamily="34" charset="-120"/>
              </a:rPr>
              <a:t>3</a:t>
            </a:r>
            <a:endParaRPr lang="en-US" sz="3000" dirty="0"/>
          </a:p>
        </p:txBody>
      </p:sp>
      <p:sp>
        <p:nvSpPr>
          <p:cNvPr id="19" name="Text 17"/>
          <p:cNvSpPr/>
          <p:nvPr/>
        </p:nvSpPr>
        <p:spPr>
          <a:xfrm>
            <a:off x="1581912" y="3658819"/>
            <a:ext cx="4059936" cy="571500"/>
          </a:xfrm>
          <a:prstGeom prst="rect">
            <a:avLst/>
          </a:prstGeom>
          <a:noFill/>
          <a:ln/>
        </p:spPr>
        <p:txBody>
          <a:bodyPr wrap="square" lIns="0" tIns="0" rIns="0" bIns="0" rtlCol="0" anchor="t"/>
          <a:lstStyle/>
          <a:p>
            <a:pPr indent="0" marL="0">
              <a:lnSpc>
                <a:spcPct val="116000"/>
              </a:lnSpc>
              <a:buNone/>
            </a:pPr>
            <a:r>
              <a:rPr lang="en-US" sz="1500" dirty="0">
                <a:solidFill>
                  <a:srgbClr val="F7F3EA"/>
                </a:solidFill>
                <a:latin typeface="Arial" pitchFamily="34" charset="0"/>
                <a:ea typeface="Arial" pitchFamily="34" charset="-122"/>
                <a:cs typeface="Arial" pitchFamily="34" charset="-120"/>
              </a:rPr>
              <a:t>What information would you want in front of you, and how often?</a:t>
            </a:r>
            <a:endParaRPr lang="en-US" sz="1500" dirty="0"/>
          </a:p>
        </p:txBody>
      </p:sp>
      <p:sp>
        <p:nvSpPr>
          <p:cNvPr id="20" name="Shape 18"/>
          <p:cNvSpPr/>
          <p:nvPr/>
        </p:nvSpPr>
        <p:spPr>
          <a:xfrm>
            <a:off x="6281928" y="3384499"/>
            <a:ext cx="5102352" cy="1298448"/>
          </a:xfrm>
          <a:prstGeom prst="rect">
            <a:avLst/>
          </a:prstGeom>
          <a:solidFill>
            <a:srgbClr val="2A3244"/>
          </a:solidFill>
          <a:ln/>
        </p:spPr>
      </p:sp>
      <p:sp>
        <p:nvSpPr>
          <p:cNvPr id="21" name="Text 19"/>
          <p:cNvSpPr/>
          <p:nvPr/>
        </p:nvSpPr>
        <p:spPr>
          <a:xfrm>
            <a:off x="6556248" y="3585667"/>
            <a:ext cx="457200" cy="457200"/>
          </a:xfrm>
          <a:prstGeom prst="rect">
            <a:avLst/>
          </a:prstGeom>
          <a:noFill/>
          <a:ln/>
        </p:spPr>
        <p:txBody>
          <a:bodyPr wrap="square" lIns="0" tIns="0" rIns="0" bIns="0" rtlCol="0" anchor="t"/>
          <a:lstStyle/>
          <a:p>
            <a:pPr indent="0" marL="0">
              <a:buNone/>
            </a:pPr>
            <a:r>
              <a:rPr lang="en-US" sz="3000" b="1" dirty="0">
                <a:solidFill>
                  <a:srgbClr val="E7C766"/>
                </a:solidFill>
                <a:latin typeface="Georgia" pitchFamily="34" charset="0"/>
                <a:ea typeface="Georgia" pitchFamily="34" charset="-122"/>
                <a:cs typeface="Georgia" pitchFamily="34" charset="-120"/>
              </a:rPr>
              <a:t>4</a:t>
            </a:r>
            <a:endParaRPr lang="en-US" sz="3000" dirty="0"/>
          </a:p>
        </p:txBody>
      </p:sp>
      <p:sp>
        <p:nvSpPr>
          <p:cNvPr id="22" name="Text 20"/>
          <p:cNvSpPr/>
          <p:nvPr/>
        </p:nvSpPr>
        <p:spPr>
          <a:xfrm>
            <a:off x="7050024" y="3658819"/>
            <a:ext cx="4059936" cy="811530"/>
          </a:xfrm>
          <a:prstGeom prst="rect">
            <a:avLst/>
          </a:prstGeom>
          <a:noFill/>
          <a:ln/>
        </p:spPr>
        <p:txBody>
          <a:bodyPr wrap="square" lIns="0" tIns="0" rIns="0" bIns="0" rtlCol="0" anchor="t"/>
          <a:lstStyle/>
          <a:p>
            <a:pPr indent="0" marL="0">
              <a:lnSpc>
                <a:spcPct val="116000"/>
              </a:lnSpc>
              <a:buNone/>
            </a:pPr>
            <a:r>
              <a:rPr lang="en-US" sz="1500" dirty="0">
                <a:solidFill>
                  <a:srgbClr val="F7F3EA"/>
                </a:solidFill>
                <a:latin typeface="Arial" pitchFamily="34" charset="0"/>
                <a:ea typeface="Arial" pitchFamily="34" charset="-122"/>
                <a:cs typeface="Arial" pitchFamily="34" charset="-120"/>
              </a:rPr>
              <a:t>Where should it show up: a screen you open, a number in a meeting, a message that finds you?</a:t>
            </a:r>
            <a:endParaRPr lang="en-US" sz="1500" dirty="0"/>
          </a:p>
        </p:txBody>
      </p:sp>
      <p:sp>
        <p:nvSpPr>
          <p:cNvPr id="23" name="Text 21"/>
          <p:cNvSpPr/>
          <p:nvPr/>
        </p:nvSpPr>
        <p:spPr>
          <a:xfrm>
            <a:off x="813816" y="5358384"/>
            <a:ext cx="10570464" cy="299466"/>
          </a:xfrm>
          <a:prstGeom prst="rect">
            <a:avLst/>
          </a:prstGeom>
          <a:noFill/>
          <a:ln/>
        </p:spPr>
        <p:txBody>
          <a:bodyPr wrap="square" lIns="0" tIns="0" rIns="0" bIns="0" rtlCol="0" anchor="t"/>
          <a:lstStyle/>
          <a:p>
            <a:pPr algn="l" indent="0" marL="0">
              <a:lnSpc>
                <a:spcPct val="116000"/>
              </a:lnSpc>
              <a:buNone/>
            </a:pPr>
            <a:r>
              <a:rPr lang="en-US" sz="1300" b="1" dirty="0">
                <a:solidFill>
                  <a:srgbClr val="E7C766"/>
                </a:solidFill>
                <a:latin typeface="Arial" pitchFamily="34" charset="0"/>
                <a:ea typeface="Arial" pitchFamily="34" charset="-122"/>
                <a:cs typeface="Arial" pitchFamily="34" charset="-120"/>
              </a:rPr>
              <a:t>Capture every answer. This is the roadmap.</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1786128"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SIGCOMPASS REVEAL</a:t>
            </a:r>
            <a:endParaRPr lang="en-US" sz="900" dirty="0"/>
          </a:p>
        </p:txBody>
      </p:sp>
      <p:sp>
        <p:nvSpPr>
          <p:cNvPr id="6" name="Shape 4"/>
          <p:cNvSpPr/>
          <p:nvPr/>
        </p:nvSpPr>
        <p:spPr>
          <a:xfrm rot="2700000">
            <a:off x="3898392" y="6003036"/>
            <a:ext cx="64008" cy="64008"/>
          </a:xfrm>
          <a:prstGeom prst="rect">
            <a:avLst/>
          </a:prstGeom>
          <a:solidFill>
            <a:srgbClr val="C9A227"/>
          </a:solidFill>
          <a:ln w="3175">
            <a:solidFill>
              <a:srgbClr val="C9A227"/>
            </a:solidFill>
            <a:prstDash val="solid"/>
          </a:ln>
        </p:spPr>
      </p:sp>
      <p:sp>
        <p:nvSpPr>
          <p:cNvPr id="7" name="Text 5"/>
          <p:cNvSpPr/>
          <p:nvPr/>
        </p:nvSpPr>
        <p:spPr>
          <a:xfrm>
            <a:off x="4081272" y="5943600"/>
            <a:ext cx="1200912"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5A6379"/>
                </a:solidFill>
                <a:latin typeface="Arial" pitchFamily="34" charset="0"/>
                <a:ea typeface="Arial" pitchFamily="34" charset="-122"/>
                <a:cs typeface="Arial" pitchFamily="34" charset="-120"/>
              </a:rPr>
              <a:t>19</a:t>
            </a:r>
            <a:endParaRPr lang="en-US" sz="900" dirty="0"/>
          </a:p>
        </p:txBody>
      </p:sp>
      <p:sp>
        <p:nvSpPr>
          <p:cNvPr id="9" name="Text 7"/>
          <p:cNvSpPr/>
          <p:nvPr/>
        </p:nvSpPr>
        <p:spPr>
          <a:xfrm>
            <a:off x="813816" y="502920"/>
            <a:ext cx="10570464" cy="256032"/>
          </a:xfrm>
          <a:prstGeom prst="rect">
            <a:avLst/>
          </a:prstGeom>
          <a:noFill/>
          <a:ln/>
        </p:spPr>
        <p:txBody>
          <a:bodyPr wrap="square" lIns="0" tIns="0" rIns="0" bIns="0" rtlCol="0" anchor="ctr"/>
          <a:lstStyle/>
          <a:p>
            <a:pPr indent="0" marL="0">
              <a:buNone/>
            </a:pPr>
            <a:r>
              <a:rPr lang="en-US" sz="1200" b="1" spc="220" kern="0" dirty="0">
                <a:solidFill>
                  <a:srgbClr val="8A6D14"/>
                </a:solidFill>
                <a:latin typeface="Arial" pitchFamily="34" charset="0"/>
                <a:ea typeface="Arial" pitchFamily="34" charset="-122"/>
                <a:cs typeface="Arial" pitchFamily="34" charset="-120"/>
              </a:rPr>
              <a:t>WHERE THIS LEAVES US</a:t>
            </a:r>
            <a:endParaRPr lang="en-US" sz="1200" dirty="0"/>
          </a:p>
        </p:txBody>
      </p:sp>
      <p:sp>
        <p:nvSpPr>
          <p:cNvPr id="10" name="Text 8"/>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Now we make it turn.</a:t>
            </a:r>
            <a:endParaRPr lang="en-US" sz="4000" dirty="0"/>
          </a:p>
        </p:txBody>
      </p:sp>
      <p:sp>
        <p:nvSpPr>
          <p:cNvPr id="11" name="Shape 9"/>
          <p:cNvSpPr/>
          <p:nvPr/>
        </p:nvSpPr>
        <p:spPr>
          <a:xfrm>
            <a:off x="2451202" y="2433523"/>
            <a:ext cx="2010461" cy="2010461"/>
          </a:xfrm>
          <a:prstGeom prst="ellipse">
            <a:avLst/>
          </a:prstGeom>
          <a:ln w="12700">
            <a:solidFill>
              <a:srgbClr val="C9A227"/>
            </a:solidFill>
            <a:prstDash val="solid"/>
          </a:ln>
        </p:spPr>
      </p:sp>
      <p:sp>
        <p:nvSpPr>
          <p:cNvPr id="12" name="Shape 10"/>
          <p:cNvSpPr/>
          <p:nvPr/>
        </p:nvSpPr>
        <p:spPr>
          <a:xfrm rot="2700000">
            <a:off x="4107801" y="2668512"/>
            <a:ext cx="118872" cy="118872"/>
          </a:xfrm>
          <a:prstGeom prst="triangle">
            <a:avLst/>
          </a:prstGeom>
          <a:solidFill>
            <a:srgbClr val="C9A227"/>
          </a:solidFill>
          <a:ln/>
        </p:spPr>
      </p:sp>
      <p:sp>
        <p:nvSpPr>
          <p:cNvPr id="13" name="Shape 11"/>
          <p:cNvSpPr/>
          <p:nvPr/>
        </p:nvSpPr>
        <p:spPr>
          <a:xfrm rot="8100000">
            <a:off x="4107801" y="4090123"/>
            <a:ext cx="118872" cy="118872"/>
          </a:xfrm>
          <a:prstGeom prst="triangle">
            <a:avLst/>
          </a:prstGeom>
          <a:solidFill>
            <a:srgbClr val="C9A227"/>
          </a:solidFill>
          <a:ln/>
        </p:spPr>
      </p:sp>
      <p:sp>
        <p:nvSpPr>
          <p:cNvPr id="14" name="Shape 12"/>
          <p:cNvSpPr/>
          <p:nvPr/>
        </p:nvSpPr>
        <p:spPr>
          <a:xfrm rot="13500000">
            <a:off x="2686191" y="4090123"/>
            <a:ext cx="118872" cy="118872"/>
          </a:xfrm>
          <a:prstGeom prst="triangle">
            <a:avLst/>
          </a:prstGeom>
          <a:solidFill>
            <a:srgbClr val="C9A227"/>
          </a:solidFill>
          <a:ln/>
        </p:spPr>
      </p:sp>
      <p:sp>
        <p:nvSpPr>
          <p:cNvPr id="15" name="Shape 13"/>
          <p:cNvSpPr/>
          <p:nvPr/>
        </p:nvSpPr>
        <p:spPr>
          <a:xfrm rot="18900000">
            <a:off x="2686191" y="2668512"/>
            <a:ext cx="118872" cy="118872"/>
          </a:xfrm>
          <a:prstGeom prst="triangle">
            <a:avLst/>
          </a:prstGeom>
          <a:solidFill>
            <a:srgbClr val="C9A227"/>
          </a:solidFill>
          <a:ln/>
        </p:spPr>
      </p:sp>
      <p:sp>
        <p:nvSpPr>
          <p:cNvPr id="16" name="Shape 14"/>
          <p:cNvSpPr/>
          <p:nvPr/>
        </p:nvSpPr>
        <p:spPr>
          <a:xfrm>
            <a:off x="2873398" y="2855720"/>
            <a:ext cx="1166067" cy="1166067"/>
          </a:xfrm>
          <a:prstGeom prst="ellipse">
            <a:avLst/>
          </a:prstGeom>
          <a:solidFill>
            <a:srgbClr val="1E808F"/>
          </a:solidFill>
          <a:ln/>
        </p:spPr>
      </p:sp>
      <p:sp>
        <p:nvSpPr>
          <p:cNvPr id="17" name="Text 15"/>
          <p:cNvSpPr/>
          <p:nvPr/>
        </p:nvSpPr>
        <p:spPr>
          <a:xfrm>
            <a:off x="2919118" y="3240634"/>
            <a:ext cx="1074627" cy="396240"/>
          </a:xfrm>
          <a:prstGeom prst="rect">
            <a:avLst/>
          </a:prstGeom>
          <a:noFill/>
          <a:ln/>
        </p:spPr>
        <p:txBody>
          <a:bodyPr wrap="square" lIns="0" tIns="0" rIns="0" bIns="0" rtlCol="0" anchor="ctr"/>
          <a:lstStyle/>
          <a:p>
            <a:pPr algn="ctr" indent="0" marL="0">
              <a:lnSpc>
                <a:spcPct val="102000"/>
              </a:lnSpc>
              <a:buNone/>
            </a:pPr>
            <a:r>
              <a:rPr lang="en-US" sz="1200" b="1" dirty="0">
                <a:solidFill>
                  <a:srgbClr val="FFFFFF"/>
                </a:solidFill>
                <a:latin typeface="Georgia" pitchFamily="34" charset="0"/>
                <a:ea typeface="Georgia" pitchFamily="34" charset="-122"/>
                <a:cs typeface="Georgia" pitchFamily="34" charset="-120"/>
              </a:rPr>
              <a:t>REVENUE</a:t>
            </a:r>
            <a:endParaRPr lang="en-US" sz="1200" dirty="0"/>
          </a:p>
          <a:p>
            <a:pPr algn="ctr" indent="0" marL="0">
              <a:lnSpc>
                <a:spcPct val="102000"/>
              </a:lnSpc>
              <a:buNone/>
            </a:pPr>
            <a:r>
              <a:rPr lang="en-US" sz="1200" b="1" dirty="0">
                <a:solidFill>
                  <a:srgbClr val="FFFFFF"/>
                </a:solidFill>
                <a:latin typeface="Georgia" pitchFamily="34" charset="0"/>
                <a:ea typeface="Georgia" pitchFamily="34" charset="-122"/>
                <a:cs typeface="Georgia" pitchFamily="34" charset="-120"/>
              </a:rPr>
              <a:t>GROWTH</a:t>
            </a:r>
            <a:endParaRPr lang="en-US" sz="1200" dirty="0"/>
          </a:p>
        </p:txBody>
      </p:sp>
      <p:sp>
        <p:nvSpPr>
          <p:cNvPr id="18" name="Shape 16"/>
          <p:cNvSpPr/>
          <p:nvPr/>
        </p:nvSpPr>
        <p:spPr>
          <a:xfrm>
            <a:off x="3255264" y="2232355"/>
            <a:ext cx="402336" cy="402336"/>
          </a:xfrm>
          <a:prstGeom prst="ellipse">
            <a:avLst/>
          </a:prstGeom>
          <a:solidFill>
            <a:srgbClr val="F7F3EA"/>
          </a:solidFill>
          <a:ln w="12700">
            <a:solidFill>
              <a:srgbClr val="C9A227"/>
            </a:solidFill>
            <a:prstDash val="solid"/>
          </a:ln>
        </p:spPr>
      </p:sp>
      <p:sp>
        <p:nvSpPr>
          <p:cNvPr id="19" name="Text 17"/>
          <p:cNvSpPr/>
          <p:nvPr/>
        </p:nvSpPr>
        <p:spPr>
          <a:xfrm>
            <a:off x="3255264" y="2232355"/>
            <a:ext cx="402336" cy="402336"/>
          </a:xfrm>
          <a:prstGeom prst="rect">
            <a:avLst/>
          </a:prstGeom>
          <a:noFill/>
          <a:ln/>
        </p:spPr>
        <p:txBody>
          <a:bodyPr wrap="square" lIns="0" tIns="0" rIns="0" bIns="0" rtlCol="0" anchor="ctr"/>
          <a:lstStyle/>
          <a:p>
            <a:pPr algn="ctr" indent="0" marL="0">
              <a:buNone/>
            </a:pPr>
            <a:r>
              <a:rPr lang="en-US" sz="1200" b="1" dirty="0">
                <a:solidFill>
                  <a:srgbClr val="8A6D14"/>
                </a:solidFill>
                <a:latin typeface="Georgia" pitchFamily="34" charset="0"/>
                <a:ea typeface="Georgia" pitchFamily="34" charset="-122"/>
                <a:cs typeface="Georgia" pitchFamily="34" charset="-120"/>
              </a:rPr>
              <a:t>01</a:t>
            </a:r>
            <a:endParaRPr lang="en-US" sz="1200" dirty="0"/>
          </a:p>
        </p:txBody>
      </p:sp>
      <p:sp>
        <p:nvSpPr>
          <p:cNvPr id="20" name="Text 18"/>
          <p:cNvSpPr/>
          <p:nvPr/>
        </p:nvSpPr>
        <p:spPr>
          <a:xfrm>
            <a:off x="2670048" y="1907743"/>
            <a:ext cx="1572768" cy="251460"/>
          </a:xfrm>
          <a:prstGeom prst="rect">
            <a:avLst/>
          </a:prstGeom>
          <a:noFill/>
          <a:ln/>
        </p:spPr>
        <p:txBody>
          <a:bodyPr wrap="square" lIns="0" tIns="0" rIns="0" bIns="0" rtlCol="0" anchor="ctr"/>
          <a:lstStyle/>
          <a:p>
            <a:pPr algn="ctr" indent="0" marL="0">
              <a:buNone/>
            </a:pPr>
            <a:r>
              <a:rPr lang="en-US" sz="1000" b="1" spc="120" kern="0" dirty="0">
                <a:solidFill>
                  <a:srgbClr val="8A6D14"/>
                </a:solidFill>
                <a:latin typeface="Arial" pitchFamily="34" charset="0"/>
                <a:ea typeface="Arial" pitchFamily="34" charset="-122"/>
                <a:cs typeface="Arial" pitchFamily="34" charset="-120"/>
              </a:rPr>
              <a:t>MORE BOOKINGS</a:t>
            </a:r>
            <a:endParaRPr lang="en-US" sz="1000" dirty="0"/>
          </a:p>
        </p:txBody>
      </p:sp>
      <p:sp>
        <p:nvSpPr>
          <p:cNvPr id="21" name="Shape 19"/>
          <p:cNvSpPr/>
          <p:nvPr/>
        </p:nvSpPr>
        <p:spPr>
          <a:xfrm>
            <a:off x="4260494" y="3237586"/>
            <a:ext cx="402336" cy="402336"/>
          </a:xfrm>
          <a:prstGeom prst="ellipse">
            <a:avLst/>
          </a:prstGeom>
          <a:solidFill>
            <a:srgbClr val="F7F3EA"/>
          </a:solidFill>
          <a:ln w="12700">
            <a:solidFill>
              <a:srgbClr val="C9A227"/>
            </a:solidFill>
            <a:prstDash val="solid"/>
          </a:ln>
        </p:spPr>
      </p:sp>
      <p:sp>
        <p:nvSpPr>
          <p:cNvPr id="22" name="Text 20"/>
          <p:cNvSpPr/>
          <p:nvPr/>
        </p:nvSpPr>
        <p:spPr>
          <a:xfrm>
            <a:off x="4260494" y="3237586"/>
            <a:ext cx="402336" cy="402336"/>
          </a:xfrm>
          <a:prstGeom prst="rect">
            <a:avLst/>
          </a:prstGeom>
          <a:noFill/>
          <a:ln/>
        </p:spPr>
        <p:txBody>
          <a:bodyPr wrap="square" lIns="0" tIns="0" rIns="0" bIns="0" rtlCol="0" anchor="ctr"/>
          <a:lstStyle/>
          <a:p>
            <a:pPr algn="ctr" indent="0" marL="0">
              <a:buNone/>
            </a:pPr>
            <a:r>
              <a:rPr lang="en-US" sz="1200" b="1" dirty="0">
                <a:solidFill>
                  <a:srgbClr val="8A6D14"/>
                </a:solidFill>
                <a:latin typeface="Georgia" pitchFamily="34" charset="0"/>
                <a:ea typeface="Georgia" pitchFamily="34" charset="-122"/>
                <a:cs typeface="Georgia" pitchFamily="34" charset="-120"/>
              </a:rPr>
              <a:t>02</a:t>
            </a:r>
            <a:endParaRPr lang="en-US" sz="1200" dirty="0"/>
          </a:p>
        </p:txBody>
      </p:sp>
      <p:sp>
        <p:nvSpPr>
          <p:cNvPr id="23" name="Text 21"/>
          <p:cNvSpPr/>
          <p:nvPr/>
        </p:nvSpPr>
        <p:spPr>
          <a:xfrm>
            <a:off x="4790846" y="3313024"/>
            <a:ext cx="1069848" cy="251460"/>
          </a:xfrm>
          <a:prstGeom prst="rect">
            <a:avLst/>
          </a:prstGeom>
          <a:noFill/>
          <a:ln/>
        </p:spPr>
        <p:txBody>
          <a:bodyPr wrap="square" lIns="0" tIns="0" rIns="0" bIns="0" rtlCol="0" anchor="ctr"/>
          <a:lstStyle/>
          <a:p>
            <a:pPr algn="l" indent="0" marL="0">
              <a:buNone/>
            </a:pPr>
            <a:r>
              <a:rPr lang="en-US" sz="1000" b="1" spc="120" kern="0" dirty="0">
                <a:solidFill>
                  <a:srgbClr val="8A6D14"/>
                </a:solidFill>
                <a:latin typeface="Arial" pitchFamily="34" charset="0"/>
                <a:ea typeface="Arial" pitchFamily="34" charset="-122"/>
                <a:cs typeface="Arial" pitchFamily="34" charset="-120"/>
              </a:rPr>
              <a:t>MORE DATA</a:t>
            </a:r>
            <a:endParaRPr lang="en-US" sz="1000" dirty="0"/>
          </a:p>
        </p:txBody>
      </p:sp>
      <p:sp>
        <p:nvSpPr>
          <p:cNvPr id="24" name="Shape 22"/>
          <p:cNvSpPr/>
          <p:nvPr/>
        </p:nvSpPr>
        <p:spPr>
          <a:xfrm>
            <a:off x="3255264" y="4242816"/>
            <a:ext cx="402336" cy="402336"/>
          </a:xfrm>
          <a:prstGeom prst="ellipse">
            <a:avLst/>
          </a:prstGeom>
          <a:solidFill>
            <a:srgbClr val="F7F3EA"/>
          </a:solidFill>
          <a:ln w="12700">
            <a:solidFill>
              <a:srgbClr val="C9A227"/>
            </a:solidFill>
            <a:prstDash val="solid"/>
          </a:ln>
        </p:spPr>
      </p:sp>
      <p:sp>
        <p:nvSpPr>
          <p:cNvPr id="25" name="Text 23"/>
          <p:cNvSpPr/>
          <p:nvPr/>
        </p:nvSpPr>
        <p:spPr>
          <a:xfrm>
            <a:off x="3255264" y="4242816"/>
            <a:ext cx="402336" cy="402336"/>
          </a:xfrm>
          <a:prstGeom prst="rect">
            <a:avLst/>
          </a:prstGeom>
          <a:noFill/>
          <a:ln/>
        </p:spPr>
        <p:txBody>
          <a:bodyPr wrap="square" lIns="0" tIns="0" rIns="0" bIns="0" rtlCol="0" anchor="ctr"/>
          <a:lstStyle/>
          <a:p>
            <a:pPr algn="ctr" indent="0" marL="0">
              <a:buNone/>
            </a:pPr>
            <a:r>
              <a:rPr lang="en-US" sz="1200" b="1" dirty="0">
                <a:solidFill>
                  <a:srgbClr val="8A6D14"/>
                </a:solidFill>
                <a:latin typeface="Georgia" pitchFamily="34" charset="0"/>
                <a:ea typeface="Georgia" pitchFamily="34" charset="-122"/>
                <a:cs typeface="Georgia" pitchFamily="34" charset="-120"/>
              </a:rPr>
              <a:t>03</a:t>
            </a:r>
            <a:endParaRPr lang="en-US" sz="1200" dirty="0"/>
          </a:p>
        </p:txBody>
      </p:sp>
      <p:sp>
        <p:nvSpPr>
          <p:cNvPr id="26" name="Text 24"/>
          <p:cNvSpPr/>
          <p:nvPr/>
        </p:nvSpPr>
        <p:spPr>
          <a:xfrm>
            <a:off x="2388108" y="4718304"/>
            <a:ext cx="2136648" cy="251460"/>
          </a:xfrm>
          <a:prstGeom prst="rect">
            <a:avLst/>
          </a:prstGeom>
          <a:noFill/>
          <a:ln/>
        </p:spPr>
        <p:txBody>
          <a:bodyPr wrap="square" lIns="0" tIns="0" rIns="0" bIns="0" rtlCol="0" anchor="ctr"/>
          <a:lstStyle/>
          <a:p>
            <a:pPr algn="ctr" indent="0" marL="0">
              <a:buNone/>
            </a:pPr>
            <a:r>
              <a:rPr lang="en-US" sz="1000" b="1" spc="120" kern="0" dirty="0">
                <a:solidFill>
                  <a:srgbClr val="8A6D14"/>
                </a:solidFill>
                <a:latin typeface="Arial" pitchFamily="34" charset="0"/>
                <a:ea typeface="Arial" pitchFamily="34" charset="-122"/>
                <a:cs typeface="Arial" pitchFamily="34" charset="-120"/>
              </a:rPr>
              <a:t>MORE PERSONAL TRIPS</a:t>
            </a:r>
            <a:endParaRPr lang="en-US" sz="1000" dirty="0"/>
          </a:p>
        </p:txBody>
      </p:sp>
      <p:sp>
        <p:nvSpPr>
          <p:cNvPr id="27" name="Shape 25"/>
          <p:cNvSpPr/>
          <p:nvPr/>
        </p:nvSpPr>
        <p:spPr>
          <a:xfrm>
            <a:off x="2250034" y="3237586"/>
            <a:ext cx="402336" cy="402336"/>
          </a:xfrm>
          <a:prstGeom prst="ellipse">
            <a:avLst/>
          </a:prstGeom>
          <a:solidFill>
            <a:srgbClr val="F7F3EA"/>
          </a:solidFill>
          <a:ln w="12700">
            <a:solidFill>
              <a:srgbClr val="C9A227"/>
            </a:solidFill>
            <a:prstDash val="solid"/>
          </a:ln>
        </p:spPr>
      </p:sp>
      <p:sp>
        <p:nvSpPr>
          <p:cNvPr id="28" name="Text 26"/>
          <p:cNvSpPr/>
          <p:nvPr/>
        </p:nvSpPr>
        <p:spPr>
          <a:xfrm>
            <a:off x="2250034" y="3237586"/>
            <a:ext cx="402336" cy="402336"/>
          </a:xfrm>
          <a:prstGeom prst="rect">
            <a:avLst/>
          </a:prstGeom>
          <a:noFill/>
          <a:ln/>
        </p:spPr>
        <p:txBody>
          <a:bodyPr wrap="square" lIns="0" tIns="0" rIns="0" bIns="0" rtlCol="0" anchor="ctr"/>
          <a:lstStyle/>
          <a:p>
            <a:pPr algn="ctr" indent="0" marL="0">
              <a:buNone/>
            </a:pPr>
            <a:r>
              <a:rPr lang="en-US" sz="1200" b="1" dirty="0">
                <a:solidFill>
                  <a:srgbClr val="8A6D14"/>
                </a:solidFill>
                <a:latin typeface="Georgia" pitchFamily="34" charset="0"/>
                <a:ea typeface="Georgia" pitchFamily="34" charset="-122"/>
                <a:cs typeface="Georgia" pitchFamily="34" charset="-120"/>
              </a:rPr>
              <a:t>04</a:t>
            </a:r>
            <a:endParaRPr lang="en-US" sz="1200" dirty="0"/>
          </a:p>
        </p:txBody>
      </p:sp>
      <p:sp>
        <p:nvSpPr>
          <p:cNvPr id="29" name="Text 27"/>
          <p:cNvSpPr/>
          <p:nvPr/>
        </p:nvSpPr>
        <p:spPr>
          <a:xfrm>
            <a:off x="625450" y="3313024"/>
            <a:ext cx="1496568" cy="251460"/>
          </a:xfrm>
          <a:prstGeom prst="rect">
            <a:avLst/>
          </a:prstGeom>
          <a:noFill/>
          <a:ln/>
        </p:spPr>
        <p:txBody>
          <a:bodyPr wrap="square" lIns="0" tIns="0" rIns="0" bIns="0" rtlCol="0" anchor="ctr"/>
          <a:lstStyle/>
          <a:p>
            <a:pPr algn="r" indent="0" marL="0">
              <a:buNone/>
            </a:pPr>
            <a:r>
              <a:rPr lang="en-US" sz="1000" b="1" spc="120" kern="0" dirty="0">
                <a:solidFill>
                  <a:srgbClr val="8A6D14"/>
                </a:solidFill>
                <a:latin typeface="Arial" pitchFamily="34" charset="0"/>
                <a:ea typeface="Arial" pitchFamily="34" charset="-122"/>
                <a:cs typeface="Arial" pitchFamily="34" charset="-120"/>
              </a:rPr>
              <a:t>MORE BOOKINGS</a:t>
            </a:r>
            <a:endParaRPr lang="en-US" sz="1000" dirty="0"/>
          </a:p>
        </p:txBody>
      </p:sp>
      <p:sp>
        <p:nvSpPr>
          <p:cNvPr id="30" name="Shape 28"/>
          <p:cNvSpPr/>
          <p:nvPr/>
        </p:nvSpPr>
        <p:spPr>
          <a:xfrm>
            <a:off x="6629400" y="1702003"/>
            <a:ext cx="4754880" cy="3122676"/>
          </a:xfrm>
          <a:prstGeom prst="rect">
            <a:avLst/>
          </a:prstGeom>
          <a:solidFill>
            <a:srgbClr val="E8E2D2"/>
          </a:solidFill>
          <a:ln/>
        </p:spPr>
      </p:sp>
      <p:sp>
        <p:nvSpPr>
          <p:cNvPr id="31" name="Text 29"/>
          <p:cNvSpPr/>
          <p:nvPr/>
        </p:nvSpPr>
        <p:spPr>
          <a:xfrm>
            <a:off x="6903720" y="1976323"/>
            <a:ext cx="4206240" cy="315468"/>
          </a:xfrm>
          <a:prstGeom prst="rect">
            <a:avLst/>
          </a:prstGeom>
          <a:noFill/>
          <a:ln/>
        </p:spPr>
        <p:txBody>
          <a:bodyPr wrap="square" lIns="0" tIns="0" rIns="0" bIns="0" rtlCol="0" anchor="t"/>
          <a:lstStyle/>
          <a:p>
            <a:pPr indent="0" marL="0">
              <a:buNone/>
            </a:pPr>
            <a:r>
              <a:rPr lang="en-US" sz="1400" b="1" spc="160" kern="0" dirty="0">
                <a:solidFill>
                  <a:srgbClr val="15616D"/>
                </a:solidFill>
                <a:latin typeface="Arial" pitchFamily="34" charset="0"/>
                <a:ea typeface="Arial" pitchFamily="34" charset="-122"/>
                <a:cs typeface="Arial" pitchFamily="34" charset="-120"/>
              </a:rPr>
              <a:t>WHAT MAKES IT TURN</a:t>
            </a:r>
            <a:endParaRPr lang="en-US" sz="1400" dirty="0"/>
          </a:p>
        </p:txBody>
      </p:sp>
      <p:sp>
        <p:nvSpPr>
          <p:cNvPr id="32" name="Shape 30"/>
          <p:cNvSpPr/>
          <p:nvPr/>
        </p:nvSpPr>
        <p:spPr>
          <a:xfrm rot="2700000">
            <a:off x="6903720" y="2479243"/>
            <a:ext cx="100584" cy="100584"/>
          </a:xfrm>
          <a:prstGeom prst="rect">
            <a:avLst/>
          </a:prstGeom>
          <a:solidFill>
            <a:srgbClr val="1E808F"/>
          </a:solidFill>
          <a:ln w="3175">
            <a:solidFill>
              <a:srgbClr val="1E808F"/>
            </a:solidFill>
            <a:prstDash val="solid"/>
          </a:ln>
        </p:spPr>
      </p:sp>
      <p:sp>
        <p:nvSpPr>
          <p:cNvPr id="33" name="Text 31"/>
          <p:cNvSpPr/>
          <p:nvPr/>
        </p:nvSpPr>
        <p:spPr>
          <a:xfrm>
            <a:off x="7214616" y="2401519"/>
            <a:ext cx="3895344" cy="315468"/>
          </a:xfrm>
          <a:prstGeom prst="rect">
            <a:avLst/>
          </a:prstGeom>
          <a:noFill/>
          <a:ln/>
        </p:spPr>
        <p:txBody>
          <a:bodyPr wrap="square" lIns="0" tIns="0" rIns="0" bIns="0" rtlCol="0" anchor="t"/>
          <a:lstStyle/>
          <a:p>
            <a:pPr indent="0" marL="0">
              <a:lnSpc>
                <a:spcPct val="116000"/>
              </a:lnSpc>
              <a:buNone/>
            </a:pPr>
            <a:r>
              <a:rPr lang="en-US" sz="1400" dirty="0">
                <a:solidFill>
                  <a:srgbClr val="14213D"/>
                </a:solidFill>
                <a:latin typeface="Arial" pitchFamily="34" charset="0"/>
                <a:ea typeface="Arial" pitchFamily="34" charset="-122"/>
                <a:cs typeface="Arial" pitchFamily="34" charset="-120"/>
              </a:rPr>
              <a:t>Data flowing from offer to closed booking.</a:t>
            </a:r>
            <a:endParaRPr lang="en-US" sz="1400" dirty="0"/>
          </a:p>
        </p:txBody>
      </p:sp>
      <p:sp>
        <p:nvSpPr>
          <p:cNvPr id="34" name="Shape 32"/>
          <p:cNvSpPr/>
          <p:nvPr/>
        </p:nvSpPr>
        <p:spPr>
          <a:xfrm rot="2700000">
            <a:off x="6903720" y="2941015"/>
            <a:ext cx="100584" cy="100584"/>
          </a:xfrm>
          <a:prstGeom prst="rect">
            <a:avLst/>
          </a:prstGeom>
          <a:ln w="9525">
            <a:solidFill>
              <a:srgbClr val="C9A227"/>
            </a:solidFill>
            <a:prstDash val="solid"/>
          </a:ln>
        </p:spPr>
      </p:sp>
      <p:sp>
        <p:nvSpPr>
          <p:cNvPr id="35" name="Text 33"/>
          <p:cNvSpPr/>
          <p:nvPr/>
        </p:nvSpPr>
        <p:spPr>
          <a:xfrm>
            <a:off x="7214616" y="2863291"/>
            <a:ext cx="3895344" cy="315468"/>
          </a:xfrm>
          <a:prstGeom prst="rect">
            <a:avLst/>
          </a:prstGeom>
          <a:noFill/>
          <a:ln/>
        </p:spPr>
        <p:txBody>
          <a:bodyPr wrap="square" lIns="0" tIns="0" rIns="0" bIns="0" rtlCol="0" anchor="t"/>
          <a:lstStyle/>
          <a:p>
            <a:pPr indent="0" marL="0">
              <a:lnSpc>
                <a:spcPct val="116000"/>
              </a:lnSpc>
              <a:buNone/>
            </a:pPr>
            <a:r>
              <a:rPr lang="en-US" sz="1400" dirty="0">
                <a:solidFill>
                  <a:srgbClr val="14213D"/>
                </a:solidFill>
                <a:latin typeface="Arial" pitchFamily="34" charset="0"/>
                <a:ea typeface="Arial" pitchFamily="34" charset="-122"/>
                <a:cs typeface="Arial" pitchFamily="34" charset="-120"/>
              </a:rPr>
              <a:t>A number on every handoff, read weekly.</a:t>
            </a:r>
            <a:endParaRPr lang="en-US" sz="1400" dirty="0"/>
          </a:p>
        </p:txBody>
      </p:sp>
      <p:sp>
        <p:nvSpPr>
          <p:cNvPr id="36" name="Shape 34"/>
          <p:cNvSpPr/>
          <p:nvPr/>
        </p:nvSpPr>
        <p:spPr>
          <a:xfrm rot="2700000">
            <a:off x="6903720" y="3402787"/>
            <a:ext cx="100584" cy="100584"/>
          </a:xfrm>
          <a:prstGeom prst="rect">
            <a:avLst/>
          </a:prstGeom>
          <a:ln w="9525">
            <a:solidFill>
              <a:srgbClr val="C9A227"/>
            </a:solidFill>
            <a:prstDash val="solid"/>
          </a:ln>
        </p:spPr>
      </p:sp>
      <p:sp>
        <p:nvSpPr>
          <p:cNvPr id="37" name="Text 35"/>
          <p:cNvSpPr/>
          <p:nvPr/>
        </p:nvSpPr>
        <p:spPr>
          <a:xfrm>
            <a:off x="7214616" y="3325063"/>
            <a:ext cx="3895344" cy="539496"/>
          </a:xfrm>
          <a:prstGeom prst="rect">
            <a:avLst/>
          </a:prstGeom>
          <a:noFill/>
          <a:ln/>
        </p:spPr>
        <p:txBody>
          <a:bodyPr wrap="square" lIns="0" tIns="0" rIns="0" bIns="0" rtlCol="0" anchor="t"/>
          <a:lstStyle/>
          <a:p>
            <a:pPr indent="0" marL="0">
              <a:lnSpc>
                <a:spcPct val="116000"/>
              </a:lnSpc>
              <a:buNone/>
            </a:pPr>
            <a:r>
              <a:rPr lang="en-US" sz="1400" dirty="0">
                <a:solidFill>
                  <a:srgbClr val="14213D"/>
                </a:solidFill>
                <a:latin typeface="Arial" pitchFamily="34" charset="0"/>
                <a:ea typeface="Arial" pitchFamily="34" charset="-122"/>
                <a:cs typeface="Arial" pitchFamily="34" charset="-120"/>
              </a:rPr>
              <a:t>A team that knows where it is winning, and doubles down there.</a:t>
            </a:r>
            <a:endParaRPr lang="en-US" sz="1400" dirty="0"/>
          </a:p>
        </p:txBody>
      </p:sp>
      <p:sp>
        <p:nvSpPr>
          <p:cNvPr id="38" name="Shape 36"/>
          <p:cNvSpPr/>
          <p:nvPr/>
        </p:nvSpPr>
        <p:spPr>
          <a:xfrm rot="2700000">
            <a:off x="6903720" y="4088587"/>
            <a:ext cx="100584" cy="100584"/>
          </a:xfrm>
          <a:prstGeom prst="rect">
            <a:avLst/>
          </a:prstGeom>
          <a:ln w="9525">
            <a:solidFill>
              <a:srgbClr val="C9A227"/>
            </a:solidFill>
            <a:prstDash val="solid"/>
          </a:ln>
        </p:spPr>
      </p:sp>
      <p:sp>
        <p:nvSpPr>
          <p:cNvPr id="39" name="Text 37"/>
          <p:cNvSpPr/>
          <p:nvPr/>
        </p:nvSpPr>
        <p:spPr>
          <a:xfrm>
            <a:off x="7214616" y="4010863"/>
            <a:ext cx="3895344" cy="539496"/>
          </a:xfrm>
          <a:prstGeom prst="rect">
            <a:avLst/>
          </a:prstGeom>
          <a:noFill/>
          <a:ln/>
        </p:spPr>
        <p:txBody>
          <a:bodyPr wrap="square" lIns="0" tIns="0" rIns="0" bIns="0" rtlCol="0" anchor="t"/>
          <a:lstStyle/>
          <a:p>
            <a:pPr indent="0" marL="0">
              <a:lnSpc>
                <a:spcPct val="116000"/>
              </a:lnSpc>
              <a:buNone/>
            </a:pPr>
            <a:r>
              <a:rPr lang="en-US" sz="1400" dirty="0">
                <a:solidFill>
                  <a:srgbClr val="14213D"/>
                </a:solidFill>
                <a:latin typeface="Arial" pitchFamily="34" charset="0"/>
                <a:ea typeface="Arial" pitchFamily="34" charset="-122"/>
                <a:cs typeface="Arial" pitchFamily="34" charset="-120"/>
              </a:rPr>
              <a:t>An operating rhythm that runs without anyone remembering to run it.</a:t>
            </a:r>
            <a:endParaRPr lang="en-US" sz="1400" dirty="0"/>
          </a:p>
        </p:txBody>
      </p:sp>
      <p:sp>
        <p:nvSpPr>
          <p:cNvPr id="40" name="Text 38"/>
          <p:cNvSpPr/>
          <p:nvPr/>
        </p:nvSpPr>
        <p:spPr>
          <a:xfrm>
            <a:off x="813816" y="5088636"/>
            <a:ext cx="10570464" cy="507492"/>
          </a:xfrm>
          <a:prstGeom prst="rect">
            <a:avLst/>
          </a:prstGeom>
          <a:noFill/>
          <a:ln/>
        </p:spPr>
        <p:txBody>
          <a:bodyPr wrap="square" lIns="0" tIns="0" rIns="0" bIns="0" rtlCol="0" anchor="t"/>
          <a:lstStyle/>
          <a:p>
            <a:pPr algn="l" indent="0" marL="0">
              <a:lnSpc>
                <a:spcPct val="116000"/>
              </a:lnSpc>
              <a:buNone/>
            </a:pPr>
            <a:r>
              <a:rPr lang="en-US" sz="1300" b="1" dirty="0">
                <a:solidFill>
                  <a:srgbClr val="15616D"/>
                </a:solidFill>
                <a:latin typeface="Arial" pitchFamily="34" charset="0"/>
                <a:ea typeface="Arial" pitchFamily="34" charset="-122"/>
                <a:cs typeface="Arial" pitchFamily="34" charset="-120"/>
              </a:rPr>
              <a:t>The first one is done. The next two are this quarter. The fourth is execution, and that is exactly what the next session is about.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1786128"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SIGCOMPASS REVEAL</a:t>
            </a:r>
            <a:endParaRPr lang="en-US" sz="900" dirty="0"/>
          </a:p>
        </p:txBody>
      </p:sp>
      <p:sp>
        <p:nvSpPr>
          <p:cNvPr id="6" name="Shape 4"/>
          <p:cNvSpPr/>
          <p:nvPr/>
        </p:nvSpPr>
        <p:spPr>
          <a:xfrm rot="2700000">
            <a:off x="3898392" y="6003036"/>
            <a:ext cx="64008" cy="64008"/>
          </a:xfrm>
          <a:prstGeom prst="rect">
            <a:avLst/>
          </a:prstGeom>
          <a:solidFill>
            <a:srgbClr val="C9A227"/>
          </a:solidFill>
          <a:ln w="3175">
            <a:solidFill>
              <a:srgbClr val="C9A227"/>
            </a:solidFill>
            <a:prstDash val="solid"/>
          </a:ln>
        </p:spPr>
      </p:sp>
      <p:sp>
        <p:nvSpPr>
          <p:cNvPr id="7" name="Text 5"/>
          <p:cNvSpPr/>
          <p:nvPr/>
        </p:nvSpPr>
        <p:spPr>
          <a:xfrm>
            <a:off x="4081272" y="5943600"/>
            <a:ext cx="1200912"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5A6379"/>
                </a:solidFill>
                <a:latin typeface="Arial" pitchFamily="34" charset="0"/>
                <a:ea typeface="Arial" pitchFamily="34" charset="-122"/>
                <a:cs typeface="Arial" pitchFamily="34" charset="-120"/>
              </a:rPr>
              <a:t>20</a:t>
            </a:r>
            <a:endParaRPr lang="en-US" sz="900" dirty="0"/>
          </a:p>
        </p:txBody>
      </p:sp>
      <p:sp>
        <p:nvSpPr>
          <p:cNvPr id="9" name="Text 7"/>
          <p:cNvSpPr/>
          <p:nvPr/>
        </p:nvSpPr>
        <p:spPr>
          <a:xfrm>
            <a:off x="813816" y="502920"/>
            <a:ext cx="10570464" cy="256032"/>
          </a:xfrm>
          <a:prstGeom prst="rect">
            <a:avLst/>
          </a:prstGeom>
          <a:noFill/>
          <a:ln/>
        </p:spPr>
        <p:txBody>
          <a:bodyPr wrap="square" lIns="0" tIns="0" rIns="0" bIns="0" rtlCol="0" anchor="ctr"/>
          <a:lstStyle/>
          <a:p>
            <a:pPr indent="0" marL="0">
              <a:buNone/>
            </a:pPr>
            <a:r>
              <a:rPr lang="en-US" sz="1200" b="1" spc="220" kern="0" dirty="0">
                <a:solidFill>
                  <a:srgbClr val="8A6D14"/>
                </a:solidFill>
                <a:latin typeface="Arial" pitchFamily="34" charset="0"/>
                <a:ea typeface="Arial" pitchFamily="34" charset="-122"/>
                <a:cs typeface="Arial" pitchFamily="34" charset="-120"/>
              </a:rPr>
              <a:t>THE ROAD FROM HERE</a:t>
            </a:r>
            <a:endParaRPr lang="en-US" sz="1200" dirty="0"/>
          </a:p>
        </p:txBody>
      </p:sp>
      <p:sp>
        <p:nvSpPr>
          <p:cNvPr id="10" name="Text 8"/>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From today to the Owners Meeting.</a:t>
            </a:r>
            <a:endParaRPr lang="en-US" sz="4000" dirty="0"/>
          </a:p>
        </p:txBody>
      </p:sp>
      <p:sp>
        <p:nvSpPr>
          <p:cNvPr id="11" name="Shape 9"/>
          <p:cNvSpPr/>
          <p:nvPr/>
        </p:nvSpPr>
        <p:spPr>
          <a:xfrm>
            <a:off x="813816" y="2962656"/>
            <a:ext cx="10570464" cy="0"/>
          </a:xfrm>
          <a:prstGeom prst="line">
            <a:avLst/>
          </a:prstGeom>
          <a:noFill/>
          <a:ln w="9525">
            <a:solidFill>
              <a:srgbClr val="C9A227">
                <a:alpha val="45000"/>
              </a:srgbClr>
            </a:solidFill>
            <a:prstDash val="solid"/>
          </a:ln>
        </p:spPr>
      </p:sp>
      <p:sp>
        <p:nvSpPr>
          <p:cNvPr id="12" name="Shape 10"/>
          <p:cNvSpPr/>
          <p:nvPr/>
        </p:nvSpPr>
        <p:spPr>
          <a:xfrm>
            <a:off x="1793138" y="2884932"/>
            <a:ext cx="155448" cy="155448"/>
          </a:xfrm>
          <a:prstGeom prst="ellipse">
            <a:avLst/>
          </a:prstGeom>
          <a:solidFill>
            <a:srgbClr val="14213D"/>
          </a:solidFill>
          <a:ln/>
        </p:spPr>
      </p:sp>
      <p:sp>
        <p:nvSpPr>
          <p:cNvPr id="13" name="Text 11"/>
          <p:cNvSpPr/>
          <p:nvPr/>
        </p:nvSpPr>
        <p:spPr>
          <a:xfrm>
            <a:off x="819302" y="2276856"/>
            <a:ext cx="2103120" cy="201168"/>
          </a:xfrm>
          <a:prstGeom prst="rect">
            <a:avLst/>
          </a:prstGeom>
          <a:noFill/>
          <a:ln/>
        </p:spPr>
        <p:txBody>
          <a:bodyPr wrap="square" lIns="0" tIns="0" rIns="0" bIns="0" rtlCol="0" anchor="ctr"/>
          <a:lstStyle/>
          <a:p>
            <a:pPr algn="ctr" indent="0" marL="0">
              <a:buNone/>
            </a:pPr>
            <a:r>
              <a:rPr lang="en-US" sz="1300" b="1" dirty="0">
                <a:solidFill>
                  <a:srgbClr val="14213D"/>
                </a:solidFill>
                <a:latin typeface="Arial" pitchFamily="34" charset="0"/>
                <a:ea typeface="Arial" pitchFamily="34" charset="-122"/>
                <a:cs typeface="Arial" pitchFamily="34" charset="-120"/>
              </a:rPr>
              <a:t>Today</a:t>
            </a:r>
            <a:endParaRPr lang="en-US" sz="1300" dirty="0"/>
          </a:p>
        </p:txBody>
      </p:sp>
      <p:sp>
        <p:nvSpPr>
          <p:cNvPr id="14" name="Text 12"/>
          <p:cNvSpPr/>
          <p:nvPr/>
        </p:nvSpPr>
        <p:spPr>
          <a:xfrm>
            <a:off x="819302" y="2478024"/>
            <a:ext cx="2103120" cy="443484"/>
          </a:xfrm>
          <a:prstGeom prst="rect">
            <a:avLst/>
          </a:prstGeom>
          <a:noFill/>
          <a:ln/>
        </p:spPr>
        <p:txBody>
          <a:bodyPr wrap="square" lIns="0" tIns="0" rIns="0" bIns="0" rtlCol="0" anchor="t"/>
          <a:lstStyle/>
          <a:p>
            <a:pPr algn="ctr" indent="0" marL="0">
              <a:lnSpc>
                <a:spcPct val="110000"/>
              </a:lnSpc>
              <a:buNone/>
            </a:pPr>
            <a:r>
              <a:rPr lang="en-US" sz="1100" dirty="0">
                <a:solidFill>
                  <a:srgbClr val="5A6379"/>
                </a:solidFill>
                <a:latin typeface="Arial" pitchFamily="34" charset="0"/>
                <a:ea typeface="Arial" pitchFamily="34" charset="-122"/>
                <a:cs typeface="Arial" pitchFamily="34" charset="-120"/>
              </a:rPr>
              <a:t>Non-prod code complete. This session. Testing open</a:t>
            </a:r>
            <a:endParaRPr lang="en-US" sz="1100" dirty="0"/>
          </a:p>
        </p:txBody>
      </p:sp>
      <p:sp>
        <p:nvSpPr>
          <p:cNvPr id="15" name="Shape 13"/>
          <p:cNvSpPr/>
          <p:nvPr/>
        </p:nvSpPr>
        <p:spPr>
          <a:xfrm>
            <a:off x="3907231" y="2884932"/>
            <a:ext cx="155448" cy="155448"/>
          </a:xfrm>
          <a:prstGeom prst="ellipse">
            <a:avLst/>
          </a:prstGeom>
          <a:solidFill>
            <a:srgbClr val="14213D"/>
          </a:solidFill>
          <a:ln/>
        </p:spPr>
      </p:sp>
      <p:sp>
        <p:nvSpPr>
          <p:cNvPr id="16" name="Text 14"/>
          <p:cNvSpPr/>
          <p:nvPr/>
        </p:nvSpPr>
        <p:spPr>
          <a:xfrm>
            <a:off x="2933395" y="3154680"/>
            <a:ext cx="2103120" cy="201168"/>
          </a:xfrm>
          <a:prstGeom prst="rect">
            <a:avLst/>
          </a:prstGeom>
          <a:noFill/>
          <a:ln/>
        </p:spPr>
        <p:txBody>
          <a:bodyPr wrap="square" lIns="0" tIns="0" rIns="0" bIns="0" rtlCol="0" anchor="ctr"/>
          <a:lstStyle/>
          <a:p>
            <a:pPr algn="ctr" indent="0" marL="0">
              <a:buNone/>
            </a:pPr>
            <a:r>
              <a:rPr lang="en-US" sz="1300" b="1" dirty="0">
                <a:solidFill>
                  <a:srgbClr val="14213D"/>
                </a:solidFill>
                <a:latin typeface="Arial" pitchFamily="34" charset="0"/>
                <a:ea typeface="Arial" pitchFamily="34" charset="-122"/>
                <a:cs typeface="Arial" pitchFamily="34" charset="-120"/>
              </a:rPr>
              <a:t>Fri, Aug 28</a:t>
            </a:r>
            <a:endParaRPr lang="en-US" sz="1300" dirty="0"/>
          </a:p>
        </p:txBody>
      </p:sp>
      <p:sp>
        <p:nvSpPr>
          <p:cNvPr id="17" name="Text 15"/>
          <p:cNvSpPr/>
          <p:nvPr/>
        </p:nvSpPr>
        <p:spPr>
          <a:xfrm>
            <a:off x="2933395" y="3355848"/>
            <a:ext cx="2103120" cy="443484"/>
          </a:xfrm>
          <a:prstGeom prst="rect">
            <a:avLst/>
          </a:prstGeom>
          <a:noFill/>
          <a:ln/>
        </p:spPr>
        <p:txBody>
          <a:bodyPr wrap="square" lIns="0" tIns="0" rIns="0" bIns="0" rtlCol="0" anchor="t"/>
          <a:lstStyle/>
          <a:p>
            <a:pPr algn="ctr" indent="0" marL="0">
              <a:lnSpc>
                <a:spcPct val="110000"/>
              </a:lnSpc>
              <a:buNone/>
            </a:pPr>
            <a:r>
              <a:rPr lang="en-US" sz="1100" dirty="0">
                <a:solidFill>
                  <a:srgbClr val="5A6379"/>
                </a:solidFill>
                <a:latin typeface="Arial" pitchFamily="34" charset="0"/>
                <a:ea typeface="Arial" pitchFamily="34" charset="-122"/>
                <a:cs typeface="Arial" pitchFamily="34" charset="-120"/>
              </a:rPr>
              <a:t>Production turned on; production testing begins</a:t>
            </a:r>
            <a:endParaRPr lang="en-US" sz="1100" dirty="0"/>
          </a:p>
        </p:txBody>
      </p:sp>
      <p:sp>
        <p:nvSpPr>
          <p:cNvPr id="18" name="Shape 16"/>
          <p:cNvSpPr/>
          <p:nvPr/>
        </p:nvSpPr>
        <p:spPr>
          <a:xfrm>
            <a:off x="6021324" y="2884932"/>
            <a:ext cx="155448" cy="155448"/>
          </a:xfrm>
          <a:prstGeom prst="ellipse">
            <a:avLst/>
          </a:prstGeom>
          <a:solidFill>
            <a:srgbClr val="14213D"/>
          </a:solidFill>
          <a:ln/>
        </p:spPr>
      </p:sp>
      <p:sp>
        <p:nvSpPr>
          <p:cNvPr id="19" name="Text 17"/>
          <p:cNvSpPr/>
          <p:nvPr/>
        </p:nvSpPr>
        <p:spPr>
          <a:xfrm>
            <a:off x="5047488" y="2276856"/>
            <a:ext cx="2103120" cy="201168"/>
          </a:xfrm>
          <a:prstGeom prst="rect">
            <a:avLst/>
          </a:prstGeom>
          <a:noFill/>
          <a:ln/>
        </p:spPr>
        <p:txBody>
          <a:bodyPr wrap="square" lIns="0" tIns="0" rIns="0" bIns="0" rtlCol="0" anchor="ctr"/>
          <a:lstStyle/>
          <a:p>
            <a:pPr algn="ctr" indent="0" marL="0">
              <a:buNone/>
            </a:pPr>
            <a:r>
              <a:rPr lang="en-US" sz="1300" b="1" dirty="0">
                <a:solidFill>
                  <a:srgbClr val="14213D"/>
                </a:solidFill>
                <a:latin typeface="Arial" pitchFamily="34" charset="0"/>
                <a:ea typeface="Arial" pitchFamily="34" charset="-122"/>
                <a:cs typeface="Arial" pitchFamily="34" charset="-120"/>
              </a:rPr>
              <a:t>Fri, Sep 4</a:t>
            </a:r>
            <a:endParaRPr lang="en-US" sz="1300" dirty="0"/>
          </a:p>
        </p:txBody>
      </p:sp>
      <p:sp>
        <p:nvSpPr>
          <p:cNvPr id="20" name="Text 18"/>
          <p:cNvSpPr/>
          <p:nvPr/>
        </p:nvSpPr>
        <p:spPr>
          <a:xfrm>
            <a:off x="5047488" y="2478024"/>
            <a:ext cx="2103120" cy="443484"/>
          </a:xfrm>
          <a:prstGeom prst="rect">
            <a:avLst/>
          </a:prstGeom>
          <a:noFill/>
          <a:ln/>
        </p:spPr>
        <p:txBody>
          <a:bodyPr wrap="square" lIns="0" tIns="0" rIns="0" bIns="0" rtlCol="0" anchor="t"/>
          <a:lstStyle/>
          <a:p>
            <a:pPr algn="ctr" indent="0" marL="0">
              <a:lnSpc>
                <a:spcPct val="110000"/>
              </a:lnSpc>
              <a:buNone/>
            </a:pPr>
            <a:r>
              <a:rPr lang="en-US" sz="1100" dirty="0">
                <a:solidFill>
                  <a:srgbClr val="5A6379"/>
                </a:solidFill>
                <a:latin typeface="Arial" pitchFamily="34" charset="0"/>
                <a:ea typeface="Arial" pitchFamily="34" charset="-122"/>
                <a:cs typeface="Arial" pitchFamily="34" charset="-120"/>
              </a:rPr>
              <a:t>Production testing fully underway</a:t>
            </a:r>
            <a:endParaRPr lang="en-US" sz="1100" dirty="0"/>
          </a:p>
        </p:txBody>
      </p:sp>
      <p:sp>
        <p:nvSpPr>
          <p:cNvPr id="21" name="Shape 19"/>
          <p:cNvSpPr/>
          <p:nvPr/>
        </p:nvSpPr>
        <p:spPr>
          <a:xfrm>
            <a:off x="8135417" y="2884932"/>
            <a:ext cx="155448" cy="155448"/>
          </a:xfrm>
          <a:prstGeom prst="ellipse">
            <a:avLst/>
          </a:prstGeom>
          <a:solidFill>
            <a:srgbClr val="1E808F"/>
          </a:solidFill>
          <a:ln/>
        </p:spPr>
      </p:sp>
      <p:sp>
        <p:nvSpPr>
          <p:cNvPr id="22" name="Text 20"/>
          <p:cNvSpPr/>
          <p:nvPr/>
        </p:nvSpPr>
        <p:spPr>
          <a:xfrm>
            <a:off x="7161581" y="3154680"/>
            <a:ext cx="2103120" cy="201168"/>
          </a:xfrm>
          <a:prstGeom prst="rect">
            <a:avLst/>
          </a:prstGeom>
          <a:noFill/>
          <a:ln/>
        </p:spPr>
        <p:txBody>
          <a:bodyPr wrap="square" lIns="0" tIns="0" rIns="0" bIns="0" rtlCol="0" anchor="ctr"/>
          <a:lstStyle/>
          <a:p>
            <a:pPr algn="ctr" indent="0" marL="0">
              <a:buNone/>
            </a:pPr>
            <a:r>
              <a:rPr lang="en-US" sz="1300" b="1" dirty="0">
                <a:solidFill>
                  <a:srgbClr val="15616D"/>
                </a:solidFill>
                <a:latin typeface="Arial" pitchFamily="34" charset="0"/>
                <a:ea typeface="Arial" pitchFamily="34" charset="-122"/>
                <a:cs typeface="Arial" pitchFamily="34" charset="-120"/>
              </a:rPr>
              <a:t>Week of Sep 29</a:t>
            </a:r>
            <a:endParaRPr lang="en-US" sz="1300" dirty="0"/>
          </a:p>
        </p:txBody>
      </p:sp>
      <p:sp>
        <p:nvSpPr>
          <p:cNvPr id="23" name="Text 21"/>
          <p:cNvSpPr/>
          <p:nvPr/>
        </p:nvSpPr>
        <p:spPr>
          <a:xfrm>
            <a:off x="7161581" y="3355848"/>
            <a:ext cx="2103120" cy="443484"/>
          </a:xfrm>
          <a:prstGeom prst="rect">
            <a:avLst/>
          </a:prstGeom>
          <a:noFill/>
          <a:ln/>
        </p:spPr>
        <p:txBody>
          <a:bodyPr wrap="square" lIns="0" tIns="0" rIns="0" bIns="0" rtlCol="0" anchor="t"/>
          <a:lstStyle/>
          <a:p>
            <a:pPr algn="ctr" indent="0" marL="0">
              <a:lnSpc>
                <a:spcPct val="110000"/>
              </a:lnSpc>
              <a:buNone/>
            </a:pPr>
            <a:r>
              <a:rPr lang="en-US" sz="1100" dirty="0">
                <a:solidFill>
                  <a:srgbClr val="15616D"/>
                </a:solidFill>
                <a:latin typeface="Arial" pitchFamily="34" charset="0"/>
                <a:ea typeface="Arial" pitchFamily="34" charset="-122"/>
                <a:cs typeface="Arial" pitchFamily="34" charset="-120"/>
              </a:rPr>
              <a:t>Owners Meeting, San Antonio. Alpha cohort announced</a:t>
            </a:r>
            <a:endParaRPr lang="en-US" sz="1100" dirty="0"/>
          </a:p>
        </p:txBody>
      </p:sp>
      <p:sp>
        <p:nvSpPr>
          <p:cNvPr id="24" name="Shape 22"/>
          <p:cNvSpPr/>
          <p:nvPr/>
        </p:nvSpPr>
        <p:spPr>
          <a:xfrm>
            <a:off x="10249510" y="2884932"/>
            <a:ext cx="155448" cy="155448"/>
          </a:xfrm>
          <a:prstGeom prst="ellipse">
            <a:avLst/>
          </a:prstGeom>
          <a:solidFill>
            <a:srgbClr val="14213D"/>
          </a:solidFill>
          <a:ln/>
        </p:spPr>
      </p:sp>
      <p:sp>
        <p:nvSpPr>
          <p:cNvPr id="25" name="Text 23"/>
          <p:cNvSpPr/>
          <p:nvPr/>
        </p:nvSpPr>
        <p:spPr>
          <a:xfrm>
            <a:off x="9275674" y="2276856"/>
            <a:ext cx="2103120" cy="201168"/>
          </a:xfrm>
          <a:prstGeom prst="rect">
            <a:avLst/>
          </a:prstGeom>
          <a:noFill/>
          <a:ln/>
        </p:spPr>
        <p:txBody>
          <a:bodyPr wrap="square" lIns="0" tIns="0" rIns="0" bIns="0" rtlCol="0" anchor="ctr"/>
          <a:lstStyle/>
          <a:p>
            <a:pPr algn="ctr" indent="0" marL="0">
              <a:buNone/>
            </a:pPr>
            <a:r>
              <a:rPr lang="en-US" sz="1300" b="1" dirty="0">
                <a:solidFill>
                  <a:srgbClr val="14213D"/>
                </a:solidFill>
                <a:latin typeface="Arial" pitchFamily="34" charset="0"/>
                <a:ea typeface="Arial" pitchFamily="34" charset="-122"/>
                <a:cs typeface="Arial" pitchFamily="34" charset="-120"/>
              </a:rPr>
              <a:t>Oct 5 to Nov 13</a:t>
            </a:r>
            <a:endParaRPr lang="en-US" sz="1300" dirty="0"/>
          </a:p>
        </p:txBody>
      </p:sp>
      <p:sp>
        <p:nvSpPr>
          <p:cNvPr id="26" name="Text 24"/>
          <p:cNvSpPr/>
          <p:nvPr/>
        </p:nvSpPr>
        <p:spPr>
          <a:xfrm>
            <a:off x="9275674" y="2478024"/>
            <a:ext cx="2103120" cy="443484"/>
          </a:xfrm>
          <a:prstGeom prst="rect">
            <a:avLst/>
          </a:prstGeom>
          <a:noFill/>
          <a:ln/>
        </p:spPr>
        <p:txBody>
          <a:bodyPr wrap="square" lIns="0" tIns="0" rIns="0" bIns="0" rtlCol="0" anchor="t"/>
          <a:lstStyle/>
          <a:p>
            <a:pPr algn="ctr" indent="0" marL="0">
              <a:lnSpc>
                <a:spcPct val="110000"/>
              </a:lnSpc>
              <a:buNone/>
            </a:pPr>
            <a:r>
              <a:rPr lang="en-US" sz="1100" dirty="0">
                <a:solidFill>
                  <a:srgbClr val="5A6379"/>
                </a:solidFill>
                <a:latin typeface="Arial" pitchFamily="34" charset="0"/>
                <a:ea typeface="Arial" pitchFamily="34" charset="-122"/>
                <a:cs typeface="Arial" pitchFamily="34" charset="-120"/>
              </a:rPr>
              <a:t>Alpha: agency owners live on production</a:t>
            </a:r>
            <a:endParaRPr lang="en-US" sz="1100" dirty="0"/>
          </a:p>
        </p:txBody>
      </p:sp>
      <p:sp>
        <p:nvSpPr>
          <p:cNvPr id="27" name="Shape 25"/>
          <p:cNvSpPr/>
          <p:nvPr/>
        </p:nvSpPr>
        <p:spPr>
          <a:xfrm>
            <a:off x="1870862" y="3813048"/>
            <a:ext cx="6342278" cy="402336"/>
          </a:xfrm>
          <a:prstGeom prst="roundRect">
            <a:avLst>
              <a:gd name="adj" fmla="val 13636"/>
            </a:avLst>
          </a:prstGeom>
          <a:solidFill>
            <a:srgbClr val="E8E2D2"/>
          </a:solidFill>
          <a:ln/>
        </p:spPr>
      </p:sp>
      <p:sp>
        <p:nvSpPr>
          <p:cNvPr id="28" name="Text 26"/>
          <p:cNvSpPr/>
          <p:nvPr/>
        </p:nvSpPr>
        <p:spPr>
          <a:xfrm>
            <a:off x="1870862" y="3813048"/>
            <a:ext cx="6342278" cy="402336"/>
          </a:xfrm>
          <a:prstGeom prst="rect">
            <a:avLst/>
          </a:prstGeom>
          <a:noFill/>
          <a:ln/>
        </p:spPr>
        <p:txBody>
          <a:bodyPr wrap="square" lIns="0" tIns="0" rIns="0" bIns="0" rtlCol="0" anchor="ctr"/>
          <a:lstStyle/>
          <a:p>
            <a:pPr algn="ctr" indent="0" marL="0">
              <a:buNone/>
            </a:pPr>
            <a:r>
              <a:rPr lang="en-US" sz="1100" b="1" spc="140" kern="0" dirty="0">
                <a:solidFill>
                  <a:srgbClr val="15616D"/>
                </a:solidFill>
                <a:latin typeface="Arial" pitchFamily="34" charset="0"/>
                <a:ea typeface="Arial" pitchFamily="34" charset="-122"/>
                <a:cs typeface="Arial" pitchFamily="34" charset="-120"/>
              </a:rPr>
              <a:t>THROUGH SEP 29 · INTERNAL TESTING WINDOW · YOUR WINDOW</a:t>
            </a:r>
            <a:endParaRPr lang="en-US" sz="1100" dirty="0"/>
          </a:p>
        </p:txBody>
      </p:sp>
      <p:sp>
        <p:nvSpPr>
          <p:cNvPr id="29" name="Text 27"/>
          <p:cNvSpPr/>
          <p:nvPr/>
        </p:nvSpPr>
        <p:spPr>
          <a:xfrm>
            <a:off x="813816" y="4791456"/>
            <a:ext cx="10570464" cy="299466"/>
          </a:xfrm>
          <a:prstGeom prst="rect">
            <a:avLst/>
          </a:prstGeom>
          <a:noFill/>
          <a:ln/>
        </p:spPr>
        <p:txBody>
          <a:bodyPr wrap="square" lIns="0" tIns="0" rIns="0" bIns="0" rtlCol="0" anchor="t"/>
          <a:lstStyle/>
          <a:p>
            <a:pPr algn="ctr" indent="0" marL="0">
              <a:lnSpc>
                <a:spcPct val="116000"/>
              </a:lnSpc>
              <a:buNone/>
            </a:pPr>
            <a:r>
              <a:rPr lang="en-US" sz="1300" i="1" dirty="0">
                <a:solidFill>
                  <a:srgbClr val="5A6379"/>
                </a:solidFill>
                <a:latin typeface="Arial" pitchFamily="34" charset="0"/>
                <a:ea typeface="Arial" pitchFamily="34" charset="-122"/>
                <a:cs typeface="Arial" pitchFamily="34" charset="-120"/>
              </a:rPr>
              <a:t>The only technical difference between non-prod and production is the volume of data. The engine is the same.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620817" y="512064"/>
            <a:ext cx="950976" cy="950976"/>
          </a:xfrm>
          <a:prstGeom prst="ellipse">
            <a:avLst/>
          </a:prstGeom>
          <a:ln w="12700">
            <a:solidFill>
              <a:srgbClr val="C9A227"/>
            </a:solidFill>
            <a:prstDash val="solid"/>
          </a:ln>
        </p:spPr>
      </p:sp>
      <p:sp>
        <p:nvSpPr>
          <p:cNvPr id="3" name="Shape 1"/>
          <p:cNvSpPr/>
          <p:nvPr/>
        </p:nvSpPr>
        <p:spPr>
          <a:xfrm>
            <a:off x="5691189" y="582436"/>
            <a:ext cx="810232" cy="810232"/>
          </a:xfrm>
          <a:prstGeom prst="ellipse">
            <a:avLst/>
          </a:prstGeom>
          <a:ln w="12700">
            <a:solidFill>
              <a:srgbClr val="C9A227"/>
            </a:solidFill>
            <a:prstDash val="solid"/>
          </a:ln>
        </p:spPr>
      </p:sp>
      <p:sp>
        <p:nvSpPr>
          <p:cNvPr id="4" name="Shape 2"/>
          <p:cNvSpPr/>
          <p:nvPr/>
        </p:nvSpPr>
        <p:spPr>
          <a:xfrm>
            <a:off x="6096305" y="488290"/>
            <a:ext cx="0" cy="47549"/>
          </a:xfrm>
          <a:prstGeom prst="line">
            <a:avLst/>
          </a:prstGeom>
          <a:noFill/>
          <a:ln w="12700">
            <a:solidFill>
              <a:srgbClr val="C9A227"/>
            </a:solidFill>
            <a:prstDash val="solid"/>
          </a:ln>
        </p:spPr>
      </p:sp>
      <p:sp>
        <p:nvSpPr>
          <p:cNvPr id="5" name="Shape 3"/>
          <p:cNvSpPr/>
          <p:nvPr/>
        </p:nvSpPr>
        <p:spPr>
          <a:xfrm>
            <a:off x="6096305" y="1439266"/>
            <a:ext cx="0" cy="47549"/>
          </a:xfrm>
          <a:prstGeom prst="line">
            <a:avLst/>
          </a:prstGeom>
          <a:noFill/>
          <a:ln w="12700">
            <a:solidFill>
              <a:srgbClr val="C9A227"/>
            </a:solidFill>
            <a:prstDash val="solid"/>
          </a:ln>
        </p:spPr>
      </p:sp>
      <p:sp>
        <p:nvSpPr>
          <p:cNvPr id="6" name="Shape 4"/>
          <p:cNvSpPr/>
          <p:nvPr/>
        </p:nvSpPr>
        <p:spPr>
          <a:xfrm>
            <a:off x="5597042" y="987552"/>
            <a:ext cx="47549" cy="0"/>
          </a:xfrm>
          <a:prstGeom prst="line">
            <a:avLst/>
          </a:prstGeom>
          <a:noFill/>
          <a:ln w="12700">
            <a:solidFill>
              <a:srgbClr val="C9A227"/>
            </a:solidFill>
            <a:prstDash val="solid"/>
          </a:ln>
        </p:spPr>
      </p:sp>
      <p:sp>
        <p:nvSpPr>
          <p:cNvPr id="7" name="Shape 5"/>
          <p:cNvSpPr/>
          <p:nvPr/>
        </p:nvSpPr>
        <p:spPr>
          <a:xfrm>
            <a:off x="6548018" y="987552"/>
            <a:ext cx="47549" cy="0"/>
          </a:xfrm>
          <a:prstGeom prst="line">
            <a:avLst/>
          </a:prstGeom>
          <a:noFill/>
          <a:ln w="12700">
            <a:solidFill>
              <a:srgbClr val="C9A227"/>
            </a:solidFill>
            <a:prstDash val="solid"/>
          </a:ln>
        </p:spPr>
      </p:sp>
      <p:sp>
        <p:nvSpPr>
          <p:cNvPr id="8" name="Shape 6"/>
          <p:cNvSpPr/>
          <p:nvPr/>
        </p:nvSpPr>
        <p:spPr>
          <a:xfrm>
            <a:off x="6025172" y="664220"/>
            <a:ext cx="142266" cy="323332"/>
          </a:xfrm>
          <a:prstGeom prst="triangle">
            <a:avLst/>
          </a:prstGeom>
          <a:solidFill>
            <a:srgbClr val="1E808F"/>
          </a:solidFill>
          <a:ln/>
        </p:spPr>
      </p:sp>
      <p:sp>
        <p:nvSpPr>
          <p:cNvPr id="9" name="Shape 7"/>
          <p:cNvSpPr/>
          <p:nvPr/>
        </p:nvSpPr>
        <p:spPr>
          <a:xfrm rot="10800000">
            <a:off x="6025172" y="987552"/>
            <a:ext cx="142266" cy="323332"/>
          </a:xfrm>
          <a:prstGeom prst="triangle">
            <a:avLst/>
          </a:prstGeom>
          <a:solidFill>
            <a:srgbClr val="C9A227">
              <a:alpha val="65000"/>
            </a:srgbClr>
          </a:solidFill>
          <a:ln/>
        </p:spPr>
      </p:sp>
      <p:sp>
        <p:nvSpPr>
          <p:cNvPr id="10" name="Shape 8"/>
          <p:cNvSpPr/>
          <p:nvPr/>
        </p:nvSpPr>
        <p:spPr>
          <a:xfrm rot="5400000">
            <a:off x="6186838" y="825886"/>
            <a:ext cx="142266" cy="323332"/>
          </a:xfrm>
          <a:prstGeom prst="triangle">
            <a:avLst/>
          </a:prstGeom>
          <a:solidFill>
            <a:srgbClr val="C9A227">
              <a:alpha val="65000"/>
            </a:srgbClr>
          </a:solidFill>
          <a:ln/>
        </p:spPr>
      </p:sp>
      <p:sp>
        <p:nvSpPr>
          <p:cNvPr id="11" name="Shape 9"/>
          <p:cNvSpPr/>
          <p:nvPr/>
        </p:nvSpPr>
        <p:spPr>
          <a:xfrm rot="16200000">
            <a:off x="5863506" y="825886"/>
            <a:ext cx="142266" cy="323332"/>
          </a:xfrm>
          <a:prstGeom prst="triangle">
            <a:avLst/>
          </a:prstGeom>
          <a:solidFill>
            <a:srgbClr val="C9A227">
              <a:alpha val="65000"/>
            </a:srgbClr>
          </a:solidFill>
          <a:ln/>
        </p:spPr>
      </p:sp>
      <p:sp>
        <p:nvSpPr>
          <p:cNvPr id="12" name="Text 10"/>
          <p:cNvSpPr/>
          <p:nvPr/>
        </p:nvSpPr>
        <p:spPr>
          <a:xfrm>
            <a:off x="1432408" y="1627632"/>
            <a:ext cx="9326880" cy="1010473"/>
          </a:xfrm>
          <a:prstGeom prst="rect">
            <a:avLst/>
          </a:prstGeom>
          <a:noFill/>
          <a:ln/>
        </p:spPr>
        <p:txBody>
          <a:bodyPr wrap="square" lIns="0" tIns="0" rIns="0" bIns="0" rtlCol="0" anchor="t"/>
          <a:lstStyle/>
          <a:p>
            <a:pPr algn="ctr" indent="0" marL="0">
              <a:buNone/>
            </a:pPr>
            <a:r>
              <a:rPr lang="en-US" sz="5600" b="1" dirty="0">
                <a:solidFill>
                  <a:srgbClr val="F7F3EA"/>
                </a:solidFill>
                <a:latin typeface="Georgia" pitchFamily="34" charset="0"/>
                <a:ea typeface="Georgia" pitchFamily="34" charset="-122"/>
                <a:cs typeface="Georgia" pitchFamily="34" charset="-120"/>
              </a:rPr>
              <a:t>15 minutes.</a:t>
            </a:r>
            <a:endParaRPr lang="en-US" sz="5600" dirty="0"/>
          </a:p>
        </p:txBody>
      </p:sp>
      <p:sp>
        <p:nvSpPr>
          <p:cNvPr id="13" name="Text 11"/>
          <p:cNvSpPr/>
          <p:nvPr/>
        </p:nvSpPr>
        <p:spPr>
          <a:xfrm>
            <a:off x="813816" y="2857561"/>
            <a:ext cx="10570464" cy="310896"/>
          </a:xfrm>
          <a:prstGeom prst="rect">
            <a:avLst/>
          </a:prstGeom>
          <a:noFill/>
          <a:ln/>
        </p:spPr>
        <p:txBody>
          <a:bodyPr wrap="square" lIns="0" tIns="0" rIns="0" bIns="0" rtlCol="0" anchor="ctr"/>
          <a:lstStyle/>
          <a:p>
            <a:pPr algn="ctr" indent="0" marL="0">
              <a:buNone/>
            </a:pPr>
            <a:r>
              <a:rPr lang="en-US" sz="1700" dirty="0">
                <a:solidFill>
                  <a:srgbClr val="E7C766"/>
                </a:solidFill>
                <a:latin typeface="Arial" pitchFamily="34" charset="0"/>
                <a:ea typeface="Arial" pitchFamily="34" charset="-122"/>
                <a:cs typeface="Arial" pitchFamily="34" charset="-120"/>
              </a:rPr>
              <a:t>Coffee. Then bring your laptop back.</a:t>
            </a:r>
            <a:endParaRPr lang="en-US" sz="1700" dirty="0"/>
          </a:p>
        </p:txBody>
      </p:sp>
      <p:sp>
        <p:nvSpPr>
          <p:cNvPr id="14" name="Shape 12"/>
          <p:cNvSpPr/>
          <p:nvPr/>
        </p:nvSpPr>
        <p:spPr>
          <a:xfrm>
            <a:off x="2163928" y="3314761"/>
            <a:ext cx="7863840" cy="2228850"/>
          </a:xfrm>
          <a:prstGeom prst="rect">
            <a:avLst/>
          </a:prstGeom>
          <a:solidFill>
            <a:srgbClr val="2A3244"/>
          </a:solidFill>
          <a:ln/>
        </p:spPr>
      </p:sp>
      <p:sp>
        <p:nvSpPr>
          <p:cNvPr id="15" name="Text 13"/>
          <p:cNvSpPr/>
          <p:nvPr/>
        </p:nvSpPr>
        <p:spPr>
          <a:xfrm>
            <a:off x="2365096" y="3515929"/>
            <a:ext cx="7461504" cy="299466"/>
          </a:xfrm>
          <a:prstGeom prst="rect">
            <a:avLst/>
          </a:prstGeom>
          <a:noFill/>
          <a:ln/>
        </p:spPr>
        <p:txBody>
          <a:bodyPr wrap="square" lIns="0" tIns="0" rIns="0" bIns="0" rtlCol="0" anchor="t"/>
          <a:lstStyle/>
          <a:p>
            <a:pPr indent="0" marL="0">
              <a:buNone/>
            </a:pPr>
            <a:r>
              <a:rPr lang="en-US" sz="1300" b="1" spc="160" kern="0" dirty="0">
                <a:solidFill>
                  <a:srgbClr val="E7C766"/>
                </a:solidFill>
                <a:latin typeface="Arial" pitchFamily="34" charset="0"/>
                <a:ea typeface="Arial" pitchFamily="34" charset="-122"/>
                <a:cs typeface="Arial" pitchFamily="34" charset="-120"/>
              </a:rPr>
              <a:t>BEFORE 2:40</a:t>
            </a:r>
            <a:endParaRPr lang="en-US" sz="1300" dirty="0"/>
          </a:p>
        </p:txBody>
      </p:sp>
      <p:sp>
        <p:nvSpPr>
          <p:cNvPr id="16" name="Shape 14"/>
          <p:cNvSpPr/>
          <p:nvPr/>
        </p:nvSpPr>
        <p:spPr>
          <a:xfrm rot="2700000">
            <a:off x="2365096" y="4002847"/>
            <a:ext cx="100584" cy="100584"/>
          </a:xfrm>
          <a:prstGeom prst="rect">
            <a:avLst/>
          </a:prstGeom>
          <a:solidFill>
            <a:srgbClr val="C9A227"/>
          </a:solidFill>
          <a:ln w="3175">
            <a:solidFill>
              <a:srgbClr val="C9A227"/>
            </a:solidFill>
            <a:prstDash val="solid"/>
          </a:ln>
        </p:spPr>
      </p:sp>
      <p:sp>
        <p:nvSpPr>
          <p:cNvPr id="17" name="Text 15"/>
          <p:cNvSpPr/>
          <p:nvPr/>
        </p:nvSpPr>
        <p:spPr>
          <a:xfrm>
            <a:off x="2675992" y="3925123"/>
            <a:ext cx="7150608" cy="299466"/>
          </a:xfrm>
          <a:prstGeom prst="rect">
            <a:avLst/>
          </a:prstGeom>
          <a:noFill/>
          <a:ln/>
        </p:spPr>
        <p:txBody>
          <a:bodyPr wrap="square" lIns="0" tIns="0" rIns="0" bIns="0" rtlCol="0" anchor="t"/>
          <a:lstStyle/>
          <a:p>
            <a:pPr indent="0" marL="0">
              <a:lnSpc>
                <a:spcPct val="116000"/>
              </a:lnSpc>
              <a:buNone/>
            </a:pPr>
            <a:r>
              <a:rPr lang="en-US" sz="1300" dirty="0">
                <a:solidFill>
                  <a:srgbClr val="F7F3EA"/>
                </a:solidFill>
                <a:latin typeface="Arial" pitchFamily="34" charset="0"/>
                <a:ea typeface="Arial" pitchFamily="34" charset="-122"/>
                <a:cs typeface="Arial" pitchFamily="34" charset="-120"/>
              </a:rPr>
              <a:t>Laptop open, plugged in, on the venue network.</a:t>
            </a:r>
            <a:endParaRPr lang="en-US" sz="1300" dirty="0"/>
          </a:p>
        </p:txBody>
      </p:sp>
      <p:sp>
        <p:nvSpPr>
          <p:cNvPr id="18" name="Shape 16"/>
          <p:cNvSpPr/>
          <p:nvPr/>
        </p:nvSpPr>
        <p:spPr>
          <a:xfrm rot="2700000">
            <a:off x="2365096" y="4375465"/>
            <a:ext cx="100584" cy="100584"/>
          </a:xfrm>
          <a:prstGeom prst="rect">
            <a:avLst/>
          </a:prstGeom>
          <a:solidFill>
            <a:srgbClr val="C9A227"/>
          </a:solidFill>
          <a:ln w="3175">
            <a:solidFill>
              <a:srgbClr val="C9A227"/>
            </a:solidFill>
            <a:prstDash val="solid"/>
          </a:ln>
        </p:spPr>
      </p:sp>
      <p:sp>
        <p:nvSpPr>
          <p:cNvPr id="19" name="Text 17"/>
          <p:cNvSpPr/>
          <p:nvPr/>
        </p:nvSpPr>
        <p:spPr>
          <a:xfrm>
            <a:off x="2675992" y="4297741"/>
            <a:ext cx="7150608" cy="299466"/>
          </a:xfrm>
          <a:prstGeom prst="rect">
            <a:avLst/>
          </a:prstGeom>
          <a:noFill/>
          <a:ln/>
        </p:spPr>
        <p:txBody>
          <a:bodyPr wrap="square" lIns="0" tIns="0" rIns="0" bIns="0" rtlCol="0" anchor="t"/>
          <a:lstStyle/>
          <a:p>
            <a:pPr indent="0" marL="0">
              <a:lnSpc>
                <a:spcPct val="116000"/>
              </a:lnSpc>
              <a:buNone/>
            </a:pPr>
            <a:r>
              <a:rPr lang="en-US" sz="1300" dirty="0">
                <a:solidFill>
                  <a:srgbClr val="F7F3EA"/>
                </a:solidFill>
                <a:latin typeface="Arial" pitchFamily="34" charset="0"/>
                <a:ea typeface="Arial" pitchFamily="34" charset="-122"/>
                <a:cs typeface="Arial" pitchFamily="34" charset="-120"/>
              </a:rPr>
              <a:t>Claude desktop installed and signed in.</a:t>
            </a:r>
            <a:endParaRPr lang="en-US" sz="1300" dirty="0"/>
          </a:p>
        </p:txBody>
      </p:sp>
      <p:sp>
        <p:nvSpPr>
          <p:cNvPr id="20" name="Shape 18"/>
          <p:cNvSpPr/>
          <p:nvPr/>
        </p:nvSpPr>
        <p:spPr>
          <a:xfrm rot="2700000">
            <a:off x="2365096" y="4748083"/>
            <a:ext cx="100584" cy="100584"/>
          </a:xfrm>
          <a:prstGeom prst="rect">
            <a:avLst/>
          </a:prstGeom>
          <a:solidFill>
            <a:srgbClr val="C9A227"/>
          </a:solidFill>
          <a:ln w="3175">
            <a:solidFill>
              <a:srgbClr val="C9A227"/>
            </a:solidFill>
            <a:prstDash val="solid"/>
          </a:ln>
        </p:spPr>
      </p:sp>
      <p:sp>
        <p:nvSpPr>
          <p:cNvPr id="21" name="Text 19"/>
          <p:cNvSpPr/>
          <p:nvPr/>
        </p:nvSpPr>
        <p:spPr>
          <a:xfrm>
            <a:off x="2675992" y="4670359"/>
            <a:ext cx="7150608" cy="299466"/>
          </a:xfrm>
          <a:prstGeom prst="rect">
            <a:avLst/>
          </a:prstGeom>
          <a:noFill/>
          <a:ln/>
        </p:spPr>
        <p:txBody>
          <a:bodyPr wrap="square" lIns="0" tIns="0" rIns="0" bIns="0" rtlCol="0" anchor="t"/>
          <a:lstStyle/>
          <a:p>
            <a:pPr indent="0" marL="0">
              <a:lnSpc>
                <a:spcPct val="116000"/>
              </a:lnSpc>
              <a:buNone/>
            </a:pPr>
            <a:r>
              <a:rPr lang="en-US" sz="1300" dirty="0">
                <a:solidFill>
                  <a:srgbClr val="F7F3EA"/>
                </a:solidFill>
                <a:latin typeface="Arial" pitchFamily="34" charset="0"/>
                <a:ea typeface="Arial" pitchFamily="34" charset="-122"/>
                <a:cs typeface="Arial" pitchFamily="34" charset="-120"/>
              </a:rPr>
              <a:t>Your workspace invite accepted.</a:t>
            </a:r>
            <a:endParaRPr lang="en-US" sz="1300" dirty="0"/>
          </a:p>
        </p:txBody>
      </p:sp>
      <p:sp>
        <p:nvSpPr>
          <p:cNvPr id="22" name="Shape 20"/>
          <p:cNvSpPr/>
          <p:nvPr/>
        </p:nvSpPr>
        <p:spPr>
          <a:xfrm rot="2700000">
            <a:off x="2365096" y="5120701"/>
            <a:ext cx="100584" cy="100584"/>
          </a:xfrm>
          <a:prstGeom prst="rect">
            <a:avLst/>
          </a:prstGeom>
          <a:solidFill>
            <a:srgbClr val="C9A227"/>
          </a:solidFill>
          <a:ln w="3175">
            <a:solidFill>
              <a:srgbClr val="C9A227"/>
            </a:solidFill>
            <a:prstDash val="solid"/>
          </a:ln>
        </p:spPr>
      </p:sp>
      <p:sp>
        <p:nvSpPr>
          <p:cNvPr id="23" name="Text 21"/>
          <p:cNvSpPr/>
          <p:nvPr/>
        </p:nvSpPr>
        <p:spPr>
          <a:xfrm>
            <a:off x="2675992" y="5042977"/>
            <a:ext cx="7150608" cy="299466"/>
          </a:xfrm>
          <a:prstGeom prst="rect">
            <a:avLst/>
          </a:prstGeom>
          <a:noFill/>
          <a:ln/>
        </p:spPr>
        <p:txBody>
          <a:bodyPr wrap="square" lIns="0" tIns="0" rIns="0" bIns="0" rtlCol="0" anchor="t"/>
          <a:lstStyle/>
          <a:p>
            <a:pPr indent="0" marL="0">
              <a:lnSpc>
                <a:spcPct val="116000"/>
              </a:lnSpc>
              <a:buNone/>
            </a:pPr>
            <a:r>
              <a:rPr lang="en-US" sz="1300" dirty="0">
                <a:solidFill>
                  <a:srgbClr val="F7F3EA"/>
                </a:solidFill>
                <a:latin typeface="Arial" pitchFamily="34" charset="0"/>
                <a:ea typeface="Arial" pitchFamily="34" charset="-122"/>
                <a:cs typeface="Arial" pitchFamily="34" charset="-120"/>
              </a:rPr>
              <a:t>Your work email login handy. You will connect it live.</a:t>
            </a:r>
            <a:endParaRPr lang="en-US" sz="1300" dirty="0"/>
          </a:p>
        </p:txBody>
      </p:sp>
      <p:sp>
        <p:nvSpPr>
          <p:cNvPr id="24" name="Text 22"/>
          <p:cNvSpPr/>
          <p:nvPr/>
        </p:nvSpPr>
        <p:spPr>
          <a:xfrm>
            <a:off x="813816" y="5669280"/>
            <a:ext cx="10570464" cy="274320"/>
          </a:xfrm>
          <a:prstGeom prst="rect">
            <a:avLst/>
          </a:prstGeom>
          <a:noFill/>
          <a:ln/>
        </p:spPr>
        <p:txBody>
          <a:bodyPr wrap="square" lIns="0" tIns="0" rIns="0" bIns="0" rtlCol="0" anchor="ctr"/>
          <a:lstStyle/>
          <a:p>
            <a:pPr algn="ctr" indent="0" marL="0">
              <a:buNone/>
            </a:pPr>
            <a:r>
              <a:rPr lang="en-US" sz="1100" b="1" spc="140" kern="0" dirty="0">
                <a:solidFill>
                  <a:srgbClr val="AFA893"/>
                </a:solidFill>
                <a:latin typeface="Arial" pitchFamily="34" charset="0"/>
                <a:ea typeface="Arial" pitchFamily="34" charset="-122"/>
                <a:cs typeface="Arial" pitchFamily="34" charset="-120"/>
              </a:rPr>
              <a:t>NEXT: BUILD YOUR OWN DONNA   ◆   2:40 TO 4:10   ◆   THE EXECUTION SIDE OF THE SAME FLYWHEEL</a:t>
            </a:r>
            <a:endParaRPr lang="en-US" sz="1100" dirty="0"/>
          </a:p>
        </p:txBody>
      </p:sp>
      <p:sp>
        <p:nvSpPr>
          <p:cNvPr id="25" name="Shape 23"/>
          <p:cNvSpPr/>
          <p:nvPr/>
        </p:nvSpPr>
        <p:spPr>
          <a:xfrm>
            <a:off x="2438248" y="6272784"/>
            <a:ext cx="7315200" cy="0"/>
          </a:xfrm>
          <a:prstGeom prst="line">
            <a:avLst/>
          </a:prstGeom>
          <a:noFill/>
          <a:ln w="9525">
            <a:solidFill>
              <a:srgbClr val="C9A227">
                <a:alpha val="60000"/>
              </a:srgbClr>
            </a:solidFill>
            <a:prstDash val="solid"/>
          </a:ln>
        </p:spPr>
      </p:sp>
      <p:sp>
        <p:nvSpPr>
          <p:cNvPr id="26" name="Shape 24"/>
          <p:cNvSpPr/>
          <p:nvPr/>
        </p:nvSpPr>
        <p:spPr>
          <a:xfrm rot="2700000">
            <a:off x="6050128" y="6227064"/>
            <a:ext cx="91440" cy="91440"/>
          </a:xfrm>
          <a:prstGeom prst="rect">
            <a:avLst/>
          </a:prstGeom>
          <a:solidFill>
            <a:srgbClr val="1E808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Signature Travel Network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SigCompass Reveal and Product Tour</dc:title>
  <dc:subject>PptxGenJS Presentation</dc:subject>
  <dc:creator>Denise Gosnell</dc:creator>
  <cp:lastModifiedBy>Denise Gosnell</cp:lastModifiedBy>
  <cp:revision>1</cp:revision>
  <dcterms:created xsi:type="dcterms:W3CDTF">2026-08-09T18:27:51Z</dcterms:created>
  <dcterms:modified xsi:type="dcterms:W3CDTF">2026-08-09T18:27:51Z</dcterms:modified>
</cp:coreProperties>
</file>