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the site open on your phone, Claude open on your laptop, the chat is for two things, a checkmark when you have it and HELP when you do not. Name the co-host working the chat.
[WATCH] Do not start until the chat shows checkmarks from most of the room. The people who fall behind fall behind here, not later.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sentences at the top out loud, slowly. Then the last line of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And say 'the textbook version has more stops; we fold two of them in' if anyone technical pushes. It is on the slide in small print.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HELP in the chat, and the co-host comes to you.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12:12, teach at 12:26, run at 12:40, retrain at 12:58. At 1:13 she is working for you, and she has already given herself her first performance review.
[DO] Say the arc out loud, then point at the clock on each card. Then switch to the site: everything from here is copy and paste from your phone.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One of four stations lit. By 1:13 all four are. Switch the screen share to the site, Step 1.
[WATCH] Nothing yet. Keep moving.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co-host chases the HELPs.
[WATCH] If a connector is stuck: disconnect, reconnect, confirm the account. If someone is hopelessly stuck, pair them with the co-host in a breakout and keep the room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TEACH. Share the site, Step 2.
[WATCH] Nothing yet.
[NEXT] Four questions, and she does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About four minutes.
[DO] Everyone pastes the template from the site into a NEW chat inside the Donna project. Gate: every screen shows 'Four questions. About four minutes.' and QUESTION 1 OF 4. Checkmarks in the chat. Then let them run. Circulate through the chat with the co-host.
[WATCH] She reaches THE FINAL QUESTION by minute four on her own. When I call time, anyone not there types: final question. Someone will paste OUTSIDE the Donna project and get generic results; get them inside the project, it is the first note on the page.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Gate first: is THE FINAL QUESTION on your screen? Anyone who is not there types: final question.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RUN. Share the site, Step 3.
[WATCH] Nothing yet.
[NEXT] She writes her own playbook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A skill written in chat does not exist until you upload it. The file is a zip; the Skills screen wants a zip. Go slow and demo it on screen.
[DO] Three beats. She writes it. You DOWNLOAD it. You UPLOAD it under Skills. Wait until the chat says every screen shows donna-triage in the list.
[WATCH] Stay in the SAME chat as step two; a fresh chat has not met them yet and writes a blank template. If someone cannot find Skills (some builds say Customize, then Skills), the rescue prompt on the page asks Claude where it is in their version.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If someone cannot find Scheduled, the rescue prompt on the page asks Claude where it is.
[WATCH] Scheduled tasks run on Anthropic's side now, so a closed laptop is fine; say that plainly. 'My local time' matters: half this room is in Europe. Paste by 12:51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1:00. Do not wait for the email here. Move on at 12:58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[DO] Pip: all four stations lit. Share the site, Step 4.
[WATCH] Nothing yet.
[NEXT] Fridays, she reads her week against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Your Sent folder is her report card. She reads the reports she wrote, the drafts she saved, and the emails you actually sent, and she proposes changes to her own playbook. Numbered, each with a because. Nothing changes until you say approve.
[DO] Paste first, by 1:01, then talk. Same place as the daily shift: Scheduled, New task, paste. The last line runs it right now on this week so far, with today's event ten minutes out, which lands at 1:11 if the paste is at 1:01.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Watch for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loop with THEIR artifacts: the playbook she wrote, the skill file they own, the schedule it runs on, the Friday it learns on. They did not learn a tool today. They built a loop, and closed it.
[DO] Pause here, then open the floor.
[WATCH] Nothing.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a Friday.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anyone who is done reading email. No code. You copy, you paste, you leave with an agent.</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WEDNESDAY, OCTOBER 21   ·   12:00 PM ET   ·   9:00 AM PT   ·   5:00 PM LONDON   ·   6:00 PM PARIS</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743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a:t>
            </a:r>
            <a:endParaRPr lang="en-US" sz="1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40080"/>
            <a:ext cx="10241280" cy="57607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  ·  THE BOTTLE, IN THREE FRAMES</a:t>
            </a:r>
            <a:endParaRPr lang="en-US" sz="12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Before AI. One task per second. All of them yours.</a:t>
            </a:r>
            <a:endParaRPr lang="en-US" sz="13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3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3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11" name="Shape 6"/>
          <p:cNvSpPr/>
          <p:nvPr/>
        </p:nvSpPr>
        <p:spPr>
          <a:xfrm rot="2700000">
            <a:off x="2947416" y="6003036"/>
            <a:ext cx="64008" cy="64008"/>
          </a:xfrm>
          <a:prstGeom prst="rect">
            <a:avLst/>
          </a:prstGeom>
          <a:solidFill>
            <a:srgbClr val="C9A227"/>
          </a:solidFill>
          <a:ln w="3175">
            <a:solidFill>
              <a:srgbClr val="C9A227"/>
            </a:solidFill>
            <a:prstDash val="solid"/>
          </a:ln>
        </p:spPr>
      </p:sp>
      <p:sp>
        <p:nvSpPr>
          <p:cNvPr id="12" name="Text 7"/>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3</a:t>
            </a:r>
            <a:endParaRPr lang="en-US" sz="900" dirty="0"/>
          </a:p>
        </p:txBody>
      </p:sp>
      <p:sp>
        <p:nvSpPr>
          <p:cNvPr id="7" name="Text 5"/>
          <p:cNvSpPr/>
          <p:nvPr/>
        </p:nvSpPr>
        <p:spPr>
          <a:xfrm>
            <a:off x="1249528" y="822960"/>
            <a:ext cx="9692640" cy="1399642"/>
          </a:xfrm>
          <a:prstGeom prst="rect">
            <a:avLst/>
          </a:prstGeom>
          <a:noFill/>
          <a:ln/>
        </p:spPr>
        <p:txBody>
          <a:bodyPr wrap="square" lIns="0" tIns="0" rIns="0" bIns="0" rtlCol="0" anchor="t"/>
          <a:lstStyle/>
          <a:p>
            <a:pPr algn="ctr" indent="0" marL="0">
              <a:buNone/>
            </a:pPr>
            <a:r>
              <a:rPr lang="en-US" sz="4000" b="1" dirty="0">
                <a:solidFill>
                  <a:srgbClr val="14213D"/>
                </a:solidFill>
                <a:latin typeface="Georgia" pitchFamily="34" charset="0"/>
                <a:ea typeface="Georgia" pitchFamily="34" charset="-122"/>
                <a:cs typeface="Georgia" pitchFamily="34" charset="-120"/>
              </a:rPr>
              <a:t>Open loops make more work. Closed loops make better work.</a:t>
            </a:r>
            <a:endParaRPr lang="en-US" sz="4000" dirty="0"/>
          </a:p>
        </p:txBody>
      </p:sp>
      <p:sp>
        <p:nvSpPr>
          <p:cNvPr id="8" name="Text 6"/>
          <p:cNvSpPr/>
          <p:nvPr/>
        </p:nvSpPr>
        <p:spPr>
          <a:xfrm>
            <a:off x="1088136" y="2496922"/>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9" name="Shape 7"/>
          <p:cNvSpPr/>
          <p:nvPr/>
        </p:nvSpPr>
        <p:spPr>
          <a:xfrm>
            <a:off x="1271016" y="3063850"/>
            <a:ext cx="914400" cy="914400"/>
          </a:xfrm>
          <a:prstGeom prst="ellipse">
            <a:avLst/>
          </a:prstGeom>
          <a:ln w="12700">
            <a:solidFill>
              <a:srgbClr val="C9A227"/>
            </a:solidFill>
            <a:prstDash val="solid"/>
          </a:ln>
        </p:spPr>
      </p:sp>
      <p:sp>
        <p:nvSpPr>
          <p:cNvPr id="10" name="Text 8"/>
          <p:cNvSpPr/>
          <p:nvPr/>
        </p:nvSpPr>
        <p:spPr>
          <a:xfrm>
            <a:off x="1271016" y="3063850"/>
            <a:ext cx="914400" cy="914400"/>
          </a:xfrm>
          <a:prstGeom prst="rect">
            <a:avLst/>
          </a:prstGeom>
          <a:noFill/>
          <a:ln/>
        </p:spPr>
        <p:txBody>
          <a:bodyPr wrap="square" lIns="0" tIns="0" rIns="0" bIns="0" rtlCol="0" anchor="ctr"/>
          <a:lstStyle/>
          <a:p>
            <a:pPr algn="ctr" indent="0" marL="0">
              <a:buNone/>
            </a:pPr>
            <a:r>
              <a:rPr lang="en-US" sz="1000" b="1" dirty="0">
                <a:solidFill>
                  <a:srgbClr val="8A6D14"/>
                </a:solidFill>
                <a:latin typeface="Georgia" pitchFamily="34" charset="0"/>
                <a:ea typeface="Georgia" pitchFamily="34" charset="-122"/>
                <a:cs typeface="Georgia" pitchFamily="34" charset="-120"/>
              </a:rPr>
              <a:t>THE RULES</a:t>
            </a:r>
            <a:endParaRPr lang="en-US" sz="1000" dirty="0"/>
          </a:p>
        </p:txBody>
      </p:sp>
      <p:sp>
        <p:nvSpPr>
          <p:cNvPr id="11" name="Shape 9"/>
          <p:cNvSpPr/>
          <p:nvPr/>
        </p:nvSpPr>
        <p:spPr>
          <a:xfrm>
            <a:off x="2185416" y="3521050"/>
            <a:ext cx="3657600" cy="0"/>
          </a:xfrm>
          <a:prstGeom prst="line">
            <a:avLst/>
          </a:prstGeom>
          <a:noFill/>
          <a:ln w="12700">
            <a:solidFill>
              <a:srgbClr val="C9A227"/>
            </a:solidFill>
            <a:prstDash val="solid"/>
          </a:ln>
        </p:spPr>
      </p:sp>
      <p:sp>
        <p:nvSpPr>
          <p:cNvPr id="12" name="Shape 10"/>
          <p:cNvSpPr/>
          <p:nvPr/>
        </p:nvSpPr>
        <p:spPr>
          <a:xfrm rot="5400000">
            <a:off x="2670048" y="3434182"/>
            <a:ext cx="128016" cy="173736"/>
          </a:xfrm>
          <a:prstGeom prst="triangle">
            <a:avLst/>
          </a:prstGeom>
          <a:solidFill>
            <a:srgbClr val="C9A227"/>
          </a:solidFill>
          <a:ln/>
        </p:spPr>
      </p:sp>
      <p:sp>
        <p:nvSpPr>
          <p:cNvPr id="13" name="Shape 11"/>
          <p:cNvSpPr/>
          <p:nvPr/>
        </p:nvSpPr>
        <p:spPr>
          <a:xfrm rot="5400000">
            <a:off x="3675888" y="3434182"/>
            <a:ext cx="128016" cy="173736"/>
          </a:xfrm>
          <a:prstGeom prst="triangle">
            <a:avLst/>
          </a:prstGeom>
          <a:solidFill>
            <a:srgbClr val="C9A227"/>
          </a:solidFill>
          <a:ln/>
        </p:spPr>
      </p:sp>
      <p:sp>
        <p:nvSpPr>
          <p:cNvPr id="14" name="Shape 12"/>
          <p:cNvSpPr/>
          <p:nvPr/>
        </p:nvSpPr>
        <p:spPr>
          <a:xfrm rot="5400000">
            <a:off x="4681728" y="3434182"/>
            <a:ext cx="128016" cy="173736"/>
          </a:xfrm>
          <a:prstGeom prst="triangle">
            <a:avLst/>
          </a:prstGeom>
          <a:solidFill>
            <a:srgbClr val="C9A227"/>
          </a:solidFill>
          <a:ln/>
        </p:spPr>
      </p:sp>
      <p:sp>
        <p:nvSpPr>
          <p:cNvPr id="15" name="Text 13"/>
          <p:cNvSpPr/>
          <p:nvPr/>
        </p:nvSpPr>
        <p:spPr>
          <a:xfrm>
            <a:off x="2459736" y="3063850"/>
            <a:ext cx="338328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work goes out</a:t>
            </a:r>
            <a:endParaRPr lang="en-US" sz="1100" dirty="0"/>
          </a:p>
        </p:txBody>
      </p:sp>
      <p:sp>
        <p:nvSpPr>
          <p:cNvPr id="16" name="Text 14"/>
          <p:cNvSpPr/>
          <p:nvPr/>
        </p:nvSpPr>
        <p:spPr>
          <a:xfrm>
            <a:off x="2459736" y="3758794"/>
            <a:ext cx="338328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nothing comes back</a:t>
            </a:r>
            <a:endParaRPr lang="en-US" sz="1100" dirty="0"/>
          </a:p>
        </p:txBody>
      </p:sp>
      <p:sp>
        <p:nvSpPr>
          <p:cNvPr id="17" name="Text 15"/>
          <p:cNvSpPr/>
          <p:nvPr/>
        </p:nvSpPr>
        <p:spPr>
          <a:xfrm>
            <a:off x="6348679" y="2496922"/>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8" name="Shape 16"/>
          <p:cNvSpPr/>
          <p:nvPr/>
        </p:nvSpPr>
        <p:spPr>
          <a:xfrm>
            <a:off x="8067751" y="2862682"/>
            <a:ext cx="1316736" cy="1316736"/>
          </a:xfrm>
          <a:prstGeom prst="ellipse">
            <a:avLst/>
          </a:prstGeom>
          <a:ln w="12700">
            <a:solidFill>
              <a:srgbClr val="C9A227"/>
            </a:solidFill>
            <a:prstDash val="solid"/>
          </a:ln>
        </p:spPr>
      </p:sp>
      <p:sp>
        <p:nvSpPr>
          <p:cNvPr id="19" name="Shape 17"/>
          <p:cNvSpPr/>
          <p:nvPr/>
        </p:nvSpPr>
        <p:spPr>
          <a:xfrm rot="8100000">
            <a:off x="9144107" y="2990134"/>
            <a:ext cx="95098" cy="130759"/>
          </a:xfrm>
          <a:prstGeom prst="triangle">
            <a:avLst/>
          </a:prstGeom>
          <a:solidFill>
            <a:srgbClr val="C9A227"/>
          </a:solidFill>
          <a:ln/>
        </p:spPr>
      </p:sp>
      <p:sp>
        <p:nvSpPr>
          <p:cNvPr id="20" name="Shape 18"/>
          <p:cNvSpPr/>
          <p:nvPr/>
        </p:nvSpPr>
        <p:spPr>
          <a:xfrm rot="13500000">
            <a:off x="9144107" y="3921206"/>
            <a:ext cx="95098" cy="130759"/>
          </a:xfrm>
          <a:prstGeom prst="triangle">
            <a:avLst/>
          </a:prstGeom>
          <a:solidFill>
            <a:srgbClr val="C9A227"/>
          </a:solidFill>
          <a:ln/>
        </p:spPr>
      </p:sp>
      <p:sp>
        <p:nvSpPr>
          <p:cNvPr id="21" name="Shape 19"/>
          <p:cNvSpPr/>
          <p:nvPr/>
        </p:nvSpPr>
        <p:spPr>
          <a:xfrm rot="18900000">
            <a:off x="8213034" y="3921206"/>
            <a:ext cx="95098" cy="130759"/>
          </a:xfrm>
          <a:prstGeom prst="triangle">
            <a:avLst/>
          </a:prstGeom>
          <a:solidFill>
            <a:srgbClr val="C9A227"/>
          </a:solidFill>
          <a:ln/>
        </p:spPr>
      </p:sp>
      <p:sp>
        <p:nvSpPr>
          <p:cNvPr id="22" name="Shape 20"/>
          <p:cNvSpPr/>
          <p:nvPr/>
        </p:nvSpPr>
        <p:spPr>
          <a:xfrm rot="2700000">
            <a:off x="8213034" y="2990134"/>
            <a:ext cx="95098" cy="130759"/>
          </a:xfrm>
          <a:prstGeom prst="triangle">
            <a:avLst/>
          </a:prstGeom>
          <a:solidFill>
            <a:srgbClr val="C9A227"/>
          </a:solidFill>
          <a:ln/>
        </p:spPr>
      </p:sp>
      <p:sp>
        <p:nvSpPr>
          <p:cNvPr id="23" name="Shape 21"/>
          <p:cNvSpPr/>
          <p:nvPr/>
        </p:nvSpPr>
        <p:spPr>
          <a:xfrm>
            <a:off x="8344266" y="3139196"/>
            <a:ext cx="763707" cy="763707"/>
          </a:xfrm>
          <a:prstGeom prst="ellipse">
            <a:avLst/>
          </a:prstGeom>
          <a:ln w="12700">
            <a:solidFill>
              <a:srgbClr val="C9A227"/>
            </a:solidFill>
            <a:prstDash val="solid"/>
          </a:ln>
        </p:spPr>
      </p:sp>
      <p:sp>
        <p:nvSpPr>
          <p:cNvPr id="24" name="Text 22"/>
          <p:cNvSpPr/>
          <p:nvPr/>
        </p:nvSpPr>
        <p:spPr>
          <a:xfrm>
            <a:off x="8389986" y="3339440"/>
            <a:ext cx="67226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8A6D14"/>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8A6D14"/>
                </a:solidFill>
                <a:latin typeface="Georgia" pitchFamily="34" charset="0"/>
                <a:ea typeface="Georgia" pitchFamily="34" charset="-122"/>
                <a:cs typeface="Georgia" pitchFamily="34" charset="-120"/>
              </a:rPr>
              <a:t>RULES</a:t>
            </a:r>
            <a:endParaRPr lang="en-US" sz="1100" dirty="0"/>
          </a:p>
        </p:txBody>
      </p:sp>
      <p:sp>
        <p:nvSpPr>
          <p:cNvPr id="25" name="Shape 23"/>
          <p:cNvSpPr/>
          <p:nvPr/>
        </p:nvSpPr>
        <p:spPr>
          <a:xfrm>
            <a:off x="8561527" y="2698090"/>
            <a:ext cx="329184" cy="329184"/>
          </a:xfrm>
          <a:prstGeom prst="ellipse">
            <a:avLst/>
          </a:prstGeom>
          <a:solidFill>
            <a:srgbClr val="F7F3EA"/>
          </a:solidFill>
          <a:ln w="12700">
            <a:solidFill>
              <a:srgbClr val="C9A227"/>
            </a:solidFill>
            <a:prstDash val="solid"/>
          </a:ln>
        </p:spPr>
      </p:sp>
      <p:sp>
        <p:nvSpPr>
          <p:cNvPr id="26" name="Text 24"/>
          <p:cNvSpPr/>
          <p:nvPr/>
        </p:nvSpPr>
        <p:spPr>
          <a:xfrm>
            <a:off x="8561527" y="2698090"/>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7" name="Shape 25"/>
          <p:cNvSpPr/>
          <p:nvPr/>
        </p:nvSpPr>
        <p:spPr>
          <a:xfrm>
            <a:off x="9219895" y="3356458"/>
            <a:ext cx="329184" cy="329184"/>
          </a:xfrm>
          <a:prstGeom prst="ellipse">
            <a:avLst/>
          </a:prstGeom>
          <a:solidFill>
            <a:srgbClr val="F7F3EA"/>
          </a:solidFill>
          <a:ln w="12700">
            <a:solidFill>
              <a:srgbClr val="C9A227"/>
            </a:solidFill>
            <a:prstDash val="solid"/>
          </a:ln>
        </p:spPr>
      </p:sp>
      <p:sp>
        <p:nvSpPr>
          <p:cNvPr id="28" name="Text 26"/>
          <p:cNvSpPr/>
          <p:nvPr/>
        </p:nvSpPr>
        <p:spPr>
          <a:xfrm>
            <a:off x="9219895" y="3356458"/>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9" name="Shape 27"/>
          <p:cNvSpPr/>
          <p:nvPr/>
        </p:nvSpPr>
        <p:spPr>
          <a:xfrm>
            <a:off x="8561527" y="4014826"/>
            <a:ext cx="329184" cy="329184"/>
          </a:xfrm>
          <a:prstGeom prst="ellipse">
            <a:avLst/>
          </a:prstGeom>
          <a:solidFill>
            <a:srgbClr val="F7F3EA"/>
          </a:solidFill>
          <a:ln w="12700">
            <a:solidFill>
              <a:srgbClr val="C9A227"/>
            </a:solidFill>
            <a:prstDash val="solid"/>
          </a:ln>
        </p:spPr>
      </p:sp>
      <p:sp>
        <p:nvSpPr>
          <p:cNvPr id="30" name="Text 28"/>
          <p:cNvSpPr/>
          <p:nvPr/>
        </p:nvSpPr>
        <p:spPr>
          <a:xfrm>
            <a:off x="8561527" y="4014826"/>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1" name="Shape 29"/>
          <p:cNvSpPr/>
          <p:nvPr/>
        </p:nvSpPr>
        <p:spPr>
          <a:xfrm>
            <a:off x="7903159" y="3356458"/>
            <a:ext cx="329184" cy="329184"/>
          </a:xfrm>
          <a:prstGeom prst="ellipse">
            <a:avLst/>
          </a:prstGeom>
          <a:solidFill>
            <a:srgbClr val="F7F3EA"/>
          </a:solidFill>
          <a:ln w="12700">
            <a:solidFill>
              <a:srgbClr val="C9A227"/>
            </a:solidFill>
            <a:prstDash val="solid"/>
          </a:ln>
        </p:spPr>
      </p:sp>
      <p:sp>
        <p:nvSpPr>
          <p:cNvPr id="32" name="Text 30"/>
          <p:cNvSpPr/>
          <p:nvPr/>
        </p:nvSpPr>
        <p:spPr>
          <a:xfrm>
            <a:off x="7903159" y="3356458"/>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3" name="Text 31"/>
          <p:cNvSpPr/>
          <p:nvPr/>
        </p:nvSpPr>
        <p:spPr>
          <a:xfrm>
            <a:off x="813816" y="4563466"/>
            <a:ext cx="10570464" cy="715518"/>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A loop is open when work goes out and nothing comes back to tell you how it went. A loop is closed when the result comes back to the person who set the rules, and the rules get better. AI makes open loops cheap. That is the whole problem, and it is the whole opportunity.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ANY WORKFLOW YOU CAN DESCRIBE</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8100000">
            <a:off x="4308844" y="2610573"/>
            <a:ext cx="95098" cy="130759"/>
          </a:xfrm>
          <a:prstGeom prst="triangle">
            <a:avLst/>
          </a:prstGeom>
          <a:solidFill>
            <a:srgbClr val="C9A227"/>
          </a:solidFill>
          <a:ln/>
        </p:spPr>
      </p:sp>
      <p:sp>
        <p:nvSpPr>
          <p:cNvPr id="11" name="Shape 9"/>
          <p:cNvSpPr/>
          <p:nvPr/>
        </p:nvSpPr>
        <p:spPr>
          <a:xfrm rot="13500000">
            <a:off x="4308844" y="3825279"/>
            <a:ext cx="95098" cy="130759"/>
          </a:xfrm>
          <a:prstGeom prst="triangle">
            <a:avLst/>
          </a:prstGeom>
          <a:solidFill>
            <a:srgbClr val="C9A227"/>
          </a:solidFill>
          <a:ln/>
        </p:spPr>
      </p:sp>
      <p:sp>
        <p:nvSpPr>
          <p:cNvPr id="12" name="Shape 10"/>
          <p:cNvSpPr/>
          <p:nvPr/>
        </p:nvSpPr>
        <p:spPr>
          <a:xfrm rot="18900000">
            <a:off x="3094139" y="3825279"/>
            <a:ext cx="95098" cy="130759"/>
          </a:xfrm>
          <a:prstGeom prst="triangle">
            <a:avLst/>
          </a:prstGeom>
          <a:solidFill>
            <a:srgbClr val="C9A227"/>
          </a:solidFill>
          <a:ln/>
        </p:spPr>
      </p:sp>
      <p:sp>
        <p:nvSpPr>
          <p:cNvPr id="13" name="Shape 11"/>
          <p:cNvSpPr/>
          <p:nvPr/>
        </p:nvSpPr>
        <p:spPr>
          <a:xfrm rot="2700000">
            <a:off x="3094139" y="2610573"/>
            <a:ext cx="95098" cy="130759"/>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F7F3EA"/>
          </a:solidFill>
          <a:ln/>
        </p:spPr>
      </p:sp>
      <p:sp>
        <p:nvSpPr>
          <p:cNvPr id="15" name="Text 13"/>
          <p:cNvSpPr/>
          <p:nvPr/>
        </p:nvSpPr>
        <p:spPr>
          <a:xfrm>
            <a:off x="3296583" y="3085186"/>
            <a:ext cx="90491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Work comes in.</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Write the rules down once.</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work gets done, on a schedule.</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Look at what came back. Fix the rules.</a:t>
            </a:r>
            <a:endParaRPr lang="en-US" sz="1200" dirty="0"/>
          </a:p>
        </p:txBody>
      </p:sp>
      <p:sp>
        <p:nvSpPr>
          <p:cNvPr id="36" name="Text 34"/>
          <p:cNvSpPr/>
          <p:nvPr/>
        </p:nvSpPr>
        <p:spPr>
          <a:xfrm>
            <a:off x="813816" y="493776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Email. Invoices. Hiring. Support tickets. Same four stops. Most are left open: people build the first three and never come back for the fourth.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MACHINE LEARNING ACTUALLY IS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the same loop.</a:t>
            </a:r>
            <a:endParaRPr lang="en-US" sz="4000" dirty="0"/>
          </a:p>
        </p:txBody>
      </p:sp>
      <p:sp>
        <p:nvSpPr>
          <p:cNvPr id="9" name="Shape 7"/>
          <p:cNvSpPr/>
          <p:nvPr/>
        </p:nvSpPr>
        <p:spPr>
          <a:xfrm>
            <a:off x="2954122" y="2424379"/>
            <a:ext cx="1589837" cy="1589837"/>
          </a:xfrm>
          <a:prstGeom prst="ellipse">
            <a:avLst/>
          </a:prstGeom>
          <a:ln w="12700">
            <a:solidFill>
              <a:srgbClr val="C9A227"/>
            </a:solidFill>
            <a:prstDash val="solid"/>
          </a:ln>
        </p:spPr>
      </p:sp>
      <p:sp>
        <p:nvSpPr>
          <p:cNvPr id="10" name="Shape 8"/>
          <p:cNvSpPr/>
          <p:nvPr/>
        </p:nvSpPr>
        <p:spPr>
          <a:xfrm rot="8100000">
            <a:off x="4263583" y="2591826"/>
            <a:ext cx="95098" cy="130759"/>
          </a:xfrm>
          <a:prstGeom prst="triangle">
            <a:avLst/>
          </a:prstGeom>
          <a:solidFill>
            <a:srgbClr val="C9A227"/>
          </a:solidFill>
          <a:ln/>
        </p:spPr>
      </p:sp>
      <p:sp>
        <p:nvSpPr>
          <p:cNvPr id="11" name="Shape 9"/>
          <p:cNvSpPr/>
          <p:nvPr/>
        </p:nvSpPr>
        <p:spPr>
          <a:xfrm rot="13500000">
            <a:off x="4263583" y="3716010"/>
            <a:ext cx="95098" cy="130759"/>
          </a:xfrm>
          <a:prstGeom prst="triangle">
            <a:avLst/>
          </a:prstGeom>
          <a:solidFill>
            <a:srgbClr val="C9A227"/>
          </a:solidFill>
          <a:ln/>
        </p:spPr>
      </p:sp>
      <p:sp>
        <p:nvSpPr>
          <p:cNvPr id="12" name="Shape 10"/>
          <p:cNvSpPr/>
          <p:nvPr/>
        </p:nvSpPr>
        <p:spPr>
          <a:xfrm rot="18900000">
            <a:off x="3139399" y="3716010"/>
            <a:ext cx="95098" cy="130759"/>
          </a:xfrm>
          <a:prstGeom prst="triangle">
            <a:avLst/>
          </a:prstGeom>
          <a:solidFill>
            <a:srgbClr val="C9A227"/>
          </a:solidFill>
          <a:ln/>
        </p:spPr>
      </p:sp>
      <p:sp>
        <p:nvSpPr>
          <p:cNvPr id="13" name="Shape 11"/>
          <p:cNvSpPr/>
          <p:nvPr/>
        </p:nvSpPr>
        <p:spPr>
          <a:xfrm rot="2700000">
            <a:off x="3139399" y="2591826"/>
            <a:ext cx="95098" cy="130759"/>
          </a:xfrm>
          <a:prstGeom prst="triangle">
            <a:avLst/>
          </a:prstGeom>
          <a:solidFill>
            <a:srgbClr val="C9A227"/>
          </a:solidFill>
          <a:ln/>
        </p:spPr>
      </p:sp>
      <p:sp>
        <p:nvSpPr>
          <p:cNvPr id="14" name="Shape 12"/>
          <p:cNvSpPr/>
          <p:nvPr/>
        </p:nvSpPr>
        <p:spPr>
          <a:xfrm>
            <a:off x="3287987" y="2758245"/>
            <a:ext cx="922105" cy="922105"/>
          </a:xfrm>
          <a:prstGeom prst="ellipse">
            <a:avLst/>
          </a:prstGeom>
          <a:solidFill>
            <a:srgbClr val="14213D"/>
          </a:solidFill>
          <a:ln/>
        </p:spPr>
      </p:sp>
      <p:sp>
        <p:nvSpPr>
          <p:cNvPr id="15" name="Text 13"/>
          <p:cNvSpPr/>
          <p:nvPr/>
        </p:nvSpPr>
        <p:spPr>
          <a:xfrm>
            <a:off x="3333707" y="3021178"/>
            <a:ext cx="83066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MODEL</a:t>
            </a:r>
            <a:endParaRPr lang="en-US" sz="1200" dirty="0"/>
          </a:p>
        </p:txBody>
      </p:sp>
      <p:sp>
        <p:nvSpPr>
          <p:cNvPr id="16" name="Shape 14"/>
          <p:cNvSpPr/>
          <p:nvPr/>
        </p:nvSpPr>
        <p:spPr>
          <a:xfrm>
            <a:off x="3465576" y="2140915"/>
            <a:ext cx="566928" cy="566928"/>
          </a:xfrm>
          <a:prstGeom prst="ellipse">
            <a:avLst/>
          </a:prstGeom>
          <a:solidFill>
            <a:srgbClr val="F7F3EA"/>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260494" y="2935834"/>
            <a:ext cx="566928" cy="566928"/>
          </a:xfrm>
          <a:prstGeom prst="ellipse">
            <a:avLst/>
          </a:prstGeom>
          <a:solidFill>
            <a:srgbClr val="F7F3EA"/>
          </a:solidFill>
          <a:ln w="12700">
            <a:solidFill>
              <a:srgbClr val="C9A227"/>
            </a:solidFill>
            <a:prstDash val="solid"/>
          </a:ln>
        </p:spPr>
      </p:sp>
      <p:sp>
        <p:nvSpPr>
          <p:cNvPr id="20" name="Text 18"/>
          <p:cNvSpPr/>
          <p:nvPr/>
        </p:nvSpPr>
        <p:spPr>
          <a:xfrm>
            <a:off x="4260494"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955438" y="3093568"/>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730752"/>
            <a:ext cx="566928" cy="566928"/>
          </a:xfrm>
          <a:prstGeom prst="ellipse">
            <a:avLst/>
          </a:prstGeom>
          <a:solidFill>
            <a:srgbClr val="F7F3EA"/>
          </a:solidFill>
          <a:ln w="12700">
            <a:solidFill>
              <a:srgbClr val="C9A227"/>
            </a:solidFill>
            <a:prstDash val="solid"/>
          </a:ln>
        </p:spPr>
      </p:sp>
      <p:sp>
        <p:nvSpPr>
          <p:cNvPr id="23" name="Text 21"/>
          <p:cNvSpPr/>
          <p:nvPr/>
        </p:nvSpPr>
        <p:spPr>
          <a:xfrm>
            <a:off x="3465576" y="373075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370832"/>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70658" y="2935834"/>
            <a:ext cx="566928" cy="566928"/>
          </a:xfrm>
          <a:prstGeom prst="ellipse">
            <a:avLst/>
          </a:prstGeom>
          <a:solidFill>
            <a:srgbClr val="F7F3EA"/>
          </a:solidFill>
          <a:ln w="12700">
            <a:solidFill>
              <a:srgbClr val="C9A227"/>
            </a:solidFill>
            <a:prstDash val="solid"/>
          </a:ln>
        </p:spPr>
      </p:sp>
      <p:sp>
        <p:nvSpPr>
          <p:cNvPr id="26" name="Text 24"/>
          <p:cNvSpPr/>
          <p:nvPr/>
        </p:nvSpPr>
        <p:spPr>
          <a:xfrm>
            <a:off x="2670658"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86154" y="3093568"/>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Collect the data.</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Train the model on it.</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Put it to work and watch what it does.</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Compare results to what you wanted. Retrain.</a:t>
            </a:r>
            <a:endParaRPr lang="en-US" sz="1200" dirty="0"/>
          </a:p>
        </p:txBody>
      </p:sp>
      <p:sp>
        <p:nvSpPr>
          <p:cNvPr id="36" name="Text 34"/>
          <p:cNvSpPr/>
          <p:nvPr/>
        </p:nvSpPr>
        <p:spPr>
          <a:xfrm>
            <a:off x="813816" y="4809744"/>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Computer science has run this loop for over fifty years. Silicon Valley spent two years on the prompt. The prompt was never the hard part. You can ask the AI to write it. Step four was always the job.</a:t>
            </a:r>
            <a:endParaRPr lang="en-US" sz="1300" dirty="0"/>
          </a:p>
        </p:txBody>
      </p:sp>
      <p:sp>
        <p:nvSpPr>
          <p:cNvPr id="37" name="Text 35"/>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The textbook version adds "evaluate" and "monitor"; we fold them into RUN and RETRAIN.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WHAT YOU BUILD IN THE NEXT HOUR</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8100000">
            <a:off x="4308844" y="2610573"/>
            <a:ext cx="95098" cy="130759"/>
          </a:xfrm>
          <a:prstGeom prst="triangle">
            <a:avLst/>
          </a:prstGeom>
          <a:solidFill>
            <a:srgbClr val="C9A227"/>
          </a:solidFill>
          <a:ln/>
        </p:spPr>
      </p:sp>
      <p:sp>
        <p:nvSpPr>
          <p:cNvPr id="11" name="Shape 9"/>
          <p:cNvSpPr/>
          <p:nvPr/>
        </p:nvSpPr>
        <p:spPr>
          <a:xfrm rot="13500000">
            <a:off x="4308844" y="3825279"/>
            <a:ext cx="95098" cy="130759"/>
          </a:xfrm>
          <a:prstGeom prst="triangle">
            <a:avLst/>
          </a:prstGeom>
          <a:solidFill>
            <a:srgbClr val="C9A227"/>
          </a:solidFill>
          <a:ln/>
        </p:spPr>
      </p:sp>
      <p:sp>
        <p:nvSpPr>
          <p:cNvPr id="12" name="Shape 10"/>
          <p:cNvSpPr/>
          <p:nvPr/>
        </p:nvSpPr>
        <p:spPr>
          <a:xfrm rot="18900000">
            <a:off x="3094139" y="3825279"/>
            <a:ext cx="95098" cy="130759"/>
          </a:xfrm>
          <a:prstGeom prst="triangle">
            <a:avLst/>
          </a:prstGeom>
          <a:solidFill>
            <a:srgbClr val="C9A227"/>
          </a:solidFill>
          <a:ln/>
        </p:spPr>
      </p:sp>
      <p:sp>
        <p:nvSpPr>
          <p:cNvPr id="13" name="Shape 11"/>
          <p:cNvSpPr/>
          <p:nvPr/>
        </p:nvSpPr>
        <p:spPr>
          <a:xfrm rot="2700000">
            <a:off x="3094139" y="2610573"/>
            <a:ext cx="95098" cy="130759"/>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A31621"/>
          </a:solidFill>
          <a:ln/>
        </p:spPr>
      </p:sp>
      <p:sp>
        <p:nvSpPr>
          <p:cNvPr id="15" name="Text 13"/>
          <p:cNvSpPr/>
          <p:nvPr/>
        </p:nvSpPr>
        <p:spPr>
          <a:xfrm>
            <a:off x="3296583" y="3134716"/>
            <a:ext cx="904915" cy="297180"/>
          </a:xfrm>
          <a:prstGeom prst="rect">
            <a:avLst/>
          </a:prstGeom>
          <a:noFill/>
          <a:ln/>
        </p:spPr>
        <p:txBody>
          <a:bodyPr wrap="square" lIns="0" tIns="0" rIns="0" bIns="0" rtlCol="0" anchor="ctr"/>
          <a:lstStyle/>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HER</a:t>
            </a:r>
            <a:endParaRPr lang="en-US" sz="900" dirty="0"/>
          </a:p>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PLAYBOOK</a:t>
            </a:r>
            <a:endParaRPr lang="en-US" sz="9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Connect her to your inbox and calendar.</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Four questions. She writes her own playbook.</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She takes the 4:30 shift, every weekday.</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Fridays, she reviews her week. You sign it.</a:t>
            </a:r>
            <a:endParaRPr lang="en-US" sz="1200" dirty="0"/>
          </a:p>
        </p:txBody>
      </p:sp>
      <p:sp>
        <p:nvSpPr>
          <p:cNvPr id="36" name="Text 34"/>
          <p:cNvSpPr/>
          <p:nvPr/>
        </p:nvSpPr>
        <p:spPr>
          <a:xfrm>
            <a:off x="813816" y="493776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64008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She never deletes. She can read your inbox and your calendar, write drafts, and put events on your calendar. That is her whole job description, and it is written into her playbook.</a:t>
            </a:r>
            <a:endParaRPr lang="en-US" sz="1500" dirty="0"/>
          </a:p>
        </p:txBody>
      </p:sp>
      <p:sp>
        <p:nvSpPr>
          <p:cNvPr id="5" name="Text 3"/>
          <p:cNvSpPr/>
          <p:nvPr/>
        </p:nvSpPr>
        <p:spPr>
          <a:xfrm>
            <a:off x="1737360" y="460077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8</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1" name="Text 9"/>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3" name="Text 11"/>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500" dirty="0"/>
          </a:p>
        </p:txBody>
      </p:sp>
      <p:sp>
        <p:nvSpPr>
          <p:cNvPr id="15" name="Text 13"/>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7" name="Text 15"/>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type HELP in the chat.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EASTERN  ·  12:12 CONNECT  ·  12:26 TEACH  ·  12:40 RUN  ·  12:58 RETRAIN  ·  1:13 DONE</a:t>
            </a:r>
            <a:endParaRPr lang="en-US" sz="12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87591"/>
            <a:ext cx="2395728" cy="2834640"/>
          </a:xfrm>
          <a:prstGeom prst="rect">
            <a:avLst/>
          </a:prstGeom>
          <a:solidFill>
            <a:srgbClr val="E8E2D2"/>
          </a:solidFill>
          <a:ln/>
        </p:spPr>
      </p:sp>
      <p:sp>
        <p:nvSpPr>
          <p:cNvPr id="10" name="Text 8"/>
          <p:cNvSpPr/>
          <p:nvPr/>
        </p:nvSpPr>
        <p:spPr>
          <a:xfrm>
            <a:off x="1051560"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CONNECT</a:t>
            </a:r>
            <a:endParaRPr lang="en-US" sz="1400" dirty="0"/>
          </a:p>
        </p:txBody>
      </p:sp>
      <p:sp>
        <p:nvSpPr>
          <p:cNvPr id="12" name="Text 10"/>
          <p:cNvSpPr/>
          <p:nvPr/>
        </p:nvSpPr>
        <p:spPr>
          <a:xfrm>
            <a:off x="1051560"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Give her a desk, connect your inbox and calendar, and she drafts her first reply.</a:t>
            </a:r>
            <a:endParaRPr lang="en-US" sz="1250" dirty="0"/>
          </a:p>
        </p:txBody>
      </p:sp>
      <p:sp>
        <p:nvSpPr>
          <p:cNvPr id="13" name="Text 11"/>
          <p:cNvSpPr/>
          <p:nvPr/>
        </p:nvSpPr>
        <p:spPr>
          <a:xfrm>
            <a:off x="1051560"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12:12</a:t>
            </a:r>
            <a:endParaRPr lang="en-US" sz="1800" dirty="0"/>
          </a:p>
        </p:txBody>
      </p:sp>
      <p:sp>
        <p:nvSpPr>
          <p:cNvPr id="14" name="Shape 12"/>
          <p:cNvSpPr/>
          <p:nvPr/>
        </p:nvSpPr>
        <p:spPr>
          <a:xfrm>
            <a:off x="3538728" y="1787591"/>
            <a:ext cx="2395728" cy="2834640"/>
          </a:xfrm>
          <a:prstGeom prst="rect">
            <a:avLst/>
          </a:prstGeom>
          <a:solidFill>
            <a:srgbClr val="E8E2D2"/>
          </a:solidFill>
          <a:ln/>
        </p:spPr>
      </p:sp>
      <p:sp>
        <p:nvSpPr>
          <p:cNvPr id="15" name="Text 13"/>
          <p:cNvSpPr/>
          <p:nvPr/>
        </p:nvSpPr>
        <p:spPr>
          <a:xfrm>
            <a:off x="3776472"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TEACH</a:t>
            </a:r>
            <a:endParaRPr lang="en-US" sz="1400" dirty="0"/>
          </a:p>
        </p:txBody>
      </p:sp>
      <p:sp>
        <p:nvSpPr>
          <p:cNvPr id="17" name="Text 15"/>
          <p:cNvSpPr/>
          <p:nvPr/>
        </p:nvSpPr>
        <p:spPr>
          <a:xfrm>
            <a:off x="3776472"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Four questions, about four minutes. She writes her own playbook.</a:t>
            </a:r>
            <a:endParaRPr lang="en-US" sz="1250" dirty="0"/>
          </a:p>
        </p:txBody>
      </p:sp>
      <p:sp>
        <p:nvSpPr>
          <p:cNvPr id="18" name="Text 16"/>
          <p:cNvSpPr/>
          <p:nvPr/>
        </p:nvSpPr>
        <p:spPr>
          <a:xfrm>
            <a:off x="3776472"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12:26</a:t>
            </a:r>
            <a:endParaRPr lang="en-US" sz="1800" dirty="0"/>
          </a:p>
        </p:txBody>
      </p:sp>
      <p:sp>
        <p:nvSpPr>
          <p:cNvPr id="19" name="Shape 17"/>
          <p:cNvSpPr/>
          <p:nvPr/>
        </p:nvSpPr>
        <p:spPr>
          <a:xfrm>
            <a:off x="6263640" y="1787591"/>
            <a:ext cx="2395728" cy="2834640"/>
          </a:xfrm>
          <a:prstGeom prst="rect">
            <a:avLst/>
          </a:prstGeom>
          <a:solidFill>
            <a:srgbClr val="E8E2D2"/>
          </a:solidFill>
          <a:ln/>
        </p:spPr>
      </p:sp>
      <p:sp>
        <p:nvSpPr>
          <p:cNvPr id="20" name="Text 18"/>
          <p:cNvSpPr/>
          <p:nvPr/>
        </p:nvSpPr>
        <p:spPr>
          <a:xfrm>
            <a:off x="6501384"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RUN</a:t>
            </a:r>
            <a:endParaRPr lang="en-US" sz="1400" dirty="0"/>
          </a:p>
        </p:txBody>
      </p:sp>
      <p:sp>
        <p:nvSpPr>
          <p:cNvPr id="22" name="Text 20"/>
          <p:cNvSpPr/>
          <p:nvPr/>
        </p:nvSpPr>
        <p:spPr>
          <a:xfrm>
            <a:off x="6501384"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Her playbook becomes a skill she keeps, and she takes the 4:30 shift.</a:t>
            </a:r>
            <a:endParaRPr lang="en-US" sz="1250" dirty="0"/>
          </a:p>
        </p:txBody>
      </p:sp>
      <p:sp>
        <p:nvSpPr>
          <p:cNvPr id="23" name="Text 21"/>
          <p:cNvSpPr/>
          <p:nvPr/>
        </p:nvSpPr>
        <p:spPr>
          <a:xfrm>
            <a:off x="6501384"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12:40</a:t>
            </a:r>
            <a:endParaRPr lang="en-US" sz="1800" dirty="0"/>
          </a:p>
        </p:txBody>
      </p:sp>
      <p:sp>
        <p:nvSpPr>
          <p:cNvPr id="24" name="Shape 22"/>
          <p:cNvSpPr/>
          <p:nvPr/>
        </p:nvSpPr>
        <p:spPr>
          <a:xfrm>
            <a:off x="8988552" y="1787591"/>
            <a:ext cx="2395728" cy="2834640"/>
          </a:xfrm>
          <a:prstGeom prst="rect">
            <a:avLst/>
          </a:prstGeom>
          <a:solidFill>
            <a:srgbClr val="E8E2D2"/>
          </a:solidFill>
          <a:ln/>
        </p:spPr>
      </p:sp>
      <p:sp>
        <p:nvSpPr>
          <p:cNvPr id="25" name="Text 23"/>
          <p:cNvSpPr/>
          <p:nvPr/>
        </p:nvSpPr>
        <p:spPr>
          <a:xfrm>
            <a:off x="9226296"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RETRAIN</a:t>
            </a:r>
            <a:endParaRPr lang="en-US" sz="1400" dirty="0"/>
          </a:p>
        </p:txBody>
      </p:sp>
      <p:sp>
        <p:nvSpPr>
          <p:cNvPr id="27" name="Text 25"/>
          <p:cNvSpPr/>
          <p:nvPr/>
        </p:nvSpPr>
        <p:spPr>
          <a:xfrm>
            <a:off x="9226296"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Every Friday she reviews her own week and proposes what to change. You sign it.</a:t>
            </a:r>
            <a:endParaRPr lang="en-US" sz="1250" dirty="0"/>
          </a:p>
        </p:txBody>
      </p:sp>
      <p:sp>
        <p:nvSpPr>
          <p:cNvPr id="28" name="Text 26"/>
          <p:cNvSpPr/>
          <p:nvPr/>
        </p:nvSpPr>
        <p:spPr>
          <a:xfrm>
            <a:off x="9226296"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12:58</a:t>
            </a:r>
            <a:endParaRPr lang="en-US" sz="1800" dirty="0"/>
          </a:p>
        </p:txBody>
      </p:sp>
      <p:sp>
        <p:nvSpPr>
          <p:cNvPr id="29" name="Text 27"/>
          <p:cNvSpPr/>
          <p:nvPr/>
        </p:nvSpPr>
        <p:spPr>
          <a:xfrm>
            <a:off x="813816" y="507492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 and the site is open on your phone.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14213D"/>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  ·  CONNECT</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F7F3EA"/>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F7F3EA"/>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5687568" cy="2039112"/>
          </a:xfrm>
          <a:prstGeom prst="rect">
            <a:avLst/>
          </a:prstGeom>
          <a:solidFill>
            <a:srgbClr val="E8E2D2"/>
          </a:solidFill>
          <a:ln/>
        </p:spPr>
      </p:sp>
      <p:sp>
        <p:nvSpPr>
          <p:cNvPr id="16" name="Text 14"/>
          <p:cNvSpPr/>
          <p:nvPr/>
        </p:nvSpPr>
        <p:spPr>
          <a:xfrm>
            <a:off x="1051560" y="1915607"/>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7" name="Shape 15"/>
          <p:cNvSpPr/>
          <p:nvPr/>
        </p:nvSpPr>
        <p:spPr>
          <a:xfrm rot="2700000">
            <a:off x="1051560" y="2402525"/>
            <a:ext cx="100584" cy="100584"/>
          </a:xfrm>
          <a:prstGeom prst="rect">
            <a:avLst/>
          </a:prstGeom>
          <a:solidFill>
            <a:srgbClr val="C9A227"/>
          </a:solidFill>
          <a:ln w="3175">
            <a:solidFill>
              <a:srgbClr val="C9A227"/>
            </a:solidFill>
            <a:prstDash val="solid"/>
          </a:ln>
        </p:spPr>
      </p:sp>
      <p:sp>
        <p:nvSpPr>
          <p:cNvPr id="18" name="Text 16"/>
          <p:cNvSpPr/>
          <p:nvPr/>
        </p:nvSpPr>
        <p:spPr>
          <a:xfrm>
            <a:off x="1362456" y="2324801"/>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19" name="Shape 17"/>
          <p:cNvSpPr/>
          <p:nvPr/>
        </p:nvSpPr>
        <p:spPr>
          <a:xfrm rot="2700000">
            <a:off x="1051560" y="2830007"/>
            <a:ext cx="100584" cy="100584"/>
          </a:xfrm>
          <a:prstGeom prst="rect">
            <a:avLst/>
          </a:prstGeom>
          <a:solidFill>
            <a:srgbClr val="C9A227"/>
          </a:solidFill>
          <a:ln w="3175">
            <a:solidFill>
              <a:srgbClr val="C9A227"/>
            </a:solidFill>
            <a:prstDash val="solid"/>
          </a:ln>
        </p:spPr>
      </p:sp>
      <p:sp>
        <p:nvSpPr>
          <p:cNvPr id="20" name="Text 18"/>
          <p:cNvSpPr/>
          <p:nvPr/>
        </p:nvSpPr>
        <p:spPr>
          <a:xfrm>
            <a:off x="1362456" y="275228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Customize, then Connectors.</a:t>
            </a:r>
            <a:endParaRPr lang="en-US" sz="1300" dirty="0"/>
          </a:p>
        </p:txBody>
      </p:sp>
      <p:sp>
        <p:nvSpPr>
          <p:cNvPr id="21" name="Shape 19"/>
          <p:cNvSpPr/>
          <p:nvPr/>
        </p:nvSpPr>
        <p:spPr>
          <a:xfrm rot="2700000">
            <a:off x="1051560" y="3257489"/>
            <a:ext cx="100584" cy="100584"/>
          </a:xfrm>
          <a:prstGeom prst="rect">
            <a:avLst/>
          </a:prstGeom>
          <a:solidFill>
            <a:srgbClr val="C9A227"/>
          </a:solidFill>
          <a:ln w="3175">
            <a:solidFill>
              <a:srgbClr val="C9A227"/>
            </a:solidFill>
            <a:prstDash val="solid"/>
          </a:ln>
        </p:spPr>
      </p:sp>
      <p:sp>
        <p:nvSpPr>
          <p:cNvPr id="22" name="Text 20"/>
          <p:cNvSpPr/>
          <p:nvPr/>
        </p:nvSpPr>
        <p:spPr>
          <a:xfrm>
            <a:off x="1362456" y="317976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3" name="Shape 21"/>
          <p:cNvSpPr/>
          <p:nvPr/>
        </p:nvSpPr>
        <p:spPr>
          <a:xfrm>
            <a:off x="813816" y="3991295"/>
            <a:ext cx="5687568" cy="1234440"/>
          </a:xfrm>
          <a:prstGeom prst="rect">
            <a:avLst/>
          </a:prstGeom>
          <a:solidFill>
            <a:srgbClr val="E8E2D2"/>
          </a:solidFill>
          <a:ln/>
        </p:spPr>
      </p:sp>
      <p:sp>
        <p:nvSpPr>
          <p:cNvPr id="24" name="Text 22"/>
          <p:cNvSpPr/>
          <p:nvPr/>
        </p:nvSpPr>
        <p:spPr>
          <a:xfrm>
            <a:off x="996696" y="4174175"/>
            <a:ext cx="532180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STUCK CONNECTING?</a:t>
            </a:r>
            <a:endParaRPr lang="en-US" sz="1200" dirty="0"/>
          </a:p>
        </p:txBody>
      </p:sp>
      <p:sp>
        <p:nvSpPr>
          <p:cNvPr id="25" name="Shape 23"/>
          <p:cNvSpPr/>
          <p:nvPr/>
        </p:nvSpPr>
        <p:spPr>
          <a:xfrm rot="2700000">
            <a:off x="996696" y="4645091"/>
            <a:ext cx="100584" cy="100584"/>
          </a:xfrm>
          <a:prstGeom prst="rect">
            <a:avLst/>
          </a:prstGeom>
          <a:solidFill>
            <a:srgbClr val="C9A227"/>
          </a:solidFill>
          <a:ln w="3175">
            <a:solidFill>
              <a:srgbClr val="C9A227"/>
            </a:solidFill>
            <a:prstDash val="solid"/>
          </a:ln>
        </p:spPr>
      </p:sp>
      <p:sp>
        <p:nvSpPr>
          <p:cNvPr id="26" name="Text 24"/>
          <p:cNvSpPr/>
          <p:nvPr/>
        </p:nvSpPr>
        <p:spPr>
          <a:xfrm>
            <a:off x="1307592" y="4567367"/>
            <a:ext cx="5010912"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Quit Claude and reopen it. IT blocks it? Use a personal Gmail. Still stuck: the rescue prompt is on the site, Step 1.</a:t>
            </a:r>
            <a:endParaRPr lang="en-US" sz="1200" dirty="0"/>
          </a:p>
        </p:txBody>
      </p:sp>
      <p:sp>
        <p:nvSpPr>
          <p:cNvPr id="27" name="Shape 25"/>
          <p:cNvSpPr/>
          <p:nvPr/>
        </p:nvSpPr>
        <p:spPr>
          <a:xfrm>
            <a:off x="6903720" y="1677863"/>
            <a:ext cx="4480560" cy="1239012"/>
          </a:xfrm>
          <a:prstGeom prst="rect">
            <a:avLst/>
          </a:prstGeom>
          <a:solidFill>
            <a:srgbClr val="14213D"/>
          </a:solidFill>
          <a:ln/>
        </p:spPr>
      </p:sp>
      <p:sp>
        <p:nvSpPr>
          <p:cNvPr id="28" name="Text 26"/>
          <p:cNvSpPr/>
          <p:nvPr/>
        </p:nvSpPr>
        <p:spPr>
          <a:xfrm>
            <a:off x="7159752" y="185159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29" name="Text 27"/>
          <p:cNvSpPr/>
          <p:nvPr/>
        </p:nvSpPr>
        <p:spPr>
          <a:xfrm>
            <a:off x="7159752" y="2135063"/>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0" name="Shape 28"/>
          <p:cNvSpPr/>
          <p:nvPr/>
        </p:nvSpPr>
        <p:spPr>
          <a:xfrm>
            <a:off x="6903720" y="3136331"/>
            <a:ext cx="4480560" cy="1426464"/>
          </a:xfrm>
          <a:prstGeom prst="rect">
            <a:avLst/>
          </a:prstGeom>
          <a:solidFill>
            <a:srgbClr val="14213D"/>
          </a:solidFill>
          <a:ln/>
        </p:spPr>
      </p:sp>
      <p:sp>
        <p:nvSpPr>
          <p:cNvPr id="31" name="Text 29"/>
          <p:cNvSpPr/>
          <p:nvPr/>
        </p:nvSpPr>
        <p:spPr>
          <a:xfrm>
            <a:off x="7159752" y="3310067"/>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2" name="Text 30"/>
          <p:cNvSpPr/>
          <p:nvPr/>
        </p:nvSpPr>
        <p:spPr>
          <a:xfrm>
            <a:off x="7159752" y="3593531"/>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14213D"/>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teach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  ·  TEACH</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Four questions, about four minutes. She writes her own playbook.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14</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F7F3EA"/>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1988820"/>
          </a:xfrm>
          <a:prstGeom prst="rect">
            <a:avLst/>
          </a:prstGeom>
          <a:solidFill>
            <a:srgbClr val="14213D"/>
          </a:solidFill>
          <a:ln/>
        </p:spPr>
      </p:sp>
      <p:sp>
        <p:nvSpPr>
          <p:cNvPr id="16" name="Text 14"/>
          <p:cNvSpPr/>
          <p:nvPr/>
        </p:nvSpPr>
        <p:spPr>
          <a:xfrm>
            <a:off x="1069848" y="1851599"/>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A NEW CHAT IN YOUR DONNA PROJECT</a:t>
            </a:r>
            <a:endParaRPr lang="en-US" sz="1100" dirty="0"/>
          </a:p>
        </p:txBody>
      </p:sp>
      <p:sp>
        <p:nvSpPr>
          <p:cNvPr id="17" name="Text 15"/>
          <p:cNvSpPr/>
          <p:nvPr/>
        </p:nvSpPr>
        <p:spPr>
          <a:xfrm>
            <a:off x="1069848" y="2135063"/>
            <a:ext cx="6803136" cy="144018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Here is my triage playbook template. Read it, then run its Setup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Interview on me exactly as written: four questions, about four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minutes, one question at a time. Start now with your greeting and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Question 1 of 4.</a:t>
            </a:r>
            <a:endParaRPr lang="en-US" sz="1200" dirty="0"/>
          </a:p>
          <a:p>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full template rides along in the same paste.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One copy button on the site, step two.]</a:t>
            </a:r>
            <a:endParaRPr lang="en-US" sz="1200" dirty="0"/>
          </a:p>
        </p:txBody>
      </p:sp>
      <p:sp>
        <p:nvSpPr>
          <p:cNvPr id="18" name="Shape 16"/>
          <p:cNvSpPr/>
          <p:nvPr/>
        </p:nvSpPr>
        <p:spPr>
          <a:xfrm>
            <a:off x="813816" y="3886139"/>
            <a:ext cx="7315200" cy="864108"/>
          </a:xfrm>
          <a:prstGeom prst="rect">
            <a:avLst/>
          </a:prstGeom>
          <a:solidFill>
            <a:srgbClr val="14213D"/>
          </a:solidFill>
          <a:ln/>
        </p:spPr>
      </p:sp>
      <p:sp>
        <p:nvSpPr>
          <p:cNvPr id="19" name="Text 17"/>
          <p:cNvSpPr/>
          <p:nvPr/>
        </p:nvSpPr>
        <p:spPr>
          <a:xfrm>
            <a:off x="1069848" y="4059875"/>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ESCAPE HATCH · SHE JUMPS TO THE END</a:t>
            </a:r>
            <a:endParaRPr lang="en-US" sz="1100" dirty="0"/>
          </a:p>
        </p:txBody>
      </p:sp>
      <p:sp>
        <p:nvSpPr>
          <p:cNvPr id="20" name="Text 18"/>
          <p:cNvSpPr/>
          <p:nvPr/>
        </p:nvSpPr>
        <p:spPr>
          <a:xfrm>
            <a:off x="1069848" y="4343339"/>
            <a:ext cx="68031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final question</a:t>
            </a:r>
            <a:endParaRPr lang="en-US" sz="1200" dirty="0"/>
          </a:p>
        </p:txBody>
      </p:sp>
      <p:sp>
        <p:nvSpPr>
          <p:cNvPr id="21" name="Text 19"/>
          <p:cNvSpPr/>
          <p:nvPr/>
        </p:nvSpPr>
        <p:spPr>
          <a:xfrm>
            <a:off x="8494776" y="1714439"/>
            <a:ext cx="288950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QUESTIONS</a:t>
            </a:r>
            <a:endParaRPr lang="en-US" sz="1300" dirty="0"/>
          </a:p>
        </p:txBody>
      </p:sp>
      <p:sp>
        <p:nvSpPr>
          <p:cNvPr id="22" name="Shape 20"/>
          <p:cNvSpPr/>
          <p:nvPr/>
        </p:nvSpPr>
        <p:spPr>
          <a:xfrm rot="2700000">
            <a:off x="8494776" y="2135063"/>
            <a:ext cx="100584" cy="100584"/>
          </a:xfrm>
          <a:prstGeom prst="rect">
            <a:avLst/>
          </a:prstGeom>
          <a:solidFill>
            <a:srgbClr val="C9A227"/>
          </a:solidFill>
          <a:ln w="3175">
            <a:solidFill>
              <a:srgbClr val="C9A227"/>
            </a:solidFill>
            <a:prstDash val="solid"/>
          </a:ln>
        </p:spPr>
      </p:sp>
      <p:sp>
        <p:nvSpPr>
          <p:cNvPr id="23" name="Text 21"/>
          <p:cNvSpPr/>
          <p:nvPr/>
        </p:nvSpPr>
        <p:spPr>
          <a:xfrm>
            <a:off x="8805672" y="208019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1 · Reply Now</a:t>
            </a:r>
            <a:endParaRPr lang="en-US" sz="1400" dirty="0"/>
          </a:p>
        </p:txBody>
      </p:sp>
      <p:sp>
        <p:nvSpPr>
          <p:cNvPr id="24" name="Text 22"/>
          <p:cNvSpPr/>
          <p:nvPr/>
        </p:nvSpPr>
        <p:spPr>
          <a:xfrm>
            <a:off x="8805672" y="239566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3 to 5 people who never wait</a:t>
            </a:r>
            <a:endParaRPr lang="en-US" sz="1200" dirty="0"/>
          </a:p>
        </p:txBody>
      </p:sp>
      <p:sp>
        <p:nvSpPr>
          <p:cNvPr id="25" name="Shape 23"/>
          <p:cNvSpPr/>
          <p:nvPr/>
        </p:nvSpPr>
        <p:spPr>
          <a:xfrm rot="2700000">
            <a:off x="8494776" y="2843723"/>
            <a:ext cx="100584" cy="100584"/>
          </a:xfrm>
          <a:prstGeom prst="rect">
            <a:avLst/>
          </a:prstGeom>
          <a:solidFill>
            <a:srgbClr val="C9A227"/>
          </a:solidFill>
          <a:ln w="3175">
            <a:solidFill>
              <a:srgbClr val="C9A227"/>
            </a:solidFill>
            <a:prstDash val="solid"/>
          </a:ln>
        </p:spPr>
      </p:sp>
      <p:sp>
        <p:nvSpPr>
          <p:cNvPr id="26" name="Text 24"/>
          <p:cNvSpPr/>
          <p:nvPr/>
        </p:nvSpPr>
        <p:spPr>
          <a:xfrm>
            <a:off x="8805672" y="278885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2 · By End of Day</a:t>
            </a:r>
            <a:endParaRPr lang="en-US" sz="1400" dirty="0"/>
          </a:p>
        </p:txBody>
      </p:sp>
      <p:sp>
        <p:nvSpPr>
          <p:cNvPr id="27" name="Text 25"/>
          <p:cNvSpPr/>
          <p:nvPr/>
        </p:nvSpPr>
        <p:spPr>
          <a:xfrm>
            <a:off x="8805672" y="310432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team</a:t>
            </a:r>
            <a:endParaRPr lang="en-US" sz="1200" dirty="0"/>
          </a:p>
        </p:txBody>
      </p:sp>
      <p:sp>
        <p:nvSpPr>
          <p:cNvPr id="28" name="Shape 26"/>
          <p:cNvSpPr/>
          <p:nvPr/>
        </p:nvSpPr>
        <p:spPr>
          <a:xfrm rot="2700000">
            <a:off x="8494776" y="3552383"/>
            <a:ext cx="100584" cy="100584"/>
          </a:xfrm>
          <a:prstGeom prst="rect">
            <a:avLst/>
          </a:prstGeom>
          <a:solidFill>
            <a:srgbClr val="C9A227"/>
          </a:solidFill>
          <a:ln w="3175">
            <a:solidFill>
              <a:srgbClr val="C9A227"/>
            </a:solidFill>
            <a:prstDash val="solid"/>
          </a:ln>
        </p:spPr>
      </p:sp>
      <p:sp>
        <p:nvSpPr>
          <p:cNvPr id="29" name="Text 27"/>
          <p:cNvSpPr/>
          <p:nvPr/>
        </p:nvSpPr>
        <p:spPr>
          <a:xfrm>
            <a:off x="8805672" y="349751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3 · Your priorities</a:t>
            </a:r>
            <a:endParaRPr lang="en-US" sz="1400" dirty="0"/>
          </a:p>
        </p:txBody>
      </p:sp>
      <p:sp>
        <p:nvSpPr>
          <p:cNvPr id="30" name="Text 28"/>
          <p:cNvSpPr/>
          <p:nvPr/>
        </p:nvSpPr>
        <p:spPr>
          <a:xfrm>
            <a:off x="8805672" y="381298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right now</a:t>
            </a:r>
            <a:endParaRPr lang="en-US" sz="1200" dirty="0"/>
          </a:p>
        </p:txBody>
      </p:sp>
      <p:sp>
        <p:nvSpPr>
          <p:cNvPr id="31" name="Shape 29"/>
          <p:cNvSpPr/>
          <p:nvPr/>
        </p:nvSpPr>
        <p:spPr>
          <a:xfrm rot="2700000">
            <a:off x="8494776" y="4261043"/>
            <a:ext cx="100584" cy="100584"/>
          </a:xfrm>
          <a:prstGeom prst="rect">
            <a:avLst/>
          </a:prstGeom>
          <a:solidFill>
            <a:srgbClr val="C9A227"/>
          </a:solidFill>
          <a:ln w="3175">
            <a:solidFill>
              <a:srgbClr val="C9A227"/>
            </a:solidFill>
            <a:prstDash val="solid"/>
          </a:ln>
        </p:spPr>
      </p:sp>
      <p:sp>
        <p:nvSpPr>
          <p:cNvPr id="32" name="Text 30"/>
          <p:cNvSpPr/>
          <p:nvPr/>
        </p:nvSpPr>
        <p:spPr>
          <a:xfrm>
            <a:off x="8805672" y="420617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4 · THE FINAL QUESTION</a:t>
            </a:r>
            <a:endParaRPr lang="en-US" sz="1400" dirty="0"/>
          </a:p>
        </p:txBody>
      </p:sp>
      <p:sp>
        <p:nvSpPr>
          <p:cNvPr id="33" name="Text 31"/>
          <p:cNvSpPr/>
          <p:nvPr/>
        </p:nvSpPr>
        <p:spPr>
          <a:xfrm>
            <a:off x="8805672" y="452164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voice, in 3 words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15</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813658"/>
            <a:ext cx="5486400" cy="864108"/>
          </a:xfrm>
          <a:prstGeom prst="rect">
            <a:avLst/>
          </a:prstGeom>
          <a:solidFill>
            <a:srgbClr val="1C2333"/>
          </a:solidFill>
          <a:ln/>
        </p:spPr>
      </p:sp>
      <p:sp>
        <p:nvSpPr>
          <p:cNvPr id="16" name="Text 14"/>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7" name="Text 15"/>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18" name="Text 16"/>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  ·  RUN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176272"/>
          </a:xfrm>
          <a:prstGeom prst="rect">
            <a:avLst/>
          </a:prstGeom>
          <a:solidFill>
            <a:srgbClr val="14213D"/>
          </a:solidFill>
          <a:ln/>
        </p:spPr>
      </p:sp>
      <p:sp>
        <p:nvSpPr>
          <p:cNvPr id="16" name="Text 14"/>
          <p:cNvSpPr/>
          <p:nvPr/>
        </p:nvSpPr>
        <p:spPr>
          <a:xfrm>
            <a:off x="1069848" y="1851599"/>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 THE SAME CHAT, AFTER YOUR FIRST TABLE</a:t>
            </a:r>
            <a:endParaRPr lang="en-US" sz="1100" dirty="0"/>
          </a:p>
        </p:txBody>
      </p:sp>
      <p:sp>
        <p:nvSpPr>
          <p:cNvPr id="17" name="Text 15"/>
          <p:cNvSpPr/>
          <p:nvPr/>
        </p:nvSpPr>
        <p:spPr>
          <a:xfrm>
            <a:off x="1069848" y="2135063"/>
            <a:ext cx="6803136" cy="162763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conversation's triage setup into a reusable skill named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donna-triage. Fill in the template we used with everything you</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learned about me: my people and tiers, my priorities, my voice. Keep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daily shift, the Friday retrain, and the Setup Interview sections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so the skill knows how to run on a schedule, how to retrain, and how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reconfigure. Keep the hard rules exactly as written: never send,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delete. Then give me the finished skill as a downloadable zip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named donna-triage.zip containing donna-triage/SKILL.md.</a:t>
            </a:r>
            <a:endParaRPr lang="en-US" sz="1200" dirty="0"/>
          </a:p>
        </p:txBody>
      </p:sp>
      <p:sp>
        <p:nvSpPr>
          <p:cNvPr id="18" name="Shape 16"/>
          <p:cNvSpPr/>
          <p:nvPr/>
        </p:nvSpPr>
        <p:spPr>
          <a:xfrm>
            <a:off x="813816" y="4073591"/>
            <a:ext cx="7315200" cy="982980"/>
          </a:xfrm>
          <a:prstGeom prst="rect">
            <a:avLst/>
          </a:prstGeom>
          <a:solidFill>
            <a:srgbClr val="E8E2D2"/>
          </a:solidFill>
          <a:ln/>
        </p:spPr>
      </p:sp>
      <p:sp>
        <p:nvSpPr>
          <p:cNvPr id="19" name="Shape 17"/>
          <p:cNvSpPr/>
          <p:nvPr/>
        </p:nvSpPr>
        <p:spPr>
          <a:xfrm rot="2700000">
            <a:off x="1051560" y="4389059"/>
            <a:ext cx="100584" cy="100584"/>
          </a:xfrm>
          <a:prstGeom prst="rect">
            <a:avLst/>
          </a:prstGeom>
          <a:solidFill>
            <a:srgbClr val="C9A227"/>
          </a:solidFill>
          <a:ln w="3175">
            <a:solidFill>
              <a:srgbClr val="C9A227"/>
            </a:solidFill>
            <a:prstDash val="solid"/>
          </a:ln>
        </p:spPr>
      </p:sp>
      <p:sp>
        <p:nvSpPr>
          <p:cNvPr id="20" name="Text 18"/>
          <p:cNvSpPr/>
          <p:nvPr/>
        </p:nvSpPr>
        <p:spPr>
          <a:xfrm>
            <a:off x="1362456" y="4311335"/>
            <a:ext cx="652881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donna-triage in your skills list before anyone touches Scheduled.</a:t>
            </a:r>
            <a:endParaRPr lang="en-US" sz="1300" dirty="0"/>
          </a:p>
        </p:txBody>
      </p:sp>
      <p:sp>
        <p:nvSpPr>
          <p:cNvPr id="21" name="Text 19"/>
          <p:cNvSpPr/>
          <p:nvPr/>
        </p:nvSpPr>
        <p:spPr>
          <a:xfrm>
            <a:off x="8494776" y="1714439"/>
            <a:ext cx="288950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2" name="Text 20"/>
          <p:cNvSpPr/>
          <p:nvPr/>
        </p:nvSpPr>
        <p:spPr>
          <a:xfrm>
            <a:off x="8494776" y="214420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8951976" y="2171639"/>
            <a:ext cx="243230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She writes the file.</a:t>
            </a:r>
            <a:endParaRPr lang="en-US" sz="1400" dirty="0"/>
          </a:p>
        </p:txBody>
      </p:sp>
      <p:sp>
        <p:nvSpPr>
          <p:cNvPr id="24" name="Text 22"/>
          <p:cNvSpPr/>
          <p:nvPr/>
        </p:nvSpPr>
        <p:spPr>
          <a:xfrm>
            <a:off x="8494776" y="280257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8951976" y="2830007"/>
            <a:ext cx="243230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You download it. The file card has a download arrow.</a:t>
            </a:r>
            <a:endParaRPr lang="en-US" sz="1400" dirty="0"/>
          </a:p>
        </p:txBody>
      </p:sp>
      <p:sp>
        <p:nvSpPr>
          <p:cNvPr id="26" name="Text 24"/>
          <p:cNvSpPr/>
          <p:nvPr/>
        </p:nvSpPr>
        <p:spPr>
          <a:xfrm>
            <a:off x="8494776" y="365296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8951976" y="3680399"/>
            <a:ext cx="2432304" cy="987552"/>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Customize, then Skills, then Create skill, then Upload a skill. Pick the zip.</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4:30 SHIFT</a:t>
            </a:r>
            <a:endParaRPr lang="en-US" sz="1200" dirty="0"/>
          </a:p>
        </p:txBody>
      </p:sp>
      <p:sp>
        <p:nvSpPr>
          <p:cNvPr id="14" name="Text 12"/>
          <p:cNvSpPr/>
          <p:nvPr/>
        </p:nvSpPr>
        <p:spPr>
          <a:xfrm>
            <a:off x="813816" y="841248"/>
            <a:ext cx="941832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363724"/>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181508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my local time, use my donna-triage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the Reply-Now drafts to my email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Create a Google Calendar event today, starting 10 minutes after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task starts and 5 minutes long, titled "Inbox Triage: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Write the whole triage report INTO the event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Short lines, tier-name headers, one line per thread: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sender, subject, next move. No tables. Easy to read on a phone.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Set an EMAIL reminder on the event,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so I can watch the first one land.</a:t>
            </a:r>
            <a:endParaRPr lang="en-US" sz="1200" dirty="0"/>
          </a:p>
        </p:txBody>
      </p:sp>
      <p:sp>
        <p:nvSpPr>
          <p:cNvPr id="18" name="Text 16"/>
          <p:cNvSpPr/>
          <p:nvPr/>
        </p:nvSpPr>
        <p:spPr>
          <a:xfrm>
            <a:off x="8494776" y="1848307"/>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4:30</a:t>
            </a:r>
            <a:endParaRPr lang="en-US" sz="2600" dirty="0"/>
          </a:p>
        </p:txBody>
      </p:sp>
      <p:sp>
        <p:nvSpPr>
          <p:cNvPr id="19" name="Text 17"/>
          <p:cNvSpPr/>
          <p:nvPr/>
        </p:nvSpPr>
        <p:spPr>
          <a:xfrm>
            <a:off x="9646920" y="1848307"/>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0" name="Text 18"/>
          <p:cNvSpPr/>
          <p:nvPr/>
        </p:nvSpPr>
        <p:spPr>
          <a:xfrm>
            <a:off x="8494776" y="2342083"/>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4:39</a:t>
            </a:r>
            <a:endParaRPr lang="en-US" sz="2600" dirty="0"/>
          </a:p>
        </p:txBody>
      </p:sp>
      <p:sp>
        <p:nvSpPr>
          <p:cNvPr id="21" name="Text 19"/>
          <p:cNvSpPr/>
          <p:nvPr/>
        </p:nvSpPr>
        <p:spPr>
          <a:xfrm>
            <a:off x="9646920" y="2342083"/>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the email lands</a:t>
            </a:r>
            <a:endParaRPr lang="en-US" sz="1300" dirty="0"/>
          </a:p>
        </p:txBody>
      </p:sp>
      <p:sp>
        <p:nvSpPr>
          <p:cNvPr id="22" name="Text 20"/>
          <p:cNvSpPr/>
          <p:nvPr/>
        </p:nvSpPr>
        <p:spPr>
          <a:xfrm>
            <a:off x="8494776" y="2835859"/>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4:40</a:t>
            </a:r>
            <a:endParaRPr lang="en-US" sz="2600" dirty="0"/>
          </a:p>
        </p:txBody>
      </p:sp>
      <p:sp>
        <p:nvSpPr>
          <p:cNvPr id="23" name="Text 21"/>
          <p:cNvSpPr/>
          <p:nvPr/>
        </p:nvSpPr>
        <p:spPr>
          <a:xfrm>
            <a:off x="9646920" y="2835859"/>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one read, whole inbox</a:t>
            </a:r>
            <a:endParaRPr lang="en-US" sz="1300" dirty="0"/>
          </a:p>
        </p:txBody>
      </p:sp>
      <p:sp>
        <p:nvSpPr>
          <p:cNvPr id="24" name="Shape 22"/>
          <p:cNvSpPr/>
          <p:nvPr/>
        </p:nvSpPr>
        <p:spPr>
          <a:xfrm>
            <a:off x="8494776" y="3457651"/>
            <a:ext cx="2889504" cy="1691640"/>
          </a:xfrm>
          <a:prstGeom prst="rect">
            <a:avLst/>
          </a:prstGeom>
          <a:solidFill>
            <a:srgbClr val="E8E2D2"/>
          </a:solidFill>
          <a:ln/>
        </p:spPr>
      </p:sp>
      <p:sp>
        <p:nvSpPr>
          <p:cNvPr id="25" name="Text 23"/>
          <p:cNvSpPr/>
          <p:nvPr/>
        </p:nvSpPr>
        <p:spPr>
          <a:xfrm>
            <a:off x="8714232" y="3677107"/>
            <a:ext cx="245059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WHERE SHE RUNS</a:t>
            </a:r>
            <a:endParaRPr lang="en-US" sz="1200" dirty="0"/>
          </a:p>
        </p:txBody>
      </p:sp>
      <p:sp>
        <p:nvSpPr>
          <p:cNvPr id="26" name="Shape 24"/>
          <p:cNvSpPr/>
          <p:nvPr/>
        </p:nvSpPr>
        <p:spPr>
          <a:xfrm rot="2700000">
            <a:off x="8714232" y="4148023"/>
            <a:ext cx="100584" cy="100584"/>
          </a:xfrm>
          <a:prstGeom prst="rect">
            <a:avLst/>
          </a:prstGeom>
          <a:solidFill>
            <a:srgbClr val="C9A227"/>
          </a:solidFill>
          <a:ln w="3175">
            <a:solidFill>
              <a:srgbClr val="C9A227"/>
            </a:solidFill>
            <a:prstDash val="solid"/>
          </a:ln>
        </p:spPr>
      </p:sp>
      <p:sp>
        <p:nvSpPr>
          <p:cNvPr id="27" name="Text 25"/>
          <p:cNvSpPr/>
          <p:nvPr/>
        </p:nvSpPr>
        <p:spPr>
          <a:xfrm>
            <a:off x="9025128" y="4070299"/>
            <a:ext cx="2139696" cy="859536"/>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Scheduled tasks run on Claude's side, not on your laptop. Close the laptop; she still works at 4:30.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19</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12:58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triage lands from a sender you already trust.</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Three stations lit. One left, and it is the one that matters.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20</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063533" y="932688"/>
            <a:ext cx="2320747"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FOUR  ·  RETRAIN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Her performance review.</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Every Friday she reviews her own week. You sign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21</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063533" y="932688"/>
            <a:ext cx="2320747"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FOUR  ·  THE FRIDAY RETRAIN</a:t>
            </a:r>
            <a:endParaRPr lang="en-US" sz="1200" dirty="0"/>
          </a:p>
        </p:txBody>
      </p:sp>
      <p:sp>
        <p:nvSpPr>
          <p:cNvPr id="14" name="Text 12"/>
          <p:cNvSpPr/>
          <p:nvPr/>
        </p:nvSpPr>
        <p:spPr>
          <a:xfrm>
            <a:off x="813816" y="841248"/>
            <a:ext cx="941832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3675888"/>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312724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Friday at 3:00 PM my local time, use my donna-triage skill to</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retrain: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Read this week: the triage reports you wrote, the drafts you saved,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the emails I actually sent.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Compare. Who did I answer fast that is not on my Reply-Now list?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Which threads did I spend my week on that are not in my priorities?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Where did my sent emails sound different from your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Propose changes to my playbook: people, priorities, voice. Keep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hard rules exactly as they are: never send, never delete.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Write "Donna's Week in Review" into a Google Calendar event, Monday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8:00 to 8:05 AM, proposed changes at the top, with an EMAIL reminder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5. Save the proposed changes as a document called "Donna's Week 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Review" in a Google Drive folder called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on this week so far, and for the dry run put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event on today's calendar 10 minutes from now instead of Monday.</a:t>
            </a:r>
            <a:endParaRPr lang="en-US" sz="1200" dirty="0"/>
          </a:p>
        </p:txBody>
      </p:sp>
      <p:sp>
        <p:nvSpPr>
          <p:cNvPr id="18" name="Shape 16"/>
          <p:cNvSpPr/>
          <p:nvPr/>
        </p:nvSpPr>
        <p:spPr>
          <a:xfrm>
            <a:off x="8494776" y="1775155"/>
            <a:ext cx="2889504" cy="1755648"/>
          </a:xfrm>
          <a:prstGeom prst="rect">
            <a:avLst/>
          </a:prstGeom>
          <a:solidFill>
            <a:srgbClr val="E8E2D2"/>
          </a:solidFill>
          <a:ln/>
        </p:spPr>
      </p:sp>
      <p:sp>
        <p:nvSpPr>
          <p:cNvPr id="19" name="Text 17"/>
          <p:cNvSpPr/>
          <p:nvPr/>
        </p:nvSpPr>
        <p:spPr>
          <a:xfrm>
            <a:off x="8677656" y="1958035"/>
            <a:ext cx="2523744"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SHE LOOKS AT</a:t>
            </a:r>
            <a:endParaRPr lang="en-US" sz="1200" dirty="0"/>
          </a:p>
        </p:txBody>
      </p:sp>
      <p:sp>
        <p:nvSpPr>
          <p:cNvPr id="20" name="Shape 18"/>
          <p:cNvSpPr/>
          <p:nvPr/>
        </p:nvSpPr>
        <p:spPr>
          <a:xfrm rot="2700000">
            <a:off x="8677656" y="2428951"/>
            <a:ext cx="100584" cy="100584"/>
          </a:xfrm>
          <a:prstGeom prst="rect">
            <a:avLst/>
          </a:prstGeom>
          <a:solidFill>
            <a:srgbClr val="C9A227"/>
          </a:solidFill>
          <a:ln w="3175">
            <a:solidFill>
              <a:srgbClr val="C9A227"/>
            </a:solidFill>
            <a:prstDash val="solid"/>
          </a:ln>
        </p:spPr>
      </p:sp>
      <p:sp>
        <p:nvSpPr>
          <p:cNvPr id="21" name="Text 19"/>
          <p:cNvSpPr/>
          <p:nvPr/>
        </p:nvSpPr>
        <p:spPr>
          <a:xfrm>
            <a:off x="8988552" y="2351227"/>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reports she wrote</a:t>
            </a:r>
            <a:endParaRPr lang="en-US" sz="1200" dirty="0"/>
          </a:p>
        </p:txBody>
      </p:sp>
      <p:sp>
        <p:nvSpPr>
          <p:cNvPr id="22" name="Shape 20"/>
          <p:cNvSpPr/>
          <p:nvPr/>
        </p:nvSpPr>
        <p:spPr>
          <a:xfrm rot="2700000">
            <a:off x="8677656" y="2785567"/>
            <a:ext cx="100584" cy="100584"/>
          </a:xfrm>
          <a:prstGeom prst="rect">
            <a:avLst/>
          </a:prstGeom>
          <a:solidFill>
            <a:srgbClr val="C9A227"/>
          </a:solidFill>
          <a:ln w="3175">
            <a:solidFill>
              <a:srgbClr val="C9A227"/>
            </a:solidFill>
            <a:prstDash val="solid"/>
          </a:ln>
        </p:spPr>
      </p:sp>
      <p:sp>
        <p:nvSpPr>
          <p:cNvPr id="23" name="Text 21"/>
          <p:cNvSpPr/>
          <p:nvPr/>
        </p:nvSpPr>
        <p:spPr>
          <a:xfrm>
            <a:off x="8988552" y="2707843"/>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drafts she saved</a:t>
            </a:r>
            <a:endParaRPr lang="en-US" sz="1200" dirty="0"/>
          </a:p>
        </p:txBody>
      </p:sp>
      <p:sp>
        <p:nvSpPr>
          <p:cNvPr id="24" name="Shape 22"/>
          <p:cNvSpPr/>
          <p:nvPr/>
        </p:nvSpPr>
        <p:spPr>
          <a:xfrm rot="2700000">
            <a:off x="8677656" y="3142183"/>
            <a:ext cx="100584" cy="100584"/>
          </a:xfrm>
          <a:prstGeom prst="rect">
            <a:avLst/>
          </a:prstGeom>
          <a:solidFill>
            <a:srgbClr val="C9A227"/>
          </a:solidFill>
          <a:ln w="3175">
            <a:solidFill>
              <a:srgbClr val="C9A227"/>
            </a:solidFill>
            <a:prstDash val="solid"/>
          </a:ln>
        </p:spPr>
      </p:sp>
      <p:sp>
        <p:nvSpPr>
          <p:cNvPr id="25" name="Text 23"/>
          <p:cNvSpPr/>
          <p:nvPr/>
        </p:nvSpPr>
        <p:spPr>
          <a:xfrm>
            <a:off x="8988552" y="3064459"/>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emails you sent</a:t>
            </a:r>
            <a:endParaRPr lang="en-US" sz="1200" dirty="0"/>
          </a:p>
        </p:txBody>
      </p:sp>
      <p:sp>
        <p:nvSpPr>
          <p:cNvPr id="26" name="Shape 24"/>
          <p:cNvSpPr/>
          <p:nvPr/>
        </p:nvSpPr>
        <p:spPr>
          <a:xfrm>
            <a:off x="8494776" y="3805123"/>
            <a:ext cx="2889504" cy="1755648"/>
          </a:xfrm>
          <a:prstGeom prst="rect">
            <a:avLst/>
          </a:prstGeom>
          <a:solidFill>
            <a:srgbClr val="E8E2D2"/>
          </a:solidFill>
          <a:ln/>
        </p:spPr>
      </p:sp>
      <p:sp>
        <p:nvSpPr>
          <p:cNvPr id="27" name="Text 25"/>
          <p:cNvSpPr/>
          <p:nvPr/>
        </p:nvSpPr>
        <p:spPr>
          <a:xfrm>
            <a:off x="8677656" y="3988003"/>
            <a:ext cx="2523744"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WHAT COMES BACK</a:t>
            </a:r>
            <a:endParaRPr lang="en-US" sz="1200" dirty="0"/>
          </a:p>
        </p:txBody>
      </p:sp>
      <p:sp>
        <p:nvSpPr>
          <p:cNvPr id="28" name="Shape 26"/>
          <p:cNvSpPr/>
          <p:nvPr/>
        </p:nvSpPr>
        <p:spPr>
          <a:xfrm rot="2700000">
            <a:off x="8677656" y="4458919"/>
            <a:ext cx="100584" cy="100584"/>
          </a:xfrm>
          <a:prstGeom prst="rect">
            <a:avLst/>
          </a:prstGeom>
          <a:solidFill>
            <a:srgbClr val="C9A227"/>
          </a:solidFill>
          <a:ln w="3175">
            <a:solidFill>
              <a:srgbClr val="C9A227"/>
            </a:solidFill>
            <a:prstDash val="solid"/>
          </a:ln>
        </p:spPr>
      </p:sp>
      <p:sp>
        <p:nvSpPr>
          <p:cNvPr id="29" name="Text 27"/>
          <p:cNvSpPr/>
          <p:nvPr/>
        </p:nvSpPr>
        <p:spPr>
          <a:xfrm>
            <a:off x="8988552" y="4381195"/>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changes, with a because</a:t>
            </a:r>
            <a:endParaRPr lang="en-US" sz="1200" dirty="0"/>
          </a:p>
        </p:txBody>
      </p:sp>
      <p:sp>
        <p:nvSpPr>
          <p:cNvPr id="30" name="Shape 28"/>
          <p:cNvSpPr/>
          <p:nvPr/>
        </p:nvSpPr>
        <p:spPr>
          <a:xfrm rot="2700000">
            <a:off x="8677656" y="4815535"/>
            <a:ext cx="100584" cy="100584"/>
          </a:xfrm>
          <a:prstGeom prst="rect">
            <a:avLst/>
          </a:prstGeom>
          <a:solidFill>
            <a:srgbClr val="C9A227"/>
          </a:solidFill>
          <a:ln w="3175">
            <a:solidFill>
              <a:srgbClr val="C9A227"/>
            </a:solidFill>
            <a:prstDash val="solid"/>
          </a:ln>
        </p:spPr>
      </p:sp>
      <p:sp>
        <p:nvSpPr>
          <p:cNvPr id="31" name="Text 29"/>
          <p:cNvSpPr/>
          <p:nvPr/>
        </p:nvSpPr>
        <p:spPr>
          <a:xfrm>
            <a:off x="8988552" y="4737811"/>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week in numbers</a:t>
            </a:r>
            <a:endParaRPr lang="en-US" sz="1200" dirty="0"/>
          </a:p>
        </p:txBody>
      </p:sp>
      <p:sp>
        <p:nvSpPr>
          <p:cNvPr id="32" name="Shape 30"/>
          <p:cNvSpPr/>
          <p:nvPr/>
        </p:nvSpPr>
        <p:spPr>
          <a:xfrm rot="2700000">
            <a:off x="8677656" y="5172151"/>
            <a:ext cx="100584" cy="100584"/>
          </a:xfrm>
          <a:prstGeom prst="rect">
            <a:avLst/>
          </a:prstGeom>
          <a:solidFill>
            <a:srgbClr val="C9A227"/>
          </a:solidFill>
          <a:ln w="3175">
            <a:solidFill>
              <a:srgbClr val="C9A227"/>
            </a:solidFill>
            <a:prstDash val="solid"/>
          </a:ln>
        </p:spPr>
      </p:sp>
      <p:sp>
        <p:nvSpPr>
          <p:cNvPr id="33" name="Text 31"/>
          <p:cNvSpPr/>
          <p:nvPr/>
        </p:nvSpPr>
        <p:spPr>
          <a:xfrm>
            <a:off x="8988552" y="5094427"/>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nothing until you approve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990734" y="932688"/>
            <a:ext cx="139354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FOUR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loop is closed.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23</a:t>
            </a:r>
            <a:endParaRPr lang="en-US" sz="9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500" dirty="0"/>
          </a:p>
        </p:txBody>
      </p:sp>
      <p:sp>
        <p:nvSpPr>
          <p:cNvPr id="9" name="Text 7"/>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1884274" y="2415235"/>
            <a:ext cx="2010461" cy="2010461"/>
          </a:xfrm>
          <a:prstGeom prst="ellipse">
            <a:avLst/>
          </a:prstGeom>
          <a:ln w="12700">
            <a:solidFill>
              <a:srgbClr val="C9A227"/>
            </a:solidFill>
            <a:prstDash val="solid"/>
          </a:ln>
        </p:spPr>
      </p:sp>
      <p:sp>
        <p:nvSpPr>
          <p:cNvPr id="10" name="Shape 8"/>
          <p:cNvSpPr/>
          <p:nvPr/>
        </p:nvSpPr>
        <p:spPr>
          <a:xfrm rot="8100000">
            <a:off x="3552760" y="2644281"/>
            <a:ext cx="95098" cy="130759"/>
          </a:xfrm>
          <a:prstGeom prst="triangle">
            <a:avLst/>
          </a:prstGeom>
          <a:solidFill>
            <a:srgbClr val="C9A227"/>
          </a:solidFill>
          <a:ln/>
        </p:spPr>
      </p:sp>
      <p:sp>
        <p:nvSpPr>
          <p:cNvPr id="11" name="Shape 9"/>
          <p:cNvSpPr/>
          <p:nvPr/>
        </p:nvSpPr>
        <p:spPr>
          <a:xfrm rot="13500000">
            <a:off x="3552760" y="4065891"/>
            <a:ext cx="95098" cy="130759"/>
          </a:xfrm>
          <a:prstGeom prst="triangle">
            <a:avLst/>
          </a:prstGeom>
          <a:solidFill>
            <a:srgbClr val="C9A227"/>
          </a:solidFill>
          <a:ln/>
        </p:spPr>
      </p:sp>
      <p:sp>
        <p:nvSpPr>
          <p:cNvPr id="12" name="Shape 10"/>
          <p:cNvSpPr/>
          <p:nvPr/>
        </p:nvSpPr>
        <p:spPr>
          <a:xfrm rot="18900000">
            <a:off x="2131150" y="4065891"/>
            <a:ext cx="95098" cy="130759"/>
          </a:xfrm>
          <a:prstGeom prst="triangle">
            <a:avLst/>
          </a:prstGeom>
          <a:solidFill>
            <a:srgbClr val="C9A227"/>
          </a:solidFill>
          <a:ln/>
        </p:spPr>
      </p:sp>
      <p:sp>
        <p:nvSpPr>
          <p:cNvPr id="13" name="Shape 11"/>
          <p:cNvSpPr/>
          <p:nvPr/>
        </p:nvSpPr>
        <p:spPr>
          <a:xfrm rot="2700000">
            <a:off x="2131150" y="2644281"/>
            <a:ext cx="95098" cy="130759"/>
          </a:xfrm>
          <a:prstGeom prst="triangle">
            <a:avLst/>
          </a:prstGeom>
          <a:solidFill>
            <a:srgbClr val="C9A227"/>
          </a:solidFill>
          <a:ln/>
        </p:spPr>
      </p:sp>
      <p:sp>
        <p:nvSpPr>
          <p:cNvPr id="14" name="Shape 12"/>
          <p:cNvSpPr/>
          <p:nvPr/>
        </p:nvSpPr>
        <p:spPr>
          <a:xfrm>
            <a:off x="2306470" y="2837432"/>
            <a:ext cx="1166067" cy="1166067"/>
          </a:xfrm>
          <a:prstGeom prst="ellipse">
            <a:avLst/>
          </a:prstGeom>
          <a:solidFill>
            <a:srgbClr val="14213D"/>
          </a:solidFill>
          <a:ln/>
        </p:spPr>
      </p:sp>
      <p:sp>
        <p:nvSpPr>
          <p:cNvPr id="15" name="Text 13"/>
          <p:cNvSpPr/>
          <p:nvPr/>
        </p:nvSpPr>
        <p:spPr>
          <a:xfrm>
            <a:off x="2352190" y="3222346"/>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2670048" y="2195779"/>
            <a:ext cx="438912" cy="438912"/>
          </a:xfrm>
          <a:prstGeom prst="ellipse">
            <a:avLst/>
          </a:prstGeom>
          <a:solidFill>
            <a:srgbClr val="F7F3EA"/>
          </a:solidFill>
          <a:ln w="12700">
            <a:solidFill>
              <a:srgbClr val="C9A227"/>
            </a:solidFill>
            <a:prstDash val="solid"/>
          </a:ln>
        </p:spPr>
      </p:sp>
      <p:sp>
        <p:nvSpPr>
          <p:cNvPr id="17" name="Text 15"/>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3675278" y="3201010"/>
            <a:ext cx="438912" cy="438912"/>
          </a:xfrm>
          <a:prstGeom prst="ellipse">
            <a:avLst/>
          </a:prstGeom>
          <a:solidFill>
            <a:srgbClr val="F7F3EA"/>
          </a:solidFill>
          <a:ln w="12700">
            <a:solidFill>
              <a:srgbClr val="C9A227"/>
            </a:solidFill>
            <a:prstDash val="solid"/>
          </a:ln>
        </p:spPr>
      </p:sp>
      <p:sp>
        <p:nvSpPr>
          <p:cNvPr id="20" name="Text 18"/>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242206" y="3294736"/>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2670048" y="4206240"/>
            <a:ext cx="438912" cy="438912"/>
          </a:xfrm>
          <a:prstGeom prst="ellipse">
            <a:avLst/>
          </a:prstGeom>
          <a:solidFill>
            <a:srgbClr val="F7F3EA"/>
          </a:solidFill>
          <a:ln w="12700">
            <a:solidFill>
              <a:srgbClr val="C9A227"/>
            </a:solidFill>
            <a:prstDash val="solid"/>
          </a:ln>
        </p:spPr>
      </p:sp>
      <p:sp>
        <p:nvSpPr>
          <p:cNvPr id="23" name="Text 21"/>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1664818" y="3201010"/>
            <a:ext cx="438912" cy="438912"/>
          </a:xfrm>
          <a:prstGeom prst="ellipse">
            <a:avLst/>
          </a:prstGeom>
          <a:solidFill>
            <a:srgbClr val="F7F3EA"/>
          </a:solidFill>
          <a:ln w="12700">
            <a:solidFill>
              <a:srgbClr val="C9A227"/>
            </a:solidFill>
            <a:prstDash val="solid"/>
          </a:ln>
        </p:spPr>
      </p:sp>
      <p:sp>
        <p:nvSpPr>
          <p:cNvPr id="26" name="Text 24"/>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Shape 26"/>
          <p:cNvSpPr/>
          <p:nvPr/>
        </p:nvSpPr>
        <p:spPr>
          <a:xfrm>
            <a:off x="5577840" y="1775155"/>
            <a:ext cx="5806440" cy="3200400"/>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every day that you read by hand?</a:t>
            </a:r>
            <a:endParaRPr lang="en-US" sz="1400" dirty="0"/>
          </a:p>
        </p:txBody>
      </p:sp>
      <p:sp>
        <p:nvSpPr>
          <p:cNvPr id="31" name="Shape 29"/>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4" name="Text 32"/>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5" name="Shape 33"/>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6" name="Text 34"/>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did you learn last month that nobody wrote down?</a:t>
            </a:r>
            <a:endParaRPr lang="en-US" sz="1400" dirty="0"/>
          </a:p>
        </p:txBody>
      </p:sp>
      <p:sp>
        <p:nvSpPr>
          <p:cNvPr id="37" name="Text 35"/>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HAPPENS NEXT</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3017520"/>
            <a:ext cx="10570464" cy="0"/>
          </a:xfrm>
          <a:prstGeom prst="line">
            <a:avLst/>
          </a:prstGeom>
          <a:noFill/>
          <a:ln w="9525">
            <a:solidFill>
              <a:srgbClr val="C9A227">
                <a:alpha val="45000"/>
              </a:srgbClr>
            </a:solidFill>
            <a:prstDash val="solid"/>
          </a:ln>
        </p:spPr>
      </p:sp>
      <p:sp>
        <p:nvSpPr>
          <p:cNvPr id="10" name="Shape 8"/>
          <p:cNvSpPr/>
          <p:nvPr/>
        </p:nvSpPr>
        <p:spPr>
          <a:xfrm>
            <a:off x="2057400" y="2939796"/>
            <a:ext cx="155448" cy="155448"/>
          </a:xfrm>
          <a:prstGeom prst="ellipse">
            <a:avLst/>
          </a:prstGeom>
          <a:solidFill>
            <a:srgbClr val="14213D"/>
          </a:solidFill>
          <a:ln/>
        </p:spPr>
      </p:sp>
      <p:sp>
        <p:nvSpPr>
          <p:cNvPr id="11" name="Text 9"/>
          <p:cNvSpPr/>
          <p:nvPr/>
        </p:nvSpPr>
        <p:spPr>
          <a:xfrm>
            <a:off x="1083564" y="2331720"/>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Thu 4:30</a:t>
            </a:r>
            <a:endParaRPr lang="en-US" sz="1300" dirty="0"/>
          </a:p>
        </p:txBody>
      </p:sp>
      <p:sp>
        <p:nvSpPr>
          <p:cNvPr id="12" name="Text 10"/>
          <p:cNvSpPr/>
          <p:nvPr/>
        </p:nvSpPr>
        <p:spPr>
          <a:xfrm>
            <a:off x="1083564" y="2532888"/>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shift</a:t>
            </a:r>
            <a:endParaRPr lang="en-US" sz="1100" dirty="0"/>
          </a:p>
        </p:txBody>
      </p:sp>
      <p:sp>
        <p:nvSpPr>
          <p:cNvPr id="13" name="Shape 11"/>
          <p:cNvSpPr/>
          <p:nvPr/>
        </p:nvSpPr>
        <p:spPr>
          <a:xfrm>
            <a:off x="4700016" y="2939796"/>
            <a:ext cx="155448" cy="155448"/>
          </a:xfrm>
          <a:prstGeom prst="ellipse">
            <a:avLst/>
          </a:prstGeom>
          <a:solidFill>
            <a:srgbClr val="14213D"/>
          </a:solidFill>
          <a:ln/>
        </p:spPr>
      </p:sp>
      <p:sp>
        <p:nvSpPr>
          <p:cNvPr id="14" name="Text 12"/>
          <p:cNvSpPr/>
          <p:nvPr/>
        </p:nvSpPr>
        <p:spPr>
          <a:xfrm>
            <a:off x="3726180"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3:00</a:t>
            </a:r>
            <a:endParaRPr lang="en-US" sz="1300" dirty="0"/>
          </a:p>
        </p:txBody>
      </p:sp>
      <p:sp>
        <p:nvSpPr>
          <p:cNvPr id="15" name="Text 13"/>
          <p:cNvSpPr/>
          <p:nvPr/>
        </p:nvSpPr>
        <p:spPr>
          <a:xfrm>
            <a:off x="3726180"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retrain</a:t>
            </a:r>
            <a:endParaRPr lang="en-US" sz="1100" dirty="0"/>
          </a:p>
        </p:txBody>
      </p:sp>
      <p:sp>
        <p:nvSpPr>
          <p:cNvPr id="16" name="Shape 14"/>
          <p:cNvSpPr/>
          <p:nvPr/>
        </p:nvSpPr>
        <p:spPr>
          <a:xfrm>
            <a:off x="7342632" y="2939796"/>
            <a:ext cx="155448" cy="155448"/>
          </a:xfrm>
          <a:prstGeom prst="ellipse">
            <a:avLst/>
          </a:prstGeom>
          <a:solidFill>
            <a:srgbClr val="C9A227"/>
          </a:solidFill>
          <a:ln/>
        </p:spPr>
      </p:sp>
      <p:sp>
        <p:nvSpPr>
          <p:cNvPr id="17" name="Text 15"/>
          <p:cNvSpPr/>
          <p:nvPr/>
        </p:nvSpPr>
        <p:spPr>
          <a:xfrm>
            <a:off x="6368796" y="2331720"/>
            <a:ext cx="2103120" cy="201168"/>
          </a:xfrm>
          <a:prstGeom prst="rect">
            <a:avLst/>
          </a:prstGeom>
          <a:noFill/>
          <a:ln/>
        </p:spPr>
        <p:txBody>
          <a:bodyPr wrap="square" lIns="0" tIns="0" rIns="0" bIns="0" rtlCol="0" anchor="ctr"/>
          <a:lstStyle/>
          <a:p>
            <a:pPr algn="ctr" indent="0" marL="0">
              <a:buNone/>
            </a:pPr>
            <a:r>
              <a:rPr lang="en-US" sz="1300" b="1" dirty="0">
                <a:solidFill>
                  <a:srgbClr val="8A6D14"/>
                </a:solidFill>
                <a:latin typeface="Arial" pitchFamily="34" charset="0"/>
                <a:ea typeface="Arial" pitchFamily="34" charset="-122"/>
                <a:cs typeface="Arial" pitchFamily="34" charset="-120"/>
              </a:rPr>
              <a:t>Mon 8:00</a:t>
            </a:r>
            <a:endParaRPr lang="en-US" sz="1300" dirty="0"/>
          </a:p>
        </p:txBody>
      </p:sp>
      <p:sp>
        <p:nvSpPr>
          <p:cNvPr id="18" name="Text 16"/>
          <p:cNvSpPr/>
          <p:nvPr/>
        </p:nvSpPr>
        <p:spPr>
          <a:xfrm>
            <a:off x="6368796" y="253288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8A6D14"/>
                </a:solidFill>
                <a:latin typeface="Arial" pitchFamily="34" charset="0"/>
                <a:ea typeface="Arial" pitchFamily="34" charset="-122"/>
                <a:cs typeface="Arial" pitchFamily="34" charset="-120"/>
              </a:rPr>
              <a:t>her Week in Review, on your calendar</a:t>
            </a:r>
            <a:endParaRPr lang="en-US" sz="1100" dirty="0"/>
          </a:p>
        </p:txBody>
      </p:sp>
      <p:sp>
        <p:nvSpPr>
          <p:cNvPr id="19" name="Shape 17"/>
          <p:cNvSpPr/>
          <p:nvPr/>
        </p:nvSpPr>
        <p:spPr>
          <a:xfrm>
            <a:off x="9985248" y="2939796"/>
            <a:ext cx="155448" cy="155448"/>
          </a:xfrm>
          <a:prstGeom prst="ellipse">
            <a:avLst/>
          </a:prstGeom>
          <a:solidFill>
            <a:srgbClr val="14213D"/>
          </a:solidFill>
          <a:ln/>
        </p:spPr>
      </p:sp>
      <p:sp>
        <p:nvSpPr>
          <p:cNvPr id="20" name="Text 18"/>
          <p:cNvSpPr/>
          <p:nvPr/>
        </p:nvSpPr>
        <p:spPr>
          <a:xfrm>
            <a:off x="9011412"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Mon, you sign it</a:t>
            </a:r>
            <a:endParaRPr lang="en-US" sz="1300" dirty="0"/>
          </a:p>
        </p:txBody>
      </p:sp>
      <p:sp>
        <p:nvSpPr>
          <p:cNvPr id="21" name="Text 19"/>
          <p:cNvSpPr/>
          <p:nvPr/>
        </p:nvSpPr>
        <p:spPr>
          <a:xfrm>
            <a:off x="9011412"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one paste, one upload</a:t>
            </a:r>
            <a:endParaRPr lang="en-US" sz="1100" dirty="0"/>
          </a:p>
        </p:txBody>
      </p:sp>
      <p:sp>
        <p:nvSpPr>
          <p:cNvPr id="22" name="Shape 20"/>
          <p:cNvSpPr/>
          <p:nvPr/>
        </p:nvSpPr>
        <p:spPr>
          <a:xfrm>
            <a:off x="813816" y="4041648"/>
            <a:ext cx="10570464" cy="843534"/>
          </a:xfrm>
          <a:prstGeom prst="rect">
            <a:avLst/>
          </a:prstGeom>
          <a:solidFill>
            <a:srgbClr val="E8E2D2"/>
          </a:solidFill>
          <a:ln/>
        </p:spPr>
      </p:sp>
      <p:sp>
        <p:nvSpPr>
          <p:cNvPr id="23" name="Shape 21"/>
          <p:cNvSpPr/>
          <p:nvPr/>
        </p:nvSpPr>
        <p:spPr>
          <a:xfrm rot="2700000">
            <a:off x="1069848" y="4375404"/>
            <a:ext cx="100584" cy="100584"/>
          </a:xfrm>
          <a:prstGeom prst="rect">
            <a:avLst/>
          </a:prstGeom>
          <a:solidFill>
            <a:srgbClr val="C9A227"/>
          </a:solidFill>
          <a:ln w="3175">
            <a:solidFill>
              <a:srgbClr val="C9A227"/>
            </a:solidFill>
            <a:prstDash val="solid"/>
          </a:ln>
        </p:spPr>
      </p:sp>
      <p:sp>
        <p:nvSpPr>
          <p:cNvPr id="24" name="Text 22"/>
          <p:cNvSpPr/>
          <p:nvPr/>
        </p:nvSpPr>
        <p:spPr>
          <a:xfrm>
            <a:off x="1380744" y="4297680"/>
            <a:ext cx="9747504" cy="331470"/>
          </a:xfrm>
          <a:prstGeom prst="rect">
            <a:avLst/>
          </a:prstGeom>
          <a:noFill/>
          <a:ln/>
        </p:spPr>
        <p:txBody>
          <a:bodyPr wrap="square" lIns="0" tIns="0" rIns="0" bIns="0" rtlCol="0" anchor="t"/>
          <a:lstStyle/>
          <a:p>
            <a:pPr indent="0" marL="0">
              <a:lnSpc>
                <a:spcPct val="116000"/>
              </a:lnSpc>
              <a:buNone/>
            </a:pPr>
            <a:r>
              <a:rPr lang="en-US" sz="1500" b="1" dirty="0">
                <a:solidFill>
                  <a:srgbClr val="8A6D14"/>
                </a:solidFill>
                <a:latin typeface="Arial" pitchFamily="34" charset="0"/>
                <a:ea typeface="Arial" pitchFamily="34" charset="-122"/>
                <a:cs typeface="Arial" pitchFamily="34" charset="-120"/>
              </a:rPr>
              <a:t>If she gets it wrong, you do not need a better prompt. You need a Friday.</a:t>
            </a:r>
            <a:endParaRPr lang="en-US" sz="1500" dirty="0"/>
          </a:p>
        </p:txBody>
      </p:sp>
      <p:sp>
        <p:nvSpPr>
          <p:cNvPr id="25" name="Text 23"/>
          <p:cNvSpPr/>
          <p:nvPr/>
        </p:nvSpPr>
        <p:spPr>
          <a:xfrm>
            <a:off x="813816" y="5138928"/>
            <a:ext cx="10570464" cy="274320"/>
          </a:xfrm>
          <a:prstGeom prst="rect">
            <a:avLst/>
          </a:prstGeom>
          <a:noFill/>
          <a:ln/>
        </p:spPr>
        <p:txBody>
          <a:bodyPr wrap="square" lIns="0" tIns="0" rIns="0" bIns="0" rtlCol="0" anchor="ctr"/>
          <a:lstStyle/>
          <a:p>
            <a:pPr algn="ctr" indent="0" marL="0">
              <a:buNone/>
            </a:pPr>
            <a:r>
              <a:rPr lang="en-US" sz="1300" dirty="0">
                <a:solidFill>
                  <a:srgbClr val="5A6379"/>
                </a:solidFill>
                <a:latin typeface="Arial" pitchFamily="34" charset="0"/>
                <a:ea typeface="Arial" pitchFamily="34" charset="-122"/>
                <a:cs typeface="Arial" pitchFamily="34" charset="-120"/>
              </a:rPr>
              <a:t>denisekgosnell.github.io/Donna   ·   denise@denisegosnell.ai</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denisekgosnell.github.io/Donna   ·   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2026-10-19T21:03:17Z</dcterms:created>
  <dcterms:modified xsi:type="dcterms:W3CDTF">2026-10-19T21:03:17Z</dcterms:modified>
</cp:coreProperties>
</file>