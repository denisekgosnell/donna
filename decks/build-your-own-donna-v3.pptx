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notesMasterIdLst>
    <p:notesMasterId r:id="rId3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 min.
[SAY] She ran the best closer in New York City. Today she comes to work for you. By 1:23 Eastern every one of you owns a working Donna. Not a demo. Yours, on your own inbox, and she gets better every Friday.
[DO] The preamble before this slide ran 12:00 to 12:10. Zoom housekeeping in one breath: Claude open on your laptop, the chat is for two things, a checkmark when you have it and a word when you are stuck. Name the TAs working the chat and the breakout rooms.
[WATCH] Do not start until the chat shows checkmarks from most of the room. The people who fall behind fall behind here, not later.
[NEXT] Here is how the ninety minutes 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 min.
[SAY] Three acts. First the idea: open loops and closed loops, and why an agent is just a document. Then we build, four steps, and by 1:23 she is working your inbox. Then the wrap: what you built, where it turns next, and your first Friday.
[DO] Point at the middle card. That is most of the ninety minutes, and most of it is you pasting.
[WATCH] Do not read the card text. Say the three act names and the clock on the middle one.
[NEXT] Fifty-five seconds of silence. Let the video do the talking.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
[SAY] Nothing. Fifty-five seconds. Let it play to the end card.
[DO] Press play the moment the slide lands. If it stalls, go to the hidden slide right after this one and narrate the three stills in the captions' words.
[WATCH] The numbers are a cartoon, not a statistic. If anyone asks, say so: an illustration of what everyone in the room already feels.
[NEXT] Here is the one idea the whole hour sits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0 min. Hidden. Use only if the video on the previous slide will not play.
[SAY] Walk the three captions left to right, in those words.
[NEXT] Here is the one idea the whole hour sits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 min.
[SAY] Read the two lines at the top out loud, slowly. Then the caption: AI makes open loops cheap. That is the whole problem, and it is the whole opportunity.
[DO] Point left, then right. Open: work goes out, nothing comes back. Closed: the result comes back to whoever set the rules.
[WATCH] Do not define feedback loops, control theory, or anything with a Wikipedia page. Two sentences and move.
[NEXT] Every workflow you have is one of these two shapes. Here is the closed one, with its four stops.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
[SAY] Four stops. Work comes in. Somebody writes the rules down once. The work gets done, on a schedule. And then the part almost nobody builds: you look at what came back and you fix the rules.
[DO] Walk the ring clockwise with your cursor so the room has the four words. Say them: connect, teach, run, retrain. They will hear those four words about forty more times today.
[WATCH] Do not get pulled into which workflows. Email, invoices, hiring, tickets. One breath. The point is the fourth stop.
[NEXT] Now, the part that is actually a computer science lecture, in one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 min.
[SAY] Same four stops. This is how computer scientists have built anything that learns for over fifty years: collect the data, train the model, put it to work, then look at what it got wrong and retrain. Silicon Valley spent two years telling you the magic was in the prompt. It was not. You can ask the AI to write the prompt. The part that matters is step four, and you already know how to do it. It is called looking at how the week went.
[DO] Point at the hub: the model. Then at station four. Hold there.
[WATCH] Say 'over fifty years', not 'invented'. Engineers had feedback loops before computer scientists did. If anyone technical pushes: the textbook version adds evaluate and monitor; we fold them into RUN and RETRAIN.
[NEXT] And here is the only trick in the whole workshop.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 min.
[SAY] Same wheel. New hub. Donna is a document: her playbook. Connect it to your inbox, teach it your rules, run it on a schedule, and on Fridays she reads her own week and proposes edits to her own playbook. You are not retraining Claude. Nobody's model changes on Friday. You are retraining Donna, and Donna is a document you own.
[DO] Point at the red hub. That is the file they will download in step three.
[WATCH] This is the sentence people repeat afterward. Say it twice.
[NEXT] Proof that this is real: what mine does for 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 min.
[SAY] This is not a demo account. Mine holds calendar time the moment a thread converges, checks every invite for the people who matter, preps me before I meet a stranger, watches the eggs versus the balls, reads every Slack channel, runs a 24-hour reply desk, and plans tomorrow before I log off.
[DO] Pick two and tell the story in one breath each: the calendar hold that appeared before you finished reading, and the egg she caught. Keep it fun; the numbers are on the next slide.
[WATCH] Eggs versus balls: the goals that break if dropped are eggs; everything else bounces. She knows which is which because I wrote it down once.
[NEXT] What does that give back? The receipts.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 min.
[SAY] Three receipts from my own calendar. The Friday after a conference, the follow-ups that used to take four hours took thirty-three minutes. Thirty-five personalized invitations in seventy-five minutes, which I simply would not have done before. And over a hundred meeting briefs since August, every one written before I walked in.
[DO] Point at the middle number. The honest ROI is the work that was not possible before, not just the hours saved.
[WATCH] The Microsoft figure is a survey of early Copilot users, self-reported, so call it a benchmark and not a promise. Your own receipts are the ones that count; they start Thursday at 4:30.
[NEXT] One honest slide about which AI to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 min.
[SAY] One phrase each, no religion. Copilot is the AI inside Microsoft 365. Perplexity is research with sources. ChatGPT is the everyday all-rounder. Claude is careful writing plus agents that do the work, which is why today runs on it: projects, connectors, skills, and scheduled tasks.
[DO] Point at the dark card, then at the caption. The skill you build today is a file. It is portable.
[WATCH] Do not get pulled into a feature war. The honest answer to 'which is best' is: the playbook is yours either way; the tool is the one your company allows.
[NEXT] And one honest slide about free versus paid.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 min.
[SAY] If you are on the free plan, nothing today is closed to you except one button. Steps 1 and 2 are identical. In step 3 you still build the skill. The paid plans add scheduled tasks, so she starts her own shift. On Free, you start it: open the Donna project at 4:30 and say Triage my inbox. Friday, say Retrain. Same agent, same playbook. Only the start button moves.
[DO] Point at the left column, then the one line on the right. Do not apologize for the free plan; it is a complete build.
[WATCH] The site has a free-plan box in Step 3 and Step 4 with the exact sentences to paste. Phone reminders at 4:30 and Friday 3:00 replace the scheduler.
[NEXT] One promise before anyone connects an inbox.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 min.
[SAY] Say it twice, verbatim: she never sends. Ever. And she never deletes.
[DO] Slow down here. This is the trust slide, and it answers the fear nobody has typed in the chat yet: what if it emails a client?
[WATCH] Her playbook forbids it in its first line, and nothing leaves until you press send on a draft you have read. You are the send button. If someone asks about privacy, the appendix has the plan-by-plan answer; do not go there now.
[NEXT] Five house rules, then we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 min.
[SAY] Read all five slowly. This slide buys calm for the next hour.
[DO] Rules 1 and 2 kill the unspoken fear. Rule 3 is how we move on Zoom: a checkmark in the chat at every checkpoint, and nobody moves until the count matches. Rule 5: say so in the chat or raise your hand, and a TA takes you into a Zoom room one to one.
[WATCH] After rule 5, say the last line out loud. It is the one that keeps people from hiding.
[NEXT] Four steps. By 1:23 she is working for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 min.
[SAY] Four steps, one per station of the loop you just saw. Connect at 12:27, teach at 12:41, run at 12:55, retrain at 1:11. At 1:23 she is working for you, and she has already given herself her first performance review.
[DO] Say the arc out loud, then point at the clock on each card. From here, each step opens with one slide that says what we are doing, then we switch to the site.
[WATCH] Nobody types anything longer than one sentence today. Say that; it lowers the temperature.
[NEXT] Last thing before we build: everyone opens the instructions.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 min.
[SAY] Open the site now, on your phone or in a tab beside Claude. Type the password: donna2026, all lowercase, no spaces. The TAs are putting the link and the password in the chat.
[DO] Say the password out loud twice and paste the link and the password into the Zoom chat yourself. Wait for checkmarks.
[WATCH] Someone will type the password with a capital letter or a space; the site ignores both. Someone else will be on the promo page instead of the instructions; the link in the chat fixes it.
[NEXT] Step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 min.
[SAY] Step one, three things: create her project, connect the three Google accounts, then two prompts. The desk before the mail.
[DO] Read the three lines. Then switch the screen share to the site, Step 1, and stay there until the checkpoint.
[WATCH] Watch the pip in the top right. One of four stations lit. By 1:23 all four are.
[NEXT] The site, Step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8 min.
[SAY] Project first, then connectors. The desk before the mail. Then two prompts, from the site, inside the Donna project. Prompt 2 now makes her read your Sent folder first, and bans em dashes and AI speech patterns.
[DO] Share the site, Step 1. Give prompt 1 a beat: the chat goes quiet when Claude answers from their real inbox. Then prompt 2, and send them to their Drafts folder.
[WATCH] The classic failure is signing into the personal Google account instead of work, or a work account whose IT blocks the connector: the note on the page says bring a personal Gmail. If a connector reads Connected but Claude cannot see mail, quit Claude fully and reopen. Still stuck: a TA takes them into a Zoom room.
[NEXT] Hold at the checkpoint.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5 min.
[SAY] Nothing until the chat shows a checkmark from nearly everyone.
[DO] Run it live on your own screen first, then hold. Count the checkmarks out loud. The TAs chase the stuck.
[WATCH] If a connector is stuck: disconnect, reconnect, confirm the account. If someone is hopelessly stuck, a TA takes them into a Zoom room and the room keeps moving.
[NEXT] Step two, and this is the one that matters.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 min.
[SAY] Step two is the document. Everything else today is plumbing. Three things: paste her playbook into a new chat in the Donna project, answer her four questions, then type Triage my inbox.
[DO] Pip moves to TEACH. Read the three lines, then share the site, Step 2.
[WATCH] Give people time here. The better the answers, the better the Donna.
[NEXT] The site, Step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9 min.
[SAY] You do not write the document. You answer four questions and she writes it. Reply Now, By End of Day, your priorities, your voice. Take your time; specific answers make a better Donna.
[DO] Everyone pastes the template from the site into a NEW chat inside the Donna project. Gate: every screen shows 'Four questions. Take your time.' and QUESTION 1 OF 4. Checkmarks in the chat. Then let them answer. Circulate through the chat with the TAs.
[WATCH] Someone will paste OUTSIDE the Donna project and get generic results; get them inside the project, it is the first note on the page. Nobody gets hurried: there is no shortcut phrase this time.
[NEXT] The checkpoint, and the ritual.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4 min.
[SAY] You will never re-explain your rules again. That is the difference between a chat and a playbook.
[DO] After the OPEN FOR BUSINESS banner, everyone runs the one-sentence ritual inside the project. Hold until the checkmarks say every screen shows a table.
[WATCH] Reply-Now drafts are already sitting in their Drafts folder. Have them check; that is the gasp.
[NEXT] Step three. The document leaves your hands.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 min.
[SAY] Step three is where it stops being a conversation and becomes an employee. Three things: she writes her playbook file, you upload it as a skill, then you schedule the 4:30 shift.
[DO] Pip moves to RUN. Read the three lines, then share the site, Step 3.
[WATCH] Free-plan people: the first two work for them; the schedule needs a paid plan, and the site says what they do instead.
[NEXT] The site, Step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6 min.
[SAY] A skill written in chat does not exist until you upload it. The file is a zip; the Skills screen wants a zip. Go slow and demo it on screen.
[DO] Three beats. She writes it. You DOWNLOAD it. You UPLOAD it under Customize, Skills, plus, Create skill, Upload a skill. Wait until the chat says every screen shows donna-triage in the list.
[WATCH] Stay in the SAME chat as step two; a fresh chat has not met them yet and writes a blank template. The gotchas are on the site: no Skills menu means the capability switch is off; a refused upload means the zip is not a folder with SKILL.md inside. The workaround for anyone: paste the playbook text into the scheduled task itself.
[NEXT] Now give her the 4:30 shift.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5 min.
[SAY] The last line of that prompt is the finale of this step: a dry run, right now, with today's event ten minutes out so the email lands while we are still together.
[DO] Grab the prompt from the site rather than retyping. Scheduled in the left sidebar, New task, Create with Claude. If Claude asks how much she may do without checking in, pick the hands-free option. Free-plan people: no Scheduled menu; they run her by hand with Triage my inbox, and the site says so.
[WATCH] Scheduled tasks run on Anthropic's side now, so a closed laptop is fine; say that plainly. 'My local time' matters: half this room is in Europe. Paste by 1:06 at the latest so the event lands before step four.
[NEXT] Everybody watch your calendar.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4 min.
[SAY] Open today's calendar. The checkmark is the event with the triage inside it. The email arrives a minute before it starts, right as step four begins.
[DO] Everyone opens the event: the whole triage in its description, drafts waiting. Hold the silence. Checkmarks in the chat.
[WATCH] The event appears when the dry run finishes, two to five minutes after the paste; the email follows ten minutes after the task started, so most land around 1:15. Do not wait for the email here. Move on at 1:11 and let it arrive during step four.
[NEXT] Three stations lit. Now the one almost nobody builds.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 min.
[SAY] Step four. Donna Paulsen would never sit through a performance review. So she gives herself one, every Friday, and you sign it. It is one more scheduled task, same place as the 4:30 shift.
[DO] Pip: all four stations lit. Read the three lines, then share the site, Step 4.
[WATCH] Nothing yet.
[NEXT] The site, Step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6 min.
[SAY] Your Sent folder is her report card. She reads the reports she wrote, the drafts she saved, and the emails you actually sent, and she proposes changes to her own playbook. Numbered, each with a because. Nothing changes until you say approve.
[DO] Paste first, by 1:13, then talk. Same place as the daily shift: Scheduled, New task, paste. The last line runs it right now on this week so far, with today's event ten minutes out, which lands at 1:23 if the paste is at 1:13. Talk through the Sent-folder idea while she reads the week. Yes, on a Wednesday: the Sent folder since Monday gives her plenty to say.
[WATCH] Someone will ask whether she can just apply the changes herself. No, and that is the point: the human signature is what closes the loop. Monday, one paste and one upload, only when she proposes something.
[NEXT] While she reads: the reframe.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
[SAY] While her review is landing: recap the loop with THEIR artifacts. The playbook she wrote, the skill file they own, the schedule it runs on, the Friday it learns on. They did not learn a tool today. They built a loop, and closed it.
[DO] Two minutes, no more. Then the calendar.
[WATCH] Nothing.
[NEXT] 1:23. Open your calendar.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3 min.
[SAY] Nothing. Let it land. Then: four stations. Connect, teach, run, retrain. That is a learning system, and it is yours.
[DO] Everyone opens the event: proposed changes at the top, numbered, each with a because. Checkmarks in the chat. Point at the pip: all four lit, and the caption says the loop is closed.
[WATCH] A few reviews will land a minute or two late. Keep talking; they will arrive during the next slide.
[NEXT] What did we just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 min.
[SAY] Same three cards from the top of the hour. The idea: every workflow is a loop, and closed loops get better. The build: a project, a playbook she wrote, a skill you own, two standing orders, and she is live. The wrap starts now.
[DO] Point at each card in turn. This is the slide you promised them at 12:12.
[WATCH] Free-plan people built the same thing; their standing orders are two phone reminders. Say so if you see the question in the chat.
[NEXT] Where does the loop turn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12 min.
[SAY] Same four stations, pointed at the rest of your work. Every one of these questions is a workflow somebody on this call is doing by hand.
[DO] Facilitate from the chat; read answers aloud and map each one onto the ring so people hear their own use case become buildable. Three or four answers per station.
[WATCH] Give one personal story: the two-calendar morning shift is your own daily driver, so say so. The RETRAIN answers are your pipeline for the next workshop. Write them down.
[NEXT] What happens next, starting tomorrow.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3 min.
[SAY] Tomorrow at 4:30 she works her first real shift, and the email lands at 4:39. Friday at 3:00 she reads her week. Monday at 8:00 her Week in Review is on your calendar, and you sign it with one paste and one upload. If she gets it wrong, you do not need a better prompt. You need to retrain with better info, and more specific info.
[DO] Point at Monday. That is the loop closing for the first time without you in the room.
[WATCH] The site stays up: every prompt, every rescue prompt, the Monday signature. Questions to the email address, any time.
[NEXT] Send-off.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 min.
[SAY] Tomorrow at 4:39 the triage arrives on its own for the first time. Friday she reads her week. Monday she tells you what she wants to change. When that lands, that is Donna saying she has got it from here.
[DO] Questions any time: denise@denisegosnell.ai. The site stays up with every prompt.
[WATCH] Stop the recording after the last question, not before.
[NEXT] Done. You're weird. We'll be friends.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video" Target="../media/media-3-1.mp4"/><Relationship Id="rId2" Type="http://schemas.microsoft.com/office/2007/relationships/media" Target="../media/media-3-1.mp4"/><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Shape 0"/>
          <p:cNvSpPr/>
          <p:nvPr/>
        </p:nvSpPr>
        <p:spPr>
          <a:xfrm>
            <a:off x="5392217" y="576072"/>
            <a:ext cx="1408176" cy="1408176"/>
          </a:xfrm>
          <a:prstGeom prst="ellipse">
            <a:avLst/>
          </a:prstGeom>
          <a:ln w="12700">
            <a:solidFill>
              <a:srgbClr val="C9A227"/>
            </a:solidFill>
            <a:prstDash val="solid"/>
          </a:ln>
        </p:spPr>
      </p:sp>
      <p:sp>
        <p:nvSpPr>
          <p:cNvPr id="3" name="Shape 1"/>
          <p:cNvSpPr/>
          <p:nvPr/>
        </p:nvSpPr>
        <p:spPr>
          <a:xfrm>
            <a:off x="5496422" y="680277"/>
            <a:ext cx="1199766" cy="1199766"/>
          </a:xfrm>
          <a:prstGeom prst="ellipse">
            <a:avLst/>
          </a:prstGeom>
          <a:ln w="12700">
            <a:solidFill>
              <a:srgbClr val="C9A227"/>
            </a:solidFill>
            <a:prstDash val="solid"/>
          </a:ln>
        </p:spPr>
      </p:sp>
      <p:sp>
        <p:nvSpPr>
          <p:cNvPr id="4" name="Shape 2"/>
          <p:cNvSpPr/>
          <p:nvPr/>
        </p:nvSpPr>
        <p:spPr>
          <a:xfrm>
            <a:off x="6096305" y="540868"/>
            <a:ext cx="0" cy="70409"/>
          </a:xfrm>
          <a:prstGeom prst="line">
            <a:avLst/>
          </a:prstGeom>
          <a:noFill/>
          <a:ln w="12700">
            <a:solidFill>
              <a:srgbClr val="C9A227"/>
            </a:solidFill>
            <a:prstDash val="solid"/>
          </a:ln>
        </p:spPr>
      </p:sp>
      <p:sp>
        <p:nvSpPr>
          <p:cNvPr id="5" name="Shape 3"/>
          <p:cNvSpPr/>
          <p:nvPr/>
        </p:nvSpPr>
        <p:spPr>
          <a:xfrm>
            <a:off x="6096305" y="1949044"/>
            <a:ext cx="0" cy="70409"/>
          </a:xfrm>
          <a:prstGeom prst="line">
            <a:avLst/>
          </a:prstGeom>
          <a:noFill/>
          <a:ln w="12700">
            <a:solidFill>
              <a:srgbClr val="C9A227"/>
            </a:solidFill>
            <a:prstDash val="solid"/>
          </a:ln>
        </p:spPr>
      </p:sp>
      <p:sp>
        <p:nvSpPr>
          <p:cNvPr id="6" name="Shape 4"/>
          <p:cNvSpPr/>
          <p:nvPr/>
        </p:nvSpPr>
        <p:spPr>
          <a:xfrm>
            <a:off x="5357012" y="1280160"/>
            <a:ext cx="70409" cy="0"/>
          </a:xfrm>
          <a:prstGeom prst="line">
            <a:avLst/>
          </a:prstGeom>
          <a:noFill/>
          <a:ln w="12700">
            <a:solidFill>
              <a:srgbClr val="C9A227"/>
            </a:solidFill>
            <a:prstDash val="solid"/>
          </a:ln>
        </p:spPr>
      </p:sp>
      <p:sp>
        <p:nvSpPr>
          <p:cNvPr id="7" name="Shape 5"/>
          <p:cNvSpPr/>
          <p:nvPr/>
        </p:nvSpPr>
        <p:spPr>
          <a:xfrm>
            <a:off x="6765188" y="1280160"/>
            <a:ext cx="70409" cy="0"/>
          </a:xfrm>
          <a:prstGeom prst="line">
            <a:avLst/>
          </a:prstGeom>
          <a:noFill/>
          <a:ln w="12700">
            <a:solidFill>
              <a:srgbClr val="C9A227"/>
            </a:solidFill>
            <a:prstDash val="solid"/>
          </a:ln>
        </p:spPr>
      </p:sp>
      <p:sp>
        <p:nvSpPr>
          <p:cNvPr id="8" name="Text 6"/>
          <p:cNvSpPr/>
          <p:nvPr/>
        </p:nvSpPr>
        <p:spPr>
          <a:xfrm>
            <a:off x="5496422" y="680277"/>
            <a:ext cx="1199766" cy="1199766"/>
          </a:xfrm>
          <a:prstGeom prst="rect">
            <a:avLst/>
          </a:prstGeom>
          <a:noFill/>
          <a:ln/>
        </p:spPr>
        <p:txBody>
          <a:bodyPr wrap="square" lIns="0" tIns="0" rIns="0" bIns="0" rtlCol="0" anchor="ctr"/>
          <a:lstStyle/>
          <a:p>
            <a:pPr algn="ctr" indent="0" marL="0">
              <a:buNone/>
            </a:pPr>
            <a:r>
              <a:rPr lang="en-US" sz="5500" b="1" dirty="0">
                <a:solidFill>
                  <a:srgbClr val="A31621"/>
                </a:solidFill>
                <a:latin typeface="Georgia" pitchFamily="34" charset="0"/>
                <a:ea typeface="Georgia" pitchFamily="34" charset="-122"/>
                <a:cs typeface="Georgia" pitchFamily="34" charset="-120"/>
              </a:rPr>
              <a:t>D</a:t>
            </a:r>
            <a:endParaRPr lang="en-US" sz="5500" dirty="0"/>
          </a:p>
        </p:txBody>
      </p:sp>
      <p:sp>
        <p:nvSpPr>
          <p:cNvPr id="9" name="Shape 7"/>
          <p:cNvSpPr/>
          <p:nvPr/>
        </p:nvSpPr>
        <p:spPr>
          <a:xfrm>
            <a:off x="2026768" y="2194560"/>
            <a:ext cx="8138160" cy="1452555"/>
          </a:xfrm>
          <a:prstGeom prst="rect">
            <a:avLst/>
          </a:prstGeom>
          <a:solidFill>
            <a:srgbClr val="E8E2D2"/>
          </a:solidFill>
          <a:ln/>
        </p:spPr>
      </p:sp>
      <p:sp>
        <p:nvSpPr>
          <p:cNvPr id="10" name="Text 8"/>
          <p:cNvSpPr/>
          <p:nvPr/>
        </p:nvSpPr>
        <p:spPr>
          <a:xfrm>
            <a:off x="2483968" y="2450592"/>
            <a:ext cx="7223760" cy="556443"/>
          </a:xfrm>
          <a:prstGeom prst="rect">
            <a:avLst/>
          </a:prstGeom>
          <a:noFill/>
          <a:ln/>
        </p:spPr>
        <p:txBody>
          <a:bodyPr wrap="square" lIns="0" tIns="0" rIns="0" bIns="0" rtlCol="0" anchor="ctr"/>
          <a:lstStyle/>
          <a:p>
            <a:pPr algn="ctr" indent="0" marL="0">
              <a:buNone/>
            </a:pPr>
            <a:r>
              <a:rPr lang="en-US" sz="2800" b="1" i="1" dirty="0">
                <a:solidFill>
                  <a:srgbClr val="A31621"/>
                </a:solidFill>
                <a:latin typeface="Georgia" pitchFamily="34" charset="0"/>
                <a:ea typeface="Georgia" pitchFamily="34" charset="-122"/>
                <a:cs typeface="Georgia" pitchFamily="34" charset="-120"/>
              </a:rPr>
              <a:t>“I’m Donna. I know everything.”</a:t>
            </a:r>
            <a:endParaRPr lang="en-US" sz="2800" dirty="0"/>
          </a:p>
        </p:txBody>
      </p:sp>
      <p:sp>
        <p:nvSpPr>
          <p:cNvPr id="11" name="Text 9"/>
          <p:cNvSpPr/>
          <p:nvPr/>
        </p:nvSpPr>
        <p:spPr>
          <a:xfrm>
            <a:off x="2483968" y="3135051"/>
            <a:ext cx="7223760" cy="274320"/>
          </a:xfrm>
          <a:prstGeom prst="rect">
            <a:avLst/>
          </a:prstGeom>
          <a:noFill/>
          <a:ln/>
        </p:spPr>
        <p:txBody>
          <a:bodyPr wrap="square" lIns="0" tIns="0" rIns="0" bIns="0" rtlCol="0" anchor="ctr"/>
          <a:lstStyle/>
          <a:p>
            <a:pPr algn="ctr" indent="0" marL="0">
              <a:buNone/>
            </a:pPr>
            <a:r>
              <a:rPr lang="en-US" sz="1600" b="1" spc="160" kern="0" dirty="0">
                <a:solidFill>
                  <a:srgbClr val="14213D"/>
                </a:solidFill>
                <a:latin typeface="Arial" pitchFamily="34" charset="0"/>
                <a:ea typeface="Arial" pitchFamily="34" charset="-122"/>
                <a:cs typeface="Arial" pitchFamily="34" charset="-120"/>
              </a:rPr>
              <a:t>— DONNA PAULSEN, SUITS</a:t>
            </a:r>
            <a:endParaRPr lang="en-US" sz="1600" dirty="0"/>
          </a:p>
        </p:txBody>
      </p:sp>
      <p:sp>
        <p:nvSpPr>
          <p:cNvPr id="12" name="Text 10"/>
          <p:cNvSpPr/>
          <p:nvPr/>
        </p:nvSpPr>
        <p:spPr>
          <a:xfrm>
            <a:off x="813816" y="3866571"/>
            <a:ext cx="10570464" cy="566928"/>
          </a:xfrm>
          <a:prstGeom prst="rect">
            <a:avLst/>
          </a:prstGeom>
          <a:noFill/>
          <a:ln/>
        </p:spPr>
        <p:txBody>
          <a:bodyPr wrap="square" lIns="0" tIns="0" rIns="0" bIns="0" rtlCol="0" anchor="ctr"/>
          <a:lstStyle/>
          <a:p>
            <a:pPr algn="ctr" indent="0" marL="0">
              <a:buNone/>
            </a:pPr>
            <a:r>
              <a:rPr lang="en-US" sz="3400" b="1" spc="200" kern="0" dirty="0">
                <a:solidFill>
                  <a:srgbClr val="F7F3EA"/>
                </a:solidFill>
                <a:latin typeface="Arial" pitchFamily="34" charset="0"/>
                <a:ea typeface="Arial" pitchFamily="34" charset="-122"/>
                <a:cs typeface="Arial" pitchFamily="34" charset="-120"/>
              </a:rPr>
              <a:t>BUILD YOUR OWN DONNA</a:t>
            </a:r>
            <a:endParaRPr lang="en-US" sz="3400" dirty="0"/>
          </a:p>
        </p:txBody>
      </p:sp>
      <p:sp>
        <p:nvSpPr>
          <p:cNvPr id="13" name="Text 11"/>
          <p:cNvSpPr/>
          <p:nvPr/>
        </p:nvSpPr>
        <p:spPr>
          <a:xfrm>
            <a:off x="813816" y="4470075"/>
            <a:ext cx="10570464" cy="365760"/>
          </a:xfrm>
          <a:prstGeom prst="rect">
            <a:avLst/>
          </a:prstGeom>
          <a:noFill/>
          <a:ln/>
        </p:spPr>
        <p:txBody>
          <a:bodyPr wrap="square" lIns="0" tIns="0" rIns="0" bIns="0" rtlCol="0" anchor="ctr"/>
          <a:lstStyle/>
          <a:p>
            <a:pPr algn="ctr" indent="0" marL="0">
              <a:buNone/>
            </a:pPr>
            <a:r>
              <a:rPr lang="en-US" sz="1800" dirty="0">
                <a:solidFill>
                  <a:srgbClr val="AFA893"/>
                </a:solidFill>
                <a:latin typeface="Arial" pitchFamily="34" charset="0"/>
                <a:ea typeface="Arial" pitchFamily="34" charset="-122"/>
                <a:cs typeface="Arial" pitchFamily="34" charset="-120"/>
              </a:rPr>
              <a:t>No code. You copy, you paste, you leave with an agent.</a:t>
            </a:r>
            <a:endParaRPr lang="en-US" sz="1800" dirty="0"/>
          </a:p>
        </p:txBody>
      </p:sp>
      <p:sp>
        <p:nvSpPr>
          <p:cNvPr id="14" name="Text 12"/>
          <p:cNvSpPr/>
          <p:nvPr/>
        </p:nvSpPr>
        <p:spPr>
          <a:xfrm>
            <a:off x="813816" y="4927275"/>
            <a:ext cx="10570464" cy="274320"/>
          </a:xfrm>
          <a:prstGeom prst="rect">
            <a:avLst/>
          </a:prstGeom>
          <a:noFill/>
          <a:ln/>
        </p:spPr>
        <p:txBody>
          <a:bodyPr wrap="square" lIns="0" tIns="0" rIns="0" bIns="0" rtlCol="0" anchor="ctr"/>
          <a:lstStyle/>
          <a:p>
            <a:pPr algn="ctr" indent="0" marL="0">
              <a:buNone/>
            </a:pPr>
            <a:r>
              <a:rPr lang="en-US" sz="1600" spc="140" kern="0" dirty="0">
                <a:solidFill>
                  <a:srgbClr val="AFA893"/>
                </a:solidFill>
                <a:latin typeface="Arial" pitchFamily="34" charset="0"/>
                <a:ea typeface="Arial" pitchFamily="34" charset="-122"/>
                <a:cs typeface="Arial" pitchFamily="34" charset="-120"/>
              </a:rPr>
              <a:t>DENISE GOSNELL, PH.D.   ·   WEDNESDAY, OCTOBER 21, 2026</a:t>
            </a:r>
            <a:endParaRPr lang="en-US" sz="1600" dirty="0"/>
          </a:p>
        </p:txBody>
      </p:sp>
      <p:sp>
        <p:nvSpPr>
          <p:cNvPr id="15" name="Text 13"/>
          <p:cNvSpPr/>
          <p:nvPr/>
        </p:nvSpPr>
        <p:spPr>
          <a:xfrm>
            <a:off x="813816" y="5219883"/>
            <a:ext cx="10570464" cy="274320"/>
          </a:xfrm>
          <a:prstGeom prst="rect">
            <a:avLst/>
          </a:prstGeom>
          <a:noFill/>
          <a:ln/>
        </p:spPr>
        <p:txBody>
          <a:bodyPr wrap="square" lIns="0" tIns="0" rIns="0" bIns="0" rtlCol="0" anchor="ctr"/>
          <a:lstStyle/>
          <a:p>
            <a:pPr algn="ctr" indent="0" marL="0">
              <a:buNone/>
            </a:pPr>
            <a:r>
              <a:rPr lang="en-US" sz="1600" spc="140" kern="0" dirty="0">
                <a:solidFill>
                  <a:srgbClr val="AFA893"/>
                </a:solidFill>
                <a:latin typeface="Arial" pitchFamily="34" charset="0"/>
                <a:ea typeface="Arial" pitchFamily="34" charset="-122"/>
                <a:cs typeface="Arial" pitchFamily="34" charset="-120"/>
              </a:rPr>
              <a:t>12:00 PM ET   ·   9:00 AM PT   ·   5:00 PM LONDON   ·   6:00 PM PARIS</a:t>
            </a:r>
            <a:endParaRPr lang="en-US" sz="1600" dirty="0"/>
          </a:p>
        </p:txBody>
      </p:sp>
      <p:sp>
        <p:nvSpPr>
          <p:cNvPr id="16" name="Shape 14"/>
          <p:cNvSpPr/>
          <p:nvPr/>
        </p:nvSpPr>
        <p:spPr>
          <a:xfrm>
            <a:off x="2438248" y="6492240"/>
            <a:ext cx="7315200" cy="0"/>
          </a:xfrm>
          <a:prstGeom prst="line">
            <a:avLst/>
          </a:prstGeom>
          <a:noFill/>
          <a:ln w="9525">
            <a:solidFill>
              <a:srgbClr val="C9A227">
                <a:alpha val="50000"/>
              </a:srgbClr>
            </a:solidFill>
            <a:prstDash val="solid"/>
          </a:ln>
        </p:spPr>
      </p:sp>
      <p:sp>
        <p:nvSpPr>
          <p:cNvPr id="17" name="Shape 15"/>
          <p:cNvSpPr/>
          <p:nvPr/>
        </p:nvSpPr>
        <p:spPr>
          <a:xfrm>
            <a:off x="2438248" y="6378854"/>
            <a:ext cx="0" cy="113386"/>
          </a:xfrm>
          <a:prstGeom prst="line">
            <a:avLst/>
          </a:prstGeom>
          <a:noFill/>
          <a:ln w="9525">
            <a:solidFill>
              <a:srgbClr val="C9A227">
                <a:alpha val="50000"/>
              </a:srgbClr>
            </a:solidFill>
            <a:prstDash val="solid"/>
          </a:ln>
        </p:spPr>
      </p:sp>
      <p:sp>
        <p:nvSpPr>
          <p:cNvPr id="18" name="Shape 16"/>
          <p:cNvSpPr/>
          <p:nvPr/>
        </p:nvSpPr>
        <p:spPr>
          <a:xfrm>
            <a:off x="2438248" y="6378854"/>
            <a:ext cx="347472" cy="0"/>
          </a:xfrm>
          <a:prstGeom prst="line">
            <a:avLst/>
          </a:prstGeom>
          <a:noFill/>
          <a:ln w="9525">
            <a:solidFill>
              <a:srgbClr val="C9A227">
                <a:alpha val="50000"/>
              </a:srgbClr>
            </a:solidFill>
            <a:prstDash val="solid"/>
          </a:ln>
        </p:spPr>
      </p:sp>
      <p:sp>
        <p:nvSpPr>
          <p:cNvPr id="19" name="Shape 17"/>
          <p:cNvSpPr/>
          <p:nvPr/>
        </p:nvSpPr>
        <p:spPr>
          <a:xfrm>
            <a:off x="2785720" y="6378854"/>
            <a:ext cx="0" cy="113386"/>
          </a:xfrm>
          <a:prstGeom prst="line">
            <a:avLst/>
          </a:prstGeom>
          <a:noFill/>
          <a:ln w="9525">
            <a:solidFill>
              <a:srgbClr val="C9A227">
                <a:alpha val="50000"/>
              </a:srgbClr>
            </a:solidFill>
            <a:prstDash val="solid"/>
          </a:ln>
        </p:spPr>
      </p:sp>
      <p:sp>
        <p:nvSpPr>
          <p:cNvPr id="20" name="Shape 18"/>
          <p:cNvSpPr/>
          <p:nvPr/>
        </p:nvSpPr>
        <p:spPr>
          <a:xfrm>
            <a:off x="2822296" y="6299484"/>
            <a:ext cx="0" cy="192756"/>
          </a:xfrm>
          <a:prstGeom prst="line">
            <a:avLst/>
          </a:prstGeom>
          <a:noFill/>
          <a:ln w="9525">
            <a:solidFill>
              <a:srgbClr val="C9A227">
                <a:alpha val="50000"/>
              </a:srgbClr>
            </a:solidFill>
            <a:prstDash val="solid"/>
          </a:ln>
        </p:spPr>
      </p:sp>
      <p:sp>
        <p:nvSpPr>
          <p:cNvPr id="21" name="Shape 19"/>
          <p:cNvSpPr/>
          <p:nvPr/>
        </p:nvSpPr>
        <p:spPr>
          <a:xfrm>
            <a:off x="2822296" y="6299484"/>
            <a:ext cx="292608" cy="0"/>
          </a:xfrm>
          <a:prstGeom prst="line">
            <a:avLst/>
          </a:prstGeom>
          <a:noFill/>
          <a:ln w="9525">
            <a:solidFill>
              <a:srgbClr val="C9A227">
                <a:alpha val="50000"/>
              </a:srgbClr>
            </a:solidFill>
            <a:prstDash val="solid"/>
          </a:ln>
        </p:spPr>
      </p:sp>
      <p:sp>
        <p:nvSpPr>
          <p:cNvPr id="22" name="Shape 20"/>
          <p:cNvSpPr/>
          <p:nvPr/>
        </p:nvSpPr>
        <p:spPr>
          <a:xfrm>
            <a:off x="3114904" y="6299484"/>
            <a:ext cx="0" cy="192756"/>
          </a:xfrm>
          <a:prstGeom prst="line">
            <a:avLst/>
          </a:prstGeom>
          <a:noFill/>
          <a:ln w="9525">
            <a:solidFill>
              <a:srgbClr val="C9A227">
                <a:alpha val="50000"/>
              </a:srgbClr>
            </a:solidFill>
            <a:prstDash val="solid"/>
          </a:ln>
        </p:spPr>
      </p:sp>
      <p:sp>
        <p:nvSpPr>
          <p:cNvPr id="23" name="Shape 21"/>
          <p:cNvSpPr/>
          <p:nvPr/>
        </p:nvSpPr>
        <p:spPr>
          <a:xfrm>
            <a:off x="3151480" y="6401532"/>
            <a:ext cx="0" cy="90708"/>
          </a:xfrm>
          <a:prstGeom prst="line">
            <a:avLst/>
          </a:prstGeom>
          <a:noFill/>
          <a:ln w="9525">
            <a:solidFill>
              <a:srgbClr val="C9A227">
                <a:alpha val="50000"/>
              </a:srgbClr>
            </a:solidFill>
            <a:prstDash val="solid"/>
          </a:ln>
        </p:spPr>
      </p:sp>
      <p:sp>
        <p:nvSpPr>
          <p:cNvPr id="24" name="Shape 22"/>
          <p:cNvSpPr/>
          <p:nvPr/>
        </p:nvSpPr>
        <p:spPr>
          <a:xfrm>
            <a:off x="3151480" y="6401532"/>
            <a:ext cx="182880" cy="0"/>
          </a:xfrm>
          <a:prstGeom prst="line">
            <a:avLst/>
          </a:prstGeom>
          <a:noFill/>
          <a:ln w="9525">
            <a:solidFill>
              <a:srgbClr val="C9A227">
                <a:alpha val="50000"/>
              </a:srgbClr>
            </a:solidFill>
            <a:prstDash val="solid"/>
          </a:ln>
        </p:spPr>
      </p:sp>
      <p:sp>
        <p:nvSpPr>
          <p:cNvPr id="25" name="Shape 23"/>
          <p:cNvSpPr/>
          <p:nvPr/>
        </p:nvSpPr>
        <p:spPr>
          <a:xfrm>
            <a:off x="3334360" y="6401532"/>
            <a:ext cx="0" cy="90708"/>
          </a:xfrm>
          <a:prstGeom prst="line">
            <a:avLst/>
          </a:prstGeom>
          <a:noFill/>
          <a:ln w="9525">
            <a:solidFill>
              <a:srgbClr val="C9A227">
                <a:alpha val="50000"/>
              </a:srgbClr>
            </a:solidFill>
            <a:prstDash val="solid"/>
          </a:ln>
        </p:spPr>
      </p:sp>
      <p:sp>
        <p:nvSpPr>
          <p:cNvPr id="26" name="Shape 24"/>
          <p:cNvSpPr/>
          <p:nvPr/>
        </p:nvSpPr>
        <p:spPr>
          <a:xfrm>
            <a:off x="3370936" y="6231453"/>
            <a:ext cx="0" cy="260787"/>
          </a:xfrm>
          <a:prstGeom prst="line">
            <a:avLst/>
          </a:prstGeom>
          <a:noFill/>
          <a:ln w="9525">
            <a:solidFill>
              <a:srgbClr val="C9A227">
                <a:alpha val="50000"/>
              </a:srgbClr>
            </a:solidFill>
            <a:prstDash val="solid"/>
          </a:ln>
        </p:spPr>
      </p:sp>
      <p:sp>
        <p:nvSpPr>
          <p:cNvPr id="27" name="Shape 25"/>
          <p:cNvSpPr/>
          <p:nvPr/>
        </p:nvSpPr>
        <p:spPr>
          <a:xfrm>
            <a:off x="3370936" y="6231453"/>
            <a:ext cx="347472" cy="0"/>
          </a:xfrm>
          <a:prstGeom prst="line">
            <a:avLst/>
          </a:prstGeom>
          <a:noFill/>
          <a:ln w="9525">
            <a:solidFill>
              <a:srgbClr val="C9A227">
                <a:alpha val="50000"/>
              </a:srgbClr>
            </a:solidFill>
            <a:prstDash val="solid"/>
          </a:ln>
        </p:spPr>
      </p:sp>
      <p:sp>
        <p:nvSpPr>
          <p:cNvPr id="28" name="Shape 26"/>
          <p:cNvSpPr/>
          <p:nvPr/>
        </p:nvSpPr>
        <p:spPr>
          <a:xfrm>
            <a:off x="3718408" y="6231453"/>
            <a:ext cx="0" cy="260787"/>
          </a:xfrm>
          <a:prstGeom prst="line">
            <a:avLst/>
          </a:prstGeom>
          <a:noFill/>
          <a:ln w="9525">
            <a:solidFill>
              <a:srgbClr val="C9A227">
                <a:alpha val="50000"/>
              </a:srgbClr>
            </a:solidFill>
            <a:prstDash val="solid"/>
          </a:ln>
        </p:spPr>
      </p:sp>
      <p:sp>
        <p:nvSpPr>
          <p:cNvPr id="29" name="Shape 27"/>
          <p:cNvSpPr/>
          <p:nvPr/>
        </p:nvSpPr>
        <p:spPr>
          <a:xfrm>
            <a:off x="3754984" y="6344839"/>
            <a:ext cx="0" cy="147401"/>
          </a:xfrm>
          <a:prstGeom prst="line">
            <a:avLst/>
          </a:prstGeom>
          <a:noFill/>
          <a:ln w="9525">
            <a:solidFill>
              <a:srgbClr val="C9A227">
                <a:alpha val="50000"/>
              </a:srgbClr>
            </a:solidFill>
            <a:prstDash val="solid"/>
          </a:ln>
        </p:spPr>
      </p:sp>
      <p:sp>
        <p:nvSpPr>
          <p:cNvPr id="30" name="Shape 28"/>
          <p:cNvSpPr/>
          <p:nvPr/>
        </p:nvSpPr>
        <p:spPr>
          <a:xfrm>
            <a:off x="3754984" y="6344839"/>
            <a:ext cx="237744" cy="0"/>
          </a:xfrm>
          <a:prstGeom prst="line">
            <a:avLst/>
          </a:prstGeom>
          <a:noFill/>
          <a:ln w="9525">
            <a:solidFill>
              <a:srgbClr val="C9A227">
                <a:alpha val="50000"/>
              </a:srgbClr>
            </a:solidFill>
            <a:prstDash val="solid"/>
          </a:ln>
        </p:spPr>
      </p:sp>
      <p:sp>
        <p:nvSpPr>
          <p:cNvPr id="31" name="Shape 29"/>
          <p:cNvSpPr/>
          <p:nvPr/>
        </p:nvSpPr>
        <p:spPr>
          <a:xfrm>
            <a:off x="3992728" y="6344839"/>
            <a:ext cx="0" cy="147401"/>
          </a:xfrm>
          <a:prstGeom prst="line">
            <a:avLst/>
          </a:prstGeom>
          <a:noFill/>
          <a:ln w="9525">
            <a:solidFill>
              <a:srgbClr val="C9A227">
                <a:alpha val="50000"/>
              </a:srgbClr>
            </a:solidFill>
            <a:prstDash val="solid"/>
          </a:ln>
        </p:spPr>
      </p:sp>
      <p:sp>
        <p:nvSpPr>
          <p:cNvPr id="32" name="Shape 30"/>
          <p:cNvSpPr/>
          <p:nvPr/>
        </p:nvSpPr>
        <p:spPr>
          <a:xfrm>
            <a:off x="4029304" y="6140745"/>
            <a:ext cx="0" cy="351495"/>
          </a:xfrm>
          <a:prstGeom prst="line">
            <a:avLst/>
          </a:prstGeom>
          <a:noFill/>
          <a:ln w="9525">
            <a:solidFill>
              <a:srgbClr val="C9A227">
                <a:alpha val="50000"/>
              </a:srgbClr>
            </a:solidFill>
            <a:prstDash val="solid"/>
          </a:ln>
        </p:spPr>
      </p:sp>
      <p:sp>
        <p:nvSpPr>
          <p:cNvPr id="33" name="Shape 31"/>
          <p:cNvSpPr/>
          <p:nvPr/>
        </p:nvSpPr>
        <p:spPr>
          <a:xfrm>
            <a:off x="4029304" y="6140745"/>
            <a:ext cx="292608" cy="0"/>
          </a:xfrm>
          <a:prstGeom prst="line">
            <a:avLst/>
          </a:prstGeom>
          <a:noFill/>
          <a:ln w="9525">
            <a:solidFill>
              <a:srgbClr val="C9A227">
                <a:alpha val="50000"/>
              </a:srgbClr>
            </a:solidFill>
            <a:prstDash val="solid"/>
          </a:ln>
        </p:spPr>
      </p:sp>
      <p:sp>
        <p:nvSpPr>
          <p:cNvPr id="34" name="Shape 32"/>
          <p:cNvSpPr/>
          <p:nvPr/>
        </p:nvSpPr>
        <p:spPr>
          <a:xfrm>
            <a:off x="4321912" y="6140745"/>
            <a:ext cx="0" cy="351495"/>
          </a:xfrm>
          <a:prstGeom prst="line">
            <a:avLst/>
          </a:prstGeom>
          <a:noFill/>
          <a:ln w="9525">
            <a:solidFill>
              <a:srgbClr val="C9A227">
                <a:alpha val="50000"/>
              </a:srgbClr>
            </a:solidFill>
            <a:prstDash val="solid"/>
          </a:ln>
        </p:spPr>
      </p:sp>
      <p:sp>
        <p:nvSpPr>
          <p:cNvPr id="35" name="Shape 33"/>
          <p:cNvSpPr/>
          <p:nvPr/>
        </p:nvSpPr>
        <p:spPr>
          <a:xfrm>
            <a:off x="4358488" y="6322162"/>
            <a:ext cx="0" cy="170078"/>
          </a:xfrm>
          <a:prstGeom prst="line">
            <a:avLst/>
          </a:prstGeom>
          <a:noFill/>
          <a:ln w="9525">
            <a:solidFill>
              <a:srgbClr val="C9A227">
                <a:alpha val="50000"/>
              </a:srgbClr>
            </a:solidFill>
            <a:prstDash val="solid"/>
          </a:ln>
        </p:spPr>
      </p:sp>
      <p:sp>
        <p:nvSpPr>
          <p:cNvPr id="36" name="Shape 34"/>
          <p:cNvSpPr/>
          <p:nvPr/>
        </p:nvSpPr>
        <p:spPr>
          <a:xfrm>
            <a:off x="4358488" y="6322162"/>
            <a:ext cx="274320" cy="0"/>
          </a:xfrm>
          <a:prstGeom prst="line">
            <a:avLst/>
          </a:prstGeom>
          <a:noFill/>
          <a:ln w="9525">
            <a:solidFill>
              <a:srgbClr val="C9A227">
                <a:alpha val="50000"/>
              </a:srgbClr>
            </a:solidFill>
            <a:prstDash val="solid"/>
          </a:ln>
        </p:spPr>
      </p:sp>
      <p:sp>
        <p:nvSpPr>
          <p:cNvPr id="37" name="Shape 35"/>
          <p:cNvSpPr/>
          <p:nvPr/>
        </p:nvSpPr>
        <p:spPr>
          <a:xfrm>
            <a:off x="4632808" y="6322162"/>
            <a:ext cx="0" cy="170078"/>
          </a:xfrm>
          <a:prstGeom prst="line">
            <a:avLst/>
          </a:prstGeom>
          <a:noFill/>
          <a:ln w="9525">
            <a:solidFill>
              <a:srgbClr val="C9A227">
                <a:alpha val="50000"/>
              </a:srgbClr>
            </a:solidFill>
            <a:prstDash val="solid"/>
          </a:ln>
        </p:spPr>
      </p:sp>
      <p:sp>
        <p:nvSpPr>
          <p:cNvPr id="38" name="Shape 36"/>
          <p:cNvSpPr/>
          <p:nvPr/>
        </p:nvSpPr>
        <p:spPr>
          <a:xfrm>
            <a:off x="4669384" y="6378854"/>
            <a:ext cx="0" cy="113386"/>
          </a:xfrm>
          <a:prstGeom prst="line">
            <a:avLst/>
          </a:prstGeom>
          <a:noFill/>
          <a:ln w="9525">
            <a:solidFill>
              <a:srgbClr val="C9A227">
                <a:alpha val="50000"/>
              </a:srgbClr>
            </a:solidFill>
            <a:prstDash val="solid"/>
          </a:ln>
        </p:spPr>
      </p:sp>
      <p:sp>
        <p:nvSpPr>
          <p:cNvPr id="39" name="Shape 37"/>
          <p:cNvSpPr/>
          <p:nvPr/>
        </p:nvSpPr>
        <p:spPr>
          <a:xfrm>
            <a:off x="4669384" y="6378854"/>
            <a:ext cx="219456" cy="0"/>
          </a:xfrm>
          <a:prstGeom prst="line">
            <a:avLst/>
          </a:prstGeom>
          <a:noFill/>
          <a:ln w="9525">
            <a:solidFill>
              <a:srgbClr val="C9A227">
                <a:alpha val="50000"/>
              </a:srgbClr>
            </a:solidFill>
            <a:prstDash val="solid"/>
          </a:ln>
        </p:spPr>
      </p:sp>
      <p:sp>
        <p:nvSpPr>
          <p:cNvPr id="40" name="Shape 38"/>
          <p:cNvSpPr/>
          <p:nvPr/>
        </p:nvSpPr>
        <p:spPr>
          <a:xfrm>
            <a:off x="4888840" y="6378854"/>
            <a:ext cx="0" cy="113386"/>
          </a:xfrm>
          <a:prstGeom prst="line">
            <a:avLst/>
          </a:prstGeom>
          <a:noFill/>
          <a:ln w="9525">
            <a:solidFill>
              <a:srgbClr val="C9A227">
                <a:alpha val="50000"/>
              </a:srgbClr>
            </a:solidFill>
            <a:prstDash val="solid"/>
          </a:ln>
        </p:spPr>
      </p:sp>
      <p:sp>
        <p:nvSpPr>
          <p:cNvPr id="41" name="Shape 39"/>
          <p:cNvSpPr/>
          <p:nvPr/>
        </p:nvSpPr>
        <p:spPr>
          <a:xfrm>
            <a:off x="4925416" y="6208776"/>
            <a:ext cx="0" cy="283464"/>
          </a:xfrm>
          <a:prstGeom prst="line">
            <a:avLst/>
          </a:prstGeom>
          <a:noFill/>
          <a:ln w="9525">
            <a:solidFill>
              <a:srgbClr val="C9A227">
                <a:alpha val="50000"/>
              </a:srgbClr>
            </a:solidFill>
            <a:prstDash val="solid"/>
          </a:ln>
        </p:spPr>
      </p:sp>
      <p:sp>
        <p:nvSpPr>
          <p:cNvPr id="42" name="Shape 40"/>
          <p:cNvSpPr/>
          <p:nvPr/>
        </p:nvSpPr>
        <p:spPr>
          <a:xfrm>
            <a:off x="4925416" y="6208776"/>
            <a:ext cx="365760" cy="0"/>
          </a:xfrm>
          <a:prstGeom prst="line">
            <a:avLst/>
          </a:prstGeom>
          <a:noFill/>
          <a:ln w="9525">
            <a:solidFill>
              <a:srgbClr val="C9A227">
                <a:alpha val="50000"/>
              </a:srgbClr>
            </a:solidFill>
            <a:prstDash val="solid"/>
          </a:ln>
        </p:spPr>
      </p:sp>
      <p:sp>
        <p:nvSpPr>
          <p:cNvPr id="43" name="Shape 41"/>
          <p:cNvSpPr/>
          <p:nvPr/>
        </p:nvSpPr>
        <p:spPr>
          <a:xfrm>
            <a:off x="5291176" y="6208776"/>
            <a:ext cx="0" cy="283464"/>
          </a:xfrm>
          <a:prstGeom prst="line">
            <a:avLst/>
          </a:prstGeom>
          <a:noFill/>
          <a:ln w="9525">
            <a:solidFill>
              <a:srgbClr val="C9A227">
                <a:alpha val="50000"/>
              </a:srgbClr>
            </a:solidFill>
            <a:prstDash val="solid"/>
          </a:ln>
        </p:spPr>
      </p:sp>
      <p:sp>
        <p:nvSpPr>
          <p:cNvPr id="44" name="Shape 42"/>
          <p:cNvSpPr/>
          <p:nvPr/>
        </p:nvSpPr>
        <p:spPr>
          <a:xfrm>
            <a:off x="5327752" y="6288146"/>
            <a:ext cx="0" cy="204094"/>
          </a:xfrm>
          <a:prstGeom prst="line">
            <a:avLst/>
          </a:prstGeom>
          <a:noFill/>
          <a:ln w="9525">
            <a:solidFill>
              <a:srgbClr val="C9A227">
                <a:alpha val="50000"/>
              </a:srgbClr>
            </a:solidFill>
            <a:prstDash val="solid"/>
          </a:ln>
        </p:spPr>
      </p:sp>
      <p:sp>
        <p:nvSpPr>
          <p:cNvPr id="45" name="Shape 43"/>
          <p:cNvSpPr/>
          <p:nvPr/>
        </p:nvSpPr>
        <p:spPr>
          <a:xfrm>
            <a:off x="5327752" y="6288146"/>
            <a:ext cx="274320" cy="0"/>
          </a:xfrm>
          <a:prstGeom prst="line">
            <a:avLst/>
          </a:prstGeom>
          <a:noFill/>
          <a:ln w="9525">
            <a:solidFill>
              <a:srgbClr val="C9A227">
                <a:alpha val="50000"/>
              </a:srgbClr>
            </a:solidFill>
            <a:prstDash val="solid"/>
          </a:ln>
        </p:spPr>
      </p:sp>
      <p:sp>
        <p:nvSpPr>
          <p:cNvPr id="46" name="Shape 44"/>
          <p:cNvSpPr/>
          <p:nvPr/>
        </p:nvSpPr>
        <p:spPr>
          <a:xfrm>
            <a:off x="5602072" y="6288146"/>
            <a:ext cx="0" cy="204094"/>
          </a:xfrm>
          <a:prstGeom prst="line">
            <a:avLst/>
          </a:prstGeom>
          <a:noFill/>
          <a:ln w="9525">
            <a:solidFill>
              <a:srgbClr val="C9A227">
                <a:alpha val="50000"/>
              </a:srgbClr>
            </a:solidFill>
            <a:prstDash val="solid"/>
          </a:ln>
        </p:spPr>
      </p:sp>
      <p:sp>
        <p:nvSpPr>
          <p:cNvPr id="47" name="Shape 45"/>
          <p:cNvSpPr/>
          <p:nvPr/>
        </p:nvSpPr>
        <p:spPr>
          <a:xfrm>
            <a:off x="5638648" y="6367516"/>
            <a:ext cx="0" cy="124724"/>
          </a:xfrm>
          <a:prstGeom prst="line">
            <a:avLst/>
          </a:prstGeom>
          <a:noFill/>
          <a:ln w="9525">
            <a:solidFill>
              <a:srgbClr val="C9A227">
                <a:alpha val="50000"/>
              </a:srgbClr>
            </a:solidFill>
            <a:prstDash val="solid"/>
          </a:ln>
        </p:spPr>
      </p:sp>
      <p:sp>
        <p:nvSpPr>
          <p:cNvPr id="48" name="Shape 46"/>
          <p:cNvSpPr/>
          <p:nvPr/>
        </p:nvSpPr>
        <p:spPr>
          <a:xfrm>
            <a:off x="5638648" y="6367516"/>
            <a:ext cx="219456" cy="0"/>
          </a:xfrm>
          <a:prstGeom prst="line">
            <a:avLst/>
          </a:prstGeom>
          <a:noFill/>
          <a:ln w="9525">
            <a:solidFill>
              <a:srgbClr val="C9A227">
                <a:alpha val="50000"/>
              </a:srgbClr>
            </a:solidFill>
            <a:prstDash val="solid"/>
          </a:ln>
        </p:spPr>
      </p:sp>
      <p:sp>
        <p:nvSpPr>
          <p:cNvPr id="49" name="Shape 47"/>
          <p:cNvSpPr/>
          <p:nvPr/>
        </p:nvSpPr>
        <p:spPr>
          <a:xfrm>
            <a:off x="5858104" y="6367516"/>
            <a:ext cx="0" cy="124724"/>
          </a:xfrm>
          <a:prstGeom prst="line">
            <a:avLst/>
          </a:prstGeom>
          <a:noFill/>
          <a:ln w="9525">
            <a:solidFill>
              <a:srgbClr val="C9A227">
                <a:alpha val="50000"/>
              </a:srgbClr>
            </a:solidFill>
            <a:prstDash val="solid"/>
          </a:ln>
        </p:spPr>
      </p:sp>
      <p:sp>
        <p:nvSpPr>
          <p:cNvPr id="50" name="Shape 48"/>
          <p:cNvSpPr/>
          <p:nvPr/>
        </p:nvSpPr>
        <p:spPr>
          <a:xfrm>
            <a:off x="5894680" y="6163422"/>
            <a:ext cx="0" cy="328818"/>
          </a:xfrm>
          <a:prstGeom prst="line">
            <a:avLst/>
          </a:prstGeom>
          <a:noFill/>
          <a:ln w="9525">
            <a:solidFill>
              <a:srgbClr val="C9A227">
                <a:alpha val="50000"/>
              </a:srgbClr>
            </a:solidFill>
            <a:prstDash val="solid"/>
          </a:ln>
        </p:spPr>
      </p:sp>
      <p:sp>
        <p:nvSpPr>
          <p:cNvPr id="51" name="Shape 49"/>
          <p:cNvSpPr/>
          <p:nvPr/>
        </p:nvSpPr>
        <p:spPr>
          <a:xfrm>
            <a:off x="5894680" y="6163422"/>
            <a:ext cx="329184" cy="0"/>
          </a:xfrm>
          <a:prstGeom prst="line">
            <a:avLst/>
          </a:prstGeom>
          <a:noFill/>
          <a:ln w="9525">
            <a:solidFill>
              <a:srgbClr val="C9A227">
                <a:alpha val="50000"/>
              </a:srgbClr>
            </a:solidFill>
            <a:prstDash val="solid"/>
          </a:ln>
        </p:spPr>
      </p:sp>
      <p:sp>
        <p:nvSpPr>
          <p:cNvPr id="52" name="Shape 50"/>
          <p:cNvSpPr/>
          <p:nvPr/>
        </p:nvSpPr>
        <p:spPr>
          <a:xfrm>
            <a:off x="6223864" y="6163422"/>
            <a:ext cx="0" cy="328818"/>
          </a:xfrm>
          <a:prstGeom prst="line">
            <a:avLst/>
          </a:prstGeom>
          <a:noFill/>
          <a:ln w="9525">
            <a:solidFill>
              <a:srgbClr val="C9A227">
                <a:alpha val="50000"/>
              </a:srgbClr>
            </a:solidFill>
            <a:prstDash val="solid"/>
          </a:ln>
        </p:spPr>
      </p:sp>
      <p:sp>
        <p:nvSpPr>
          <p:cNvPr id="53" name="Shape 51"/>
          <p:cNvSpPr/>
          <p:nvPr/>
        </p:nvSpPr>
        <p:spPr>
          <a:xfrm>
            <a:off x="6260440" y="6322162"/>
            <a:ext cx="0" cy="170078"/>
          </a:xfrm>
          <a:prstGeom prst="line">
            <a:avLst/>
          </a:prstGeom>
          <a:noFill/>
          <a:ln w="9525">
            <a:solidFill>
              <a:srgbClr val="C9A227">
                <a:alpha val="50000"/>
              </a:srgbClr>
            </a:solidFill>
            <a:prstDash val="solid"/>
          </a:ln>
        </p:spPr>
      </p:sp>
      <p:sp>
        <p:nvSpPr>
          <p:cNvPr id="54" name="Shape 52"/>
          <p:cNvSpPr/>
          <p:nvPr/>
        </p:nvSpPr>
        <p:spPr>
          <a:xfrm>
            <a:off x="6260440" y="6322162"/>
            <a:ext cx="256032" cy="0"/>
          </a:xfrm>
          <a:prstGeom prst="line">
            <a:avLst/>
          </a:prstGeom>
          <a:noFill/>
          <a:ln w="9525">
            <a:solidFill>
              <a:srgbClr val="C9A227">
                <a:alpha val="50000"/>
              </a:srgbClr>
            </a:solidFill>
            <a:prstDash val="solid"/>
          </a:ln>
        </p:spPr>
      </p:sp>
      <p:sp>
        <p:nvSpPr>
          <p:cNvPr id="55" name="Shape 53"/>
          <p:cNvSpPr/>
          <p:nvPr/>
        </p:nvSpPr>
        <p:spPr>
          <a:xfrm>
            <a:off x="6516472" y="6322162"/>
            <a:ext cx="0" cy="170078"/>
          </a:xfrm>
          <a:prstGeom prst="line">
            <a:avLst/>
          </a:prstGeom>
          <a:noFill/>
          <a:ln w="9525">
            <a:solidFill>
              <a:srgbClr val="C9A227">
                <a:alpha val="50000"/>
              </a:srgbClr>
            </a:solidFill>
            <a:prstDash val="solid"/>
          </a:ln>
        </p:spPr>
      </p:sp>
      <p:sp>
        <p:nvSpPr>
          <p:cNvPr id="56" name="Shape 54"/>
          <p:cNvSpPr/>
          <p:nvPr/>
        </p:nvSpPr>
        <p:spPr>
          <a:xfrm>
            <a:off x="6553048" y="6254130"/>
            <a:ext cx="0" cy="238110"/>
          </a:xfrm>
          <a:prstGeom prst="line">
            <a:avLst/>
          </a:prstGeom>
          <a:noFill/>
          <a:ln w="9525">
            <a:solidFill>
              <a:srgbClr val="C9A227">
                <a:alpha val="50000"/>
              </a:srgbClr>
            </a:solidFill>
            <a:prstDash val="solid"/>
          </a:ln>
        </p:spPr>
      </p:sp>
      <p:sp>
        <p:nvSpPr>
          <p:cNvPr id="57" name="Shape 55"/>
          <p:cNvSpPr/>
          <p:nvPr/>
        </p:nvSpPr>
        <p:spPr>
          <a:xfrm>
            <a:off x="6553048" y="6254130"/>
            <a:ext cx="347472" cy="0"/>
          </a:xfrm>
          <a:prstGeom prst="line">
            <a:avLst/>
          </a:prstGeom>
          <a:noFill/>
          <a:ln w="9525">
            <a:solidFill>
              <a:srgbClr val="C9A227">
                <a:alpha val="50000"/>
              </a:srgbClr>
            </a:solidFill>
            <a:prstDash val="solid"/>
          </a:ln>
        </p:spPr>
      </p:sp>
      <p:sp>
        <p:nvSpPr>
          <p:cNvPr id="58" name="Shape 56"/>
          <p:cNvSpPr/>
          <p:nvPr/>
        </p:nvSpPr>
        <p:spPr>
          <a:xfrm>
            <a:off x="6900520" y="6254130"/>
            <a:ext cx="0" cy="238110"/>
          </a:xfrm>
          <a:prstGeom prst="line">
            <a:avLst/>
          </a:prstGeom>
          <a:noFill/>
          <a:ln w="9525">
            <a:solidFill>
              <a:srgbClr val="C9A227">
                <a:alpha val="50000"/>
              </a:srgbClr>
            </a:solidFill>
            <a:prstDash val="solid"/>
          </a:ln>
        </p:spPr>
      </p:sp>
      <p:sp>
        <p:nvSpPr>
          <p:cNvPr id="59" name="Shape 57"/>
          <p:cNvSpPr/>
          <p:nvPr/>
        </p:nvSpPr>
        <p:spPr>
          <a:xfrm>
            <a:off x="6937096" y="6378854"/>
            <a:ext cx="0" cy="113386"/>
          </a:xfrm>
          <a:prstGeom prst="line">
            <a:avLst/>
          </a:prstGeom>
          <a:noFill/>
          <a:ln w="9525">
            <a:solidFill>
              <a:srgbClr val="C9A227">
                <a:alpha val="50000"/>
              </a:srgbClr>
            </a:solidFill>
            <a:prstDash val="solid"/>
          </a:ln>
        </p:spPr>
      </p:sp>
      <p:sp>
        <p:nvSpPr>
          <p:cNvPr id="60" name="Shape 58"/>
          <p:cNvSpPr/>
          <p:nvPr/>
        </p:nvSpPr>
        <p:spPr>
          <a:xfrm>
            <a:off x="6937096" y="6378854"/>
            <a:ext cx="219456" cy="0"/>
          </a:xfrm>
          <a:prstGeom prst="line">
            <a:avLst/>
          </a:prstGeom>
          <a:noFill/>
          <a:ln w="9525">
            <a:solidFill>
              <a:srgbClr val="C9A227">
                <a:alpha val="50000"/>
              </a:srgbClr>
            </a:solidFill>
            <a:prstDash val="solid"/>
          </a:ln>
        </p:spPr>
      </p:sp>
      <p:sp>
        <p:nvSpPr>
          <p:cNvPr id="61" name="Shape 59"/>
          <p:cNvSpPr/>
          <p:nvPr/>
        </p:nvSpPr>
        <p:spPr>
          <a:xfrm>
            <a:off x="7156552" y="6378854"/>
            <a:ext cx="0" cy="113386"/>
          </a:xfrm>
          <a:prstGeom prst="line">
            <a:avLst/>
          </a:prstGeom>
          <a:noFill/>
          <a:ln w="9525">
            <a:solidFill>
              <a:srgbClr val="C9A227">
                <a:alpha val="50000"/>
              </a:srgbClr>
            </a:solidFill>
            <a:prstDash val="solid"/>
          </a:ln>
        </p:spPr>
      </p:sp>
      <p:sp>
        <p:nvSpPr>
          <p:cNvPr id="62" name="Shape 60"/>
          <p:cNvSpPr/>
          <p:nvPr/>
        </p:nvSpPr>
        <p:spPr>
          <a:xfrm>
            <a:off x="7193128" y="6186099"/>
            <a:ext cx="0" cy="306141"/>
          </a:xfrm>
          <a:prstGeom prst="line">
            <a:avLst/>
          </a:prstGeom>
          <a:noFill/>
          <a:ln w="9525">
            <a:solidFill>
              <a:srgbClr val="C9A227">
                <a:alpha val="50000"/>
              </a:srgbClr>
            </a:solidFill>
            <a:prstDash val="solid"/>
          </a:ln>
        </p:spPr>
      </p:sp>
      <p:sp>
        <p:nvSpPr>
          <p:cNvPr id="63" name="Shape 61"/>
          <p:cNvSpPr/>
          <p:nvPr/>
        </p:nvSpPr>
        <p:spPr>
          <a:xfrm>
            <a:off x="7193128" y="6186099"/>
            <a:ext cx="347472" cy="0"/>
          </a:xfrm>
          <a:prstGeom prst="line">
            <a:avLst/>
          </a:prstGeom>
          <a:noFill/>
          <a:ln w="9525">
            <a:solidFill>
              <a:srgbClr val="C9A227">
                <a:alpha val="50000"/>
              </a:srgbClr>
            </a:solidFill>
            <a:prstDash val="solid"/>
          </a:ln>
        </p:spPr>
      </p:sp>
      <p:sp>
        <p:nvSpPr>
          <p:cNvPr id="64" name="Shape 62"/>
          <p:cNvSpPr/>
          <p:nvPr/>
        </p:nvSpPr>
        <p:spPr>
          <a:xfrm>
            <a:off x="7540600" y="6186099"/>
            <a:ext cx="0" cy="306141"/>
          </a:xfrm>
          <a:prstGeom prst="line">
            <a:avLst/>
          </a:prstGeom>
          <a:noFill/>
          <a:ln w="9525">
            <a:solidFill>
              <a:srgbClr val="C9A227">
                <a:alpha val="50000"/>
              </a:srgbClr>
            </a:solidFill>
            <a:prstDash val="solid"/>
          </a:ln>
        </p:spPr>
      </p:sp>
      <p:sp>
        <p:nvSpPr>
          <p:cNvPr id="65" name="Shape 63"/>
          <p:cNvSpPr/>
          <p:nvPr/>
        </p:nvSpPr>
        <p:spPr>
          <a:xfrm>
            <a:off x="7577176" y="6310823"/>
            <a:ext cx="0" cy="181417"/>
          </a:xfrm>
          <a:prstGeom prst="line">
            <a:avLst/>
          </a:prstGeom>
          <a:noFill/>
          <a:ln w="9525">
            <a:solidFill>
              <a:srgbClr val="C9A227">
                <a:alpha val="50000"/>
              </a:srgbClr>
            </a:solidFill>
            <a:prstDash val="solid"/>
          </a:ln>
        </p:spPr>
      </p:sp>
      <p:sp>
        <p:nvSpPr>
          <p:cNvPr id="66" name="Shape 64"/>
          <p:cNvSpPr/>
          <p:nvPr/>
        </p:nvSpPr>
        <p:spPr>
          <a:xfrm>
            <a:off x="7577176" y="6310823"/>
            <a:ext cx="274320" cy="0"/>
          </a:xfrm>
          <a:prstGeom prst="line">
            <a:avLst/>
          </a:prstGeom>
          <a:noFill/>
          <a:ln w="9525">
            <a:solidFill>
              <a:srgbClr val="C9A227">
                <a:alpha val="50000"/>
              </a:srgbClr>
            </a:solidFill>
            <a:prstDash val="solid"/>
          </a:ln>
        </p:spPr>
      </p:sp>
      <p:sp>
        <p:nvSpPr>
          <p:cNvPr id="67" name="Shape 65"/>
          <p:cNvSpPr/>
          <p:nvPr/>
        </p:nvSpPr>
        <p:spPr>
          <a:xfrm>
            <a:off x="7851496" y="6310823"/>
            <a:ext cx="0" cy="181417"/>
          </a:xfrm>
          <a:prstGeom prst="line">
            <a:avLst/>
          </a:prstGeom>
          <a:noFill/>
          <a:ln w="9525">
            <a:solidFill>
              <a:srgbClr val="C9A227">
                <a:alpha val="50000"/>
              </a:srgbClr>
            </a:solidFill>
            <a:prstDash val="solid"/>
          </a:ln>
        </p:spPr>
      </p:sp>
      <p:sp>
        <p:nvSpPr>
          <p:cNvPr id="68" name="Shape 66"/>
          <p:cNvSpPr/>
          <p:nvPr/>
        </p:nvSpPr>
        <p:spPr>
          <a:xfrm>
            <a:off x="7888072" y="6356177"/>
            <a:ext cx="0" cy="136063"/>
          </a:xfrm>
          <a:prstGeom prst="line">
            <a:avLst/>
          </a:prstGeom>
          <a:noFill/>
          <a:ln w="9525">
            <a:solidFill>
              <a:srgbClr val="C9A227">
                <a:alpha val="50000"/>
              </a:srgbClr>
            </a:solidFill>
            <a:prstDash val="solid"/>
          </a:ln>
        </p:spPr>
      </p:sp>
      <p:sp>
        <p:nvSpPr>
          <p:cNvPr id="69" name="Shape 67"/>
          <p:cNvSpPr/>
          <p:nvPr/>
        </p:nvSpPr>
        <p:spPr>
          <a:xfrm>
            <a:off x="7888072" y="6356177"/>
            <a:ext cx="219456" cy="0"/>
          </a:xfrm>
          <a:prstGeom prst="line">
            <a:avLst/>
          </a:prstGeom>
          <a:noFill/>
          <a:ln w="9525">
            <a:solidFill>
              <a:srgbClr val="C9A227">
                <a:alpha val="50000"/>
              </a:srgbClr>
            </a:solidFill>
            <a:prstDash val="solid"/>
          </a:ln>
        </p:spPr>
      </p:sp>
      <p:sp>
        <p:nvSpPr>
          <p:cNvPr id="70" name="Shape 68"/>
          <p:cNvSpPr/>
          <p:nvPr/>
        </p:nvSpPr>
        <p:spPr>
          <a:xfrm>
            <a:off x="8107528" y="6356177"/>
            <a:ext cx="0" cy="136063"/>
          </a:xfrm>
          <a:prstGeom prst="line">
            <a:avLst/>
          </a:prstGeom>
          <a:noFill/>
          <a:ln w="9525">
            <a:solidFill>
              <a:srgbClr val="C9A227">
                <a:alpha val="50000"/>
              </a:srgbClr>
            </a:solidFill>
            <a:prstDash val="solid"/>
          </a:ln>
        </p:spPr>
      </p:sp>
      <p:sp>
        <p:nvSpPr>
          <p:cNvPr id="71" name="Shape 69"/>
          <p:cNvSpPr/>
          <p:nvPr/>
        </p:nvSpPr>
        <p:spPr>
          <a:xfrm>
            <a:off x="8144104" y="6242792"/>
            <a:ext cx="0" cy="249448"/>
          </a:xfrm>
          <a:prstGeom prst="line">
            <a:avLst/>
          </a:prstGeom>
          <a:noFill/>
          <a:ln w="9525">
            <a:solidFill>
              <a:srgbClr val="C9A227">
                <a:alpha val="50000"/>
              </a:srgbClr>
            </a:solidFill>
            <a:prstDash val="solid"/>
          </a:ln>
        </p:spPr>
      </p:sp>
      <p:sp>
        <p:nvSpPr>
          <p:cNvPr id="72" name="Shape 70"/>
          <p:cNvSpPr/>
          <p:nvPr/>
        </p:nvSpPr>
        <p:spPr>
          <a:xfrm>
            <a:off x="8144104" y="6242792"/>
            <a:ext cx="347472" cy="0"/>
          </a:xfrm>
          <a:prstGeom prst="line">
            <a:avLst/>
          </a:prstGeom>
          <a:noFill/>
          <a:ln w="9525">
            <a:solidFill>
              <a:srgbClr val="C9A227">
                <a:alpha val="50000"/>
              </a:srgbClr>
            </a:solidFill>
            <a:prstDash val="solid"/>
          </a:ln>
        </p:spPr>
      </p:sp>
      <p:sp>
        <p:nvSpPr>
          <p:cNvPr id="73" name="Shape 71"/>
          <p:cNvSpPr/>
          <p:nvPr/>
        </p:nvSpPr>
        <p:spPr>
          <a:xfrm>
            <a:off x="8491576" y="6242792"/>
            <a:ext cx="0" cy="249448"/>
          </a:xfrm>
          <a:prstGeom prst="line">
            <a:avLst/>
          </a:prstGeom>
          <a:noFill/>
          <a:ln w="9525">
            <a:solidFill>
              <a:srgbClr val="C9A227">
                <a:alpha val="50000"/>
              </a:srgbClr>
            </a:solidFill>
            <a:prstDash val="solid"/>
          </a:ln>
        </p:spPr>
      </p:sp>
      <p:sp>
        <p:nvSpPr>
          <p:cNvPr id="74" name="Shape 72"/>
          <p:cNvSpPr/>
          <p:nvPr/>
        </p:nvSpPr>
        <p:spPr>
          <a:xfrm>
            <a:off x="8528152" y="6322162"/>
            <a:ext cx="0" cy="170078"/>
          </a:xfrm>
          <a:prstGeom prst="line">
            <a:avLst/>
          </a:prstGeom>
          <a:noFill/>
          <a:ln w="9525">
            <a:solidFill>
              <a:srgbClr val="C9A227">
                <a:alpha val="50000"/>
              </a:srgbClr>
            </a:solidFill>
            <a:prstDash val="solid"/>
          </a:ln>
        </p:spPr>
      </p:sp>
      <p:sp>
        <p:nvSpPr>
          <p:cNvPr id="75" name="Shape 73"/>
          <p:cNvSpPr/>
          <p:nvPr/>
        </p:nvSpPr>
        <p:spPr>
          <a:xfrm>
            <a:off x="8528152" y="6322162"/>
            <a:ext cx="274320" cy="0"/>
          </a:xfrm>
          <a:prstGeom prst="line">
            <a:avLst/>
          </a:prstGeom>
          <a:noFill/>
          <a:ln w="9525">
            <a:solidFill>
              <a:srgbClr val="C9A227">
                <a:alpha val="50000"/>
              </a:srgbClr>
            </a:solidFill>
            <a:prstDash val="solid"/>
          </a:ln>
        </p:spPr>
      </p:sp>
      <p:sp>
        <p:nvSpPr>
          <p:cNvPr id="76" name="Shape 74"/>
          <p:cNvSpPr/>
          <p:nvPr/>
        </p:nvSpPr>
        <p:spPr>
          <a:xfrm>
            <a:off x="8802472" y="6322162"/>
            <a:ext cx="0" cy="170078"/>
          </a:xfrm>
          <a:prstGeom prst="line">
            <a:avLst/>
          </a:prstGeom>
          <a:noFill/>
          <a:ln w="9525">
            <a:solidFill>
              <a:srgbClr val="C9A227">
                <a:alpha val="50000"/>
              </a:srgbClr>
            </a:solidFill>
            <a:prstDash val="solid"/>
          </a:ln>
        </p:spPr>
      </p:sp>
      <p:sp>
        <p:nvSpPr>
          <p:cNvPr id="77" name="Shape 75"/>
          <p:cNvSpPr/>
          <p:nvPr/>
        </p:nvSpPr>
        <p:spPr>
          <a:xfrm>
            <a:off x="8839048" y="6208776"/>
            <a:ext cx="0" cy="283464"/>
          </a:xfrm>
          <a:prstGeom prst="line">
            <a:avLst/>
          </a:prstGeom>
          <a:noFill/>
          <a:ln w="9525">
            <a:solidFill>
              <a:srgbClr val="C9A227">
                <a:alpha val="50000"/>
              </a:srgbClr>
            </a:solidFill>
            <a:prstDash val="solid"/>
          </a:ln>
        </p:spPr>
      </p:sp>
      <p:sp>
        <p:nvSpPr>
          <p:cNvPr id="78" name="Shape 76"/>
          <p:cNvSpPr/>
          <p:nvPr/>
        </p:nvSpPr>
        <p:spPr>
          <a:xfrm>
            <a:off x="8839048" y="6208776"/>
            <a:ext cx="347472" cy="0"/>
          </a:xfrm>
          <a:prstGeom prst="line">
            <a:avLst/>
          </a:prstGeom>
          <a:noFill/>
          <a:ln w="9525">
            <a:solidFill>
              <a:srgbClr val="C9A227">
                <a:alpha val="50000"/>
              </a:srgbClr>
            </a:solidFill>
            <a:prstDash val="solid"/>
          </a:ln>
        </p:spPr>
      </p:sp>
      <p:sp>
        <p:nvSpPr>
          <p:cNvPr id="79" name="Shape 77"/>
          <p:cNvSpPr/>
          <p:nvPr/>
        </p:nvSpPr>
        <p:spPr>
          <a:xfrm>
            <a:off x="9186520" y="6208776"/>
            <a:ext cx="0" cy="283464"/>
          </a:xfrm>
          <a:prstGeom prst="line">
            <a:avLst/>
          </a:prstGeom>
          <a:noFill/>
          <a:ln w="9525">
            <a:solidFill>
              <a:srgbClr val="C9A227">
                <a:alpha val="50000"/>
              </a:srgbClr>
            </a:solidFill>
            <a:prstDash val="solid"/>
          </a:ln>
        </p:spPr>
      </p:sp>
      <p:sp>
        <p:nvSpPr>
          <p:cNvPr id="80" name="Shape 78"/>
          <p:cNvSpPr/>
          <p:nvPr/>
        </p:nvSpPr>
        <p:spPr>
          <a:xfrm>
            <a:off x="9223096" y="6367516"/>
            <a:ext cx="0" cy="124724"/>
          </a:xfrm>
          <a:prstGeom prst="line">
            <a:avLst/>
          </a:prstGeom>
          <a:noFill/>
          <a:ln w="9525">
            <a:solidFill>
              <a:srgbClr val="C9A227">
                <a:alpha val="50000"/>
              </a:srgbClr>
            </a:solidFill>
            <a:prstDash val="solid"/>
          </a:ln>
        </p:spPr>
      </p:sp>
      <p:sp>
        <p:nvSpPr>
          <p:cNvPr id="81" name="Shape 79"/>
          <p:cNvSpPr/>
          <p:nvPr/>
        </p:nvSpPr>
        <p:spPr>
          <a:xfrm>
            <a:off x="9223096" y="6367516"/>
            <a:ext cx="219456" cy="0"/>
          </a:xfrm>
          <a:prstGeom prst="line">
            <a:avLst/>
          </a:prstGeom>
          <a:noFill/>
          <a:ln w="9525">
            <a:solidFill>
              <a:srgbClr val="C9A227">
                <a:alpha val="50000"/>
              </a:srgbClr>
            </a:solidFill>
            <a:prstDash val="solid"/>
          </a:ln>
        </p:spPr>
      </p:sp>
      <p:sp>
        <p:nvSpPr>
          <p:cNvPr id="82" name="Shape 80"/>
          <p:cNvSpPr/>
          <p:nvPr/>
        </p:nvSpPr>
        <p:spPr>
          <a:xfrm>
            <a:off x="9442552" y="6367516"/>
            <a:ext cx="0" cy="124724"/>
          </a:xfrm>
          <a:prstGeom prst="line">
            <a:avLst/>
          </a:prstGeom>
          <a:noFill/>
          <a:ln w="9525">
            <a:solidFill>
              <a:srgbClr val="C9A227">
                <a:alpha val="50000"/>
              </a:srgbClr>
            </a:solidFill>
            <a:prstDash val="solid"/>
          </a:ln>
        </p:spPr>
      </p:sp>
      <p:sp>
        <p:nvSpPr>
          <p:cNvPr id="83" name="Shape 81"/>
          <p:cNvSpPr/>
          <p:nvPr/>
        </p:nvSpPr>
        <p:spPr>
          <a:xfrm>
            <a:off x="9479128" y="6322162"/>
            <a:ext cx="0" cy="170078"/>
          </a:xfrm>
          <a:prstGeom prst="line">
            <a:avLst/>
          </a:prstGeom>
          <a:noFill/>
          <a:ln w="9525">
            <a:solidFill>
              <a:srgbClr val="C9A227">
                <a:alpha val="50000"/>
              </a:srgbClr>
            </a:solidFill>
            <a:prstDash val="solid"/>
          </a:ln>
        </p:spPr>
      </p:sp>
      <p:sp>
        <p:nvSpPr>
          <p:cNvPr id="84" name="Shape 82"/>
          <p:cNvSpPr/>
          <p:nvPr/>
        </p:nvSpPr>
        <p:spPr>
          <a:xfrm>
            <a:off x="9479128" y="6322162"/>
            <a:ext cx="237744" cy="0"/>
          </a:xfrm>
          <a:prstGeom prst="line">
            <a:avLst/>
          </a:prstGeom>
          <a:noFill/>
          <a:ln w="9525">
            <a:solidFill>
              <a:srgbClr val="C9A227">
                <a:alpha val="50000"/>
              </a:srgbClr>
            </a:solidFill>
            <a:prstDash val="solid"/>
          </a:ln>
        </p:spPr>
      </p:sp>
      <p:sp>
        <p:nvSpPr>
          <p:cNvPr id="85" name="Shape 83"/>
          <p:cNvSpPr/>
          <p:nvPr/>
        </p:nvSpPr>
        <p:spPr>
          <a:xfrm>
            <a:off x="9716872" y="6322162"/>
            <a:ext cx="0" cy="170078"/>
          </a:xfrm>
          <a:prstGeom prst="line">
            <a:avLst/>
          </a:prstGeom>
          <a:noFill/>
          <a:ln w="9525">
            <a:solidFill>
              <a:srgbClr val="C9A227">
                <a:alpha val="50000"/>
              </a:srgbClr>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4213D"/>
        </a:solidFill>
      </p:bgPr>
    </p:bg>
    <p:spTree>
      <p:nvGrpSpPr>
        <p:cNvPr id="1" name=""/>
        <p:cNvGrpSpPr/>
        <p:nvPr/>
      </p:nvGrpSpPr>
      <p:grpSpPr>
        <a:xfrm>
          <a:off x="0" y="0"/>
          <a:ext cx="0" cy="0"/>
          <a:chOff x="0" y="0"/>
          <a:chExt cx="0" cy="0"/>
        </a:xfrm>
      </p:grpSpPr>
      <p:sp>
        <p:nvSpPr>
          <p:cNvPr id="2" name="Shape 0"/>
          <p:cNvSpPr/>
          <p:nvPr/>
        </p:nvSpPr>
        <p:spPr>
          <a:xfrm>
            <a:off x="813816" y="5779008"/>
            <a:ext cx="10570464" cy="0"/>
          </a:xfrm>
          <a:prstGeom prst="line">
            <a:avLst/>
          </a:prstGeom>
          <a:noFill/>
          <a:ln w="9525">
            <a:solidFill>
              <a:srgbClr val="C9A227"/>
            </a:solidFill>
            <a:prstDash val="solid"/>
          </a:ln>
        </p:spPr>
      </p:sp>
      <p:sp>
        <p:nvSpPr>
          <p:cNvPr id="3" name="Text 1"/>
          <p:cNvSpPr/>
          <p:nvPr/>
        </p:nvSpPr>
        <p:spPr>
          <a:xfrm>
            <a:off x="813816" y="5907024"/>
            <a:ext cx="3358896" cy="274320"/>
          </a:xfrm>
          <a:prstGeom prst="rect">
            <a:avLst/>
          </a:prstGeom>
          <a:noFill/>
          <a:ln/>
        </p:spPr>
        <p:txBody>
          <a:bodyPr wrap="square" lIns="0" tIns="0" rIns="0" bIns="0" rtlCol="0" anchor="ctr"/>
          <a:lstStyle/>
          <a:p>
            <a:pPr indent="0" marL="0">
              <a:buNone/>
            </a:pPr>
            <a:r>
              <a:rPr lang="en-US" sz="1600" spc="120" kern="0" dirty="0">
                <a:solidFill>
                  <a:srgbClr val="AFA893"/>
                </a:solidFill>
                <a:latin typeface="Arial" pitchFamily="34" charset="0"/>
                <a:ea typeface="Arial" pitchFamily="34" charset="-122"/>
                <a:cs typeface="Arial" pitchFamily="34" charset="-120"/>
              </a:rPr>
              <a:t>BUILD YOUR OWN DONNA</a:t>
            </a:r>
            <a:endParaRPr lang="en-US" sz="1600" dirty="0"/>
          </a:p>
        </p:txBody>
      </p:sp>
      <p:sp>
        <p:nvSpPr>
          <p:cNvPr id="4" name="Shape 2"/>
          <p:cNvSpPr/>
          <p:nvPr/>
        </p:nvSpPr>
        <p:spPr>
          <a:xfrm rot="2700000">
            <a:off x="4227576" y="6012180"/>
            <a:ext cx="64008" cy="64008"/>
          </a:xfrm>
          <a:prstGeom prst="rect">
            <a:avLst/>
          </a:prstGeom>
          <a:solidFill>
            <a:srgbClr val="C9A227"/>
          </a:solidFill>
          <a:ln w="3175">
            <a:solidFill>
              <a:srgbClr val="C9A227"/>
            </a:solidFill>
            <a:prstDash val="solid"/>
          </a:ln>
        </p:spPr>
      </p:sp>
      <p:sp>
        <p:nvSpPr>
          <p:cNvPr id="5" name="Text 3"/>
          <p:cNvSpPr/>
          <p:nvPr/>
        </p:nvSpPr>
        <p:spPr>
          <a:xfrm>
            <a:off x="4410456" y="5907024"/>
            <a:ext cx="2712720" cy="274320"/>
          </a:xfrm>
          <a:prstGeom prst="rect">
            <a:avLst/>
          </a:prstGeom>
          <a:noFill/>
          <a:ln/>
        </p:spPr>
        <p:txBody>
          <a:bodyPr wrap="square" lIns="0" tIns="0" rIns="0" bIns="0" rtlCol="0" anchor="ctr"/>
          <a:lstStyle/>
          <a:p>
            <a:pPr indent="0" marL="0">
              <a:buNone/>
            </a:pPr>
            <a:r>
              <a:rPr lang="en-US" sz="1600" spc="120" kern="0" dirty="0">
                <a:solidFill>
                  <a:srgbClr val="AFA893"/>
                </a:solidFill>
                <a:latin typeface="Arial" pitchFamily="34" charset="0"/>
                <a:ea typeface="Arial" pitchFamily="34" charset="-122"/>
                <a:cs typeface="Arial" pitchFamily="34" charset="-120"/>
              </a:rPr>
              <a:t>OCTOBER 21, 2026</a:t>
            </a:r>
            <a:endParaRPr lang="en-US" sz="1600" dirty="0"/>
          </a:p>
        </p:txBody>
      </p:sp>
      <p:sp>
        <p:nvSpPr>
          <p:cNvPr id="6" name="Text 4"/>
          <p:cNvSpPr/>
          <p:nvPr/>
        </p:nvSpPr>
        <p:spPr>
          <a:xfrm>
            <a:off x="10652760" y="5907024"/>
            <a:ext cx="731520" cy="274320"/>
          </a:xfrm>
          <a:prstGeom prst="rect">
            <a:avLst/>
          </a:prstGeom>
          <a:noFill/>
          <a:ln/>
        </p:spPr>
        <p:txBody>
          <a:bodyPr wrap="square" lIns="0" tIns="0" rIns="0" bIns="0" rtlCol="0" anchor="ctr"/>
          <a:lstStyle/>
          <a:p>
            <a:pPr algn="r" indent="0" marL="0">
              <a:buNone/>
            </a:pPr>
            <a:r>
              <a:rPr lang="en-US" sz="1600" spc="120" kern="0" dirty="0">
                <a:solidFill>
                  <a:srgbClr val="AFA893"/>
                </a:solidFill>
                <a:latin typeface="Arial" pitchFamily="34" charset="0"/>
                <a:ea typeface="Arial" pitchFamily="34" charset="-122"/>
                <a:cs typeface="Arial" pitchFamily="34" charset="-120"/>
              </a:rPr>
              <a:t>2</a:t>
            </a:r>
            <a:endParaRPr lang="en-US" sz="1600" dirty="0"/>
          </a:p>
        </p:txBody>
      </p:sp>
      <p:sp>
        <p:nvSpPr>
          <p:cNvPr id="7" name="Text 5"/>
          <p:cNvSpPr/>
          <p:nvPr/>
        </p:nvSpPr>
        <p:spPr>
          <a:xfrm>
            <a:off x="813816" y="457200"/>
            <a:ext cx="10570464" cy="310896"/>
          </a:xfrm>
          <a:prstGeom prst="rect">
            <a:avLst/>
          </a:prstGeom>
          <a:noFill/>
          <a:ln/>
        </p:spPr>
        <p:txBody>
          <a:bodyPr wrap="square" lIns="0" tIns="0" rIns="0" bIns="0" rtlCol="0" anchor="ctr"/>
          <a:lstStyle/>
          <a:p>
            <a:pPr indent="0" marL="0">
              <a:buNone/>
            </a:pPr>
            <a:r>
              <a:rPr lang="en-US" sz="1600" b="1" spc="180" kern="0" dirty="0">
                <a:solidFill>
                  <a:srgbClr val="E7C766"/>
                </a:solidFill>
                <a:latin typeface="Arial" pitchFamily="34" charset="0"/>
                <a:ea typeface="Arial" pitchFamily="34" charset="-122"/>
                <a:cs typeface="Arial" pitchFamily="34" charset="-120"/>
              </a:rPr>
              <a:t>RUN OF THE SHOW</a:t>
            </a:r>
            <a:endParaRPr lang="en-US" sz="1600" dirty="0"/>
          </a:p>
        </p:txBody>
      </p:sp>
      <p:sp>
        <p:nvSpPr>
          <p:cNvPr id="8" name="Text 6"/>
          <p:cNvSpPr/>
          <p:nvPr/>
        </p:nvSpPr>
        <p:spPr>
          <a:xfrm>
            <a:off x="813816" y="841248"/>
            <a:ext cx="10570464" cy="751027"/>
          </a:xfrm>
          <a:prstGeom prst="rect">
            <a:avLst/>
          </a:prstGeom>
          <a:noFill/>
          <a:ln/>
        </p:spPr>
        <p:txBody>
          <a:bodyPr wrap="square" lIns="0" tIns="0" rIns="0" bIns="0" rtlCol="0" anchor="t"/>
          <a:lstStyle/>
          <a:p>
            <a:pPr indent="0" marL="0">
              <a:lnSpc>
                <a:spcPct val="94000"/>
              </a:lnSpc>
              <a:buNone/>
            </a:pPr>
            <a:r>
              <a:rPr lang="en-US" sz="4000" b="1" dirty="0">
                <a:solidFill>
                  <a:srgbClr val="F7F3EA"/>
                </a:solidFill>
                <a:latin typeface="Georgia" pitchFamily="34" charset="0"/>
                <a:ea typeface="Georgia" pitchFamily="34" charset="-122"/>
                <a:cs typeface="Georgia" pitchFamily="34" charset="-120"/>
              </a:rPr>
              <a:t>Three acts, ninety minutes.</a:t>
            </a:r>
            <a:endParaRPr lang="en-US" sz="4000" dirty="0"/>
          </a:p>
        </p:txBody>
      </p:sp>
      <p:sp>
        <p:nvSpPr>
          <p:cNvPr id="9" name="Shape 7"/>
          <p:cNvSpPr/>
          <p:nvPr/>
        </p:nvSpPr>
        <p:spPr>
          <a:xfrm>
            <a:off x="813816" y="1792224"/>
            <a:ext cx="3255264" cy="3200400"/>
          </a:xfrm>
          <a:prstGeom prst="rect">
            <a:avLst/>
          </a:prstGeom>
          <a:solidFill>
            <a:srgbClr val="2A3244"/>
          </a:solidFill>
          <a:ln/>
        </p:spPr>
      </p:sp>
      <p:sp>
        <p:nvSpPr>
          <p:cNvPr id="10" name="Shape 8"/>
          <p:cNvSpPr/>
          <p:nvPr/>
        </p:nvSpPr>
        <p:spPr>
          <a:xfrm>
            <a:off x="1088136" y="2066544"/>
            <a:ext cx="457200" cy="0"/>
          </a:xfrm>
          <a:prstGeom prst="line">
            <a:avLst/>
          </a:prstGeom>
          <a:noFill/>
          <a:ln w="19050">
            <a:solidFill>
              <a:srgbClr val="C9A227"/>
            </a:solidFill>
            <a:prstDash val="solid"/>
          </a:ln>
        </p:spPr>
      </p:sp>
      <p:sp>
        <p:nvSpPr>
          <p:cNvPr id="11" name="Text 9"/>
          <p:cNvSpPr/>
          <p:nvPr/>
        </p:nvSpPr>
        <p:spPr>
          <a:xfrm>
            <a:off x="1088136" y="2176272"/>
            <a:ext cx="2706624" cy="640080"/>
          </a:xfrm>
          <a:prstGeom prst="rect">
            <a:avLst/>
          </a:prstGeom>
          <a:noFill/>
          <a:ln/>
        </p:spPr>
        <p:txBody>
          <a:bodyPr wrap="square" lIns="0" tIns="0" rIns="0" bIns="0" rtlCol="0" anchor="ctr"/>
          <a:lstStyle/>
          <a:p>
            <a:pPr indent="0" marL="0">
              <a:buNone/>
            </a:pPr>
            <a:r>
              <a:rPr lang="en-US" sz="4400" b="1" dirty="0">
                <a:solidFill>
                  <a:srgbClr val="E7C766"/>
                </a:solidFill>
                <a:latin typeface="Georgia" pitchFamily="34" charset="0"/>
                <a:ea typeface="Georgia" pitchFamily="34" charset="-122"/>
                <a:cs typeface="Georgia" pitchFamily="34" charset="-120"/>
              </a:rPr>
              <a:t>I</a:t>
            </a:r>
            <a:endParaRPr lang="en-US" sz="4400" dirty="0"/>
          </a:p>
        </p:txBody>
      </p:sp>
      <p:sp>
        <p:nvSpPr>
          <p:cNvPr id="12" name="Text 10"/>
          <p:cNvSpPr/>
          <p:nvPr/>
        </p:nvSpPr>
        <p:spPr>
          <a:xfrm>
            <a:off x="1088136" y="2871216"/>
            <a:ext cx="2706624" cy="329184"/>
          </a:xfrm>
          <a:prstGeom prst="rect">
            <a:avLst/>
          </a:prstGeom>
          <a:noFill/>
          <a:ln/>
        </p:spPr>
        <p:txBody>
          <a:bodyPr wrap="square" lIns="0" tIns="0" rIns="0" bIns="0" rtlCol="0" anchor="ctr"/>
          <a:lstStyle/>
          <a:p>
            <a:pPr indent="0" marL="0">
              <a:buNone/>
            </a:pPr>
            <a:r>
              <a:rPr lang="en-US" sz="2000" b="1" dirty="0">
                <a:solidFill>
                  <a:srgbClr val="F7F3EA"/>
                </a:solidFill>
                <a:latin typeface="Arial" pitchFamily="34" charset="0"/>
                <a:ea typeface="Arial" pitchFamily="34" charset="-122"/>
                <a:cs typeface="Arial" pitchFamily="34" charset="-120"/>
              </a:rPr>
              <a:t>The idea</a:t>
            </a:r>
            <a:endParaRPr lang="en-US" sz="2000" dirty="0"/>
          </a:p>
        </p:txBody>
      </p:sp>
      <p:sp>
        <p:nvSpPr>
          <p:cNvPr id="13" name="Text 11"/>
          <p:cNvSpPr/>
          <p:nvPr/>
        </p:nvSpPr>
        <p:spPr>
          <a:xfrm>
            <a:off x="1088136" y="3200400"/>
            <a:ext cx="2706624" cy="274320"/>
          </a:xfrm>
          <a:prstGeom prst="rect">
            <a:avLst/>
          </a:prstGeom>
          <a:noFill/>
          <a:ln/>
        </p:spPr>
        <p:txBody>
          <a:bodyPr wrap="square" lIns="0" tIns="0" rIns="0" bIns="0" rtlCol="0" anchor="ctr"/>
          <a:lstStyle/>
          <a:p>
            <a:pPr indent="0" marL="0">
              <a:buNone/>
            </a:pPr>
            <a:r>
              <a:rPr lang="en-US" sz="1600" spc="120" kern="0" dirty="0">
                <a:solidFill>
                  <a:srgbClr val="AFA893"/>
                </a:solidFill>
                <a:latin typeface="Arial" pitchFamily="34" charset="0"/>
                <a:ea typeface="Arial" pitchFamily="34" charset="-122"/>
                <a:cs typeface="Arial" pitchFamily="34" charset="-120"/>
              </a:rPr>
              <a:t>12:10 TO 12:27</a:t>
            </a:r>
            <a:endParaRPr lang="en-US" sz="1600" dirty="0"/>
          </a:p>
        </p:txBody>
      </p:sp>
      <p:sp>
        <p:nvSpPr>
          <p:cNvPr id="14" name="Text 12"/>
          <p:cNvSpPr/>
          <p:nvPr/>
        </p:nvSpPr>
        <p:spPr>
          <a:xfrm>
            <a:off x="1088136" y="3584448"/>
            <a:ext cx="2706624" cy="1115568"/>
          </a:xfrm>
          <a:prstGeom prst="rect">
            <a:avLst/>
          </a:prstGeom>
          <a:noFill/>
          <a:ln/>
        </p:spPr>
        <p:txBody>
          <a:bodyPr wrap="square" lIns="0" tIns="0" rIns="0" bIns="0" rtlCol="0" anchor="t"/>
          <a:lstStyle/>
          <a:p>
            <a:pPr indent="0" marL="0">
              <a:lnSpc>
                <a:spcPct val="116000"/>
              </a:lnSpc>
              <a:buNone/>
            </a:pPr>
            <a:r>
              <a:rPr lang="en-US" sz="1600" dirty="0">
                <a:solidFill>
                  <a:srgbClr val="F7F3EA"/>
                </a:solidFill>
                <a:latin typeface="Arial" pitchFamily="34" charset="0"/>
                <a:ea typeface="Arial" pitchFamily="34" charset="-122"/>
                <a:cs typeface="Arial" pitchFamily="34" charset="-120"/>
              </a:rPr>
              <a:t>Open loops, closed loops, and the only trick in the room: an agent is just a document.</a:t>
            </a:r>
            <a:endParaRPr lang="en-US" sz="1600" dirty="0"/>
          </a:p>
        </p:txBody>
      </p:sp>
      <p:sp>
        <p:nvSpPr>
          <p:cNvPr id="15" name="Shape 13"/>
          <p:cNvSpPr/>
          <p:nvPr/>
        </p:nvSpPr>
        <p:spPr>
          <a:xfrm>
            <a:off x="4471416" y="1792224"/>
            <a:ext cx="3255264" cy="3200400"/>
          </a:xfrm>
          <a:prstGeom prst="rect">
            <a:avLst/>
          </a:prstGeom>
          <a:solidFill>
            <a:srgbClr val="2A3244"/>
          </a:solidFill>
          <a:ln/>
        </p:spPr>
      </p:sp>
      <p:sp>
        <p:nvSpPr>
          <p:cNvPr id="16" name="Shape 14"/>
          <p:cNvSpPr/>
          <p:nvPr/>
        </p:nvSpPr>
        <p:spPr>
          <a:xfrm>
            <a:off x="4745736" y="2066544"/>
            <a:ext cx="457200" cy="0"/>
          </a:xfrm>
          <a:prstGeom prst="line">
            <a:avLst/>
          </a:prstGeom>
          <a:noFill/>
          <a:ln w="19050">
            <a:solidFill>
              <a:srgbClr val="C9A227"/>
            </a:solidFill>
            <a:prstDash val="solid"/>
          </a:ln>
        </p:spPr>
      </p:sp>
      <p:sp>
        <p:nvSpPr>
          <p:cNvPr id="17" name="Text 15"/>
          <p:cNvSpPr/>
          <p:nvPr/>
        </p:nvSpPr>
        <p:spPr>
          <a:xfrm>
            <a:off x="4745736" y="2176272"/>
            <a:ext cx="2706624" cy="640080"/>
          </a:xfrm>
          <a:prstGeom prst="rect">
            <a:avLst/>
          </a:prstGeom>
          <a:noFill/>
          <a:ln/>
        </p:spPr>
        <p:txBody>
          <a:bodyPr wrap="square" lIns="0" tIns="0" rIns="0" bIns="0" rtlCol="0" anchor="ctr"/>
          <a:lstStyle/>
          <a:p>
            <a:pPr indent="0" marL="0">
              <a:buNone/>
            </a:pPr>
            <a:r>
              <a:rPr lang="en-US" sz="4400" b="1" dirty="0">
                <a:solidFill>
                  <a:srgbClr val="E7C766"/>
                </a:solidFill>
                <a:latin typeface="Georgia" pitchFamily="34" charset="0"/>
                <a:ea typeface="Georgia" pitchFamily="34" charset="-122"/>
                <a:cs typeface="Georgia" pitchFamily="34" charset="-120"/>
              </a:rPr>
              <a:t>II</a:t>
            </a:r>
            <a:endParaRPr lang="en-US" sz="4400" dirty="0"/>
          </a:p>
        </p:txBody>
      </p:sp>
      <p:sp>
        <p:nvSpPr>
          <p:cNvPr id="18" name="Text 16"/>
          <p:cNvSpPr/>
          <p:nvPr/>
        </p:nvSpPr>
        <p:spPr>
          <a:xfrm>
            <a:off x="4745736" y="2871216"/>
            <a:ext cx="2706624" cy="329184"/>
          </a:xfrm>
          <a:prstGeom prst="rect">
            <a:avLst/>
          </a:prstGeom>
          <a:noFill/>
          <a:ln/>
        </p:spPr>
        <p:txBody>
          <a:bodyPr wrap="square" lIns="0" tIns="0" rIns="0" bIns="0" rtlCol="0" anchor="ctr"/>
          <a:lstStyle/>
          <a:p>
            <a:pPr indent="0" marL="0">
              <a:buNone/>
            </a:pPr>
            <a:r>
              <a:rPr lang="en-US" sz="2000" b="1" dirty="0">
                <a:solidFill>
                  <a:srgbClr val="F7F3EA"/>
                </a:solidFill>
                <a:latin typeface="Arial" pitchFamily="34" charset="0"/>
                <a:ea typeface="Arial" pitchFamily="34" charset="-122"/>
                <a:cs typeface="Arial" pitchFamily="34" charset="-120"/>
              </a:rPr>
              <a:t>The build</a:t>
            </a:r>
            <a:endParaRPr lang="en-US" sz="2000" dirty="0"/>
          </a:p>
        </p:txBody>
      </p:sp>
      <p:sp>
        <p:nvSpPr>
          <p:cNvPr id="19" name="Text 17"/>
          <p:cNvSpPr/>
          <p:nvPr/>
        </p:nvSpPr>
        <p:spPr>
          <a:xfrm>
            <a:off x="4745736" y="3200400"/>
            <a:ext cx="2706624" cy="274320"/>
          </a:xfrm>
          <a:prstGeom prst="rect">
            <a:avLst/>
          </a:prstGeom>
          <a:noFill/>
          <a:ln/>
        </p:spPr>
        <p:txBody>
          <a:bodyPr wrap="square" lIns="0" tIns="0" rIns="0" bIns="0" rtlCol="0" anchor="ctr"/>
          <a:lstStyle/>
          <a:p>
            <a:pPr indent="0" marL="0">
              <a:buNone/>
            </a:pPr>
            <a:r>
              <a:rPr lang="en-US" sz="1600" spc="120" kern="0" dirty="0">
                <a:solidFill>
                  <a:srgbClr val="AFA893"/>
                </a:solidFill>
                <a:latin typeface="Arial" pitchFamily="34" charset="0"/>
                <a:ea typeface="Arial" pitchFamily="34" charset="-122"/>
                <a:cs typeface="Arial" pitchFamily="34" charset="-120"/>
              </a:rPr>
              <a:t>12:27 TO 1:23</a:t>
            </a:r>
            <a:endParaRPr lang="en-US" sz="1600" dirty="0"/>
          </a:p>
        </p:txBody>
      </p:sp>
      <p:sp>
        <p:nvSpPr>
          <p:cNvPr id="20" name="Text 18"/>
          <p:cNvSpPr/>
          <p:nvPr/>
        </p:nvSpPr>
        <p:spPr>
          <a:xfrm>
            <a:off x="4745736" y="3584448"/>
            <a:ext cx="2706624" cy="1115568"/>
          </a:xfrm>
          <a:prstGeom prst="rect">
            <a:avLst/>
          </a:prstGeom>
          <a:noFill/>
          <a:ln/>
        </p:spPr>
        <p:txBody>
          <a:bodyPr wrap="square" lIns="0" tIns="0" rIns="0" bIns="0" rtlCol="0" anchor="t"/>
          <a:lstStyle/>
          <a:p>
            <a:pPr indent="0" marL="0">
              <a:lnSpc>
                <a:spcPct val="116000"/>
              </a:lnSpc>
              <a:buNone/>
            </a:pPr>
            <a:r>
              <a:rPr lang="en-US" sz="1600" dirty="0">
                <a:solidFill>
                  <a:srgbClr val="F7F3EA"/>
                </a:solidFill>
                <a:latin typeface="Arial" pitchFamily="34" charset="0"/>
                <a:ea typeface="Arial" pitchFamily="34" charset="-122"/>
                <a:cs typeface="Arial" pitchFamily="34" charset="-120"/>
              </a:rPr>
              <a:t>Four steps: connect, teach, run, retrain. By 1:23, Donna is working your inbox.</a:t>
            </a:r>
            <a:endParaRPr lang="en-US" sz="1600" dirty="0"/>
          </a:p>
        </p:txBody>
      </p:sp>
      <p:sp>
        <p:nvSpPr>
          <p:cNvPr id="21" name="Shape 19"/>
          <p:cNvSpPr/>
          <p:nvPr/>
        </p:nvSpPr>
        <p:spPr>
          <a:xfrm>
            <a:off x="8129016" y="1792224"/>
            <a:ext cx="3255264" cy="3200400"/>
          </a:xfrm>
          <a:prstGeom prst="rect">
            <a:avLst/>
          </a:prstGeom>
          <a:solidFill>
            <a:srgbClr val="2A3244"/>
          </a:solidFill>
          <a:ln/>
        </p:spPr>
      </p:sp>
      <p:sp>
        <p:nvSpPr>
          <p:cNvPr id="22" name="Shape 20"/>
          <p:cNvSpPr/>
          <p:nvPr/>
        </p:nvSpPr>
        <p:spPr>
          <a:xfrm>
            <a:off x="8403336" y="2066544"/>
            <a:ext cx="457200" cy="0"/>
          </a:xfrm>
          <a:prstGeom prst="line">
            <a:avLst/>
          </a:prstGeom>
          <a:noFill/>
          <a:ln w="19050">
            <a:solidFill>
              <a:srgbClr val="C9A227"/>
            </a:solidFill>
            <a:prstDash val="solid"/>
          </a:ln>
        </p:spPr>
      </p:sp>
      <p:sp>
        <p:nvSpPr>
          <p:cNvPr id="23" name="Text 21"/>
          <p:cNvSpPr/>
          <p:nvPr/>
        </p:nvSpPr>
        <p:spPr>
          <a:xfrm>
            <a:off x="8403336" y="2176272"/>
            <a:ext cx="2706624" cy="640080"/>
          </a:xfrm>
          <a:prstGeom prst="rect">
            <a:avLst/>
          </a:prstGeom>
          <a:noFill/>
          <a:ln/>
        </p:spPr>
        <p:txBody>
          <a:bodyPr wrap="square" lIns="0" tIns="0" rIns="0" bIns="0" rtlCol="0" anchor="ctr"/>
          <a:lstStyle/>
          <a:p>
            <a:pPr indent="0" marL="0">
              <a:buNone/>
            </a:pPr>
            <a:r>
              <a:rPr lang="en-US" sz="4400" b="1" dirty="0">
                <a:solidFill>
                  <a:srgbClr val="E7C766"/>
                </a:solidFill>
                <a:latin typeface="Georgia" pitchFamily="34" charset="0"/>
                <a:ea typeface="Georgia" pitchFamily="34" charset="-122"/>
                <a:cs typeface="Georgia" pitchFamily="34" charset="-120"/>
              </a:rPr>
              <a:t>III</a:t>
            </a:r>
            <a:endParaRPr lang="en-US" sz="4400" dirty="0"/>
          </a:p>
        </p:txBody>
      </p:sp>
      <p:sp>
        <p:nvSpPr>
          <p:cNvPr id="24" name="Text 22"/>
          <p:cNvSpPr/>
          <p:nvPr/>
        </p:nvSpPr>
        <p:spPr>
          <a:xfrm>
            <a:off x="8403336" y="2871216"/>
            <a:ext cx="2706624" cy="329184"/>
          </a:xfrm>
          <a:prstGeom prst="rect">
            <a:avLst/>
          </a:prstGeom>
          <a:noFill/>
          <a:ln/>
        </p:spPr>
        <p:txBody>
          <a:bodyPr wrap="square" lIns="0" tIns="0" rIns="0" bIns="0" rtlCol="0" anchor="ctr"/>
          <a:lstStyle/>
          <a:p>
            <a:pPr indent="0" marL="0">
              <a:buNone/>
            </a:pPr>
            <a:r>
              <a:rPr lang="en-US" sz="2000" b="1" dirty="0">
                <a:solidFill>
                  <a:srgbClr val="F7F3EA"/>
                </a:solidFill>
                <a:latin typeface="Arial" pitchFamily="34" charset="0"/>
                <a:ea typeface="Arial" pitchFamily="34" charset="-122"/>
                <a:cs typeface="Arial" pitchFamily="34" charset="-120"/>
              </a:rPr>
              <a:t>The wrap</a:t>
            </a:r>
            <a:endParaRPr lang="en-US" sz="2000" dirty="0"/>
          </a:p>
        </p:txBody>
      </p:sp>
      <p:sp>
        <p:nvSpPr>
          <p:cNvPr id="25" name="Text 23"/>
          <p:cNvSpPr/>
          <p:nvPr/>
        </p:nvSpPr>
        <p:spPr>
          <a:xfrm>
            <a:off x="8403336" y="3200400"/>
            <a:ext cx="2706624" cy="274320"/>
          </a:xfrm>
          <a:prstGeom prst="rect">
            <a:avLst/>
          </a:prstGeom>
          <a:noFill/>
          <a:ln/>
        </p:spPr>
        <p:txBody>
          <a:bodyPr wrap="square" lIns="0" tIns="0" rIns="0" bIns="0" rtlCol="0" anchor="ctr"/>
          <a:lstStyle/>
          <a:p>
            <a:pPr indent="0" marL="0">
              <a:buNone/>
            </a:pPr>
            <a:r>
              <a:rPr lang="en-US" sz="1600" spc="120" kern="0" dirty="0">
                <a:solidFill>
                  <a:srgbClr val="AFA893"/>
                </a:solidFill>
                <a:latin typeface="Arial" pitchFamily="34" charset="0"/>
                <a:ea typeface="Arial" pitchFamily="34" charset="-122"/>
                <a:cs typeface="Arial" pitchFamily="34" charset="-120"/>
              </a:rPr>
              <a:t>1:23 TO 1:40</a:t>
            </a:r>
            <a:endParaRPr lang="en-US" sz="1600" dirty="0"/>
          </a:p>
        </p:txBody>
      </p:sp>
      <p:sp>
        <p:nvSpPr>
          <p:cNvPr id="26" name="Text 24"/>
          <p:cNvSpPr/>
          <p:nvPr/>
        </p:nvSpPr>
        <p:spPr>
          <a:xfrm>
            <a:off x="8403336" y="3584448"/>
            <a:ext cx="2706624" cy="859536"/>
          </a:xfrm>
          <a:prstGeom prst="rect">
            <a:avLst/>
          </a:prstGeom>
          <a:noFill/>
          <a:ln/>
        </p:spPr>
        <p:txBody>
          <a:bodyPr wrap="square" lIns="0" tIns="0" rIns="0" bIns="0" rtlCol="0" anchor="t"/>
          <a:lstStyle/>
          <a:p>
            <a:pPr indent="0" marL="0">
              <a:lnSpc>
                <a:spcPct val="116000"/>
              </a:lnSpc>
              <a:buNone/>
            </a:pPr>
            <a:r>
              <a:rPr lang="en-US" sz="1600" dirty="0">
                <a:solidFill>
                  <a:srgbClr val="F7F3EA"/>
                </a:solidFill>
                <a:latin typeface="Arial" pitchFamily="34" charset="0"/>
                <a:ea typeface="Arial" pitchFamily="34" charset="-122"/>
                <a:cs typeface="Arial" pitchFamily="34" charset="-120"/>
              </a:rPr>
              <a:t>What you built, where the loop turns next, and your first Friday.</a:t>
            </a:r>
            <a:endParaRPr lang="en-US" sz="1600" dirty="0"/>
          </a:p>
        </p:txBody>
      </p:sp>
      <p:sp>
        <p:nvSpPr>
          <p:cNvPr id="27" name="Text 25"/>
          <p:cNvSpPr/>
          <p:nvPr/>
        </p:nvSpPr>
        <p:spPr>
          <a:xfrm>
            <a:off x="813816" y="5230368"/>
            <a:ext cx="10570464" cy="347472"/>
          </a:xfrm>
          <a:prstGeom prst="rect">
            <a:avLst/>
          </a:prstGeom>
          <a:noFill/>
          <a:ln/>
        </p:spPr>
        <p:txBody>
          <a:bodyPr wrap="square" lIns="0" tIns="0" rIns="0" bIns="0" rtlCol="0" anchor="t"/>
          <a:lstStyle/>
          <a:p>
            <a:pPr algn="l" indent="0" marL="0">
              <a:lnSpc>
                <a:spcPct val="116000"/>
              </a:lnSpc>
              <a:buNone/>
            </a:pPr>
            <a:r>
              <a:rPr lang="en-US" sz="1600" b="1" dirty="0">
                <a:solidFill>
                  <a:srgbClr val="E7C766"/>
                </a:solidFill>
                <a:latin typeface="Arial" pitchFamily="34" charset="0"/>
                <a:ea typeface="Arial" pitchFamily="34" charset="-122"/>
                <a:cs typeface="Arial" pitchFamily="34" charset="-120"/>
              </a:rPr>
              <a:t>First the idea, then the build, then what you walk out with.</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3816" y="256032"/>
            <a:ext cx="10570464" cy="310896"/>
          </a:xfrm>
          <a:prstGeom prst="rect">
            <a:avLst/>
          </a:prstGeom>
          <a:noFill/>
          <a:ln/>
        </p:spPr>
        <p:txBody>
          <a:bodyPr wrap="square" lIns="0" tIns="0" rIns="0" bIns="0" rtlCol="0" anchor="ctr"/>
          <a:lstStyle/>
          <a:p>
            <a:pPr indent="0" marL="0">
              <a:buNone/>
            </a:pPr>
            <a:r>
              <a:rPr lang="en-US" sz="1600" b="1" spc="180" kern="0" dirty="0">
                <a:solidFill>
                  <a:srgbClr val="E7C766"/>
                </a:solidFill>
                <a:latin typeface="Arial" pitchFamily="34" charset="0"/>
                <a:ea typeface="Arial" pitchFamily="34" charset="-122"/>
                <a:cs typeface="Arial" pitchFamily="34" charset="-120"/>
              </a:rPr>
              <a:t>WHERE WE ARE WITH AI AT WORK</a:t>
            </a:r>
            <a:endParaRPr lang="en-US" sz="1600" dirty="0"/>
          </a:p>
        </p:txBody>
      </p:sp>
      <p:pic>
        <p:nvPicPr>
          <p:cNvPr id="3" name="Media 0">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975208" y="658368"/>
            <a:ext cx="10241280" cy="576072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name="Slide 4">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3816" y="457200"/>
            <a:ext cx="10570464" cy="310896"/>
          </a:xfrm>
          <a:prstGeom prst="rect">
            <a:avLst/>
          </a:prstGeom>
          <a:noFill/>
          <a:ln/>
        </p:spPr>
        <p:txBody>
          <a:bodyPr wrap="square" lIns="0" tIns="0" rIns="0" bIns="0" rtlCol="0" anchor="ctr"/>
          <a:lstStyle/>
          <a:p>
            <a:pPr indent="0" marL="0">
              <a:buNone/>
            </a:pPr>
            <a:r>
              <a:rPr lang="en-US" sz="1600" b="1" spc="180" kern="0" dirty="0">
                <a:solidFill>
                  <a:srgbClr val="E7C766"/>
                </a:solidFill>
                <a:latin typeface="Arial" pitchFamily="34" charset="0"/>
                <a:ea typeface="Arial" pitchFamily="34" charset="-122"/>
                <a:cs typeface="Arial" pitchFamily="34" charset="-120"/>
              </a:rPr>
              <a:t>WHERE WE ARE WITH AI AT WORK  ·  THE BOTTLE, IN THREE FRAMES</a:t>
            </a:r>
            <a:endParaRPr lang="en-US" sz="1600" dirty="0"/>
          </a:p>
        </p:txBody>
      </p:sp>
      <p:pic>
        <p:nvPicPr>
          <p:cNvPr id="3" name="Image 0" descr="assets/video/the-bottle-1.png">    </p:cNvPr>
          <p:cNvPicPr>
            <a:picLocks noChangeAspect="1"/>
          </p:cNvPicPr>
          <p:nvPr/>
        </p:nvPicPr>
        <p:blipFill>
          <a:blip r:embed="rId1"/>
          <a:stretch>
            <a:fillRect/>
          </a:stretch>
        </p:blipFill>
        <p:spPr>
          <a:xfrm>
            <a:off x="813816" y="1188720"/>
            <a:ext cx="3255264" cy="1831086"/>
          </a:xfrm>
          <a:prstGeom prst="rect">
            <a:avLst/>
          </a:prstGeom>
        </p:spPr>
      </p:pic>
      <p:sp>
        <p:nvSpPr>
          <p:cNvPr id="4" name="Text 1"/>
          <p:cNvSpPr/>
          <p:nvPr/>
        </p:nvSpPr>
        <p:spPr>
          <a:xfrm>
            <a:off x="813816" y="3166110"/>
            <a:ext cx="3255264" cy="603504"/>
          </a:xfrm>
          <a:prstGeom prst="rect">
            <a:avLst/>
          </a:prstGeom>
          <a:noFill/>
          <a:ln/>
        </p:spPr>
        <p:txBody>
          <a:bodyPr wrap="square" lIns="0" tIns="0" rIns="0" bIns="0" rtlCol="0" anchor="t"/>
          <a:lstStyle/>
          <a:p>
            <a:pPr indent="0" marL="0">
              <a:lnSpc>
                <a:spcPct val="116000"/>
              </a:lnSpc>
              <a:buNone/>
            </a:pPr>
            <a:r>
              <a:rPr lang="en-US" sz="1600" dirty="0">
                <a:solidFill>
                  <a:srgbClr val="F7F3EA"/>
                </a:solidFill>
                <a:latin typeface="Arial" pitchFamily="34" charset="0"/>
                <a:ea typeface="Arial" pitchFamily="34" charset="-122"/>
                <a:cs typeface="Arial" pitchFamily="34" charset="-120"/>
              </a:rPr>
              <a:t>Before AI. One task per second. All of them yours.</a:t>
            </a:r>
            <a:endParaRPr lang="en-US" sz="1600" dirty="0"/>
          </a:p>
        </p:txBody>
      </p:sp>
      <p:pic>
        <p:nvPicPr>
          <p:cNvPr id="5" name="Image 1" descr="assets/video/the-bottle-2.png">    </p:cNvPr>
          <p:cNvPicPr>
            <a:picLocks noChangeAspect="1"/>
          </p:cNvPicPr>
          <p:nvPr/>
        </p:nvPicPr>
        <p:blipFill>
          <a:blip r:embed="rId2"/>
          <a:stretch>
            <a:fillRect/>
          </a:stretch>
        </p:blipFill>
        <p:spPr>
          <a:xfrm>
            <a:off x="4471416" y="1188720"/>
            <a:ext cx="3255264" cy="1831086"/>
          </a:xfrm>
          <a:prstGeom prst="rect">
            <a:avLst/>
          </a:prstGeom>
        </p:spPr>
      </p:pic>
      <p:sp>
        <p:nvSpPr>
          <p:cNvPr id="6" name="Text 2"/>
          <p:cNvSpPr/>
          <p:nvPr/>
        </p:nvSpPr>
        <p:spPr>
          <a:xfrm>
            <a:off x="4471416" y="3166110"/>
            <a:ext cx="3255264" cy="859536"/>
          </a:xfrm>
          <a:prstGeom prst="rect">
            <a:avLst/>
          </a:prstGeom>
          <a:noFill/>
          <a:ln/>
        </p:spPr>
        <p:txBody>
          <a:bodyPr wrap="square" lIns="0" tIns="0" rIns="0" bIns="0" rtlCol="0" anchor="t"/>
          <a:lstStyle/>
          <a:p>
            <a:pPr indent="0" marL="0">
              <a:lnSpc>
                <a:spcPct val="116000"/>
              </a:lnSpc>
              <a:buNone/>
            </a:pPr>
            <a:r>
              <a:rPr lang="en-US" sz="1600" dirty="0">
                <a:solidFill>
                  <a:srgbClr val="F7F3EA"/>
                </a:solidFill>
                <a:latin typeface="Arial" pitchFamily="34" charset="0"/>
                <a:ea typeface="Arial" pitchFamily="34" charset="-122"/>
                <a:cs typeface="Arial" pitchFamily="34" charset="-120"/>
              </a:rPr>
              <a:t>After AI. Four times the output. The same ten you wanted. And you sort the rest.</a:t>
            </a:r>
            <a:endParaRPr lang="en-US" sz="1600" dirty="0"/>
          </a:p>
        </p:txBody>
      </p:sp>
      <p:pic>
        <p:nvPicPr>
          <p:cNvPr id="7" name="Image 2" descr="assets/video/the-bottle-3.png">    </p:cNvPr>
          <p:cNvPicPr>
            <a:picLocks noChangeAspect="1"/>
          </p:cNvPicPr>
          <p:nvPr/>
        </p:nvPicPr>
        <p:blipFill>
          <a:blip r:embed="rId3"/>
          <a:stretch>
            <a:fillRect/>
          </a:stretch>
        </p:blipFill>
        <p:spPr>
          <a:xfrm>
            <a:off x="8129016" y="1188720"/>
            <a:ext cx="3255264" cy="1831086"/>
          </a:xfrm>
          <a:prstGeom prst="rect">
            <a:avLst/>
          </a:prstGeom>
        </p:spPr>
      </p:pic>
      <p:sp>
        <p:nvSpPr>
          <p:cNvPr id="8" name="Text 3"/>
          <p:cNvSpPr/>
          <p:nvPr/>
        </p:nvSpPr>
        <p:spPr>
          <a:xfrm>
            <a:off x="8129016" y="3166110"/>
            <a:ext cx="3255264" cy="1115568"/>
          </a:xfrm>
          <a:prstGeom prst="rect">
            <a:avLst/>
          </a:prstGeom>
          <a:noFill/>
          <a:ln/>
        </p:spPr>
        <p:txBody>
          <a:bodyPr wrap="square" lIns="0" tIns="0" rIns="0" bIns="0" rtlCol="0" anchor="t"/>
          <a:lstStyle/>
          <a:p>
            <a:pPr indent="0" marL="0">
              <a:lnSpc>
                <a:spcPct val="116000"/>
              </a:lnSpc>
              <a:buNone/>
            </a:pPr>
            <a:r>
              <a:rPr lang="en-US" sz="1600" dirty="0">
                <a:solidFill>
                  <a:srgbClr val="F7F3EA"/>
                </a:solidFill>
                <a:latin typeface="Arial" pitchFamily="34" charset="0"/>
                <a:ea typeface="Arial" pitchFamily="34" charset="-122"/>
                <a:cs typeface="Arial" pitchFamily="34" charset="-120"/>
              </a:rPr>
              <a:t>Close the loop. Every sort you make teaches the rules. The rules make the next batch better.</a:t>
            </a:r>
            <a:endParaRPr lang="en-US" sz="1600" dirty="0"/>
          </a:p>
        </p:txBody>
      </p:sp>
      <p:sp>
        <p:nvSpPr>
          <p:cNvPr id="9" name="Shape 4"/>
          <p:cNvSpPr/>
          <p:nvPr/>
        </p:nvSpPr>
        <p:spPr>
          <a:xfrm>
            <a:off x="813816" y="5779008"/>
            <a:ext cx="10570464" cy="0"/>
          </a:xfrm>
          <a:prstGeom prst="line">
            <a:avLst/>
          </a:prstGeom>
          <a:noFill/>
          <a:ln w="9525">
            <a:solidFill>
              <a:srgbClr val="C9A227"/>
            </a:solidFill>
            <a:prstDash val="solid"/>
          </a:ln>
        </p:spPr>
      </p:sp>
      <p:sp>
        <p:nvSpPr>
          <p:cNvPr id="10" name="Text 5"/>
          <p:cNvSpPr/>
          <p:nvPr/>
        </p:nvSpPr>
        <p:spPr>
          <a:xfrm>
            <a:off x="813816" y="5907024"/>
            <a:ext cx="3358896" cy="274320"/>
          </a:xfrm>
          <a:prstGeom prst="rect">
            <a:avLst/>
          </a:prstGeom>
          <a:noFill/>
          <a:ln/>
        </p:spPr>
        <p:txBody>
          <a:bodyPr wrap="square" lIns="0" tIns="0" rIns="0" bIns="0" rtlCol="0" anchor="ctr"/>
          <a:lstStyle/>
          <a:p>
            <a:pPr indent="0" marL="0">
              <a:buNone/>
            </a:pPr>
            <a:r>
              <a:rPr lang="en-US" sz="1600" spc="120" kern="0" dirty="0">
                <a:solidFill>
                  <a:srgbClr val="AFA893"/>
                </a:solidFill>
                <a:latin typeface="Arial" pitchFamily="34" charset="0"/>
                <a:ea typeface="Arial" pitchFamily="34" charset="-122"/>
                <a:cs typeface="Arial" pitchFamily="34" charset="-120"/>
              </a:rPr>
              <a:t>BUILD YOUR OWN DONNA</a:t>
            </a:r>
            <a:endParaRPr lang="en-US" sz="1600" dirty="0"/>
          </a:p>
        </p:txBody>
      </p:sp>
      <p:sp>
        <p:nvSpPr>
          <p:cNvPr id="11" name="Shape 6"/>
          <p:cNvSpPr/>
          <p:nvPr/>
        </p:nvSpPr>
        <p:spPr>
          <a:xfrm rot="2700000">
            <a:off x="4227576" y="6012180"/>
            <a:ext cx="64008" cy="64008"/>
          </a:xfrm>
          <a:prstGeom prst="rect">
            <a:avLst/>
          </a:prstGeom>
          <a:solidFill>
            <a:srgbClr val="C9A227"/>
          </a:solidFill>
          <a:ln w="3175">
            <a:solidFill>
              <a:srgbClr val="C9A227"/>
            </a:solidFill>
            <a:prstDash val="solid"/>
          </a:ln>
        </p:spPr>
      </p:sp>
      <p:sp>
        <p:nvSpPr>
          <p:cNvPr id="12" name="Text 7"/>
          <p:cNvSpPr/>
          <p:nvPr/>
        </p:nvSpPr>
        <p:spPr>
          <a:xfrm>
            <a:off x="4410456" y="5907024"/>
            <a:ext cx="2712720" cy="274320"/>
          </a:xfrm>
          <a:prstGeom prst="rect">
            <a:avLst/>
          </a:prstGeom>
          <a:noFill/>
          <a:ln/>
        </p:spPr>
        <p:txBody>
          <a:bodyPr wrap="square" lIns="0" tIns="0" rIns="0" bIns="0" rtlCol="0" anchor="ctr"/>
          <a:lstStyle/>
          <a:p>
            <a:pPr indent="0" marL="0">
              <a:buNone/>
            </a:pPr>
            <a:r>
              <a:rPr lang="en-US" sz="1600" spc="120" kern="0" dirty="0">
                <a:solidFill>
                  <a:srgbClr val="AFA893"/>
                </a:solidFill>
                <a:latin typeface="Arial" pitchFamily="34" charset="0"/>
                <a:ea typeface="Arial" pitchFamily="34" charset="-122"/>
                <a:cs typeface="Arial" pitchFamily="34" charset="-120"/>
              </a:rPr>
              <a:t>OCTOBER 21, 2026</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3EA"/>
        </a:solidFill>
      </p:bgPr>
    </p:bg>
    <p:spTree>
      <p:nvGrpSpPr>
        <p:cNvPr id="1" name=""/>
        <p:cNvGrpSpPr/>
        <p:nvPr/>
      </p:nvGrpSpPr>
      <p:grpSpPr>
        <a:xfrm>
          <a:off x="0" y="0"/>
          <a:ext cx="0" cy="0"/>
          <a:chOff x="0" y="0"/>
          <a:chExt cx="0" cy="0"/>
        </a:xfrm>
      </p:grpSpPr>
      <p:sp>
        <p:nvSpPr>
          <p:cNvPr id="2" name="Shape 0"/>
          <p:cNvSpPr/>
          <p:nvPr/>
        </p:nvSpPr>
        <p:spPr>
          <a:xfrm>
            <a:off x="813816" y="5779008"/>
            <a:ext cx="10570464" cy="0"/>
          </a:xfrm>
          <a:prstGeom prst="line">
            <a:avLst/>
          </a:prstGeom>
          <a:noFill/>
          <a:ln w="9525">
            <a:solidFill>
              <a:srgbClr val="C9A227"/>
            </a:solidFill>
            <a:prstDash val="solid"/>
          </a:ln>
        </p:spPr>
      </p:sp>
      <p:sp>
        <p:nvSpPr>
          <p:cNvPr id="3" name="Text 1"/>
          <p:cNvSpPr/>
          <p:nvPr/>
        </p:nvSpPr>
        <p:spPr>
          <a:xfrm>
            <a:off x="813816" y="5907024"/>
            <a:ext cx="3358896" cy="274320"/>
          </a:xfrm>
          <a:prstGeom prst="rect">
            <a:avLst/>
          </a:prstGeom>
          <a:noFill/>
          <a:ln/>
        </p:spPr>
        <p:txBody>
          <a:bodyPr wrap="square" lIns="0" tIns="0" rIns="0" bIns="0" rtlCol="0" anchor="ctr"/>
          <a:lstStyle/>
          <a:p>
            <a:pPr indent="0" marL="0">
              <a:buNone/>
            </a:pPr>
            <a:r>
              <a:rPr lang="en-US" sz="1600" spc="120" kern="0" dirty="0">
                <a:solidFill>
                  <a:srgbClr val="5A6379"/>
                </a:solidFill>
                <a:latin typeface="Arial" pitchFamily="34" charset="0"/>
                <a:ea typeface="Arial" pitchFamily="34" charset="-122"/>
                <a:cs typeface="Arial" pitchFamily="34" charset="-120"/>
              </a:rPr>
              <a:t>BUILD YOUR OWN DONNA</a:t>
            </a:r>
            <a:endParaRPr lang="en-US" sz="1600" dirty="0"/>
          </a:p>
        </p:txBody>
      </p:sp>
      <p:sp>
        <p:nvSpPr>
          <p:cNvPr id="4" name="Shape 2"/>
          <p:cNvSpPr/>
          <p:nvPr/>
        </p:nvSpPr>
        <p:spPr>
          <a:xfrm rot="2700000">
            <a:off x="4227576" y="6012180"/>
            <a:ext cx="64008" cy="64008"/>
          </a:xfrm>
          <a:prstGeom prst="rect">
            <a:avLst/>
          </a:prstGeom>
          <a:solidFill>
            <a:srgbClr val="C9A227"/>
          </a:solidFill>
          <a:ln w="3175">
            <a:solidFill>
              <a:srgbClr val="C9A227"/>
            </a:solidFill>
            <a:prstDash val="solid"/>
          </a:ln>
        </p:spPr>
      </p:sp>
      <p:sp>
        <p:nvSpPr>
          <p:cNvPr id="5" name="Text 3"/>
          <p:cNvSpPr/>
          <p:nvPr/>
        </p:nvSpPr>
        <p:spPr>
          <a:xfrm>
            <a:off x="4410456" y="5907024"/>
            <a:ext cx="2712720" cy="274320"/>
          </a:xfrm>
          <a:prstGeom prst="rect">
            <a:avLst/>
          </a:prstGeom>
          <a:noFill/>
          <a:ln/>
        </p:spPr>
        <p:txBody>
          <a:bodyPr wrap="square" lIns="0" tIns="0" rIns="0" bIns="0" rtlCol="0" anchor="ctr"/>
          <a:lstStyle/>
          <a:p>
            <a:pPr indent="0" marL="0">
              <a:buNone/>
            </a:pPr>
            <a:r>
              <a:rPr lang="en-US" sz="1600" spc="120" kern="0" dirty="0">
                <a:solidFill>
                  <a:srgbClr val="5A6379"/>
                </a:solidFill>
                <a:latin typeface="Arial" pitchFamily="34" charset="0"/>
                <a:ea typeface="Arial" pitchFamily="34" charset="-122"/>
                <a:cs typeface="Arial" pitchFamily="34" charset="-120"/>
              </a:rPr>
              <a:t>OCTOBER 21, 2026</a:t>
            </a:r>
            <a:endParaRPr lang="en-US" sz="1600" dirty="0"/>
          </a:p>
        </p:txBody>
      </p:sp>
      <p:sp>
        <p:nvSpPr>
          <p:cNvPr id="6" name="Text 4"/>
          <p:cNvSpPr/>
          <p:nvPr/>
        </p:nvSpPr>
        <p:spPr>
          <a:xfrm>
            <a:off x="10652760" y="5907024"/>
            <a:ext cx="731520" cy="274320"/>
          </a:xfrm>
          <a:prstGeom prst="rect">
            <a:avLst/>
          </a:prstGeom>
          <a:noFill/>
          <a:ln/>
        </p:spPr>
        <p:txBody>
          <a:bodyPr wrap="square" lIns="0" tIns="0" rIns="0" bIns="0" rtlCol="0" anchor="ctr"/>
          <a:lstStyle/>
          <a:p>
            <a:pPr algn="r" indent="0" marL="0">
              <a:buNone/>
            </a:pPr>
            <a:r>
              <a:rPr lang="en-US" sz="1600" spc="120" kern="0" dirty="0">
                <a:solidFill>
                  <a:srgbClr val="5A6379"/>
                </a:solidFill>
                <a:latin typeface="Arial" pitchFamily="34" charset="0"/>
                <a:ea typeface="Arial" pitchFamily="34" charset="-122"/>
                <a:cs typeface="Arial" pitchFamily="34" charset="-120"/>
              </a:rPr>
              <a:t>4</a:t>
            </a:r>
            <a:endParaRPr lang="en-US" sz="1600" dirty="0"/>
          </a:p>
        </p:txBody>
      </p:sp>
      <p:sp>
        <p:nvSpPr>
          <p:cNvPr id="7" name="Text 5"/>
          <p:cNvSpPr/>
          <p:nvPr/>
        </p:nvSpPr>
        <p:spPr>
          <a:xfrm>
            <a:off x="1249528" y="502920"/>
            <a:ext cx="9692640" cy="1269919"/>
          </a:xfrm>
          <a:prstGeom prst="rect">
            <a:avLst/>
          </a:prstGeom>
          <a:noFill/>
          <a:ln/>
        </p:spPr>
        <p:txBody>
          <a:bodyPr wrap="square" lIns="0" tIns="0" rIns="0" bIns="0" rtlCol="0" anchor="t"/>
          <a:lstStyle/>
          <a:p>
            <a:pPr algn="ctr" indent="0" marL="0">
              <a:buNone/>
            </a:pPr>
            <a:r>
              <a:rPr lang="en-US" sz="3600" b="1" dirty="0">
                <a:solidFill>
                  <a:srgbClr val="14213D"/>
                </a:solidFill>
                <a:latin typeface="Georgia" pitchFamily="34" charset="0"/>
                <a:ea typeface="Georgia" pitchFamily="34" charset="-122"/>
                <a:cs typeface="Georgia" pitchFamily="34" charset="-120"/>
              </a:rPr>
              <a:t>Open loops make more work.</a:t>
            </a:r>
            <a:endParaRPr lang="en-US" sz="3600" dirty="0"/>
          </a:p>
          <a:p>
            <a:pPr algn="ctr" indent="0" marL="0">
              <a:buNone/>
            </a:pPr>
            <a:r>
              <a:rPr lang="en-US" sz="3600" b="1" dirty="0">
                <a:solidFill>
                  <a:srgbClr val="14213D"/>
                </a:solidFill>
                <a:latin typeface="Georgia" pitchFamily="34" charset="0"/>
                <a:ea typeface="Georgia" pitchFamily="34" charset="-122"/>
                <a:cs typeface="Georgia" pitchFamily="34" charset="-120"/>
              </a:rPr>
              <a:t>Closed loops make better work.</a:t>
            </a:r>
            <a:endParaRPr lang="en-US" sz="3600" dirty="0"/>
          </a:p>
        </p:txBody>
      </p:sp>
      <p:sp>
        <p:nvSpPr>
          <p:cNvPr id="8" name="Text 6"/>
          <p:cNvSpPr/>
          <p:nvPr/>
        </p:nvSpPr>
        <p:spPr>
          <a:xfrm>
            <a:off x="1088136" y="1864279"/>
            <a:ext cx="4754880" cy="347472"/>
          </a:xfrm>
          <a:prstGeom prst="rect">
            <a:avLst/>
          </a:prstGeom>
          <a:noFill/>
          <a:ln/>
        </p:spPr>
        <p:txBody>
          <a:bodyPr wrap="square" lIns="0" tIns="0" rIns="0" bIns="0" rtlCol="0" anchor="t"/>
          <a:lstStyle/>
          <a:p>
            <a:pPr algn="ctr" indent="0" marL="0">
              <a:buNone/>
            </a:pPr>
            <a:r>
              <a:rPr lang="en-US" sz="1600" b="1" spc="160" kern="0" dirty="0">
                <a:solidFill>
                  <a:srgbClr val="8A6D14"/>
                </a:solidFill>
                <a:latin typeface="Arial" pitchFamily="34" charset="0"/>
                <a:ea typeface="Arial" pitchFamily="34" charset="-122"/>
                <a:cs typeface="Arial" pitchFamily="34" charset="-120"/>
              </a:rPr>
              <a:t>OPEN</a:t>
            </a:r>
            <a:endParaRPr lang="en-US" sz="1600" dirty="0"/>
          </a:p>
        </p:txBody>
      </p:sp>
      <p:sp>
        <p:nvSpPr>
          <p:cNvPr id="9" name="Shape 7"/>
          <p:cNvSpPr/>
          <p:nvPr/>
        </p:nvSpPr>
        <p:spPr>
          <a:xfrm>
            <a:off x="1179576" y="2778679"/>
            <a:ext cx="1828800" cy="1828800"/>
          </a:xfrm>
          <a:prstGeom prst="ellipse">
            <a:avLst/>
          </a:prstGeom>
          <a:ln w="12700">
            <a:solidFill>
              <a:srgbClr val="C9A227"/>
            </a:solidFill>
            <a:prstDash val="solid"/>
          </a:ln>
        </p:spPr>
      </p:sp>
      <p:sp>
        <p:nvSpPr>
          <p:cNvPr id="10" name="Text 8"/>
          <p:cNvSpPr/>
          <p:nvPr/>
        </p:nvSpPr>
        <p:spPr>
          <a:xfrm>
            <a:off x="1179576" y="2778679"/>
            <a:ext cx="1828800" cy="1828800"/>
          </a:xfrm>
          <a:prstGeom prst="rect">
            <a:avLst/>
          </a:prstGeom>
          <a:noFill/>
          <a:ln/>
        </p:spPr>
        <p:txBody>
          <a:bodyPr wrap="square" lIns="0" tIns="0" rIns="0" bIns="0" rtlCol="0" anchor="ctr"/>
          <a:lstStyle/>
          <a:p>
            <a:pPr algn="ctr" indent="0" marL="0">
              <a:lnSpc>
                <a:spcPct val="102000"/>
              </a:lnSpc>
              <a:buNone/>
            </a:pPr>
            <a:r>
              <a:rPr lang="en-US" sz="1800" b="1" dirty="0">
                <a:solidFill>
                  <a:srgbClr val="8A6D14"/>
                </a:solidFill>
                <a:latin typeface="Georgia" pitchFamily="34" charset="0"/>
                <a:ea typeface="Georgia" pitchFamily="34" charset="-122"/>
                <a:cs typeface="Georgia" pitchFamily="34" charset="-120"/>
              </a:rPr>
              <a:t>THE</a:t>
            </a:r>
            <a:endParaRPr lang="en-US" sz="1800" dirty="0"/>
          </a:p>
          <a:p>
            <a:pPr algn="ctr" indent="0" marL="0">
              <a:lnSpc>
                <a:spcPct val="102000"/>
              </a:lnSpc>
              <a:buNone/>
            </a:pPr>
            <a:r>
              <a:rPr lang="en-US" sz="1800" b="1" dirty="0">
                <a:solidFill>
                  <a:srgbClr val="8A6D14"/>
                </a:solidFill>
                <a:latin typeface="Georgia" pitchFamily="34" charset="0"/>
                <a:ea typeface="Georgia" pitchFamily="34" charset="-122"/>
                <a:cs typeface="Georgia" pitchFamily="34" charset="-120"/>
              </a:rPr>
              <a:t>RULES</a:t>
            </a:r>
            <a:endParaRPr lang="en-US" sz="1800" dirty="0"/>
          </a:p>
        </p:txBody>
      </p:sp>
      <p:sp>
        <p:nvSpPr>
          <p:cNvPr id="11" name="Shape 9"/>
          <p:cNvSpPr/>
          <p:nvPr/>
        </p:nvSpPr>
        <p:spPr>
          <a:xfrm>
            <a:off x="3008376" y="3693079"/>
            <a:ext cx="2834640" cy="0"/>
          </a:xfrm>
          <a:prstGeom prst="line">
            <a:avLst/>
          </a:prstGeom>
          <a:noFill/>
          <a:ln w="12700">
            <a:solidFill>
              <a:srgbClr val="C9A227"/>
            </a:solidFill>
            <a:prstDash val="solid"/>
          </a:ln>
        </p:spPr>
      </p:sp>
      <p:sp>
        <p:nvSpPr>
          <p:cNvPr id="12" name="Shape 10"/>
          <p:cNvSpPr/>
          <p:nvPr/>
        </p:nvSpPr>
        <p:spPr>
          <a:xfrm rot="5400000">
            <a:off x="3419856" y="3574207"/>
            <a:ext cx="182880" cy="237744"/>
          </a:xfrm>
          <a:prstGeom prst="triangle">
            <a:avLst/>
          </a:prstGeom>
          <a:solidFill>
            <a:srgbClr val="C9A227"/>
          </a:solidFill>
          <a:ln/>
        </p:spPr>
      </p:sp>
      <p:sp>
        <p:nvSpPr>
          <p:cNvPr id="13" name="Shape 11"/>
          <p:cNvSpPr/>
          <p:nvPr/>
        </p:nvSpPr>
        <p:spPr>
          <a:xfrm rot="5400000">
            <a:off x="4334256" y="3574207"/>
            <a:ext cx="182880" cy="237744"/>
          </a:xfrm>
          <a:prstGeom prst="triangle">
            <a:avLst/>
          </a:prstGeom>
          <a:solidFill>
            <a:srgbClr val="C9A227"/>
          </a:solidFill>
          <a:ln/>
        </p:spPr>
      </p:sp>
      <p:sp>
        <p:nvSpPr>
          <p:cNvPr id="14" name="Shape 12"/>
          <p:cNvSpPr/>
          <p:nvPr/>
        </p:nvSpPr>
        <p:spPr>
          <a:xfrm rot="5400000">
            <a:off x="5248656" y="3574207"/>
            <a:ext cx="182880" cy="237744"/>
          </a:xfrm>
          <a:prstGeom prst="triangle">
            <a:avLst/>
          </a:prstGeom>
          <a:solidFill>
            <a:srgbClr val="C9A227"/>
          </a:solidFill>
          <a:ln/>
        </p:spPr>
      </p:sp>
      <p:sp>
        <p:nvSpPr>
          <p:cNvPr id="15" name="Text 13"/>
          <p:cNvSpPr/>
          <p:nvPr/>
        </p:nvSpPr>
        <p:spPr>
          <a:xfrm>
            <a:off x="3099816" y="3126151"/>
            <a:ext cx="2743200" cy="292608"/>
          </a:xfrm>
          <a:prstGeom prst="rect">
            <a:avLst/>
          </a:prstGeom>
          <a:noFill/>
          <a:ln/>
        </p:spPr>
        <p:txBody>
          <a:bodyPr wrap="square" lIns="0" tIns="0" rIns="0" bIns="0" rtlCol="0" anchor="ctr"/>
          <a:lstStyle/>
          <a:p>
            <a:pPr algn="ctr" indent="0" marL="0">
              <a:buNone/>
            </a:pPr>
            <a:r>
              <a:rPr lang="en-US" sz="1600" i="1" dirty="0">
                <a:solidFill>
                  <a:srgbClr val="5A6379"/>
                </a:solidFill>
                <a:latin typeface="Arial" pitchFamily="34" charset="0"/>
                <a:ea typeface="Arial" pitchFamily="34" charset="-122"/>
                <a:cs typeface="Arial" pitchFamily="34" charset="-120"/>
              </a:rPr>
              <a:t>work goes out</a:t>
            </a:r>
            <a:endParaRPr lang="en-US" sz="1600" dirty="0"/>
          </a:p>
        </p:txBody>
      </p:sp>
      <p:sp>
        <p:nvSpPr>
          <p:cNvPr id="16" name="Text 14"/>
          <p:cNvSpPr/>
          <p:nvPr/>
        </p:nvSpPr>
        <p:spPr>
          <a:xfrm>
            <a:off x="3099816" y="3967399"/>
            <a:ext cx="2743200" cy="292608"/>
          </a:xfrm>
          <a:prstGeom prst="rect">
            <a:avLst/>
          </a:prstGeom>
          <a:noFill/>
          <a:ln/>
        </p:spPr>
        <p:txBody>
          <a:bodyPr wrap="square" lIns="0" tIns="0" rIns="0" bIns="0" rtlCol="0" anchor="ctr"/>
          <a:lstStyle/>
          <a:p>
            <a:pPr algn="ctr" indent="0" marL="0">
              <a:buNone/>
            </a:pPr>
            <a:r>
              <a:rPr lang="en-US" sz="1600" i="1" dirty="0">
                <a:solidFill>
                  <a:srgbClr val="5A6379"/>
                </a:solidFill>
                <a:latin typeface="Arial" pitchFamily="34" charset="0"/>
                <a:ea typeface="Arial" pitchFamily="34" charset="-122"/>
                <a:cs typeface="Arial" pitchFamily="34" charset="-120"/>
              </a:rPr>
              <a:t>nothing comes back</a:t>
            </a:r>
            <a:endParaRPr lang="en-US" sz="1600" dirty="0"/>
          </a:p>
        </p:txBody>
      </p:sp>
      <p:sp>
        <p:nvSpPr>
          <p:cNvPr id="17" name="Text 15"/>
          <p:cNvSpPr/>
          <p:nvPr/>
        </p:nvSpPr>
        <p:spPr>
          <a:xfrm>
            <a:off x="6348679" y="1864279"/>
            <a:ext cx="4754880" cy="347472"/>
          </a:xfrm>
          <a:prstGeom prst="rect">
            <a:avLst/>
          </a:prstGeom>
          <a:noFill/>
          <a:ln/>
        </p:spPr>
        <p:txBody>
          <a:bodyPr wrap="square" lIns="0" tIns="0" rIns="0" bIns="0" rtlCol="0" anchor="t"/>
          <a:lstStyle/>
          <a:p>
            <a:pPr algn="ctr" indent="0" marL="0">
              <a:buNone/>
            </a:pPr>
            <a:r>
              <a:rPr lang="en-US" sz="1600" b="1" spc="160" kern="0" dirty="0">
                <a:solidFill>
                  <a:srgbClr val="8A6D14"/>
                </a:solidFill>
                <a:latin typeface="Arial" pitchFamily="34" charset="0"/>
                <a:ea typeface="Arial" pitchFamily="34" charset="-122"/>
                <a:cs typeface="Arial" pitchFamily="34" charset="-120"/>
              </a:rPr>
              <a:t>CLOSED</a:t>
            </a:r>
            <a:endParaRPr lang="en-US" sz="1600" dirty="0"/>
          </a:p>
        </p:txBody>
      </p:sp>
      <p:sp>
        <p:nvSpPr>
          <p:cNvPr id="18" name="Shape 16"/>
          <p:cNvSpPr/>
          <p:nvPr/>
        </p:nvSpPr>
        <p:spPr>
          <a:xfrm>
            <a:off x="7409383" y="2376343"/>
            <a:ext cx="2633472" cy="2633472"/>
          </a:xfrm>
          <a:prstGeom prst="ellipse">
            <a:avLst/>
          </a:prstGeom>
          <a:ln w="12700">
            <a:solidFill>
              <a:srgbClr val="C9A227"/>
            </a:solidFill>
            <a:prstDash val="solid"/>
          </a:ln>
        </p:spPr>
      </p:sp>
      <p:sp>
        <p:nvSpPr>
          <p:cNvPr id="19" name="Shape 17"/>
          <p:cNvSpPr/>
          <p:nvPr/>
        </p:nvSpPr>
        <p:spPr>
          <a:xfrm rot="8100000">
            <a:off x="9595013" y="2676509"/>
            <a:ext cx="124358" cy="170993"/>
          </a:xfrm>
          <a:prstGeom prst="triangle">
            <a:avLst/>
          </a:prstGeom>
          <a:solidFill>
            <a:srgbClr val="C9A227"/>
          </a:solidFill>
          <a:ln/>
        </p:spPr>
      </p:sp>
      <p:sp>
        <p:nvSpPr>
          <p:cNvPr id="20" name="Shape 18"/>
          <p:cNvSpPr/>
          <p:nvPr/>
        </p:nvSpPr>
        <p:spPr>
          <a:xfrm rot="13500000">
            <a:off x="9595013" y="4538655"/>
            <a:ext cx="124358" cy="170993"/>
          </a:xfrm>
          <a:prstGeom prst="triangle">
            <a:avLst/>
          </a:prstGeom>
          <a:solidFill>
            <a:srgbClr val="C9A227"/>
          </a:solidFill>
          <a:ln/>
        </p:spPr>
      </p:sp>
      <p:sp>
        <p:nvSpPr>
          <p:cNvPr id="21" name="Shape 19"/>
          <p:cNvSpPr/>
          <p:nvPr/>
        </p:nvSpPr>
        <p:spPr>
          <a:xfrm rot="18900000">
            <a:off x="7732867" y="4538655"/>
            <a:ext cx="124358" cy="170993"/>
          </a:xfrm>
          <a:prstGeom prst="triangle">
            <a:avLst/>
          </a:prstGeom>
          <a:solidFill>
            <a:srgbClr val="C9A227"/>
          </a:solidFill>
          <a:ln/>
        </p:spPr>
      </p:sp>
      <p:sp>
        <p:nvSpPr>
          <p:cNvPr id="22" name="Shape 20"/>
          <p:cNvSpPr/>
          <p:nvPr/>
        </p:nvSpPr>
        <p:spPr>
          <a:xfrm rot="2700000">
            <a:off x="7732867" y="2676509"/>
            <a:ext cx="124358" cy="170993"/>
          </a:xfrm>
          <a:prstGeom prst="triangle">
            <a:avLst/>
          </a:prstGeom>
          <a:solidFill>
            <a:srgbClr val="C9A227"/>
          </a:solidFill>
          <a:ln/>
        </p:spPr>
      </p:sp>
      <p:sp>
        <p:nvSpPr>
          <p:cNvPr id="23" name="Shape 21"/>
          <p:cNvSpPr/>
          <p:nvPr/>
        </p:nvSpPr>
        <p:spPr>
          <a:xfrm>
            <a:off x="7962412" y="2929372"/>
            <a:ext cx="1527414" cy="1527414"/>
          </a:xfrm>
          <a:prstGeom prst="ellipse">
            <a:avLst/>
          </a:prstGeom>
          <a:ln w="12700">
            <a:solidFill>
              <a:srgbClr val="C9A227"/>
            </a:solidFill>
            <a:prstDash val="solid"/>
          </a:ln>
        </p:spPr>
      </p:sp>
      <p:sp>
        <p:nvSpPr>
          <p:cNvPr id="24" name="Text 22"/>
          <p:cNvSpPr/>
          <p:nvPr/>
        </p:nvSpPr>
        <p:spPr>
          <a:xfrm>
            <a:off x="8008132" y="3395899"/>
            <a:ext cx="1435974" cy="594360"/>
          </a:xfrm>
          <a:prstGeom prst="rect">
            <a:avLst/>
          </a:prstGeom>
          <a:noFill/>
          <a:ln/>
        </p:spPr>
        <p:txBody>
          <a:bodyPr wrap="square" lIns="0" tIns="0" rIns="0" bIns="0" rtlCol="0" anchor="ctr"/>
          <a:lstStyle/>
          <a:p>
            <a:pPr algn="ctr" indent="0" marL="0">
              <a:lnSpc>
                <a:spcPct val="102000"/>
              </a:lnSpc>
              <a:buNone/>
            </a:pPr>
            <a:r>
              <a:rPr lang="en-US" sz="1800" b="1" dirty="0">
                <a:solidFill>
                  <a:srgbClr val="8A6D14"/>
                </a:solidFill>
                <a:latin typeface="Georgia" pitchFamily="34" charset="0"/>
                <a:ea typeface="Georgia" pitchFamily="34" charset="-122"/>
                <a:cs typeface="Georgia" pitchFamily="34" charset="-120"/>
              </a:rPr>
              <a:t>THE</a:t>
            </a:r>
            <a:endParaRPr lang="en-US" sz="1800" dirty="0"/>
          </a:p>
          <a:p>
            <a:pPr algn="ctr" indent="0" marL="0">
              <a:lnSpc>
                <a:spcPct val="102000"/>
              </a:lnSpc>
              <a:buNone/>
            </a:pPr>
            <a:r>
              <a:rPr lang="en-US" sz="1800" b="1" dirty="0">
                <a:solidFill>
                  <a:srgbClr val="8A6D14"/>
                </a:solidFill>
                <a:latin typeface="Georgia" pitchFamily="34" charset="0"/>
                <a:ea typeface="Georgia" pitchFamily="34" charset="-122"/>
                <a:cs typeface="Georgia" pitchFamily="34" charset="-120"/>
              </a:rPr>
              <a:t>RULES</a:t>
            </a:r>
            <a:endParaRPr lang="en-US" sz="1800" dirty="0"/>
          </a:p>
        </p:txBody>
      </p:sp>
      <p:sp>
        <p:nvSpPr>
          <p:cNvPr id="25" name="Shape 23"/>
          <p:cNvSpPr/>
          <p:nvPr/>
        </p:nvSpPr>
        <p:spPr>
          <a:xfrm>
            <a:off x="8524951" y="2175175"/>
            <a:ext cx="402336" cy="402336"/>
          </a:xfrm>
          <a:prstGeom prst="ellipse">
            <a:avLst/>
          </a:prstGeom>
          <a:solidFill>
            <a:srgbClr val="F7F3EA"/>
          </a:solidFill>
          <a:ln w="12700">
            <a:solidFill>
              <a:srgbClr val="C9A227"/>
            </a:solidFill>
            <a:prstDash val="solid"/>
          </a:ln>
        </p:spPr>
      </p:sp>
      <p:sp>
        <p:nvSpPr>
          <p:cNvPr id="26" name="Text 24"/>
          <p:cNvSpPr/>
          <p:nvPr/>
        </p:nvSpPr>
        <p:spPr>
          <a:xfrm>
            <a:off x="8524951" y="2175175"/>
            <a:ext cx="402336" cy="402336"/>
          </a:xfrm>
          <a:prstGeom prst="rect">
            <a:avLst/>
          </a:prstGeom>
          <a:noFill/>
          <a:ln/>
        </p:spPr>
        <p:txBody>
          <a:bodyPr wrap="square" lIns="0" tIns="0" rIns="0" bIns="0" rtlCol="0" anchor="ctr"/>
          <a:lstStyle/>
          <a:p>
            <a:pPr algn="ctr" indent="0" marL="0">
              <a:buNone/>
            </a:pPr>
            <a:r>
              <a:rPr lang="en-US" sz="1800" b="1" dirty="0">
                <a:solidFill>
                  <a:srgbClr val="8A6D14"/>
                </a:solidFill>
                <a:latin typeface="Georgia" pitchFamily="34" charset="0"/>
                <a:ea typeface="Georgia" pitchFamily="34" charset="-122"/>
                <a:cs typeface="Georgia" pitchFamily="34" charset="-120"/>
              </a:rPr>
              <a:t>01</a:t>
            </a:r>
            <a:endParaRPr lang="en-US" sz="1800" dirty="0"/>
          </a:p>
        </p:txBody>
      </p:sp>
      <p:sp>
        <p:nvSpPr>
          <p:cNvPr id="27" name="Shape 25"/>
          <p:cNvSpPr/>
          <p:nvPr/>
        </p:nvSpPr>
        <p:spPr>
          <a:xfrm>
            <a:off x="9841687" y="3491911"/>
            <a:ext cx="402336" cy="402336"/>
          </a:xfrm>
          <a:prstGeom prst="ellipse">
            <a:avLst/>
          </a:prstGeom>
          <a:solidFill>
            <a:srgbClr val="F7F3EA"/>
          </a:solidFill>
          <a:ln w="12700">
            <a:solidFill>
              <a:srgbClr val="C9A227"/>
            </a:solidFill>
            <a:prstDash val="solid"/>
          </a:ln>
        </p:spPr>
      </p:sp>
      <p:sp>
        <p:nvSpPr>
          <p:cNvPr id="28" name="Text 26"/>
          <p:cNvSpPr/>
          <p:nvPr/>
        </p:nvSpPr>
        <p:spPr>
          <a:xfrm>
            <a:off x="9841687" y="3491911"/>
            <a:ext cx="402336" cy="402336"/>
          </a:xfrm>
          <a:prstGeom prst="rect">
            <a:avLst/>
          </a:prstGeom>
          <a:noFill/>
          <a:ln/>
        </p:spPr>
        <p:txBody>
          <a:bodyPr wrap="square" lIns="0" tIns="0" rIns="0" bIns="0" rtlCol="0" anchor="ctr"/>
          <a:lstStyle/>
          <a:p>
            <a:pPr algn="ctr" indent="0" marL="0">
              <a:buNone/>
            </a:pPr>
            <a:r>
              <a:rPr lang="en-US" sz="1800" b="1" dirty="0">
                <a:solidFill>
                  <a:srgbClr val="8A6D14"/>
                </a:solidFill>
                <a:latin typeface="Georgia" pitchFamily="34" charset="0"/>
                <a:ea typeface="Georgia" pitchFamily="34" charset="-122"/>
                <a:cs typeface="Georgia" pitchFamily="34" charset="-120"/>
              </a:rPr>
              <a:t>02</a:t>
            </a:r>
            <a:endParaRPr lang="en-US" sz="1800" dirty="0"/>
          </a:p>
        </p:txBody>
      </p:sp>
      <p:sp>
        <p:nvSpPr>
          <p:cNvPr id="29" name="Shape 27"/>
          <p:cNvSpPr/>
          <p:nvPr/>
        </p:nvSpPr>
        <p:spPr>
          <a:xfrm>
            <a:off x="8524951" y="4808647"/>
            <a:ext cx="402336" cy="402336"/>
          </a:xfrm>
          <a:prstGeom prst="ellipse">
            <a:avLst/>
          </a:prstGeom>
          <a:solidFill>
            <a:srgbClr val="F7F3EA"/>
          </a:solidFill>
          <a:ln w="12700">
            <a:solidFill>
              <a:srgbClr val="C9A227"/>
            </a:solidFill>
            <a:prstDash val="solid"/>
          </a:ln>
        </p:spPr>
      </p:sp>
      <p:sp>
        <p:nvSpPr>
          <p:cNvPr id="30" name="Text 28"/>
          <p:cNvSpPr/>
          <p:nvPr/>
        </p:nvSpPr>
        <p:spPr>
          <a:xfrm>
            <a:off x="8524951" y="4808647"/>
            <a:ext cx="402336" cy="402336"/>
          </a:xfrm>
          <a:prstGeom prst="rect">
            <a:avLst/>
          </a:prstGeom>
          <a:noFill/>
          <a:ln/>
        </p:spPr>
        <p:txBody>
          <a:bodyPr wrap="square" lIns="0" tIns="0" rIns="0" bIns="0" rtlCol="0" anchor="ctr"/>
          <a:lstStyle/>
          <a:p>
            <a:pPr algn="ctr" indent="0" marL="0">
              <a:buNone/>
            </a:pPr>
            <a:r>
              <a:rPr lang="en-US" sz="1800" b="1" dirty="0">
                <a:solidFill>
                  <a:srgbClr val="8A6D14"/>
                </a:solidFill>
                <a:latin typeface="Georgia" pitchFamily="34" charset="0"/>
                <a:ea typeface="Georgia" pitchFamily="34" charset="-122"/>
                <a:cs typeface="Georgia" pitchFamily="34" charset="-120"/>
              </a:rPr>
              <a:t>03</a:t>
            </a:r>
            <a:endParaRPr lang="en-US" sz="1800" dirty="0"/>
          </a:p>
        </p:txBody>
      </p:sp>
      <p:sp>
        <p:nvSpPr>
          <p:cNvPr id="31" name="Shape 29"/>
          <p:cNvSpPr/>
          <p:nvPr/>
        </p:nvSpPr>
        <p:spPr>
          <a:xfrm>
            <a:off x="7208215" y="3491911"/>
            <a:ext cx="402336" cy="402336"/>
          </a:xfrm>
          <a:prstGeom prst="ellipse">
            <a:avLst/>
          </a:prstGeom>
          <a:solidFill>
            <a:srgbClr val="F7F3EA"/>
          </a:solidFill>
          <a:ln w="12700">
            <a:solidFill>
              <a:srgbClr val="C9A227"/>
            </a:solidFill>
            <a:prstDash val="solid"/>
          </a:ln>
        </p:spPr>
      </p:sp>
      <p:sp>
        <p:nvSpPr>
          <p:cNvPr id="32" name="Text 30"/>
          <p:cNvSpPr/>
          <p:nvPr/>
        </p:nvSpPr>
        <p:spPr>
          <a:xfrm>
            <a:off x="7208215" y="3491911"/>
            <a:ext cx="402336" cy="402336"/>
          </a:xfrm>
          <a:prstGeom prst="rect">
            <a:avLst/>
          </a:prstGeom>
          <a:noFill/>
          <a:ln/>
        </p:spPr>
        <p:txBody>
          <a:bodyPr wrap="square" lIns="0" tIns="0" rIns="0" bIns="0" rtlCol="0" anchor="ctr"/>
          <a:lstStyle/>
          <a:p>
            <a:pPr algn="ctr" indent="0" marL="0">
              <a:buNone/>
            </a:pPr>
            <a:r>
              <a:rPr lang="en-US" sz="1800" b="1" dirty="0">
                <a:solidFill>
                  <a:srgbClr val="8A6D14"/>
                </a:solidFill>
                <a:latin typeface="Georgia" pitchFamily="34" charset="0"/>
                <a:ea typeface="Georgia" pitchFamily="34" charset="-122"/>
                <a:cs typeface="Georgia" pitchFamily="34" charset="-120"/>
              </a:rPr>
              <a:t>04</a:t>
            </a:r>
            <a:endParaRPr lang="en-US" sz="1800" dirty="0"/>
          </a:p>
        </p:txBody>
      </p:sp>
      <p:sp>
        <p:nvSpPr>
          <p:cNvPr id="33" name="Text 31"/>
          <p:cNvSpPr/>
          <p:nvPr/>
        </p:nvSpPr>
        <p:spPr>
          <a:xfrm>
            <a:off x="813816" y="5302423"/>
            <a:ext cx="10570464" cy="411480"/>
          </a:xfrm>
          <a:prstGeom prst="rect">
            <a:avLst/>
          </a:prstGeom>
          <a:noFill/>
          <a:ln/>
        </p:spPr>
        <p:txBody>
          <a:bodyPr wrap="square" lIns="0" tIns="0" rIns="0" bIns="0" rtlCol="0" anchor="t"/>
          <a:lstStyle/>
          <a:p>
            <a:pPr algn="l" indent="0" marL="0">
              <a:lnSpc>
                <a:spcPct val="116000"/>
              </a:lnSpc>
              <a:buNone/>
            </a:pPr>
            <a:r>
              <a:rPr lang="en-US" sz="2000" i="1" dirty="0">
                <a:solidFill>
                  <a:srgbClr val="5A6379"/>
                </a:solidFill>
                <a:latin typeface="Arial" pitchFamily="34" charset="0"/>
                <a:ea typeface="Arial" pitchFamily="34" charset="-122"/>
                <a:cs typeface="Arial" pitchFamily="34" charset="-120"/>
              </a:rPr>
              <a:t>AI makes open loops cheap. That is the whole problem.</a:t>
            </a:r>
            <a:endParaRPr lang="en-US"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4213D"/>
        </a:solidFill>
      </p:bgPr>
    </p:bg>
    <p:spTree>
      <p:nvGrpSpPr>
        <p:cNvPr id="1" name=""/>
        <p:cNvGrpSpPr/>
        <p:nvPr/>
      </p:nvGrpSpPr>
      <p:grpSpPr>
        <a:xfrm>
          <a:off x="0" y="0"/>
          <a:ext cx="0" cy="0"/>
          <a:chOff x="0" y="0"/>
          <a:chExt cx="0" cy="0"/>
        </a:xfrm>
      </p:grpSpPr>
      <p:sp>
        <p:nvSpPr>
          <p:cNvPr id="2" name="Shape 0"/>
          <p:cNvSpPr/>
          <p:nvPr/>
        </p:nvSpPr>
        <p:spPr>
          <a:xfrm>
            <a:off x="813816" y="5779008"/>
            <a:ext cx="10570464" cy="0"/>
          </a:xfrm>
          <a:prstGeom prst="line">
            <a:avLst/>
          </a:prstGeom>
          <a:noFill/>
          <a:ln w="9525">
            <a:solidFill>
              <a:srgbClr val="C9A227"/>
            </a:solidFill>
            <a:prstDash val="solid"/>
          </a:ln>
        </p:spPr>
      </p:sp>
      <p:sp>
        <p:nvSpPr>
          <p:cNvPr id="3" name="Text 1"/>
          <p:cNvSpPr/>
          <p:nvPr/>
        </p:nvSpPr>
        <p:spPr>
          <a:xfrm>
            <a:off x="813816" y="5907024"/>
            <a:ext cx="3358896" cy="274320"/>
          </a:xfrm>
          <a:prstGeom prst="rect">
            <a:avLst/>
          </a:prstGeom>
          <a:noFill/>
          <a:ln/>
        </p:spPr>
        <p:txBody>
          <a:bodyPr wrap="square" lIns="0" tIns="0" rIns="0" bIns="0" rtlCol="0" anchor="ctr"/>
          <a:lstStyle/>
          <a:p>
            <a:pPr indent="0" marL="0">
              <a:buNone/>
            </a:pPr>
            <a:r>
              <a:rPr lang="en-US" sz="1600" spc="120" kern="0" dirty="0">
                <a:solidFill>
                  <a:srgbClr val="AFA893"/>
                </a:solidFill>
                <a:latin typeface="Arial" pitchFamily="34" charset="0"/>
                <a:ea typeface="Arial" pitchFamily="34" charset="-122"/>
                <a:cs typeface="Arial" pitchFamily="34" charset="-120"/>
              </a:rPr>
              <a:t>BUILD YOUR OWN DONNA</a:t>
            </a:r>
            <a:endParaRPr lang="en-US" sz="1600" dirty="0"/>
          </a:p>
        </p:txBody>
      </p:sp>
      <p:sp>
        <p:nvSpPr>
          <p:cNvPr id="4" name="Shape 2"/>
          <p:cNvSpPr/>
          <p:nvPr/>
        </p:nvSpPr>
        <p:spPr>
          <a:xfrm rot="2700000">
            <a:off x="4227576" y="6012180"/>
            <a:ext cx="64008" cy="64008"/>
          </a:xfrm>
          <a:prstGeom prst="rect">
            <a:avLst/>
          </a:prstGeom>
          <a:solidFill>
            <a:srgbClr val="C9A227"/>
          </a:solidFill>
          <a:ln w="3175">
            <a:solidFill>
              <a:srgbClr val="C9A227"/>
            </a:solidFill>
            <a:prstDash val="solid"/>
          </a:ln>
        </p:spPr>
      </p:sp>
      <p:sp>
        <p:nvSpPr>
          <p:cNvPr id="5" name="Text 3"/>
          <p:cNvSpPr/>
          <p:nvPr/>
        </p:nvSpPr>
        <p:spPr>
          <a:xfrm>
            <a:off x="4410456" y="5907024"/>
            <a:ext cx="2712720" cy="274320"/>
          </a:xfrm>
          <a:prstGeom prst="rect">
            <a:avLst/>
          </a:prstGeom>
          <a:noFill/>
          <a:ln/>
        </p:spPr>
        <p:txBody>
          <a:bodyPr wrap="square" lIns="0" tIns="0" rIns="0" bIns="0" rtlCol="0" anchor="ctr"/>
          <a:lstStyle/>
          <a:p>
            <a:pPr indent="0" marL="0">
              <a:buNone/>
            </a:pPr>
            <a:r>
              <a:rPr lang="en-US" sz="1600" spc="120" kern="0" dirty="0">
                <a:solidFill>
                  <a:srgbClr val="AFA893"/>
                </a:solidFill>
                <a:latin typeface="Arial" pitchFamily="34" charset="0"/>
                <a:ea typeface="Arial" pitchFamily="34" charset="-122"/>
                <a:cs typeface="Arial" pitchFamily="34" charset="-120"/>
              </a:rPr>
              <a:t>OCTOBER 21, 2026</a:t>
            </a:r>
            <a:endParaRPr lang="en-US" sz="1600" dirty="0"/>
          </a:p>
        </p:txBody>
      </p:sp>
      <p:sp>
        <p:nvSpPr>
          <p:cNvPr id="6" name="Text 4"/>
          <p:cNvSpPr/>
          <p:nvPr/>
        </p:nvSpPr>
        <p:spPr>
          <a:xfrm>
            <a:off x="10652760" y="5907024"/>
            <a:ext cx="731520" cy="274320"/>
          </a:xfrm>
          <a:prstGeom prst="rect">
            <a:avLst/>
          </a:prstGeom>
          <a:noFill/>
          <a:ln/>
        </p:spPr>
        <p:txBody>
          <a:bodyPr wrap="square" lIns="0" tIns="0" rIns="0" bIns="0" rtlCol="0" anchor="ctr"/>
          <a:lstStyle/>
          <a:p>
            <a:pPr algn="r" indent="0" marL="0">
              <a:buNone/>
            </a:pPr>
            <a:r>
              <a:rPr lang="en-US" sz="1600" spc="120" kern="0" dirty="0">
                <a:solidFill>
                  <a:srgbClr val="AFA893"/>
                </a:solidFill>
                <a:latin typeface="Arial" pitchFamily="34" charset="0"/>
                <a:ea typeface="Arial" pitchFamily="34" charset="-122"/>
                <a:cs typeface="Arial" pitchFamily="34" charset="-120"/>
              </a:rPr>
              <a:t>5</a:t>
            </a:r>
            <a:endParaRPr lang="en-US" sz="1600" dirty="0"/>
          </a:p>
        </p:txBody>
      </p:sp>
      <p:sp>
        <p:nvSpPr>
          <p:cNvPr id="7" name="Text 5"/>
          <p:cNvSpPr/>
          <p:nvPr/>
        </p:nvSpPr>
        <p:spPr>
          <a:xfrm>
            <a:off x="813816" y="457200"/>
            <a:ext cx="10570464" cy="310896"/>
          </a:xfrm>
          <a:prstGeom prst="rect">
            <a:avLst/>
          </a:prstGeom>
          <a:noFill/>
          <a:ln/>
        </p:spPr>
        <p:txBody>
          <a:bodyPr wrap="square" lIns="0" tIns="0" rIns="0" bIns="0" rtlCol="0" anchor="ctr"/>
          <a:lstStyle/>
          <a:p>
            <a:pPr indent="0" marL="0">
              <a:buNone/>
            </a:pPr>
            <a:r>
              <a:rPr lang="en-US" sz="1600" b="1" spc="180" kern="0" dirty="0">
                <a:solidFill>
                  <a:srgbClr val="E7C766"/>
                </a:solidFill>
                <a:latin typeface="Arial" pitchFamily="34" charset="0"/>
                <a:ea typeface="Arial" pitchFamily="34" charset="-122"/>
                <a:cs typeface="Arial" pitchFamily="34" charset="-120"/>
              </a:rPr>
              <a:t>ANY WORKFLOW YOU CAN DESCRIBE</a:t>
            </a:r>
            <a:endParaRPr lang="en-US" sz="1600" dirty="0"/>
          </a:p>
        </p:txBody>
      </p:sp>
      <p:sp>
        <p:nvSpPr>
          <p:cNvPr id="8" name="Text 6"/>
          <p:cNvSpPr/>
          <p:nvPr/>
        </p:nvSpPr>
        <p:spPr>
          <a:xfrm>
            <a:off x="813816" y="841248"/>
            <a:ext cx="10570464" cy="751027"/>
          </a:xfrm>
          <a:prstGeom prst="rect">
            <a:avLst/>
          </a:prstGeom>
          <a:noFill/>
          <a:ln/>
        </p:spPr>
        <p:txBody>
          <a:bodyPr wrap="square" lIns="0" tIns="0" rIns="0" bIns="0" rtlCol="0" anchor="t"/>
          <a:lstStyle/>
          <a:p>
            <a:pPr indent="0" marL="0">
              <a:lnSpc>
                <a:spcPct val="94000"/>
              </a:lnSpc>
              <a:buNone/>
            </a:pPr>
            <a:r>
              <a:rPr lang="en-US" sz="4000" b="1" dirty="0">
                <a:solidFill>
                  <a:srgbClr val="F7F3EA"/>
                </a:solidFill>
                <a:latin typeface="Georgia" pitchFamily="34" charset="0"/>
                <a:ea typeface="Georgia" pitchFamily="34" charset="-122"/>
                <a:cs typeface="Georgia" pitchFamily="34" charset="-120"/>
              </a:rPr>
              <a:t>Every workflow is a loop.</a:t>
            </a:r>
            <a:endParaRPr lang="en-US" sz="4000" dirty="0"/>
          </a:p>
        </p:txBody>
      </p:sp>
      <p:sp>
        <p:nvSpPr>
          <p:cNvPr id="9" name="Shape 7"/>
          <p:cNvSpPr/>
          <p:nvPr/>
        </p:nvSpPr>
        <p:spPr>
          <a:xfrm>
            <a:off x="2542642" y="2460955"/>
            <a:ext cx="2047037" cy="2047037"/>
          </a:xfrm>
          <a:prstGeom prst="ellipse">
            <a:avLst/>
          </a:prstGeom>
          <a:ln w="12700">
            <a:solidFill>
              <a:srgbClr val="C9A227"/>
            </a:solidFill>
            <a:prstDash val="solid"/>
          </a:ln>
        </p:spPr>
      </p:sp>
      <p:sp>
        <p:nvSpPr>
          <p:cNvPr id="10" name="Shape 8"/>
          <p:cNvSpPr/>
          <p:nvPr/>
        </p:nvSpPr>
        <p:spPr>
          <a:xfrm rot="8100000">
            <a:off x="4242348" y="2695357"/>
            <a:ext cx="95098" cy="130759"/>
          </a:xfrm>
          <a:prstGeom prst="triangle">
            <a:avLst/>
          </a:prstGeom>
          <a:solidFill>
            <a:srgbClr val="C9A227"/>
          </a:solidFill>
          <a:ln/>
        </p:spPr>
      </p:sp>
      <p:sp>
        <p:nvSpPr>
          <p:cNvPr id="11" name="Shape 9"/>
          <p:cNvSpPr/>
          <p:nvPr/>
        </p:nvSpPr>
        <p:spPr>
          <a:xfrm rot="13500000">
            <a:off x="4242348" y="4142831"/>
            <a:ext cx="95098" cy="130759"/>
          </a:xfrm>
          <a:prstGeom prst="triangle">
            <a:avLst/>
          </a:prstGeom>
          <a:solidFill>
            <a:srgbClr val="C9A227"/>
          </a:solidFill>
          <a:ln/>
        </p:spPr>
      </p:sp>
      <p:sp>
        <p:nvSpPr>
          <p:cNvPr id="12" name="Shape 10"/>
          <p:cNvSpPr/>
          <p:nvPr/>
        </p:nvSpPr>
        <p:spPr>
          <a:xfrm rot="18900000">
            <a:off x="2794874" y="4142831"/>
            <a:ext cx="95098" cy="130759"/>
          </a:xfrm>
          <a:prstGeom prst="triangle">
            <a:avLst/>
          </a:prstGeom>
          <a:solidFill>
            <a:srgbClr val="C9A227"/>
          </a:solidFill>
          <a:ln/>
        </p:spPr>
      </p:sp>
      <p:sp>
        <p:nvSpPr>
          <p:cNvPr id="13" name="Shape 11"/>
          <p:cNvSpPr/>
          <p:nvPr/>
        </p:nvSpPr>
        <p:spPr>
          <a:xfrm rot="2700000">
            <a:off x="2794874" y="2695357"/>
            <a:ext cx="95098" cy="130759"/>
          </a:xfrm>
          <a:prstGeom prst="triangle">
            <a:avLst/>
          </a:prstGeom>
          <a:solidFill>
            <a:srgbClr val="C9A227"/>
          </a:solidFill>
          <a:ln/>
        </p:spPr>
      </p:sp>
      <p:sp>
        <p:nvSpPr>
          <p:cNvPr id="14" name="Shape 12"/>
          <p:cNvSpPr/>
          <p:nvPr/>
        </p:nvSpPr>
        <p:spPr>
          <a:xfrm>
            <a:off x="2972519" y="2890833"/>
            <a:ext cx="1187281" cy="1187281"/>
          </a:xfrm>
          <a:prstGeom prst="ellipse">
            <a:avLst/>
          </a:prstGeom>
          <a:solidFill>
            <a:srgbClr val="F7F3EA"/>
          </a:solidFill>
          <a:ln/>
        </p:spPr>
      </p:sp>
      <p:sp>
        <p:nvSpPr>
          <p:cNvPr id="15" name="Text 13"/>
          <p:cNvSpPr/>
          <p:nvPr/>
        </p:nvSpPr>
        <p:spPr>
          <a:xfrm>
            <a:off x="3018239" y="3220314"/>
            <a:ext cx="1095841" cy="528320"/>
          </a:xfrm>
          <a:prstGeom prst="rect">
            <a:avLst/>
          </a:prstGeom>
          <a:noFill/>
          <a:ln/>
        </p:spPr>
        <p:txBody>
          <a:bodyPr wrap="square" lIns="0" tIns="0" rIns="0" bIns="0" rtlCol="0" anchor="ctr"/>
          <a:lstStyle/>
          <a:p>
            <a:pPr algn="ctr" indent="0" marL="0">
              <a:lnSpc>
                <a:spcPct val="102000"/>
              </a:lnSpc>
              <a:buNone/>
            </a:pPr>
            <a:r>
              <a:rPr lang="en-US" sz="1600" b="1" dirty="0">
                <a:solidFill>
                  <a:srgbClr val="14213D"/>
                </a:solidFill>
                <a:latin typeface="Georgia" pitchFamily="34" charset="0"/>
                <a:ea typeface="Georgia" pitchFamily="34" charset="-122"/>
                <a:cs typeface="Georgia" pitchFamily="34" charset="-120"/>
              </a:rPr>
              <a:t>THE</a:t>
            </a:r>
            <a:endParaRPr lang="en-US" sz="1600" dirty="0"/>
          </a:p>
          <a:p>
            <a:pPr algn="ctr" indent="0" marL="0">
              <a:lnSpc>
                <a:spcPct val="102000"/>
              </a:lnSpc>
              <a:buNone/>
            </a:pPr>
            <a:r>
              <a:rPr lang="en-US" sz="1600" b="1" dirty="0">
                <a:solidFill>
                  <a:srgbClr val="14213D"/>
                </a:solidFill>
                <a:latin typeface="Georgia" pitchFamily="34" charset="0"/>
                <a:ea typeface="Georgia" pitchFamily="34" charset="-122"/>
                <a:cs typeface="Georgia" pitchFamily="34" charset="-120"/>
              </a:rPr>
              <a:t>WORK</a:t>
            </a:r>
            <a:endParaRPr lang="en-US" sz="1600" dirty="0"/>
          </a:p>
        </p:txBody>
      </p:sp>
      <p:sp>
        <p:nvSpPr>
          <p:cNvPr id="16" name="Shape 14"/>
          <p:cNvSpPr/>
          <p:nvPr/>
        </p:nvSpPr>
        <p:spPr>
          <a:xfrm>
            <a:off x="3282696" y="2177491"/>
            <a:ext cx="566928" cy="566928"/>
          </a:xfrm>
          <a:prstGeom prst="ellipse">
            <a:avLst/>
          </a:prstGeom>
          <a:solidFill>
            <a:srgbClr val="14213D"/>
          </a:solidFill>
          <a:ln w="12700">
            <a:solidFill>
              <a:srgbClr val="C9A227"/>
            </a:solidFill>
            <a:prstDash val="solid"/>
          </a:ln>
        </p:spPr>
      </p:sp>
      <p:sp>
        <p:nvSpPr>
          <p:cNvPr id="17" name="Text 15"/>
          <p:cNvSpPr/>
          <p:nvPr/>
        </p:nvSpPr>
        <p:spPr>
          <a:xfrm>
            <a:off x="3282696" y="2177491"/>
            <a:ext cx="566928" cy="566928"/>
          </a:xfrm>
          <a:prstGeom prst="rect">
            <a:avLst/>
          </a:prstGeom>
          <a:noFill/>
          <a:ln/>
        </p:spPr>
        <p:txBody>
          <a:bodyPr wrap="square" lIns="0" tIns="0" rIns="0" bIns="0" rtlCol="0" anchor="ctr"/>
          <a:lstStyle/>
          <a:p>
            <a:pPr algn="ctr" indent="0" marL="0">
              <a:buNone/>
            </a:pPr>
            <a:r>
              <a:rPr lang="en-US" sz="1600" b="1" dirty="0">
                <a:solidFill>
                  <a:srgbClr val="E7C766"/>
                </a:solidFill>
                <a:latin typeface="Georgia" pitchFamily="34" charset="0"/>
                <a:ea typeface="Georgia" pitchFamily="34" charset="-122"/>
                <a:cs typeface="Georgia" pitchFamily="34" charset="-120"/>
              </a:rPr>
              <a:t>01</a:t>
            </a:r>
            <a:endParaRPr lang="en-US" sz="1600" dirty="0"/>
          </a:p>
        </p:txBody>
      </p:sp>
      <p:sp>
        <p:nvSpPr>
          <p:cNvPr id="18" name="Text 16"/>
          <p:cNvSpPr/>
          <p:nvPr/>
        </p:nvSpPr>
        <p:spPr>
          <a:xfrm>
            <a:off x="2697480" y="1756867"/>
            <a:ext cx="1737360" cy="347472"/>
          </a:xfrm>
          <a:prstGeom prst="rect">
            <a:avLst/>
          </a:prstGeom>
          <a:noFill/>
          <a:ln/>
        </p:spPr>
        <p:txBody>
          <a:bodyPr wrap="square" lIns="0" tIns="0" rIns="0" bIns="0" rtlCol="0" anchor="ctr"/>
          <a:lstStyle/>
          <a:p>
            <a:pPr algn="ctr" indent="0" marL="0">
              <a:buNone/>
            </a:pPr>
            <a:r>
              <a:rPr lang="en-US" sz="1600" b="1" spc="120" kern="0" dirty="0">
                <a:solidFill>
                  <a:srgbClr val="E7C766"/>
                </a:solidFill>
                <a:latin typeface="Arial" pitchFamily="34" charset="0"/>
                <a:ea typeface="Arial" pitchFamily="34" charset="-122"/>
                <a:cs typeface="Arial" pitchFamily="34" charset="-120"/>
              </a:rPr>
              <a:t>CONNECT</a:t>
            </a:r>
            <a:endParaRPr lang="en-US" sz="1600" dirty="0"/>
          </a:p>
        </p:txBody>
      </p:sp>
      <p:sp>
        <p:nvSpPr>
          <p:cNvPr id="19" name="Shape 17"/>
          <p:cNvSpPr/>
          <p:nvPr/>
        </p:nvSpPr>
        <p:spPr>
          <a:xfrm>
            <a:off x="4306214" y="3201010"/>
            <a:ext cx="566928" cy="566928"/>
          </a:xfrm>
          <a:prstGeom prst="ellipse">
            <a:avLst/>
          </a:prstGeom>
          <a:solidFill>
            <a:srgbClr val="14213D"/>
          </a:solidFill>
          <a:ln w="12700">
            <a:solidFill>
              <a:srgbClr val="C9A227"/>
            </a:solidFill>
            <a:prstDash val="solid"/>
          </a:ln>
        </p:spPr>
      </p:sp>
      <p:sp>
        <p:nvSpPr>
          <p:cNvPr id="20" name="Text 18"/>
          <p:cNvSpPr/>
          <p:nvPr/>
        </p:nvSpPr>
        <p:spPr>
          <a:xfrm>
            <a:off x="4306214" y="3201010"/>
            <a:ext cx="566928" cy="566928"/>
          </a:xfrm>
          <a:prstGeom prst="rect">
            <a:avLst/>
          </a:prstGeom>
          <a:noFill/>
          <a:ln/>
        </p:spPr>
        <p:txBody>
          <a:bodyPr wrap="square" lIns="0" tIns="0" rIns="0" bIns="0" rtlCol="0" anchor="ctr"/>
          <a:lstStyle/>
          <a:p>
            <a:pPr algn="ctr" indent="0" marL="0">
              <a:buNone/>
            </a:pPr>
            <a:r>
              <a:rPr lang="en-US" sz="1600" b="1" dirty="0">
                <a:solidFill>
                  <a:srgbClr val="E7C766"/>
                </a:solidFill>
                <a:latin typeface="Georgia" pitchFamily="34" charset="0"/>
                <a:ea typeface="Georgia" pitchFamily="34" charset="-122"/>
                <a:cs typeface="Georgia" pitchFamily="34" charset="-120"/>
              </a:rPr>
              <a:t>02</a:t>
            </a:r>
            <a:endParaRPr lang="en-US" sz="1600" dirty="0"/>
          </a:p>
        </p:txBody>
      </p:sp>
      <p:sp>
        <p:nvSpPr>
          <p:cNvPr id="21" name="Text 19"/>
          <p:cNvSpPr/>
          <p:nvPr/>
        </p:nvSpPr>
        <p:spPr>
          <a:xfrm>
            <a:off x="5001158" y="3310738"/>
            <a:ext cx="917448" cy="347472"/>
          </a:xfrm>
          <a:prstGeom prst="rect">
            <a:avLst/>
          </a:prstGeom>
          <a:noFill/>
          <a:ln/>
        </p:spPr>
        <p:txBody>
          <a:bodyPr wrap="square" lIns="0" tIns="0" rIns="0" bIns="0" rtlCol="0" anchor="ctr"/>
          <a:lstStyle/>
          <a:p>
            <a:pPr algn="l" indent="0" marL="0">
              <a:buNone/>
            </a:pPr>
            <a:r>
              <a:rPr lang="en-US" sz="1600" b="1" spc="120" kern="0" dirty="0">
                <a:solidFill>
                  <a:srgbClr val="E7C766"/>
                </a:solidFill>
                <a:latin typeface="Arial" pitchFamily="34" charset="0"/>
                <a:ea typeface="Arial" pitchFamily="34" charset="-122"/>
                <a:cs typeface="Arial" pitchFamily="34" charset="-120"/>
              </a:rPr>
              <a:t>TEACH</a:t>
            </a:r>
            <a:endParaRPr lang="en-US" sz="1600" dirty="0"/>
          </a:p>
        </p:txBody>
      </p:sp>
      <p:sp>
        <p:nvSpPr>
          <p:cNvPr id="22" name="Shape 20"/>
          <p:cNvSpPr/>
          <p:nvPr/>
        </p:nvSpPr>
        <p:spPr>
          <a:xfrm>
            <a:off x="3282696" y="4224528"/>
            <a:ext cx="566928" cy="566928"/>
          </a:xfrm>
          <a:prstGeom prst="ellipse">
            <a:avLst/>
          </a:prstGeom>
          <a:solidFill>
            <a:srgbClr val="14213D"/>
          </a:solidFill>
          <a:ln w="12700">
            <a:solidFill>
              <a:srgbClr val="C9A227"/>
            </a:solidFill>
            <a:prstDash val="solid"/>
          </a:ln>
        </p:spPr>
      </p:sp>
      <p:sp>
        <p:nvSpPr>
          <p:cNvPr id="23" name="Text 21"/>
          <p:cNvSpPr/>
          <p:nvPr/>
        </p:nvSpPr>
        <p:spPr>
          <a:xfrm>
            <a:off x="3282696" y="4224528"/>
            <a:ext cx="566928" cy="566928"/>
          </a:xfrm>
          <a:prstGeom prst="rect">
            <a:avLst/>
          </a:prstGeom>
          <a:noFill/>
          <a:ln/>
        </p:spPr>
        <p:txBody>
          <a:bodyPr wrap="square" lIns="0" tIns="0" rIns="0" bIns="0" rtlCol="0" anchor="ctr"/>
          <a:lstStyle/>
          <a:p>
            <a:pPr algn="ctr" indent="0" marL="0">
              <a:buNone/>
            </a:pPr>
            <a:r>
              <a:rPr lang="en-US" sz="1600" b="1" dirty="0">
                <a:solidFill>
                  <a:srgbClr val="E7C766"/>
                </a:solidFill>
                <a:latin typeface="Georgia" pitchFamily="34" charset="0"/>
                <a:ea typeface="Georgia" pitchFamily="34" charset="-122"/>
                <a:cs typeface="Georgia" pitchFamily="34" charset="-120"/>
              </a:rPr>
              <a:t>03</a:t>
            </a:r>
            <a:endParaRPr lang="en-US" sz="1600" dirty="0"/>
          </a:p>
        </p:txBody>
      </p:sp>
      <p:sp>
        <p:nvSpPr>
          <p:cNvPr id="24" name="Text 22"/>
          <p:cNvSpPr/>
          <p:nvPr/>
        </p:nvSpPr>
        <p:spPr>
          <a:xfrm>
            <a:off x="2697480" y="4864608"/>
            <a:ext cx="1737360" cy="347472"/>
          </a:xfrm>
          <a:prstGeom prst="rect">
            <a:avLst/>
          </a:prstGeom>
          <a:noFill/>
          <a:ln/>
        </p:spPr>
        <p:txBody>
          <a:bodyPr wrap="square" lIns="0" tIns="0" rIns="0" bIns="0" rtlCol="0" anchor="ctr"/>
          <a:lstStyle/>
          <a:p>
            <a:pPr algn="ctr" indent="0" marL="0">
              <a:buNone/>
            </a:pPr>
            <a:r>
              <a:rPr lang="en-US" sz="1600" b="1" spc="120" kern="0" dirty="0">
                <a:solidFill>
                  <a:srgbClr val="E7C766"/>
                </a:solidFill>
                <a:latin typeface="Arial" pitchFamily="34" charset="0"/>
                <a:ea typeface="Arial" pitchFamily="34" charset="-122"/>
                <a:cs typeface="Arial" pitchFamily="34" charset="-120"/>
              </a:rPr>
              <a:t>RUN</a:t>
            </a:r>
            <a:endParaRPr lang="en-US" sz="1600" dirty="0"/>
          </a:p>
        </p:txBody>
      </p:sp>
      <p:sp>
        <p:nvSpPr>
          <p:cNvPr id="25" name="Shape 23"/>
          <p:cNvSpPr/>
          <p:nvPr/>
        </p:nvSpPr>
        <p:spPr>
          <a:xfrm>
            <a:off x="2259178" y="3201010"/>
            <a:ext cx="566928" cy="566928"/>
          </a:xfrm>
          <a:prstGeom prst="ellipse">
            <a:avLst/>
          </a:prstGeom>
          <a:solidFill>
            <a:srgbClr val="14213D"/>
          </a:solidFill>
          <a:ln w="12700">
            <a:solidFill>
              <a:srgbClr val="C9A227"/>
            </a:solidFill>
            <a:prstDash val="solid"/>
          </a:ln>
        </p:spPr>
      </p:sp>
      <p:sp>
        <p:nvSpPr>
          <p:cNvPr id="26" name="Text 24"/>
          <p:cNvSpPr/>
          <p:nvPr/>
        </p:nvSpPr>
        <p:spPr>
          <a:xfrm>
            <a:off x="2259178" y="3201010"/>
            <a:ext cx="566928" cy="566928"/>
          </a:xfrm>
          <a:prstGeom prst="rect">
            <a:avLst/>
          </a:prstGeom>
          <a:noFill/>
          <a:ln/>
        </p:spPr>
        <p:txBody>
          <a:bodyPr wrap="square" lIns="0" tIns="0" rIns="0" bIns="0" rtlCol="0" anchor="ctr"/>
          <a:lstStyle/>
          <a:p>
            <a:pPr algn="ctr" indent="0" marL="0">
              <a:buNone/>
            </a:pPr>
            <a:r>
              <a:rPr lang="en-US" sz="1600" b="1" dirty="0">
                <a:solidFill>
                  <a:srgbClr val="E7C766"/>
                </a:solidFill>
                <a:latin typeface="Georgia" pitchFamily="34" charset="0"/>
                <a:ea typeface="Georgia" pitchFamily="34" charset="-122"/>
                <a:cs typeface="Georgia" pitchFamily="34" charset="-120"/>
              </a:rPr>
              <a:t>04</a:t>
            </a:r>
            <a:endParaRPr lang="en-US" sz="1600" dirty="0"/>
          </a:p>
        </p:txBody>
      </p:sp>
      <p:sp>
        <p:nvSpPr>
          <p:cNvPr id="27" name="Text 25"/>
          <p:cNvSpPr/>
          <p:nvPr/>
        </p:nvSpPr>
        <p:spPr>
          <a:xfrm>
            <a:off x="890626" y="3310738"/>
            <a:ext cx="1240536" cy="347472"/>
          </a:xfrm>
          <a:prstGeom prst="rect">
            <a:avLst/>
          </a:prstGeom>
          <a:noFill/>
          <a:ln/>
        </p:spPr>
        <p:txBody>
          <a:bodyPr wrap="square" lIns="0" tIns="0" rIns="0" bIns="0" rtlCol="0" anchor="ctr"/>
          <a:lstStyle/>
          <a:p>
            <a:pPr algn="r" indent="0" marL="0">
              <a:buNone/>
            </a:pPr>
            <a:r>
              <a:rPr lang="en-US" sz="1600" b="1" spc="120" kern="0" dirty="0">
                <a:solidFill>
                  <a:srgbClr val="E7C766"/>
                </a:solidFill>
                <a:latin typeface="Arial" pitchFamily="34" charset="0"/>
                <a:ea typeface="Arial" pitchFamily="34" charset="-122"/>
                <a:cs typeface="Arial" pitchFamily="34" charset="-120"/>
              </a:rPr>
              <a:t>RETRAIN</a:t>
            </a:r>
            <a:endParaRPr lang="en-US" sz="1600" dirty="0"/>
          </a:p>
        </p:txBody>
      </p:sp>
      <p:sp>
        <p:nvSpPr>
          <p:cNvPr id="28" name="Text 26"/>
          <p:cNvSpPr/>
          <p:nvPr/>
        </p:nvSpPr>
        <p:spPr>
          <a:xfrm>
            <a:off x="6675120" y="1793443"/>
            <a:ext cx="4709160" cy="347472"/>
          </a:xfrm>
          <a:prstGeom prst="rect">
            <a:avLst/>
          </a:prstGeom>
          <a:noFill/>
          <a:ln/>
        </p:spPr>
        <p:txBody>
          <a:bodyPr wrap="square" lIns="0" tIns="0" rIns="0" bIns="0" rtlCol="0" anchor="t"/>
          <a:lstStyle/>
          <a:p>
            <a:pPr indent="0" marL="0">
              <a:buNone/>
            </a:pPr>
            <a:r>
              <a:rPr lang="en-US" sz="1600" b="1" dirty="0">
                <a:solidFill>
                  <a:srgbClr val="E7C766"/>
                </a:solidFill>
                <a:latin typeface="Arial" pitchFamily="34" charset="0"/>
                <a:ea typeface="Arial" pitchFamily="34" charset="-122"/>
                <a:cs typeface="Arial" pitchFamily="34" charset="-120"/>
              </a:rPr>
              <a:t>01  </a:t>
            </a:r>
            <a:pPr indent="0" marL="0">
              <a:buNone/>
            </a:pPr>
            <a:r>
              <a:rPr lang="en-US" sz="1600" b="1" spc="100" kern="0" dirty="0">
                <a:solidFill>
                  <a:srgbClr val="F7F3EA"/>
                </a:solidFill>
                <a:latin typeface="Arial" pitchFamily="34" charset="0"/>
                <a:ea typeface="Arial" pitchFamily="34" charset="-122"/>
                <a:cs typeface="Arial" pitchFamily="34" charset="-120"/>
              </a:rPr>
              <a:t>CONNECT</a:t>
            </a:r>
            <a:endParaRPr lang="en-US" sz="1600" dirty="0"/>
          </a:p>
        </p:txBody>
      </p:sp>
      <p:sp>
        <p:nvSpPr>
          <p:cNvPr id="29" name="Text 27"/>
          <p:cNvSpPr/>
          <p:nvPr/>
        </p:nvSpPr>
        <p:spPr>
          <a:xfrm>
            <a:off x="6675120" y="2159203"/>
            <a:ext cx="4709160" cy="347472"/>
          </a:xfrm>
          <a:prstGeom prst="rect">
            <a:avLst/>
          </a:prstGeom>
          <a:noFill/>
          <a:ln/>
        </p:spPr>
        <p:txBody>
          <a:bodyPr wrap="square" lIns="0" tIns="0" rIns="0" bIns="0" rtlCol="0" anchor="t"/>
          <a:lstStyle/>
          <a:p>
            <a:pPr indent="0" marL="0">
              <a:lnSpc>
                <a:spcPct val="116000"/>
              </a:lnSpc>
              <a:buNone/>
            </a:pPr>
            <a:r>
              <a:rPr lang="en-US" sz="1600" dirty="0">
                <a:solidFill>
                  <a:srgbClr val="F7F3EA"/>
                </a:solidFill>
                <a:latin typeface="Arial" pitchFamily="34" charset="0"/>
                <a:ea typeface="Arial" pitchFamily="34" charset="-122"/>
                <a:cs typeface="Arial" pitchFamily="34" charset="-120"/>
              </a:rPr>
              <a:t>Work comes in.</a:t>
            </a:r>
            <a:endParaRPr lang="en-US" sz="1600" dirty="0"/>
          </a:p>
        </p:txBody>
      </p:sp>
      <p:sp>
        <p:nvSpPr>
          <p:cNvPr id="30" name="Text 28"/>
          <p:cNvSpPr/>
          <p:nvPr/>
        </p:nvSpPr>
        <p:spPr>
          <a:xfrm>
            <a:off x="6675120" y="2616403"/>
            <a:ext cx="4709160" cy="347472"/>
          </a:xfrm>
          <a:prstGeom prst="rect">
            <a:avLst/>
          </a:prstGeom>
          <a:noFill/>
          <a:ln/>
        </p:spPr>
        <p:txBody>
          <a:bodyPr wrap="square" lIns="0" tIns="0" rIns="0" bIns="0" rtlCol="0" anchor="t"/>
          <a:lstStyle/>
          <a:p>
            <a:pPr indent="0" marL="0">
              <a:buNone/>
            </a:pPr>
            <a:r>
              <a:rPr lang="en-US" sz="1600" b="1" dirty="0">
                <a:solidFill>
                  <a:srgbClr val="E7C766"/>
                </a:solidFill>
                <a:latin typeface="Arial" pitchFamily="34" charset="0"/>
                <a:ea typeface="Arial" pitchFamily="34" charset="-122"/>
                <a:cs typeface="Arial" pitchFamily="34" charset="-120"/>
              </a:rPr>
              <a:t>02  </a:t>
            </a:r>
            <a:pPr indent="0" marL="0">
              <a:buNone/>
            </a:pPr>
            <a:r>
              <a:rPr lang="en-US" sz="1600" b="1" spc="100" kern="0" dirty="0">
                <a:solidFill>
                  <a:srgbClr val="F7F3EA"/>
                </a:solidFill>
                <a:latin typeface="Arial" pitchFamily="34" charset="0"/>
                <a:ea typeface="Arial" pitchFamily="34" charset="-122"/>
                <a:cs typeface="Arial" pitchFamily="34" charset="-120"/>
              </a:rPr>
              <a:t>TEACH</a:t>
            </a:r>
            <a:endParaRPr lang="en-US" sz="1600" dirty="0"/>
          </a:p>
        </p:txBody>
      </p:sp>
      <p:sp>
        <p:nvSpPr>
          <p:cNvPr id="31" name="Text 29"/>
          <p:cNvSpPr/>
          <p:nvPr/>
        </p:nvSpPr>
        <p:spPr>
          <a:xfrm>
            <a:off x="6675120" y="2982163"/>
            <a:ext cx="4709160" cy="347472"/>
          </a:xfrm>
          <a:prstGeom prst="rect">
            <a:avLst/>
          </a:prstGeom>
          <a:noFill/>
          <a:ln/>
        </p:spPr>
        <p:txBody>
          <a:bodyPr wrap="square" lIns="0" tIns="0" rIns="0" bIns="0" rtlCol="0" anchor="t"/>
          <a:lstStyle/>
          <a:p>
            <a:pPr indent="0" marL="0">
              <a:lnSpc>
                <a:spcPct val="116000"/>
              </a:lnSpc>
              <a:buNone/>
            </a:pPr>
            <a:r>
              <a:rPr lang="en-US" sz="1600" dirty="0">
                <a:solidFill>
                  <a:srgbClr val="F7F3EA"/>
                </a:solidFill>
                <a:latin typeface="Arial" pitchFamily="34" charset="0"/>
                <a:ea typeface="Arial" pitchFamily="34" charset="-122"/>
                <a:cs typeface="Arial" pitchFamily="34" charset="-120"/>
              </a:rPr>
              <a:t>Write the rules down once.</a:t>
            </a:r>
            <a:endParaRPr lang="en-US" sz="1600" dirty="0"/>
          </a:p>
        </p:txBody>
      </p:sp>
      <p:sp>
        <p:nvSpPr>
          <p:cNvPr id="32" name="Text 30"/>
          <p:cNvSpPr/>
          <p:nvPr/>
        </p:nvSpPr>
        <p:spPr>
          <a:xfrm>
            <a:off x="6675120" y="3439363"/>
            <a:ext cx="4709160" cy="347472"/>
          </a:xfrm>
          <a:prstGeom prst="rect">
            <a:avLst/>
          </a:prstGeom>
          <a:noFill/>
          <a:ln/>
        </p:spPr>
        <p:txBody>
          <a:bodyPr wrap="square" lIns="0" tIns="0" rIns="0" bIns="0" rtlCol="0" anchor="t"/>
          <a:lstStyle/>
          <a:p>
            <a:pPr indent="0" marL="0">
              <a:buNone/>
            </a:pPr>
            <a:r>
              <a:rPr lang="en-US" sz="1600" b="1" dirty="0">
                <a:solidFill>
                  <a:srgbClr val="E7C766"/>
                </a:solidFill>
                <a:latin typeface="Arial" pitchFamily="34" charset="0"/>
                <a:ea typeface="Arial" pitchFamily="34" charset="-122"/>
                <a:cs typeface="Arial" pitchFamily="34" charset="-120"/>
              </a:rPr>
              <a:t>03  </a:t>
            </a:r>
            <a:pPr indent="0" marL="0">
              <a:buNone/>
            </a:pPr>
            <a:r>
              <a:rPr lang="en-US" sz="1600" b="1" spc="100" kern="0" dirty="0">
                <a:solidFill>
                  <a:srgbClr val="F7F3EA"/>
                </a:solidFill>
                <a:latin typeface="Arial" pitchFamily="34" charset="0"/>
                <a:ea typeface="Arial" pitchFamily="34" charset="-122"/>
                <a:cs typeface="Arial" pitchFamily="34" charset="-120"/>
              </a:rPr>
              <a:t>RUN</a:t>
            </a:r>
            <a:endParaRPr lang="en-US" sz="1600" dirty="0"/>
          </a:p>
        </p:txBody>
      </p:sp>
      <p:sp>
        <p:nvSpPr>
          <p:cNvPr id="33" name="Text 31"/>
          <p:cNvSpPr/>
          <p:nvPr/>
        </p:nvSpPr>
        <p:spPr>
          <a:xfrm>
            <a:off x="6675120" y="3805123"/>
            <a:ext cx="4709160" cy="347472"/>
          </a:xfrm>
          <a:prstGeom prst="rect">
            <a:avLst/>
          </a:prstGeom>
          <a:noFill/>
          <a:ln/>
        </p:spPr>
        <p:txBody>
          <a:bodyPr wrap="square" lIns="0" tIns="0" rIns="0" bIns="0" rtlCol="0" anchor="t"/>
          <a:lstStyle/>
          <a:p>
            <a:pPr indent="0" marL="0">
              <a:lnSpc>
                <a:spcPct val="116000"/>
              </a:lnSpc>
              <a:buNone/>
            </a:pPr>
            <a:r>
              <a:rPr lang="en-US" sz="1600" dirty="0">
                <a:solidFill>
                  <a:srgbClr val="F7F3EA"/>
                </a:solidFill>
                <a:latin typeface="Arial" pitchFamily="34" charset="0"/>
                <a:ea typeface="Arial" pitchFamily="34" charset="-122"/>
                <a:cs typeface="Arial" pitchFamily="34" charset="-120"/>
              </a:rPr>
              <a:t>The work gets done, on a schedule.</a:t>
            </a:r>
            <a:endParaRPr lang="en-US" sz="1600" dirty="0"/>
          </a:p>
        </p:txBody>
      </p:sp>
      <p:sp>
        <p:nvSpPr>
          <p:cNvPr id="34" name="Text 32"/>
          <p:cNvSpPr/>
          <p:nvPr/>
        </p:nvSpPr>
        <p:spPr>
          <a:xfrm>
            <a:off x="6675120" y="4262323"/>
            <a:ext cx="4709160" cy="347472"/>
          </a:xfrm>
          <a:prstGeom prst="rect">
            <a:avLst/>
          </a:prstGeom>
          <a:noFill/>
          <a:ln/>
        </p:spPr>
        <p:txBody>
          <a:bodyPr wrap="square" lIns="0" tIns="0" rIns="0" bIns="0" rtlCol="0" anchor="t"/>
          <a:lstStyle/>
          <a:p>
            <a:pPr indent="0" marL="0">
              <a:buNone/>
            </a:pPr>
            <a:r>
              <a:rPr lang="en-US" sz="1600" b="1" dirty="0">
                <a:solidFill>
                  <a:srgbClr val="E7C766"/>
                </a:solidFill>
                <a:latin typeface="Arial" pitchFamily="34" charset="0"/>
                <a:ea typeface="Arial" pitchFamily="34" charset="-122"/>
                <a:cs typeface="Arial" pitchFamily="34" charset="-120"/>
              </a:rPr>
              <a:t>04  </a:t>
            </a:r>
            <a:pPr indent="0" marL="0">
              <a:buNone/>
            </a:pPr>
            <a:r>
              <a:rPr lang="en-US" sz="1600" b="1" spc="100" kern="0" dirty="0">
                <a:solidFill>
                  <a:srgbClr val="F7F3EA"/>
                </a:solidFill>
                <a:latin typeface="Arial" pitchFamily="34" charset="0"/>
                <a:ea typeface="Arial" pitchFamily="34" charset="-122"/>
                <a:cs typeface="Arial" pitchFamily="34" charset="-120"/>
              </a:rPr>
              <a:t>RETRAIN</a:t>
            </a:r>
            <a:endParaRPr lang="en-US" sz="1600" dirty="0"/>
          </a:p>
        </p:txBody>
      </p:sp>
      <p:sp>
        <p:nvSpPr>
          <p:cNvPr id="35" name="Text 33"/>
          <p:cNvSpPr/>
          <p:nvPr/>
        </p:nvSpPr>
        <p:spPr>
          <a:xfrm>
            <a:off x="6675120" y="4628083"/>
            <a:ext cx="4709160" cy="347472"/>
          </a:xfrm>
          <a:prstGeom prst="rect">
            <a:avLst/>
          </a:prstGeom>
          <a:noFill/>
          <a:ln/>
        </p:spPr>
        <p:txBody>
          <a:bodyPr wrap="square" lIns="0" tIns="0" rIns="0" bIns="0" rtlCol="0" anchor="t"/>
          <a:lstStyle/>
          <a:p>
            <a:pPr indent="0" marL="0">
              <a:lnSpc>
                <a:spcPct val="116000"/>
              </a:lnSpc>
              <a:buNone/>
            </a:pPr>
            <a:r>
              <a:rPr lang="en-US" sz="1600" dirty="0">
                <a:solidFill>
                  <a:srgbClr val="F7F3EA"/>
                </a:solidFill>
                <a:latin typeface="Arial" pitchFamily="34" charset="0"/>
                <a:ea typeface="Arial" pitchFamily="34" charset="-122"/>
                <a:cs typeface="Arial" pitchFamily="34" charset="-120"/>
              </a:rPr>
              <a:t>Look at what came back. Fix the rules.</a:t>
            </a:r>
            <a:endParaRPr lang="en-US" sz="1600" dirty="0"/>
          </a:p>
        </p:txBody>
      </p:sp>
      <p:sp>
        <p:nvSpPr>
          <p:cNvPr id="36" name="Text 34"/>
          <p:cNvSpPr/>
          <p:nvPr/>
        </p:nvSpPr>
        <p:spPr>
          <a:xfrm>
            <a:off x="813816" y="5340096"/>
            <a:ext cx="10570464" cy="347472"/>
          </a:xfrm>
          <a:prstGeom prst="rect">
            <a:avLst/>
          </a:prstGeom>
          <a:noFill/>
          <a:ln/>
        </p:spPr>
        <p:txBody>
          <a:bodyPr wrap="square" lIns="0" tIns="0" rIns="0" bIns="0" rtlCol="0" anchor="t"/>
          <a:lstStyle/>
          <a:p>
            <a:pPr algn="l" indent="0" marL="0">
              <a:lnSpc>
                <a:spcPct val="116000"/>
              </a:lnSpc>
              <a:buNone/>
            </a:pPr>
            <a:r>
              <a:rPr lang="en-US" sz="1600" b="1" dirty="0">
                <a:solidFill>
                  <a:srgbClr val="E7C766"/>
                </a:solidFill>
                <a:latin typeface="Arial" pitchFamily="34" charset="0"/>
                <a:ea typeface="Arial" pitchFamily="34" charset="-122"/>
                <a:cs typeface="Arial" pitchFamily="34" charset="-120"/>
              </a:rPr>
              <a:t>Email. Invoices. Hiring. Support tickets. Same four stops.</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3EA"/>
        </a:solidFill>
      </p:bgPr>
    </p:bg>
    <p:spTree>
      <p:nvGrpSpPr>
        <p:cNvPr id="1" name=""/>
        <p:cNvGrpSpPr/>
        <p:nvPr/>
      </p:nvGrpSpPr>
      <p:grpSpPr>
        <a:xfrm>
          <a:off x="0" y="0"/>
          <a:ext cx="0" cy="0"/>
          <a:chOff x="0" y="0"/>
          <a:chExt cx="0" cy="0"/>
        </a:xfrm>
      </p:grpSpPr>
      <p:sp>
        <p:nvSpPr>
          <p:cNvPr id="2" name="Shape 0"/>
          <p:cNvSpPr/>
          <p:nvPr/>
        </p:nvSpPr>
        <p:spPr>
          <a:xfrm>
            <a:off x="813816" y="5779008"/>
            <a:ext cx="10570464" cy="0"/>
          </a:xfrm>
          <a:prstGeom prst="line">
            <a:avLst/>
          </a:prstGeom>
          <a:noFill/>
          <a:ln w="9525">
            <a:solidFill>
              <a:srgbClr val="C9A227"/>
            </a:solidFill>
            <a:prstDash val="solid"/>
          </a:ln>
        </p:spPr>
      </p:sp>
      <p:sp>
        <p:nvSpPr>
          <p:cNvPr id="3" name="Text 1"/>
          <p:cNvSpPr/>
          <p:nvPr/>
        </p:nvSpPr>
        <p:spPr>
          <a:xfrm>
            <a:off x="813816" y="5907024"/>
            <a:ext cx="3358896" cy="274320"/>
          </a:xfrm>
          <a:prstGeom prst="rect">
            <a:avLst/>
          </a:prstGeom>
          <a:noFill/>
          <a:ln/>
        </p:spPr>
        <p:txBody>
          <a:bodyPr wrap="square" lIns="0" tIns="0" rIns="0" bIns="0" rtlCol="0" anchor="ctr"/>
          <a:lstStyle/>
          <a:p>
            <a:pPr indent="0" marL="0">
              <a:buNone/>
            </a:pPr>
            <a:r>
              <a:rPr lang="en-US" sz="1600" spc="120" kern="0" dirty="0">
                <a:solidFill>
                  <a:srgbClr val="5A6379"/>
                </a:solidFill>
                <a:latin typeface="Arial" pitchFamily="34" charset="0"/>
                <a:ea typeface="Arial" pitchFamily="34" charset="-122"/>
                <a:cs typeface="Arial" pitchFamily="34" charset="-120"/>
              </a:rPr>
              <a:t>BUILD YOUR OWN DONNA</a:t>
            </a:r>
            <a:endParaRPr lang="en-US" sz="1600" dirty="0"/>
          </a:p>
        </p:txBody>
      </p:sp>
      <p:sp>
        <p:nvSpPr>
          <p:cNvPr id="4" name="Shape 2"/>
          <p:cNvSpPr/>
          <p:nvPr/>
        </p:nvSpPr>
        <p:spPr>
          <a:xfrm rot="2700000">
            <a:off x="4227576" y="6012180"/>
            <a:ext cx="64008" cy="64008"/>
          </a:xfrm>
          <a:prstGeom prst="rect">
            <a:avLst/>
          </a:prstGeom>
          <a:solidFill>
            <a:srgbClr val="C9A227"/>
          </a:solidFill>
          <a:ln w="3175">
            <a:solidFill>
              <a:srgbClr val="C9A227"/>
            </a:solidFill>
            <a:prstDash val="solid"/>
          </a:ln>
        </p:spPr>
      </p:sp>
      <p:sp>
        <p:nvSpPr>
          <p:cNvPr id="5" name="Text 3"/>
          <p:cNvSpPr/>
          <p:nvPr/>
        </p:nvSpPr>
        <p:spPr>
          <a:xfrm>
            <a:off x="4410456" y="5907024"/>
            <a:ext cx="2712720" cy="274320"/>
          </a:xfrm>
          <a:prstGeom prst="rect">
            <a:avLst/>
          </a:prstGeom>
          <a:noFill/>
          <a:ln/>
        </p:spPr>
        <p:txBody>
          <a:bodyPr wrap="square" lIns="0" tIns="0" rIns="0" bIns="0" rtlCol="0" anchor="ctr"/>
          <a:lstStyle/>
          <a:p>
            <a:pPr indent="0" marL="0">
              <a:buNone/>
            </a:pPr>
            <a:r>
              <a:rPr lang="en-US" sz="1600" spc="120" kern="0" dirty="0">
                <a:solidFill>
                  <a:srgbClr val="5A6379"/>
                </a:solidFill>
                <a:latin typeface="Arial" pitchFamily="34" charset="0"/>
                <a:ea typeface="Arial" pitchFamily="34" charset="-122"/>
                <a:cs typeface="Arial" pitchFamily="34" charset="-120"/>
              </a:rPr>
              <a:t>OCTOBER 21, 2026</a:t>
            </a:r>
            <a:endParaRPr lang="en-US" sz="1600" dirty="0"/>
          </a:p>
        </p:txBody>
      </p:sp>
      <p:sp>
        <p:nvSpPr>
          <p:cNvPr id="6" name="Text 4"/>
          <p:cNvSpPr/>
          <p:nvPr/>
        </p:nvSpPr>
        <p:spPr>
          <a:xfrm>
            <a:off x="10652760" y="5907024"/>
            <a:ext cx="731520" cy="274320"/>
          </a:xfrm>
          <a:prstGeom prst="rect">
            <a:avLst/>
          </a:prstGeom>
          <a:noFill/>
          <a:ln/>
        </p:spPr>
        <p:txBody>
          <a:bodyPr wrap="square" lIns="0" tIns="0" rIns="0" bIns="0" rtlCol="0" anchor="ctr"/>
          <a:lstStyle/>
          <a:p>
            <a:pPr algn="r" indent="0" marL="0">
              <a:buNone/>
            </a:pPr>
            <a:r>
              <a:rPr lang="en-US" sz="1600" spc="120" kern="0" dirty="0">
                <a:solidFill>
                  <a:srgbClr val="5A6379"/>
                </a:solidFill>
                <a:latin typeface="Arial" pitchFamily="34" charset="0"/>
                <a:ea typeface="Arial" pitchFamily="34" charset="-122"/>
                <a:cs typeface="Arial" pitchFamily="34" charset="-120"/>
              </a:rPr>
              <a:t>6</a:t>
            </a:r>
            <a:endParaRPr lang="en-US" sz="1600" dirty="0"/>
          </a:p>
        </p:txBody>
      </p:sp>
      <p:sp>
        <p:nvSpPr>
          <p:cNvPr id="7" name="Text 5"/>
          <p:cNvSpPr/>
          <p:nvPr/>
        </p:nvSpPr>
        <p:spPr>
          <a:xfrm>
            <a:off x="813816" y="457200"/>
            <a:ext cx="10570464" cy="310896"/>
          </a:xfrm>
          <a:prstGeom prst="rect">
            <a:avLst/>
          </a:prstGeom>
          <a:noFill/>
          <a:ln/>
        </p:spPr>
        <p:txBody>
          <a:bodyPr wrap="square" lIns="0" tIns="0" rIns="0" bIns="0" rtlCol="0" anchor="ctr"/>
          <a:lstStyle/>
          <a:p>
            <a:pPr indent="0" marL="0">
              <a:buNone/>
            </a:pPr>
            <a:r>
              <a:rPr lang="en-US" sz="1600" b="1" spc="180" kern="0" dirty="0">
                <a:solidFill>
                  <a:srgbClr val="8A6D14"/>
                </a:solidFill>
                <a:latin typeface="Arial" pitchFamily="34" charset="0"/>
                <a:ea typeface="Arial" pitchFamily="34" charset="-122"/>
                <a:cs typeface="Arial" pitchFamily="34" charset="-120"/>
              </a:rPr>
              <a:t>WHAT MACHINE LEARNING ACTUALLY IS</a:t>
            </a:r>
            <a:endParaRPr lang="en-US" sz="1600" dirty="0"/>
          </a:p>
        </p:txBody>
      </p:sp>
      <p:sp>
        <p:nvSpPr>
          <p:cNvPr id="8" name="Text 6"/>
          <p:cNvSpPr/>
          <p:nvPr/>
        </p:nvSpPr>
        <p:spPr>
          <a:xfrm>
            <a:off x="813816" y="841248"/>
            <a:ext cx="10570464" cy="751027"/>
          </a:xfrm>
          <a:prstGeom prst="rect">
            <a:avLst/>
          </a:prstGeom>
          <a:noFill/>
          <a:ln/>
        </p:spPr>
        <p:txBody>
          <a:bodyPr wrap="square" lIns="0" tIns="0" rIns="0" bIns="0" rtlCol="0" anchor="t"/>
          <a:lstStyle/>
          <a:p>
            <a:pPr indent="0" marL="0">
              <a:lnSpc>
                <a:spcPct val="94000"/>
              </a:lnSpc>
              <a:buNone/>
            </a:pPr>
            <a:r>
              <a:rPr lang="en-US" sz="4000" b="1" dirty="0">
                <a:solidFill>
                  <a:srgbClr val="14213D"/>
                </a:solidFill>
                <a:latin typeface="Georgia" pitchFamily="34" charset="0"/>
                <a:ea typeface="Georgia" pitchFamily="34" charset="-122"/>
                <a:cs typeface="Georgia" pitchFamily="34" charset="-120"/>
              </a:rPr>
              <a:t>Machine learning runs this loop.</a:t>
            </a:r>
            <a:endParaRPr lang="en-US" sz="4000" dirty="0"/>
          </a:p>
        </p:txBody>
      </p:sp>
      <p:sp>
        <p:nvSpPr>
          <p:cNvPr id="9" name="Shape 7"/>
          <p:cNvSpPr/>
          <p:nvPr/>
        </p:nvSpPr>
        <p:spPr>
          <a:xfrm>
            <a:off x="2542642" y="2460955"/>
            <a:ext cx="2047037" cy="2047037"/>
          </a:xfrm>
          <a:prstGeom prst="ellipse">
            <a:avLst/>
          </a:prstGeom>
          <a:ln w="12700">
            <a:solidFill>
              <a:srgbClr val="C9A227"/>
            </a:solidFill>
            <a:prstDash val="solid"/>
          </a:ln>
        </p:spPr>
      </p:sp>
      <p:sp>
        <p:nvSpPr>
          <p:cNvPr id="10" name="Shape 8"/>
          <p:cNvSpPr/>
          <p:nvPr/>
        </p:nvSpPr>
        <p:spPr>
          <a:xfrm rot="8100000">
            <a:off x="4242348" y="2695357"/>
            <a:ext cx="95098" cy="130759"/>
          </a:xfrm>
          <a:prstGeom prst="triangle">
            <a:avLst/>
          </a:prstGeom>
          <a:solidFill>
            <a:srgbClr val="C9A227"/>
          </a:solidFill>
          <a:ln/>
        </p:spPr>
      </p:sp>
      <p:sp>
        <p:nvSpPr>
          <p:cNvPr id="11" name="Shape 9"/>
          <p:cNvSpPr/>
          <p:nvPr/>
        </p:nvSpPr>
        <p:spPr>
          <a:xfrm rot="13500000">
            <a:off x="4242348" y="4142831"/>
            <a:ext cx="95098" cy="130759"/>
          </a:xfrm>
          <a:prstGeom prst="triangle">
            <a:avLst/>
          </a:prstGeom>
          <a:solidFill>
            <a:srgbClr val="C9A227"/>
          </a:solidFill>
          <a:ln/>
        </p:spPr>
      </p:sp>
      <p:sp>
        <p:nvSpPr>
          <p:cNvPr id="12" name="Shape 10"/>
          <p:cNvSpPr/>
          <p:nvPr/>
        </p:nvSpPr>
        <p:spPr>
          <a:xfrm rot="18900000">
            <a:off x="2794874" y="4142831"/>
            <a:ext cx="95098" cy="130759"/>
          </a:xfrm>
          <a:prstGeom prst="triangle">
            <a:avLst/>
          </a:prstGeom>
          <a:solidFill>
            <a:srgbClr val="C9A227"/>
          </a:solidFill>
          <a:ln/>
        </p:spPr>
      </p:sp>
      <p:sp>
        <p:nvSpPr>
          <p:cNvPr id="13" name="Shape 11"/>
          <p:cNvSpPr/>
          <p:nvPr/>
        </p:nvSpPr>
        <p:spPr>
          <a:xfrm rot="2700000">
            <a:off x="2794874" y="2695357"/>
            <a:ext cx="95098" cy="130759"/>
          </a:xfrm>
          <a:prstGeom prst="triangle">
            <a:avLst/>
          </a:prstGeom>
          <a:solidFill>
            <a:srgbClr val="C9A227"/>
          </a:solidFill>
          <a:ln/>
        </p:spPr>
      </p:sp>
      <p:sp>
        <p:nvSpPr>
          <p:cNvPr id="14" name="Shape 12"/>
          <p:cNvSpPr/>
          <p:nvPr/>
        </p:nvSpPr>
        <p:spPr>
          <a:xfrm>
            <a:off x="2972519" y="2890833"/>
            <a:ext cx="1187281" cy="1187281"/>
          </a:xfrm>
          <a:prstGeom prst="ellipse">
            <a:avLst/>
          </a:prstGeom>
          <a:solidFill>
            <a:srgbClr val="14213D"/>
          </a:solidFill>
          <a:ln/>
        </p:spPr>
      </p:sp>
      <p:sp>
        <p:nvSpPr>
          <p:cNvPr id="15" name="Text 13"/>
          <p:cNvSpPr/>
          <p:nvPr/>
        </p:nvSpPr>
        <p:spPr>
          <a:xfrm>
            <a:off x="3018239" y="3220314"/>
            <a:ext cx="1095841" cy="528320"/>
          </a:xfrm>
          <a:prstGeom prst="rect">
            <a:avLst/>
          </a:prstGeom>
          <a:noFill/>
          <a:ln/>
        </p:spPr>
        <p:txBody>
          <a:bodyPr wrap="square" lIns="0" tIns="0" rIns="0" bIns="0" rtlCol="0" anchor="ctr"/>
          <a:lstStyle/>
          <a:p>
            <a:pPr algn="ctr" indent="0" marL="0">
              <a:lnSpc>
                <a:spcPct val="102000"/>
              </a:lnSpc>
              <a:buNone/>
            </a:pPr>
            <a:r>
              <a:rPr lang="en-US" sz="1600" b="1" dirty="0">
                <a:solidFill>
                  <a:srgbClr val="F7F3EA"/>
                </a:solidFill>
                <a:latin typeface="Georgia" pitchFamily="34" charset="0"/>
                <a:ea typeface="Georgia" pitchFamily="34" charset="-122"/>
                <a:cs typeface="Georgia" pitchFamily="34" charset="-120"/>
              </a:rPr>
              <a:t>THE</a:t>
            </a:r>
            <a:endParaRPr lang="en-US" sz="1600" dirty="0"/>
          </a:p>
          <a:p>
            <a:pPr algn="ctr" indent="0" marL="0">
              <a:lnSpc>
                <a:spcPct val="102000"/>
              </a:lnSpc>
              <a:buNone/>
            </a:pPr>
            <a:r>
              <a:rPr lang="en-US" sz="1600" b="1" dirty="0">
                <a:solidFill>
                  <a:srgbClr val="F7F3EA"/>
                </a:solidFill>
                <a:latin typeface="Georgia" pitchFamily="34" charset="0"/>
                <a:ea typeface="Georgia" pitchFamily="34" charset="-122"/>
                <a:cs typeface="Georgia" pitchFamily="34" charset="-120"/>
              </a:rPr>
              <a:t>MODEL</a:t>
            </a:r>
            <a:endParaRPr lang="en-US" sz="1600" dirty="0"/>
          </a:p>
        </p:txBody>
      </p:sp>
      <p:sp>
        <p:nvSpPr>
          <p:cNvPr id="16" name="Shape 14"/>
          <p:cNvSpPr/>
          <p:nvPr/>
        </p:nvSpPr>
        <p:spPr>
          <a:xfrm>
            <a:off x="3282696" y="2177491"/>
            <a:ext cx="566928" cy="566928"/>
          </a:xfrm>
          <a:prstGeom prst="ellipse">
            <a:avLst/>
          </a:prstGeom>
          <a:solidFill>
            <a:srgbClr val="F7F3EA"/>
          </a:solidFill>
          <a:ln w="12700">
            <a:solidFill>
              <a:srgbClr val="C9A227"/>
            </a:solidFill>
            <a:prstDash val="solid"/>
          </a:ln>
        </p:spPr>
      </p:sp>
      <p:sp>
        <p:nvSpPr>
          <p:cNvPr id="17" name="Text 15"/>
          <p:cNvSpPr/>
          <p:nvPr/>
        </p:nvSpPr>
        <p:spPr>
          <a:xfrm>
            <a:off x="3282696" y="2177491"/>
            <a:ext cx="566928" cy="566928"/>
          </a:xfrm>
          <a:prstGeom prst="rect">
            <a:avLst/>
          </a:prstGeom>
          <a:noFill/>
          <a:ln/>
        </p:spPr>
        <p:txBody>
          <a:bodyPr wrap="square" lIns="0" tIns="0" rIns="0" bIns="0" rtlCol="0" anchor="ctr"/>
          <a:lstStyle/>
          <a:p>
            <a:pPr algn="ctr" indent="0" marL="0">
              <a:buNone/>
            </a:pPr>
            <a:r>
              <a:rPr lang="en-US" sz="1600" b="1" dirty="0">
                <a:solidFill>
                  <a:srgbClr val="8A6D14"/>
                </a:solidFill>
                <a:latin typeface="Georgia" pitchFamily="34" charset="0"/>
                <a:ea typeface="Georgia" pitchFamily="34" charset="-122"/>
                <a:cs typeface="Georgia" pitchFamily="34" charset="-120"/>
              </a:rPr>
              <a:t>01</a:t>
            </a:r>
            <a:endParaRPr lang="en-US" sz="1600" dirty="0"/>
          </a:p>
        </p:txBody>
      </p:sp>
      <p:sp>
        <p:nvSpPr>
          <p:cNvPr id="18" name="Text 16"/>
          <p:cNvSpPr/>
          <p:nvPr/>
        </p:nvSpPr>
        <p:spPr>
          <a:xfrm>
            <a:off x="2697480" y="1756867"/>
            <a:ext cx="1737360" cy="347472"/>
          </a:xfrm>
          <a:prstGeom prst="rect">
            <a:avLst/>
          </a:prstGeom>
          <a:noFill/>
          <a:ln/>
        </p:spPr>
        <p:txBody>
          <a:bodyPr wrap="square" lIns="0" tIns="0" rIns="0" bIns="0" rtlCol="0" anchor="ctr"/>
          <a:lstStyle/>
          <a:p>
            <a:pPr algn="ctr" indent="0" marL="0">
              <a:buNone/>
            </a:pPr>
            <a:r>
              <a:rPr lang="en-US" sz="1600" b="1" spc="120" kern="0" dirty="0">
                <a:solidFill>
                  <a:srgbClr val="8A6D14"/>
                </a:solidFill>
                <a:latin typeface="Arial" pitchFamily="34" charset="0"/>
                <a:ea typeface="Arial" pitchFamily="34" charset="-122"/>
                <a:cs typeface="Arial" pitchFamily="34" charset="-120"/>
              </a:rPr>
              <a:t>CONNECT</a:t>
            </a:r>
            <a:endParaRPr lang="en-US" sz="1600" dirty="0"/>
          </a:p>
        </p:txBody>
      </p:sp>
      <p:sp>
        <p:nvSpPr>
          <p:cNvPr id="19" name="Shape 17"/>
          <p:cNvSpPr/>
          <p:nvPr/>
        </p:nvSpPr>
        <p:spPr>
          <a:xfrm>
            <a:off x="4306214" y="3201010"/>
            <a:ext cx="566928" cy="566928"/>
          </a:xfrm>
          <a:prstGeom prst="ellipse">
            <a:avLst/>
          </a:prstGeom>
          <a:solidFill>
            <a:srgbClr val="F7F3EA"/>
          </a:solidFill>
          <a:ln w="12700">
            <a:solidFill>
              <a:srgbClr val="C9A227"/>
            </a:solidFill>
            <a:prstDash val="solid"/>
          </a:ln>
        </p:spPr>
      </p:sp>
      <p:sp>
        <p:nvSpPr>
          <p:cNvPr id="20" name="Text 18"/>
          <p:cNvSpPr/>
          <p:nvPr/>
        </p:nvSpPr>
        <p:spPr>
          <a:xfrm>
            <a:off x="4306214" y="3201010"/>
            <a:ext cx="566928" cy="566928"/>
          </a:xfrm>
          <a:prstGeom prst="rect">
            <a:avLst/>
          </a:prstGeom>
          <a:noFill/>
          <a:ln/>
        </p:spPr>
        <p:txBody>
          <a:bodyPr wrap="square" lIns="0" tIns="0" rIns="0" bIns="0" rtlCol="0" anchor="ctr"/>
          <a:lstStyle/>
          <a:p>
            <a:pPr algn="ctr" indent="0" marL="0">
              <a:buNone/>
            </a:pPr>
            <a:r>
              <a:rPr lang="en-US" sz="1600" b="1" dirty="0">
                <a:solidFill>
                  <a:srgbClr val="8A6D14"/>
                </a:solidFill>
                <a:latin typeface="Georgia" pitchFamily="34" charset="0"/>
                <a:ea typeface="Georgia" pitchFamily="34" charset="-122"/>
                <a:cs typeface="Georgia" pitchFamily="34" charset="-120"/>
              </a:rPr>
              <a:t>02</a:t>
            </a:r>
            <a:endParaRPr lang="en-US" sz="1600" dirty="0"/>
          </a:p>
        </p:txBody>
      </p:sp>
      <p:sp>
        <p:nvSpPr>
          <p:cNvPr id="21" name="Text 19"/>
          <p:cNvSpPr/>
          <p:nvPr/>
        </p:nvSpPr>
        <p:spPr>
          <a:xfrm>
            <a:off x="5001158" y="3310738"/>
            <a:ext cx="917448" cy="347472"/>
          </a:xfrm>
          <a:prstGeom prst="rect">
            <a:avLst/>
          </a:prstGeom>
          <a:noFill/>
          <a:ln/>
        </p:spPr>
        <p:txBody>
          <a:bodyPr wrap="square" lIns="0" tIns="0" rIns="0" bIns="0" rtlCol="0" anchor="ctr"/>
          <a:lstStyle/>
          <a:p>
            <a:pPr algn="l" indent="0" marL="0">
              <a:buNone/>
            </a:pPr>
            <a:r>
              <a:rPr lang="en-US" sz="1600" b="1" spc="120" kern="0" dirty="0">
                <a:solidFill>
                  <a:srgbClr val="8A6D14"/>
                </a:solidFill>
                <a:latin typeface="Arial" pitchFamily="34" charset="0"/>
                <a:ea typeface="Arial" pitchFamily="34" charset="-122"/>
                <a:cs typeface="Arial" pitchFamily="34" charset="-120"/>
              </a:rPr>
              <a:t>TEACH</a:t>
            </a:r>
            <a:endParaRPr lang="en-US" sz="1600" dirty="0"/>
          </a:p>
        </p:txBody>
      </p:sp>
      <p:sp>
        <p:nvSpPr>
          <p:cNvPr id="22" name="Shape 20"/>
          <p:cNvSpPr/>
          <p:nvPr/>
        </p:nvSpPr>
        <p:spPr>
          <a:xfrm>
            <a:off x="3282696" y="4224528"/>
            <a:ext cx="566928" cy="566928"/>
          </a:xfrm>
          <a:prstGeom prst="ellipse">
            <a:avLst/>
          </a:prstGeom>
          <a:solidFill>
            <a:srgbClr val="F7F3EA"/>
          </a:solidFill>
          <a:ln w="12700">
            <a:solidFill>
              <a:srgbClr val="C9A227"/>
            </a:solidFill>
            <a:prstDash val="solid"/>
          </a:ln>
        </p:spPr>
      </p:sp>
      <p:sp>
        <p:nvSpPr>
          <p:cNvPr id="23" name="Text 21"/>
          <p:cNvSpPr/>
          <p:nvPr/>
        </p:nvSpPr>
        <p:spPr>
          <a:xfrm>
            <a:off x="3282696" y="4224528"/>
            <a:ext cx="566928" cy="566928"/>
          </a:xfrm>
          <a:prstGeom prst="rect">
            <a:avLst/>
          </a:prstGeom>
          <a:noFill/>
          <a:ln/>
        </p:spPr>
        <p:txBody>
          <a:bodyPr wrap="square" lIns="0" tIns="0" rIns="0" bIns="0" rtlCol="0" anchor="ctr"/>
          <a:lstStyle/>
          <a:p>
            <a:pPr algn="ctr" indent="0" marL="0">
              <a:buNone/>
            </a:pPr>
            <a:r>
              <a:rPr lang="en-US" sz="1600" b="1" dirty="0">
                <a:solidFill>
                  <a:srgbClr val="8A6D14"/>
                </a:solidFill>
                <a:latin typeface="Georgia" pitchFamily="34" charset="0"/>
                <a:ea typeface="Georgia" pitchFamily="34" charset="-122"/>
                <a:cs typeface="Georgia" pitchFamily="34" charset="-120"/>
              </a:rPr>
              <a:t>03</a:t>
            </a:r>
            <a:endParaRPr lang="en-US" sz="1600" dirty="0"/>
          </a:p>
        </p:txBody>
      </p:sp>
      <p:sp>
        <p:nvSpPr>
          <p:cNvPr id="24" name="Text 22"/>
          <p:cNvSpPr/>
          <p:nvPr/>
        </p:nvSpPr>
        <p:spPr>
          <a:xfrm>
            <a:off x="2697480" y="4864608"/>
            <a:ext cx="1737360" cy="347472"/>
          </a:xfrm>
          <a:prstGeom prst="rect">
            <a:avLst/>
          </a:prstGeom>
          <a:noFill/>
          <a:ln/>
        </p:spPr>
        <p:txBody>
          <a:bodyPr wrap="square" lIns="0" tIns="0" rIns="0" bIns="0" rtlCol="0" anchor="ctr"/>
          <a:lstStyle/>
          <a:p>
            <a:pPr algn="ctr" indent="0" marL="0">
              <a:buNone/>
            </a:pPr>
            <a:r>
              <a:rPr lang="en-US" sz="1600" b="1" spc="120" kern="0" dirty="0">
                <a:solidFill>
                  <a:srgbClr val="8A6D14"/>
                </a:solidFill>
                <a:latin typeface="Arial" pitchFamily="34" charset="0"/>
                <a:ea typeface="Arial" pitchFamily="34" charset="-122"/>
                <a:cs typeface="Arial" pitchFamily="34" charset="-120"/>
              </a:rPr>
              <a:t>RUN</a:t>
            </a:r>
            <a:endParaRPr lang="en-US" sz="1600" dirty="0"/>
          </a:p>
        </p:txBody>
      </p:sp>
      <p:sp>
        <p:nvSpPr>
          <p:cNvPr id="25" name="Shape 23"/>
          <p:cNvSpPr/>
          <p:nvPr/>
        </p:nvSpPr>
        <p:spPr>
          <a:xfrm>
            <a:off x="2259178" y="3201010"/>
            <a:ext cx="566928" cy="566928"/>
          </a:xfrm>
          <a:prstGeom prst="ellipse">
            <a:avLst/>
          </a:prstGeom>
          <a:solidFill>
            <a:srgbClr val="F7F3EA"/>
          </a:solidFill>
          <a:ln w="12700">
            <a:solidFill>
              <a:srgbClr val="C9A227"/>
            </a:solidFill>
            <a:prstDash val="solid"/>
          </a:ln>
        </p:spPr>
      </p:sp>
      <p:sp>
        <p:nvSpPr>
          <p:cNvPr id="26" name="Text 24"/>
          <p:cNvSpPr/>
          <p:nvPr/>
        </p:nvSpPr>
        <p:spPr>
          <a:xfrm>
            <a:off x="2259178" y="3201010"/>
            <a:ext cx="566928" cy="566928"/>
          </a:xfrm>
          <a:prstGeom prst="rect">
            <a:avLst/>
          </a:prstGeom>
          <a:noFill/>
          <a:ln/>
        </p:spPr>
        <p:txBody>
          <a:bodyPr wrap="square" lIns="0" tIns="0" rIns="0" bIns="0" rtlCol="0" anchor="ctr"/>
          <a:lstStyle/>
          <a:p>
            <a:pPr algn="ctr" indent="0" marL="0">
              <a:buNone/>
            </a:pPr>
            <a:r>
              <a:rPr lang="en-US" sz="1600" b="1" dirty="0">
                <a:solidFill>
                  <a:srgbClr val="8A6D14"/>
                </a:solidFill>
                <a:latin typeface="Georgia" pitchFamily="34" charset="0"/>
                <a:ea typeface="Georgia" pitchFamily="34" charset="-122"/>
                <a:cs typeface="Georgia" pitchFamily="34" charset="-120"/>
              </a:rPr>
              <a:t>04</a:t>
            </a:r>
            <a:endParaRPr lang="en-US" sz="1600" dirty="0"/>
          </a:p>
        </p:txBody>
      </p:sp>
      <p:sp>
        <p:nvSpPr>
          <p:cNvPr id="27" name="Text 25"/>
          <p:cNvSpPr/>
          <p:nvPr/>
        </p:nvSpPr>
        <p:spPr>
          <a:xfrm>
            <a:off x="890626" y="3310738"/>
            <a:ext cx="1240536" cy="347472"/>
          </a:xfrm>
          <a:prstGeom prst="rect">
            <a:avLst/>
          </a:prstGeom>
          <a:noFill/>
          <a:ln/>
        </p:spPr>
        <p:txBody>
          <a:bodyPr wrap="square" lIns="0" tIns="0" rIns="0" bIns="0" rtlCol="0" anchor="ctr"/>
          <a:lstStyle/>
          <a:p>
            <a:pPr algn="r" indent="0" marL="0">
              <a:buNone/>
            </a:pPr>
            <a:r>
              <a:rPr lang="en-US" sz="1600" b="1" spc="120" kern="0" dirty="0">
                <a:solidFill>
                  <a:srgbClr val="8A6D14"/>
                </a:solidFill>
                <a:latin typeface="Arial" pitchFamily="34" charset="0"/>
                <a:ea typeface="Arial" pitchFamily="34" charset="-122"/>
                <a:cs typeface="Arial" pitchFamily="34" charset="-120"/>
              </a:rPr>
              <a:t>RETRAIN</a:t>
            </a:r>
            <a:endParaRPr lang="en-US" sz="1600" dirty="0"/>
          </a:p>
        </p:txBody>
      </p:sp>
      <p:sp>
        <p:nvSpPr>
          <p:cNvPr id="28" name="Text 26"/>
          <p:cNvSpPr/>
          <p:nvPr/>
        </p:nvSpPr>
        <p:spPr>
          <a:xfrm>
            <a:off x="6675120" y="1793443"/>
            <a:ext cx="4709160" cy="347472"/>
          </a:xfrm>
          <a:prstGeom prst="rect">
            <a:avLst/>
          </a:prstGeom>
          <a:noFill/>
          <a:ln/>
        </p:spPr>
        <p:txBody>
          <a:bodyPr wrap="square" lIns="0" tIns="0" rIns="0" bIns="0" rtlCol="0" anchor="t"/>
          <a:lstStyle/>
          <a:p>
            <a:pPr indent="0" marL="0">
              <a:buNone/>
            </a:pPr>
            <a:r>
              <a:rPr lang="en-US" sz="1600" b="1" dirty="0">
                <a:solidFill>
                  <a:srgbClr val="8A6D14"/>
                </a:solidFill>
                <a:latin typeface="Arial" pitchFamily="34" charset="0"/>
                <a:ea typeface="Arial" pitchFamily="34" charset="-122"/>
                <a:cs typeface="Arial" pitchFamily="34" charset="-120"/>
              </a:rPr>
              <a:t>01  </a:t>
            </a:r>
            <a:pPr indent="0" marL="0">
              <a:buNone/>
            </a:pPr>
            <a:r>
              <a:rPr lang="en-US" sz="1600" b="1" spc="100" kern="0" dirty="0">
                <a:solidFill>
                  <a:srgbClr val="14213D"/>
                </a:solidFill>
                <a:latin typeface="Arial" pitchFamily="34" charset="0"/>
                <a:ea typeface="Arial" pitchFamily="34" charset="-122"/>
                <a:cs typeface="Arial" pitchFamily="34" charset="-120"/>
              </a:rPr>
              <a:t>CONNECT</a:t>
            </a:r>
            <a:endParaRPr lang="en-US" sz="1600" dirty="0"/>
          </a:p>
        </p:txBody>
      </p:sp>
      <p:sp>
        <p:nvSpPr>
          <p:cNvPr id="29" name="Text 27"/>
          <p:cNvSpPr/>
          <p:nvPr/>
        </p:nvSpPr>
        <p:spPr>
          <a:xfrm>
            <a:off x="6675120" y="2159203"/>
            <a:ext cx="4709160" cy="347472"/>
          </a:xfrm>
          <a:prstGeom prst="rect">
            <a:avLst/>
          </a:prstGeom>
          <a:noFill/>
          <a:ln/>
        </p:spPr>
        <p:txBody>
          <a:bodyPr wrap="square" lIns="0" tIns="0" rIns="0" bIns="0" rtlCol="0" anchor="t"/>
          <a:lstStyle/>
          <a:p>
            <a:pPr indent="0" marL="0">
              <a:lnSpc>
                <a:spcPct val="116000"/>
              </a:lnSpc>
              <a:buNone/>
            </a:pPr>
            <a:r>
              <a:rPr lang="en-US" sz="1600" dirty="0">
                <a:solidFill>
                  <a:srgbClr val="14213D"/>
                </a:solidFill>
                <a:latin typeface="Arial" pitchFamily="34" charset="0"/>
                <a:ea typeface="Arial" pitchFamily="34" charset="-122"/>
                <a:cs typeface="Arial" pitchFamily="34" charset="-120"/>
              </a:rPr>
              <a:t>Collect the data.</a:t>
            </a:r>
            <a:endParaRPr lang="en-US" sz="1600" dirty="0"/>
          </a:p>
        </p:txBody>
      </p:sp>
      <p:sp>
        <p:nvSpPr>
          <p:cNvPr id="30" name="Text 28"/>
          <p:cNvSpPr/>
          <p:nvPr/>
        </p:nvSpPr>
        <p:spPr>
          <a:xfrm>
            <a:off x="6675120" y="2616403"/>
            <a:ext cx="4709160" cy="347472"/>
          </a:xfrm>
          <a:prstGeom prst="rect">
            <a:avLst/>
          </a:prstGeom>
          <a:noFill/>
          <a:ln/>
        </p:spPr>
        <p:txBody>
          <a:bodyPr wrap="square" lIns="0" tIns="0" rIns="0" bIns="0" rtlCol="0" anchor="t"/>
          <a:lstStyle/>
          <a:p>
            <a:pPr indent="0" marL="0">
              <a:buNone/>
            </a:pPr>
            <a:r>
              <a:rPr lang="en-US" sz="1600" b="1" dirty="0">
                <a:solidFill>
                  <a:srgbClr val="8A6D14"/>
                </a:solidFill>
                <a:latin typeface="Arial" pitchFamily="34" charset="0"/>
                <a:ea typeface="Arial" pitchFamily="34" charset="-122"/>
                <a:cs typeface="Arial" pitchFamily="34" charset="-120"/>
              </a:rPr>
              <a:t>02  </a:t>
            </a:r>
            <a:pPr indent="0" marL="0">
              <a:buNone/>
            </a:pPr>
            <a:r>
              <a:rPr lang="en-US" sz="1600" b="1" spc="100" kern="0" dirty="0">
                <a:solidFill>
                  <a:srgbClr val="14213D"/>
                </a:solidFill>
                <a:latin typeface="Arial" pitchFamily="34" charset="0"/>
                <a:ea typeface="Arial" pitchFamily="34" charset="-122"/>
                <a:cs typeface="Arial" pitchFamily="34" charset="-120"/>
              </a:rPr>
              <a:t>TEACH</a:t>
            </a:r>
            <a:endParaRPr lang="en-US" sz="1600" dirty="0"/>
          </a:p>
        </p:txBody>
      </p:sp>
      <p:sp>
        <p:nvSpPr>
          <p:cNvPr id="31" name="Text 29"/>
          <p:cNvSpPr/>
          <p:nvPr/>
        </p:nvSpPr>
        <p:spPr>
          <a:xfrm>
            <a:off x="6675120" y="2982163"/>
            <a:ext cx="4709160" cy="347472"/>
          </a:xfrm>
          <a:prstGeom prst="rect">
            <a:avLst/>
          </a:prstGeom>
          <a:noFill/>
          <a:ln/>
        </p:spPr>
        <p:txBody>
          <a:bodyPr wrap="square" lIns="0" tIns="0" rIns="0" bIns="0" rtlCol="0" anchor="t"/>
          <a:lstStyle/>
          <a:p>
            <a:pPr indent="0" marL="0">
              <a:lnSpc>
                <a:spcPct val="116000"/>
              </a:lnSpc>
              <a:buNone/>
            </a:pPr>
            <a:r>
              <a:rPr lang="en-US" sz="1600" dirty="0">
                <a:solidFill>
                  <a:srgbClr val="14213D"/>
                </a:solidFill>
                <a:latin typeface="Arial" pitchFamily="34" charset="0"/>
                <a:ea typeface="Arial" pitchFamily="34" charset="-122"/>
                <a:cs typeface="Arial" pitchFamily="34" charset="-120"/>
              </a:rPr>
              <a:t>Train the model on it.</a:t>
            </a:r>
            <a:endParaRPr lang="en-US" sz="1600" dirty="0"/>
          </a:p>
        </p:txBody>
      </p:sp>
      <p:sp>
        <p:nvSpPr>
          <p:cNvPr id="32" name="Text 30"/>
          <p:cNvSpPr/>
          <p:nvPr/>
        </p:nvSpPr>
        <p:spPr>
          <a:xfrm>
            <a:off x="6675120" y="3439363"/>
            <a:ext cx="4709160" cy="347472"/>
          </a:xfrm>
          <a:prstGeom prst="rect">
            <a:avLst/>
          </a:prstGeom>
          <a:noFill/>
          <a:ln/>
        </p:spPr>
        <p:txBody>
          <a:bodyPr wrap="square" lIns="0" tIns="0" rIns="0" bIns="0" rtlCol="0" anchor="t"/>
          <a:lstStyle/>
          <a:p>
            <a:pPr indent="0" marL="0">
              <a:buNone/>
            </a:pPr>
            <a:r>
              <a:rPr lang="en-US" sz="1600" b="1" dirty="0">
                <a:solidFill>
                  <a:srgbClr val="8A6D14"/>
                </a:solidFill>
                <a:latin typeface="Arial" pitchFamily="34" charset="0"/>
                <a:ea typeface="Arial" pitchFamily="34" charset="-122"/>
                <a:cs typeface="Arial" pitchFamily="34" charset="-120"/>
              </a:rPr>
              <a:t>03  </a:t>
            </a:r>
            <a:pPr indent="0" marL="0">
              <a:buNone/>
            </a:pPr>
            <a:r>
              <a:rPr lang="en-US" sz="1600" b="1" spc="100" kern="0" dirty="0">
                <a:solidFill>
                  <a:srgbClr val="14213D"/>
                </a:solidFill>
                <a:latin typeface="Arial" pitchFamily="34" charset="0"/>
                <a:ea typeface="Arial" pitchFamily="34" charset="-122"/>
                <a:cs typeface="Arial" pitchFamily="34" charset="-120"/>
              </a:rPr>
              <a:t>RUN</a:t>
            </a:r>
            <a:endParaRPr lang="en-US" sz="1600" dirty="0"/>
          </a:p>
        </p:txBody>
      </p:sp>
      <p:sp>
        <p:nvSpPr>
          <p:cNvPr id="33" name="Text 31"/>
          <p:cNvSpPr/>
          <p:nvPr/>
        </p:nvSpPr>
        <p:spPr>
          <a:xfrm>
            <a:off x="6675120" y="3805123"/>
            <a:ext cx="4709160" cy="347472"/>
          </a:xfrm>
          <a:prstGeom prst="rect">
            <a:avLst/>
          </a:prstGeom>
          <a:noFill/>
          <a:ln/>
        </p:spPr>
        <p:txBody>
          <a:bodyPr wrap="square" lIns="0" tIns="0" rIns="0" bIns="0" rtlCol="0" anchor="t"/>
          <a:lstStyle/>
          <a:p>
            <a:pPr indent="0" marL="0">
              <a:lnSpc>
                <a:spcPct val="116000"/>
              </a:lnSpc>
              <a:buNone/>
            </a:pPr>
            <a:r>
              <a:rPr lang="en-US" sz="1600" dirty="0">
                <a:solidFill>
                  <a:srgbClr val="14213D"/>
                </a:solidFill>
                <a:latin typeface="Arial" pitchFamily="34" charset="0"/>
                <a:ea typeface="Arial" pitchFamily="34" charset="-122"/>
                <a:cs typeface="Arial" pitchFamily="34" charset="-120"/>
              </a:rPr>
              <a:t>Put it to work and watch what it does.</a:t>
            </a:r>
            <a:endParaRPr lang="en-US" sz="1600" dirty="0"/>
          </a:p>
        </p:txBody>
      </p:sp>
      <p:sp>
        <p:nvSpPr>
          <p:cNvPr id="34" name="Text 32"/>
          <p:cNvSpPr/>
          <p:nvPr/>
        </p:nvSpPr>
        <p:spPr>
          <a:xfrm>
            <a:off x="6675120" y="4262323"/>
            <a:ext cx="4709160" cy="347472"/>
          </a:xfrm>
          <a:prstGeom prst="rect">
            <a:avLst/>
          </a:prstGeom>
          <a:noFill/>
          <a:ln/>
        </p:spPr>
        <p:txBody>
          <a:bodyPr wrap="square" lIns="0" tIns="0" rIns="0" bIns="0" rtlCol="0" anchor="t"/>
          <a:lstStyle/>
          <a:p>
            <a:pPr indent="0" marL="0">
              <a:buNone/>
            </a:pPr>
            <a:r>
              <a:rPr lang="en-US" sz="1600" b="1" dirty="0">
                <a:solidFill>
                  <a:srgbClr val="8A6D14"/>
                </a:solidFill>
                <a:latin typeface="Arial" pitchFamily="34" charset="0"/>
                <a:ea typeface="Arial" pitchFamily="34" charset="-122"/>
                <a:cs typeface="Arial" pitchFamily="34" charset="-120"/>
              </a:rPr>
              <a:t>04  </a:t>
            </a:r>
            <a:pPr indent="0" marL="0">
              <a:buNone/>
            </a:pPr>
            <a:r>
              <a:rPr lang="en-US" sz="1600" b="1" spc="100" kern="0" dirty="0">
                <a:solidFill>
                  <a:srgbClr val="14213D"/>
                </a:solidFill>
                <a:latin typeface="Arial" pitchFamily="34" charset="0"/>
                <a:ea typeface="Arial" pitchFamily="34" charset="-122"/>
                <a:cs typeface="Arial" pitchFamily="34" charset="-120"/>
              </a:rPr>
              <a:t>RETRAIN</a:t>
            </a:r>
            <a:endParaRPr lang="en-US" sz="1600" dirty="0"/>
          </a:p>
        </p:txBody>
      </p:sp>
      <p:sp>
        <p:nvSpPr>
          <p:cNvPr id="35" name="Text 33"/>
          <p:cNvSpPr/>
          <p:nvPr/>
        </p:nvSpPr>
        <p:spPr>
          <a:xfrm>
            <a:off x="6675120" y="4628083"/>
            <a:ext cx="4709160" cy="347472"/>
          </a:xfrm>
          <a:prstGeom prst="rect">
            <a:avLst/>
          </a:prstGeom>
          <a:noFill/>
          <a:ln/>
        </p:spPr>
        <p:txBody>
          <a:bodyPr wrap="square" lIns="0" tIns="0" rIns="0" bIns="0" rtlCol="0" anchor="t"/>
          <a:lstStyle/>
          <a:p>
            <a:pPr indent="0" marL="0">
              <a:lnSpc>
                <a:spcPct val="116000"/>
              </a:lnSpc>
              <a:buNone/>
            </a:pPr>
            <a:r>
              <a:rPr lang="en-US" sz="1600" dirty="0">
                <a:solidFill>
                  <a:srgbClr val="14213D"/>
                </a:solidFill>
                <a:latin typeface="Arial" pitchFamily="34" charset="0"/>
                <a:ea typeface="Arial" pitchFamily="34" charset="-122"/>
                <a:cs typeface="Arial" pitchFamily="34" charset="-120"/>
              </a:rPr>
              <a:t>Compare to what you wanted. Retrain.</a:t>
            </a:r>
            <a:endParaRPr lang="en-US" sz="1600" dirty="0"/>
          </a:p>
        </p:txBody>
      </p:sp>
      <p:sp>
        <p:nvSpPr>
          <p:cNvPr id="36" name="Text 34"/>
          <p:cNvSpPr/>
          <p:nvPr/>
        </p:nvSpPr>
        <p:spPr>
          <a:xfrm>
            <a:off x="813816" y="5340096"/>
            <a:ext cx="10570464" cy="347472"/>
          </a:xfrm>
          <a:prstGeom prst="rect">
            <a:avLst/>
          </a:prstGeom>
          <a:noFill/>
          <a:ln/>
        </p:spPr>
        <p:txBody>
          <a:bodyPr wrap="square" lIns="0" tIns="0" rIns="0" bIns="0" rtlCol="0" anchor="t"/>
          <a:lstStyle/>
          <a:p>
            <a:pPr algn="l" indent="0" marL="0">
              <a:lnSpc>
                <a:spcPct val="116000"/>
              </a:lnSpc>
              <a:buNone/>
            </a:pPr>
            <a:r>
              <a:rPr lang="en-US" sz="1600" b="1" dirty="0">
                <a:solidFill>
                  <a:srgbClr val="8A6D14"/>
                </a:solidFill>
                <a:latin typeface="Arial" pitchFamily="34" charset="0"/>
                <a:ea typeface="Arial" pitchFamily="34" charset="-122"/>
                <a:cs typeface="Arial" pitchFamily="34" charset="-120"/>
              </a:rPr>
              <a:t>Over fifty years of this loop. The prompt was never the hard part. Step four was the job.</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4213D"/>
        </a:solidFill>
      </p:bgPr>
    </p:bg>
    <p:spTree>
      <p:nvGrpSpPr>
        <p:cNvPr id="1" name=""/>
        <p:cNvGrpSpPr/>
        <p:nvPr/>
      </p:nvGrpSpPr>
      <p:grpSpPr>
        <a:xfrm>
          <a:off x="0" y="0"/>
          <a:ext cx="0" cy="0"/>
          <a:chOff x="0" y="0"/>
          <a:chExt cx="0" cy="0"/>
        </a:xfrm>
      </p:grpSpPr>
      <p:sp>
        <p:nvSpPr>
          <p:cNvPr id="2" name="Shape 0"/>
          <p:cNvSpPr/>
          <p:nvPr/>
        </p:nvSpPr>
        <p:spPr>
          <a:xfrm>
            <a:off x="813816" y="5779008"/>
            <a:ext cx="10570464" cy="0"/>
          </a:xfrm>
          <a:prstGeom prst="line">
            <a:avLst/>
          </a:prstGeom>
          <a:noFill/>
          <a:ln w="9525">
            <a:solidFill>
              <a:srgbClr val="C9A227"/>
            </a:solidFill>
            <a:prstDash val="solid"/>
          </a:ln>
        </p:spPr>
      </p:sp>
      <p:sp>
        <p:nvSpPr>
          <p:cNvPr id="3" name="Text 1"/>
          <p:cNvSpPr/>
          <p:nvPr/>
        </p:nvSpPr>
        <p:spPr>
          <a:xfrm>
            <a:off x="813816" y="5907024"/>
            <a:ext cx="3358896" cy="274320"/>
          </a:xfrm>
          <a:prstGeom prst="rect">
            <a:avLst/>
          </a:prstGeom>
          <a:noFill/>
          <a:ln/>
        </p:spPr>
        <p:txBody>
          <a:bodyPr wrap="square" lIns="0" tIns="0" rIns="0" bIns="0" rtlCol="0" anchor="ctr"/>
          <a:lstStyle/>
          <a:p>
            <a:pPr indent="0" marL="0">
              <a:buNone/>
            </a:pPr>
            <a:r>
              <a:rPr lang="en-US" sz="1600" spc="120" kern="0" dirty="0">
                <a:solidFill>
                  <a:srgbClr val="AFA893"/>
                </a:solidFill>
                <a:latin typeface="Arial" pitchFamily="34" charset="0"/>
                <a:ea typeface="Arial" pitchFamily="34" charset="-122"/>
                <a:cs typeface="Arial" pitchFamily="34" charset="-120"/>
              </a:rPr>
              <a:t>BUILD YOUR OWN DONNA</a:t>
            </a:r>
            <a:endParaRPr lang="en-US" sz="1600" dirty="0"/>
          </a:p>
        </p:txBody>
      </p:sp>
      <p:sp>
        <p:nvSpPr>
          <p:cNvPr id="4" name="Shape 2"/>
          <p:cNvSpPr/>
          <p:nvPr/>
        </p:nvSpPr>
        <p:spPr>
          <a:xfrm rot="2700000">
            <a:off x="4227576" y="6012180"/>
            <a:ext cx="64008" cy="64008"/>
          </a:xfrm>
          <a:prstGeom prst="rect">
            <a:avLst/>
          </a:prstGeom>
          <a:solidFill>
            <a:srgbClr val="C9A227"/>
          </a:solidFill>
          <a:ln w="3175">
            <a:solidFill>
              <a:srgbClr val="C9A227"/>
            </a:solidFill>
            <a:prstDash val="solid"/>
          </a:ln>
        </p:spPr>
      </p:sp>
      <p:sp>
        <p:nvSpPr>
          <p:cNvPr id="5" name="Text 3"/>
          <p:cNvSpPr/>
          <p:nvPr/>
        </p:nvSpPr>
        <p:spPr>
          <a:xfrm>
            <a:off x="4410456" y="5907024"/>
            <a:ext cx="2712720" cy="274320"/>
          </a:xfrm>
          <a:prstGeom prst="rect">
            <a:avLst/>
          </a:prstGeom>
          <a:noFill/>
          <a:ln/>
        </p:spPr>
        <p:txBody>
          <a:bodyPr wrap="square" lIns="0" tIns="0" rIns="0" bIns="0" rtlCol="0" anchor="ctr"/>
          <a:lstStyle/>
          <a:p>
            <a:pPr indent="0" marL="0">
              <a:buNone/>
            </a:pPr>
            <a:r>
              <a:rPr lang="en-US" sz="1600" spc="120" kern="0" dirty="0">
                <a:solidFill>
                  <a:srgbClr val="AFA893"/>
                </a:solidFill>
                <a:latin typeface="Arial" pitchFamily="34" charset="0"/>
                <a:ea typeface="Arial" pitchFamily="34" charset="-122"/>
                <a:cs typeface="Arial" pitchFamily="34" charset="-120"/>
              </a:rPr>
              <a:t>OCTOBER 21, 2026</a:t>
            </a:r>
            <a:endParaRPr lang="en-US" sz="1600" dirty="0"/>
          </a:p>
        </p:txBody>
      </p:sp>
      <p:sp>
        <p:nvSpPr>
          <p:cNvPr id="6" name="Text 4"/>
          <p:cNvSpPr/>
          <p:nvPr/>
        </p:nvSpPr>
        <p:spPr>
          <a:xfrm>
            <a:off x="10652760" y="5907024"/>
            <a:ext cx="731520" cy="274320"/>
          </a:xfrm>
          <a:prstGeom prst="rect">
            <a:avLst/>
          </a:prstGeom>
          <a:noFill/>
          <a:ln/>
        </p:spPr>
        <p:txBody>
          <a:bodyPr wrap="square" lIns="0" tIns="0" rIns="0" bIns="0" rtlCol="0" anchor="ctr"/>
          <a:lstStyle/>
          <a:p>
            <a:pPr algn="r" indent="0" marL="0">
              <a:buNone/>
            </a:pPr>
            <a:r>
              <a:rPr lang="en-US" sz="1600" spc="120" kern="0" dirty="0">
                <a:solidFill>
                  <a:srgbClr val="AFA893"/>
                </a:solidFill>
                <a:latin typeface="Arial" pitchFamily="34" charset="0"/>
                <a:ea typeface="Arial" pitchFamily="34" charset="-122"/>
                <a:cs typeface="Arial" pitchFamily="34" charset="-120"/>
              </a:rPr>
              <a:t>7</a:t>
            </a:r>
            <a:endParaRPr lang="en-US" sz="1600" dirty="0"/>
          </a:p>
        </p:txBody>
      </p:sp>
      <p:sp>
        <p:nvSpPr>
          <p:cNvPr id="7" name="Text 5"/>
          <p:cNvSpPr/>
          <p:nvPr/>
        </p:nvSpPr>
        <p:spPr>
          <a:xfrm>
            <a:off x="813816" y="457200"/>
            <a:ext cx="10570464" cy="310896"/>
          </a:xfrm>
          <a:prstGeom prst="rect">
            <a:avLst/>
          </a:prstGeom>
          <a:noFill/>
          <a:ln/>
        </p:spPr>
        <p:txBody>
          <a:bodyPr wrap="square" lIns="0" tIns="0" rIns="0" bIns="0" rtlCol="0" anchor="ctr"/>
          <a:lstStyle/>
          <a:p>
            <a:pPr indent="0" marL="0">
              <a:buNone/>
            </a:pPr>
            <a:r>
              <a:rPr lang="en-US" sz="1600" b="1" spc="180" kern="0" dirty="0">
                <a:solidFill>
                  <a:srgbClr val="E7C766"/>
                </a:solidFill>
                <a:latin typeface="Arial" pitchFamily="34" charset="0"/>
                <a:ea typeface="Arial" pitchFamily="34" charset="-122"/>
                <a:cs typeface="Arial" pitchFamily="34" charset="-120"/>
              </a:rPr>
              <a:t>WHAT YOU BUILD IN THE NEXT HOUR</a:t>
            </a:r>
            <a:endParaRPr lang="en-US" sz="1600" dirty="0"/>
          </a:p>
        </p:txBody>
      </p:sp>
      <p:sp>
        <p:nvSpPr>
          <p:cNvPr id="8" name="Text 6"/>
          <p:cNvSpPr/>
          <p:nvPr/>
        </p:nvSpPr>
        <p:spPr>
          <a:xfrm>
            <a:off x="813816" y="841248"/>
            <a:ext cx="10570464" cy="751027"/>
          </a:xfrm>
          <a:prstGeom prst="rect">
            <a:avLst/>
          </a:prstGeom>
          <a:noFill/>
          <a:ln/>
        </p:spPr>
        <p:txBody>
          <a:bodyPr wrap="square" lIns="0" tIns="0" rIns="0" bIns="0" rtlCol="0" anchor="t"/>
          <a:lstStyle/>
          <a:p>
            <a:pPr indent="0" marL="0">
              <a:lnSpc>
                <a:spcPct val="94000"/>
              </a:lnSpc>
              <a:buNone/>
            </a:pPr>
            <a:r>
              <a:rPr lang="en-US" sz="4000" b="1" dirty="0">
                <a:solidFill>
                  <a:srgbClr val="F7F3EA"/>
                </a:solidFill>
                <a:latin typeface="Georgia" pitchFamily="34" charset="0"/>
                <a:ea typeface="Georgia" pitchFamily="34" charset="-122"/>
                <a:cs typeface="Georgia" pitchFamily="34" charset="-120"/>
              </a:rPr>
              <a:t>An agent is just a document.</a:t>
            </a:r>
            <a:endParaRPr lang="en-US" sz="4000" dirty="0"/>
          </a:p>
        </p:txBody>
      </p:sp>
      <p:sp>
        <p:nvSpPr>
          <p:cNvPr id="9" name="Shape 7"/>
          <p:cNvSpPr/>
          <p:nvPr/>
        </p:nvSpPr>
        <p:spPr>
          <a:xfrm>
            <a:off x="2542642" y="2460955"/>
            <a:ext cx="2047037" cy="2047037"/>
          </a:xfrm>
          <a:prstGeom prst="ellipse">
            <a:avLst/>
          </a:prstGeom>
          <a:ln w="12700">
            <a:solidFill>
              <a:srgbClr val="C9A227"/>
            </a:solidFill>
            <a:prstDash val="solid"/>
          </a:ln>
        </p:spPr>
      </p:sp>
      <p:sp>
        <p:nvSpPr>
          <p:cNvPr id="10" name="Shape 8"/>
          <p:cNvSpPr/>
          <p:nvPr/>
        </p:nvSpPr>
        <p:spPr>
          <a:xfrm rot="8100000">
            <a:off x="4242348" y="2695357"/>
            <a:ext cx="95098" cy="130759"/>
          </a:xfrm>
          <a:prstGeom prst="triangle">
            <a:avLst/>
          </a:prstGeom>
          <a:solidFill>
            <a:srgbClr val="C9A227"/>
          </a:solidFill>
          <a:ln/>
        </p:spPr>
      </p:sp>
      <p:sp>
        <p:nvSpPr>
          <p:cNvPr id="11" name="Shape 9"/>
          <p:cNvSpPr/>
          <p:nvPr/>
        </p:nvSpPr>
        <p:spPr>
          <a:xfrm rot="13500000">
            <a:off x="4242348" y="4142831"/>
            <a:ext cx="95098" cy="130759"/>
          </a:xfrm>
          <a:prstGeom prst="triangle">
            <a:avLst/>
          </a:prstGeom>
          <a:solidFill>
            <a:srgbClr val="C9A227"/>
          </a:solidFill>
          <a:ln/>
        </p:spPr>
      </p:sp>
      <p:sp>
        <p:nvSpPr>
          <p:cNvPr id="12" name="Shape 10"/>
          <p:cNvSpPr/>
          <p:nvPr/>
        </p:nvSpPr>
        <p:spPr>
          <a:xfrm rot="18900000">
            <a:off x="2794874" y="4142831"/>
            <a:ext cx="95098" cy="130759"/>
          </a:xfrm>
          <a:prstGeom prst="triangle">
            <a:avLst/>
          </a:prstGeom>
          <a:solidFill>
            <a:srgbClr val="C9A227"/>
          </a:solidFill>
          <a:ln/>
        </p:spPr>
      </p:sp>
      <p:sp>
        <p:nvSpPr>
          <p:cNvPr id="13" name="Shape 11"/>
          <p:cNvSpPr/>
          <p:nvPr/>
        </p:nvSpPr>
        <p:spPr>
          <a:xfrm rot="2700000">
            <a:off x="2794874" y="2695357"/>
            <a:ext cx="95098" cy="130759"/>
          </a:xfrm>
          <a:prstGeom prst="triangle">
            <a:avLst/>
          </a:prstGeom>
          <a:solidFill>
            <a:srgbClr val="C9A227"/>
          </a:solidFill>
          <a:ln/>
        </p:spPr>
      </p:sp>
      <p:sp>
        <p:nvSpPr>
          <p:cNvPr id="14" name="Shape 12"/>
          <p:cNvSpPr/>
          <p:nvPr/>
        </p:nvSpPr>
        <p:spPr>
          <a:xfrm>
            <a:off x="2972519" y="2890833"/>
            <a:ext cx="1187281" cy="1187281"/>
          </a:xfrm>
          <a:prstGeom prst="ellipse">
            <a:avLst/>
          </a:prstGeom>
          <a:solidFill>
            <a:srgbClr val="A31621"/>
          </a:solidFill>
          <a:ln/>
        </p:spPr>
      </p:sp>
      <p:sp>
        <p:nvSpPr>
          <p:cNvPr id="15" name="Text 13"/>
          <p:cNvSpPr/>
          <p:nvPr/>
        </p:nvSpPr>
        <p:spPr>
          <a:xfrm>
            <a:off x="3018239" y="3352394"/>
            <a:ext cx="1095841" cy="264160"/>
          </a:xfrm>
          <a:prstGeom prst="rect">
            <a:avLst/>
          </a:prstGeom>
          <a:noFill/>
          <a:ln/>
        </p:spPr>
        <p:txBody>
          <a:bodyPr wrap="square" lIns="0" tIns="0" rIns="0" bIns="0" rtlCol="0" anchor="ctr"/>
          <a:lstStyle/>
          <a:p>
            <a:pPr algn="ctr" indent="0" marL="0">
              <a:lnSpc>
                <a:spcPct val="102000"/>
              </a:lnSpc>
              <a:buNone/>
            </a:pPr>
            <a:r>
              <a:rPr lang="en-US" sz="1600" b="1" dirty="0">
                <a:solidFill>
                  <a:srgbClr val="FFFFFF"/>
                </a:solidFill>
                <a:latin typeface="Georgia" pitchFamily="34" charset="0"/>
                <a:ea typeface="Georgia" pitchFamily="34" charset="-122"/>
                <a:cs typeface="Georgia" pitchFamily="34" charset="-120"/>
              </a:rPr>
              <a:t>DONNA</a:t>
            </a:r>
            <a:endParaRPr lang="en-US" sz="1600" dirty="0"/>
          </a:p>
        </p:txBody>
      </p:sp>
      <p:sp>
        <p:nvSpPr>
          <p:cNvPr id="16" name="Shape 14"/>
          <p:cNvSpPr/>
          <p:nvPr/>
        </p:nvSpPr>
        <p:spPr>
          <a:xfrm>
            <a:off x="3282696" y="2177491"/>
            <a:ext cx="566928" cy="566928"/>
          </a:xfrm>
          <a:prstGeom prst="ellipse">
            <a:avLst/>
          </a:prstGeom>
          <a:solidFill>
            <a:srgbClr val="14213D"/>
          </a:solidFill>
          <a:ln w="12700">
            <a:solidFill>
              <a:srgbClr val="C9A227"/>
            </a:solidFill>
            <a:prstDash val="solid"/>
          </a:ln>
        </p:spPr>
      </p:sp>
      <p:sp>
        <p:nvSpPr>
          <p:cNvPr id="17" name="Text 15"/>
          <p:cNvSpPr/>
          <p:nvPr/>
        </p:nvSpPr>
        <p:spPr>
          <a:xfrm>
            <a:off x="3282696" y="2177491"/>
            <a:ext cx="566928" cy="566928"/>
          </a:xfrm>
          <a:prstGeom prst="rect">
            <a:avLst/>
          </a:prstGeom>
          <a:noFill/>
          <a:ln/>
        </p:spPr>
        <p:txBody>
          <a:bodyPr wrap="square" lIns="0" tIns="0" rIns="0" bIns="0" rtlCol="0" anchor="ctr"/>
          <a:lstStyle/>
          <a:p>
            <a:pPr algn="ctr" indent="0" marL="0">
              <a:buNone/>
            </a:pPr>
            <a:r>
              <a:rPr lang="en-US" sz="1600" b="1" dirty="0">
                <a:solidFill>
                  <a:srgbClr val="E7C766"/>
                </a:solidFill>
                <a:latin typeface="Georgia" pitchFamily="34" charset="0"/>
                <a:ea typeface="Georgia" pitchFamily="34" charset="-122"/>
                <a:cs typeface="Georgia" pitchFamily="34" charset="-120"/>
              </a:rPr>
              <a:t>01</a:t>
            </a:r>
            <a:endParaRPr lang="en-US" sz="1600" dirty="0"/>
          </a:p>
        </p:txBody>
      </p:sp>
      <p:sp>
        <p:nvSpPr>
          <p:cNvPr id="18" name="Text 16"/>
          <p:cNvSpPr/>
          <p:nvPr/>
        </p:nvSpPr>
        <p:spPr>
          <a:xfrm>
            <a:off x="2697480" y="1756867"/>
            <a:ext cx="1737360" cy="347472"/>
          </a:xfrm>
          <a:prstGeom prst="rect">
            <a:avLst/>
          </a:prstGeom>
          <a:noFill/>
          <a:ln/>
        </p:spPr>
        <p:txBody>
          <a:bodyPr wrap="square" lIns="0" tIns="0" rIns="0" bIns="0" rtlCol="0" anchor="ctr"/>
          <a:lstStyle/>
          <a:p>
            <a:pPr algn="ctr" indent="0" marL="0">
              <a:buNone/>
            </a:pPr>
            <a:r>
              <a:rPr lang="en-US" sz="1600" b="1" spc="120" kern="0" dirty="0">
                <a:solidFill>
                  <a:srgbClr val="E7C766"/>
                </a:solidFill>
                <a:latin typeface="Arial" pitchFamily="34" charset="0"/>
                <a:ea typeface="Arial" pitchFamily="34" charset="-122"/>
                <a:cs typeface="Arial" pitchFamily="34" charset="-120"/>
              </a:rPr>
              <a:t>CONNECT</a:t>
            </a:r>
            <a:endParaRPr lang="en-US" sz="1600" dirty="0"/>
          </a:p>
        </p:txBody>
      </p:sp>
      <p:sp>
        <p:nvSpPr>
          <p:cNvPr id="19" name="Shape 17"/>
          <p:cNvSpPr/>
          <p:nvPr/>
        </p:nvSpPr>
        <p:spPr>
          <a:xfrm>
            <a:off x="4306214" y="3201010"/>
            <a:ext cx="566928" cy="566928"/>
          </a:xfrm>
          <a:prstGeom prst="ellipse">
            <a:avLst/>
          </a:prstGeom>
          <a:solidFill>
            <a:srgbClr val="14213D"/>
          </a:solidFill>
          <a:ln w="12700">
            <a:solidFill>
              <a:srgbClr val="C9A227"/>
            </a:solidFill>
            <a:prstDash val="solid"/>
          </a:ln>
        </p:spPr>
      </p:sp>
      <p:sp>
        <p:nvSpPr>
          <p:cNvPr id="20" name="Text 18"/>
          <p:cNvSpPr/>
          <p:nvPr/>
        </p:nvSpPr>
        <p:spPr>
          <a:xfrm>
            <a:off x="4306214" y="3201010"/>
            <a:ext cx="566928" cy="566928"/>
          </a:xfrm>
          <a:prstGeom prst="rect">
            <a:avLst/>
          </a:prstGeom>
          <a:noFill/>
          <a:ln/>
        </p:spPr>
        <p:txBody>
          <a:bodyPr wrap="square" lIns="0" tIns="0" rIns="0" bIns="0" rtlCol="0" anchor="ctr"/>
          <a:lstStyle/>
          <a:p>
            <a:pPr algn="ctr" indent="0" marL="0">
              <a:buNone/>
            </a:pPr>
            <a:r>
              <a:rPr lang="en-US" sz="1600" b="1" dirty="0">
                <a:solidFill>
                  <a:srgbClr val="E7C766"/>
                </a:solidFill>
                <a:latin typeface="Georgia" pitchFamily="34" charset="0"/>
                <a:ea typeface="Georgia" pitchFamily="34" charset="-122"/>
                <a:cs typeface="Georgia" pitchFamily="34" charset="-120"/>
              </a:rPr>
              <a:t>02</a:t>
            </a:r>
            <a:endParaRPr lang="en-US" sz="1600" dirty="0"/>
          </a:p>
        </p:txBody>
      </p:sp>
      <p:sp>
        <p:nvSpPr>
          <p:cNvPr id="21" name="Text 19"/>
          <p:cNvSpPr/>
          <p:nvPr/>
        </p:nvSpPr>
        <p:spPr>
          <a:xfrm>
            <a:off x="5001158" y="3310738"/>
            <a:ext cx="917448" cy="347472"/>
          </a:xfrm>
          <a:prstGeom prst="rect">
            <a:avLst/>
          </a:prstGeom>
          <a:noFill/>
          <a:ln/>
        </p:spPr>
        <p:txBody>
          <a:bodyPr wrap="square" lIns="0" tIns="0" rIns="0" bIns="0" rtlCol="0" anchor="ctr"/>
          <a:lstStyle/>
          <a:p>
            <a:pPr algn="l" indent="0" marL="0">
              <a:buNone/>
            </a:pPr>
            <a:r>
              <a:rPr lang="en-US" sz="1600" b="1" spc="120" kern="0" dirty="0">
                <a:solidFill>
                  <a:srgbClr val="E7C766"/>
                </a:solidFill>
                <a:latin typeface="Arial" pitchFamily="34" charset="0"/>
                <a:ea typeface="Arial" pitchFamily="34" charset="-122"/>
                <a:cs typeface="Arial" pitchFamily="34" charset="-120"/>
              </a:rPr>
              <a:t>TEACH</a:t>
            </a:r>
            <a:endParaRPr lang="en-US" sz="1600" dirty="0"/>
          </a:p>
        </p:txBody>
      </p:sp>
      <p:sp>
        <p:nvSpPr>
          <p:cNvPr id="22" name="Shape 20"/>
          <p:cNvSpPr/>
          <p:nvPr/>
        </p:nvSpPr>
        <p:spPr>
          <a:xfrm>
            <a:off x="3282696" y="4224528"/>
            <a:ext cx="566928" cy="566928"/>
          </a:xfrm>
          <a:prstGeom prst="ellipse">
            <a:avLst/>
          </a:prstGeom>
          <a:solidFill>
            <a:srgbClr val="14213D"/>
          </a:solidFill>
          <a:ln w="12700">
            <a:solidFill>
              <a:srgbClr val="C9A227"/>
            </a:solidFill>
            <a:prstDash val="solid"/>
          </a:ln>
        </p:spPr>
      </p:sp>
      <p:sp>
        <p:nvSpPr>
          <p:cNvPr id="23" name="Text 21"/>
          <p:cNvSpPr/>
          <p:nvPr/>
        </p:nvSpPr>
        <p:spPr>
          <a:xfrm>
            <a:off x="3282696" y="4224528"/>
            <a:ext cx="566928" cy="566928"/>
          </a:xfrm>
          <a:prstGeom prst="rect">
            <a:avLst/>
          </a:prstGeom>
          <a:noFill/>
          <a:ln/>
        </p:spPr>
        <p:txBody>
          <a:bodyPr wrap="square" lIns="0" tIns="0" rIns="0" bIns="0" rtlCol="0" anchor="ctr"/>
          <a:lstStyle/>
          <a:p>
            <a:pPr algn="ctr" indent="0" marL="0">
              <a:buNone/>
            </a:pPr>
            <a:r>
              <a:rPr lang="en-US" sz="1600" b="1" dirty="0">
                <a:solidFill>
                  <a:srgbClr val="E7C766"/>
                </a:solidFill>
                <a:latin typeface="Georgia" pitchFamily="34" charset="0"/>
                <a:ea typeface="Georgia" pitchFamily="34" charset="-122"/>
                <a:cs typeface="Georgia" pitchFamily="34" charset="-120"/>
              </a:rPr>
              <a:t>03</a:t>
            </a:r>
            <a:endParaRPr lang="en-US" sz="1600" dirty="0"/>
          </a:p>
        </p:txBody>
      </p:sp>
      <p:sp>
        <p:nvSpPr>
          <p:cNvPr id="24" name="Text 22"/>
          <p:cNvSpPr/>
          <p:nvPr/>
        </p:nvSpPr>
        <p:spPr>
          <a:xfrm>
            <a:off x="2697480" y="4864608"/>
            <a:ext cx="1737360" cy="347472"/>
          </a:xfrm>
          <a:prstGeom prst="rect">
            <a:avLst/>
          </a:prstGeom>
          <a:noFill/>
          <a:ln/>
        </p:spPr>
        <p:txBody>
          <a:bodyPr wrap="square" lIns="0" tIns="0" rIns="0" bIns="0" rtlCol="0" anchor="ctr"/>
          <a:lstStyle/>
          <a:p>
            <a:pPr algn="ctr" indent="0" marL="0">
              <a:buNone/>
            </a:pPr>
            <a:r>
              <a:rPr lang="en-US" sz="1600" b="1" spc="120" kern="0" dirty="0">
                <a:solidFill>
                  <a:srgbClr val="E7C766"/>
                </a:solidFill>
                <a:latin typeface="Arial" pitchFamily="34" charset="0"/>
                <a:ea typeface="Arial" pitchFamily="34" charset="-122"/>
                <a:cs typeface="Arial" pitchFamily="34" charset="-120"/>
              </a:rPr>
              <a:t>RUN</a:t>
            </a:r>
            <a:endParaRPr lang="en-US" sz="1600" dirty="0"/>
          </a:p>
        </p:txBody>
      </p:sp>
      <p:sp>
        <p:nvSpPr>
          <p:cNvPr id="25" name="Shape 23"/>
          <p:cNvSpPr/>
          <p:nvPr/>
        </p:nvSpPr>
        <p:spPr>
          <a:xfrm>
            <a:off x="2259178" y="3201010"/>
            <a:ext cx="566928" cy="566928"/>
          </a:xfrm>
          <a:prstGeom prst="ellipse">
            <a:avLst/>
          </a:prstGeom>
          <a:solidFill>
            <a:srgbClr val="14213D"/>
          </a:solidFill>
          <a:ln w="12700">
            <a:solidFill>
              <a:srgbClr val="C9A227"/>
            </a:solidFill>
            <a:prstDash val="solid"/>
          </a:ln>
        </p:spPr>
      </p:sp>
      <p:sp>
        <p:nvSpPr>
          <p:cNvPr id="26" name="Text 24"/>
          <p:cNvSpPr/>
          <p:nvPr/>
        </p:nvSpPr>
        <p:spPr>
          <a:xfrm>
            <a:off x="2259178" y="3201010"/>
            <a:ext cx="566928" cy="566928"/>
          </a:xfrm>
          <a:prstGeom prst="rect">
            <a:avLst/>
          </a:prstGeom>
          <a:noFill/>
          <a:ln/>
        </p:spPr>
        <p:txBody>
          <a:bodyPr wrap="square" lIns="0" tIns="0" rIns="0" bIns="0" rtlCol="0" anchor="ctr"/>
          <a:lstStyle/>
          <a:p>
            <a:pPr algn="ctr" indent="0" marL="0">
              <a:buNone/>
            </a:pPr>
            <a:r>
              <a:rPr lang="en-US" sz="1600" b="1" dirty="0">
                <a:solidFill>
                  <a:srgbClr val="E7C766"/>
                </a:solidFill>
                <a:latin typeface="Georgia" pitchFamily="34" charset="0"/>
                <a:ea typeface="Georgia" pitchFamily="34" charset="-122"/>
                <a:cs typeface="Georgia" pitchFamily="34" charset="-120"/>
              </a:rPr>
              <a:t>04</a:t>
            </a:r>
            <a:endParaRPr lang="en-US" sz="1600" dirty="0"/>
          </a:p>
        </p:txBody>
      </p:sp>
      <p:sp>
        <p:nvSpPr>
          <p:cNvPr id="27" name="Text 25"/>
          <p:cNvSpPr/>
          <p:nvPr/>
        </p:nvSpPr>
        <p:spPr>
          <a:xfrm>
            <a:off x="890626" y="3310738"/>
            <a:ext cx="1240536" cy="347472"/>
          </a:xfrm>
          <a:prstGeom prst="rect">
            <a:avLst/>
          </a:prstGeom>
          <a:noFill/>
          <a:ln/>
        </p:spPr>
        <p:txBody>
          <a:bodyPr wrap="square" lIns="0" tIns="0" rIns="0" bIns="0" rtlCol="0" anchor="ctr"/>
          <a:lstStyle/>
          <a:p>
            <a:pPr algn="r" indent="0" marL="0">
              <a:buNone/>
            </a:pPr>
            <a:r>
              <a:rPr lang="en-US" sz="1600" b="1" spc="120" kern="0" dirty="0">
                <a:solidFill>
                  <a:srgbClr val="E7C766"/>
                </a:solidFill>
                <a:latin typeface="Arial" pitchFamily="34" charset="0"/>
                <a:ea typeface="Arial" pitchFamily="34" charset="-122"/>
                <a:cs typeface="Arial" pitchFamily="34" charset="-120"/>
              </a:rPr>
              <a:t>RETRAIN</a:t>
            </a:r>
            <a:endParaRPr lang="en-US" sz="1600" dirty="0"/>
          </a:p>
        </p:txBody>
      </p:sp>
      <p:sp>
        <p:nvSpPr>
          <p:cNvPr id="28" name="Text 26"/>
          <p:cNvSpPr/>
          <p:nvPr/>
        </p:nvSpPr>
        <p:spPr>
          <a:xfrm>
            <a:off x="6675120" y="1793443"/>
            <a:ext cx="4709160" cy="347472"/>
          </a:xfrm>
          <a:prstGeom prst="rect">
            <a:avLst/>
          </a:prstGeom>
          <a:noFill/>
          <a:ln/>
        </p:spPr>
        <p:txBody>
          <a:bodyPr wrap="square" lIns="0" tIns="0" rIns="0" bIns="0" rtlCol="0" anchor="t"/>
          <a:lstStyle/>
          <a:p>
            <a:pPr indent="0" marL="0">
              <a:buNone/>
            </a:pPr>
            <a:r>
              <a:rPr lang="en-US" sz="1600" b="1" dirty="0">
                <a:solidFill>
                  <a:srgbClr val="E7C766"/>
                </a:solidFill>
                <a:latin typeface="Arial" pitchFamily="34" charset="0"/>
                <a:ea typeface="Arial" pitchFamily="34" charset="-122"/>
                <a:cs typeface="Arial" pitchFamily="34" charset="-120"/>
              </a:rPr>
              <a:t>01  </a:t>
            </a:r>
            <a:pPr indent="0" marL="0">
              <a:buNone/>
            </a:pPr>
            <a:r>
              <a:rPr lang="en-US" sz="1600" b="1" spc="100" kern="0" dirty="0">
                <a:solidFill>
                  <a:srgbClr val="F7F3EA"/>
                </a:solidFill>
                <a:latin typeface="Arial" pitchFamily="34" charset="0"/>
                <a:ea typeface="Arial" pitchFamily="34" charset="-122"/>
                <a:cs typeface="Arial" pitchFamily="34" charset="-120"/>
              </a:rPr>
              <a:t>CONNECT</a:t>
            </a:r>
            <a:endParaRPr lang="en-US" sz="1600" dirty="0"/>
          </a:p>
        </p:txBody>
      </p:sp>
      <p:sp>
        <p:nvSpPr>
          <p:cNvPr id="29" name="Text 27"/>
          <p:cNvSpPr/>
          <p:nvPr/>
        </p:nvSpPr>
        <p:spPr>
          <a:xfrm>
            <a:off x="6675120" y="2159203"/>
            <a:ext cx="4709160" cy="347472"/>
          </a:xfrm>
          <a:prstGeom prst="rect">
            <a:avLst/>
          </a:prstGeom>
          <a:noFill/>
          <a:ln/>
        </p:spPr>
        <p:txBody>
          <a:bodyPr wrap="square" lIns="0" tIns="0" rIns="0" bIns="0" rtlCol="0" anchor="t"/>
          <a:lstStyle/>
          <a:p>
            <a:pPr indent="0" marL="0">
              <a:lnSpc>
                <a:spcPct val="116000"/>
              </a:lnSpc>
              <a:buNone/>
            </a:pPr>
            <a:r>
              <a:rPr lang="en-US" sz="1600" dirty="0">
                <a:solidFill>
                  <a:srgbClr val="F7F3EA"/>
                </a:solidFill>
                <a:latin typeface="Arial" pitchFamily="34" charset="0"/>
                <a:ea typeface="Arial" pitchFamily="34" charset="-122"/>
                <a:cs typeface="Arial" pitchFamily="34" charset="-120"/>
              </a:rPr>
              <a:t>Connect her to your inbox and calendar.</a:t>
            </a:r>
            <a:endParaRPr lang="en-US" sz="1600" dirty="0"/>
          </a:p>
        </p:txBody>
      </p:sp>
      <p:sp>
        <p:nvSpPr>
          <p:cNvPr id="30" name="Text 28"/>
          <p:cNvSpPr/>
          <p:nvPr/>
        </p:nvSpPr>
        <p:spPr>
          <a:xfrm>
            <a:off x="6675120" y="2616403"/>
            <a:ext cx="4709160" cy="347472"/>
          </a:xfrm>
          <a:prstGeom prst="rect">
            <a:avLst/>
          </a:prstGeom>
          <a:noFill/>
          <a:ln/>
        </p:spPr>
        <p:txBody>
          <a:bodyPr wrap="square" lIns="0" tIns="0" rIns="0" bIns="0" rtlCol="0" anchor="t"/>
          <a:lstStyle/>
          <a:p>
            <a:pPr indent="0" marL="0">
              <a:buNone/>
            </a:pPr>
            <a:r>
              <a:rPr lang="en-US" sz="1600" b="1" dirty="0">
                <a:solidFill>
                  <a:srgbClr val="E7C766"/>
                </a:solidFill>
                <a:latin typeface="Arial" pitchFamily="34" charset="0"/>
                <a:ea typeface="Arial" pitchFamily="34" charset="-122"/>
                <a:cs typeface="Arial" pitchFamily="34" charset="-120"/>
              </a:rPr>
              <a:t>02  </a:t>
            </a:r>
            <a:pPr indent="0" marL="0">
              <a:buNone/>
            </a:pPr>
            <a:r>
              <a:rPr lang="en-US" sz="1600" b="1" spc="100" kern="0" dirty="0">
                <a:solidFill>
                  <a:srgbClr val="F7F3EA"/>
                </a:solidFill>
                <a:latin typeface="Arial" pitchFamily="34" charset="0"/>
                <a:ea typeface="Arial" pitchFamily="34" charset="-122"/>
                <a:cs typeface="Arial" pitchFamily="34" charset="-120"/>
              </a:rPr>
              <a:t>TEACH</a:t>
            </a:r>
            <a:endParaRPr lang="en-US" sz="1600" dirty="0"/>
          </a:p>
        </p:txBody>
      </p:sp>
      <p:sp>
        <p:nvSpPr>
          <p:cNvPr id="31" name="Text 29"/>
          <p:cNvSpPr/>
          <p:nvPr/>
        </p:nvSpPr>
        <p:spPr>
          <a:xfrm>
            <a:off x="6675120" y="2982163"/>
            <a:ext cx="4709160" cy="347472"/>
          </a:xfrm>
          <a:prstGeom prst="rect">
            <a:avLst/>
          </a:prstGeom>
          <a:noFill/>
          <a:ln/>
        </p:spPr>
        <p:txBody>
          <a:bodyPr wrap="square" lIns="0" tIns="0" rIns="0" bIns="0" rtlCol="0" anchor="t"/>
          <a:lstStyle/>
          <a:p>
            <a:pPr indent="0" marL="0">
              <a:lnSpc>
                <a:spcPct val="116000"/>
              </a:lnSpc>
              <a:buNone/>
            </a:pPr>
            <a:r>
              <a:rPr lang="en-US" sz="1600" dirty="0">
                <a:solidFill>
                  <a:srgbClr val="F7F3EA"/>
                </a:solidFill>
                <a:latin typeface="Arial" pitchFamily="34" charset="0"/>
                <a:ea typeface="Arial" pitchFamily="34" charset="-122"/>
                <a:cs typeface="Arial" pitchFamily="34" charset="-120"/>
              </a:rPr>
              <a:t>Four questions. She writes her playbook.</a:t>
            </a:r>
            <a:endParaRPr lang="en-US" sz="1600" dirty="0"/>
          </a:p>
        </p:txBody>
      </p:sp>
      <p:sp>
        <p:nvSpPr>
          <p:cNvPr id="32" name="Text 30"/>
          <p:cNvSpPr/>
          <p:nvPr/>
        </p:nvSpPr>
        <p:spPr>
          <a:xfrm>
            <a:off x="6675120" y="3439363"/>
            <a:ext cx="4709160" cy="347472"/>
          </a:xfrm>
          <a:prstGeom prst="rect">
            <a:avLst/>
          </a:prstGeom>
          <a:noFill/>
          <a:ln/>
        </p:spPr>
        <p:txBody>
          <a:bodyPr wrap="square" lIns="0" tIns="0" rIns="0" bIns="0" rtlCol="0" anchor="t"/>
          <a:lstStyle/>
          <a:p>
            <a:pPr indent="0" marL="0">
              <a:buNone/>
            </a:pPr>
            <a:r>
              <a:rPr lang="en-US" sz="1600" b="1" dirty="0">
                <a:solidFill>
                  <a:srgbClr val="E7C766"/>
                </a:solidFill>
                <a:latin typeface="Arial" pitchFamily="34" charset="0"/>
                <a:ea typeface="Arial" pitchFamily="34" charset="-122"/>
                <a:cs typeface="Arial" pitchFamily="34" charset="-120"/>
              </a:rPr>
              <a:t>03  </a:t>
            </a:r>
            <a:pPr indent="0" marL="0">
              <a:buNone/>
            </a:pPr>
            <a:r>
              <a:rPr lang="en-US" sz="1600" b="1" spc="100" kern="0" dirty="0">
                <a:solidFill>
                  <a:srgbClr val="F7F3EA"/>
                </a:solidFill>
                <a:latin typeface="Arial" pitchFamily="34" charset="0"/>
                <a:ea typeface="Arial" pitchFamily="34" charset="-122"/>
                <a:cs typeface="Arial" pitchFamily="34" charset="-120"/>
              </a:rPr>
              <a:t>RUN</a:t>
            </a:r>
            <a:endParaRPr lang="en-US" sz="1600" dirty="0"/>
          </a:p>
        </p:txBody>
      </p:sp>
      <p:sp>
        <p:nvSpPr>
          <p:cNvPr id="33" name="Text 31"/>
          <p:cNvSpPr/>
          <p:nvPr/>
        </p:nvSpPr>
        <p:spPr>
          <a:xfrm>
            <a:off x="6675120" y="3805123"/>
            <a:ext cx="4709160" cy="347472"/>
          </a:xfrm>
          <a:prstGeom prst="rect">
            <a:avLst/>
          </a:prstGeom>
          <a:noFill/>
          <a:ln/>
        </p:spPr>
        <p:txBody>
          <a:bodyPr wrap="square" lIns="0" tIns="0" rIns="0" bIns="0" rtlCol="0" anchor="t"/>
          <a:lstStyle/>
          <a:p>
            <a:pPr indent="0" marL="0">
              <a:lnSpc>
                <a:spcPct val="116000"/>
              </a:lnSpc>
              <a:buNone/>
            </a:pPr>
            <a:r>
              <a:rPr lang="en-US" sz="1600" dirty="0">
                <a:solidFill>
                  <a:srgbClr val="F7F3EA"/>
                </a:solidFill>
                <a:latin typeface="Arial" pitchFamily="34" charset="0"/>
                <a:ea typeface="Arial" pitchFamily="34" charset="-122"/>
                <a:cs typeface="Arial" pitchFamily="34" charset="-120"/>
              </a:rPr>
              <a:t>She takes the 4:30 shift, every weekday.</a:t>
            </a:r>
            <a:endParaRPr lang="en-US" sz="1600" dirty="0"/>
          </a:p>
        </p:txBody>
      </p:sp>
      <p:sp>
        <p:nvSpPr>
          <p:cNvPr id="34" name="Text 32"/>
          <p:cNvSpPr/>
          <p:nvPr/>
        </p:nvSpPr>
        <p:spPr>
          <a:xfrm>
            <a:off x="6675120" y="4262323"/>
            <a:ext cx="4709160" cy="347472"/>
          </a:xfrm>
          <a:prstGeom prst="rect">
            <a:avLst/>
          </a:prstGeom>
          <a:noFill/>
          <a:ln/>
        </p:spPr>
        <p:txBody>
          <a:bodyPr wrap="square" lIns="0" tIns="0" rIns="0" bIns="0" rtlCol="0" anchor="t"/>
          <a:lstStyle/>
          <a:p>
            <a:pPr indent="0" marL="0">
              <a:buNone/>
            </a:pPr>
            <a:r>
              <a:rPr lang="en-US" sz="1600" b="1" dirty="0">
                <a:solidFill>
                  <a:srgbClr val="E7C766"/>
                </a:solidFill>
                <a:latin typeface="Arial" pitchFamily="34" charset="0"/>
                <a:ea typeface="Arial" pitchFamily="34" charset="-122"/>
                <a:cs typeface="Arial" pitchFamily="34" charset="-120"/>
              </a:rPr>
              <a:t>04  </a:t>
            </a:r>
            <a:pPr indent="0" marL="0">
              <a:buNone/>
            </a:pPr>
            <a:r>
              <a:rPr lang="en-US" sz="1600" b="1" spc="100" kern="0" dirty="0">
                <a:solidFill>
                  <a:srgbClr val="F7F3EA"/>
                </a:solidFill>
                <a:latin typeface="Arial" pitchFamily="34" charset="0"/>
                <a:ea typeface="Arial" pitchFamily="34" charset="-122"/>
                <a:cs typeface="Arial" pitchFamily="34" charset="-120"/>
              </a:rPr>
              <a:t>RETRAIN</a:t>
            </a:r>
            <a:endParaRPr lang="en-US" sz="1600" dirty="0"/>
          </a:p>
        </p:txBody>
      </p:sp>
      <p:sp>
        <p:nvSpPr>
          <p:cNvPr id="35" name="Text 33"/>
          <p:cNvSpPr/>
          <p:nvPr/>
        </p:nvSpPr>
        <p:spPr>
          <a:xfrm>
            <a:off x="6675120" y="4628083"/>
            <a:ext cx="4709160" cy="347472"/>
          </a:xfrm>
          <a:prstGeom prst="rect">
            <a:avLst/>
          </a:prstGeom>
          <a:noFill/>
          <a:ln/>
        </p:spPr>
        <p:txBody>
          <a:bodyPr wrap="square" lIns="0" tIns="0" rIns="0" bIns="0" rtlCol="0" anchor="t"/>
          <a:lstStyle/>
          <a:p>
            <a:pPr indent="0" marL="0">
              <a:lnSpc>
                <a:spcPct val="116000"/>
              </a:lnSpc>
              <a:buNone/>
            </a:pPr>
            <a:r>
              <a:rPr lang="en-US" sz="1600" dirty="0">
                <a:solidFill>
                  <a:srgbClr val="F7F3EA"/>
                </a:solidFill>
                <a:latin typeface="Arial" pitchFamily="34" charset="0"/>
                <a:ea typeface="Arial" pitchFamily="34" charset="-122"/>
                <a:cs typeface="Arial" pitchFamily="34" charset="-120"/>
              </a:rPr>
              <a:t>Fridays she reviews her week. You sign it.</a:t>
            </a:r>
            <a:endParaRPr lang="en-US" sz="1600" dirty="0"/>
          </a:p>
        </p:txBody>
      </p:sp>
      <p:sp>
        <p:nvSpPr>
          <p:cNvPr id="36" name="Text 34"/>
          <p:cNvSpPr/>
          <p:nvPr/>
        </p:nvSpPr>
        <p:spPr>
          <a:xfrm>
            <a:off x="813816" y="5340096"/>
            <a:ext cx="10570464" cy="347472"/>
          </a:xfrm>
          <a:prstGeom prst="rect">
            <a:avLst/>
          </a:prstGeom>
          <a:noFill/>
          <a:ln/>
        </p:spPr>
        <p:txBody>
          <a:bodyPr wrap="square" lIns="0" tIns="0" rIns="0" bIns="0" rtlCol="0" anchor="t"/>
          <a:lstStyle/>
          <a:p>
            <a:pPr algn="l" indent="0" marL="0">
              <a:lnSpc>
                <a:spcPct val="116000"/>
              </a:lnSpc>
              <a:buNone/>
            </a:pPr>
            <a:r>
              <a:rPr lang="en-US" sz="1600" b="1" dirty="0">
                <a:solidFill>
                  <a:srgbClr val="E7C766"/>
                </a:solidFill>
                <a:latin typeface="Arial" pitchFamily="34" charset="0"/>
                <a:ea typeface="Arial" pitchFamily="34" charset="-122"/>
                <a:cs typeface="Arial" pitchFamily="34" charset="-120"/>
              </a:rPr>
              <a:t>You are not retraining Claude. You are retraining Donna. And Donna is a document you own.</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3EA"/>
        </a:solidFill>
      </p:bgPr>
    </p:bg>
    <p:spTree>
      <p:nvGrpSpPr>
        <p:cNvPr id="1" name=""/>
        <p:cNvGrpSpPr/>
        <p:nvPr/>
      </p:nvGrpSpPr>
      <p:grpSpPr>
        <a:xfrm>
          <a:off x="0" y="0"/>
          <a:ext cx="0" cy="0"/>
          <a:chOff x="0" y="0"/>
          <a:chExt cx="0" cy="0"/>
        </a:xfrm>
      </p:grpSpPr>
      <p:sp>
        <p:nvSpPr>
          <p:cNvPr id="2" name="Shape 0"/>
          <p:cNvSpPr/>
          <p:nvPr/>
        </p:nvSpPr>
        <p:spPr>
          <a:xfrm>
            <a:off x="813816" y="5779008"/>
            <a:ext cx="10570464" cy="0"/>
          </a:xfrm>
          <a:prstGeom prst="line">
            <a:avLst/>
          </a:prstGeom>
          <a:noFill/>
          <a:ln w="9525">
            <a:solidFill>
              <a:srgbClr val="C9A227"/>
            </a:solidFill>
            <a:prstDash val="solid"/>
          </a:ln>
        </p:spPr>
      </p:sp>
      <p:sp>
        <p:nvSpPr>
          <p:cNvPr id="3" name="Text 1"/>
          <p:cNvSpPr/>
          <p:nvPr/>
        </p:nvSpPr>
        <p:spPr>
          <a:xfrm>
            <a:off x="813816" y="5907024"/>
            <a:ext cx="3358896" cy="274320"/>
          </a:xfrm>
          <a:prstGeom prst="rect">
            <a:avLst/>
          </a:prstGeom>
          <a:noFill/>
          <a:ln/>
        </p:spPr>
        <p:txBody>
          <a:bodyPr wrap="square" lIns="0" tIns="0" rIns="0" bIns="0" rtlCol="0" anchor="ctr"/>
          <a:lstStyle/>
          <a:p>
            <a:pPr indent="0" marL="0">
              <a:buNone/>
            </a:pPr>
            <a:r>
              <a:rPr lang="en-US" sz="1600" spc="120" kern="0" dirty="0">
                <a:solidFill>
                  <a:srgbClr val="5A6379"/>
                </a:solidFill>
                <a:latin typeface="Arial" pitchFamily="34" charset="0"/>
                <a:ea typeface="Arial" pitchFamily="34" charset="-122"/>
                <a:cs typeface="Arial" pitchFamily="34" charset="-120"/>
              </a:rPr>
              <a:t>BUILD YOUR OWN DONNA</a:t>
            </a:r>
            <a:endParaRPr lang="en-US" sz="1600" dirty="0"/>
          </a:p>
        </p:txBody>
      </p:sp>
      <p:sp>
        <p:nvSpPr>
          <p:cNvPr id="4" name="Shape 2"/>
          <p:cNvSpPr/>
          <p:nvPr/>
        </p:nvSpPr>
        <p:spPr>
          <a:xfrm rot="2700000">
            <a:off x="4227576" y="6012180"/>
            <a:ext cx="64008" cy="64008"/>
          </a:xfrm>
          <a:prstGeom prst="rect">
            <a:avLst/>
          </a:prstGeom>
          <a:solidFill>
            <a:srgbClr val="C9A227"/>
          </a:solidFill>
          <a:ln w="3175">
            <a:solidFill>
              <a:srgbClr val="C9A227"/>
            </a:solidFill>
            <a:prstDash val="solid"/>
          </a:ln>
        </p:spPr>
      </p:sp>
      <p:sp>
        <p:nvSpPr>
          <p:cNvPr id="5" name="Text 3"/>
          <p:cNvSpPr/>
          <p:nvPr/>
        </p:nvSpPr>
        <p:spPr>
          <a:xfrm>
            <a:off x="4410456" y="5907024"/>
            <a:ext cx="2712720" cy="274320"/>
          </a:xfrm>
          <a:prstGeom prst="rect">
            <a:avLst/>
          </a:prstGeom>
          <a:noFill/>
          <a:ln/>
        </p:spPr>
        <p:txBody>
          <a:bodyPr wrap="square" lIns="0" tIns="0" rIns="0" bIns="0" rtlCol="0" anchor="ctr"/>
          <a:lstStyle/>
          <a:p>
            <a:pPr indent="0" marL="0">
              <a:buNone/>
            </a:pPr>
            <a:r>
              <a:rPr lang="en-US" sz="1600" spc="120" kern="0" dirty="0">
                <a:solidFill>
                  <a:srgbClr val="5A6379"/>
                </a:solidFill>
                <a:latin typeface="Arial" pitchFamily="34" charset="0"/>
                <a:ea typeface="Arial" pitchFamily="34" charset="-122"/>
                <a:cs typeface="Arial" pitchFamily="34" charset="-120"/>
              </a:rPr>
              <a:t>OCTOBER 21, 2026</a:t>
            </a:r>
            <a:endParaRPr lang="en-US" sz="1600" dirty="0"/>
          </a:p>
        </p:txBody>
      </p:sp>
      <p:sp>
        <p:nvSpPr>
          <p:cNvPr id="6" name="Text 4"/>
          <p:cNvSpPr/>
          <p:nvPr/>
        </p:nvSpPr>
        <p:spPr>
          <a:xfrm>
            <a:off x="10652760" y="5907024"/>
            <a:ext cx="731520" cy="274320"/>
          </a:xfrm>
          <a:prstGeom prst="rect">
            <a:avLst/>
          </a:prstGeom>
          <a:noFill/>
          <a:ln/>
        </p:spPr>
        <p:txBody>
          <a:bodyPr wrap="square" lIns="0" tIns="0" rIns="0" bIns="0" rtlCol="0" anchor="ctr"/>
          <a:lstStyle/>
          <a:p>
            <a:pPr algn="r" indent="0" marL="0">
              <a:buNone/>
            </a:pPr>
            <a:r>
              <a:rPr lang="en-US" sz="1600" spc="120" kern="0" dirty="0">
                <a:solidFill>
                  <a:srgbClr val="5A6379"/>
                </a:solidFill>
                <a:latin typeface="Arial" pitchFamily="34" charset="0"/>
                <a:ea typeface="Arial" pitchFamily="34" charset="-122"/>
                <a:cs typeface="Arial" pitchFamily="34" charset="-120"/>
              </a:rPr>
              <a:t>8</a:t>
            </a:r>
            <a:endParaRPr lang="en-US" sz="1600" dirty="0"/>
          </a:p>
        </p:txBody>
      </p:sp>
      <p:sp>
        <p:nvSpPr>
          <p:cNvPr id="7" name="Text 5"/>
          <p:cNvSpPr/>
          <p:nvPr/>
        </p:nvSpPr>
        <p:spPr>
          <a:xfrm>
            <a:off x="813816" y="457200"/>
            <a:ext cx="10570464" cy="310896"/>
          </a:xfrm>
          <a:prstGeom prst="rect">
            <a:avLst/>
          </a:prstGeom>
          <a:noFill/>
          <a:ln/>
        </p:spPr>
        <p:txBody>
          <a:bodyPr wrap="square" lIns="0" tIns="0" rIns="0" bIns="0" rtlCol="0" anchor="ctr"/>
          <a:lstStyle/>
          <a:p>
            <a:pPr indent="0" marL="0">
              <a:buNone/>
            </a:pPr>
            <a:r>
              <a:rPr lang="en-US" sz="1600" b="1" spc="180" kern="0" dirty="0">
                <a:solidFill>
                  <a:srgbClr val="8A6D14"/>
                </a:solidFill>
                <a:latin typeface="Arial" pitchFamily="34" charset="0"/>
                <a:ea typeface="Arial" pitchFamily="34" charset="-122"/>
                <a:cs typeface="Arial" pitchFamily="34" charset="-120"/>
              </a:rPr>
              <a:t>PROOF OF LIFE: HOW MY DONNA WORKS FOR ME TODAY</a:t>
            </a:r>
            <a:endParaRPr lang="en-US" sz="1600" dirty="0"/>
          </a:p>
        </p:txBody>
      </p:sp>
      <p:sp>
        <p:nvSpPr>
          <p:cNvPr id="8" name="Text 6"/>
          <p:cNvSpPr/>
          <p:nvPr/>
        </p:nvSpPr>
        <p:spPr>
          <a:xfrm>
            <a:off x="813816" y="841248"/>
            <a:ext cx="10570464" cy="751027"/>
          </a:xfrm>
          <a:prstGeom prst="rect">
            <a:avLst/>
          </a:prstGeom>
          <a:noFill/>
          <a:ln/>
        </p:spPr>
        <p:txBody>
          <a:bodyPr wrap="square" lIns="0" tIns="0" rIns="0" bIns="0" rtlCol="0" anchor="t"/>
          <a:lstStyle/>
          <a:p>
            <a:pPr indent="0" marL="0">
              <a:lnSpc>
                <a:spcPct val="94000"/>
              </a:lnSpc>
              <a:buNone/>
            </a:pPr>
            <a:r>
              <a:rPr lang="en-US" sz="4000" b="1" dirty="0">
                <a:solidFill>
                  <a:srgbClr val="14213D"/>
                </a:solidFill>
                <a:latin typeface="Georgia" pitchFamily="34" charset="0"/>
                <a:ea typeface="Georgia" pitchFamily="34" charset="-122"/>
                <a:cs typeface="Georgia" pitchFamily="34" charset="-120"/>
              </a:rPr>
              <a:t>What my Donna does for me.</a:t>
            </a:r>
            <a:endParaRPr lang="en-US" sz="4000" dirty="0"/>
          </a:p>
        </p:txBody>
      </p:sp>
      <p:sp>
        <p:nvSpPr>
          <p:cNvPr id="9" name="Shape 7"/>
          <p:cNvSpPr/>
          <p:nvPr/>
        </p:nvSpPr>
        <p:spPr>
          <a:xfrm rot="2700000">
            <a:off x="813816" y="1871167"/>
            <a:ext cx="100584" cy="100584"/>
          </a:xfrm>
          <a:prstGeom prst="rect">
            <a:avLst/>
          </a:prstGeom>
          <a:solidFill>
            <a:srgbClr val="C9A227"/>
          </a:solidFill>
          <a:ln w="3175">
            <a:solidFill>
              <a:srgbClr val="C9A227"/>
            </a:solidFill>
            <a:prstDash val="solid"/>
          </a:ln>
        </p:spPr>
      </p:sp>
      <p:sp>
        <p:nvSpPr>
          <p:cNvPr id="10" name="Text 8"/>
          <p:cNvSpPr/>
          <p:nvPr/>
        </p:nvSpPr>
        <p:spPr>
          <a:xfrm>
            <a:off x="1124712" y="1793443"/>
            <a:ext cx="4718304" cy="603504"/>
          </a:xfrm>
          <a:prstGeom prst="rect">
            <a:avLst/>
          </a:prstGeom>
          <a:noFill/>
          <a:ln/>
        </p:spPr>
        <p:txBody>
          <a:bodyPr wrap="square" lIns="0" tIns="0" rIns="0" bIns="0" rtlCol="0" anchor="t"/>
          <a:lstStyle/>
          <a:p>
            <a:pPr indent="0" marL="0">
              <a:lnSpc>
                <a:spcPct val="116000"/>
              </a:lnSpc>
              <a:buNone/>
            </a:pPr>
            <a:r>
              <a:rPr lang="en-US" sz="1600" b="1" dirty="0">
                <a:solidFill>
                  <a:srgbClr val="8A6D14"/>
                </a:solidFill>
                <a:latin typeface="Arial" pitchFamily="34" charset="0"/>
                <a:ea typeface="Arial" pitchFamily="34" charset="-122"/>
                <a:cs typeface="Arial" pitchFamily="34" charset="-120"/>
              </a:rPr>
              <a:t>Holds the calendar. </a:t>
            </a:r>
            <a:pPr indent="0" marL="0">
              <a:lnSpc>
                <a:spcPct val="116000"/>
              </a:lnSpc>
              <a:buNone/>
            </a:pPr>
            <a:r>
              <a:rPr lang="en-US" sz="1600" dirty="0">
                <a:solidFill>
                  <a:srgbClr val="14213D"/>
                </a:solidFill>
                <a:latin typeface="Arial" pitchFamily="34" charset="0"/>
                <a:ea typeface="Arial" pitchFamily="34" charset="-122"/>
                <a:cs typeface="Arial" pitchFamily="34" charset="-120"/>
              </a:rPr>
              <a:t>A thread picks a time. The hold is already on my calendar.</a:t>
            </a:r>
            <a:endParaRPr lang="en-US" sz="1600" dirty="0"/>
          </a:p>
        </p:txBody>
      </p:sp>
      <p:sp>
        <p:nvSpPr>
          <p:cNvPr id="11" name="Shape 9"/>
          <p:cNvSpPr/>
          <p:nvPr/>
        </p:nvSpPr>
        <p:spPr>
          <a:xfrm rot="2700000">
            <a:off x="813816" y="2620975"/>
            <a:ext cx="100584" cy="100584"/>
          </a:xfrm>
          <a:prstGeom prst="rect">
            <a:avLst/>
          </a:prstGeom>
          <a:solidFill>
            <a:srgbClr val="C9A227"/>
          </a:solidFill>
          <a:ln w="3175">
            <a:solidFill>
              <a:srgbClr val="C9A227"/>
            </a:solidFill>
            <a:prstDash val="solid"/>
          </a:ln>
        </p:spPr>
      </p:sp>
      <p:sp>
        <p:nvSpPr>
          <p:cNvPr id="12" name="Text 10"/>
          <p:cNvSpPr/>
          <p:nvPr/>
        </p:nvSpPr>
        <p:spPr>
          <a:xfrm>
            <a:off x="1124712" y="2543251"/>
            <a:ext cx="4718304" cy="603504"/>
          </a:xfrm>
          <a:prstGeom prst="rect">
            <a:avLst/>
          </a:prstGeom>
          <a:noFill/>
          <a:ln/>
        </p:spPr>
        <p:txBody>
          <a:bodyPr wrap="square" lIns="0" tIns="0" rIns="0" bIns="0" rtlCol="0" anchor="t"/>
          <a:lstStyle/>
          <a:p>
            <a:pPr indent="0" marL="0">
              <a:lnSpc>
                <a:spcPct val="116000"/>
              </a:lnSpc>
              <a:buNone/>
            </a:pPr>
            <a:r>
              <a:rPr lang="en-US" sz="1600" b="1" dirty="0">
                <a:solidFill>
                  <a:srgbClr val="8A6D14"/>
                </a:solidFill>
                <a:latin typeface="Arial" pitchFamily="34" charset="0"/>
                <a:ea typeface="Arial" pitchFamily="34" charset="-122"/>
                <a:cs typeface="Arial" pitchFamily="34" charset="-120"/>
              </a:rPr>
              <a:t>Checks the guest list. </a:t>
            </a:r>
            <a:pPr indent="0" marL="0">
              <a:lnSpc>
                <a:spcPct val="116000"/>
              </a:lnSpc>
              <a:buNone/>
            </a:pPr>
            <a:r>
              <a:rPr lang="en-US" sz="1600" dirty="0">
                <a:solidFill>
                  <a:srgbClr val="14213D"/>
                </a:solidFill>
                <a:latin typeface="Arial" pitchFamily="34" charset="0"/>
                <a:ea typeface="Arial" pitchFamily="34" charset="-122"/>
                <a:cs typeface="Arial" pitchFamily="34" charset="-120"/>
              </a:rPr>
              <a:t>Every invite, scanned. The people who matter are on it.</a:t>
            </a:r>
            <a:endParaRPr lang="en-US" sz="1600" dirty="0"/>
          </a:p>
        </p:txBody>
      </p:sp>
      <p:sp>
        <p:nvSpPr>
          <p:cNvPr id="13" name="Shape 11"/>
          <p:cNvSpPr/>
          <p:nvPr/>
        </p:nvSpPr>
        <p:spPr>
          <a:xfrm rot="2700000">
            <a:off x="813816" y="3370783"/>
            <a:ext cx="100584" cy="100584"/>
          </a:xfrm>
          <a:prstGeom prst="rect">
            <a:avLst/>
          </a:prstGeom>
          <a:solidFill>
            <a:srgbClr val="C9A227"/>
          </a:solidFill>
          <a:ln w="3175">
            <a:solidFill>
              <a:srgbClr val="C9A227"/>
            </a:solidFill>
            <a:prstDash val="solid"/>
          </a:ln>
        </p:spPr>
      </p:sp>
      <p:sp>
        <p:nvSpPr>
          <p:cNvPr id="14" name="Text 12"/>
          <p:cNvSpPr/>
          <p:nvPr/>
        </p:nvSpPr>
        <p:spPr>
          <a:xfrm>
            <a:off x="1124712" y="3293059"/>
            <a:ext cx="4718304" cy="859536"/>
          </a:xfrm>
          <a:prstGeom prst="rect">
            <a:avLst/>
          </a:prstGeom>
          <a:noFill/>
          <a:ln/>
        </p:spPr>
        <p:txBody>
          <a:bodyPr wrap="square" lIns="0" tIns="0" rIns="0" bIns="0" rtlCol="0" anchor="t"/>
          <a:lstStyle/>
          <a:p>
            <a:pPr indent="0" marL="0">
              <a:lnSpc>
                <a:spcPct val="116000"/>
              </a:lnSpc>
              <a:buNone/>
            </a:pPr>
            <a:r>
              <a:rPr lang="en-US" sz="1600" b="1" dirty="0">
                <a:solidFill>
                  <a:srgbClr val="8A6D14"/>
                </a:solidFill>
                <a:latin typeface="Arial" pitchFamily="34" charset="0"/>
                <a:ea typeface="Arial" pitchFamily="34" charset="-122"/>
                <a:cs typeface="Arial" pitchFamily="34" charset="-120"/>
              </a:rPr>
              <a:t>Preps me for strangers. </a:t>
            </a:r>
            <a:pPr indent="0" marL="0">
              <a:lnSpc>
                <a:spcPct val="116000"/>
              </a:lnSpc>
              <a:buNone/>
            </a:pPr>
            <a:r>
              <a:rPr lang="en-US" sz="1600" dirty="0">
                <a:solidFill>
                  <a:srgbClr val="14213D"/>
                </a:solidFill>
                <a:latin typeface="Arial" pitchFamily="34" charset="0"/>
                <a:ea typeface="Arial" pitchFamily="34" charset="-122"/>
                <a:cs typeface="Arial" pitchFamily="34" charset="-120"/>
              </a:rPr>
              <a:t>A one-page brief before I meet anyone new, in my inbox and Drive.</a:t>
            </a:r>
            <a:endParaRPr lang="en-US" sz="1600" dirty="0"/>
          </a:p>
        </p:txBody>
      </p:sp>
      <p:sp>
        <p:nvSpPr>
          <p:cNvPr id="15" name="Shape 13"/>
          <p:cNvSpPr/>
          <p:nvPr/>
        </p:nvSpPr>
        <p:spPr>
          <a:xfrm rot="2700000">
            <a:off x="813816" y="4376623"/>
            <a:ext cx="100584" cy="100584"/>
          </a:xfrm>
          <a:prstGeom prst="rect">
            <a:avLst/>
          </a:prstGeom>
          <a:solidFill>
            <a:srgbClr val="C9A227"/>
          </a:solidFill>
          <a:ln w="3175">
            <a:solidFill>
              <a:srgbClr val="C9A227"/>
            </a:solidFill>
            <a:prstDash val="solid"/>
          </a:ln>
        </p:spPr>
      </p:sp>
      <p:sp>
        <p:nvSpPr>
          <p:cNvPr id="16" name="Text 14"/>
          <p:cNvSpPr/>
          <p:nvPr/>
        </p:nvSpPr>
        <p:spPr>
          <a:xfrm>
            <a:off x="1124712" y="4298899"/>
            <a:ext cx="4718304" cy="603504"/>
          </a:xfrm>
          <a:prstGeom prst="rect">
            <a:avLst/>
          </a:prstGeom>
          <a:noFill/>
          <a:ln/>
        </p:spPr>
        <p:txBody>
          <a:bodyPr wrap="square" lIns="0" tIns="0" rIns="0" bIns="0" rtlCol="0" anchor="t"/>
          <a:lstStyle/>
          <a:p>
            <a:pPr indent="0" marL="0">
              <a:lnSpc>
                <a:spcPct val="116000"/>
              </a:lnSpc>
              <a:buNone/>
            </a:pPr>
            <a:r>
              <a:rPr lang="en-US" sz="1600" b="1" dirty="0">
                <a:solidFill>
                  <a:srgbClr val="8A6D14"/>
                </a:solidFill>
                <a:latin typeface="Arial" pitchFamily="34" charset="0"/>
                <a:ea typeface="Arial" pitchFamily="34" charset="-122"/>
                <a:cs typeface="Arial" pitchFamily="34" charset="-120"/>
              </a:rPr>
              <a:t>Eggs versus balls. </a:t>
            </a:r>
            <a:pPr indent="0" marL="0">
              <a:lnSpc>
                <a:spcPct val="116000"/>
              </a:lnSpc>
              <a:buNone/>
            </a:pPr>
            <a:r>
              <a:rPr lang="en-US" sz="1600" dirty="0">
                <a:solidFill>
                  <a:srgbClr val="14213D"/>
                </a:solidFill>
                <a:latin typeface="Arial" pitchFamily="34" charset="0"/>
                <a:ea typeface="Arial" pitchFamily="34" charset="-122"/>
                <a:cs typeface="Arial" pitchFamily="34" charset="-120"/>
              </a:rPr>
              <a:t>She watches my real goals and warns me before I drop an egg.</a:t>
            </a:r>
            <a:endParaRPr lang="en-US" sz="1600" dirty="0"/>
          </a:p>
        </p:txBody>
      </p:sp>
      <p:sp>
        <p:nvSpPr>
          <p:cNvPr id="17" name="Shape 15"/>
          <p:cNvSpPr/>
          <p:nvPr/>
        </p:nvSpPr>
        <p:spPr>
          <a:xfrm rot="2700000">
            <a:off x="6400800" y="1871167"/>
            <a:ext cx="100584" cy="100584"/>
          </a:xfrm>
          <a:prstGeom prst="rect">
            <a:avLst/>
          </a:prstGeom>
          <a:solidFill>
            <a:srgbClr val="C9A227"/>
          </a:solidFill>
          <a:ln w="3175">
            <a:solidFill>
              <a:srgbClr val="C9A227"/>
            </a:solidFill>
            <a:prstDash val="solid"/>
          </a:ln>
        </p:spPr>
      </p:sp>
      <p:sp>
        <p:nvSpPr>
          <p:cNvPr id="18" name="Text 16"/>
          <p:cNvSpPr/>
          <p:nvPr/>
        </p:nvSpPr>
        <p:spPr>
          <a:xfrm>
            <a:off x="6711696" y="1793443"/>
            <a:ext cx="4672584" cy="603504"/>
          </a:xfrm>
          <a:prstGeom prst="rect">
            <a:avLst/>
          </a:prstGeom>
          <a:noFill/>
          <a:ln/>
        </p:spPr>
        <p:txBody>
          <a:bodyPr wrap="square" lIns="0" tIns="0" rIns="0" bIns="0" rtlCol="0" anchor="t"/>
          <a:lstStyle/>
          <a:p>
            <a:pPr indent="0" marL="0">
              <a:lnSpc>
                <a:spcPct val="116000"/>
              </a:lnSpc>
              <a:buNone/>
            </a:pPr>
            <a:r>
              <a:rPr lang="en-US" sz="1600" b="1" dirty="0">
                <a:solidFill>
                  <a:srgbClr val="8A6D14"/>
                </a:solidFill>
                <a:latin typeface="Arial" pitchFamily="34" charset="0"/>
                <a:ea typeface="Arial" pitchFamily="34" charset="-122"/>
                <a:cs typeface="Arial" pitchFamily="34" charset="-120"/>
              </a:rPr>
              <a:t>Reads every Slack channel. </a:t>
            </a:r>
            <a:pPr indent="0" marL="0">
              <a:lnSpc>
                <a:spcPct val="116000"/>
              </a:lnSpc>
              <a:buNone/>
            </a:pPr>
            <a:r>
              <a:rPr lang="en-US" sz="1600" dirty="0">
                <a:solidFill>
                  <a:srgbClr val="14213D"/>
                </a:solidFill>
                <a:latin typeface="Arial" pitchFamily="34" charset="0"/>
                <a:ea typeface="Arial" pitchFamily="34" charset="-122"/>
                <a:cs typeface="Arial" pitchFamily="34" charset="-120"/>
              </a:rPr>
              <a:t>All of them. I read one briefing.</a:t>
            </a:r>
            <a:endParaRPr lang="en-US" sz="1600" dirty="0"/>
          </a:p>
        </p:txBody>
      </p:sp>
      <p:sp>
        <p:nvSpPr>
          <p:cNvPr id="19" name="Shape 17"/>
          <p:cNvSpPr/>
          <p:nvPr/>
        </p:nvSpPr>
        <p:spPr>
          <a:xfrm rot="2700000">
            <a:off x="6400800" y="2620975"/>
            <a:ext cx="100584" cy="100584"/>
          </a:xfrm>
          <a:prstGeom prst="rect">
            <a:avLst/>
          </a:prstGeom>
          <a:solidFill>
            <a:srgbClr val="C9A227"/>
          </a:solidFill>
          <a:ln w="3175">
            <a:solidFill>
              <a:srgbClr val="C9A227"/>
            </a:solidFill>
            <a:prstDash val="solid"/>
          </a:ln>
        </p:spPr>
      </p:sp>
      <p:sp>
        <p:nvSpPr>
          <p:cNvPr id="20" name="Text 18"/>
          <p:cNvSpPr/>
          <p:nvPr/>
        </p:nvSpPr>
        <p:spPr>
          <a:xfrm>
            <a:off x="6711696" y="2543251"/>
            <a:ext cx="4672584" cy="859536"/>
          </a:xfrm>
          <a:prstGeom prst="rect">
            <a:avLst/>
          </a:prstGeom>
          <a:noFill/>
          <a:ln/>
        </p:spPr>
        <p:txBody>
          <a:bodyPr wrap="square" lIns="0" tIns="0" rIns="0" bIns="0" rtlCol="0" anchor="t"/>
          <a:lstStyle/>
          <a:p>
            <a:pPr indent="0" marL="0">
              <a:lnSpc>
                <a:spcPct val="116000"/>
              </a:lnSpc>
              <a:buNone/>
            </a:pPr>
            <a:r>
              <a:rPr lang="en-US" sz="1600" b="1" dirty="0">
                <a:solidFill>
                  <a:srgbClr val="8A6D14"/>
                </a:solidFill>
                <a:latin typeface="Arial" pitchFamily="34" charset="0"/>
                <a:ea typeface="Arial" pitchFamily="34" charset="-122"/>
                <a:cs typeface="Arial" pitchFamily="34" charset="-120"/>
              </a:rPr>
              <a:t>Runs the 24-hour reply desk. </a:t>
            </a:r>
            <a:pPr indent="0" marL="0">
              <a:lnSpc>
                <a:spcPct val="116000"/>
              </a:lnSpc>
              <a:buNone/>
            </a:pPr>
            <a:r>
              <a:rPr lang="en-US" sz="1600" dirty="0">
                <a:solidFill>
                  <a:srgbClr val="14213D"/>
                </a:solidFill>
                <a:latin typeface="Arial" pitchFamily="34" charset="0"/>
                <a:ea typeface="Arial" pitchFamily="34" charset="-122"/>
                <a:cs typeface="Arial" pitchFamily="34" charset="-120"/>
              </a:rPr>
              <a:t>No real email goes a day without an answer or a holding reply.</a:t>
            </a:r>
            <a:endParaRPr lang="en-US" sz="1600" dirty="0"/>
          </a:p>
        </p:txBody>
      </p:sp>
      <p:sp>
        <p:nvSpPr>
          <p:cNvPr id="21" name="Shape 19"/>
          <p:cNvSpPr/>
          <p:nvPr/>
        </p:nvSpPr>
        <p:spPr>
          <a:xfrm rot="2700000">
            <a:off x="6400800" y="3626815"/>
            <a:ext cx="100584" cy="100584"/>
          </a:xfrm>
          <a:prstGeom prst="rect">
            <a:avLst/>
          </a:prstGeom>
          <a:solidFill>
            <a:srgbClr val="C9A227"/>
          </a:solidFill>
          <a:ln w="3175">
            <a:solidFill>
              <a:srgbClr val="C9A227"/>
            </a:solidFill>
            <a:prstDash val="solid"/>
          </a:ln>
        </p:spPr>
      </p:sp>
      <p:sp>
        <p:nvSpPr>
          <p:cNvPr id="22" name="Text 20"/>
          <p:cNvSpPr/>
          <p:nvPr/>
        </p:nvSpPr>
        <p:spPr>
          <a:xfrm>
            <a:off x="6711696" y="3549091"/>
            <a:ext cx="4672584" cy="859536"/>
          </a:xfrm>
          <a:prstGeom prst="rect">
            <a:avLst/>
          </a:prstGeom>
          <a:noFill/>
          <a:ln/>
        </p:spPr>
        <p:txBody>
          <a:bodyPr wrap="square" lIns="0" tIns="0" rIns="0" bIns="0" rtlCol="0" anchor="t"/>
          <a:lstStyle/>
          <a:p>
            <a:pPr indent="0" marL="0">
              <a:lnSpc>
                <a:spcPct val="116000"/>
              </a:lnSpc>
              <a:buNone/>
            </a:pPr>
            <a:r>
              <a:rPr lang="en-US" sz="1600" b="1" dirty="0">
                <a:solidFill>
                  <a:srgbClr val="8A6D14"/>
                </a:solidFill>
                <a:latin typeface="Arial" pitchFamily="34" charset="0"/>
                <a:ea typeface="Arial" pitchFamily="34" charset="-122"/>
                <a:cs typeface="Arial" pitchFamily="34" charset="-120"/>
              </a:rPr>
              <a:t>Plans tomorrow at 4 PM. </a:t>
            </a:r>
            <a:pPr indent="0" marL="0">
              <a:lnSpc>
                <a:spcPct val="116000"/>
              </a:lnSpc>
              <a:buNone/>
            </a:pPr>
            <a:r>
              <a:rPr lang="en-US" sz="1600" dirty="0">
                <a:solidFill>
                  <a:srgbClr val="14213D"/>
                </a:solidFill>
                <a:latin typeface="Arial" pitchFamily="34" charset="0"/>
                <a:ea typeface="Arial" pitchFamily="34" charset="-122"/>
                <a:cs typeface="Arial" pitchFamily="34" charset="-120"/>
              </a:rPr>
              <a:t>Before I log off, tomorrow is laid out: meetings, prep, buffers, risks.</a:t>
            </a:r>
            <a:endParaRPr lang="en-US" sz="1600" dirty="0"/>
          </a:p>
        </p:txBody>
      </p:sp>
      <p:sp>
        <p:nvSpPr>
          <p:cNvPr id="23" name="Text 21"/>
          <p:cNvSpPr/>
          <p:nvPr/>
        </p:nvSpPr>
        <p:spPr>
          <a:xfrm>
            <a:off x="813816" y="5340096"/>
            <a:ext cx="10570464" cy="347472"/>
          </a:xfrm>
          <a:prstGeom prst="rect">
            <a:avLst/>
          </a:prstGeom>
          <a:noFill/>
          <a:ln/>
        </p:spPr>
        <p:txBody>
          <a:bodyPr wrap="square" lIns="0" tIns="0" rIns="0" bIns="0" rtlCol="0" anchor="t"/>
          <a:lstStyle/>
          <a:p>
            <a:pPr algn="l" indent="0" marL="0">
              <a:lnSpc>
                <a:spcPct val="116000"/>
              </a:lnSpc>
              <a:buNone/>
            </a:pPr>
            <a:r>
              <a:rPr lang="en-US" sz="1600" b="1" dirty="0">
                <a:solidFill>
                  <a:srgbClr val="8A6D14"/>
                </a:solidFill>
                <a:latin typeface="Arial" pitchFamily="34" charset="0"/>
                <a:ea typeface="Arial" pitchFamily="34" charset="-122"/>
                <a:cs typeface="Arial" pitchFamily="34" charset="-120"/>
              </a:rPr>
              <a:t>All of it from one playbook, written in plain English. Today you write yours.</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4213D"/>
        </a:solidFill>
      </p:bgPr>
    </p:bg>
    <p:spTree>
      <p:nvGrpSpPr>
        <p:cNvPr id="1" name=""/>
        <p:cNvGrpSpPr/>
        <p:nvPr/>
      </p:nvGrpSpPr>
      <p:grpSpPr>
        <a:xfrm>
          <a:off x="0" y="0"/>
          <a:ext cx="0" cy="0"/>
          <a:chOff x="0" y="0"/>
          <a:chExt cx="0" cy="0"/>
        </a:xfrm>
      </p:grpSpPr>
      <p:sp>
        <p:nvSpPr>
          <p:cNvPr id="2" name="Shape 0"/>
          <p:cNvSpPr/>
          <p:nvPr/>
        </p:nvSpPr>
        <p:spPr>
          <a:xfrm>
            <a:off x="813816" y="5779008"/>
            <a:ext cx="10570464" cy="0"/>
          </a:xfrm>
          <a:prstGeom prst="line">
            <a:avLst/>
          </a:prstGeom>
          <a:noFill/>
          <a:ln w="9525">
            <a:solidFill>
              <a:srgbClr val="C9A227"/>
            </a:solidFill>
            <a:prstDash val="solid"/>
          </a:ln>
        </p:spPr>
      </p:sp>
      <p:sp>
        <p:nvSpPr>
          <p:cNvPr id="3" name="Text 1"/>
          <p:cNvSpPr/>
          <p:nvPr/>
        </p:nvSpPr>
        <p:spPr>
          <a:xfrm>
            <a:off x="813816" y="5907024"/>
            <a:ext cx="3358896" cy="274320"/>
          </a:xfrm>
          <a:prstGeom prst="rect">
            <a:avLst/>
          </a:prstGeom>
          <a:noFill/>
          <a:ln/>
        </p:spPr>
        <p:txBody>
          <a:bodyPr wrap="square" lIns="0" tIns="0" rIns="0" bIns="0" rtlCol="0" anchor="ctr"/>
          <a:lstStyle/>
          <a:p>
            <a:pPr indent="0" marL="0">
              <a:buNone/>
            </a:pPr>
            <a:r>
              <a:rPr lang="en-US" sz="1600" spc="120" kern="0" dirty="0">
                <a:solidFill>
                  <a:srgbClr val="AFA893"/>
                </a:solidFill>
                <a:latin typeface="Arial" pitchFamily="34" charset="0"/>
                <a:ea typeface="Arial" pitchFamily="34" charset="-122"/>
                <a:cs typeface="Arial" pitchFamily="34" charset="-120"/>
              </a:rPr>
              <a:t>BUILD YOUR OWN DONNA</a:t>
            </a:r>
            <a:endParaRPr lang="en-US" sz="1600" dirty="0"/>
          </a:p>
        </p:txBody>
      </p:sp>
      <p:sp>
        <p:nvSpPr>
          <p:cNvPr id="4" name="Shape 2"/>
          <p:cNvSpPr/>
          <p:nvPr/>
        </p:nvSpPr>
        <p:spPr>
          <a:xfrm rot="2700000">
            <a:off x="4227576" y="6012180"/>
            <a:ext cx="64008" cy="64008"/>
          </a:xfrm>
          <a:prstGeom prst="rect">
            <a:avLst/>
          </a:prstGeom>
          <a:solidFill>
            <a:srgbClr val="C9A227"/>
          </a:solidFill>
          <a:ln w="3175">
            <a:solidFill>
              <a:srgbClr val="C9A227"/>
            </a:solidFill>
            <a:prstDash val="solid"/>
          </a:ln>
        </p:spPr>
      </p:sp>
      <p:sp>
        <p:nvSpPr>
          <p:cNvPr id="5" name="Text 3"/>
          <p:cNvSpPr/>
          <p:nvPr/>
        </p:nvSpPr>
        <p:spPr>
          <a:xfrm>
            <a:off x="4410456" y="5907024"/>
            <a:ext cx="2712720" cy="274320"/>
          </a:xfrm>
          <a:prstGeom prst="rect">
            <a:avLst/>
          </a:prstGeom>
          <a:noFill/>
          <a:ln/>
        </p:spPr>
        <p:txBody>
          <a:bodyPr wrap="square" lIns="0" tIns="0" rIns="0" bIns="0" rtlCol="0" anchor="ctr"/>
          <a:lstStyle/>
          <a:p>
            <a:pPr indent="0" marL="0">
              <a:buNone/>
            </a:pPr>
            <a:r>
              <a:rPr lang="en-US" sz="1600" spc="120" kern="0" dirty="0">
                <a:solidFill>
                  <a:srgbClr val="AFA893"/>
                </a:solidFill>
                <a:latin typeface="Arial" pitchFamily="34" charset="0"/>
                <a:ea typeface="Arial" pitchFamily="34" charset="-122"/>
                <a:cs typeface="Arial" pitchFamily="34" charset="-120"/>
              </a:rPr>
              <a:t>OCTOBER 21, 2026</a:t>
            </a:r>
            <a:endParaRPr lang="en-US" sz="1600" dirty="0"/>
          </a:p>
        </p:txBody>
      </p:sp>
      <p:sp>
        <p:nvSpPr>
          <p:cNvPr id="6" name="Text 4"/>
          <p:cNvSpPr/>
          <p:nvPr/>
        </p:nvSpPr>
        <p:spPr>
          <a:xfrm>
            <a:off x="10652760" y="5907024"/>
            <a:ext cx="731520" cy="274320"/>
          </a:xfrm>
          <a:prstGeom prst="rect">
            <a:avLst/>
          </a:prstGeom>
          <a:noFill/>
          <a:ln/>
        </p:spPr>
        <p:txBody>
          <a:bodyPr wrap="square" lIns="0" tIns="0" rIns="0" bIns="0" rtlCol="0" anchor="ctr"/>
          <a:lstStyle/>
          <a:p>
            <a:pPr algn="r" indent="0" marL="0">
              <a:buNone/>
            </a:pPr>
            <a:r>
              <a:rPr lang="en-US" sz="1600" spc="120" kern="0" dirty="0">
                <a:solidFill>
                  <a:srgbClr val="AFA893"/>
                </a:solidFill>
                <a:latin typeface="Arial" pitchFamily="34" charset="0"/>
                <a:ea typeface="Arial" pitchFamily="34" charset="-122"/>
                <a:cs typeface="Arial" pitchFamily="34" charset="-120"/>
              </a:rPr>
              <a:t>9</a:t>
            </a:r>
            <a:endParaRPr lang="en-US" sz="1600" dirty="0"/>
          </a:p>
        </p:txBody>
      </p:sp>
      <p:sp>
        <p:nvSpPr>
          <p:cNvPr id="7" name="Text 5"/>
          <p:cNvSpPr/>
          <p:nvPr/>
        </p:nvSpPr>
        <p:spPr>
          <a:xfrm>
            <a:off x="813816" y="457200"/>
            <a:ext cx="10570464" cy="310896"/>
          </a:xfrm>
          <a:prstGeom prst="rect">
            <a:avLst/>
          </a:prstGeom>
          <a:noFill/>
          <a:ln/>
        </p:spPr>
        <p:txBody>
          <a:bodyPr wrap="square" lIns="0" tIns="0" rIns="0" bIns="0" rtlCol="0" anchor="ctr"/>
          <a:lstStyle/>
          <a:p>
            <a:pPr indent="0" marL="0">
              <a:buNone/>
            </a:pPr>
            <a:r>
              <a:rPr lang="en-US" sz="1600" b="1" spc="180" kern="0" dirty="0">
                <a:solidFill>
                  <a:srgbClr val="E7C766"/>
                </a:solidFill>
                <a:latin typeface="Arial" pitchFamily="34" charset="0"/>
                <a:ea typeface="Arial" pitchFamily="34" charset="-122"/>
                <a:cs typeface="Arial" pitchFamily="34" charset="-120"/>
              </a:rPr>
              <a:t>THE RECEIPTS</a:t>
            </a:r>
            <a:endParaRPr lang="en-US" sz="1600" dirty="0"/>
          </a:p>
        </p:txBody>
      </p:sp>
      <p:sp>
        <p:nvSpPr>
          <p:cNvPr id="8" name="Text 6"/>
          <p:cNvSpPr/>
          <p:nvPr/>
        </p:nvSpPr>
        <p:spPr>
          <a:xfrm>
            <a:off x="813816" y="841248"/>
            <a:ext cx="10570464" cy="751027"/>
          </a:xfrm>
          <a:prstGeom prst="rect">
            <a:avLst/>
          </a:prstGeom>
          <a:noFill/>
          <a:ln/>
        </p:spPr>
        <p:txBody>
          <a:bodyPr wrap="square" lIns="0" tIns="0" rIns="0" bIns="0" rtlCol="0" anchor="t"/>
          <a:lstStyle/>
          <a:p>
            <a:pPr indent="0" marL="0">
              <a:lnSpc>
                <a:spcPct val="94000"/>
              </a:lnSpc>
              <a:buNone/>
            </a:pPr>
            <a:r>
              <a:rPr lang="en-US" sz="4000" b="1" dirty="0">
                <a:solidFill>
                  <a:srgbClr val="F7F3EA"/>
                </a:solidFill>
                <a:latin typeface="Georgia" pitchFamily="34" charset="0"/>
                <a:ea typeface="Georgia" pitchFamily="34" charset="-122"/>
                <a:cs typeface="Georgia" pitchFamily="34" charset="-120"/>
              </a:rPr>
              <a:t>What she gives back.</a:t>
            </a:r>
            <a:endParaRPr lang="en-US" sz="4000" dirty="0"/>
          </a:p>
        </p:txBody>
      </p:sp>
      <p:sp>
        <p:nvSpPr>
          <p:cNvPr id="9" name="Text 7"/>
          <p:cNvSpPr/>
          <p:nvPr/>
        </p:nvSpPr>
        <p:spPr>
          <a:xfrm>
            <a:off x="813816" y="1793443"/>
            <a:ext cx="3255264" cy="978042"/>
          </a:xfrm>
          <a:prstGeom prst="rect">
            <a:avLst/>
          </a:prstGeom>
          <a:noFill/>
          <a:ln/>
        </p:spPr>
        <p:txBody>
          <a:bodyPr wrap="square" lIns="0" tIns="0" rIns="0" bIns="0" rtlCol="0" anchor="t"/>
          <a:lstStyle/>
          <a:p>
            <a:pPr indent="0" marL="0">
              <a:buNone/>
            </a:pPr>
            <a:r>
              <a:rPr lang="en-US" sz="5400" b="1" dirty="0">
                <a:solidFill>
                  <a:srgbClr val="E7C766"/>
                </a:solidFill>
                <a:latin typeface="Georgia" pitchFamily="34" charset="0"/>
                <a:ea typeface="Georgia" pitchFamily="34" charset="-122"/>
                <a:cs typeface="Georgia" pitchFamily="34" charset="-120"/>
              </a:rPr>
              <a:t>3.5 hrs</a:t>
            </a:r>
            <a:endParaRPr lang="en-US" sz="5400" dirty="0"/>
          </a:p>
        </p:txBody>
      </p:sp>
      <p:sp>
        <p:nvSpPr>
          <p:cNvPr id="10" name="Text 8"/>
          <p:cNvSpPr/>
          <p:nvPr/>
        </p:nvSpPr>
        <p:spPr>
          <a:xfrm>
            <a:off x="813816" y="2808061"/>
            <a:ext cx="3255264" cy="1371600"/>
          </a:xfrm>
          <a:prstGeom prst="rect">
            <a:avLst/>
          </a:prstGeom>
          <a:noFill/>
          <a:ln/>
        </p:spPr>
        <p:txBody>
          <a:bodyPr wrap="square" lIns="0" tIns="0" rIns="0" bIns="0" rtlCol="0" anchor="t"/>
          <a:lstStyle/>
          <a:p>
            <a:pPr indent="0" marL="0">
              <a:lnSpc>
                <a:spcPct val="116000"/>
              </a:lnSpc>
              <a:buNone/>
            </a:pPr>
            <a:r>
              <a:rPr lang="en-US" sz="1600" dirty="0">
                <a:solidFill>
                  <a:srgbClr val="F7F3EA"/>
                </a:solidFill>
                <a:latin typeface="Arial" pitchFamily="34" charset="0"/>
                <a:ea typeface="Arial" pitchFamily="34" charset="-122"/>
                <a:cs typeface="Arial" pitchFamily="34" charset="-120"/>
              </a:rPr>
              <a:t>saved on post-conference follow-ups. Four hours by hand. Thirty-three minutes with Donna, the Friday after a conference.</a:t>
            </a:r>
            <a:endParaRPr lang="en-US" sz="1600" dirty="0"/>
          </a:p>
        </p:txBody>
      </p:sp>
      <p:sp>
        <p:nvSpPr>
          <p:cNvPr id="11" name="Text 9"/>
          <p:cNvSpPr/>
          <p:nvPr/>
        </p:nvSpPr>
        <p:spPr>
          <a:xfrm>
            <a:off x="4471416" y="1793443"/>
            <a:ext cx="3255264" cy="978042"/>
          </a:xfrm>
          <a:prstGeom prst="rect">
            <a:avLst/>
          </a:prstGeom>
          <a:noFill/>
          <a:ln/>
        </p:spPr>
        <p:txBody>
          <a:bodyPr wrap="square" lIns="0" tIns="0" rIns="0" bIns="0" rtlCol="0" anchor="t"/>
          <a:lstStyle/>
          <a:p>
            <a:pPr indent="0" marL="0">
              <a:buNone/>
            </a:pPr>
            <a:r>
              <a:rPr lang="en-US" sz="5400" b="1" dirty="0">
                <a:solidFill>
                  <a:srgbClr val="E7C766"/>
                </a:solidFill>
                <a:latin typeface="Georgia" pitchFamily="34" charset="0"/>
                <a:ea typeface="Georgia" pitchFamily="34" charset="-122"/>
                <a:cs typeface="Georgia" pitchFamily="34" charset="-120"/>
              </a:rPr>
              <a:t>35</a:t>
            </a:r>
            <a:endParaRPr lang="en-US" sz="5400" dirty="0"/>
          </a:p>
        </p:txBody>
      </p:sp>
      <p:sp>
        <p:nvSpPr>
          <p:cNvPr id="12" name="Text 10"/>
          <p:cNvSpPr/>
          <p:nvPr/>
        </p:nvSpPr>
        <p:spPr>
          <a:xfrm>
            <a:off x="4471416" y="2808061"/>
            <a:ext cx="3255264" cy="1115568"/>
          </a:xfrm>
          <a:prstGeom prst="rect">
            <a:avLst/>
          </a:prstGeom>
          <a:noFill/>
          <a:ln/>
        </p:spPr>
        <p:txBody>
          <a:bodyPr wrap="square" lIns="0" tIns="0" rIns="0" bIns="0" rtlCol="0" anchor="t"/>
          <a:lstStyle/>
          <a:p>
            <a:pPr indent="0" marL="0">
              <a:lnSpc>
                <a:spcPct val="116000"/>
              </a:lnSpc>
              <a:buNone/>
            </a:pPr>
            <a:r>
              <a:rPr lang="en-US" sz="1600" dirty="0">
                <a:solidFill>
                  <a:srgbClr val="F7F3EA"/>
                </a:solidFill>
                <a:latin typeface="Arial" pitchFamily="34" charset="0"/>
                <a:ea typeface="Arial" pitchFamily="34" charset="-122"/>
                <a:cs typeface="Arial" pitchFamily="34" charset="-120"/>
              </a:rPr>
              <a:t>personalized one-to-one event invitations, written in 75 minutes. Before Donna: not possible, so not done.</a:t>
            </a:r>
            <a:endParaRPr lang="en-US" sz="1600" dirty="0"/>
          </a:p>
        </p:txBody>
      </p:sp>
      <p:sp>
        <p:nvSpPr>
          <p:cNvPr id="13" name="Text 11"/>
          <p:cNvSpPr/>
          <p:nvPr/>
        </p:nvSpPr>
        <p:spPr>
          <a:xfrm>
            <a:off x="8129016" y="1793443"/>
            <a:ext cx="3255264" cy="978042"/>
          </a:xfrm>
          <a:prstGeom prst="rect">
            <a:avLst/>
          </a:prstGeom>
          <a:noFill/>
          <a:ln/>
        </p:spPr>
        <p:txBody>
          <a:bodyPr wrap="square" lIns="0" tIns="0" rIns="0" bIns="0" rtlCol="0" anchor="t"/>
          <a:lstStyle/>
          <a:p>
            <a:pPr indent="0" marL="0">
              <a:buNone/>
            </a:pPr>
            <a:r>
              <a:rPr lang="en-US" sz="5400" b="1" dirty="0">
                <a:solidFill>
                  <a:srgbClr val="E7C766"/>
                </a:solidFill>
                <a:latin typeface="Georgia" pitchFamily="34" charset="0"/>
                <a:ea typeface="Georgia" pitchFamily="34" charset="-122"/>
                <a:cs typeface="Georgia" pitchFamily="34" charset="-120"/>
              </a:rPr>
              <a:t>100+</a:t>
            </a:r>
            <a:endParaRPr lang="en-US" sz="5400" dirty="0"/>
          </a:p>
        </p:txBody>
      </p:sp>
      <p:sp>
        <p:nvSpPr>
          <p:cNvPr id="14" name="Text 12"/>
          <p:cNvSpPr/>
          <p:nvPr/>
        </p:nvSpPr>
        <p:spPr>
          <a:xfrm>
            <a:off x="8129016" y="2808061"/>
            <a:ext cx="3255264" cy="1371600"/>
          </a:xfrm>
          <a:prstGeom prst="rect">
            <a:avLst/>
          </a:prstGeom>
          <a:noFill/>
          <a:ln/>
        </p:spPr>
        <p:txBody>
          <a:bodyPr wrap="square" lIns="0" tIns="0" rIns="0" bIns="0" rtlCol="0" anchor="t"/>
          <a:lstStyle/>
          <a:p>
            <a:pPr indent="0" marL="0">
              <a:lnSpc>
                <a:spcPct val="116000"/>
              </a:lnSpc>
              <a:buNone/>
            </a:pPr>
            <a:r>
              <a:rPr lang="en-US" sz="1600" dirty="0">
                <a:solidFill>
                  <a:srgbClr val="F7F3EA"/>
                </a:solidFill>
                <a:latin typeface="Arial" pitchFamily="34" charset="0"/>
                <a:ea typeface="Arial" pitchFamily="34" charset="-122"/>
                <a:cs typeface="Arial" pitchFamily="34" charset="-120"/>
              </a:rPr>
              <a:t>meeting briefs since August 7, one per meeting, written before I walk in. 27 prep blocks on my calendar in the last 30 days.</a:t>
            </a:r>
            <a:endParaRPr lang="en-US" sz="1600" dirty="0"/>
          </a:p>
        </p:txBody>
      </p:sp>
      <p:sp>
        <p:nvSpPr>
          <p:cNvPr id="15" name="Shape 13"/>
          <p:cNvSpPr/>
          <p:nvPr/>
        </p:nvSpPr>
        <p:spPr>
          <a:xfrm>
            <a:off x="813816" y="4435693"/>
            <a:ext cx="10570464" cy="1042416"/>
          </a:xfrm>
          <a:prstGeom prst="rect">
            <a:avLst/>
          </a:prstGeom>
          <a:solidFill>
            <a:srgbClr val="2A3244"/>
          </a:solidFill>
          <a:ln/>
        </p:spPr>
      </p:sp>
      <p:sp>
        <p:nvSpPr>
          <p:cNvPr id="16" name="Shape 14"/>
          <p:cNvSpPr/>
          <p:nvPr/>
        </p:nvSpPr>
        <p:spPr>
          <a:xfrm rot="2700000">
            <a:off x="1033272" y="4732873"/>
            <a:ext cx="100584" cy="100584"/>
          </a:xfrm>
          <a:prstGeom prst="rect">
            <a:avLst/>
          </a:prstGeom>
          <a:solidFill>
            <a:srgbClr val="C9A227"/>
          </a:solidFill>
          <a:ln w="3175">
            <a:solidFill>
              <a:srgbClr val="C9A227"/>
            </a:solidFill>
            <a:prstDash val="solid"/>
          </a:ln>
        </p:spPr>
      </p:sp>
      <p:sp>
        <p:nvSpPr>
          <p:cNvPr id="17" name="Text 15"/>
          <p:cNvSpPr/>
          <p:nvPr/>
        </p:nvSpPr>
        <p:spPr>
          <a:xfrm>
            <a:off x="1344168" y="4655149"/>
            <a:ext cx="9820656" cy="603504"/>
          </a:xfrm>
          <a:prstGeom prst="rect">
            <a:avLst/>
          </a:prstGeom>
          <a:noFill/>
          <a:ln/>
        </p:spPr>
        <p:txBody>
          <a:bodyPr wrap="square" lIns="0" tIns="0" rIns="0" bIns="0" rtlCol="0" anchor="t"/>
          <a:lstStyle/>
          <a:p>
            <a:pPr indent="0" marL="0">
              <a:lnSpc>
                <a:spcPct val="116000"/>
              </a:lnSpc>
              <a:buNone/>
            </a:pPr>
            <a:r>
              <a:rPr lang="en-US" sz="1600" b="1" dirty="0">
                <a:solidFill>
                  <a:srgbClr val="E7C766"/>
                </a:solidFill>
                <a:latin typeface="Arial" pitchFamily="34" charset="0"/>
                <a:ea typeface="Arial" pitchFamily="34" charset="-122"/>
                <a:cs typeface="Arial" pitchFamily="34" charset="-120"/>
              </a:rPr>
              <a:t>Published benchmark: </a:t>
            </a:r>
            <a:pPr indent="0" marL="0">
              <a:lnSpc>
                <a:spcPct val="116000"/>
              </a:lnSpc>
              <a:buNone/>
            </a:pPr>
            <a:r>
              <a:rPr lang="en-US" sz="1600" dirty="0">
                <a:solidFill>
                  <a:srgbClr val="F7F3EA"/>
                </a:solidFill>
                <a:latin typeface="Arial" pitchFamily="34" charset="0"/>
                <a:ea typeface="Arial" pitchFamily="34" charset="-122"/>
                <a:cs typeface="Arial" pitchFamily="34" charset="-120"/>
              </a:rPr>
              <a:t>Microsoft's first 297 Copilot users reported 64% less time on email and 1.2 hours a week back. (Work Trend Index, November 2023)</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3EA"/>
        </a:solidFill>
      </p:bgPr>
    </p:bg>
    <p:spTree>
      <p:nvGrpSpPr>
        <p:cNvPr id="1" name=""/>
        <p:cNvGrpSpPr/>
        <p:nvPr/>
      </p:nvGrpSpPr>
      <p:grpSpPr>
        <a:xfrm>
          <a:off x="0" y="0"/>
          <a:ext cx="0" cy="0"/>
          <a:chOff x="0" y="0"/>
          <a:chExt cx="0" cy="0"/>
        </a:xfrm>
      </p:grpSpPr>
      <p:sp>
        <p:nvSpPr>
          <p:cNvPr id="2" name="Shape 0"/>
          <p:cNvSpPr/>
          <p:nvPr/>
        </p:nvSpPr>
        <p:spPr>
          <a:xfrm>
            <a:off x="813816" y="5779008"/>
            <a:ext cx="10570464" cy="0"/>
          </a:xfrm>
          <a:prstGeom prst="line">
            <a:avLst/>
          </a:prstGeom>
          <a:noFill/>
          <a:ln w="9525">
            <a:solidFill>
              <a:srgbClr val="C9A227"/>
            </a:solidFill>
            <a:prstDash val="solid"/>
          </a:ln>
        </p:spPr>
      </p:sp>
      <p:sp>
        <p:nvSpPr>
          <p:cNvPr id="3" name="Text 1"/>
          <p:cNvSpPr/>
          <p:nvPr/>
        </p:nvSpPr>
        <p:spPr>
          <a:xfrm>
            <a:off x="813816" y="5907024"/>
            <a:ext cx="3358896" cy="274320"/>
          </a:xfrm>
          <a:prstGeom prst="rect">
            <a:avLst/>
          </a:prstGeom>
          <a:noFill/>
          <a:ln/>
        </p:spPr>
        <p:txBody>
          <a:bodyPr wrap="square" lIns="0" tIns="0" rIns="0" bIns="0" rtlCol="0" anchor="ctr"/>
          <a:lstStyle/>
          <a:p>
            <a:pPr indent="0" marL="0">
              <a:buNone/>
            </a:pPr>
            <a:r>
              <a:rPr lang="en-US" sz="1600" spc="120" kern="0" dirty="0">
                <a:solidFill>
                  <a:srgbClr val="5A6379"/>
                </a:solidFill>
                <a:latin typeface="Arial" pitchFamily="34" charset="0"/>
                <a:ea typeface="Arial" pitchFamily="34" charset="-122"/>
                <a:cs typeface="Arial" pitchFamily="34" charset="-120"/>
              </a:rPr>
              <a:t>BUILD YOUR OWN DONNA</a:t>
            </a:r>
            <a:endParaRPr lang="en-US" sz="1600" dirty="0"/>
          </a:p>
        </p:txBody>
      </p:sp>
      <p:sp>
        <p:nvSpPr>
          <p:cNvPr id="4" name="Shape 2"/>
          <p:cNvSpPr/>
          <p:nvPr/>
        </p:nvSpPr>
        <p:spPr>
          <a:xfrm rot="2700000">
            <a:off x="4227576" y="6012180"/>
            <a:ext cx="64008" cy="64008"/>
          </a:xfrm>
          <a:prstGeom prst="rect">
            <a:avLst/>
          </a:prstGeom>
          <a:solidFill>
            <a:srgbClr val="C9A227"/>
          </a:solidFill>
          <a:ln w="3175">
            <a:solidFill>
              <a:srgbClr val="C9A227"/>
            </a:solidFill>
            <a:prstDash val="solid"/>
          </a:ln>
        </p:spPr>
      </p:sp>
      <p:sp>
        <p:nvSpPr>
          <p:cNvPr id="5" name="Text 3"/>
          <p:cNvSpPr/>
          <p:nvPr/>
        </p:nvSpPr>
        <p:spPr>
          <a:xfrm>
            <a:off x="4410456" y="5907024"/>
            <a:ext cx="2712720" cy="274320"/>
          </a:xfrm>
          <a:prstGeom prst="rect">
            <a:avLst/>
          </a:prstGeom>
          <a:noFill/>
          <a:ln/>
        </p:spPr>
        <p:txBody>
          <a:bodyPr wrap="square" lIns="0" tIns="0" rIns="0" bIns="0" rtlCol="0" anchor="ctr"/>
          <a:lstStyle/>
          <a:p>
            <a:pPr indent="0" marL="0">
              <a:buNone/>
            </a:pPr>
            <a:r>
              <a:rPr lang="en-US" sz="1600" spc="120" kern="0" dirty="0">
                <a:solidFill>
                  <a:srgbClr val="5A6379"/>
                </a:solidFill>
                <a:latin typeface="Arial" pitchFamily="34" charset="0"/>
                <a:ea typeface="Arial" pitchFamily="34" charset="-122"/>
                <a:cs typeface="Arial" pitchFamily="34" charset="-120"/>
              </a:rPr>
              <a:t>OCTOBER 21, 2026</a:t>
            </a:r>
            <a:endParaRPr lang="en-US" sz="1600" dirty="0"/>
          </a:p>
        </p:txBody>
      </p:sp>
      <p:sp>
        <p:nvSpPr>
          <p:cNvPr id="6" name="Text 4"/>
          <p:cNvSpPr/>
          <p:nvPr/>
        </p:nvSpPr>
        <p:spPr>
          <a:xfrm>
            <a:off x="10652760" y="5907024"/>
            <a:ext cx="731520" cy="274320"/>
          </a:xfrm>
          <a:prstGeom prst="rect">
            <a:avLst/>
          </a:prstGeom>
          <a:noFill/>
          <a:ln/>
        </p:spPr>
        <p:txBody>
          <a:bodyPr wrap="square" lIns="0" tIns="0" rIns="0" bIns="0" rtlCol="0" anchor="ctr"/>
          <a:lstStyle/>
          <a:p>
            <a:pPr algn="r" indent="0" marL="0">
              <a:buNone/>
            </a:pPr>
            <a:r>
              <a:rPr lang="en-US" sz="1600" spc="120" kern="0" dirty="0">
                <a:solidFill>
                  <a:srgbClr val="5A6379"/>
                </a:solidFill>
                <a:latin typeface="Arial" pitchFamily="34" charset="0"/>
                <a:ea typeface="Arial" pitchFamily="34" charset="-122"/>
                <a:cs typeface="Arial" pitchFamily="34" charset="-120"/>
              </a:rPr>
              <a:t>10</a:t>
            </a:r>
            <a:endParaRPr lang="en-US" sz="1600" dirty="0"/>
          </a:p>
        </p:txBody>
      </p:sp>
      <p:sp>
        <p:nvSpPr>
          <p:cNvPr id="7" name="Text 5"/>
          <p:cNvSpPr/>
          <p:nvPr/>
        </p:nvSpPr>
        <p:spPr>
          <a:xfrm>
            <a:off x="813816" y="457200"/>
            <a:ext cx="10570464" cy="310896"/>
          </a:xfrm>
          <a:prstGeom prst="rect">
            <a:avLst/>
          </a:prstGeom>
          <a:noFill/>
          <a:ln/>
        </p:spPr>
        <p:txBody>
          <a:bodyPr wrap="square" lIns="0" tIns="0" rIns="0" bIns="0" rtlCol="0" anchor="ctr"/>
          <a:lstStyle/>
          <a:p>
            <a:pPr indent="0" marL="0">
              <a:buNone/>
            </a:pPr>
            <a:r>
              <a:rPr lang="en-US" sz="1600" b="1" spc="180" kern="0" dirty="0">
                <a:solidFill>
                  <a:srgbClr val="8A6D14"/>
                </a:solidFill>
                <a:latin typeface="Arial" pitchFamily="34" charset="0"/>
                <a:ea typeface="Arial" pitchFamily="34" charset="-122"/>
                <a:cs typeface="Arial" pitchFamily="34" charset="-120"/>
              </a:rPr>
              <a:t>WHICH AI?</a:t>
            </a:r>
            <a:endParaRPr lang="en-US" sz="1600" dirty="0"/>
          </a:p>
        </p:txBody>
      </p:sp>
      <p:sp>
        <p:nvSpPr>
          <p:cNvPr id="8" name="Text 6"/>
          <p:cNvSpPr/>
          <p:nvPr/>
        </p:nvSpPr>
        <p:spPr>
          <a:xfrm>
            <a:off x="813816" y="841248"/>
            <a:ext cx="10570464" cy="751027"/>
          </a:xfrm>
          <a:prstGeom prst="rect">
            <a:avLst/>
          </a:prstGeom>
          <a:noFill/>
          <a:ln/>
        </p:spPr>
        <p:txBody>
          <a:bodyPr wrap="square" lIns="0" tIns="0" rIns="0" bIns="0" rtlCol="0" anchor="t"/>
          <a:lstStyle/>
          <a:p>
            <a:pPr indent="0" marL="0">
              <a:lnSpc>
                <a:spcPct val="94000"/>
              </a:lnSpc>
              <a:buNone/>
            </a:pPr>
            <a:r>
              <a:rPr lang="en-US" sz="4000" b="1" dirty="0">
                <a:solidFill>
                  <a:srgbClr val="14213D"/>
                </a:solidFill>
                <a:latin typeface="Georgia" pitchFamily="34" charset="0"/>
                <a:ea typeface="Georgia" pitchFamily="34" charset="-122"/>
                <a:cs typeface="Georgia" pitchFamily="34" charset="-120"/>
              </a:rPr>
              <a:t>Pick your tool. Keep your playbook.</a:t>
            </a:r>
            <a:endParaRPr lang="en-US" sz="4000" dirty="0"/>
          </a:p>
        </p:txBody>
      </p:sp>
      <p:sp>
        <p:nvSpPr>
          <p:cNvPr id="9" name="Shape 7"/>
          <p:cNvSpPr/>
          <p:nvPr/>
        </p:nvSpPr>
        <p:spPr>
          <a:xfrm>
            <a:off x="813816" y="1793443"/>
            <a:ext cx="2395728" cy="2834640"/>
          </a:xfrm>
          <a:prstGeom prst="rect">
            <a:avLst/>
          </a:prstGeom>
          <a:solidFill>
            <a:srgbClr val="E8E2D2"/>
          </a:solidFill>
          <a:ln/>
        </p:spPr>
      </p:sp>
      <p:sp>
        <p:nvSpPr>
          <p:cNvPr id="10" name="Text 8"/>
          <p:cNvSpPr/>
          <p:nvPr/>
        </p:nvSpPr>
        <p:spPr>
          <a:xfrm>
            <a:off x="1033272" y="1994611"/>
            <a:ext cx="1956816" cy="420624"/>
          </a:xfrm>
          <a:prstGeom prst="rect">
            <a:avLst/>
          </a:prstGeom>
          <a:noFill/>
          <a:ln/>
        </p:spPr>
        <p:txBody>
          <a:bodyPr wrap="square" lIns="0" tIns="0" rIns="0" bIns="0" rtlCol="0" anchor="ctr"/>
          <a:lstStyle/>
          <a:p>
            <a:pPr indent="0" marL="0">
              <a:buNone/>
            </a:pPr>
            <a:r>
              <a:rPr lang="en-US" sz="2200" b="1" dirty="0">
                <a:solidFill>
                  <a:srgbClr val="14213D"/>
                </a:solidFill>
                <a:latin typeface="Georgia" pitchFamily="34" charset="0"/>
                <a:ea typeface="Georgia" pitchFamily="34" charset="-122"/>
                <a:cs typeface="Georgia" pitchFamily="34" charset="-120"/>
              </a:rPr>
              <a:t>Copilot</a:t>
            </a:r>
            <a:endParaRPr lang="en-US" sz="2200" dirty="0"/>
          </a:p>
        </p:txBody>
      </p:sp>
      <p:sp>
        <p:nvSpPr>
          <p:cNvPr id="11" name="Text 9"/>
          <p:cNvSpPr/>
          <p:nvPr/>
        </p:nvSpPr>
        <p:spPr>
          <a:xfrm>
            <a:off x="1033272" y="2506675"/>
            <a:ext cx="1956816" cy="1371600"/>
          </a:xfrm>
          <a:prstGeom prst="rect">
            <a:avLst/>
          </a:prstGeom>
          <a:noFill/>
          <a:ln/>
        </p:spPr>
        <p:txBody>
          <a:bodyPr wrap="square" lIns="0" tIns="0" rIns="0" bIns="0" rtlCol="0" anchor="t"/>
          <a:lstStyle/>
          <a:p>
            <a:pPr indent="0" marL="0">
              <a:lnSpc>
                <a:spcPct val="116000"/>
              </a:lnSpc>
              <a:buNone/>
            </a:pPr>
            <a:r>
              <a:rPr lang="en-US" sz="1600" dirty="0">
                <a:solidFill>
                  <a:srgbClr val="14213D"/>
                </a:solidFill>
                <a:latin typeface="Arial" pitchFamily="34" charset="0"/>
                <a:ea typeface="Arial" pitchFamily="34" charset="-122"/>
                <a:cs typeface="Arial" pitchFamily="34" charset="-120"/>
              </a:rPr>
              <a:t>AI inside Microsoft 365. Pick it if your company lives in Outlook and Teams.</a:t>
            </a:r>
            <a:endParaRPr lang="en-US" sz="1600" dirty="0"/>
          </a:p>
        </p:txBody>
      </p:sp>
      <p:sp>
        <p:nvSpPr>
          <p:cNvPr id="12" name="Shape 10"/>
          <p:cNvSpPr/>
          <p:nvPr/>
        </p:nvSpPr>
        <p:spPr>
          <a:xfrm>
            <a:off x="3538728" y="1793443"/>
            <a:ext cx="2395728" cy="2834640"/>
          </a:xfrm>
          <a:prstGeom prst="rect">
            <a:avLst/>
          </a:prstGeom>
          <a:solidFill>
            <a:srgbClr val="E8E2D2"/>
          </a:solidFill>
          <a:ln/>
        </p:spPr>
      </p:sp>
      <p:sp>
        <p:nvSpPr>
          <p:cNvPr id="13" name="Text 11"/>
          <p:cNvSpPr/>
          <p:nvPr/>
        </p:nvSpPr>
        <p:spPr>
          <a:xfrm>
            <a:off x="3758184" y="1994611"/>
            <a:ext cx="1956816" cy="420624"/>
          </a:xfrm>
          <a:prstGeom prst="rect">
            <a:avLst/>
          </a:prstGeom>
          <a:noFill/>
          <a:ln/>
        </p:spPr>
        <p:txBody>
          <a:bodyPr wrap="square" lIns="0" tIns="0" rIns="0" bIns="0" rtlCol="0" anchor="ctr"/>
          <a:lstStyle/>
          <a:p>
            <a:pPr indent="0" marL="0">
              <a:buNone/>
            </a:pPr>
            <a:r>
              <a:rPr lang="en-US" sz="2200" b="1" dirty="0">
                <a:solidFill>
                  <a:srgbClr val="14213D"/>
                </a:solidFill>
                <a:latin typeface="Georgia" pitchFamily="34" charset="0"/>
                <a:ea typeface="Georgia" pitchFamily="34" charset="-122"/>
                <a:cs typeface="Georgia" pitchFamily="34" charset="-120"/>
              </a:rPr>
              <a:t>Perplexity</a:t>
            </a:r>
            <a:endParaRPr lang="en-US" sz="2200" dirty="0"/>
          </a:p>
        </p:txBody>
      </p:sp>
      <p:sp>
        <p:nvSpPr>
          <p:cNvPr id="14" name="Text 12"/>
          <p:cNvSpPr/>
          <p:nvPr/>
        </p:nvSpPr>
        <p:spPr>
          <a:xfrm>
            <a:off x="3758184" y="2506675"/>
            <a:ext cx="1956816" cy="1115568"/>
          </a:xfrm>
          <a:prstGeom prst="rect">
            <a:avLst/>
          </a:prstGeom>
          <a:noFill/>
          <a:ln/>
        </p:spPr>
        <p:txBody>
          <a:bodyPr wrap="square" lIns="0" tIns="0" rIns="0" bIns="0" rtlCol="0" anchor="t"/>
          <a:lstStyle/>
          <a:p>
            <a:pPr indent="0" marL="0">
              <a:lnSpc>
                <a:spcPct val="116000"/>
              </a:lnSpc>
              <a:buNone/>
            </a:pPr>
            <a:r>
              <a:rPr lang="en-US" sz="1600" dirty="0">
                <a:solidFill>
                  <a:srgbClr val="14213D"/>
                </a:solidFill>
                <a:latin typeface="Arial" pitchFamily="34" charset="0"/>
                <a:ea typeface="Arial" pitchFamily="34" charset="-122"/>
                <a:cs typeface="Arial" pitchFamily="34" charset="-120"/>
              </a:rPr>
              <a:t>Research with sources. Ask the web, get the citations.</a:t>
            </a:r>
            <a:endParaRPr lang="en-US" sz="1600" dirty="0"/>
          </a:p>
        </p:txBody>
      </p:sp>
      <p:sp>
        <p:nvSpPr>
          <p:cNvPr id="15" name="Shape 13"/>
          <p:cNvSpPr/>
          <p:nvPr/>
        </p:nvSpPr>
        <p:spPr>
          <a:xfrm>
            <a:off x="6263640" y="1793443"/>
            <a:ext cx="2395728" cy="2834640"/>
          </a:xfrm>
          <a:prstGeom prst="rect">
            <a:avLst/>
          </a:prstGeom>
          <a:solidFill>
            <a:srgbClr val="E8E2D2"/>
          </a:solidFill>
          <a:ln/>
        </p:spPr>
      </p:sp>
      <p:sp>
        <p:nvSpPr>
          <p:cNvPr id="16" name="Text 14"/>
          <p:cNvSpPr/>
          <p:nvPr/>
        </p:nvSpPr>
        <p:spPr>
          <a:xfrm>
            <a:off x="6483096" y="1994611"/>
            <a:ext cx="1956816" cy="420624"/>
          </a:xfrm>
          <a:prstGeom prst="rect">
            <a:avLst/>
          </a:prstGeom>
          <a:noFill/>
          <a:ln/>
        </p:spPr>
        <p:txBody>
          <a:bodyPr wrap="square" lIns="0" tIns="0" rIns="0" bIns="0" rtlCol="0" anchor="ctr"/>
          <a:lstStyle/>
          <a:p>
            <a:pPr indent="0" marL="0">
              <a:buNone/>
            </a:pPr>
            <a:r>
              <a:rPr lang="en-US" sz="2200" b="1" dirty="0">
                <a:solidFill>
                  <a:srgbClr val="14213D"/>
                </a:solidFill>
                <a:latin typeface="Georgia" pitchFamily="34" charset="0"/>
                <a:ea typeface="Georgia" pitchFamily="34" charset="-122"/>
                <a:cs typeface="Georgia" pitchFamily="34" charset="-120"/>
              </a:rPr>
              <a:t>ChatGPT</a:t>
            </a:r>
            <a:endParaRPr lang="en-US" sz="2200" dirty="0"/>
          </a:p>
        </p:txBody>
      </p:sp>
      <p:sp>
        <p:nvSpPr>
          <p:cNvPr id="17" name="Text 15"/>
          <p:cNvSpPr/>
          <p:nvPr/>
        </p:nvSpPr>
        <p:spPr>
          <a:xfrm>
            <a:off x="6483096" y="2506675"/>
            <a:ext cx="1956816" cy="1115568"/>
          </a:xfrm>
          <a:prstGeom prst="rect">
            <a:avLst/>
          </a:prstGeom>
          <a:noFill/>
          <a:ln/>
        </p:spPr>
        <p:txBody>
          <a:bodyPr wrap="square" lIns="0" tIns="0" rIns="0" bIns="0" rtlCol="0" anchor="t"/>
          <a:lstStyle/>
          <a:p>
            <a:pPr indent="0" marL="0">
              <a:lnSpc>
                <a:spcPct val="116000"/>
              </a:lnSpc>
              <a:buNone/>
            </a:pPr>
            <a:r>
              <a:rPr lang="en-US" sz="1600" dirty="0">
                <a:solidFill>
                  <a:srgbClr val="14213D"/>
                </a:solidFill>
                <a:latin typeface="Arial" pitchFamily="34" charset="0"/>
                <a:ea typeface="Arial" pitchFamily="34" charset="-122"/>
                <a:cs typeface="Arial" pitchFamily="34" charset="-120"/>
              </a:rPr>
              <a:t>The everyday all-rounder, with the widest set of tricks.</a:t>
            </a:r>
            <a:endParaRPr lang="en-US" sz="1600" dirty="0"/>
          </a:p>
        </p:txBody>
      </p:sp>
      <p:sp>
        <p:nvSpPr>
          <p:cNvPr id="18" name="Shape 16"/>
          <p:cNvSpPr/>
          <p:nvPr/>
        </p:nvSpPr>
        <p:spPr>
          <a:xfrm>
            <a:off x="8988552" y="1793443"/>
            <a:ext cx="2395728" cy="2834640"/>
          </a:xfrm>
          <a:prstGeom prst="rect">
            <a:avLst/>
          </a:prstGeom>
          <a:solidFill>
            <a:srgbClr val="14213D"/>
          </a:solidFill>
          <a:ln/>
        </p:spPr>
      </p:sp>
      <p:sp>
        <p:nvSpPr>
          <p:cNvPr id="19" name="Text 17"/>
          <p:cNvSpPr/>
          <p:nvPr/>
        </p:nvSpPr>
        <p:spPr>
          <a:xfrm>
            <a:off x="9208008" y="1994611"/>
            <a:ext cx="1956816" cy="420624"/>
          </a:xfrm>
          <a:prstGeom prst="rect">
            <a:avLst/>
          </a:prstGeom>
          <a:noFill/>
          <a:ln/>
        </p:spPr>
        <p:txBody>
          <a:bodyPr wrap="square" lIns="0" tIns="0" rIns="0" bIns="0" rtlCol="0" anchor="ctr"/>
          <a:lstStyle/>
          <a:p>
            <a:pPr indent="0" marL="0">
              <a:buNone/>
            </a:pPr>
            <a:r>
              <a:rPr lang="en-US" sz="2200" b="1" dirty="0">
                <a:solidFill>
                  <a:srgbClr val="E7C766"/>
                </a:solidFill>
                <a:latin typeface="Georgia" pitchFamily="34" charset="0"/>
                <a:ea typeface="Georgia" pitchFamily="34" charset="-122"/>
                <a:cs typeface="Georgia" pitchFamily="34" charset="-120"/>
              </a:rPr>
              <a:t>Claude</a:t>
            </a:r>
            <a:endParaRPr lang="en-US" sz="2200" dirty="0"/>
          </a:p>
        </p:txBody>
      </p:sp>
      <p:sp>
        <p:nvSpPr>
          <p:cNvPr id="20" name="Text 18"/>
          <p:cNvSpPr/>
          <p:nvPr/>
        </p:nvSpPr>
        <p:spPr>
          <a:xfrm>
            <a:off x="9208008" y="2506675"/>
            <a:ext cx="1956816" cy="1883664"/>
          </a:xfrm>
          <a:prstGeom prst="rect">
            <a:avLst/>
          </a:prstGeom>
          <a:noFill/>
          <a:ln/>
        </p:spPr>
        <p:txBody>
          <a:bodyPr wrap="square" lIns="0" tIns="0" rIns="0" bIns="0" rtlCol="0" anchor="t"/>
          <a:lstStyle/>
          <a:p>
            <a:pPr indent="0" marL="0">
              <a:lnSpc>
                <a:spcPct val="116000"/>
              </a:lnSpc>
              <a:buNone/>
            </a:pPr>
            <a:r>
              <a:rPr lang="en-US" sz="1600" dirty="0">
                <a:solidFill>
                  <a:srgbClr val="F7F3EA"/>
                </a:solidFill>
                <a:latin typeface="Arial" pitchFamily="34" charset="0"/>
                <a:ea typeface="Arial" pitchFamily="34" charset="-122"/>
                <a:cs typeface="Arial" pitchFamily="34" charset="-120"/>
              </a:rPr>
              <a:t>Careful writing, plus agents that do the work: projects, connectors, skills, scheduled tasks.</a:t>
            </a:r>
            <a:endParaRPr lang="en-US" sz="1600" dirty="0"/>
          </a:p>
        </p:txBody>
      </p:sp>
      <p:sp>
        <p:nvSpPr>
          <p:cNvPr id="21" name="Text 19"/>
          <p:cNvSpPr/>
          <p:nvPr/>
        </p:nvSpPr>
        <p:spPr>
          <a:xfrm>
            <a:off x="813816" y="4829251"/>
            <a:ext cx="10570464" cy="603504"/>
          </a:xfrm>
          <a:prstGeom prst="rect">
            <a:avLst/>
          </a:prstGeom>
          <a:noFill/>
          <a:ln/>
        </p:spPr>
        <p:txBody>
          <a:bodyPr wrap="square" lIns="0" tIns="0" rIns="0" bIns="0" rtlCol="0" anchor="t"/>
          <a:lstStyle/>
          <a:p>
            <a:pPr algn="l" indent="0" marL="0">
              <a:lnSpc>
                <a:spcPct val="116000"/>
              </a:lnSpc>
              <a:buNone/>
            </a:pPr>
            <a:r>
              <a:rPr lang="en-US" sz="1600" b="1" dirty="0">
                <a:solidFill>
                  <a:srgbClr val="8A6D14"/>
                </a:solidFill>
                <a:latin typeface="Arial" pitchFamily="34" charset="0"/>
                <a:ea typeface="Arial" pitchFamily="34" charset="-122"/>
                <a:cs typeface="Arial" pitchFamily="34" charset="-120"/>
              </a:rPr>
              <a:t>What you build today is a plain-text playbook. Download it, and paste it into any of these tomorrow.</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4213D"/>
        </a:solidFill>
      </p:bgPr>
    </p:bg>
    <p:spTree>
      <p:nvGrpSpPr>
        <p:cNvPr id="1" name=""/>
        <p:cNvGrpSpPr/>
        <p:nvPr/>
      </p:nvGrpSpPr>
      <p:grpSpPr>
        <a:xfrm>
          <a:off x="0" y="0"/>
          <a:ext cx="0" cy="0"/>
          <a:chOff x="0" y="0"/>
          <a:chExt cx="0" cy="0"/>
        </a:xfrm>
      </p:grpSpPr>
      <p:sp>
        <p:nvSpPr>
          <p:cNvPr id="2" name="Shape 0"/>
          <p:cNvSpPr/>
          <p:nvPr/>
        </p:nvSpPr>
        <p:spPr>
          <a:xfrm>
            <a:off x="813816" y="5779008"/>
            <a:ext cx="10570464" cy="0"/>
          </a:xfrm>
          <a:prstGeom prst="line">
            <a:avLst/>
          </a:prstGeom>
          <a:noFill/>
          <a:ln w="9525">
            <a:solidFill>
              <a:srgbClr val="C9A227"/>
            </a:solidFill>
            <a:prstDash val="solid"/>
          </a:ln>
        </p:spPr>
      </p:sp>
      <p:sp>
        <p:nvSpPr>
          <p:cNvPr id="3" name="Text 1"/>
          <p:cNvSpPr/>
          <p:nvPr/>
        </p:nvSpPr>
        <p:spPr>
          <a:xfrm>
            <a:off x="813816" y="5907024"/>
            <a:ext cx="3358896" cy="274320"/>
          </a:xfrm>
          <a:prstGeom prst="rect">
            <a:avLst/>
          </a:prstGeom>
          <a:noFill/>
          <a:ln/>
        </p:spPr>
        <p:txBody>
          <a:bodyPr wrap="square" lIns="0" tIns="0" rIns="0" bIns="0" rtlCol="0" anchor="ctr"/>
          <a:lstStyle/>
          <a:p>
            <a:pPr indent="0" marL="0">
              <a:buNone/>
            </a:pPr>
            <a:r>
              <a:rPr lang="en-US" sz="1600" spc="120" kern="0" dirty="0">
                <a:solidFill>
                  <a:srgbClr val="AFA893"/>
                </a:solidFill>
                <a:latin typeface="Arial" pitchFamily="34" charset="0"/>
                <a:ea typeface="Arial" pitchFamily="34" charset="-122"/>
                <a:cs typeface="Arial" pitchFamily="34" charset="-120"/>
              </a:rPr>
              <a:t>BUILD YOUR OWN DONNA</a:t>
            </a:r>
            <a:endParaRPr lang="en-US" sz="1600" dirty="0"/>
          </a:p>
        </p:txBody>
      </p:sp>
      <p:sp>
        <p:nvSpPr>
          <p:cNvPr id="4" name="Shape 2"/>
          <p:cNvSpPr/>
          <p:nvPr/>
        </p:nvSpPr>
        <p:spPr>
          <a:xfrm rot="2700000">
            <a:off x="4227576" y="6012180"/>
            <a:ext cx="64008" cy="64008"/>
          </a:xfrm>
          <a:prstGeom prst="rect">
            <a:avLst/>
          </a:prstGeom>
          <a:solidFill>
            <a:srgbClr val="C9A227"/>
          </a:solidFill>
          <a:ln w="3175">
            <a:solidFill>
              <a:srgbClr val="C9A227"/>
            </a:solidFill>
            <a:prstDash val="solid"/>
          </a:ln>
        </p:spPr>
      </p:sp>
      <p:sp>
        <p:nvSpPr>
          <p:cNvPr id="5" name="Text 3"/>
          <p:cNvSpPr/>
          <p:nvPr/>
        </p:nvSpPr>
        <p:spPr>
          <a:xfrm>
            <a:off x="4410456" y="5907024"/>
            <a:ext cx="2712720" cy="274320"/>
          </a:xfrm>
          <a:prstGeom prst="rect">
            <a:avLst/>
          </a:prstGeom>
          <a:noFill/>
          <a:ln/>
        </p:spPr>
        <p:txBody>
          <a:bodyPr wrap="square" lIns="0" tIns="0" rIns="0" bIns="0" rtlCol="0" anchor="ctr"/>
          <a:lstStyle/>
          <a:p>
            <a:pPr indent="0" marL="0">
              <a:buNone/>
            </a:pPr>
            <a:r>
              <a:rPr lang="en-US" sz="1600" spc="120" kern="0" dirty="0">
                <a:solidFill>
                  <a:srgbClr val="AFA893"/>
                </a:solidFill>
                <a:latin typeface="Arial" pitchFamily="34" charset="0"/>
                <a:ea typeface="Arial" pitchFamily="34" charset="-122"/>
                <a:cs typeface="Arial" pitchFamily="34" charset="-120"/>
              </a:rPr>
              <a:t>OCTOBER 21, 2026</a:t>
            </a:r>
            <a:endParaRPr lang="en-US" sz="1600" dirty="0"/>
          </a:p>
        </p:txBody>
      </p:sp>
      <p:sp>
        <p:nvSpPr>
          <p:cNvPr id="6" name="Text 4"/>
          <p:cNvSpPr/>
          <p:nvPr/>
        </p:nvSpPr>
        <p:spPr>
          <a:xfrm>
            <a:off x="10652760" y="5907024"/>
            <a:ext cx="731520" cy="274320"/>
          </a:xfrm>
          <a:prstGeom prst="rect">
            <a:avLst/>
          </a:prstGeom>
          <a:noFill/>
          <a:ln/>
        </p:spPr>
        <p:txBody>
          <a:bodyPr wrap="square" lIns="0" tIns="0" rIns="0" bIns="0" rtlCol="0" anchor="ctr"/>
          <a:lstStyle/>
          <a:p>
            <a:pPr algn="r" indent="0" marL="0">
              <a:buNone/>
            </a:pPr>
            <a:r>
              <a:rPr lang="en-US" sz="1600" spc="120" kern="0" dirty="0">
                <a:solidFill>
                  <a:srgbClr val="AFA893"/>
                </a:solidFill>
                <a:latin typeface="Arial" pitchFamily="34" charset="0"/>
                <a:ea typeface="Arial" pitchFamily="34" charset="-122"/>
                <a:cs typeface="Arial" pitchFamily="34" charset="-120"/>
              </a:rPr>
              <a:t>11</a:t>
            </a:r>
            <a:endParaRPr lang="en-US" sz="1600" dirty="0"/>
          </a:p>
        </p:txBody>
      </p:sp>
      <p:sp>
        <p:nvSpPr>
          <p:cNvPr id="7" name="Text 5"/>
          <p:cNvSpPr/>
          <p:nvPr/>
        </p:nvSpPr>
        <p:spPr>
          <a:xfrm>
            <a:off x="813816" y="457200"/>
            <a:ext cx="10570464" cy="310896"/>
          </a:xfrm>
          <a:prstGeom prst="rect">
            <a:avLst/>
          </a:prstGeom>
          <a:noFill/>
          <a:ln/>
        </p:spPr>
        <p:txBody>
          <a:bodyPr wrap="square" lIns="0" tIns="0" rIns="0" bIns="0" rtlCol="0" anchor="ctr"/>
          <a:lstStyle/>
          <a:p>
            <a:pPr indent="0" marL="0">
              <a:buNone/>
            </a:pPr>
            <a:r>
              <a:rPr lang="en-US" sz="1600" b="1" spc="180" kern="0" dirty="0">
                <a:solidFill>
                  <a:srgbClr val="E7C766"/>
                </a:solidFill>
                <a:latin typeface="Arial" pitchFamily="34" charset="0"/>
                <a:ea typeface="Arial" pitchFamily="34" charset="-122"/>
                <a:cs typeface="Arial" pitchFamily="34" charset="-120"/>
              </a:rPr>
              <a:t>FREE OR PAID CLAUDE?</a:t>
            </a:r>
            <a:endParaRPr lang="en-US" sz="1600" dirty="0"/>
          </a:p>
        </p:txBody>
      </p:sp>
      <p:sp>
        <p:nvSpPr>
          <p:cNvPr id="8" name="Text 6"/>
          <p:cNvSpPr/>
          <p:nvPr/>
        </p:nvSpPr>
        <p:spPr>
          <a:xfrm>
            <a:off x="813816" y="841248"/>
            <a:ext cx="10570464" cy="751027"/>
          </a:xfrm>
          <a:prstGeom prst="rect">
            <a:avLst/>
          </a:prstGeom>
          <a:noFill/>
          <a:ln/>
        </p:spPr>
        <p:txBody>
          <a:bodyPr wrap="square" lIns="0" tIns="0" rIns="0" bIns="0" rtlCol="0" anchor="t"/>
          <a:lstStyle/>
          <a:p>
            <a:pPr indent="0" marL="0">
              <a:lnSpc>
                <a:spcPct val="94000"/>
              </a:lnSpc>
              <a:buNone/>
            </a:pPr>
            <a:r>
              <a:rPr lang="en-US" sz="4000" b="1" dirty="0">
                <a:solidFill>
                  <a:srgbClr val="F7F3EA"/>
                </a:solidFill>
                <a:latin typeface="Georgia" pitchFamily="34" charset="0"/>
                <a:ea typeface="Georgia" pitchFamily="34" charset="-122"/>
                <a:cs typeface="Georgia" pitchFamily="34" charset="-120"/>
              </a:rPr>
              <a:t>Free works. You press start.</a:t>
            </a:r>
            <a:endParaRPr lang="en-US" sz="4000" dirty="0"/>
          </a:p>
        </p:txBody>
      </p:sp>
      <p:sp>
        <p:nvSpPr>
          <p:cNvPr id="9" name="Shape 7"/>
          <p:cNvSpPr/>
          <p:nvPr/>
        </p:nvSpPr>
        <p:spPr>
          <a:xfrm>
            <a:off x="813816" y="1793443"/>
            <a:ext cx="5687568" cy="3218688"/>
          </a:xfrm>
          <a:prstGeom prst="rect">
            <a:avLst/>
          </a:prstGeom>
          <a:solidFill>
            <a:srgbClr val="2A3244"/>
          </a:solidFill>
          <a:ln/>
        </p:spPr>
      </p:sp>
      <p:sp>
        <p:nvSpPr>
          <p:cNvPr id="10" name="Text 8"/>
          <p:cNvSpPr/>
          <p:nvPr/>
        </p:nvSpPr>
        <p:spPr>
          <a:xfrm>
            <a:off x="1051560" y="2031187"/>
            <a:ext cx="5212080" cy="347472"/>
          </a:xfrm>
          <a:prstGeom prst="rect">
            <a:avLst/>
          </a:prstGeom>
          <a:noFill/>
          <a:ln/>
        </p:spPr>
        <p:txBody>
          <a:bodyPr wrap="square" lIns="0" tIns="0" rIns="0" bIns="0" rtlCol="0" anchor="t"/>
          <a:lstStyle/>
          <a:p>
            <a:pPr indent="0" marL="0">
              <a:buNone/>
            </a:pPr>
            <a:r>
              <a:rPr lang="en-US" sz="1600" b="1" spc="160" kern="0" dirty="0">
                <a:solidFill>
                  <a:srgbClr val="E7C766"/>
                </a:solidFill>
                <a:latin typeface="Arial" pitchFamily="34" charset="0"/>
                <a:ea typeface="Arial" pitchFamily="34" charset="-122"/>
                <a:cs typeface="Arial" pitchFamily="34" charset="-120"/>
              </a:rPr>
              <a:t>ON EVERY PLAN, FREE INCLUDED</a:t>
            </a:r>
            <a:endParaRPr lang="en-US" sz="1600" dirty="0"/>
          </a:p>
        </p:txBody>
      </p:sp>
      <p:sp>
        <p:nvSpPr>
          <p:cNvPr id="11" name="Shape 9"/>
          <p:cNvSpPr/>
          <p:nvPr/>
        </p:nvSpPr>
        <p:spPr>
          <a:xfrm rot="2700000">
            <a:off x="1051560" y="2566111"/>
            <a:ext cx="100584" cy="100584"/>
          </a:xfrm>
          <a:prstGeom prst="rect">
            <a:avLst/>
          </a:prstGeom>
          <a:solidFill>
            <a:srgbClr val="C9A227"/>
          </a:solidFill>
          <a:ln w="3175">
            <a:solidFill>
              <a:srgbClr val="C9A227"/>
            </a:solidFill>
            <a:prstDash val="solid"/>
          </a:ln>
        </p:spPr>
      </p:sp>
      <p:sp>
        <p:nvSpPr>
          <p:cNvPr id="12" name="Text 10"/>
          <p:cNvSpPr/>
          <p:nvPr/>
        </p:nvSpPr>
        <p:spPr>
          <a:xfrm>
            <a:off x="1362456" y="2488387"/>
            <a:ext cx="4901184" cy="347472"/>
          </a:xfrm>
          <a:prstGeom prst="rect">
            <a:avLst/>
          </a:prstGeom>
          <a:noFill/>
          <a:ln/>
        </p:spPr>
        <p:txBody>
          <a:bodyPr wrap="square" lIns="0" tIns="0" rIns="0" bIns="0" rtlCol="0" anchor="t"/>
          <a:lstStyle/>
          <a:p>
            <a:pPr indent="0" marL="0">
              <a:lnSpc>
                <a:spcPct val="116000"/>
              </a:lnSpc>
              <a:buNone/>
            </a:pPr>
            <a:r>
              <a:rPr lang="en-US" sz="1600" dirty="0">
                <a:solidFill>
                  <a:srgbClr val="F7F3EA"/>
                </a:solidFill>
                <a:latin typeface="Arial" pitchFamily="34" charset="0"/>
                <a:ea typeface="Arial" pitchFamily="34" charset="-122"/>
                <a:cs typeface="Arial" pitchFamily="34" charset="-120"/>
              </a:rPr>
              <a:t>Steps 1 and 2, exactly as written.</a:t>
            </a:r>
            <a:endParaRPr lang="en-US" sz="1600" dirty="0"/>
          </a:p>
        </p:txBody>
      </p:sp>
      <p:sp>
        <p:nvSpPr>
          <p:cNvPr id="13" name="Shape 11"/>
          <p:cNvSpPr/>
          <p:nvPr/>
        </p:nvSpPr>
        <p:spPr>
          <a:xfrm rot="2700000">
            <a:off x="1051560" y="3041599"/>
            <a:ext cx="100584" cy="100584"/>
          </a:xfrm>
          <a:prstGeom prst="rect">
            <a:avLst/>
          </a:prstGeom>
          <a:solidFill>
            <a:srgbClr val="C9A227"/>
          </a:solidFill>
          <a:ln w="3175">
            <a:solidFill>
              <a:srgbClr val="C9A227"/>
            </a:solidFill>
            <a:prstDash val="solid"/>
          </a:ln>
        </p:spPr>
      </p:sp>
      <p:sp>
        <p:nvSpPr>
          <p:cNvPr id="14" name="Text 12"/>
          <p:cNvSpPr/>
          <p:nvPr/>
        </p:nvSpPr>
        <p:spPr>
          <a:xfrm>
            <a:off x="1362456" y="2963875"/>
            <a:ext cx="4901184" cy="347472"/>
          </a:xfrm>
          <a:prstGeom prst="rect">
            <a:avLst/>
          </a:prstGeom>
          <a:noFill/>
          <a:ln/>
        </p:spPr>
        <p:txBody>
          <a:bodyPr wrap="square" lIns="0" tIns="0" rIns="0" bIns="0" rtlCol="0" anchor="t"/>
          <a:lstStyle/>
          <a:p>
            <a:pPr indent="0" marL="0">
              <a:lnSpc>
                <a:spcPct val="116000"/>
              </a:lnSpc>
              <a:buNone/>
            </a:pPr>
            <a:r>
              <a:rPr lang="en-US" sz="1600" dirty="0">
                <a:solidFill>
                  <a:srgbClr val="F7F3EA"/>
                </a:solidFill>
                <a:latin typeface="Arial" pitchFamily="34" charset="0"/>
                <a:ea typeface="Arial" pitchFamily="34" charset="-122"/>
                <a:cs typeface="Arial" pitchFamily="34" charset="-120"/>
              </a:rPr>
              <a:t>Her playbook as a skill you own (Step 3).</a:t>
            </a:r>
            <a:endParaRPr lang="en-US" sz="1600" dirty="0"/>
          </a:p>
        </p:txBody>
      </p:sp>
      <p:sp>
        <p:nvSpPr>
          <p:cNvPr id="15" name="Shape 13"/>
          <p:cNvSpPr/>
          <p:nvPr/>
        </p:nvSpPr>
        <p:spPr>
          <a:xfrm rot="2700000">
            <a:off x="1051560" y="3517087"/>
            <a:ext cx="100584" cy="100584"/>
          </a:xfrm>
          <a:prstGeom prst="rect">
            <a:avLst/>
          </a:prstGeom>
          <a:solidFill>
            <a:srgbClr val="C9A227"/>
          </a:solidFill>
          <a:ln w="3175">
            <a:solidFill>
              <a:srgbClr val="C9A227"/>
            </a:solidFill>
            <a:prstDash val="solid"/>
          </a:ln>
        </p:spPr>
      </p:sp>
      <p:sp>
        <p:nvSpPr>
          <p:cNvPr id="16" name="Text 14"/>
          <p:cNvSpPr/>
          <p:nvPr/>
        </p:nvSpPr>
        <p:spPr>
          <a:xfrm>
            <a:off x="1362456" y="3439363"/>
            <a:ext cx="4901184" cy="603504"/>
          </a:xfrm>
          <a:prstGeom prst="rect">
            <a:avLst/>
          </a:prstGeom>
          <a:noFill/>
          <a:ln/>
        </p:spPr>
        <p:txBody>
          <a:bodyPr wrap="square" lIns="0" tIns="0" rIns="0" bIns="0" rtlCol="0" anchor="t"/>
          <a:lstStyle/>
          <a:p>
            <a:pPr indent="0" marL="0">
              <a:lnSpc>
                <a:spcPct val="116000"/>
              </a:lnSpc>
              <a:buNone/>
            </a:pPr>
            <a:r>
              <a:rPr lang="en-US" sz="1600" dirty="0">
                <a:solidFill>
                  <a:srgbClr val="F7F3EA"/>
                </a:solidFill>
                <a:latin typeface="Arial" pitchFamily="34" charset="0"/>
                <a:ea typeface="Arial" pitchFamily="34" charset="-122"/>
                <a:cs typeface="Arial" pitchFamily="34" charset="-120"/>
              </a:rPr>
              <a:t>Say "Triage my inbox" at 4:30: her shift, started by you.</a:t>
            </a:r>
            <a:endParaRPr lang="en-US" sz="1600" dirty="0"/>
          </a:p>
        </p:txBody>
      </p:sp>
      <p:sp>
        <p:nvSpPr>
          <p:cNvPr id="17" name="Shape 15"/>
          <p:cNvSpPr/>
          <p:nvPr/>
        </p:nvSpPr>
        <p:spPr>
          <a:xfrm rot="2700000">
            <a:off x="1051560" y="4248607"/>
            <a:ext cx="100584" cy="100584"/>
          </a:xfrm>
          <a:prstGeom prst="rect">
            <a:avLst/>
          </a:prstGeom>
          <a:solidFill>
            <a:srgbClr val="C9A227"/>
          </a:solidFill>
          <a:ln w="3175">
            <a:solidFill>
              <a:srgbClr val="C9A227"/>
            </a:solidFill>
            <a:prstDash val="solid"/>
          </a:ln>
        </p:spPr>
      </p:sp>
      <p:sp>
        <p:nvSpPr>
          <p:cNvPr id="18" name="Text 16"/>
          <p:cNvSpPr/>
          <p:nvPr/>
        </p:nvSpPr>
        <p:spPr>
          <a:xfrm>
            <a:off x="1362456" y="4170883"/>
            <a:ext cx="4901184" cy="603504"/>
          </a:xfrm>
          <a:prstGeom prst="rect">
            <a:avLst/>
          </a:prstGeom>
          <a:noFill/>
          <a:ln/>
        </p:spPr>
        <p:txBody>
          <a:bodyPr wrap="square" lIns="0" tIns="0" rIns="0" bIns="0" rtlCol="0" anchor="t"/>
          <a:lstStyle/>
          <a:p>
            <a:pPr indent="0" marL="0">
              <a:lnSpc>
                <a:spcPct val="116000"/>
              </a:lnSpc>
              <a:buNone/>
            </a:pPr>
            <a:r>
              <a:rPr lang="en-US" sz="1600" dirty="0">
                <a:solidFill>
                  <a:srgbClr val="F7F3EA"/>
                </a:solidFill>
                <a:latin typeface="Arial" pitchFamily="34" charset="0"/>
                <a:ea typeface="Arial" pitchFamily="34" charset="-122"/>
                <a:cs typeface="Arial" pitchFamily="34" charset="-120"/>
              </a:rPr>
              <a:t>Say "Retrain" on Friday: her review, started by you.</a:t>
            </a:r>
            <a:endParaRPr lang="en-US" sz="1600" dirty="0"/>
          </a:p>
        </p:txBody>
      </p:sp>
      <p:sp>
        <p:nvSpPr>
          <p:cNvPr id="19" name="Shape 17"/>
          <p:cNvSpPr/>
          <p:nvPr/>
        </p:nvSpPr>
        <p:spPr>
          <a:xfrm>
            <a:off x="6903720" y="1793443"/>
            <a:ext cx="4480560" cy="2523744"/>
          </a:xfrm>
          <a:prstGeom prst="rect">
            <a:avLst/>
          </a:prstGeom>
          <a:solidFill>
            <a:srgbClr val="2A3244"/>
          </a:solidFill>
          <a:ln/>
        </p:spPr>
      </p:sp>
      <p:sp>
        <p:nvSpPr>
          <p:cNvPr id="20" name="Text 18"/>
          <p:cNvSpPr/>
          <p:nvPr/>
        </p:nvSpPr>
        <p:spPr>
          <a:xfrm>
            <a:off x="7141464" y="2031187"/>
            <a:ext cx="4005072" cy="347472"/>
          </a:xfrm>
          <a:prstGeom prst="rect">
            <a:avLst/>
          </a:prstGeom>
          <a:noFill/>
          <a:ln/>
        </p:spPr>
        <p:txBody>
          <a:bodyPr wrap="square" lIns="0" tIns="0" rIns="0" bIns="0" rtlCol="0" anchor="t"/>
          <a:lstStyle/>
          <a:p>
            <a:pPr indent="0" marL="0">
              <a:buNone/>
            </a:pPr>
            <a:r>
              <a:rPr lang="en-US" sz="1600" b="1" spc="160" kern="0" dirty="0">
                <a:solidFill>
                  <a:srgbClr val="E7C766"/>
                </a:solidFill>
                <a:latin typeface="Arial" pitchFamily="34" charset="0"/>
                <a:ea typeface="Arial" pitchFamily="34" charset="-122"/>
                <a:cs typeface="Arial" pitchFamily="34" charset="-120"/>
              </a:rPr>
              <a:t>PAID PLANS ADD</a:t>
            </a:r>
            <a:endParaRPr lang="en-US" sz="1600" dirty="0"/>
          </a:p>
        </p:txBody>
      </p:sp>
      <p:sp>
        <p:nvSpPr>
          <p:cNvPr id="21" name="Shape 19"/>
          <p:cNvSpPr/>
          <p:nvPr/>
        </p:nvSpPr>
        <p:spPr>
          <a:xfrm rot="2700000">
            <a:off x="7141464" y="2566111"/>
            <a:ext cx="100584" cy="100584"/>
          </a:xfrm>
          <a:prstGeom prst="rect">
            <a:avLst/>
          </a:prstGeom>
          <a:solidFill>
            <a:srgbClr val="C9A227"/>
          </a:solidFill>
          <a:ln w="3175">
            <a:solidFill>
              <a:srgbClr val="C9A227"/>
            </a:solidFill>
            <a:prstDash val="solid"/>
          </a:ln>
        </p:spPr>
      </p:sp>
      <p:sp>
        <p:nvSpPr>
          <p:cNvPr id="22" name="Text 20"/>
          <p:cNvSpPr/>
          <p:nvPr/>
        </p:nvSpPr>
        <p:spPr>
          <a:xfrm>
            <a:off x="7452360" y="2488387"/>
            <a:ext cx="3694176" cy="859536"/>
          </a:xfrm>
          <a:prstGeom prst="rect">
            <a:avLst/>
          </a:prstGeom>
          <a:noFill/>
          <a:ln/>
        </p:spPr>
        <p:txBody>
          <a:bodyPr wrap="square" lIns="0" tIns="0" rIns="0" bIns="0" rtlCol="0" anchor="t"/>
          <a:lstStyle/>
          <a:p>
            <a:pPr indent="0" marL="0">
              <a:lnSpc>
                <a:spcPct val="116000"/>
              </a:lnSpc>
              <a:buNone/>
            </a:pPr>
            <a:r>
              <a:rPr lang="en-US" sz="1600" dirty="0">
                <a:solidFill>
                  <a:srgbClr val="F7F3EA"/>
                </a:solidFill>
                <a:latin typeface="Arial" pitchFamily="34" charset="0"/>
                <a:ea typeface="Arial" pitchFamily="34" charset="-122"/>
                <a:cs typeface="Arial" pitchFamily="34" charset="-120"/>
              </a:rPr>
              <a:t>Scheduled tasks: she starts the 4:30 shift and the Friday retrain without you.</a:t>
            </a:r>
            <a:endParaRPr lang="en-US" sz="1600" dirty="0"/>
          </a:p>
        </p:txBody>
      </p:sp>
      <p:sp>
        <p:nvSpPr>
          <p:cNvPr id="23" name="Shape 21"/>
          <p:cNvSpPr/>
          <p:nvPr/>
        </p:nvSpPr>
        <p:spPr>
          <a:xfrm rot="2700000">
            <a:off x="7141464" y="3553663"/>
            <a:ext cx="100584" cy="100584"/>
          </a:xfrm>
          <a:prstGeom prst="rect">
            <a:avLst/>
          </a:prstGeom>
          <a:solidFill>
            <a:srgbClr val="C9A227"/>
          </a:solidFill>
          <a:ln w="3175">
            <a:solidFill>
              <a:srgbClr val="C9A227"/>
            </a:solidFill>
            <a:prstDash val="solid"/>
          </a:ln>
        </p:spPr>
      </p:sp>
      <p:sp>
        <p:nvSpPr>
          <p:cNvPr id="24" name="Text 22"/>
          <p:cNvSpPr/>
          <p:nvPr/>
        </p:nvSpPr>
        <p:spPr>
          <a:xfrm>
            <a:off x="7452360" y="3475939"/>
            <a:ext cx="3694176" cy="603504"/>
          </a:xfrm>
          <a:prstGeom prst="rect">
            <a:avLst/>
          </a:prstGeom>
          <a:noFill/>
          <a:ln/>
        </p:spPr>
        <p:txBody>
          <a:bodyPr wrap="square" lIns="0" tIns="0" rIns="0" bIns="0" rtlCol="0" anchor="t"/>
          <a:lstStyle/>
          <a:p>
            <a:pPr indent="0" marL="0">
              <a:lnSpc>
                <a:spcPct val="116000"/>
              </a:lnSpc>
              <a:buNone/>
            </a:pPr>
            <a:r>
              <a:rPr lang="en-US" sz="1600" dirty="0">
                <a:solidFill>
                  <a:srgbClr val="F7F3EA"/>
                </a:solidFill>
                <a:latin typeface="Arial" pitchFamily="34" charset="0"/>
                <a:ea typeface="Arial" pitchFamily="34" charset="-122"/>
                <a:cs typeface="Arial" pitchFamily="34" charset="-120"/>
              </a:rPr>
              <a:t>That is the whole difference: who presses start.</a:t>
            </a:r>
            <a:endParaRPr lang="en-US" sz="1600" dirty="0"/>
          </a:p>
        </p:txBody>
      </p:sp>
      <p:sp>
        <p:nvSpPr>
          <p:cNvPr id="25" name="Text 23"/>
          <p:cNvSpPr/>
          <p:nvPr/>
        </p:nvSpPr>
        <p:spPr>
          <a:xfrm>
            <a:off x="813816" y="4992624"/>
            <a:ext cx="10570464" cy="603504"/>
          </a:xfrm>
          <a:prstGeom prst="rect">
            <a:avLst/>
          </a:prstGeom>
          <a:noFill/>
          <a:ln/>
        </p:spPr>
        <p:txBody>
          <a:bodyPr wrap="square" lIns="0" tIns="0" rIns="0" bIns="0" rtlCol="0" anchor="t"/>
          <a:lstStyle/>
          <a:p>
            <a:pPr algn="l" indent="0" marL="0">
              <a:lnSpc>
                <a:spcPct val="116000"/>
              </a:lnSpc>
              <a:buNone/>
            </a:pPr>
            <a:r>
              <a:rPr lang="en-US" sz="1600" b="1" dirty="0">
                <a:solidFill>
                  <a:srgbClr val="E7C766"/>
                </a:solidFill>
                <a:latin typeface="Arial" pitchFamily="34" charset="0"/>
                <a:ea typeface="Arial" pitchFamily="34" charset="-122"/>
                <a:cs typeface="Arial" pitchFamily="34" charset="-120"/>
              </a:rPr>
              <a:t>An agent you start by hand is still an agent. Two phone reminders replace the scheduler: 4:30 weekdays, 3:00 Fridays.</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A31621"/>
        </a:solidFill>
      </p:bgPr>
    </p:bg>
    <p:spTree>
      <p:nvGrpSpPr>
        <p:cNvPr id="1" name=""/>
        <p:cNvGrpSpPr/>
        <p:nvPr/>
      </p:nvGrpSpPr>
      <p:grpSpPr>
        <a:xfrm>
          <a:off x="0" y="0"/>
          <a:ext cx="0" cy="0"/>
          <a:chOff x="0" y="0"/>
          <a:chExt cx="0" cy="0"/>
        </a:xfrm>
      </p:grpSpPr>
      <p:sp>
        <p:nvSpPr>
          <p:cNvPr id="2" name="Shape 0"/>
          <p:cNvSpPr/>
          <p:nvPr/>
        </p:nvSpPr>
        <p:spPr>
          <a:xfrm rot="2700000">
            <a:off x="6050585" y="1920240"/>
            <a:ext cx="109728" cy="109728"/>
          </a:xfrm>
          <a:prstGeom prst="rect">
            <a:avLst/>
          </a:prstGeom>
          <a:solidFill>
            <a:srgbClr val="FFFFFF"/>
          </a:solidFill>
          <a:ln w="3175">
            <a:solidFill>
              <a:srgbClr val="FFFFFF"/>
            </a:solidFill>
            <a:prstDash val="solid"/>
          </a:ln>
        </p:spPr>
      </p:sp>
      <p:sp>
        <p:nvSpPr>
          <p:cNvPr id="3" name="Text 1"/>
          <p:cNvSpPr/>
          <p:nvPr/>
        </p:nvSpPr>
        <p:spPr>
          <a:xfrm>
            <a:off x="1066648" y="2395728"/>
            <a:ext cx="10058400" cy="1107765"/>
          </a:xfrm>
          <a:prstGeom prst="rect">
            <a:avLst/>
          </a:prstGeom>
          <a:noFill/>
          <a:ln/>
        </p:spPr>
        <p:txBody>
          <a:bodyPr wrap="square" lIns="0" tIns="0" rIns="0" bIns="0" rtlCol="0" anchor="t"/>
          <a:lstStyle/>
          <a:p>
            <a:pPr algn="ctr" indent="0" marL="0">
              <a:buNone/>
            </a:pPr>
            <a:r>
              <a:rPr lang="en-US" sz="6200" b="1" dirty="0">
                <a:solidFill>
                  <a:srgbClr val="FFFFFF"/>
                </a:solidFill>
                <a:latin typeface="Georgia" pitchFamily="34" charset="0"/>
                <a:ea typeface="Georgia" pitchFamily="34" charset="-122"/>
                <a:cs typeface="Georgia" pitchFamily="34" charset="-120"/>
              </a:rPr>
              <a:t>She never sends. Ever.</a:t>
            </a:r>
            <a:endParaRPr lang="en-US" sz="6200" dirty="0"/>
          </a:p>
        </p:txBody>
      </p:sp>
      <p:sp>
        <p:nvSpPr>
          <p:cNvPr id="4" name="Text 2"/>
          <p:cNvSpPr/>
          <p:nvPr/>
        </p:nvSpPr>
        <p:spPr>
          <a:xfrm>
            <a:off x="1737360" y="3814389"/>
            <a:ext cx="8714232" cy="955548"/>
          </a:xfrm>
          <a:prstGeom prst="rect">
            <a:avLst/>
          </a:prstGeom>
          <a:noFill/>
          <a:ln/>
        </p:spPr>
        <p:txBody>
          <a:bodyPr wrap="square" lIns="0" tIns="0" rIns="0" bIns="0" rtlCol="0" anchor="t"/>
          <a:lstStyle/>
          <a:p>
            <a:pPr algn="ctr" indent="0" marL="0">
              <a:lnSpc>
                <a:spcPct val="116000"/>
              </a:lnSpc>
              <a:buNone/>
            </a:pPr>
            <a:r>
              <a:rPr lang="en-US" sz="1800" dirty="0">
                <a:solidFill>
                  <a:srgbClr val="FFFFFF"/>
                </a:solidFill>
                <a:latin typeface="Arial" pitchFamily="34" charset="0"/>
                <a:ea typeface="Arial" pitchFamily="34" charset="-122"/>
                <a:cs typeface="Arial" pitchFamily="34" charset="-120"/>
              </a:rPr>
              <a:t>She never deletes. She reads your inbox and your calendar, writes drafts, and puts events on your calendar. That is her whole job, and it is written into her playbook.</a:t>
            </a:r>
            <a:endParaRPr lang="en-US" sz="1800" dirty="0"/>
          </a:p>
        </p:txBody>
      </p:sp>
      <p:sp>
        <p:nvSpPr>
          <p:cNvPr id="5" name="Text 3"/>
          <p:cNvSpPr/>
          <p:nvPr/>
        </p:nvSpPr>
        <p:spPr>
          <a:xfrm>
            <a:off x="1737360" y="4952817"/>
            <a:ext cx="8714232" cy="310896"/>
          </a:xfrm>
          <a:prstGeom prst="rect">
            <a:avLst/>
          </a:prstGeom>
          <a:noFill/>
          <a:ln/>
        </p:spPr>
        <p:txBody>
          <a:bodyPr wrap="square" lIns="0" tIns="0" rIns="0" bIns="0" rtlCol="0" anchor="ctr"/>
          <a:lstStyle/>
          <a:p>
            <a:pPr algn="ctr" indent="0" marL="0">
              <a:buNone/>
            </a:pPr>
            <a:r>
              <a:rPr lang="en-US" sz="1600" i="1" dirty="0">
                <a:solidFill>
                  <a:srgbClr val="FFFFFF"/>
                </a:solidFill>
                <a:latin typeface="Arial" pitchFamily="34" charset="0"/>
                <a:ea typeface="Arial" pitchFamily="34" charset="-122"/>
                <a:cs typeface="Arial" pitchFamily="34" charset="-120"/>
              </a:rPr>
              <a:t>Written into the skill itself: “Never send anything. Never delete anything.”</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4213D"/>
        </a:solidFill>
      </p:bgPr>
    </p:bg>
    <p:spTree>
      <p:nvGrpSpPr>
        <p:cNvPr id="1" name=""/>
        <p:cNvGrpSpPr/>
        <p:nvPr/>
      </p:nvGrpSpPr>
      <p:grpSpPr>
        <a:xfrm>
          <a:off x="0" y="0"/>
          <a:ext cx="0" cy="0"/>
          <a:chOff x="0" y="0"/>
          <a:chExt cx="0" cy="0"/>
        </a:xfrm>
      </p:grpSpPr>
      <p:sp>
        <p:nvSpPr>
          <p:cNvPr id="2" name="Shape 0"/>
          <p:cNvSpPr/>
          <p:nvPr/>
        </p:nvSpPr>
        <p:spPr>
          <a:xfrm>
            <a:off x="813816" y="5779008"/>
            <a:ext cx="10570464" cy="0"/>
          </a:xfrm>
          <a:prstGeom prst="line">
            <a:avLst/>
          </a:prstGeom>
          <a:noFill/>
          <a:ln w="9525">
            <a:solidFill>
              <a:srgbClr val="C9A227"/>
            </a:solidFill>
            <a:prstDash val="solid"/>
          </a:ln>
        </p:spPr>
      </p:sp>
      <p:sp>
        <p:nvSpPr>
          <p:cNvPr id="3" name="Text 1"/>
          <p:cNvSpPr/>
          <p:nvPr/>
        </p:nvSpPr>
        <p:spPr>
          <a:xfrm>
            <a:off x="813816" y="5907024"/>
            <a:ext cx="3358896" cy="274320"/>
          </a:xfrm>
          <a:prstGeom prst="rect">
            <a:avLst/>
          </a:prstGeom>
          <a:noFill/>
          <a:ln/>
        </p:spPr>
        <p:txBody>
          <a:bodyPr wrap="square" lIns="0" tIns="0" rIns="0" bIns="0" rtlCol="0" anchor="ctr"/>
          <a:lstStyle/>
          <a:p>
            <a:pPr indent="0" marL="0">
              <a:buNone/>
            </a:pPr>
            <a:r>
              <a:rPr lang="en-US" sz="1600" spc="120" kern="0" dirty="0">
                <a:solidFill>
                  <a:srgbClr val="AFA893"/>
                </a:solidFill>
                <a:latin typeface="Arial" pitchFamily="34" charset="0"/>
                <a:ea typeface="Arial" pitchFamily="34" charset="-122"/>
                <a:cs typeface="Arial" pitchFamily="34" charset="-120"/>
              </a:rPr>
              <a:t>BUILD YOUR OWN DONNA</a:t>
            </a:r>
            <a:endParaRPr lang="en-US" sz="1600" dirty="0"/>
          </a:p>
        </p:txBody>
      </p:sp>
      <p:sp>
        <p:nvSpPr>
          <p:cNvPr id="4" name="Shape 2"/>
          <p:cNvSpPr/>
          <p:nvPr/>
        </p:nvSpPr>
        <p:spPr>
          <a:xfrm rot="2700000">
            <a:off x="4227576" y="6012180"/>
            <a:ext cx="64008" cy="64008"/>
          </a:xfrm>
          <a:prstGeom prst="rect">
            <a:avLst/>
          </a:prstGeom>
          <a:solidFill>
            <a:srgbClr val="C9A227"/>
          </a:solidFill>
          <a:ln w="3175">
            <a:solidFill>
              <a:srgbClr val="C9A227"/>
            </a:solidFill>
            <a:prstDash val="solid"/>
          </a:ln>
        </p:spPr>
      </p:sp>
      <p:sp>
        <p:nvSpPr>
          <p:cNvPr id="5" name="Text 3"/>
          <p:cNvSpPr/>
          <p:nvPr/>
        </p:nvSpPr>
        <p:spPr>
          <a:xfrm>
            <a:off x="4410456" y="5907024"/>
            <a:ext cx="2712720" cy="274320"/>
          </a:xfrm>
          <a:prstGeom prst="rect">
            <a:avLst/>
          </a:prstGeom>
          <a:noFill/>
          <a:ln/>
        </p:spPr>
        <p:txBody>
          <a:bodyPr wrap="square" lIns="0" tIns="0" rIns="0" bIns="0" rtlCol="0" anchor="ctr"/>
          <a:lstStyle/>
          <a:p>
            <a:pPr indent="0" marL="0">
              <a:buNone/>
            </a:pPr>
            <a:r>
              <a:rPr lang="en-US" sz="1600" spc="120" kern="0" dirty="0">
                <a:solidFill>
                  <a:srgbClr val="AFA893"/>
                </a:solidFill>
                <a:latin typeface="Arial" pitchFamily="34" charset="0"/>
                <a:ea typeface="Arial" pitchFamily="34" charset="-122"/>
                <a:cs typeface="Arial" pitchFamily="34" charset="-120"/>
              </a:rPr>
              <a:t>OCTOBER 21, 2026</a:t>
            </a:r>
            <a:endParaRPr lang="en-US" sz="1600" dirty="0"/>
          </a:p>
        </p:txBody>
      </p:sp>
      <p:sp>
        <p:nvSpPr>
          <p:cNvPr id="6" name="Text 4"/>
          <p:cNvSpPr/>
          <p:nvPr/>
        </p:nvSpPr>
        <p:spPr>
          <a:xfrm>
            <a:off x="10652760" y="5907024"/>
            <a:ext cx="731520" cy="274320"/>
          </a:xfrm>
          <a:prstGeom prst="rect">
            <a:avLst/>
          </a:prstGeom>
          <a:noFill/>
          <a:ln/>
        </p:spPr>
        <p:txBody>
          <a:bodyPr wrap="square" lIns="0" tIns="0" rIns="0" bIns="0" rtlCol="0" anchor="ctr"/>
          <a:lstStyle/>
          <a:p>
            <a:pPr algn="r" indent="0" marL="0">
              <a:buNone/>
            </a:pPr>
            <a:r>
              <a:rPr lang="en-US" sz="1600" spc="120" kern="0" dirty="0">
                <a:solidFill>
                  <a:srgbClr val="AFA893"/>
                </a:solidFill>
                <a:latin typeface="Arial" pitchFamily="34" charset="0"/>
                <a:ea typeface="Arial" pitchFamily="34" charset="-122"/>
                <a:cs typeface="Arial" pitchFamily="34" charset="-120"/>
              </a:rPr>
              <a:t>13</a:t>
            </a:r>
            <a:endParaRPr lang="en-US" sz="1600" dirty="0"/>
          </a:p>
        </p:txBody>
      </p:sp>
      <p:sp>
        <p:nvSpPr>
          <p:cNvPr id="7" name="Text 5"/>
          <p:cNvSpPr/>
          <p:nvPr/>
        </p:nvSpPr>
        <p:spPr>
          <a:xfrm>
            <a:off x="813816" y="457200"/>
            <a:ext cx="10570464" cy="310896"/>
          </a:xfrm>
          <a:prstGeom prst="rect">
            <a:avLst/>
          </a:prstGeom>
          <a:noFill/>
          <a:ln/>
        </p:spPr>
        <p:txBody>
          <a:bodyPr wrap="square" lIns="0" tIns="0" rIns="0" bIns="0" rtlCol="0" anchor="ctr"/>
          <a:lstStyle/>
          <a:p>
            <a:pPr indent="0" marL="0">
              <a:buNone/>
            </a:pPr>
            <a:r>
              <a:rPr lang="en-US" sz="1600" b="1" spc="180" kern="0" dirty="0">
                <a:solidFill>
                  <a:srgbClr val="E7C766"/>
                </a:solidFill>
                <a:latin typeface="Arial" pitchFamily="34" charset="0"/>
                <a:ea typeface="Arial" pitchFamily="34" charset="-122"/>
                <a:cs typeface="Arial" pitchFamily="34" charset="-120"/>
              </a:rPr>
              <a:t>HOUSE RULES</a:t>
            </a:r>
            <a:endParaRPr lang="en-US" sz="1600" dirty="0"/>
          </a:p>
        </p:txBody>
      </p:sp>
      <p:sp>
        <p:nvSpPr>
          <p:cNvPr id="8" name="Text 6"/>
          <p:cNvSpPr/>
          <p:nvPr/>
        </p:nvSpPr>
        <p:spPr>
          <a:xfrm>
            <a:off x="813816" y="841248"/>
            <a:ext cx="10570464" cy="751027"/>
          </a:xfrm>
          <a:prstGeom prst="rect">
            <a:avLst/>
          </a:prstGeom>
          <a:noFill/>
          <a:ln/>
        </p:spPr>
        <p:txBody>
          <a:bodyPr wrap="square" lIns="0" tIns="0" rIns="0" bIns="0" rtlCol="0" anchor="t"/>
          <a:lstStyle/>
          <a:p>
            <a:pPr indent="0" marL="0">
              <a:lnSpc>
                <a:spcPct val="94000"/>
              </a:lnSpc>
              <a:buNone/>
            </a:pPr>
            <a:r>
              <a:rPr lang="en-US" sz="4000" b="1" dirty="0">
                <a:solidFill>
                  <a:srgbClr val="F7F3EA"/>
                </a:solidFill>
                <a:latin typeface="Georgia" pitchFamily="34" charset="0"/>
                <a:ea typeface="Georgia" pitchFamily="34" charset="-122"/>
                <a:cs typeface="Georgia" pitchFamily="34" charset="-120"/>
              </a:rPr>
              <a:t>Five of them.</a:t>
            </a:r>
            <a:endParaRPr lang="en-US" sz="4000" dirty="0"/>
          </a:p>
        </p:txBody>
      </p:sp>
      <p:sp>
        <p:nvSpPr>
          <p:cNvPr id="9" name="Text 7"/>
          <p:cNvSpPr/>
          <p:nvPr/>
        </p:nvSpPr>
        <p:spPr>
          <a:xfrm>
            <a:off x="813816" y="1775155"/>
            <a:ext cx="457200" cy="420624"/>
          </a:xfrm>
          <a:prstGeom prst="rect">
            <a:avLst/>
          </a:prstGeom>
          <a:noFill/>
          <a:ln/>
        </p:spPr>
        <p:txBody>
          <a:bodyPr wrap="square" lIns="0" tIns="0" rIns="0" bIns="0" rtlCol="0" anchor="ctr"/>
          <a:lstStyle/>
          <a:p>
            <a:pPr indent="0" marL="0">
              <a:buNone/>
            </a:pPr>
            <a:r>
              <a:rPr lang="en-US" sz="2600" b="1" dirty="0">
                <a:solidFill>
                  <a:srgbClr val="E7C766"/>
                </a:solidFill>
                <a:latin typeface="Georgia" pitchFamily="34" charset="0"/>
                <a:ea typeface="Georgia" pitchFamily="34" charset="-122"/>
                <a:cs typeface="Georgia" pitchFamily="34" charset="-120"/>
              </a:rPr>
              <a:t>1</a:t>
            </a:r>
            <a:endParaRPr lang="en-US" sz="2600" dirty="0"/>
          </a:p>
        </p:txBody>
      </p:sp>
      <p:sp>
        <p:nvSpPr>
          <p:cNvPr id="10" name="Text 8"/>
          <p:cNvSpPr/>
          <p:nvPr/>
        </p:nvSpPr>
        <p:spPr>
          <a:xfrm>
            <a:off x="1417320" y="1811731"/>
            <a:ext cx="9966960" cy="379476"/>
          </a:xfrm>
          <a:prstGeom prst="rect">
            <a:avLst/>
          </a:prstGeom>
          <a:noFill/>
          <a:ln/>
        </p:spPr>
        <p:txBody>
          <a:bodyPr wrap="square" lIns="0" tIns="0" rIns="0" bIns="0" rtlCol="0" anchor="ctr"/>
          <a:lstStyle/>
          <a:p>
            <a:pPr indent="0" marL="0">
              <a:lnSpc>
                <a:spcPct val="112000"/>
              </a:lnSpc>
              <a:buNone/>
            </a:pPr>
            <a:r>
              <a:rPr lang="en-US" sz="1800" dirty="0">
                <a:solidFill>
                  <a:srgbClr val="F7F3EA"/>
                </a:solidFill>
                <a:latin typeface="Arial" pitchFamily="34" charset="0"/>
                <a:ea typeface="Arial" pitchFamily="34" charset="-122"/>
                <a:cs typeface="Arial" pitchFamily="34" charset="-120"/>
              </a:rPr>
              <a:t>She never sends. Drafts only. You are the send button.</a:t>
            </a:r>
            <a:endParaRPr lang="en-US" sz="1800" dirty="0"/>
          </a:p>
        </p:txBody>
      </p:sp>
      <p:sp>
        <p:nvSpPr>
          <p:cNvPr id="11" name="Text 9"/>
          <p:cNvSpPr/>
          <p:nvPr/>
        </p:nvSpPr>
        <p:spPr>
          <a:xfrm>
            <a:off x="813816" y="2342083"/>
            <a:ext cx="457200" cy="420624"/>
          </a:xfrm>
          <a:prstGeom prst="rect">
            <a:avLst/>
          </a:prstGeom>
          <a:noFill/>
          <a:ln/>
        </p:spPr>
        <p:txBody>
          <a:bodyPr wrap="square" lIns="0" tIns="0" rIns="0" bIns="0" rtlCol="0" anchor="ctr"/>
          <a:lstStyle/>
          <a:p>
            <a:pPr indent="0" marL="0">
              <a:buNone/>
            </a:pPr>
            <a:r>
              <a:rPr lang="en-US" sz="2600" b="1" dirty="0">
                <a:solidFill>
                  <a:srgbClr val="E7C766"/>
                </a:solidFill>
                <a:latin typeface="Georgia" pitchFamily="34" charset="0"/>
                <a:ea typeface="Georgia" pitchFamily="34" charset="-122"/>
                <a:cs typeface="Georgia" pitchFamily="34" charset="-120"/>
              </a:rPr>
              <a:t>2</a:t>
            </a:r>
            <a:endParaRPr lang="en-US" sz="2600" dirty="0"/>
          </a:p>
        </p:txBody>
      </p:sp>
      <p:sp>
        <p:nvSpPr>
          <p:cNvPr id="12" name="Text 10"/>
          <p:cNvSpPr/>
          <p:nvPr/>
        </p:nvSpPr>
        <p:spPr>
          <a:xfrm>
            <a:off x="1417320" y="2378659"/>
            <a:ext cx="9966960" cy="379476"/>
          </a:xfrm>
          <a:prstGeom prst="rect">
            <a:avLst/>
          </a:prstGeom>
          <a:noFill/>
          <a:ln/>
        </p:spPr>
        <p:txBody>
          <a:bodyPr wrap="square" lIns="0" tIns="0" rIns="0" bIns="0" rtlCol="0" anchor="ctr"/>
          <a:lstStyle/>
          <a:p>
            <a:pPr indent="0" marL="0">
              <a:lnSpc>
                <a:spcPct val="112000"/>
              </a:lnSpc>
              <a:buNone/>
            </a:pPr>
            <a:r>
              <a:rPr lang="en-US" sz="1800" dirty="0">
                <a:solidFill>
                  <a:srgbClr val="F7F3EA"/>
                </a:solidFill>
                <a:latin typeface="Arial" pitchFamily="34" charset="0"/>
                <a:ea typeface="Arial" pitchFamily="34" charset="-122"/>
                <a:cs typeface="Arial" pitchFamily="34" charset="-120"/>
              </a:rPr>
              <a:t>She never deletes. Nothing we do today is destructive.</a:t>
            </a:r>
            <a:endParaRPr lang="en-US" sz="1800" dirty="0"/>
          </a:p>
        </p:txBody>
      </p:sp>
      <p:sp>
        <p:nvSpPr>
          <p:cNvPr id="13" name="Text 11"/>
          <p:cNvSpPr/>
          <p:nvPr/>
        </p:nvSpPr>
        <p:spPr>
          <a:xfrm>
            <a:off x="813816" y="2909011"/>
            <a:ext cx="457200" cy="420624"/>
          </a:xfrm>
          <a:prstGeom prst="rect">
            <a:avLst/>
          </a:prstGeom>
          <a:noFill/>
          <a:ln/>
        </p:spPr>
        <p:txBody>
          <a:bodyPr wrap="square" lIns="0" tIns="0" rIns="0" bIns="0" rtlCol="0" anchor="ctr"/>
          <a:lstStyle/>
          <a:p>
            <a:pPr indent="0" marL="0">
              <a:buNone/>
            </a:pPr>
            <a:r>
              <a:rPr lang="en-US" sz="2600" b="1" dirty="0">
                <a:solidFill>
                  <a:srgbClr val="E7C766"/>
                </a:solidFill>
                <a:latin typeface="Georgia" pitchFamily="34" charset="0"/>
                <a:ea typeface="Georgia" pitchFamily="34" charset="-122"/>
                <a:cs typeface="Georgia" pitchFamily="34" charset="-120"/>
              </a:rPr>
              <a:t>3</a:t>
            </a:r>
            <a:endParaRPr lang="en-US" sz="2600" dirty="0"/>
          </a:p>
        </p:txBody>
      </p:sp>
      <p:sp>
        <p:nvSpPr>
          <p:cNvPr id="14" name="Text 12"/>
          <p:cNvSpPr/>
          <p:nvPr/>
        </p:nvSpPr>
        <p:spPr>
          <a:xfrm>
            <a:off x="1417320" y="2945587"/>
            <a:ext cx="9966960" cy="379476"/>
          </a:xfrm>
          <a:prstGeom prst="rect">
            <a:avLst/>
          </a:prstGeom>
          <a:noFill/>
          <a:ln/>
        </p:spPr>
        <p:txBody>
          <a:bodyPr wrap="square" lIns="0" tIns="0" rIns="0" bIns="0" rtlCol="0" anchor="ctr"/>
          <a:lstStyle/>
          <a:p>
            <a:pPr indent="0" marL="0">
              <a:lnSpc>
                <a:spcPct val="112000"/>
              </a:lnSpc>
              <a:buNone/>
            </a:pPr>
            <a:r>
              <a:rPr lang="en-US" sz="1800" dirty="0">
                <a:solidFill>
                  <a:srgbClr val="F7F3EA"/>
                </a:solidFill>
                <a:latin typeface="Arial" pitchFamily="34" charset="0"/>
                <a:ea typeface="Arial" pitchFamily="34" charset="-122"/>
                <a:cs typeface="Arial" pitchFamily="34" charset="-120"/>
              </a:rPr>
              <a:t>We move together. Every step ends at a checkpoint: type ✓ in the chat.</a:t>
            </a:r>
            <a:endParaRPr lang="en-US" sz="1800" dirty="0"/>
          </a:p>
        </p:txBody>
      </p:sp>
      <p:sp>
        <p:nvSpPr>
          <p:cNvPr id="15" name="Text 13"/>
          <p:cNvSpPr/>
          <p:nvPr/>
        </p:nvSpPr>
        <p:spPr>
          <a:xfrm>
            <a:off x="813816" y="3475939"/>
            <a:ext cx="457200" cy="420624"/>
          </a:xfrm>
          <a:prstGeom prst="rect">
            <a:avLst/>
          </a:prstGeom>
          <a:noFill/>
          <a:ln/>
        </p:spPr>
        <p:txBody>
          <a:bodyPr wrap="square" lIns="0" tIns="0" rIns="0" bIns="0" rtlCol="0" anchor="ctr"/>
          <a:lstStyle/>
          <a:p>
            <a:pPr indent="0" marL="0">
              <a:buNone/>
            </a:pPr>
            <a:r>
              <a:rPr lang="en-US" sz="2600" b="1" dirty="0">
                <a:solidFill>
                  <a:srgbClr val="E7C766"/>
                </a:solidFill>
                <a:latin typeface="Georgia" pitchFamily="34" charset="0"/>
                <a:ea typeface="Georgia" pitchFamily="34" charset="-122"/>
                <a:cs typeface="Georgia" pitchFamily="34" charset="-120"/>
              </a:rPr>
              <a:t>4</a:t>
            </a:r>
            <a:endParaRPr lang="en-US" sz="2600" dirty="0"/>
          </a:p>
        </p:txBody>
      </p:sp>
      <p:sp>
        <p:nvSpPr>
          <p:cNvPr id="16" name="Text 14"/>
          <p:cNvSpPr/>
          <p:nvPr/>
        </p:nvSpPr>
        <p:spPr>
          <a:xfrm>
            <a:off x="1417320" y="3512515"/>
            <a:ext cx="9966960" cy="379476"/>
          </a:xfrm>
          <a:prstGeom prst="rect">
            <a:avLst/>
          </a:prstGeom>
          <a:noFill/>
          <a:ln/>
        </p:spPr>
        <p:txBody>
          <a:bodyPr wrap="square" lIns="0" tIns="0" rIns="0" bIns="0" rtlCol="0" anchor="ctr"/>
          <a:lstStyle/>
          <a:p>
            <a:pPr indent="0" marL="0">
              <a:lnSpc>
                <a:spcPct val="112000"/>
              </a:lnSpc>
              <a:buNone/>
            </a:pPr>
            <a:r>
              <a:rPr lang="en-US" sz="1800" dirty="0">
                <a:solidFill>
                  <a:srgbClr val="F7F3EA"/>
                </a:solidFill>
                <a:latin typeface="Arial" pitchFamily="34" charset="0"/>
                <a:ea typeface="Arial" pitchFamily="34" charset="-122"/>
                <a:cs typeface="Arial" pitchFamily="34" charset="-120"/>
              </a:rPr>
              <a:t>Copy buttons everywhere. Nobody types more than a sentence.</a:t>
            </a:r>
            <a:endParaRPr lang="en-US" sz="1800" dirty="0"/>
          </a:p>
        </p:txBody>
      </p:sp>
      <p:sp>
        <p:nvSpPr>
          <p:cNvPr id="17" name="Text 15"/>
          <p:cNvSpPr/>
          <p:nvPr/>
        </p:nvSpPr>
        <p:spPr>
          <a:xfrm>
            <a:off x="813816" y="4042867"/>
            <a:ext cx="457200" cy="420624"/>
          </a:xfrm>
          <a:prstGeom prst="rect">
            <a:avLst/>
          </a:prstGeom>
          <a:noFill/>
          <a:ln/>
        </p:spPr>
        <p:txBody>
          <a:bodyPr wrap="square" lIns="0" tIns="0" rIns="0" bIns="0" rtlCol="0" anchor="ctr"/>
          <a:lstStyle/>
          <a:p>
            <a:pPr indent="0" marL="0">
              <a:buNone/>
            </a:pPr>
            <a:r>
              <a:rPr lang="en-US" sz="2600" b="1" dirty="0">
                <a:solidFill>
                  <a:srgbClr val="E7C766"/>
                </a:solidFill>
                <a:latin typeface="Georgia" pitchFamily="34" charset="0"/>
                <a:ea typeface="Georgia" pitchFamily="34" charset="-122"/>
                <a:cs typeface="Georgia" pitchFamily="34" charset="-120"/>
              </a:rPr>
              <a:t>5</a:t>
            </a:r>
            <a:endParaRPr lang="en-US" sz="2600" dirty="0"/>
          </a:p>
        </p:txBody>
      </p:sp>
      <p:sp>
        <p:nvSpPr>
          <p:cNvPr id="18" name="Text 16"/>
          <p:cNvSpPr/>
          <p:nvPr/>
        </p:nvSpPr>
        <p:spPr>
          <a:xfrm>
            <a:off x="1417320" y="4079443"/>
            <a:ext cx="9966960" cy="667512"/>
          </a:xfrm>
          <a:prstGeom prst="rect">
            <a:avLst/>
          </a:prstGeom>
          <a:noFill/>
          <a:ln/>
        </p:spPr>
        <p:txBody>
          <a:bodyPr wrap="square" lIns="0" tIns="0" rIns="0" bIns="0" rtlCol="0" anchor="ctr"/>
          <a:lstStyle/>
          <a:p>
            <a:pPr indent="0" marL="0">
              <a:lnSpc>
                <a:spcPct val="112000"/>
              </a:lnSpc>
              <a:buNone/>
            </a:pPr>
            <a:r>
              <a:rPr lang="en-US" sz="1800" dirty="0">
                <a:solidFill>
                  <a:srgbClr val="F7F3EA"/>
                </a:solidFill>
                <a:latin typeface="Arial" pitchFamily="34" charset="0"/>
                <a:ea typeface="Arial" pitchFamily="34" charset="-122"/>
                <a:cs typeface="Arial" pitchFamily="34" charset="-120"/>
              </a:rPr>
              <a:t>No question is too small. Stuck for 60 seconds? Say so in the chat or raise your hand. A TA takes you into a Zoom room, 1:1.</a:t>
            </a:r>
            <a:endParaRPr lang="en-US" sz="1800" dirty="0"/>
          </a:p>
        </p:txBody>
      </p:sp>
      <p:sp>
        <p:nvSpPr>
          <p:cNvPr id="19" name="Text 17"/>
          <p:cNvSpPr/>
          <p:nvPr/>
        </p:nvSpPr>
        <p:spPr>
          <a:xfrm>
            <a:off x="813816" y="5248656"/>
            <a:ext cx="10570464" cy="347472"/>
          </a:xfrm>
          <a:prstGeom prst="rect">
            <a:avLst/>
          </a:prstGeom>
          <a:noFill/>
          <a:ln/>
        </p:spPr>
        <p:txBody>
          <a:bodyPr wrap="square" lIns="0" tIns="0" rIns="0" bIns="0" rtlCol="0" anchor="t"/>
          <a:lstStyle/>
          <a:p>
            <a:pPr algn="l" indent="0" marL="0">
              <a:lnSpc>
                <a:spcPct val="116000"/>
              </a:lnSpc>
              <a:buNone/>
            </a:pPr>
            <a:r>
              <a:rPr lang="en-US" sz="1600" b="1" dirty="0">
                <a:solidFill>
                  <a:srgbClr val="E7C766"/>
                </a:solidFill>
                <a:latin typeface="Arial" pitchFamily="34" charset="0"/>
                <a:ea typeface="Arial" pitchFamily="34" charset="-122"/>
                <a:cs typeface="Arial" pitchFamily="34" charset="-120"/>
              </a:rPr>
              <a:t>If anything I just said did not compute, perfect. You are exactly who this is for.</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3EA"/>
        </a:solidFill>
      </p:bgPr>
    </p:bg>
    <p:spTree>
      <p:nvGrpSpPr>
        <p:cNvPr id="1" name=""/>
        <p:cNvGrpSpPr/>
        <p:nvPr/>
      </p:nvGrpSpPr>
      <p:grpSpPr>
        <a:xfrm>
          <a:off x="0" y="0"/>
          <a:ext cx="0" cy="0"/>
          <a:chOff x="0" y="0"/>
          <a:chExt cx="0" cy="0"/>
        </a:xfrm>
      </p:grpSpPr>
      <p:sp>
        <p:nvSpPr>
          <p:cNvPr id="2" name="Shape 0"/>
          <p:cNvSpPr/>
          <p:nvPr/>
        </p:nvSpPr>
        <p:spPr>
          <a:xfrm>
            <a:off x="813816" y="5779008"/>
            <a:ext cx="10570464" cy="0"/>
          </a:xfrm>
          <a:prstGeom prst="line">
            <a:avLst/>
          </a:prstGeom>
          <a:noFill/>
          <a:ln w="9525">
            <a:solidFill>
              <a:srgbClr val="C9A227"/>
            </a:solidFill>
            <a:prstDash val="solid"/>
          </a:ln>
        </p:spPr>
      </p:sp>
      <p:sp>
        <p:nvSpPr>
          <p:cNvPr id="3" name="Text 1"/>
          <p:cNvSpPr/>
          <p:nvPr/>
        </p:nvSpPr>
        <p:spPr>
          <a:xfrm>
            <a:off x="813816" y="5907024"/>
            <a:ext cx="3358896" cy="274320"/>
          </a:xfrm>
          <a:prstGeom prst="rect">
            <a:avLst/>
          </a:prstGeom>
          <a:noFill/>
          <a:ln/>
        </p:spPr>
        <p:txBody>
          <a:bodyPr wrap="square" lIns="0" tIns="0" rIns="0" bIns="0" rtlCol="0" anchor="ctr"/>
          <a:lstStyle/>
          <a:p>
            <a:pPr indent="0" marL="0">
              <a:buNone/>
            </a:pPr>
            <a:r>
              <a:rPr lang="en-US" sz="1600" spc="120" kern="0" dirty="0">
                <a:solidFill>
                  <a:srgbClr val="5A6379"/>
                </a:solidFill>
                <a:latin typeface="Arial" pitchFamily="34" charset="0"/>
                <a:ea typeface="Arial" pitchFamily="34" charset="-122"/>
                <a:cs typeface="Arial" pitchFamily="34" charset="-120"/>
              </a:rPr>
              <a:t>BUILD YOUR OWN DONNA</a:t>
            </a:r>
            <a:endParaRPr lang="en-US" sz="1600" dirty="0"/>
          </a:p>
        </p:txBody>
      </p:sp>
      <p:sp>
        <p:nvSpPr>
          <p:cNvPr id="4" name="Shape 2"/>
          <p:cNvSpPr/>
          <p:nvPr/>
        </p:nvSpPr>
        <p:spPr>
          <a:xfrm rot="2700000">
            <a:off x="4227576" y="6012180"/>
            <a:ext cx="64008" cy="64008"/>
          </a:xfrm>
          <a:prstGeom prst="rect">
            <a:avLst/>
          </a:prstGeom>
          <a:solidFill>
            <a:srgbClr val="C9A227"/>
          </a:solidFill>
          <a:ln w="3175">
            <a:solidFill>
              <a:srgbClr val="C9A227"/>
            </a:solidFill>
            <a:prstDash val="solid"/>
          </a:ln>
        </p:spPr>
      </p:sp>
      <p:sp>
        <p:nvSpPr>
          <p:cNvPr id="5" name="Text 3"/>
          <p:cNvSpPr/>
          <p:nvPr/>
        </p:nvSpPr>
        <p:spPr>
          <a:xfrm>
            <a:off x="4410456" y="5907024"/>
            <a:ext cx="2712720" cy="274320"/>
          </a:xfrm>
          <a:prstGeom prst="rect">
            <a:avLst/>
          </a:prstGeom>
          <a:noFill/>
          <a:ln/>
        </p:spPr>
        <p:txBody>
          <a:bodyPr wrap="square" lIns="0" tIns="0" rIns="0" bIns="0" rtlCol="0" anchor="ctr"/>
          <a:lstStyle/>
          <a:p>
            <a:pPr indent="0" marL="0">
              <a:buNone/>
            </a:pPr>
            <a:r>
              <a:rPr lang="en-US" sz="1600" spc="120" kern="0" dirty="0">
                <a:solidFill>
                  <a:srgbClr val="5A6379"/>
                </a:solidFill>
                <a:latin typeface="Arial" pitchFamily="34" charset="0"/>
                <a:ea typeface="Arial" pitchFamily="34" charset="-122"/>
                <a:cs typeface="Arial" pitchFamily="34" charset="-120"/>
              </a:rPr>
              <a:t>OCTOBER 21, 2026</a:t>
            </a:r>
            <a:endParaRPr lang="en-US" sz="1600" dirty="0"/>
          </a:p>
        </p:txBody>
      </p:sp>
      <p:sp>
        <p:nvSpPr>
          <p:cNvPr id="6" name="Text 4"/>
          <p:cNvSpPr/>
          <p:nvPr/>
        </p:nvSpPr>
        <p:spPr>
          <a:xfrm>
            <a:off x="10652760" y="5907024"/>
            <a:ext cx="731520" cy="274320"/>
          </a:xfrm>
          <a:prstGeom prst="rect">
            <a:avLst/>
          </a:prstGeom>
          <a:noFill/>
          <a:ln/>
        </p:spPr>
        <p:txBody>
          <a:bodyPr wrap="square" lIns="0" tIns="0" rIns="0" bIns="0" rtlCol="0" anchor="ctr"/>
          <a:lstStyle/>
          <a:p>
            <a:pPr algn="r" indent="0" marL="0">
              <a:buNone/>
            </a:pPr>
            <a:r>
              <a:rPr lang="en-US" sz="1600" spc="120" kern="0" dirty="0">
                <a:solidFill>
                  <a:srgbClr val="5A6379"/>
                </a:solidFill>
                <a:latin typeface="Arial" pitchFamily="34" charset="0"/>
                <a:ea typeface="Arial" pitchFamily="34" charset="-122"/>
                <a:cs typeface="Arial" pitchFamily="34" charset="-120"/>
              </a:rPr>
              <a:t>14</a:t>
            </a:r>
            <a:endParaRPr lang="en-US" sz="1600" dirty="0"/>
          </a:p>
        </p:txBody>
      </p:sp>
      <p:sp>
        <p:nvSpPr>
          <p:cNvPr id="7" name="Text 5"/>
          <p:cNvSpPr/>
          <p:nvPr/>
        </p:nvSpPr>
        <p:spPr>
          <a:xfrm>
            <a:off x="813816" y="457200"/>
            <a:ext cx="10570464" cy="310896"/>
          </a:xfrm>
          <a:prstGeom prst="rect">
            <a:avLst/>
          </a:prstGeom>
          <a:noFill/>
          <a:ln/>
        </p:spPr>
        <p:txBody>
          <a:bodyPr wrap="square" lIns="0" tIns="0" rIns="0" bIns="0" rtlCol="0" anchor="ctr"/>
          <a:lstStyle/>
          <a:p>
            <a:pPr indent="0" marL="0">
              <a:buNone/>
            </a:pPr>
            <a:r>
              <a:rPr lang="en-US" sz="1600" b="1" spc="180" kern="0" dirty="0">
                <a:solidFill>
                  <a:srgbClr val="8A6D14"/>
                </a:solidFill>
                <a:latin typeface="Arial" pitchFamily="34" charset="0"/>
                <a:ea typeface="Arial" pitchFamily="34" charset="-122"/>
                <a:cs typeface="Arial" pitchFamily="34" charset="-120"/>
              </a:rPr>
              <a:t>THE PLAN, EASTERN</a:t>
            </a:r>
            <a:endParaRPr lang="en-US" sz="1600" dirty="0"/>
          </a:p>
        </p:txBody>
      </p:sp>
      <p:sp>
        <p:nvSpPr>
          <p:cNvPr id="8" name="Text 6"/>
          <p:cNvSpPr/>
          <p:nvPr/>
        </p:nvSpPr>
        <p:spPr>
          <a:xfrm>
            <a:off x="813816" y="841248"/>
            <a:ext cx="10570464" cy="653735"/>
          </a:xfrm>
          <a:prstGeom prst="rect">
            <a:avLst/>
          </a:prstGeom>
          <a:noFill/>
          <a:ln/>
        </p:spPr>
        <p:txBody>
          <a:bodyPr wrap="square" lIns="0" tIns="0" rIns="0" bIns="0" rtlCol="0" anchor="t"/>
          <a:lstStyle/>
          <a:p>
            <a:pPr indent="0" marL="0">
              <a:lnSpc>
                <a:spcPct val="94000"/>
              </a:lnSpc>
              <a:buNone/>
            </a:pPr>
            <a:r>
              <a:rPr lang="en-US" sz="3400" b="1" dirty="0">
                <a:solidFill>
                  <a:srgbClr val="14213D"/>
                </a:solidFill>
                <a:latin typeface="Georgia" pitchFamily="34" charset="0"/>
                <a:ea typeface="Georgia" pitchFamily="34" charset="-122"/>
                <a:cs typeface="Georgia" pitchFamily="34" charset="-120"/>
              </a:rPr>
              <a:t>Four steps. By 1:23 she’s working for you.</a:t>
            </a:r>
            <a:endParaRPr lang="en-US" sz="3400" dirty="0"/>
          </a:p>
        </p:txBody>
      </p:sp>
      <p:sp>
        <p:nvSpPr>
          <p:cNvPr id="9" name="Shape 7"/>
          <p:cNvSpPr/>
          <p:nvPr/>
        </p:nvSpPr>
        <p:spPr>
          <a:xfrm>
            <a:off x="813816" y="1751015"/>
            <a:ext cx="2395728" cy="2651760"/>
          </a:xfrm>
          <a:prstGeom prst="rect">
            <a:avLst/>
          </a:prstGeom>
          <a:solidFill>
            <a:srgbClr val="E8E2D2"/>
          </a:solidFill>
          <a:ln/>
        </p:spPr>
      </p:sp>
      <p:sp>
        <p:nvSpPr>
          <p:cNvPr id="10" name="Text 8"/>
          <p:cNvSpPr/>
          <p:nvPr/>
        </p:nvSpPr>
        <p:spPr>
          <a:xfrm>
            <a:off x="1051560" y="1933895"/>
            <a:ext cx="1920240" cy="603504"/>
          </a:xfrm>
          <a:prstGeom prst="rect">
            <a:avLst/>
          </a:prstGeom>
          <a:noFill/>
          <a:ln/>
        </p:spPr>
        <p:txBody>
          <a:bodyPr wrap="square" lIns="0" tIns="0" rIns="0" bIns="0" rtlCol="0" anchor="t"/>
          <a:lstStyle/>
          <a:p>
            <a:pPr indent="0" marL="0">
              <a:buNone/>
            </a:pPr>
            <a:r>
              <a:rPr lang="en-US" sz="3600" b="1" dirty="0">
                <a:solidFill>
                  <a:srgbClr val="8A6D14"/>
                </a:solidFill>
                <a:latin typeface="Georgia" pitchFamily="34" charset="0"/>
                <a:ea typeface="Georgia" pitchFamily="34" charset="-122"/>
                <a:cs typeface="Georgia" pitchFamily="34" charset="-120"/>
              </a:rPr>
              <a:t>01</a:t>
            </a:r>
            <a:endParaRPr lang="en-US" sz="3600" dirty="0"/>
          </a:p>
        </p:txBody>
      </p:sp>
      <p:sp>
        <p:nvSpPr>
          <p:cNvPr id="11" name="Text 9"/>
          <p:cNvSpPr/>
          <p:nvPr/>
        </p:nvSpPr>
        <p:spPr>
          <a:xfrm>
            <a:off x="1051560" y="2573975"/>
            <a:ext cx="1920240" cy="274320"/>
          </a:xfrm>
          <a:prstGeom prst="rect">
            <a:avLst/>
          </a:prstGeom>
          <a:noFill/>
          <a:ln/>
        </p:spPr>
        <p:txBody>
          <a:bodyPr wrap="square" lIns="0" tIns="0" rIns="0" bIns="0" rtlCol="0" anchor="t"/>
          <a:lstStyle/>
          <a:p>
            <a:pPr indent="0" marL="0">
              <a:buNone/>
            </a:pPr>
            <a:r>
              <a:rPr lang="en-US" sz="1600" b="1" spc="120" kern="0" dirty="0">
                <a:solidFill>
                  <a:srgbClr val="14213D"/>
                </a:solidFill>
                <a:latin typeface="Arial" pitchFamily="34" charset="0"/>
                <a:ea typeface="Arial" pitchFamily="34" charset="-122"/>
                <a:cs typeface="Arial" pitchFamily="34" charset="-120"/>
              </a:rPr>
              <a:t>CONNECT</a:t>
            </a:r>
            <a:endParaRPr lang="en-US" sz="1600" dirty="0"/>
          </a:p>
        </p:txBody>
      </p:sp>
      <p:sp>
        <p:nvSpPr>
          <p:cNvPr id="12" name="Text 10"/>
          <p:cNvSpPr/>
          <p:nvPr/>
        </p:nvSpPr>
        <p:spPr>
          <a:xfrm>
            <a:off x="1051560" y="2903159"/>
            <a:ext cx="1920240" cy="859536"/>
          </a:xfrm>
          <a:prstGeom prst="rect">
            <a:avLst/>
          </a:prstGeom>
          <a:noFill/>
          <a:ln/>
        </p:spPr>
        <p:txBody>
          <a:bodyPr wrap="square" lIns="0" tIns="0" rIns="0" bIns="0" rtlCol="0" anchor="t"/>
          <a:lstStyle/>
          <a:p>
            <a:pPr indent="0" marL="0">
              <a:lnSpc>
                <a:spcPct val="116000"/>
              </a:lnSpc>
              <a:buNone/>
            </a:pPr>
            <a:r>
              <a:rPr lang="en-US" sz="1600" dirty="0">
                <a:solidFill>
                  <a:srgbClr val="14213D"/>
                </a:solidFill>
                <a:latin typeface="Arial" pitchFamily="34" charset="0"/>
                <a:ea typeface="Arial" pitchFamily="34" charset="-122"/>
                <a:cs typeface="Arial" pitchFamily="34" charset="-120"/>
              </a:rPr>
              <a:t>A desk, your inbox, her first draft.</a:t>
            </a:r>
            <a:endParaRPr lang="en-US" sz="1600" dirty="0"/>
          </a:p>
        </p:txBody>
      </p:sp>
      <p:sp>
        <p:nvSpPr>
          <p:cNvPr id="13" name="Text 11"/>
          <p:cNvSpPr/>
          <p:nvPr/>
        </p:nvSpPr>
        <p:spPr>
          <a:xfrm>
            <a:off x="1051560" y="3854135"/>
            <a:ext cx="1920240" cy="329184"/>
          </a:xfrm>
          <a:prstGeom prst="rect">
            <a:avLst/>
          </a:prstGeom>
          <a:noFill/>
          <a:ln/>
        </p:spPr>
        <p:txBody>
          <a:bodyPr wrap="square" lIns="0" tIns="0" rIns="0" bIns="0" rtlCol="0" anchor="ctr"/>
          <a:lstStyle/>
          <a:p>
            <a:pPr indent="0" marL="0">
              <a:buNone/>
            </a:pPr>
            <a:r>
              <a:rPr lang="en-US" sz="2200" b="1" dirty="0">
                <a:solidFill>
                  <a:srgbClr val="8A6D14"/>
                </a:solidFill>
                <a:latin typeface="Georgia" pitchFamily="34" charset="0"/>
                <a:ea typeface="Georgia" pitchFamily="34" charset="-122"/>
                <a:cs typeface="Georgia" pitchFamily="34" charset="-120"/>
              </a:rPr>
              <a:t>12:27</a:t>
            </a:r>
            <a:endParaRPr lang="en-US" sz="2200" dirty="0"/>
          </a:p>
        </p:txBody>
      </p:sp>
      <p:sp>
        <p:nvSpPr>
          <p:cNvPr id="14" name="Shape 12"/>
          <p:cNvSpPr/>
          <p:nvPr/>
        </p:nvSpPr>
        <p:spPr>
          <a:xfrm>
            <a:off x="3538728" y="1751015"/>
            <a:ext cx="2395728" cy="2651760"/>
          </a:xfrm>
          <a:prstGeom prst="rect">
            <a:avLst/>
          </a:prstGeom>
          <a:solidFill>
            <a:srgbClr val="E8E2D2"/>
          </a:solidFill>
          <a:ln/>
        </p:spPr>
      </p:sp>
      <p:sp>
        <p:nvSpPr>
          <p:cNvPr id="15" name="Text 13"/>
          <p:cNvSpPr/>
          <p:nvPr/>
        </p:nvSpPr>
        <p:spPr>
          <a:xfrm>
            <a:off x="3776472" y="1933895"/>
            <a:ext cx="1920240" cy="603504"/>
          </a:xfrm>
          <a:prstGeom prst="rect">
            <a:avLst/>
          </a:prstGeom>
          <a:noFill/>
          <a:ln/>
        </p:spPr>
        <p:txBody>
          <a:bodyPr wrap="square" lIns="0" tIns="0" rIns="0" bIns="0" rtlCol="0" anchor="t"/>
          <a:lstStyle/>
          <a:p>
            <a:pPr indent="0" marL="0">
              <a:buNone/>
            </a:pPr>
            <a:r>
              <a:rPr lang="en-US" sz="3600" b="1" dirty="0">
                <a:solidFill>
                  <a:srgbClr val="8A6D14"/>
                </a:solidFill>
                <a:latin typeface="Georgia" pitchFamily="34" charset="0"/>
                <a:ea typeface="Georgia" pitchFamily="34" charset="-122"/>
                <a:cs typeface="Georgia" pitchFamily="34" charset="-120"/>
              </a:rPr>
              <a:t>02</a:t>
            </a:r>
            <a:endParaRPr lang="en-US" sz="3600" dirty="0"/>
          </a:p>
        </p:txBody>
      </p:sp>
      <p:sp>
        <p:nvSpPr>
          <p:cNvPr id="16" name="Text 14"/>
          <p:cNvSpPr/>
          <p:nvPr/>
        </p:nvSpPr>
        <p:spPr>
          <a:xfrm>
            <a:off x="3776472" y="2573975"/>
            <a:ext cx="1920240" cy="274320"/>
          </a:xfrm>
          <a:prstGeom prst="rect">
            <a:avLst/>
          </a:prstGeom>
          <a:noFill/>
          <a:ln/>
        </p:spPr>
        <p:txBody>
          <a:bodyPr wrap="square" lIns="0" tIns="0" rIns="0" bIns="0" rtlCol="0" anchor="t"/>
          <a:lstStyle/>
          <a:p>
            <a:pPr indent="0" marL="0">
              <a:buNone/>
            </a:pPr>
            <a:r>
              <a:rPr lang="en-US" sz="1600" b="1" spc="120" kern="0" dirty="0">
                <a:solidFill>
                  <a:srgbClr val="14213D"/>
                </a:solidFill>
                <a:latin typeface="Arial" pitchFamily="34" charset="0"/>
                <a:ea typeface="Arial" pitchFamily="34" charset="-122"/>
                <a:cs typeface="Arial" pitchFamily="34" charset="-120"/>
              </a:rPr>
              <a:t>TEACH</a:t>
            </a:r>
            <a:endParaRPr lang="en-US" sz="1600" dirty="0"/>
          </a:p>
        </p:txBody>
      </p:sp>
      <p:sp>
        <p:nvSpPr>
          <p:cNvPr id="17" name="Text 15"/>
          <p:cNvSpPr/>
          <p:nvPr/>
        </p:nvSpPr>
        <p:spPr>
          <a:xfrm>
            <a:off x="3776472" y="2903159"/>
            <a:ext cx="1920240" cy="859536"/>
          </a:xfrm>
          <a:prstGeom prst="rect">
            <a:avLst/>
          </a:prstGeom>
          <a:noFill/>
          <a:ln/>
        </p:spPr>
        <p:txBody>
          <a:bodyPr wrap="square" lIns="0" tIns="0" rIns="0" bIns="0" rtlCol="0" anchor="t"/>
          <a:lstStyle/>
          <a:p>
            <a:pPr indent="0" marL="0">
              <a:lnSpc>
                <a:spcPct val="116000"/>
              </a:lnSpc>
              <a:buNone/>
            </a:pPr>
            <a:r>
              <a:rPr lang="en-US" sz="1600" dirty="0">
                <a:solidFill>
                  <a:srgbClr val="14213D"/>
                </a:solidFill>
                <a:latin typeface="Arial" pitchFamily="34" charset="0"/>
                <a:ea typeface="Arial" pitchFamily="34" charset="-122"/>
                <a:cs typeface="Arial" pitchFamily="34" charset="-120"/>
              </a:rPr>
              <a:t>Four questions. She writes her playbook.</a:t>
            </a:r>
            <a:endParaRPr lang="en-US" sz="1600" dirty="0"/>
          </a:p>
        </p:txBody>
      </p:sp>
      <p:sp>
        <p:nvSpPr>
          <p:cNvPr id="18" name="Text 16"/>
          <p:cNvSpPr/>
          <p:nvPr/>
        </p:nvSpPr>
        <p:spPr>
          <a:xfrm>
            <a:off x="3776472" y="3854135"/>
            <a:ext cx="1920240" cy="329184"/>
          </a:xfrm>
          <a:prstGeom prst="rect">
            <a:avLst/>
          </a:prstGeom>
          <a:noFill/>
          <a:ln/>
        </p:spPr>
        <p:txBody>
          <a:bodyPr wrap="square" lIns="0" tIns="0" rIns="0" bIns="0" rtlCol="0" anchor="ctr"/>
          <a:lstStyle/>
          <a:p>
            <a:pPr indent="0" marL="0">
              <a:buNone/>
            </a:pPr>
            <a:r>
              <a:rPr lang="en-US" sz="2200" b="1" dirty="0">
                <a:solidFill>
                  <a:srgbClr val="8A6D14"/>
                </a:solidFill>
                <a:latin typeface="Georgia" pitchFamily="34" charset="0"/>
                <a:ea typeface="Georgia" pitchFamily="34" charset="-122"/>
                <a:cs typeface="Georgia" pitchFamily="34" charset="-120"/>
              </a:rPr>
              <a:t>12:41</a:t>
            </a:r>
            <a:endParaRPr lang="en-US" sz="2200" dirty="0"/>
          </a:p>
        </p:txBody>
      </p:sp>
      <p:sp>
        <p:nvSpPr>
          <p:cNvPr id="19" name="Shape 17"/>
          <p:cNvSpPr/>
          <p:nvPr/>
        </p:nvSpPr>
        <p:spPr>
          <a:xfrm>
            <a:off x="6263640" y="1751015"/>
            <a:ext cx="2395728" cy="2651760"/>
          </a:xfrm>
          <a:prstGeom prst="rect">
            <a:avLst/>
          </a:prstGeom>
          <a:solidFill>
            <a:srgbClr val="E8E2D2"/>
          </a:solidFill>
          <a:ln/>
        </p:spPr>
      </p:sp>
      <p:sp>
        <p:nvSpPr>
          <p:cNvPr id="20" name="Text 18"/>
          <p:cNvSpPr/>
          <p:nvPr/>
        </p:nvSpPr>
        <p:spPr>
          <a:xfrm>
            <a:off x="6501384" y="1933895"/>
            <a:ext cx="1920240" cy="603504"/>
          </a:xfrm>
          <a:prstGeom prst="rect">
            <a:avLst/>
          </a:prstGeom>
          <a:noFill/>
          <a:ln/>
        </p:spPr>
        <p:txBody>
          <a:bodyPr wrap="square" lIns="0" tIns="0" rIns="0" bIns="0" rtlCol="0" anchor="t"/>
          <a:lstStyle/>
          <a:p>
            <a:pPr indent="0" marL="0">
              <a:buNone/>
            </a:pPr>
            <a:r>
              <a:rPr lang="en-US" sz="3600" b="1" dirty="0">
                <a:solidFill>
                  <a:srgbClr val="8A6D14"/>
                </a:solidFill>
                <a:latin typeface="Georgia" pitchFamily="34" charset="0"/>
                <a:ea typeface="Georgia" pitchFamily="34" charset="-122"/>
                <a:cs typeface="Georgia" pitchFamily="34" charset="-120"/>
              </a:rPr>
              <a:t>03</a:t>
            </a:r>
            <a:endParaRPr lang="en-US" sz="3600" dirty="0"/>
          </a:p>
        </p:txBody>
      </p:sp>
      <p:sp>
        <p:nvSpPr>
          <p:cNvPr id="21" name="Text 19"/>
          <p:cNvSpPr/>
          <p:nvPr/>
        </p:nvSpPr>
        <p:spPr>
          <a:xfrm>
            <a:off x="6501384" y="2573975"/>
            <a:ext cx="1920240" cy="274320"/>
          </a:xfrm>
          <a:prstGeom prst="rect">
            <a:avLst/>
          </a:prstGeom>
          <a:noFill/>
          <a:ln/>
        </p:spPr>
        <p:txBody>
          <a:bodyPr wrap="square" lIns="0" tIns="0" rIns="0" bIns="0" rtlCol="0" anchor="t"/>
          <a:lstStyle/>
          <a:p>
            <a:pPr indent="0" marL="0">
              <a:buNone/>
            </a:pPr>
            <a:r>
              <a:rPr lang="en-US" sz="1600" b="1" spc="120" kern="0" dirty="0">
                <a:solidFill>
                  <a:srgbClr val="14213D"/>
                </a:solidFill>
                <a:latin typeface="Arial" pitchFamily="34" charset="0"/>
                <a:ea typeface="Arial" pitchFamily="34" charset="-122"/>
                <a:cs typeface="Arial" pitchFamily="34" charset="-120"/>
              </a:rPr>
              <a:t>RUN</a:t>
            </a:r>
            <a:endParaRPr lang="en-US" sz="1600" dirty="0"/>
          </a:p>
        </p:txBody>
      </p:sp>
      <p:sp>
        <p:nvSpPr>
          <p:cNvPr id="22" name="Text 20"/>
          <p:cNvSpPr/>
          <p:nvPr/>
        </p:nvSpPr>
        <p:spPr>
          <a:xfrm>
            <a:off x="6501384" y="2903159"/>
            <a:ext cx="1920240" cy="859536"/>
          </a:xfrm>
          <a:prstGeom prst="rect">
            <a:avLst/>
          </a:prstGeom>
          <a:noFill/>
          <a:ln/>
        </p:spPr>
        <p:txBody>
          <a:bodyPr wrap="square" lIns="0" tIns="0" rIns="0" bIns="0" rtlCol="0" anchor="t"/>
          <a:lstStyle/>
          <a:p>
            <a:pPr indent="0" marL="0">
              <a:lnSpc>
                <a:spcPct val="116000"/>
              </a:lnSpc>
              <a:buNone/>
            </a:pPr>
            <a:r>
              <a:rPr lang="en-US" sz="1600" dirty="0">
                <a:solidFill>
                  <a:srgbClr val="14213D"/>
                </a:solidFill>
                <a:latin typeface="Arial" pitchFamily="34" charset="0"/>
                <a:ea typeface="Arial" pitchFamily="34" charset="-122"/>
                <a:cs typeface="Arial" pitchFamily="34" charset="-120"/>
              </a:rPr>
              <a:t>Her playbook becomes a skill on a schedule.</a:t>
            </a:r>
            <a:endParaRPr lang="en-US" sz="1600" dirty="0"/>
          </a:p>
        </p:txBody>
      </p:sp>
      <p:sp>
        <p:nvSpPr>
          <p:cNvPr id="23" name="Text 21"/>
          <p:cNvSpPr/>
          <p:nvPr/>
        </p:nvSpPr>
        <p:spPr>
          <a:xfrm>
            <a:off x="6501384" y="3854135"/>
            <a:ext cx="1920240" cy="329184"/>
          </a:xfrm>
          <a:prstGeom prst="rect">
            <a:avLst/>
          </a:prstGeom>
          <a:noFill/>
          <a:ln/>
        </p:spPr>
        <p:txBody>
          <a:bodyPr wrap="square" lIns="0" tIns="0" rIns="0" bIns="0" rtlCol="0" anchor="ctr"/>
          <a:lstStyle/>
          <a:p>
            <a:pPr indent="0" marL="0">
              <a:buNone/>
            </a:pPr>
            <a:r>
              <a:rPr lang="en-US" sz="2200" b="1" dirty="0">
                <a:solidFill>
                  <a:srgbClr val="8A6D14"/>
                </a:solidFill>
                <a:latin typeface="Georgia" pitchFamily="34" charset="0"/>
                <a:ea typeface="Georgia" pitchFamily="34" charset="-122"/>
                <a:cs typeface="Georgia" pitchFamily="34" charset="-120"/>
              </a:rPr>
              <a:t>12:55</a:t>
            </a:r>
            <a:endParaRPr lang="en-US" sz="2200" dirty="0"/>
          </a:p>
        </p:txBody>
      </p:sp>
      <p:sp>
        <p:nvSpPr>
          <p:cNvPr id="24" name="Shape 22"/>
          <p:cNvSpPr/>
          <p:nvPr/>
        </p:nvSpPr>
        <p:spPr>
          <a:xfrm>
            <a:off x="8988552" y="1751015"/>
            <a:ext cx="2395728" cy="2651760"/>
          </a:xfrm>
          <a:prstGeom prst="rect">
            <a:avLst/>
          </a:prstGeom>
          <a:solidFill>
            <a:srgbClr val="E8E2D2"/>
          </a:solidFill>
          <a:ln/>
        </p:spPr>
      </p:sp>
      <p:sp>
        <p:nvSpPr>
          <p:cNvPr id="25" name="Text 23"/>
          <p:cNvSpPr/>
          <p:nvPr/>
        </p:nvSpPr>
        <p:spPr>
          <a:xfrm>
            <a:off x="9226296" y="1933895"/>
            <a:ext cx="1920240" cy="603504"/>
          </a:xfrm>
          <a:prstGeom prst="rect">
            <a:avLst/>
          </a:prstGeom>
          <a:noFill/>
          <a:ln/>
        </p:spPr>
        <p:txBody>
          <a:bodyPr wrap="square" lIns="0" tIns="0" rIns="0" bIns="0" rtlCol="0" anchor="t"/>
          <a:lstStyle/>
          <a:p>
            <a:pPr indent="0" marL="0">
              <a:buNone/>
            </a:pPr>
            <a:r>
              <a:rPr lang="en-US" sz="3600" b="1" dirty="0">
                <a:solidFill>
                  <a:srgbClr val="8A6D14"/>
                </a:solidFill>
                <a:latin typeface="Georgia" pitchFamily="34" charset="0"/>
                <a:ea typeface="Georgia" pitchFamily="34" charset="-122"/>
                <a:cs typeface="Georgia" pitchFamily="34" charset="-120"/>
              </a:rPr>
              <a:t>04</a:t>
            </a:r>
            <a:endParaRPr lang="en-US" sz="3600" dirty="0"/>
          </a:p>
        </p:txBody>
      </p:sp>
      <p:sp>
        <p:nvSpPr>
          <p:cNvPr id="26" name="Text 24"/>
          <p:cNvSpPr/>
          <p:nvPr/>
        </p:nvSpPr>
        <p:spPr>
          <a:xfrm>
            <a:off x="9226296" y="2573975"/>
            <a:ext cx="1920240" cy="274320"/>
          </a:xfrm>
          <a:prstGeom prst="rect">
            <a:avLst/>
          </a:prstGeom>
          <a:noFill/>
          <a:ln/>
        </p:spPr>
        <p:txBody>
          <a:bodyPr wrap="square" lIns="0" tIns="0" rIns="0" bIns="0" rtlCol="0" anchor="t"/>
          <a:lstStyle/>
          <a:p>
            <a:pPr indent="0" marL="0">
              <a:buNone/>
            </a:pPr>
            <a:r>
              <a:rPr lang="en-US" sz="1600" b="1" spc="120" kern="0" dirty="0">
                <a:solidFill>
                  <a:srgbClr val="14213D"/>
                </a:solidFill>
                <a:latin typeface="Arial" pitchFamily="34" charset="0"/>
                <a:ea typeface="Arial" pitchFamily="34" charset="-122"/>
                <a:cs typeface="Arial" pitchFamily="34" charset="-120"/>
              </a:rPr>
              <a:t>RETRAIN</a:t>
            </a:r>
            <a:endParaRPr lang="en-US" sz="1600" dirty="0"/>
          </a:p>
        </p:txBody>
      </p:sp>
      <p:sp>
        <p:nvSpPr>
          <p:cNvPr id="27" name="Text 25"/>
          <p:cNvSpPr/>
          <p:nvPr/>
        </p:nvSpPr>
        <p:spPr>
          <a:xfrm>
            <a:off x="9226296" y="2903159"/>
            <a:ext cx="1920240" cy="859536"/>
          </a:xfrm>
          <a:prstGeom prst="rect">
            <a:avLst/>
          </a:prstGeom>
          <a:noFill/>
          <a:ln/>
        </p:spPr>
        <p:txBody>
          <a:bodyPr wrap="square" lIns="0" tIns="0" rIns="0" bIns="0" rtlCol="0" anchor="t"/>
          <a:lstStyle/>
          <a:p>
            <a:pPr indent="0" marL="0">
              <a:lnSpc>
                <a:spcPct val="116000"/>
              </a:lnSpc>
              <a:buNone/>
            </a:pPr>
            <a:r>
              <a:rPr lang="en-US" sz="1600" dirty="0">
                <a:solidFill>
                  <a:srgbClr val="14213D"/>
                </a:solidFill>
                <a:latin typeface="Arial" pitchFamily="34" charset="0"/>
                <a:ea typeface="Arial" pitchFamily="34" charset="-122"/>
                <a:cs typeface="Arial" pitchFamily="34" charset="-120"/>
              </a:rPr>
              <a:t>One more task: Fridays she reviews her week.</a:t>
            </a:r>
            <a:endParaRPr lang="en-US" sz="1600" dirty="0"/>
          </a:p>
        </p:txBody>
      </p:sp>
      <p:sp>
        <p:nvSpPr>
          <p:cNvPr id="28" name="Text 26"/>
          <p:cNvSpPr/>
          <p:nvPr/>
        </p:nvSpPr>
        <p:spPr>
          <a:xfrm>
            <a:off x="9226296" y="3854135"/>
            <a:ext cx="1920240" cy="329184"/>
          </a:xfrm>
          <a:prstGeom prst="rect">
            <a:avLst/>
          </a:prstGeom>
          <a:noFill/>
          <a:ln/>
        </p:spPr>
        <p:txBody>
          <a:bodyPr wrap="square" lIns="0" tIns="0" rIns="0" bIns="0" rtlCol="0" anchor="ctr"/>
          <a:lstStyle/>
          <a:p>
            <a:pPr indent="0" marL="0">
              <a:buNone/>
            </a:pPr>
            <a:r>
              <a:rPr lang="en-US" sz="2200" b="1" dirty="0">
                <a:solidFill>
                  <a:srgbClr val="8A6D14"/>
                </a:solidFill>
                <a:latin typeface="Georgia" pitchFamily="34" charset="0"/>
                <a:ea typeface="Georgia" pitchFamily="34" charset="-122"/>
                <a:cs typeface="Georgia" pitchFamily="34" charset="-120"/>
              </a:rPr>
              <a:t>1:11</a:t>
            </a:r>
            <a:endParaRPr lang="en-US" sz="2200" dirty="0"/>
          </a:p>
        </p:txBody>
      </p:sp>
      <p:sp>
        <p:nvSpPr>
          <p:cNvPr id="29" name="Text 27"/>
          <p:cNvSpPr/>
          <p:nvPr/>
        </p:nvSpPr>
        <p:spPr>
          <a:xfrm>
            <a:off x="813816" y="4622231"/>
            <a:ext cx="10570464" cy="347472"/>
          </a:xfrm>
          <a:prstGeom prst="rect">
            <a:avLst/>
          </a:prstGeom>
          <a:noFill/>
          <a:ln/>
        </p:spPr>
        <p:txBody>
          <a:bodyPr wrap="square" lIns="0" tIns="0" rIns="0" bIns="0" rtlCol="0" anchor="t"/>
          <a:lstStyle/>
          <a:p>
            <a:pPr algn="l" indent="0" marL="0">
              <a:lnSpc>
                <a:spcPct val="116000"/>
              </a:lnSpc>
              <a:buNone/>
            </a:pPr>
            <a:r>
              <a:rPr lang="en-US" sz="1600" i="1" dirty="0">
                <a:solidFill>
                  <a:srgbClr val="5A6379"/>
                </a:solidFill>
                <a:latin typeface="Arial" pitchFamily="34" charset="0"/>
                <a:ea typeface="Arial" pitchFamily="34" charset="-122"/>
                <a:cs typeface="Arial" pitchFamily="34" charset="-120"/>
              </a:rPr>
              <a:t>Nobody types anything longer than one sentence today. Every prompt has a copy button on the site.</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3EA"/>
        </a:solidFill>
      </p:bgPr>
    </p:bg>
    <p:spTree>
      <p:nvGrpSpPr>
        <p:cNvPr id="1" name=""/>
        <p:cNvGrpSpPr/>
        <p:nvPr/>
      </p:nvGrpSpPr>
      <p:grpSpPr>
        <a:xfrm>
          <a:off x="0" y="0"/>
          <a:ext cx="0" cy="0"/>
          <a:chOff x="0" y="0"/>
          <a:chExt cx="0" cy="0"/>
        </a:xfrm>
      </p:grpSpPr>
      <p:sp>
        <p:nvSpPr>
          <p:cNvPr id="2" name="Shape 0"/>
          <p:cNvSpPr/>
          <p:nvPr/>
        </p:nvSpPr>
        <p:spPr>
          <a:xfrm>
            <a:off x="813816" y="5779008"/>
            <a:ext cx="10570464" cy="0"/>
          </a:xfrm>
          <a:prstGeom prst="line">
            <a:avLst/>
          </a:prstGeom>
          <a:noFill/>
          <a:ln w="9525">
            <a:solidFill>
              <a:srgbClr val="C9A227"/>
            </a:solidFill>
            <a:prstDash val="solid"/>
          </a:ln>
        </p:spPr>
      </p:sp>
      <p:sp>
        <p:nvSpPr>
          <p:cNvPr id="3" name="Text 1"/>
          <p:cNvSpPr/>
          <p:nvPr/>
        </p:nvSpPr>
        <p:spPr>
          <a:xfrm>
            <a:off x="813816" y="5907024"/>
            <a:ext cx="3358896" cy="274320"/>
          </a:xfrm>
          <a:prstGeom prst="rect">
            <a:avLst/>
          </a:prstGeom>
          <a:noFill/>
          <a:ln/>
        </p:spPr>
        <p:txBody>
          <a:bodyPr wrap="square" lIns="0" tIns="0" rIns="0" bIns="0" rtlCol="0" anchor="ctr"/>
          <a:lstStyle/>
          <a:p>
            <a:pPr indent="0" marL="0">
              <a:buNone/>
            </a:pPr>
            <a:r>
              <a:rPr lang="en-US" sz="1600" spc="120" kern="0" dirty="0">
                <a:solidFill>
                  <a:srgbClr val="5A6379"/>
                </a:solidFill>
                <a:latin typeface="Arial" pitchFamily="34" charset="0"/>
                <a:ea typeface="Arial" pitchFamily="34" charset="-122"/>
                <a:cs typeface="Arial" pitchFamily="34" charset="-120"/>
              </a:rPr>
              <a:t>BUILD YOUR OWN DONNA</a:t>
            </a:r>
            <a:endParaRPr lang="en-US" sz="1600" dirty="0"/>
          </a:p>
        </p:txBody>
      </p:sp>
      <p:sp>
        <p:nvSpPr>
          <p:cNvPr id="4" name="Shape 2"/>
          <p:cNvSpPr/>
          <p:nvPr/>
        </p:nvSpPr>
        <p:spPr>
          <a:xfrm rot="2700000">
            <a:off x="4227576" y="6012180"/>
            <a:ext cx="64008" cy="64008"/>
          </a:xfrm>
          <a:prstGeom prst="rect">
            <a:avLst/>
          </a:prstGeom>
          <a:solidFill>
            <a:srgbClr val="C9A227"/>
          </a:solidFill>
          <a:ln w="3175">
            <a:solidFill>
              <a:srgbClr val="C9A227"/>
            </a:solidFill>
            <a:prstDash val="solid"/>
          </a:ln>
        </p:spPr>
      </p:sp>
      <p:sp>
        <p:nvSpPr>
          <p:cNvPr id="5" name="Text 3"/>
          <p:cNvSpPr/>
          <p:nvPr/>
        </p:nvSpPr>
        <p:spPr>
          <a:xfrm>
            <a:off x="4410456" y="5907024"/>
            <a:ext cx="2712720" cy="274320"/>
          </a:xfrm>
          <a:prstGeom prst="rect">
            <a:avLst/>
          </a:prstGeom>
          <a:noFill/>
          <a:ln/>
        </p:spPr>
        <p:txBody>
          <a:bodyPr wrap="square" lIns="0" tIns="0" rIns="0" bIns="0" rtlCol="0" anchor="ctr"/>
          <a:lstStyle/>
          <a:p>
            <a:pPr indent="0" marL="0">
              <a:buNone/>
            </a:pPr>
            <a:r>
              <a:rPr lang="en-US" sz="1600" spc="120" kern="0" dirty="0">
                <a:solidFill>
                  <a:srgbClr val="5A6379"/>
                </a:solidFill>
                <a:latin typeface="Arial" pitchFamily="34" charset="0"/>
                <a:ea typeface="Arial" pitchFamily="34" charset="-122"/>
                <a:cs typeface="Arial" pitchFamily="34" charset="-120"/>
              </a:rPr>
              <a:t>OCTOBER 21, 2026</a:t>
            </a:r>
            <a:endParaRPr lang="en-US" sz="1600" dirty="0"/>
          </a:p>
        </p:txBody>
      </p:sp>
      <p:sp>
        <p:nvSpPr>
          <p:cNvPr id="6" name="Text 4"/>
          <p:cNvSpPr/>
          <p:nvPr/>
        </p:nvSpPr>
        <p:spPr>
          <a:xfrm>
            <a:off x="10652760" y="5907024"/>
            <a:ext cx="731520" cy="274320"/>
          </a:xfrm>
          <a:prstGeom prst="rect">
            <a:avLst/>
          </a:prstGeom>
          <a:noFill/>
          <a:ln/>
        </p:spPr>
        <p:txBody>
          <a:bodyPr wrap="square" lIns="0" tIns="0" rIns="0" bIns="0" rtlCol="0" anchor="ctr"/>
          <a:lstStyle/>
          <a:p>
            <a:pPr algn="r" indent="0" marL="0">
              <a:buNone/>
            </a:pPr>
            <a:r>
              <a:rPr lang="en-US" sz="1600" spc="120" kern="0" dirty="0">
                <a:solidFill>
                  <a:srgbClr val="5A6379"/>
                </a:solidFill>
                <a:latin typeface="Arial" pitchFamily="34" charset="0"/>
                <a:ea typeface="Arial" pitchFamily="34" charset="-122"/>
                <a:cs typeface="Arial" pitchFamily="34" charset="-120"/>
              </a:rPr>
              <a:t>15</a:t>
            </a:r>
            <a:endParaRPr lang="en-US" sz="1600" dirty="0"/>
          </a:p>
        </p:txBody>
      </p:sp>
      <p:sp>
        <p:nvSpPr>
          <p:cNvPr id="7" name="Text 5"/>
          <p:cNvSpPr/>
          <p:nvPr/>
        </p:nvSpPr>
        <p:spPr>
          <a:xfrm>
            <a:off x="813816" y="457200"/>
            <a:ext cx="10570464" cy="310896"/>
          </a:xfrm>
          <a:prstGeom prst="rect">
            <a:avLst/>
          </a:prstGeom>
          <a:noFill/>
          <a:ln/>
        </p:spPr>
        <p:txBody>
          <a:bodyPr wrap="square" lIns="0" tIns="0" rIns="0" bIns="0" rtlCol="0" anchor="ctr"/>
          <a:lstStyle/>
          <a:p>
            <a:pPr indent="0" marL="0">
              <a:buNone/>
            </a:pPr>
            <a:r>
              <a:rPr lang="en-US" sz="1600" b="1" spc="180" kern="0" dirty="0">
                <a:solidFill>
                  <a:srgbClr val="8A6D14"/>
                </a:solidFill>
                <a:latin typeface="Arial" pitchFamily="34" charset="0"/>
                <a:ea typeface="Arial" pitchFamily="34" charset="-122"/>
                <a:cs typeface="Arial" pitchFamily="34" charset="-120"/>
              </a:rPr>
              <a:t>BEFORE WE BUILD</a:t>
            </a:r>
            <a:endParaRPr lang="en-US" sz="1600" dirty="0"/>
          </a:p>
        </p:txBody>
      </p:sp>
      <p:sp>
        <p:nvSpPr>
          <p:cNvPr id="8" name="Text 6"/>
          <p:cNvSpPr/>
          <p:nvPr/>
        </p:nvSpPr>
        <p:spPr>
          <a:xfrm>
            <a:off x="813816" y="841248"/>
            <a:ext cx="10570464" cy="751027"/>
          </a:xfrm>
          <a:prstGeom prst="rect">
            <a:avLst/>
          </a:prstGeom>
          <a:noFill/>
          <a:ln/>
        </p:spPr>
        <p:txBody>
          <a:bodyPr wrap="square" lIns="0" tIns="0" rIns="0" bIns="0" rtlCol="0" anchor="t"/>
          <a:lstStyle/>
          <a:p>
            <a:pPr indent="0" marL="0">
              <a:lnSpc>
                <a:spcPct val="94000"/>
              </a:lnSpc>
              <a:buNone/>
            </a:pPr>
            <a:r>
              <a:rPr lang="en-US" sz="4000" b="1" dirty="0">
                <a:solidFill>
                  <a:srgbClr val="14213D"/>
                </a:solidFill>
                <a:latin typeface="Georgia" pitchFamily="34" charset="0"/>
                <a:ea typeface="Georgia" pitchFamily="34" charset="-122"/>
                <a:cs typeface="Georgia" pitchFamily="34" charset="-120"/>
              </a:rPr>
              <a:t>Open the instructions.</a:t>
            </a:r>
            <a:endParaRPr lang="en-US" sz="4000" dirty="0"/>
          </a:p>
        </p:txBody>
      </p:sp>
      <p:sp>
        <p:nvSpPr>
          <p:cNvPr id="9" name="Text 7"/>
          <p:cNvSpPr/>
          <p:nvPr/>
        </p:nvSpPr>
        <p:spPr>
          <a:xfrm>
            <a:off x="813816" y="1848307"/>
            <a:ext cx="10570464" cy="731520"/>
          </a:xfrm>
          <a:prstGeom prst="rect">
            <a:avLst/>
          </a:prstGeom>
          <a:noFill/>
          <a:ln/>
        </p:spPr>
        <p:txBody>
          <a:bodyPr wrap="square" lIns="0" tIns="0" rIns="0" bIns="0" rtlCol="0" anchor="ctr"/>
          <a:lstStyle/>
          <a:p>
            <a:pPr algn="ctr" indent="0" marL="0">
              <a:buNone/>
            </a:pPr>
            <a:r>
              <a:rPr lang="en-US" sz="3600" b="1" dirty="0">
                <a:solidFill>
                  <a:srgbClr val="14213D"/>
                </a:solidFill>
                <a:latin typeface="Georgia" pitchFamily="34" charset="0"/>
                <a:ea typeface="Georgia" pitchFamily="34" charset="-122"/>
                <a:cs typeface="Georgia" pitchFamily="34" charset="-120"/>
              </a:rPr>
              <a:t>donnainstructions.denisegosnell.ai</a:t>
            </a:r>
            <a:endParaRPr lang="en-US" sz="3600" dirty="0"/>
          </a:p>
        </p:txBody>
      </p:sp>
      <p:sp>
        <p:nvSpPr>
          <p:cNvPr id="10" name="Shape 8"/>
          <p:cNvSpPr/>
          <p:nvPr/>
        </p:nvSpPr>
        <p:spPr>
          <a:xfrm>
            <a:off x="2895448" y="2762707"/>
            <a:ext cx="6400800" cy="1371600"/>
          </a:xfrm>
          <a:prstGeom prst="rect">
            <a:avLst/>
          </a:prstGeom>
          <a:solidFill>
            <a:srgbClr val="E8E2D2"/>
          </a:solidFill>
          <a:ln/>
        </p:spPr>
      </p:sp>
      <p:sp>
        <p:nvSpPr>
          <p:cNvPr id="11" name="Text 9"/>
          <p:cNvSpPr/>
          <p:nvPr/>
        </p:nvSpPr>
        <p:spPr>
          <a:xfrm>
            <a:off x="2895448" y="2945587"/>
            <a:ext cx="6400800" cy="274320"/>
          </a:xfrm>
          <a:prstGeom prst="rect">
            <a:avLst/>
          </a:prstGeom>
          <a:noFill/>
          <a:ln/>
        </p:spPr>
        <p:txBody>
          <a:bodyPr wrap="square" lIns="0" tIns="0" rIns="0" bIns="0" rtlCol="0" anchor="ctr"/>
          <a:lstStyle/>
          <a:p>
            <a:pPr algn="ctr" indent="0" marL="0">
              <a:buNone/>
            </a:pPr>
            <a:r>
              <a:rPr lang="en-US" sz="1600" b="1" spc="200" kern="0" dirty="0">
                <a:solidFill>
                  <a:srgbClr val="8A6D14"/>
                </a:solidFill>
                <a:latin typeface="Arial" pitchFamily="34" charset="0"/>
                <a:ea typeface="Arial" pitchFamily="34" charset="-122"/>
                <a:cs typeface="Arial" pitchFamily="34" charset="-120"/>
              </a:rPr>
              <a:t>PASSWORD</a:t>
            </a:r>
            <a:endParaRPr lang="en-US" sz="1600" dirty="0"/>
          </a:p>
        </p:txBody>
      </p:sp>
      <p:sp>
        <p:nvSpPr>
          <p:cNvPr id="12" name="Text 10"/>
          <p:cNvSpPr/>
          <p:nvPr/>
        </p:nvSpPr>
        <p:spPr>
          <a:xfrm>
            <a:off x="2895448" y="3238195"/>
            <a:ext cx="6400800" cy="731520"/>
          </a:xfrm>
          <a:prstGeom prst="rect">
            <a:avLst/>
          </a:prstGeom>
          <a:noFill/>
          <a:ln/>
        </p:spPr>
        <p:txBody>
          <a:bodyPr wrap="square" lIns="0" tIns="0" rIns="0" bIns="0" rtlCol="0" anchor="ctr"/>
          <a:lstStyle/>
          <a:p>
            <a:pPr algn="ctr" indent="0" marL="0">
              <a:buNone/>
            </a:pPr>
            <a:r>
              <a:rPr lang="en-US" sz="4800" b="1" dirty="0">
                <a:solidFill>
                  <a:srgbClr val="14213D"/>
                </a:solidFill>
                <a:latin typeface="Georgia" pitchFamily="34" charset="0"/>
                <a:ea typeface="Georgia" pitchFamily="34" charset="-122"/>
                <a:cs typeface="Georgia" pitchFamily="34" charset="-120"/>
              </a:rPr>
              <a:t>donna2026</a:t>
            </a:r>
            <a:endParaRPr lang="en-US" sz="4800" dirty="0"/>
          </a:p>
        </p:txBody>
      </p:sp>
      <p:sp>
        <p:nvSpPr>
          <p:cNvPr id="13" name="Shape 11"/>
          <p:cNvSpPr/>
          <p:nvPr/>
        </p:nvSpPr>
        <p:spPr>
          <a:xfrm rot="2700000">
            <a:off x="2011680" y="4522927"/>
            <a:ext cx="100584" cy="100584"/>
          </a:xfrm>
          <a:prstGeom prst="rect">
            <a:avLst/>
          </a:prstGeom>
          <a:solidFill>
            <a:srgbClr val="C9A227"/>
          </a:solidFill>
          <a:ln w="3175">
            <a:solidFill>
              <a:srgbClr val="C9A227"/>
            </a:solidFill>
            <a:prstDash val="solid"/>
          </a:ln>
        </p:spPr>
      </p:sp>
      <p:sp>
        <p:nvSpPr>
          <p:cNvPr id="14" name="Text 12"/>
          <p:cNvSpPr/>
          <p:nvPr/>
        </p:nvSpPr>
        <p:spPr>
          <a:xfrm>
            <a:off x="2322576" y="4445203"/>
            <a:ext cx="7918704" cy="379476"/>
          </a:xfrm>
          <a:prstGeom prst="rect">
            <a:avLst/>
          </a:prstGeom>
          <a:noFill/>
          <a:ln/>
        </p:spPr>
        <p:txBody>
          <a:bodyPr wrap="square" lIns="0" tIns="0" rIns="0" bIns="0" rtlCol="0" anchor="t"/>
          <a:lstStyle/>
          <a:p>
            <a:pPr indent="0" marL="0">
              <a:lnSpc>
                <a:spcPct val="116000"/>
              </a:lnSpc>
              <a:buNone/>
            </a:pPr>
            <a:r>
              <a:rPr lang="en-US" sz="1800" dirty="0">
                <a:solidFill>
                  <a:srgbClr val="14213D"/>
                </a:solidFill>
                <a:latin typeface="Arial" pitchFamily="34" charset="0"/>
                <a:ea typeface="Arial" pitchFamily="34" charset="-122"/>
                <a:cs typeface="Arial" pitchFamily="34" charset="-120"/>
              </a:rPr>
              <a:t>Phone or laptop. Keep it open: every prompt has a copy button.</a:t>
            </a:r>
            <a:endParaRPr lang="en-US" sz="1800" dirty="0"/>
          </a:p>
        </p:txBody>
      </p:sp>
      <p:sp>
        <p:nvSpPr>
          <p:cNvPr id="15" name="Shape 13"/>
          <p:cNvSpPr/>
          <p:nvPr/>
        </p:nvSpPr>
        <p:spPr>
          <a:xfrm rot="2700000">
            <a:off x="2011680" y="5030419"/>
            <a:ext cx="100584" cy="100584"/>
          </a:xfrm>
          <a:prstGeom prst="rect">
            <a:avLst/>
          </a:prstGeom>
          <a:solidFill>
            <a:srgbClr val="C9A227"/>
          </a:solidFill>
          <a:ln w="3175">
            <a:solidFill>
              <a:srgbClr val="C9A227"/>
            </a:solidFill>
            <a:prstDash val="solid"/>
          </a:ln>
        </p:spPr>
      </p:sp>
      <p:sp>
        <p:nvSpPr>
          <p:cNvPr id="16" name="Text 14"/>
          <p:cNvSpPr/>
          <p:nvPr/>
        </p:nvSpPr>
        <p:spPr>
          <a:xfrm>
            <a:off x="2322576" y="4952695"/>
            <a:ext cx="7918704" cy="379476"/>
          </a:xfrm>
          <a:prstGeom prst="rect">
            <a:avLst/>
          </a:prstGeom>
          <a:noFill/>
          <a:ln/>
        </p:spPr>
        <p:txBody>
          <a:bodyPr wrap="square" lIns="0" tIns="0" rIns="0" bIns="0" rtlCol="0" anchor="t"/>
          <a:lstStyle/>
          <a:p>
            <a:pPr indent="0" marL="0">
              <a:lnSpc>
                <a:spcPct val="116000"/>
              </a:lnSpc>
              <a:buNone/>
            </a:pPr>
            <a:r>
              <a:rPr lang="en-US" sz="1800" dirty="0">
                <a:solidFill>
                  <a:srgbClr val="14213D"/>
                </a:solidFill>
                <a:latin typeface="Arial" pitchFamily="34" charset="0"/>
                <a:ea typeface="Arial" pitchFamily="34" charset="-122"/>
                <a:cs typeface="Arial" pitchFamily="34" charset="-120"/>
              </a:rPr>
              <a:t>The site is the live version. If they disagree, the site wins.</a:t>
            </a:r>
            <a:endParaRPr lang="en-US" sz="1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4213D"/>
        </a:solidFill>
      </p:bgPr>
    </p:bg>
    <p:spTree>
      <p:nvGrpSpPr>
        <p:cNvPr id="1" name=""/>
        <p:cNvGrpSpPr/>
        <p:nvPr/>
      </p:nvGrpSpPr>
      <p:grpSpPr>
        <a:xfrm>
          <a:off x="0" y="0"/>
          <a:ext cx="0" cy="0"/>
          <a:chOff x="0" y="0"/>
          <a:chExt cx="0" cy="0"/>
        </a:xfrm>
      </p:grpSpPr>
      <p:sp>
        <p:nvSpPr>
          <p:cNvPr id="2" name="Shape 0"/>
          <p:cNvSpPr/>
          <p:nvPr/>
        </p:nvSpPr>
        <p:spPr>
          <a:xfrm>
            <a:off x="813816" y="5779008"/>
            <a:ext cx="10570464" cy="0"/>
          </a:xfrm>
          <a:prstGeom prst="line">
            <a:avLst/>
          </a:prstGeom>
          <a:noFill/>
          <a:ln w="9525">
            <a:solidFill>
              <a:srgbClr val="C9A227"/>
            </a:solidFill>
            <a:prstDash val="solid"/>
          </a:ln>
        </p:spPr>
      </p:sp>
      <p:sp>
        <p:nvSpPr>
          <p:cNvPr id="3" name="Text 1"/>
          <p:cNvSpPr/>
          <p:nvPr/>
        </p:nvSpPr>
        <p:spPr>
          <a:xfrm>
            <a:off x="813816" y="5907024"/>
            <a:ext cx="3358896" cy="274320"/>
          </a:xfrm>
          <a:prstGeom prst="rect">
            <a:avLst/>
          </a:prstGeom>
          <a:noFill/>
          <a:ln/>
        </p:spPr>
        <p:txBody>
          <a:bodyPr wrap="square" lIns="0" tIns="0" rIns="0" bIns="0" rtlCol="0" anchor="ctr"/>
          <a:lstStyle/>
          <a:p>
            <a:pPr indent="0" marL="0">
              <a:buNone/>
            </a:pPr>
            <a:r>
              <a:rPr lang="en-US" sz="1600" spc="120" kern="0" dirty="0">
                <a:solidFill>
                  <a:srgbClr val="AFA893"/>
                </a:solidFill>
                <a:latin typeface="Arial" pitchFamily="34" charset="0"/>
                <a:ea typeface="Arial" pitchFamily="34" charset="-122"/>
                <a:cs typeface="Arial" pitchFamily="34" charset="-120"/>
              </a:rPr>
              <a:t>BUILD YOUR OWN DONNA</a:t>
            </a:r>
            <a:endParaRPr lang="en-US" sz="1600" dirty="0"/>
          </a:p>
        </p:txBody>
      </p:sp>
      <p:sp>
        <p:nvSpPr>
          <p:cNvPr id="4" name="Shape 2"/>
          <p:cNvSpPr/>
          <p:nvPr/>
        </p:nvSpPr>
        <p:spPr>
          <a:xfrm rot="2700000">
            <a:off x="4227576" y="6012180"/>
            <a:ext cx="64008" cy="64008"/>
          </a:xfrm>
          <a:prstGeom prst="rect">
            <a:avLst/>
          </a:prstGeom>
          <a:solidFill>
            <a:srgbClr val="C9A227"/>
          </a:solidFill>
          <a:ln w="3175">
            <a:solidFill>
              <a:srgbClr val="C9A227"/>
            </a:solidFill>
            <a:prstDash val="solid"/>
          </a:ln>
        </p:spPr>
      </p:sp>
      <p:sp>
        <p:nvSpPr>
          <p:cNvPr id="5" name="Text 3"/>
          <p:cNvSpPr/>
          <p:nvPr/>
        </p:nvSpPr>
        <p:spPr>
          <a:xfrm>
            <a:off x="4410456" y="5907024"/>
            <a:ext cx="2712720" cy="274320"/>
          </a:xfrm>
          <a:prstGeom prst="rect">
            <a:avLst/>
          </a:prstGeom>
          <a:noFill/>
          <a:ln/>
        </p:spPr>
        <p:txBody>
          <a:bodyPr wrap="square" lIns="0" tIns="0" rIns="0" bIns="0" rtlCol="0" anchor="ctr"/>
          <a:lstStyle/>
          <a:p>
            <a:pPr indent="0" marL="0">
              <a:buNone/>
            </a:pPr>
            <a:r>
              <a:rPr lang="en-US" sz="1600" spc="120" kern="0" dirty="0">
                <a:solidFill>
                  <a:srgbClr val="AFA893"/>
                </a:solidFill>
                <a:latin typeface="Arial" pitchFamily="34" charset="0"/>
                <a:ea typeface="Arial" pitchFamily="34" charset="-122"/>
                <a:cs typeface="Arial" pitchFamily="34" charset="-120"/>
              </a:rPr>
              <a:t>OCTOBER 21, 2026</a:t>
            </a:r>
            <a:endParaRPr lang="en-US" sz="1600" dirty="0"/>
          </a:p>
        </p:txBody>
      </p:sp>
      <p:sp>
        <p:nvSpPr>
          <p:cNvPr id="6" name="Text 4"/>
          <p:cNvSpPr/>
          <p:nvPr/>
        </p:nvSpPr>
        <p:spPr>
          <a:xfrm>
            <a:off x="10652760" y="5907024"/>
            <a:ext cx="731520" cy="274320"/>
          </a:xfrm>
          <a:prstGeom prst="rect">
            <a:avLst/>
          </a:prstGeom>
          <a:noFill/>
          <a:ln/>
        </p:spPr>
        <p:txBody>
          <a:bodyPr wrap="square" lIns="0" tIns="0" rIns="0" bIns="0" rtlCol="0" anchor="ctr"/>
          <a:lstStyle/>
          <a:p>
            <a:pPr algn="r" indent="0" marL="0">
              <a:buNone/>
            </a:pPr>
            <a:r>
              <a:rPr lang="en-US" sz="1600" spc="120" kern="0" dirty="0">
                <a:solidFill>
                  <a:srgbClr val="AFA893"/>
                </a:solidFill>
                <a:latin typeface="Arial" pitchFamily="34" charset="0"/>
                <a:ea typeface="Arial" pitchFamily="34" charset="-122"/>
                <a:cs typeface="Arial" pitchFamily="34" charset="-120"/>
              </a:rPr>
              <a:t>16</a:t>
            </a:r>
            <a:endParaRPr lang="en-US" sz="1600" dirty="0"/>
          </a:p>
        </p:txBody>
      </p:sp>
      <p:sp>
        <p:nvSpPr>
          <p:cNvPr id="7" name="Shape 5"/>
          <p:cNvSpPr/>
          <p:nvPr/>
        </p:nvSpPr>
        <p:spPr>
          <a:xfrm>
            <a:off x="10789920" y="438912"/>
            <a:ext cx="548640" cy="548640"/>
          </a:xfrm>
          <a:prstGeom prst="ellipse">
            <a:avLst/>
          </a:prstGeom>
          <a:ln w="9525">
            <a:solidFill>
              <a:srgbClr val="C9A227"/>
            </a:solidFill>
            <a:prstDash val="solid"/>
          </a:ln>
        </p:spPr>
      </p:sp>
      <p:sp>
        <p:nvSpPr>
          <p:cNvPr id="8" name="Shape 6"/>
          <p:cNvSpPr/>
          <p:nvPr/>
        </p:nvSpPr>
        <p:spPr>
          <a:xfrm>
            <a:off x="10986516" y="361188"/>
            <a:ext cx="155448" cy="155448"/>
          </a:xfrm>
          <a:prstGeom prst="ellipse">
            <a:avLst/>
          </a:prstGeom>
          <a:solidFill>
            <a:srgbClr val="C9A227"/>
          </a:solidFill>
          <a:ln w="9525">
            <a:solidFill>
              <a:srgbClr val="C9A227"/>
            </a:solidFill>
            <a:prstDash val="solid"/>
          </a:ln>
        </p:spPr>
      </p:sp>
      <p:sp>
        <p:nvSpPr>
          <p:cNvPr id="9" name="Shape 7"/>
          <p:cNvSpPr/>
          <p:nvPr/>
        </p:nvSpPr>
        <p:spPr>
          <a:xfrm>
            <a:off x="11260836" y="635508"/>
            <a:ext cx="155448" cy="155448"/>
          </a:xfrm>
          <a:prstGeom prst="ellipse">
            <a:avLst/>
          </a:prstGeom>
          <a:solidFill>
            <a:srgbClr val="14213D"/>
          </a:solidFill>
          <a:ln w="9525">
            <a:solidFill>
              <a:srgbClr val="C9A227"/>
            </a:solidFill>
            <a:prstDash val="solid"/>
          </a:ln>
        </p:spPr>
      </p:sp>
      <p:sp>
        <p:nvSpPr>
          <p:cNvPr id="10" name="Shape 8"/>
          <p:cNvSpPr/>
          <p:nvPr/>
        </p:nvSpPr>
        <p:spPr>
          <a:xfrm>
            <a:off x="10986516" y="909828"/>
            <a:ext cx="155448" cy="155448"/>
          </a:xfrm>
          <a:prstGeom prst="ellipse">
            <a:avLst/>
          </a:prstGeom>
          <a:solidFill>
            <a:srgbClr val="14213D"/>
          </a:solidFill>
          <a:ln w="9525">
            <a:solidFill>
              <a:srgbClr val="C9A227"/>
            </a:solidFill>
            <a:prstDash val="solid"/>
          </a:ln>
        </p:spPr>
      </p:sp>
      <p:sp>
        <p:nvSpPr>
          <p:cNvPr id="11" name="Shape 9"/>
          <p:cNvSpPr/>
          <p:nvPr/>
        </p:nvSpPr>
        <p:spPr>
          <a:xfrm>
            <a:off x="10712196" y="635508"/>
            <a:ext cx="155448" cy="155448"/>
          </a:xfrm>
          <a:prstGeom prst="ellipse">
            <a:avLst/>
          </a:prstGeom>
          <a:solidFill>
            <a:srgbClr val="14213D"/>
          </a:solidFill>
          <a:ln w="9525">
            <a:solidFill>
              <a:srgbClr val="C9A227"/>
            </a:solidFill>
            <a:prstDash val="solid"/>
          </a:ln>
        </p:spPr>
      </p:sp>
      <p:sp>
        <p:nvSpPr>
          <p:cNvPr id="12" name="Text 10"/>
          <p:cNvSpPr/>
          <p:nvPr/>
        </p:nvSpPr>
        <p:spPr>
          <a:xfrm>
            <a:off x="10145268" y="1097280"/>
            <a:ext cx="1239012" cy="274320"/>
          </a:xfrm>
          <a:prstGeom prst="rect">
            <a:avLst/>
          </a:prstGeom>
          <a:noFill/>
          <a:ln/>
        </p:spPr>
        <p:txBody>
          <a:bodyPr wrap="square" lIns="0" tIns="0" rIns="0" bIns="0" rtlCol="0" anchor="ctr"/>
          <a:lstStyle/>
          <a:p>
            <a:pPr algn="r" indent="0" marL="0">
              <a:buNone/>
            </a:pPr>
            <a:r>
              <a:rPr lang="en-US" sz="1600" b="1" spc="120" kern="0" dirty="0">
                <a:solidFill>
                  <a:srgbClr val="E7C766"/>
                </a:solidFill>
                <a:latin typeface="Arial" pitchFamily="34" charset="0"/>
                <a:ea typeface="Arial" pitchFamily="34" charset="-122"/>
                <a:cs typeface="Arial" pitchFamily="34" charset="-120"/>
              </a:rPr>
              <a:t>CONNECT</a:t>
            </a:r>
            <a:endParaRPr lang="en-US" sz="1600" dirty="0"/>
          </a:p>
        </p:txBody>
      </p:sp>
      <p:sp>
        <p:nvSpPr>
          <p:cNvPr id="13" name="Text 11"/>
          <p:cNvSpPr/>
          <p:nvPr/>
        </p:nvSpPr>
        <p:spPr>
          <a:xfrm>
            <a:off x="813816" y="1188720"/>
            <a:ext cx="10570464" cy="292608"/>
          </a:xfrm>
          <a:prstGeom prst="rect">
            <a:avLst/>
          </a:prstGeom>
          <a:noFill/>
          <a:ln/>
        </p:spPr>
        <p:txBody>
          <a:bodyPr wrap="square" lIns="0" tIns="0" rIns="0" bIns="0" rtlCol="0" anchor="ctr"/>
          <a:lstStyle/>
          <a:p>
            <a:pPr algn="ctr" indent="0" marL="0">
              <a:buNone/>
            </a:pPr>
            <a:r>
              <a:rPr lang="en-US" sz="1600" b="1" spc="200" kern="0" dirty="0">
                <a:solidFill>
                  <a:srgbClr val="E7C766"/>
                </a:solidFill>
                <a:latin typeface="Arial" pitchFamily="34" charset="0"/>
                <a:ea typeface="Arial" pitchFamily="34" charset="-122"/>
                <a:cs typeface="Arial" pitchFamily="34" charset="-120"/>
              </a:rPr>
              <a:t>STEP ONE  ·  CONNECT</a:t>
            </a:r>
            <a:endParaRPr lang="en-US" sz="1600" dirty="0"/>
          </a:p>
        </p:txBody>
      </p:sp>
      <p:sp>
        <p:nvSpPr>
          <p:cNvPr id="14" name="Text 12"/>
          <p:cNvSpPr/>
          <p:nvPr/>
        </p:nvSpPr>
        <p:spPr>
          <a:xfrm>
            <a:off x="1249528" y="1536192"/>
            <a:ext cx="9692640" cy="815889"/>
          </a:xfrm>
          <a:prstGeom prst="rect">
            <a:avLst/>
          </a:prstGeom>
          <a:noFill/>
          <a:ln/>
        </p:spPr>
        <p:txBody>
          <a:bodyPr wrap="square" lIns="0" tIns="0" rIns="0" bIns="0" rtlCol="0" anchor="t"/>
          <a:lstStyle/>
          <a:p>
            <a:pPr algn="ctr" indent="0" marL="0">
              <a:buNone/>
            </a:pPr>
            <a:r>
              <a:rPr lang="en-US" sz="4400" b="1" dirty="0">
                <a:solidFill>
                  <a:srgbClr val="F7F3EA"/>
                </a:solidFill>
                <a:latin typeface="Georgia" pitchFamily="34" charset="0"/>
                <a:ea typeface="Georgia" pitchFamily="34" charset="-122"/>
                <a:cs typeface="Georgia" pitchFamily="34" charset="-120"/>
              </a:rPr>
              <a:t>First impressions.</a:t>
            </a:r>
            <a:endParaRPr lang="en-US" sz="4400" dirty="0"/>
          </a:p>
        </p:txBody>
      </p:sp>
      <p:sp>
        <p:nvSpPr>
          <p:cNvPr id="15" name="Text 13"/>
          <p:cNvSpPr/>
          <p:nvPr/>
        </p:nvSpPr>
        <p:spPr>
          <a:xfrm>
            <a:off x="813816" y="2516673"/>
            <a:ext cx="10570464" cy="329184"/>
          </a:xfrm>
          <a:prstGeom prst="rect">
            <a:avLst/>
          </a:prstGeom>
          <a:noFill/>
          <a:ln/>
        </p:spPr>
        <p:txBody>
          <a:bodyPr wrap="square" lIns="0" tIns="0" rIns="0" bIns="0" rtlCol="0" anchor="ctr"/>
          <a:lstStyle/>
          <a:p>
            <a:pPr algn="ctr" indent="0" marL="0">
              <a:buNone/>
            </a:pPr>
            <a:r>
              <a:rPr lang="en-US" sz="1800" dirty="0">
                <a:solidFill>
                  <a:srgbClr val="AFA893"/>
                </a:solidFill>
                <a:latin typeface="Arial" pitchFamily="34" charset="0"/>
                <a:ea typeface="Arial" pitchFamily="34" charset="-122"/>
                <a:cs typeface="Arial" pitchFamily="34" charset="-120"/>
              </a:rPr>
              <a:t>Give her a desk, connect your inbox, and watch her read it.</a:t>
            </a:r>
            <a:endParaRPr lang="en-US" sz="1800" dirty="0"/>
          </a:p>
        </p:txBody>
      </p:sp>
      <p:sp>
        <p:nvSpPr>
          <p:cNvPr id="16" name="Text 14"/>
          <p:cNvSpPr/>
          <p:nvPr/>
        </p:nvSpPr>
        <p:spPr>
          <a:xfrm>
            <a:off x="813816" y="3138465"/>
            <a:ext cx="10570464" cy="274320"/>
          </a:xfrm>
          <a:prstGeom prst="rect">
            <a:avLst/>
          </a:prstGeom>
          <a:noFill/>
          <a:ln/>
        </p:spPr>
        <p:txBody>
          <a:bodyPr wrap="square" lIns="0" tIns="0" rIns="0" bIns="0" rtlCol="0" anchor="ctr"/>
          <a:lstStyle/>
          <a:p>
            <a:pPr algn="ctr" indent="0" marL="0">
              <a:buNone/>
            </a:pPr>
            <a:r>
              <a:rPr lang="en-US" sz="1600" b="1" spc="200" kern="0" dirty="0">
                <a:solidFill>
                  <a:srgbClr val="E7C766"/>
                </a:solidFill>
                <a:latin typeface="Arial" pitchFamily="34" charset="0"/>
                <a:ea typeface="Arial" pitchFamily="34" charset="-122"/>
                <a:cs typeface="Arial" pitchFamily="34" charset="-120"/>
              </a:rPr>
              <a:t>IN THIS STEP</a:t>
            </a:r>
            <a:endParaRPr lang="en-US" sz="1600" dirty="0"/>
          </a:p>
        </p:txBody>
      </p:sp>
      <p:sp>
        <p:nvSpPr>
          <p:cNvPr id="17" name="Text 15"/>
          <p:cNvSpPr/>
          <p:nvPr/>
        </p:nvSpPr>
        <p:spPr>
          <a:xfrm>
            <a:off x="813816" y="3467649"/>
            <a:ext cx="10570464" cy="329184"/>
          </a:xfrm>
          <a:prstGeom prst="rect">
            <a:avLst/>
          </a:prstGeom>
          <a:noFill/>
          <a:ln/>
        </p:spPr>
        <p:txBody>
          <a:bodyPr wrap="square" lIns="0" tIns="0" rIns="0" bIns="0" rtlCol="0" anchor="ctr"/>
          <a:lstStyle/>
          <a:p>
            <a:pPr algn="ctr" indent="0" marL="0">
              <a:buNone/>
            </a:pPr>
            <a:r>
              <a:rPr lang="en-US" sz="1800" b="1" dirty="0">
                <a:solidFill>
                  <a:srgbClr val="E7C766"/>
                </a:solidFill>
                <a:latin typeface="Georgia" pitchFamily="34" charset="0"/>
                <a:ea typeface="Georgia" pitchFamily="34" charset="-122"/>
                <a:cs typeface="Georgia" pitchFamily="34" charset="-120"/>
              </a:rPr>
              <a:t>1/  </a:t>
            </a:r>
            <a:pPr algn="ctr" indent="0" marL="0">
              <a:buNone/>
            </a:pPr>
            <a:r>
              <a:rPr lang="en-US" sz="1800" dirty="0">
                <a:solidFill>
                  <a:srgbClr val="F7F3EA"/>
                </a:solidFill>
                <a:latin typeface="Arial" pitchFamily="34" charset="0"/>
                <a:ea typeface="Arial" pitchFamily="34" charset="-122"/>
                <a:cs typeface="Arial" pitchFamily="34" charset="-120"/>
              </a:rPr>
              <a:t>Create her project.</a:t>
            </a:r>
            <a:endParaRPr lang="en-US" sz="1800" dirty="0"/>
          </a:p>
        </p:txBody>
      </p:sp>
      <p:sp>
        <p:nvSpPr>
          <p:cNvPr id="18" name="Text 16"/>
          <p:cNvSpPr/>
          <p:nvPr/>
        </p:nvSpPr>
        <p:spPr>
          <a:xfrm>
            <a:off x="813816" y="3815121"/>
            <a:ext cx="10570464" cy="329184"/>
          </a:xfrm>
          <a:prstGeom prst="rect">
            <a:avLst/>
          </a:prstGeom>
          <a:noFill/>
          <a:ln/>
        </p:spPr>
        <p:txBody>
          <a:bodyPr wrap="square" lIns="0" tIns="0" rIns="0" bIns="0" rtlCol="0" anchor="ctr"/>
          <a:lstStyle/>
          <a:p>
            <a:pPr algn="ctr" indent="0" marL="0">
              <a:buNone/>
            </a:pPr>
            <a:r>
              <a:rPr lang="en-US" sz="1800" b="1" dirty="0">
                <a:solidFill>
                  <a:srgbClr val="E7C766"/>
                </a:solidFill>
                <a:latin typeface="Georgia" pitchFamily="34" charset="0"/>
                <a:ea typeface="Georgia" pitchFamily="34" charset="-122"/>
                <a:cs typeface="Georgia" pitchFamily="34" charset="-120"/>
              </a:rPr>
              <a:t>2/  </a:t>
            </a:r>
            <a:pPr algn="ctr" indent="0" marL="0">
              <a:buNone/>
            </a:pPr>
            <a:r>
              <a:rPr lang="en-US" sz="1800" dirty="0">
                <a:solidFill>
                  <a:srgbClr val="F7F3EA"/>
                </a:solidFill>
                <a:latin typeface="Arial" pitchFamily="34" charset="0"/>
                <a:ea typeface="Arial" pitchFamily="34" charset="-122"/>
                <a:cs typeface="Arial" pitchFamily="34" charset="-120"/>
              </a:rPr>
              <a:t>Connect Gmail, Calendar, and Drive.</a:t>
            </a:r>
            <a:endParaRPr lang="en-US" sz="1800" dirty="0"/>
          </a:p>
        </p:txBody>
      </p:sp>
      <p:sp>
        <p:nvSpPr>
          <p:cNvPr id="19" name="Text 17"/>
          <p:cNvSpPr/>
          <p:nvPr/>
        </p:nvSpPr>
        <p:spPr>
          <a:xfrm>
            <a:off x="813816" y="4162593"/>
            <a:ext cx="10570464" cy="329184"/>
          </a:xfrm>
          <a:prstGeom prst="rect">
            <a:avLst/>
          </a:prstGeom>
          <a:noFill/>
          <a:ln/>
        </p:spPr>
        <p:txBody>
          <a:bodyPr wrap="square" lIns="0" tIns="0" rIns="0" bIns="0" rtlCol="0" anchor="ctr"/>
          <a:lstStyle/>
          <a:p>
            <a:pPr algn="ctr" indent="0" marL="0">
              <a:buNone/>
            </a:pPr>
            <a:r>
              <a:rPr lang="en-US" sz="1800" b="1" dirty="0">
                <a:solidFill>
                  <a:srgbClr val="E7C766"/>
                </a:solidFill>
                <a:latin typeface="Georgia" pitchFamily="34" charset="0"/>
                <a:ea typeface="Georgia" pitchFamily="34" charset="-122"/>
                <a:cs typeface="Georgia" pitchFamily="34" charset="-120"/>
              </a:rPr>
              <a:t>3/  </a:t>
            </a:r>
            <a:pPr algn="ctr" indent="0" marL="0">
              <a:buNone/>
            </a:pPr>
            <a:r>
              <a:rPr lang="en-US" sz="1800" dirty="0">
                <a:solidFill>
                  <a:srgbClr val="F7F3EA"/>
                </a:solidFill>
                <a:latin typeface="Arial" pitchFamily="34" charset="0"/>
                <a:ea typeface="Arial" pitchFamily="34" charset="-122"/>
                <a:cs typeface="Arial" pitchFamily="34" charset="-120"/>
              </a:rPr>
              <a:t>Two prompts: the question, then the first draft.</a:t>
            </a:r>
            <a:endParaRPr lang="en-US" sz="1800" dirty="0"/>
          </a:p>
        </p:txBody>
      </p:sp>
      <p:sp>
        <p:nvSpPr>
          <p:cNvPr id="20" name="Text 18"/>
          <p:cNvSpPr/>
          <p:nvPr/>
        </p:nvSpPr>
        <p:spPr>
          <a:xfrm>
            <a:off x="813816" y="4937760"/>
            <a:ext cx="10570464" cy="329184"/>
          </a:xfrm>
          <a:prstGeom prst="rect">
            <a:avLst/>
          </a:prstGeom>
          <a:noFill/>
          <a:ln/>
        </p:spPr>
        <p:txBody>
          <a:bodyPr wrap="square" lIns="0" tIns="0" rIns="0" bIns="0" rtlCol="0" anchor="ctr"/>
          <a:lstStyle/>
          <a:p>
            <a:pPr algn="ctr" indent="0" marL="0">
              <a:buNone/>
            </a:pPr>
            <a:r>
              <a:rPr lang="en-US" sz="1800" b="1" dirty="0">
                <a:solidFill>
                  <a:srgbClr val="E7C766"/>
                </a:solidFill>
                <a:latin typeface="Arial" pitchFamily="34" charset="0"/>
                <a:ea typeface="Arial" pitchFamily="34" charset="-122"/>
                <a:cs typeface="Arial" pitchFamily="34" charset="-120"/>
              </a:rPr>
              <a:t>Now go to the instructions: Step 1 on the site.</a:t>
            </a:r>
            <a:endParaRPr lang="en-US" sz="1800" dirty="0"/>
          </a:p>
        </p:txBody>
      </p:sp>
      <p:sp>
        <p:nvSpPr>
          <p:cNvPr id="21" name="Text 19"/>
          <p:cNvSpPr/>
          <p:nvPr/>
        </p:nvSpPr>
        <p:spPr>
          <a:xfrm>
            <a:off x="813816" y="5285232"/>
            <a:ext cx="10570464" cy="274320"/>
          </a:xfrm>
          <a:prstGeom prst="rect">
            <a:avLst/>
          </a:prstGeom>
          <a:noFill/>
          <a:ln/>
        </p:spPr>
        <p:txBody>
          <a:bodyPr wrap="square" lIns="0" tIns="0" rIns="0" bIns="0" rtlCol="0" anchor="ctr"/>
          <a:lstStyle/>
          <a:p>
            <a:pPr algn="ctr" indent="0" marL="0">
              <a:buNone/>
            </a:pPr>
            <a:r>
              <a:rPr lang="en-US" sz="1600" dirty="0">
                <a:solidFill>
                  <a:srgbClr val="AFA893"/>
                </a:solidFill>
                <a:latin typeface="Arial" pitchFamily="34" charset="0"/>
                <a:ea typeface="Arial" pitchFamily="34" charset="-122"/>
                <a:cs typeface="Arial" pitchFamily="34" charset="-120"/>
              </a:rPr>
              <a:t>donnainstructions.denisegosnell.ai</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3EA"/>
        </a:solidFill>
      </p:bgPr>
    </p:bg>
    <p:spTree>
      <p:nvGrpSpPr>
        <p:cNvPr id="1" name=""/>
        <p:cNvGrpSpPr/>
        <p:nvPr/>
      </p:nvGrpSpPr>
      <p:grpSpPr>
        <a:xfrm>
          <a:off x="0" y="0"/>
          <a:ext cx="0" cy="0"/>
          <a:chOff x="0" y="0"/>
          <a:chExt cx="0" cy="0"/>
        </a:xfrm>
      </p:grpSpPr>
      <p:sp>
        <p:nvSpPr>
          <p:cNvPr id="2" name="Shape 0"/>
          <p:cNvSpPr/>
          <p:nvPr/>
        </p:nvSpPr>
        <p:spPr>
          <a:xfrm>
            <a:off x="813816" y="5779008"/>
            <a:ext cx="10570464" cy="0"/>
          </a:xfrm>
          <a:prstGeom prst="line">
            <a:avLst/>
          </a:prstGeom>
          <a:noFill/>
          <a:ln w="9525">
            <a:solidFill>
              <a:srgbClr val="C9A227"/>
            </a:solidFill>
            <a:prstDash val="solid"/>
          </a:ln>
        </p:spPr>
      </p:sp>
      <p:sp>
        <p:nvSpPr>
          <p:cNvPr id="3" name="Text 1"/>
          <p:cNvSpPr/>
          <p:nvPr/>
        </p:nvSpPr>
        <p:spPr>
          <a:xfrm>
            <a:off x="813816" y="5907024"/>
            <a:ext cx="3358896" cy="274320"/>
          </a:xfrm>
          <a:prstGeom prst="rect">
            <a:avLst/>
          </a:prstGeom>
          <a:noFill/>
          <a:ln/>
        </p:spPr>
        <p:txBody>
          <a:bodyPr wrap="square" lIns="0" tIns="0" rIns="0" bIns="0" rtlCol="0" anchor="ctr"/>
          <a:lstStyle/>
          <a:p>
            <a:pPr indent="0" marL="0">
              <a:buNone/>
            </a:pPr>
            <a:r>
              <a:rPr lang="en-US" sz="1600" spc="120" kern="0" dirty="0">
                <a:solidFill>
                  <a:srgbClr val="5A6379"/>
                </a:solidFill>
                <a:latin typeface="Arial" pitchFamily="34" charset="0"/>
                <a:ea typeface="Arial" pitchFamily="34" charset="-122"/>
                <a:cs typeface="Arial" pitchFamily="34" charset="-120"/>
              </a:rPr>
              <a:t>BUILD YOUR OWN DONNA</a:t>
            </a:r>
            <a:endParaRPr lang="en-US" sz="1600" dirty="0"/>
          </a:p>
        </p:txBody>
      </p:sp>
      <p:sp>
        <p:nvSpPr>
          <p:cNvPr id="4" name="Shape 2"/>
          <p:cNvSpPr/>
          <p:nvPr/>
        </p:nvSpPr>
        <p:spPr>
          <a:xfrm rot="2700000">
            <a:off x="4227576" y="6012180"/>
            <a:ext cx="64008" cy="64008"/>
          </a:xfrm>
          <a:prstGeom prst="rect">
            <a:avLst/>
          </a:prstGeom>
          <a:solidFill>
            <a:srgbClr val="C9A227"/>
          </a:solidFill>
          <a:ln w="3175">
            <a:solidFill>
              <a:srgbClr val="C9A227"/>
            </a:solidFill>
            <a:prstDash val="solid"/>
          </a:ln>
        </p:spPr>
      </p:sp>
      <p:sp>
        <p:nvSpPr>
          <p:cNvPr id="5" name="Text 3"/>
          <p:cNvSpPr/>
          <p:nvPr/>
        </p:nvSpPr>
        <p:spPr>
          <a:xfrm>
            <a:off x="4410456" y="5907024"/>
            <a:ext cx="2712720" cy="274320"/>
          </a:xfrm>
          <a:prstGeom prst="rect">
            <a:avLst/>
          </a:prstGeom>
          <a:noFill/>
          <a:ln/>
        </p:spPr>
        <p:txBody>
          <a:bodyPr wrap="square" lIns="0" tIns="0" rIns="0" bIns="0" rtlCol="0" anchor="ctr"/>
          <a:lstStyle/>
          <a:p>
            <a:pPr indent="0" marL="0">
              <a:buNone/>
            </a:pPr>
            <a:r>
              <a:rPr lang="en-US" sz="1600" spc="120" kern="0" dirty="0">
                <a:solidFill>
                  <a:srgbClr val="5A6379"/>
                </a:solidFill>
                <a:latin typeface="Arial" pitchFamily="34" charset="0"/>
                <a:ea typeface="Arial" pitchFamily="34" charset="-122"/>
                <a:cs typeface="Arial" pitchFamily="34" charset="-120"/>
              </a:rPr>
              <a:t>OCTOBER 21, 2026</a:t>
            </a:r>
            <a:endParaRPr lang="en-US" sz="1600" dirty="0"/>
          </a:p>
        </p:txBody>
      </p:sp>
      <p:sp>
        <p:nvSpPr>
          <p:cNvPr id="6" name="Text 4"/>
          <p:cNvSpPr/>
          <p:nvPr/>
        </p:nvSpPr>
        <p:spPr>
          <a:xfrm>
            <a:off x="10652760" y="5907024"/>
            <a:ext cx="731520" cy="274320"/>
          </a:xfrm>
          <a:prstGeom prst="rect">
            <a:avLst/>
          </a:prstGeom>
          <a:noFill/>
          <a:ln/>
        </p:spPr>
        <p:txBody>
          <a:bodyPr wrap="square" lIns="0" tIns="0" rIns="0" bIns="0" rtlCol="0" anchor="ctr"/>
          <a:lstStyle/>
          <a:p>
            <a:pPr algn="r" indent="0" marL="0">
              <a:buNone/>
            </a:pPr>
            <a:r>
              <a:rPr lang="en-US" sz="1600" spc="120" kern="0" dirty="0">
                <a:solidFill>
                  <a:srgbClr val="5A6379"/>
                </a:solidFill>
                <a:latin typeface="Arial" pitchFamily="34" charset="0"/>
                <a:ea typeface="Arial" pitchFamily="34" charset="-122"/>
                <a:cs typeface="Arial" pitchFamily="34" charset="-120"/>
              </a:rPr>
              <a:t>17</a:t>
            </a:r>
            <a:endParaRPr lang="en-US" sz="1600" dirty="0"/>
          </a:p>
        </p:txBody>
      </p:sp>
      <p:sp>
        <p:nvSpPr>
          <p:cNvPr id="7" name="Shape 5"/>
          <p:cNvSpPr/>
          <p:nvPr/>
        </p:nvSpPr>
        <p:spPr>
          <a:xfrm>
            <a:off x="10789920" y="438912"/>
            <a:ext cx="548640" cy="548640"/>
          </a:xfrm>
          <a:prstGeom prst="ellipse">
            <a:avLst/>
          </a:prstGeom>
          <a:ln w="9525">
            <a:solidFill>
              <a:srgbClr val="C9A227"/>
            </a:solidFill>
            <a:prstDash val="solid"/>
          </a:ln>
        </p:spPr>
      </p:sp>
      <p:sp>
        <p:nvSpPr>
          <p:cNvPr id="8" name="Shape 6"/>
          <p:cNvSpPr/>
          <p:nvPr/>
        </p:nvSpPr>
        <p:spPr>
          <a:xfrm>
            <a:off x="10986516" y="361188"/>
            <a:ext cx="155448" cy="155448"/>
          </a:xfrm>
          <a:prstGeom prst="ellipse">
            <a:avLst/>
          </a:prstGeom>
          <a:solidFill>
            <a:srgbClr val="C9A227"/>
          </a:solidFill>
          <a:ln w="9525">
            <a:solidFill>
              <a:srgbClr val="C9A227"/>
            </a:solidFill>
            <a:prstDash val="solid"/>
          </a:ln>
        </p:spPr>
      </p:sp>
      <p:sp>
        <p:nvSpPr>
          <p:cNvPr id="9" name="Shape 7"/>
          <p:cNvSpPr/>
          <p:nvPr/>
        </p:nvSpPr>
        <p:spPr>
          <a:xfrm>
            <a:off x="11260836" y="635508"/>
            <a:ext cx="155448" cy="155448"/>
          </a:xfrm>
          <a:prstGeom prst="ellipse">
            <a:avLst/>
          </a:prstGeom>
          <a:solidFill>
            <a:srgbClr val="F7F3EA"/>
          </a:solidFill>
          <a:ln w="9525">
            <a:solidFill>
              <a:srgbClr val="C9A227"/>
            </a:solidFill>
            <a:prstDash val="solid"/>
          </a:ln>
        </p:spPr>
      </p:sp>
      <p:sp>
        <p:nvSpPr>
          <p:cNvPr id="10" name="Shape 8"/>
          <p:cNvSpPr/>
          <p:nvPr/>
        </p:nvSpPr>
        <p:spPr>
          <a:xfrm>
            <a:off x="10986516" y="909828"/>
            <a:ext cx="155448" cy="155448"/>
          </a:xfrm>
          <a:prstGeom prst="ellipse">
            <a:avLst/>
          </a:prstGeom>
          <a:solidFill>
            <a:srgbClr val="F7F3EA"/>
          </a:solidFill>
          <a:ln w="9525">
            <a:solidFill>
              <a:srgbClr val="C9A227"/>
            </a:solidFill>
            <a:prstDash val="solid"/>
          </a:ln>
        </p:spPr>
      </p:sp>
      <p:sp>
        <p:nvSpPr>
          <p:cNvPr id="11" name="Shape 9"/>
          <p:cNvSpPr/>
          <p:nvPr/>
        </p:nvSpPr>
        <p:spPr>
          <a:xfrm>
            <a:off x="10712196" y="635508"/>
            <a:ext cx="155448" cy="155448"/>
          </a:xfrm>
          <a:prstGeom prst="ellipse">
            <a:avLst/>
          </a:prstGeom>
          <a:solidFill>
            <a:srgbClr val="F7F3EA"/>
          </a:solidFill>
          <a:ln w="9525">
            <a:solidFill>
              <a:srgbClr val="C9A227"/>
            </a:solidFill>
            <a:prstDash val="solid"/>
          </a:ln>
        </p:spPr>
      </p:sp>
      <p:sp>
        <p:nvSpPr>
          <p:cNvPr id="12" name="Text 10"/>
          <p:cNvSpPr/>
          <p:nvPr/>
        </p:nvSpPr>
        <p:spPr>
          <a:xfrm>
            <a:off x="10145268" y="1097280"/>
            <a:ext cx="1239012" cy="274320"/>
          </a:xfrm>
          <a:prstGeom prst="rect">
            <a:avLst/>
          </a:prstGeom>
          <a:noFill/>
          <a:ln/>
        </p:spPr>
        <p:txBody>
          <a:bodyPr wrap="square" lIns="0" tIns="0" rIns="0" bIns="0" rtlCol="0" anchor="ctr"/>
          <a:lstStyle/>
          <a:p>
            <a:pPr algn="r" indent="0" marL="0">
              <a:buNone/>
            </a:pPr>
            <a:r>
              <a:rPr lang="en-US" sz="1600" b="1" spc="120" kern="0" dirty="0">
                <a:solidFill>
                  <a:srgbClr val="8A6D14"/>
                </a:solidFill>
                <a:latin typeface="Arial" pitchFamily="34" charset="0"/>
                <a:ea typeface="Arial" pitchFamily="34" charset="-122"/>
                <a:cs typeface="Arial" pitchFamily="34" charset="-120"/>
              </a:rPr>
              <a:t>CONNECT</a:t>
            </a:r>
            <a:endParaRPr lang="en-US" sz="1600" dirty="0"/>
          </a:p>
        </p:txBody>
      </p:sp>
      <p:sp>
        <p:nvSpPr>
          <p:cNvPr id="13" name="Text 11"/>
          <p:cNvSpPr/>
          <p:nvPr/>
        </p:nvSpPr>
        <p:spPr>
          <a:xfrm>
            <a:off x="813816" y="457200"/>
            <a:ext cx="9692640" cy="310896"/>
          </a:xfrm>
          <a:prstGeom prst="rect">
            <a:avLst/>
          </a:prstGeom>
          <a:noFill/>
          <a:ln/>
        </p:spPr>
        <p:txBody>
          <a:bodyPr wrap="square" lIns="0" tIns="0" rIns="0" bIns="0" rtlCol="0" anchor="ctr"/>
          <a:lstStyle/>
          <a:p>
            <a:pPr indent="0" marL="0">
              <a:buNone/>
            </a:pPr>
            <a:r>
              <a:rPr lang="en-US" sz="1600" b="1" spc="180" kern="0" dirty="0">
                <a:solidFill>
                  <a:srgbClr val="8A6D14"/>
                </a:solidFill>
                <a:latin typeface="Arial" pitchFamily="34" charset="0"/>
                <a:ea typeface="Arial" pitchFamily="34" charset="-122"/>
                <a:cs typeface="Arial" pitchFamily="34" charset="-120"/>
              </a:rPr>
              <a:t>STEP ONE  ·  FIRST IMPRESSIONS</a:t>
            </a:r>
            <a:endParaRPr lang="en-US" sz="1600" dirty="0"/>
          </a:p>
        </p:txBody>
      </p:sp>
      <p:sp>
        <p:nvSpPr>
          <p:cNvPr id="14" name="Text 12"/>
          <p:cNvSpPr/>
          <p:nvPr/>
        </p:nvSpPr>
        <p:spPr>
          <a:xfrm>
            <a:off x="813816" y="841248"/>
            <a:ext cx="9144000" cy="653735"/>
          </a:xfrm>
          <a:prstGeom prst="rect">
            <a:avLst/>
          </a:prstGeom>
          <a:noFill/>
          <a:ln/>
        </p:spPr>
        <p:txBody>
          <a:bodyPr wrap="square" lIns="0" tIns="0" rIns="0" bIns="0" rtlCol="0" anchor="t"/>
          <a:lstStyle/>
          <a:p>
            <a:pPr indent="0" marL="0">
              <a:lnSpc>
                <a:spcPct val="94000"/>
              </a:lnSpc>
              <a:buNone/>
            </a:pPr>
            <a:r>
              <a:rPr lang="en-US" sz="3400" b="1" dirty="0">
                <a:solidFill>
                  <a:srgbClr val="14213D"/>
                </a:solidFill>
                <a:latin typeface="Georgia" pitchFamily="34" charset="0"/>
                <a:ea typeface="Georgia" pitchFamily="34" charset="-122"/>
                <a:cs typeface="Georgia" pitchFamily="34" charset="-120"/>
              </a:rPr>
              <a:t>Create her project, then connect.</a:t>
            </a:r>
            <a:endParaRPr lang="en-US" sz="3400" dirty="0"/>
          </a:p>
        </p:txBody>
      </p:sp>
      <p:sp>
        <p:nvSpPr>
          <p:cNvPr id="15" name="Shape 13"/>
          <p:cNvSpPr/>
          <p:nvPr/>
        </p:nvSpPr>
        <p:spPr>
          <a:xfrm>
            <a:off x="813816" y="1677863"/>
            <a:ext cx="4663440" cy="2121408"/>
          </a:xfrm>
          <a:prstGeom prst="rect">
            <a:avLst/>
          </a:prstGeom>
          <a:solidFill>
            <a:srgbClr val="E8E2D2"/>
          </a:solidFill>
          <a:ln/>
        </p:spPr>
      </p:sp>
      <p:sp>
        <p:nvSpPr>
          <p:cNvPr id="16" name="Text 14"/>
          <p:cNvSpPr/>
          <p:nvPr/>
        </p:nvSpPr>
        <p:spPr>
          <a:xfrm>
            <a:off x="996696" y="1860743"/>
            <a:ext cx="4297680" cy="347472"/>
          </a:xfrm>
          <a:prstGeom prst="rect">
            <a:avLst/>
          </a:prstGeom>
          <a:noFill/>
          <a:ln/>
        </p:spPr>
        <p:txBody>
          <a:bodyPr wrap="square" lIns="0" tIns="0" rIns="0" bIns="0" rtlCol="0" anchor="t"/>
          <a:lstStyle/>
          <a:p>
            <a:pPr indent="0" marL="0">
              <a:buNone/>
            </a:pPr>
            <a:r>
              <a:rPr lang="en-US" sz="1600" b="1" spc="160" kern="0" dirty="0">
                <a:solidFill>
                  <a:srgbClr val="8A6D14"/>
                </a:solidFill>
                <a:latin typeface="Arial" pitchFamily="34" charset="0"/>
                <a:ea typeface="Arial" pitchFamily="34" charset="-122"/>
                <a:cs typeface="Arial" pitchFamily="34" charset="-120"/>
              </a:rPr>
              <a:t>THE SETUP</a:t>
            </a:r>
            <a:endParaRPr lang="en-US" sz="1600" dirty="0"/>
          </a:p>
        </p:txBody>
      </p:sp>
      <p:sp>
        <p:nvSpPr>
          <p:cNvPr id="17" name="Shape 15"/>
          <p:cNvSpPr/>
          <p:nvPr/>
        </p:nvSpPr>
        <p:spPr>
          <a:xfrm rot="2700000">
            <a:off x="996696" y="2395667"/>
            <a:ext cx="100584" cy="100584"/>
          </a:xfrm>
          <a:prstGeom prst="rect">
            <a:avLst/>
          </a:prstGeom>
          <a:solidFill>
            <a:srgbClr val="C9A227"/>
          </a:solidFill>
          <a:ln w="3175">
            <a:solidFill>
              <a:srgbClr val="C9A227"/>
            </a:solidFill>
            <a:prstDash val="solid"/>
          </a:ln>
        </p:spPr>
      </p:sp>
      <p:sp>
        <p:nvSpPr>
          <p:cNvPr id="18" name="Text 16"/>
          <p:cNvSpPr/>
          <p:nvPr/>
        </p:nvSpPr>
        <p:spPr>
          <a:xfrm>
            <a:off x="1307592" y="2317943"/>
            <a:ext cx="3986784" cy="347472"/>
          </a:xfrm>
          <a:prstGeom prst="rect">
            <a:avLst/>
          </a:prstGeom>
          <a:noFill/>
          <a:ln/>
        </p:spPr>
        <p:txBody>
          <a:bodyPr wrap="square" lIns="0" tIns="0" rIns="0" bIns="0" rtlCol="0" anchor="t"/>
          <a:lstStyle/>
          <a:p>
            <a:pPr indent="0" marL="0">
              <a:lnSpc>
                <a:spcPct val="116000"/>
              </a:lnSpc>
              <a:buNone/>
            </a:pPr>
            <a:r>
              <a:rPr lang="en-US" sz="1600" dirty="0">
                <a:solidFill>
                  <a:srgbClr val="14213D"/>
                </a:solidFill>
                <a:latin typeface="Arial" pitchFamily="34" charset="0"/>
                <a:ea typeface="Arial" pitchFamily="34" charset="-122"/>
                <a:cs typeface="Arial" pitchFamily="34" charset="-120"/>
              </a:rPr>
              <a:t>Projects, New project. Name it Donna.</a:t>
            </a:r>
            <a:endParaRPr lang="en-US" sz="1600" dirty="0"/>
          </a:p>
        </p:txBody>
      </p:sp>
      <p:sp>
        <p:nvSpPr>
          <p:cNvPr id="19" name="Shape 17"/>
          <p:cNvSpPr/>
          <p:nvPr/>
        </p:nvSpPr>
        <p:spPr>
          <a:xfrm rot="2700000">
            <a:off x="996696" y="2871155"/>
            <a:ext cx="100584" cy="100584"/>
          </a:xfrm>
          <a:prstGeom prst="rect">
            <a:avLst/>
          </a:prstGeom>
          <a:solidFill>
            <a:srgbClr val="C9A227"/>
          </a:solidFill>
          <a:ln w="3175">
            <a:solidFill>
              <a:srgbClr val="C9A227"/>
            </a:solidFill>
            <a:prstDash val="solid"/>
          </a:ln>
        </p:spPr>
      </p:sp>
      <p:sp>
        <p:nvSpPr>
          <p:cNvPr id="20" name="Text 18"/>
          <p:cNvSpPr/>
          <p:nvPr/>
        </p:nvSpPr>
        <p:spPr>
          <a:xfrm>
            <a:off x="1307592" y="2793431"/>
            <a:ext cx="3986784" cy="347472"/>
          </a:xfrm>
          <a:prstGeom prst="rect">
            <a:avLst/>
          </a:prstGeom>
          <a:noFill/>
          <a:ln/>
        </p:spPr>
        <p:txBody>
          <a:bodyPr wrap="square" lIns="0" tIns="0" rIns="0" bIns="0" rtlCol="0" anchor="t"/>
          <a:lstStyle/>
          <a:p>
            <a:pPr indent="0" marL="0">
              <a:lnSpc>
                <a:spcPct val="116000"/>
              </a:lnSpc>
              <a:buNone/>
            </a:pPr>
            <a:r>
              <a:rPr lang="en-US" sz="1600" dirty="0">
                <a:solidFill>
                  <a:srgbClr val="14213D"/>
                </a:solidFill>
                <a:latin typeface="Arial" pitchFamily="34" charset="0"/>
                <a:ea typeface="Arial" pitchFamily="34" charset="-122"/>
                <a:cs typeface="Arial" pitchFamily="34" charset="-120"/>
              </a:rPr>
              <a:t>Customize, then Connectors.</a:t>
            </a:r>
            <a:endParaRPr lang="en-US" sz="1600" dirty="0"/>
          </a:p>
        </p:txBody>
      </p:sp>
      <p:sp>
        <p:nvSpPr>
          <p:cNvPr id="21" name="Shape 19"/>
          <p:cNvSpPr/>
          <p:nvPr/>
        </p:nvSpPr>
        <p:spPr>
          <a:xfrm rot="2700000">
            <a:off x="996696" y="3346643"/>
            <a:ext cx="100584" cy="100584"/>
          </a:xfrm>
          <a:prstGeom prst="rect">
            <a:avLst/>
          </a:prstGeom>
          <a:solidFill>
            <a:srgbClr val="C9A227"/>
          </a:solidFill>
          <a:ln w="3175">
            <a:solidFill>
              <a:srgbClr val="C9A227"/>
            </a:solidFill>
            <a:prstDash val="solid"/>
          </a:ln>
        </p:spPr>
      </p:sp>
      <p:sp>
        <p:nvSpPr>
          <p:cNvPr id="22" name="Text 20"/>
          <p:cNvSpPr/>
          <p:nvPr/>
        </p:nvSpPr>
        <p:spPr>
          <a:xfrm>
            <a:off x="1307592" y="3268919"/>
            <a:ext cx="3986784" cy="347472"/>
          </a:xfrm>
          <a:prstGeom prst="rect">
            <a:avLst/>
          </a:prstGeom>
          <a:noFill/>
          <a:ln/>
        </p:spPr>
        <p:txBody>
          <a:bodyPr wrap="square" lIns="0" tIns="0" rIns="0" bIns="0" rtlCol="0" anchor="t"/>
          <a:lstStyle/>
          <a:p>
            <a:pPr indent="0" marL="0">
              <a:lnSpc>
                <a:spcPct val="116000"/>
              </a:lnSpc>
              <a:buNone/>
            </a:pPr>
            <a:r>
              <a:rPr lang="en-US" sz="1600" dirty="0">
                <a:solidFill>
                  <a:srgbClr val="14213D"/>
                </a:solidFill>
                <a:latin typeface="Arial" pitchFamily="34" charset="0"/>
                <a:ea typeface="Arial" pitchFamily="34" charset="-122"/>
                <a:cs typeface="Arial" pitchFamily="34" charset="-120"/>
              </a:rPr>
              <a:t>Connect Gmail, Calendar, and Drive.</a:t>
            </a:r>
            <a:endParaRPr lang="en-US" sz="1600" dirty="0"/>
          </a:p>
        </p:txBody>
      </p:sp>
      <p:sp>
        <p:nvSpPr>
          <p:cNvPr id="23" name="Shape 21"/>
          <p:cNvSpPr/>
          <p:nvPr/>
        </p:nvSpPr>
        <p:spPr>
          <a:xfrm>
            <a:off x="813816" y="3982151"/>
            <a:ext cx="4663440" cy="1225296"/>
          </a:xfrm>
          <a:prstGeom prst="rect">
            <a:avLst/>
          </a:prstGeom>
          <a:solidFill>
            <a:srgbClr val="E8E2D2"/>
          </a:solidFill>
          <a:ln/>
        </p:spPr>
      </p:sp>
      <p:sp>
        <p:nvSpPr>
          <p:cNvPr id="24" name="Shape 22"/>
          <p:cNvSpPr/>
          <p:nvPr/>
        </p:nvSpPr>
        <p:spPr>
          <a:xfrm rot="2700000">
            <a:off x="996696" y="4242755"/>
            <a:ext cx="100584" cy="100584"/>
          </a:xfrm>
          <a:prstGeom prst="rect">
            <a:avLst/>
          </a:prstGeom>
          <a:solidFill>
            <a:srgbClr val="C9A227"/>
          </a:solidFill>
          <a:ln w="3175">
            <a:solidFill>
              <a:srgbClr val="C9A227"/>
            </a:solidFill>
            <a:prstDash val="solid"/>
          </a:ln>
        </p:spPr>
      </p:sp>
      <p:sp>
        <p:nvSpPr>
          <p:cNvPr id="25" name="Text 23"/>
          <p:cNvSpPr/>
          <p:nvPr/>
        </p:nvSpPr>
        <p:spPr>
          <a:xfrm>
            <a:off x="1307592" y="4165031"/>
            <a:ext cx="3986784" cy="859536"/>
          </a:xfrm>
          <a:prstGeom prst="rect">
            <a:avLst/>
          </a:prstGeom>
          <a:noFill/>
          <a:ln/>
        </p:spPr>
        <p:txBody>
          <a:bodyPr wrap="square" lIns="0" tIns="0" rIns="0" bIns="0" rtlCol="0" anchor="t"/>
          <a:lstStyle/>
          <a:p>
            <a:pPr indent="0" marL="0">
              <a:lnSpc>
                <a:spcPct val="116000"/>
              </a:lnSpc>
              <a:buNone/>
            </a:pPr>
            <a:r>
              <a:rPr lang="en-US" sz="1600" b="1" dirty="0">
                <a:solidFill>
                  <a:srgbClr val="8A6D14"/>
                </a:solidFill>
                <a:latin typeface="Arial" pitchFamily="34" charset="0"/>
                <a:ea typeface="Arial" pitchFamily="34" charset="-122"/>
                <a:cs typeface="Arial" pitchFamily="34" charset="-120"/>
              </a:rPr>
              <a:t>Still stuck? </a:t>
            </a:r>
            <a:pPr indent="0" marL="0">
              <a:lnSpc>
                <a:spcPct val="116000"/>
              </a:lnSpc>
              <a:buNone/>
            </a:pPr>
            <a:r>
              <a:rPr lang="en-US" sz="1600" dirty="0">
                <a:solidFill>
                  <a:srgbClr val="14213D"/>
                </a:solidFill>
                <a:latin typeface="Arial" pitchFamily="34" charset="0"/>
                <a:ea typeface="Arial" pitchFamily="34" charset="-122"/>
                <a:cs typeface="Arial" pitchFamily="34" charset="-120"/>
              </a:rPr>
              <a:t>Say so in the chat or raise your hand. A TA takes you into a Zoom room, 1:1.</a:t>
            </a:r>
            <a:endParaRPr lang="en-US" sz="1600" dirty="0"/>
          </a:p>
        </p:txBody>
      </p:sp>
      <p:sp>
        <p:nvSpPr>
          <p:cNvPr id="26" name="Shape 24"/>
          <p:cNvSpPr/>
          <p:nvPr/>
        </p:nvSpPr>
        <p:spPr>
          <a:xfrm>
            <a:off x="5751576" y="1677863"/>
            <a:ext cx="5632704" cy="1508760"/>
          </a:xfrm>
          <a:prstGeom prst="rect">
            <a:avLst/>
          </a:prstGeom>
          <a:solidFill>
            <a:srgbClr val="14213D"/>
          </a:solidFill>
          <a:ln/>
        </p:spPr>
      </p:sp>
      <p:sp>
        <p:nvSpPr>
          <p:cNvPr id="27" name="Text 25"/>
          <p:cNvSpPr/>
          <p:nvPr/>
        </p:nvSpPr>
        <p:spPr>
          <a:xfrm>
            <a:off x="6007608" y="1833311"/>
            <a:ext cx="5120640" cy="274320"/>
          </a:xfrm>
          <a:prstGeom prst="rect">
            <a:avLst/>
          </a:prstGeom>
          <a:noFill/>
          <a:ln/>
        </p:spPr>
        <p:txBody>
          <a:bodyPr wrap="square" lIns="0" tIns="0" rIns="0" bIns="0" rtlCol="0" anchor="ctr"/>
          <a:lstStyle/>
          <a:p>
            <a:pPr indent="0" marL="0">
              <a:buNone/>
            </a:pPr>
            <a:r>
              <a:rPr lang="en-US" sz="1600" b="1" spc="140" kern="0" dirty="0">
                <a:solidFill>
                  <a:srgbClr val="E7C766"/>
                </a:solidFill>
                <a:latin typeface="Arial" pitchFamily="34" charset="0"/>
                <a:ea typeface="Arial" pitchFamily="34" charset="-122"/>
                <a:cs typeface="Arial" pitchFamily="34" charset="-120"/>
              </a:rPr>
              <a:t>PROMPT 1 · THE QUESTION</a:t>
            </a:r>
            <a:endParaRPr lang="en-US" sz="1600" dirty="0"/>
          </a:p>
        </p:txBody>
      </p:sp>
      <p:sp>
        <p:nvSpPr>
          <p:cNvPr id="28" name="Text 26"/>
          <p:cNvSpPr/>
          <p:nvPr/>
        </p:nvSpPr>
        <p:spPr>
          <a:xfrm>
            <a:off x="6007608" y="2189927"/>
            <a:ext cx="5120640" cy="868680"/>
          </a:xfrm>
          <a:prstGeom prst="rect">
            <a:avLst/>
          </a:prstGeom>
          <a:noFill/>
          <a:ln/>
        </p:spPr>
        <p:txBody>
          <a:bodyPr wrap="square" lIns="0" tIns="0" rIns="0" bIns="0" rtlCol="0" anchor="t"/>
          <a:lstStyle/>
          <a:p>
            <a:pPr indent="0" marL="0">
              <a:lnSpc>
                <a:spcPts val="1940"/>
              </a:lnSpc>
              <a:buNone/>
            </a:pPr>
            <a:r>
              <a:rPr lang="en-US" sz="1600" dirty="0">
                <a:solidFill>
                  <a:srgbClr val="F7F3EA"/>
                </a:solidFill>
                <a:latin typeface="Courier New" pitchFamily="34" charset="0"/>
                <a:ea typeface="Courier New" pitchFamily="34" charset="-122"/>
                <a:cs typeface="Courier New" pitchFamily="34" charset="-120"/>
              </a:rPr>
              <a:t>What landed in my inbox in the last 24</a:t>
            </a:r>
            <a:endParaRPr lang="en-US" sz="1600" dirty="0"/>
          </a:p>
          <a:p>
            <a:pPr indent="0" marL="0">
              <a:lnSpc>
                <a:spcPts val="1940"/>
              </a:lnSpc>
              <a:buNone/>
            </a:pPr>
            <a:r>
              <a:rPr lang="en-US" sz="1600" dirty="0">
                <a:solidFill>
                  <a:srgbClr val="F7F3EA"/>
                </a:solidFill>
                <a:latin typeface="Courier New" pitchFamily="34" charset="0"/>
                <a:ea typeface="Courier New" pitchFamily="34" charset="-122"/>
                <a:cs typeface="Courier New" pitchFamily="34" charset="-120"/>
              </a:rPr>
              <a:t>hours that actually needs ME? Top 5, one</a:t>
            </a:r>
            <a:endParaRPr lang="en-US" sz="1600" dirty="0"/>
          </a:p>
          <a:p>
            <a:pPr indent="0" marL="0">
              <a:lnSpc>
                <a:spcPts val="1940"/>
              </a:lnSpc>
              <a:buNone/>
            </a:pPr>
            <a:r>
              <a:rPr lang="en-US" sz="1600" dirty="0">
                <a:solidFill>
                  <a:srgbClr val="F7F3EA"/>
                </a:solidFill>
                <a:latin typeface="Courier New" pitchFamily="34" charset="0"/>
                <a:ea typeface="Courier New" pitchFamily="34" charset="-122"/>
                <a:cs typeface="Courier New" pitchFamily="34" charset="-120"/>
              </a:rPr>
              <a:t>line each.</a:t>
            </a:r>
            <a:endParaRPr lang="en-US" sz="1600" dirty="0"/>
          </a:p>
        </p:txBody>
      </p:sp>
      <p:sp>
        <p:nvSpPr>
          <p:cNvPr id="29" name="Shape 27"/>
          <p:cNvSpPr/>
          <p:nvPr/>
        </p:nvSpPr>
        <p:spPr>
          <a:xfrm>
            <a:off x="5751576" y="3332927"/>
            <a:ext cx="5632704" cy="2002536"/>
          </a:xfrm>
          <a:prstGeom prst="rect">
            <a:avLst/>
          </a:prstGeom>
          <a:solidFill>
            <a:srgbClr val="14213D"/>
          </a:solidFill>
          <a:ln/>
        </p:spPr>
      </p:sp>
      <p:sp>
        <p:nvSpPr>
          <p:cNvPr id="30" name="Text 28"/>
          <p:cNvSpPr/>
          <p:nvPr/>
        </p:nvSpPr>
        <p:spPr>
          <a:xfrm>
            <a:off x="6007608" y="3488375"/>
            <a:ext cx="5120640" cy="274320"/>
          </a:xfrm>
          <a:prstGeom prst="rect">
            <a:avLst/>
          </a:prstGeom>
          <a:noFill/>
          <a:ln/>
        </p:spPr>
        <p:txBody>
          <a:bodyPr wrap="square" lIns="0" tIns="0" rIns="0" bIns="0" rtlCol="0" anchor="ctr"/>
          <a:lstStyle/>
          <a:p>
            <a:pPr indent="0" marL="0">
              <a:buNone/>
            </a:pPr>
            <a:r>
              <a:rPr lang="en-US" sz="1600" b="1" spc="140" kern="0" dirty="0">
                <a:solidFill>
                  <a:srgbClr val="E7C766"/>
                </a:solidFill>
                <a:latin typeface="Arial" pitchFamily="34" charset="0"/>
                <a:ea typeface="Arial" pitchFamily="34" charset="-122"/>
                <a:cs typeface="Arial" pitchFamily="34" charset="-120"/>
              </a:rPr>
              <a:t>PROMPT 2 · THE FIRST DRAFT</a:t>
            </a:r>
            <a:endParaRPr lang="en-US" sz="1600" dirty="0"/>
          </a:p>
        </p:txBody>
      </p:sp>
      <p:sp>
        <p:nvSpPr>
          <p:cNvPr id="31" name="Text 29"/>
          <p:cNvSpPr/>
          <p:nvPr/>
        </p:nvSpPr>
        <p:spPr>
          <a:xfrm>
            <a:off x="6007608" y="3844991"/>
            <a:ext cx="5120640" cy="1362456"/>
          </a:xfrm>
          <a:prstGeom prst="rect">
            <a:avLst/>
          </a:prstGeom>
          <a:noFill/>
          <a:ln/>
        </p:spPr>
        <p:txBody>
          <a:bodyPr wrap="square" lIns="0" tIns="0" rIns="0" bIns="0" rtlCol="0" anchor="t"/>
          <a:lstStyle/>
          <a:p>
            <a:pPr indent="0" marL="0">
              <a:lnSpc>
                <a:spcPts val="1940"/>
              </a:lnSpc>
              <a:buNone/>
            </a:pPr>
            <a:r>
              <a:rPr lang="en-US" sz="1600" dirty="0">
                <a:solidFill>
                  <a:srgbClr val="F7F3EA"/>
                </a:solidFill>
                <a:latin typeface="Courier New" pitchFamily="34" charset="0"/>
                <a:ea typeface="Courier New" pitchFamily="34" charset="-122"/>
                <a:cs typeface="Courier New" pitchFamily="34" charset="-120"/>
              </a:rPr>
              <a:t>Draft a reply to #1. Under 100 words,</a:t>
            </a:r>
            <a:endParaRPr lang="en-US" sz="1600" dirty="0"/>
          </a:p>
          <a:p>
            <a:pPr indent="0" marL="0">
              <a:lnSpc>
                <a:spcPts val="1940"/>
              </a:lnSpc>
              <a:buNone/>
            </a:pPr>
            <a:r>
              <a:rPr lang="en-US" sz="1600" dirty="0">
                <a:solidFill>
                  <a:srgbClr val="F7F3EA"/>
                </a:solidFill>
                <a:latin typeface="Courier New" pitchFamily="34" charset="0"/>
                <a:ea typeface="Courier New" pitchFamily="34" charset="-122"/>
                <a:cs typeface="Courier New" pitchFamily="34" charset="-120"/>
              </a:rPr>
              <a:t>warm but decisive. Read my sent emails</a:t>
            </a:r>
            <a:endParaRPr lang="en-US" sz="1600" dirty="0"/>
          </a:p>
          <a:p>
            <a:pPr indent="0" marL="0">
              <a:lnSpc>
                <a:spcPts val="1940"/>
              </a:lnSpc>
              <a:buNone/>
            </a:pPr>
            <a:r>
              <a:rPr lang="en-US" sz="1600" dirty="0">
                <a:solidFill>
                  <a:srgbClr val="F7F3EA"/>
                </a:solidFill>
                <a:latin typeface="Courier New" pitchFamily="34" charset="0"/>
                <a:ea typeface="Courier New" pitchFamily="34" charset="-122"/>
                <a:cs typeface="Courier New" pitchFamily="34" charset="-120"/>
              </a:rPr>
              <a:t>and learn how I write. Never use em</a:t>
            </a:r>
            <a:endParaRPr lang="en-US" sz="1600" dirty="0"/>
          </a:p>
          <a:p>
            <a:pPr indent="0" marL="0">
              <a:lnSpc>
                <a:spcPts val="1940"/>
              </a:lnSpc>
              <a:buNone/>
            </a:pPr>
            <a:r>
              <a:rPr lang="en-US" sz="1600" dirty="0">
                <a:solidFill>
                  <a:srgbClr val="F7F3EA"/>
                </a:solidFill>
                <a:latin typeface="Courier New" pitchFamily="34" charset="0"/>
                <a:ea typeface="Courier New" pitchFamily="34" charset="-122"/>
                <a:cs typeface="Courier New" pitchFamily="34" charset="-120"/>
              </a:rPr>
              <a:t>dashes. Never use AI speech patterns.</a:t>
            </a:r>
            <a:endParaRPr lang="en-US" sz="1600" dirty="0"/>
          </a:p>
          <a:p>
            <a:pPr indent="0" marL="0">
              <a:lnSpc>
                <a:spcPts val="1940"/>
              </a:lnSpc>
              <a:buNone/>
            </a:pPr>
            <a:r>
              <a:rPr lang="en-US" sz="1600" dirty="0">
                <a:solidFill>
                  <a:srgbClr val="F7F3EA"/>
                </a:solidFill>
                <a:latin typeface="Courier New" pitchFamily="34" charset="0"/>
                <a:ea typeface="Courier New" pitchFamily="34" charset="-122"/>
                <a:cs typeface="Courier New" pitchFamily="34" charset="-120"/>
              </a:rPr>
              <a:t>Save it as a draft. Do not send it.</a:t>
            </a:r>
            <a:endParaRPr lang="en-US" sz="1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4213D"/>
        </a:solidFill>
      </p:bgPr>
    </p:bg>
    <p:spTree>
      <p:nvGrpSpPr>
        <p:cNvPr id="1" name=""/>
        <p:cNvGrpSpPr/>
        <p:nvPr/>
      </p:nvGrpSpPr>
      <p:grpSpPr>
        <a:xfrm>
          <a:off x="0" y="0"/>
          <a:ext cx="0" cy="0"/>
          <a:chOff x="0" y="0"/>
          <a:chExt cx="0" cy="0"/>
        </a:xfrm>
      </p:grpSpPr>
      <p:sp>
        <p:nvSpPr>
          <p:cNvPr id="2" name="Shape 0"/>
          <p:cNvSpPr/>
          <p:nvPr/>
        </p:nvSpPr>
        <p:spPr>
          <a:xfrm>
            <a:off x="813816" y="5779008"/>
            <a:ext cx="10570464" cy="0"/>
          </a:xfrm>
          <a:prstGeom prst="line">
            <a:avLst/>
          </a:prstGeom>
          <a:noFill/>
          <a:ln w="9525">
            <a:solidFill>
              <a:srgbClr val="C9A227"/>
            </a:solidFill>
            <a:prstDash val="solid"/>
          </a:ln>
        </p:spPr>
      </p:sp>
      <p:sp>
        <p:nvSpPr>
          <p:cNvPr id="3" name="Text 1"/>
          <p:cNvSpPr/>
          <p:nvPr/>
        </p:nvSpPr>
        <p:spPr>
          <a:xfrm>
            <a:off x="813816" y="5907024"/>
            <a:ext cx="3358896" cy="274320"/>
          </a:xfrm>
          <a:prstGeom prst="rect">
            <a:avLst/>
          </a:prstGeom>
          <a:noFill/>
          <a:ln/>
        </p:spPr>
        <p:txBody>
          <a:bodyPr wrap="square" lIns="0" tIns="0" rIns="0" bIns="0" rtlCol="0" anchor="ctr"/>
          <a:lstStyle/>
          <a:p>
            <a:pPr indent="0" marL="0">
              <a:buNone/>
            </a:pPr>
            <a:r>
              <a:rPr lang="en-US" sz="1600" spc="120" kern="0" dirty="0">
                <a:solidFill>
                  <a:srgbClr val="AFA893"/>
                </a:solidFill>
                <a:latin typeface="Arial" pitchFamily="34" charset="0"/>
                <a:ea typeface="Arial" pitchFamily="34" charset="-122"/>
                <a:cs typeface="Arial" pitchFamily="34" charset="-120"/>
              </a:rPr>
              <a:t>BUILD YOUR OWN DONNA</a:t>
            </a:r>
            <a:endParaRPr lang="en-US" sz="1600" dirty="0"/>
          </a:p>
        </p:txBody>
      </p:sp>
      <p:sp>
        <p:nvSpPr>
          <p:cNvPr id="4" name="Shape 2"/>
          <p:cNvSpPr/>
          <p:nvPr/>
        </p:nvSpPr>
        <p:spPr>
          <a:xfrm rot="2700000">
            <a:off x="4227576" y="6012180"/>
            <a:ext cx="64008" cy="64008"/>
          </a:xfrm>
          <a:prstGeom prst="rect">
            <a:avLst/>
          </a:prstGeom>
          <a:solidFill>
            <a:srgbClr val="C9A227"/>
          </a:solidFill>
          <a:ln w="3175">
            <a:solidFill>
              <a:srgbClr val="C9A227"/>
            </a:solidFill>
            <a:prstDash val="solid"/>
          </a:ln>
        </p:spPr>
      </p:sp>
      <p:sp>
        <p:nvSpPr>
          <p:cNvPr id="5" name="Text 3"/>
          <p:cNvSpPr/>
          <p:nvPr/>
        </p:nvSpPr>
        <p:spPr>
          <a:xfrm>
            <a:off x="4410456" y="5907024"/>
            <a:ext cx="2712720" cy="274320"/>
          </a:xfrm>
          <a:prstGeom prst="rect">
            <a:avLst/>
          </a:prstGeom>
          <a:noFill/>
          <a:ln/>
        </p:spPr>
        <p:txBody>
          <a:bodyPr wrap="square" lIns="0" tIns="0" rIns="0" bIns="0" rtlCol="0" anchor="ctr"/>
          <a:lstStyle/>
          <a:p>
            <a:pPr indent="0" marL="0">
              <a:buNone/>
            </a:pPr>
            <a:r>
              <a:rPr lang="en-US" sz="1600" spc="120" kern="0" dirty="0">
                <a:solidFill>
                  <a:srgbClr val="AFA893"/>
                </a:solidFill>
                <a:latin typeface="Arial" pitchFamily="34" charset="0"/>
                <a:ea typeface="Arial" pitchFamily="34" charset="-122"/>
                <a:cs typeface="Arial" pitchFamily="34" charset="-120"/>
              </a:rPr>
              <a:t>OCTOBER 21, 2026</a:t>
            </a:r>
            <a:endParaRPr lang="en-US" sz="1600" dirty="0"/>
          </a:p>
        </p:txBody>
      </p:sp>
      <p:sp>
        <p:nvSpPr>
          <p:cNvPr id="6" name="Text 4"/>
          <p:cNvSpPr/>
          <p:nvPr/>
        </p:nvSpPr>
        <p:spPr>
          <a:xfrm>
            <a:off x="10652760" y="5907024"/>
            <a:ext cx="731520" cy="274320"/>
          </a:xfrm>
          <a:prstGeom prst="rect">
            <a:avLst/>
          </a:prstGeom>
          <a:noFill/>
          <a:ln/>
        </p:spPr>
        <p:txBody>
          <a:bodyPr wrap="square" lIns="0" tIns="0" rIns="0" bIns="0" rtlCol="0" anchor="ctr"/>
          <a:lstStyle/>
          <a:p>
            <a:pPr algn="r" indent="0" marL="0">
              <a:buNone/>
            </a:pPr>
            <a:r>
              <a:rPr lang="en-US" sz="1600" spc="120" kern="0" dirty="0">
                <a:solidFill>
                  <a:srgbClr val="AFA893"/>
                </a:solidFill>
                <a:latin typeface="Arial" pitchFamily="34" charset="0"/>
                <a:ea typeface="Arial" pitchFamily="34" charset="-122"/>
                <a:cs typeface="Arial" pitchFamily="34" charset="-120"/>
              </a:rPr>
              <a:t>18</a:t>
            </a:r>
            <a:endParaRPr lang="en-US" sz="1600" dirty="0"/>
          </a:p>
        </p:txBody>
      </p:sp>
      <p:sp>
        <p:nvSpPr>
          <p:cNvPr id="7" name="Shape 5"/>
          <p:cNvSpPr/>
          <p:nvPr/>
        </p:nvSpPr>
        <p:spPr>
          <a:xfrm>
            <a:off x="10789920" y="438912"/>
            <a:ext cx="548640" cy="548640"/>
          </a:xfrm>
          <a:prstGeom prst="ellipse">
            <a:avLst/>
          </a:prstGeom>
          <a:ln w="9525">
            <a:solidFill>
              <a:srgbClr val="C9A227"/>
            </a:solidFill>
            <a:prstDash val="solid"/>
          </a:ln>
        </p:spPr>
      </p:sp>
      <p:sp>
        <p:nvSpPr>
          <p:cNvPr id="8" name="Shape 6"/>
          <p:cNvSpPr/>
          <p:nvPr/>
        </p:nvSpPr>
        <p:spPr>
          <a:xfrm>
            <a:off x="10986516" y="361188"/>
            <a:ext cx="155448" cy="155448"/>
          </a:xfrm>
          <a:prstGeom prst="ellipse">
            <a:avLst/>
          </a:prstGeom>
          <a:solidFill>
            <a:srgbClr val="C9A227"/>
          </a:solidFill>
          <a:ln w="9525">
            <a:solidFill>
              <a:srgbClr val="C9A227"/>
            </a:solidFill>
            <a:prstDash val="solid"/>
          </a:ln>
        </p:spPr>
      </p:sp>
      <p:sp>
        <p:nvSpPr>
          <p:cNvPr id="9" name="Shape 7"/>
          <p:cNvSpPr/>
          <p:nvPr/>
        </p:nvSpPr>
        <p:spPr>
          <a:xfrm>
            <a:off x="11260836" y="635508"/>
            <a:ext cx="155448" cy="155448"/>
          </a:xfrm>
          <a:prstGeom prst="ellipse">
            <a:avLst/>
          </a:prstGeom>
          <a:solidFill>
            <a:srgbClr val="14213D"/>
          </a:solidFill>
          <a:ln w="9525">
            <a:solidFill>
              <a:srgbClr val="C9A227"/>
            </a:solidFill>
            <a:prstDash val="solid"/>
          </a:ln>
        </p:spPr>
      </p:sp>
      <p:sp>
        <p:nvSpPr>
          <p:cNvPr id="10" name="Shape 8"/>
          <p:cNvSpPr/>
          <p:nvPr/>
        </p:nvSpPr>
        <p:spPr>
          <a:xfrm>
            <a:off x="10986516" y="909828"/>
            <a:ext cx="155448" cy="155448"/>
          </a:xfrm>
          <a:prstGeom prst="ellipse">
            <a:avLst/>
          </a:prstGeom>
          <a:solidFill>
            <a:srgbClr val="14213D"/>
          </a:solidFill>
          <a:ln w="9525">
            <a:solidFill>
              <a:srgbClr val="C9A227"/>
            </a:solidFill>
            <a:prstDash val="solid"/>
          </a:ln>
        </p:spPr>
      </p:sp>
      <p:sp>
        <p:nvSpPr>
          <p:cNvPr id="11" name="Shape 9"/>
          <p:cNvSpPr/>
          <p:nvPr/>
        </p:nvSpPr>
        <p:spPr>
          <a:xfrm>
            <a:off x="10712196" y="635508"/>
            <a:ext cx="155448" cy="155448"/>
          </a:xfrm>
          <a:prstGeom prst="ellipse">
            <a:avLst/>
          </a:prstGeom>
          <a:solidFill>
            <a:srgbClr val="14213D"/>
          </a:solidFill>
          <a:ln w="9525">
            <a:solidFill>
              <a:srgbClr val="C9A227"/>
            </a:solidFill>
            <a:prstDash val="solid"/>
          </a:ln>
        </p:spPr>
      </p:sp>
      <p:sp>
        <p:nvSpPr>
          <p:cNvPr id="12" name="Text 10"/>
          <p:cNvSpPr/>
          <p:nvPr/>
        </p:nvSpPr>
        <p:spPr>
          <a:xfrm>
            <a:off x="10145268" y="1097280"/>
            <a:ext cx="1239012" cy="274320"/>
          </a:xfrm>
          <a:prstGeom prst="rect">
            <a:avLst/>
          </a:prstGeom>
          <a:noFill/>
          <a:ln/>
        </p:spPr>
        <p:txBody>
          <a:bodyPr wrap="square" lIns="0" tIns="0" rIns="0" bIns="0" rtlCol="0" anchor="ctr"/>
          <a:lstStyle/>
          <a:p>
            <a:pPr algn="r" indent="0" marL="0">
              <a:buNone/>
            </a:pPr>
            <a:r>
              <a:rPr lang="en-US" sz="1600" b="1" spc="120" kern="0" dirty="0">
                <a:solidFill>
                  <a:srgbClr val="E7C766"/>
                </a:solidFill>
                <a:latin typeface="Arial" pitchFamily="34" charset="0"/>
                <a:ea typeface="Arial" pitchFamily="34" charset="-122"/>
                <a:cs typeface="Arial" pitchFamily="34" charset="-120"/>
              </a:rPr>
              <a:t>CONNECT</a:t>
            </a:r>
            <a:endParaRPr lang="en-US" sz="1600" dirty="0"/>
          </a:p>
        </p:txBody>
      </p:sp>
      <p:sp>
        <p:nvSpPr>
          <p:cNvPr id="13" name="Text 11"/>
          <p:cNvSpPr/>
          <p:nvPr/>
        </p:nvSpPr>
        <p:spPr>
          <a:xfrm>
            <a:off x="813816" y="457200"/>
            <a:ext cx="9692640" cy="310896"/>
          </a:xfrm>
          <a:prstGeom prst="rect">
            <a:avLst/>
          </a:prstGeom>
          <a:noFill/>
          <a:ln/>
        </p:spPr>
        <p:txBody>
          <a:bodyPr wrap="square" lIns="0" tIns="0" rIns="0" bIns="0" rtlCol="0" anchor="ctr"/>
          <a:lstStyle/>
          <a:p>
            <a:pPr indent="0" marL="0">
              <a:buNone/>
            </a:pPr>
            <a:r>
              <a:rPr lang="en-US" sz="1600" b="1" spc="180" kern="0" dirty="0">
                <a:solidFill>
                  <a:srgbClr val="E7C766"/>
                </a:solidFill>
                <a:latin typeface="Arial" pitchFamily="34" charset="0"/>
                <a:ea typeface="Arial" pitchFamily="34" charset="-122"/>
                <a:cs typeface="Arial" pitchFamily="34" charset="-120"/>
              </a:rPr>
              <a:t>STEP ONE  ·  CHECKPOINT</a:t>
            </a:r>
            <a:endParaRPr lang="en-US" sz="1600" dirty="0"/>
          </a:p>
        </p:txBody>
      </p:sp>
      <p:sp>
        <p:nvSpPr>
          <p:cNvPr id="14" name="Shape 12"/>
          <p:cNvSpPr/>
          <p:nvPr/>
        </p:nvSpPr>
        <p:spPr>
          <a:xfrm rot="2700000">
            <a:off x="6046013" y="2048256"/>
            <a:ext cx="128016" cy="128016"/>
          </a:xfrm>
          <a:prstGeom prst="rect">
            <a:avLst/>
          </a:prstGeom>
          <a:solidFill>
            <a:srgbClr val="C9A227"/>
          </a:solidFill>
          <a:ln w="3175">
            <a:solidFill>
              <a:srgbClr val="C9A227"/>
            </a:solidFill>
            <a:prstDash val="solid"/>
          </a:ln>
        </p:spPr>
      </p:sp>
      <p:sp>
        <p:nvSpPr>
          <p:cNvPr id="15" name="Text 13"/>
          <p:cNvSpPr/>
          <p:nvPr/>
        </p:nvSpPr>
        <p:spPr>
          <a:xfrm>
            <a:off x="1340968" y="2395728"/>
            <a:ext cx="9509760" cy="1399642"/>
          </a:xfrm>
          <a:prstGeom prst="rect">
            <a:avLst/>
          </a:prstGeom>
          <a:noFill/>
          <a:ln/>
        </p:spPr>
        <p:txBody>
          <a:bodyPr wrap="square" lIns="0" tIns="0" rIns="0" bIns="0" rtlCol="0" anchor="t"/>
          <a:lstStyle/>
          <a:p>
            <a:pPr algn="ctr" indent="0" marL="0">
              <a:buNone/>
            </a:pPr>
            <a:r>
              <a:rPr lang="en-US" sz="4000" b="1" dirty="0">
                <a:solidFill>
                  <a:srgbClr val="F7F3EA"/>
                </a:solidFill>
                <a:latin typeface="Georgia" pitchFamily="34" charset="0"/>
                <a:ea typeface="Georgia" pitchFamily="34" charset="-122"/>
                <a:cs typeface="Georgia" pitchFamily="34" charset="-120"/>
              </a:rPr>
              <a:t>A draft you didn’t write is waiting in your drafts folder.</a:t>
            </a:r>
            <a:endParaRPr lang="en-US" sz="4000" dirty="0"/>
          </a:p>
        </p:txBody>
      </p:sp>
      <p:sp>
        <p:nvSpPr>
          <p:cNvPr id="16" name="Text 14"/>
          <p:cNvSpPr/>
          <p:nvPr/>
        </p:nvSpPr>
        <p:spPr>
          <a:xfrm>
            <a:off x="813816" y="4234282"/>
            <a:ext cx="10570464" cy="329184"/>
          </a:xfrm>
          <a:prstGeom prst="rect">
            <a:avLst/>
          </a:prstGeom>
          <a:noFill/>
          <a:ln/>
        </p:spPr>
        <p:txBody>
          <a:bodyPr wrap="square" lIns="0" tIns="0" rIns="0" bIns="0" rtlCol="0" anchor="ctr"/>
          <a:lstStyle/>
          <a:p>
            <a:pPr algn="ctr" indent="0" marL="0">
              <a:buNone/>
            </a:pPr>
            <a:r>
              <a:rPr lang="en-US" sz="1800" b="1" dirty="0">
                <a:solidFill>
                  <a:srgbClr val="E7C766"/>
                </a:solidFill>
                <a:latin typeface="Arial" pitchFamily="34" charset="0"/>
                <a:ea typeface="Arial" pitchFamily="34" charset="-122"/>
                <a:cs typeface="Arial" pitchFamily="34" charset="-120"/>
              </a:rPr>
              <a:t>The interview is over. She’s hired. Now we teach her.</a:t>
            </a:r>
            <a:endParaRPr lang="en-US" sz="1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4213D"/>
        </a:solidFill>
      </p:bgPr>
    </p:bg>
    <p:spTree>
      <p:nvGrpSpPr>
        <p:cNvPr id="1" name=""/>
        <p:cNvGrpSpPr/>
        <p:nvPr/>
      </p:nvGrpSpPr>
      <p:grpSpPr>
        <a:xfrm>
          <a:off x="0" y="0"/>
          <a:ext cx="0" cy="0"/>
          <a:chOff x="0" y="0"/>
          <a:chExt cx="0" cy="0"/>
        </a:xfrm>
      </p:grpSpPr>
      <p:sp>
        <p:nvSpPr>
          <p:cNvPr id="2" name="Shape 0"/>
          <p:cNvSpPr/>
          <p:nvPr/>
        </p:nvSpPr>
        <p:spPr>
          <a:xfrm>
            <a:off x="813816" y="5779008"/>
            <a:ext cx="10570464" cy="0"/>
          </a:xfrm>
          <a:prstGeom prst="line">
            <a:avLst/>
          </a:prstGeom>
          <a:noFill/>
          <a:ln w="9525">
            <a:solidFill>
              <a:srgbClr val="C9A227"/>
            </a:solidFill>
            <a:prstDash val="solid"/>
          </a:ln>
        </p:spPr>
      </p:sp>
      <p:sp>
        <p:nvSpPr>
          <p:cNvPr id="3" name="Text 1"/>
          <p:cNvSpPr/>
          <p:nvPr/>
        </p:nvSpPr>
        <p:spPr>
          <a:xfrm>
            <a:off x="813816" y="5907024"/>
            <a:ext cx="3358896" cy="274320"/>
          </a:xfrm>
          <a:prstGeom prst="rect">
            <a:avLst/>
          </a:prstGeom>
          <a:noFill/>
          <a:ln/>
        </p:spPr>
        <p:txBody>
          <a:bodyPr wrap="square" lIns="0" tIns="0" rIns="0" bIns="0" rtlCol="0" anchor="ctr"/>
          <a:lstStyle/>
          <a:p>
            <a:pPr indent="0" marL="0">
              <a:buNone/>
            </a:pPr>
            <a:r>
              <a:rPr lang="en-US" sz="1600" spc="120" kern="0" dirty="0">
                <a:solidFill>
                  <a:srgbClr val="AFA893"/>
                </a:solidFill>
                <a:latin typeface="Arial" pitchFamily="34" charset="0"/>
                <a:ea typeface="Arial" pitchFamily="34" charset="-122"/>
                <a:cs typeface="Arial" pitchFamily="34" charset="-120"/>
              </a:rPr>
              <a:t>BUILD YOUR OWN DONNA</a:t>
            </a:r>
            <a:endParaRPr lang="en-US" sz="1600" dirty="0"/>
          </a:p>
        </p:txBody>
      </p:sp>
      <p:sp>
        <p:nvSpPr>
          <p:cNvPr id="4" name="Shape 2"/>
          <p:cNvSpPr/>
          <p:nvPr/>
        </p:nvSpPr>
        <p:spPr>
          <a:xfrm rot="2700000">
            <a:off x="4227576" y="6012180"/>
            <a:ext cx="64008" cy="64008"/>
          </a:xfrm>
          <a:prstGeom prst="rect">
            <a:avLst/>
          </a:prstGeom>
          <a:solidFill>
            <a:srgbClr val="C9A227"/>
          </a:solidFill>
          <a:ln w="3175">
            <a:solidFill>
              <a:srgbClr val="C9A227"/>
            </a:solidFill>
            <a:prstDash val="solid"/>
          </a:ln>
        </p:spPr>
      </p:sp>
      <p:sp>
        <p:nvSpPr>
          <p:cNvPr id="5" name="Text 3"/>
          <p:cNvSpPr/>
          <p:nvPr/>
        </p:nvSpPr>
        <p:spPr>
          <a:xfrm>
            <a:off x="4410456" y="5907024"/>
            <a:ext cx="2712720" cy="274320"/>
          </a:xfrm>
          <a:prstGeom prst="rect">
            <a:avLst/>
          </a:prstGeom>
          <a:noFill/>
          <a:ln/>
        </p:spPr>
        <p:txBody>
          <a:bodyPr wrap="square" lIns="0" tIns="0" rIns="0" bIns="0" rtlCol="0" anchor="ctr"/>
          <a:lstStyle/>
          <a:p>
            <a:pPr indent="0" marL="0">
              <a:buNone/>
            </a:pPr>
            <a:r>
              <a:rPr lang="en-US" sz="1600" spc="120" kern="0" dirty="0">
                <a:solidFill>
                  <a:srgbClr val="AFA893"/>
                </a:solidFill>
                <a:latin typeface="Arial" pitchFamily="34" charset="0"/>
                <a:ea typeface="Arial" pitchFamily="34" charset="-122"/>
                <a:cs typeface="Arial" pitchFamily="34" charset="-120"/>
              </a:rPr>
              <a:t>OCTOBER 21, 2026</a:t>
            </a:r>
            <a:endParaRPr lang="en-US" sz="1600" dirty="0"/>
          </a:p>
        </p:txBody>
      </p:sp>
      <p:sp>
        <p:nvSpPr>
          <p:cNvPr id="6" name="Text 4"/>
          <p:cNvSpPr/>
          <p:nvPr/>
        </p:nvSpPr>
        <p:spPr>
          <a:xfrm>
            <a:off x="10652760" y="5907024"/>
            <a:ext cx="731520" cy="274320"/>
          </a:xfrm>
          <a:prstGeom prst="rect">
            <a:avLst/>
          </a:prstGeom>
          <a:noFill/>
          <a:ln/>
        </p:spPr>
        <p:txBody>
          <a:bodyPr wrap="square" lIns="0" tIns="0" rIns="0" bIns="0" rtlCol="0" anchor="ctr"/>
          <a:lstStyle/>
          <a:p>
            <a:pPr algn="r" indent="0" marL="0">
              <a:buNone/>
            </a:pPr>
            <a:r>
              <a:rPr lang="en-US" sz="1600" spc="120" kern="0" dirty="0">
                <a:solidFill>
                  <a:srgbClr val="AFA893"/>
                </a:solidFill>
                <a:latin typeface="Arial" pitchFamily="34" charset="0"/>
                <a:ea typeface="Arial" pitchFamily="34" charset="-122"/>
                <a:cs typeface="Arial" pitchFamily="34" charset="-120"/>
              </a:rPr>
              <a:t>19</a:t>
            </a:r>
            <a:endParaRPr lang="en-US" sz="1600" dirty="0"/>
          </a:p>
        </p:txBody>
      </p:sp>
      <p:sp>
        <p:nvSpPr>
          <p:cNvPr id="7" name="Shape 5"/>
          <p:cNvSpPr/>
          <p:nvPr/>
        </p:nvSpPr>
        <p:spPr>
          <a:xfrm>
            <a:off x="10789920" y="438912"/>
            <a:ext cx="548640" cy="548640"/>
          </a:xfrm>
          <a:prstGeom prst="ellipse">
            <a:avLst/>
          </a:prstGeom>
          <a:ln w="9525">
            <a:solidFill>
              <a:srgbClr val="C9A227"/>
            </a:solidFill>
            <a:prstDash val="solid"/>
          </a:ln>
        </p:spPr>
      </p:sp>
      <p:sp>
        <p:nvSpPr>
          <p:cNvPr id="8" name="Shape 6"/>
          <p:cNvSpPr/>
          <p:nvPr/>
        </p:nvSpPr>
        <p:spPr>
          <a:xfrm>
            <a:off x="10986516" y="361188"/>
            <a:ext cx="155448" cy="155448"/>
          </a:xfrm>
          <a:prstGeom prst="ellipse">
            <a:avLst/>
          </a:prstGeom>
          <a:solidFill>
            <a:srgbClr val="C9A227"/>
          </a:solidFill>
          <a:ln w="9525">
            <a:solidFill>
              <a:srgbClr val="C9A227"/>
            </a:solidFill>
            <a:prstDash val="solid"/>
          </a:ln>
        </p:spPr>
      </p:sp>
      <p:sp>
        <p:nvSpPr>
          <p:cNvPr id="9" name="Shape 7"/>
          <p:cNvSpPr/>
          <p:nvPr/>
        </p:nvSpPr>
        <p:spPr>
          <a:xfrm>
            <a:off x="11260836" y="635508"/>
            <a:ext cx="155448" cy="155448"/>
          </a:xfrm>
          <a:prstGeom prst="ellipse">
            <a:avLst/>
          </a:prstGeom>
          <a:solidFill>
            <a:srgbClr val="C9A227"/>
          </a:solidFill>
          <a:ln w="9525">
            <a:solidFill>
              <a:srgbClr val="C9A227"/>
            </a:solidFill>
            <a:prstDash val="solid"/>
          </a:ln>
        </p:spPr>
      </p:sp>
      <p:sp>
        <p:nvSpPr>
          <p:cNvPr id="10" name="Shape 8"/>
          <p:cNvSpPr/>
          <p:nvPr/>
        </p:nvSpPr>
        <p:spPr>
          <a:xfrm>
            <a:off x="10986516" y="909828"/>
            <a:ext cx="155448" cy="155448"/>
          </a:xfrm>
          <a:prstGeom prst="ellipse">
            <a:avLst/>
          </a:prstGeom>
          <a:solidFill>
            <a:srgbClr val="14213D"/>
          </a:solidFill>
          <a:ln w="9525">
            <a:solidFill>
              <a:srgbClr val="C9A227"/>
            </a:solidFill>
            <a:prstDash val="solid"/>
          </a:ln>
        </p:spPr>
      </p:sp>
      <p:sp>
        <p:nvSpPr>
          <p:cNvPr id="11" name="Shape 9"/>
          <p:cNvSpPr/>
          <p:nvPr/>
        </p:nvSpPr>
        <p:spPr>
          <a:xfrm>
            <a:off x="10712196" y="635508"/>
            <a:ext cx="155448" cy="155448"/>
          </a:xfrm>
          <a:prstGeom prst="ellipse">
            <a:avLst/>
          </a:prstGeom>
          <a:solidFill>
            <a:srgbClr val="14213D"/>
          </a:solidFill>
          <a:ln w="9525">
            <a:solidFill>
              <a:srgbClr val="C9A227"/>
            </a:solidFill>
            <a:prstDash val="solid"/>
          </a:ln>
        </p:spPr>
      </p:sp>
      <p:sp>
        <p:nvSpPr>
          <p:cNvPr id="12" name="Text 10"/>
          <p:cNvSpPr/>
          <p:nvPr/>
        </p:nvSpPr>
        <p:spPr>
          <a:xfrm>
            <a:off x="10447020" y="1097280"/>
            <a:ext cx="937260" cy="274320"/>
          </a:xfrm>
          <a:prstGeom prst="rect">
            <a:avLst/>
          </a:prstGeom>
          <a:noFill/>
          <a:ln/>
        </p:spPr>
        <p:txBody>
          <a:bodyPr wrap="square" lIns="0" tIns="0" rIns="0" bIns="0" rtlCol="0" anchor="ctr"/>
          <a:lstStyle/>
          <a:p>
            <a:pPr algn="r" indent="0" marL="0">
              <a:buNone/>
            </a:pPr>
            <a:r>
              <a:rPr lang="en-US" sz="1600" b="1" spc="120" kern="0" dirty="0">
                <a:solidFill>
                  <a:srgbClr val="E7C766"/>
                </a:solidFill>
                <a:latin typeface="Arial" pitchFamily="34" charset="0"/>
                <a:ea typeface="Arial" pitchFamily="34" charset="-122"/>
                <a:cs typeface="Arial" pitchFamily="34" charset="-120"/>
              </a:rPr>
              <a:t>TEACH</a:t>
            </a:r>
            <a:endParaRPr lang="en-US" sz="1600" dirty="0"/>
          </a:p>
        </p:txBody>
      </p:sp>
      <p:sp>
        <p:nvSpPr>
          <p:cNvPr id="13" name="Text 11"/>
          <p:cNvSpPr/>
          <p:nvPr/>
        </p:nvSpPr>
        <p:spPr>
          <a:xfrm>
            <a:off x="813816" y="1188720"/>
            <a:ext cx="10570464" cy="292608"/>
          </a:xfrm>
          <a:prstGeom prst="rect">
            <a:avLst/>
          </a:prstGeom>
          <a:noFill/>
          <a:ln/>
        </p:spPr>
        <p:txBody>
          <a:bodyPr wrap="square" lIns="0" tIns="0" rIns="0" bIns="0" rtlCol="0" anchor="ctr"/>
          <a:lstStyle/>
          <a:p>
            <a:pPr algn="ctr" indent="0" marL="0">
              <a:buNone/>
            </a:pPr>
            <a:r>
              <a:rPr lang="en-US" sz="1600" b="1" spc="200" kern="0" dirty="0">
                <a:solidFill>
                  <a:srgbClr val="E7C766"/>
                </a:solidFill>
                <a:latin typeface="Arial" pitchFamily="34" charset="0"/>
                <a:ea typeface="Arial" pitchFamily="34" charset="-122"/>
                <a:cs typeface="Arial" pitchFamily="34" charset="-120"/>
              </a:rPr>
              <a:t>STEP TWO  ·  TEACH</a:t>
            </a:r>
            <a:endParaRPr lang="en-US" sz="1600" dirty="0"/>
          </a:p>
        </p:txBody>
      </p:sp>
      <p:sp>
        <p:nvSpPr>
          <p:cNvPr id="14" name="Text 12"/>
          <p:cNvSpPr/>
          <p:nvPr/>
        </p:nvSpPr>
        <p:spPr>
          <a:xfrm>
            <a:off x="1249528" y="1536192"/>
            <a:ext cx="9692640" cy="815889"/>
          </a:xfrm>
          <a:prstGeom prst="rect">
            <a:avLst/>
          </a:prstGeom>
          <a:noFill/>
          <a:ln/>
        </p:spPr>
        <p:txBody>
          <a:bodyPr wrap="square" lIns="0" tIns="0" rIns="0" bIns="0" rtlCol="0" anchor="t"/>
          <a:lstStyle/>
          <a:p>
            <a:pPr algn="ctr" indent="0" marL="0">
              <a:buNone/>
            </a:pPr>
            <a:r>
              <a:rPr lang="en-US" sz="4400" b="1" dirty="0">
                <a:solidFill>
                  <a:srgbClr val="F7F3EA"/>
                </a:solidFill>
                <a:latin typeface="Georgia" pitchFamily="34" charset="0"/>
                <a:ea typeface="Georgia" pitchFamily="34" charset="-122"/>
                <a:cs typeface="Georgia" pitchFamily="34" charset="-120"/>
              </a:rPr>
              <a:t>The triage desk.</a:t>
            </a:r>
            <a:endParaRPr lang="en-US" sz="4400" dirty="0"/>
          </a:p>
        </p:txBody>
      </p:sp>
      <p:sp>
        <p:nvSpPr>
          <p:cNvPr id="15" name="Text 13"/>
          <p:cNvSpPr/>
          <p:nvPr/>
        </p:nvSpPr>
        <p:spPr>
          <a:xfrm>
            <a:off x="813816" y="2516673"/>
            <a:ext cx="10570464" cy="329184"/>
          </a:xfrm>
          <a:prstGeom prst="rect">
            <a:avLst/>
          </a:prstGeom>
          <a:noFill/>
          <a:ln/>
        </p:spPr>
        <p:txBody>
          <a:bodyPr wrap="square" lIns="0" tIns="0" rIns="0" bIns="0" rtlCol="0" anchor="ctr"/>
          <a:lstStyle/>
          <a:p>
            <a:pPr algn="ctr" indent="0" marL="0">
              <a:buNone/>
            </a:pPr>
            <a:r>
              <a:rPr lang="en-US" sz="1800" dirty="0">
                <a:solidFill>
                  <a:srgbClr val="AFA893"/>
                </a:solidFill>
                <a:latin typeface="Arial" pitchFamily="34" charset="0"/>
                <a:ea typeface="Arial" pitchFamily="34" charset="-122"/>
                <a:cs typeface="Arial" pitchFamily="34" charset="-120"/>
              </a:rPr>
              <a:t>Four questions. She writes her own playbook.</a:t>
            </a:r>
            <a:endParaRPr lang="en-US" sz="1800" dirty="0"/>
          </a:p>
        </p:txBody>
      </p:sp>
      <p:sp>
        <p:nvSpPr>
          <p:cNvPr id="16" name="Text 14"/>
          <p:cNvSpPr/>
          <p:nvPr/>
        </p:nvSpPr>
        <p:spPr>
          <a:xfrm>
            <a:off x="813816" y="3138465"/>
            <a:ext cx="10570464" cy="274320"/>
          </a:xfrm>
          <a:prstGeom prst="rect">
            <a:avLst/>
          </a:prstGeom>
          <a:noFill/>
          <a:ln/>
        </p:spPr>
        <p:txBody>
          <a:bodyPr wrap="square" lIns="0" tIns="0" rIns="0" bIns="0" rtlCol="0" anchor="ctr"/>
          <a:lstStyle/>
          <a:p>
            <a:pPr algn="ctr" indent="0" marL="0">
              <a:buNone/>
            </a:pPr>
            <a:r>
              <a:rPr lang="en-US" sz="1600" b="1" spc="200" kern="0" dirty="0">
                <a:solidFill>
                  <a:srgbClr val="E7C766"/>
                </a:solidFill>
                <a:latin typeface="Arial" pitchFamily="34" charset="0"/>
                <a:ea typeface="Arial" pitchFamily="34" charset="-122"/>
                <a:cs typeface="Arial" pitchFamily="34" charset="-120"/>
              </a:rPr>
              <a:t>IN THIS STEP</a:t>
            </a:r>
            <a:endParaRPr lang="en-US" sz="1600" dirty="0"/>
          </a:p>
        </p:txBody>
      </p:sp>
      <p:sp>
        <p:nvSpPr>
          <p:cNvPr id="17" name="Text 15"/>
          <p:cNvSpPr/>
          <p:nvPr/>
        </p:nvSpPr>
        <p:spPr>
          <a:xfrm>
            <a:off x="813816" y="3467649"/>
            <a:ext cx="10570464" cy="329184"/>
          </a:xfrm>
          <a:prstGeom prst="rect">
            <a:avLst/>
          </a:prstGeom>
          <a:noFill/>
          <a:ln/>
        </p:spPr>
        <p:txBody>
          <a:bodyPr wrap="square" lIns="0" tIns="0" rIns="0" bIns="0" rtlCol="0" anchor="ctr"/>
          <a:lstStyle/>
          <a:p>
            <a:pPr algn="ctr" indent="0" marL="0">
              <a:buNone/>
            </a:pPr>
            <a:r>
              <a:rPr lang="en-US" sz="1800" b="1" dirty="0">
                <a:solidFill>
                  <a:srgbClr val="E7C766"/>
                </a:solidFill>
                <a:latin typeface="Georgia" pitchFamily="34" charset="0"/>
                <a:ea typeface="Georgia" pitchFamily="34" charset="-122"/>
                <a:cs typeface="Georgia" pitchFamily="34" charset="-120"/>
              </a:rPr>
              <a:t>1/  </a:t>
            </a:r>
            <a:pPr algn="ctr" indent="0" marL="0">
              <a:buNone/>
            </a:pPr>
            <a:r>
              <a:rPr lang="en-US" sz="1800" dirty="0">
                <a:solidFill>
                  <a:srgbClr val="F7F3EA"/>
                </a:solidFill>
                <a:latin typeface="Arial" pitchFamily="34" charset="0"/>
                <a:ea typeface="Arial" pitchFamily="34" charset="-122"/>
                <a:cs typeface="Arial" pitchFamily="34" charset="-120"/>
              </a:rPr>
              <a:t>Paste her playbook into a new chat.</a:t>
            </a:r>
            <a:endParaRPr lang="en-US" sz="1800" dirty="0"/>
          </a:p>
        </p:txBody>
      </p:sp>
      <p:sp>
        <p:nvSpPr>
          <p:cNvPr id="18" name="Text 16"/>
          <p:cNvSpPr/>
          <p:nvPr/>
        </p:nvSpPr>
        <p:spPr>
          <a:xfrm>
            <a:off x="813816" y="3815121"/>
            <a:ext cx="10570464" cy="329184"/>
          </a:xfrm>
          <a:prstGeom prst="rect">
            <a:avLst/>
          </a:prstGeom>
          <a:noFill/>
          <a:ln/>
        </p:spPr>
        <p:txBody>
          <a:bodyPr wrap="square" lIns="0" tIns="0" rIns="0" bIns="0" rtlCol="0" anchor="ctr"/>
          <a:lstStyle/>
          <a:p>
            <a:pPr algn="ctr" indent="0" marL="0">
              <a:buNone/>
            </a:pPr>
            <a:r>
              <a:rPr lang="en-US" sz="1800" b="1" dirty="0">
                <a:solidFill>
                  <a:srgbClr val="E7C766"/>
                </a:solidFill>
                <a:latin typeface="Georgia" pitchFamily="34" charset="0"/>
                <a:ea typeface="Georgia" pitchFamily="34" charset="-122"/>
                <a:cs typeface="Georgia" pitchFamily="34" charset="-120"/>
              </a:rPr>
              <a:t>2/  </a:t>
            </a:r>
            <a:pPr algn="ctr" indent="0" marL="0">
              <a:buNone/>
            </a:pPr>
            <a:r>
              <a:rPr lang="en-US" sz="1800" dirty="0">
                <a:solidFill>
                  <a:srgbClr val="F7F3EA"/>
                </a:solidFill>
                <a:latin typeface="Arial" pitchFamily="34" charset="0"/>
                <a:ea typeface="Arial" pitchFamily="34" charset="-122"/>
                <a:cs typeface="Arial" pitchFamily="34" charset="-120"/>
              </a:rPr>
              <a:t>Answer her four questions. Take your time.</a:t>
            </a:r>
            <a:endParaRPr lang="en-US" sz="1800" dirty="0"/>
          </a:p>
        </p:txBody>
      </p:sp>
      <p:sp>
        <p:nvSpPr>
          <p:cNvPr id="19" name="Text 17"/>
          <p:cNvSpPr/>
          <p:nvPr/>
        </p:nvSpPr>
        <p:spPr>
          <a:xfrm>
            <a:off x="813816" y="4162593"/>
            <a:ext cx="10570464" cy="329184"/>
          </a:xfrm>
          <a:prstGeom prst="rect">
            <a:avLst/>
          </a:prstGeom>
          <a:noFill/>
          <a:ln/>
        </p:spPr>
        <p:txBody>
          <a:bodyPr wrap="square" lIns="0" tIns="0" rIns="0" bIns="0" rtlCol="0" anchor="ctr"/>
          <a:lstStyle/>
          <a:p>
            <a:pPr algn="ctr" indent="0" marL="0">
              <a:buNone/>
            </a:pPr>
            <a:r>
              <a:rPr lang="en-US" sz="1800" b="1" dirty="0">
                <a:solidFill>
                  <a:srgbClr val="E7C766"/>
                </a:solidFill>
                <a:latin typeface="Georgia" pitchFamily="34" charset="0"/>
                <a:ea typeface="Georgia" pitchFamily="34" charset="-122"/>
                <a:cs typeface="Georgia" pitchFamily="34" charset="-120"/>
              </a:rPr>
              <a:t>3/  </a:t>
            </a:r>
            <a:pPr algn="ctr" indent="0" marL="0">
              <a:buNone/>
            </a:pPr>
            <a:r>
              <a:rPr lang="en-US" sz="1800" dirty="0">
                <a:solidFill>
                  <a:srgbClr val="F7F3EA"/>
                </a:solidFill>
                <a:latin typeface="Arial" pitchFamily="34" charset="0"/>
                <a:ea typeface="Arial" pitchFamily="34" charset="-122"/>
                <a:cs typeface="Arial" pitchFamily="34" charset="-120"/>
              </a:rPr>
              <a:t>Type: Triage my inbox.</a:t>
            </a:r>
            <a:endParaRPr lang="en-US" sz="1800" dirty="0"/>
          </a:p>
        </p:txBody>
      </p:sp>
      <p:sp>
        <p:nvSpPr>
          <p:cNvPr id="20" name="Text 18"/>
          <p:cNvSpPr/>
          <p:nvPr/>
        </p:nvSpPr>
        <p:spPr>
          <a:xfrm>
            <a:off x="813816" y="4937760"/>
            <a:ext cx="10570464" cy="329184"/>
          </a:xfrm>
          <a:prstGeom prst="rect">
            <a:avLst/>
          </a:prstGeom>
          <a:noFill/>
          <a:ln/>
        </p:spPr>
        <p:txBody>
          <a:bodyPr wrap="square" lIns="0" tIns="0" rIns="0" bIns="0" rtlCol="0" anchor="ctr"/>
          <a:lstStyle/>
          <a:p>
            <a:pPr algn="ctr" indent="0" marL="0">
              <a:buNone/>
            </a:pPr>
            <a:r>
              <a:rPr lang="en-US" sz="1800" b="1" dirty="0">
                <a:solidFill>
                  <a:srgbClr val="E7C766"/>
                </a:solidFill>
                <a:latin typeface="Arial" pitchFamily="34" charset="0"/>
                <a:ea typeface="Arial" pitchFamily="34" charset="-122"/>
                <a:cs typeface="Arial" pitchFamily="34" charset="-120"/>
              </a:rPr>
              <a:t>Now go to the instructions: Step 2 on the site.</a:t>
            </a:r>
            <a:endParaRPr lang="en-US" sz="1800" dirty="0"/>
          </a:p>
        </p:txBody>
      </p:sp>
      <p:sp>
        <p:nvSpPr>
          <p:cNvPr id="21" name="Text 19"/>
          <p:cNvSpPr/>
          <p:nvPr/>
        </p:nvSpPr>
        <p:spPr>
          <a:xfrm>
            <a:off x="813816" y="5285232"/>
            <a:ext cx="10570464" cy="274320"/>
          </a:xfrm>
          <a:prstGeom prst="rect">
            <a:avLst/>
          </a:prstGeom>
          <a:noFill/>
          <a:ln/>
        </p:spPr>
        <p:txBody>
          <a:bodyPr wrap="square" lIns="0" tIns="0" rIns="0" bIns="0" rtlCol="0" anchor="ctr"/>
          <a:lstStyle/>
          <a:p>
            <a:pPr algn="ctr" indent="0" marL="0">
              <a:buNone/>
            </a:pPr>
            <a:r>
              <a:rPr lang="en-US" sz="1600" dirty="0">
                <a:solidFill>
                  <a:srgbClr val="AFA893"/>
                </a:solidFill>
                <a:latin typeface="Arial" pitchFamily="34" charset="0"/>
                <a:ea typeface="Arial" pitchFamily="34" charset="-122"/>
                <a:cs typeface="Arial" pitchFamily="34" charset="-120"/>
              </a:rPr>
              <a:t>donnainstructions.denisegosnell.ai</a:t>
            </a:r>
            <a:endParaRPr lang="en-US" sz="16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3EA"/>
        </a:solidFill>
      </p:bgPr>
    </p:bg>
    <p:spTree>
      <p:nvGrpSpPr>
        <p:cNvPr id="1" name=""/>
        <p:cNvGrpSpPr/>
        <p:nvPr/>
      </p:nvGrpSpPr>
      <p:grpSpPr>
        <a:xfrm>
          <a:off x="0" y="0"/>
          <a:ext cx="0" cy="0"/>
          <a:chOff x="0" y="0"/>
          <a:chExt cx="0" cy="0"/>
        </a:xfrm>
      </p:grpSpPr>
      <p:sp>
        <p:nvSpPr>
          <p:cNvPr id="2" name="Shape 0"/>
          <p:cNvSpPr/>
          <p:nvPr/>
        </p:nvSpPr>
        <p:spPr>
          <a:xfrm>
            <a:off x="813816" y="5779008"/>
            <a:ext cx="10570464" cy="0"/>
          </a:xfrm>
          <a:prstGeom prst="line">
            <a:avLst/>
          </a:prstGeom>
          <a:noFill/>
          <a:ln w="9525">
            <a:solidFill>
              <a:srgbClr val="C9A227"/>
            </a:solidFill>
            <a:prstDash val="solid"/>
          </a:ln>
        </p:spPr>
      </p:sp>
      <p:sp>
        <p:nvSpPr>
          <p:cNvPr id="3" name="Text 1"/>
          <p:cNvSpPr/>
          <p:nvPr/>
        </p:nvSpPr>
        <p:spPr>
          <a:xfrm>
            <a:off x="813816" y="5907024"/>
            <a:ext cx="3358896" cy="274320"/>
          </a:xfrm>
          <a:prstGeom prst="rect">
            <a:avLst/>
          </a:prstGeom>
          <a:noFill/>
          <a:ln/>
        </p:spPr>
        <p:txBody>
          <a:bodyPr wrap="square" lIns="0" tIns="0" rIns="0" bIns="0" rtlCol="0" anchor="ctr"/>
          <a:lstStyle/>
          <a:p>
            <a:pPr indent="0" marL="0">
              <a:buNone/>
            </a:pPr>
            <a:r>
              <a:rPr lang="en-US" sz="1600" spc="120" kern="0" dirty="0">
                <a:solidFill>
                  <a:srgbClr val="5A6379"/>
                </a:solidFill>
                <a:latin typeface="Arial" pitchFamily="34" charset="0"/>
                <a:ea typeface="Arial" pitchFamily="34" charset="-122"/>
                <a:cs typeface="Arial" pitchFamily="34" charset="-120"/>
              </a:rPr>
              <a:t>BUILD YOUR OWN DONNA</a:t>
            </a:r>
            <a:endParaRPr lang="en-US" sz="1600" dirty="0"/>
          </a:p>
        </p:txBody>
      </p:sp>
      <p:sp>
        <p:nvSpPr>
          <p:cNvPr id="4" name="Shape 2"/>
          <p:cNvSpPr/>
          <p:nvPr/>
        </p:nvSpPr>
        <p:spPr>
          <a:xfrm rot="2700000">
            <a:off x="4227576" y="6012180"/>
            <a:ext cx="64008" cy="64008"/>
          </a:xfrm>
          <a:prstGeom prst="rect">
            <a:avLst/>
          </a:prstGeom>
          <a:solidFill>
            <a:srgbClr val="C9A227"/>
          </a:solidFill>
          <a:ln w="3175">
            <a:solidFill>
              <a:srgbClr val="C9A227"/>
            </a:solidFill>
            <a:prstDash val="solid"/>
          </a:ln>
        </p:spPr>
      </p:sp>
      <p:sp>
        <p:nvSpPr>
          <p:cNvPr id="5" name="Text 3"/>
          <p:cNvSpPr/>
          <p:nvPr/>
        </p:nvSpPr>
        <p:spPr>
          <a:xfrm>
            <a:off x="4410456" y="5907024"/>
            <a:ext cx="2712720" cy="274320"/>
          </a:xfrm>
          <a:prstGeom prst="rect">
            <a:avLst/>
          </a:prstGeom>
          <a:noFill/>
          <a:ln/>
        </p:spPr>
        <p:txBody>
          <a:bodyPr wrap="square" lIns="0" tIns="0" rIns="0" bIns="0" rtlCol="0" anchor="ctr"/>
          <a:lstStyle/>
          <a:p>
            <a:pPr indent="0" marL="0">
              <a:buNone/>
            </a:pPr>
            <a:r>
              <a:rPr lang="en-US" sz="1600" spc="120" kern="0" dirty="0">
                <a:solidFill>
                  <a:srgbClr val="5A6379"/>
                </a:solidFill>
                <a:latin typeface="Arial" pitchFamily="34" charset="0"/>
                <a:ea typeface="Arial" pitchFamily="34" charset="-122"/>
                <a:cs typeface="Arial" pitchFamily="34" charset="-120"/>
              </a:rPr>
              <a:t>OCTOBER 21, 2026</a:t>
            </a:r>
            <a:endParaRPr lang="en-US" sz="1600" dirty="0"/>
          </a:p>
        </p:txBody>
      </p:sp>
      <p:sp>
        <p:nvSpPr>
          <p:cNvPr id="6" name="Text 4"/>
          <p:cNvSpPr/>
          <p:nvPr/>
        </p:nvSpPr>
        <p:spPr>
          <a:xfrm>
            <a:off x="10652760" y="5907024"/>
            <a:ext cx="731520" cy="274320"/>
          </a:xfrm>
          <a:prstGeom prst="rect">
            <a:avLst/>
          </a:prstGeom>
          <a:noFill/>
          <a:ln/>
        </p:spPr>
        <p:txBody>
          <a:bodyPr wrap="square" lIns="0" tIns="0" rIns="0" bIns="0" rtlCol="0" anchor="ctr"/>
          <a:lstStyle/>
          <a:p>
            <a:pPr algn="r" indent="0" marL="0">
              <a:buNone/>
            </a:pPr>
            <a:r>
              <a:rPr lang="en-US" sz="1600" spc="120" kern="0" dirty="0">
                <a:solidFill>
                  <a:srgbClr val="5A6379"/>
                </a:solidFill>
                <a:latin typeface="Arial" pitchFamily="34" charset="0"/>
                <a:ea typeface="Arial" pitchFamily="34" charset="-122"/>
                <a:cs typeface="Arial" pitchFamily="34" charset="-120"/>
              </a:rPr>
              <a:t>20</a:t>
            </a:r>
            <a:endParaRPr lang="en-US" sz="1600" dirty="0"/>
          </a:p>
        </p:txBody>
      </p:sp>
      <p:sp>
        <p:nvSpPr>
          <p:cNvPr id="7" name="Shape 5"/>
          <p:cNvSpPr/>
          <p:nvPr/>
        </p:nvSpPr>
        <p:spPr>
          <a:xfrm>
            <a:off x="10789920" y="438912"/>
            <a:ext cx="548640" cy="548640"/>
          </a:xfrm>
          <a:prstGeom prst="ellipse">
            <a:avLst/>
          </a:prstGeom>
          <a:ln w="9525">
            <a:solidFill>
              <a:srgbClr val="C9A227"/>
            </a:solidFill>
            <a:prstDash val="solid"/>
          </a:ln>
        </p:spPr>
      </p:sp>
      <p:sp>
        <p:nvSpPr>
          <p:cNvPr id="8" name="Shape 6"/>
          <p:cNvSpPr/>
          <p:nvPr/>
        </p:nvSpPr>
        <p:spPr>
          <a:xfrm>
            <a:off x="10986516" y="361188"/>
            <a:ext cx="155448" cy="155448"/>
          </a:xfrm>
          <a:prstGeom prst="ellipse">
            <a:avLst/>
          </a:prstGeom>
          <a:solidFill>
            <a:srgbClr val="C9A227"/>
          </a:solidFill>
          <a:ln w="9525">
            <a:solidFill>
              <a:srgbClr val="C9A227"/>
            </a:solidFill>
            <a:prstDash val="solid"/>
          </a:ln>
        </p:spPr>
      </p:sp>
      <p:sp>
        <p:nvSpPr>
          <p:cNvPr id="9" name="Shape 7"/>
          <p:cNvSpPr/>
          <p:nvPr/>
        </p:nvSpPr>
        <p:spPr>
          <a:xfrm>
            <a:off x="11260836" y="635508"/>
            <a:ext cx="155448" cy="155448"/>
          </a:xfrm>
          <a:prstGeom prst="ellipse">
            <a:avLst/>
          </a:prstGeom>
          <a:solidFill>
            <a:srgbClr val="C9A227"/>
          </a:solidFill>
          <a:ln w="9525">
            <a:solidFill>
              <a:srgbClr val="C9A227"/>
            </a:solidFill>
            <a:prstDash val="solid"/>
          </a:ln>
        </p:spPr>
      </p:sp>
      <p:sp>
        <p:nvSpPr>
          <p:cNvPr id="10" name="Shape 8"/>
          <p:cNvSpPr/>
          <p:nvPr/>
        </p:nvSpPr>
        <p:spPr>
          <a:xfrm>
            <a:off x="10986516" y="909828"/>
            <a:ext cx="155448" cy="155448"/>
          </a:xfrm>
          <a:prstGeom prst="ellipse">
            <a:avLst/>
          </a:prstGeom>
          <a:solidFill>
            <a:srgbClr val="F7F3EA"/>
          </a:solidFill>
          <a:ln w="9525">
            <a:solidFill>
              <a:srgbClr val="C9A227"/>
            </a:solidFill>
            <a:prstDash val="solid"/>
          </a:ln>
        </p:spPr>
      </p:sp>
      <p:sp>
        <p:nvSpPr>
          <p:cNvPr id="11" name="Shape 9"/>
          <p:cNvSpPr/>
          <p:nvPr/>
        </p:nvSpPr>
        <p:spPr>
          <a:xfrm>
            <a:off x="10712196" y="635508"/>
            <a:ext cx="155448" cy="155448"/>
          </a:xfrm>
          <a:prstGeom prst="ellipse">
            <a:avLst/>
          </a:prstGeom>
          <a:solidFill>
            <a:srgbClr val="F7F3EA"/>
          </a:solidFill>
          <a:ln w="9525">
            <a:solidFill>
              <a:srgbClr val="C9A227"/>
            </a:solidFill>
            <a:prstDash val="solid"/>
          </a:ln>
        </p:spPr>
      </p:sp>
      <p:sp>
        <p:nvSpPr>
          <p:cNvPr id="12" name="Text 10"/>
          <p:cNvSpPr/>
          <p:nvPr/>
        </p:nvSpPr>
        <p:spPr>
          <a:xfrm>
            <a:off x="10447020" y="1097280"/>
            <a:ext cx="937260" cy="274320"/>
          </a:xfrm>
          <a:prstGeom prst="rect">
            <a:avLst/>
          </a:prstGeom>
          <a:noFill/>
          <a:ln/>
        </p:spPr>
        <p:txBody>
          <a:bodyPr wrap="square" lIns="0" tIns="0" rIns="0" bIns="0" rtlCol="0" anchor="ctr"/>
          <a:lstStyle/>
          <a:p>
            <a:pPr algn="r" indent="0" marL="0">
              <a:buNone/>
            </a:pPr>
            <a:r>
              <a:rPr lang="en-US" sz="1600" b="1" spc="120" kern="0" dirty="0">
                <a:solidFill>
                  <a:srgbClr val="8A6D14"/>
                </a:solidFill>
                <a:latin typeface="Arial" pitchFamily="34" charset="0"/>
                <a:ea typeface="Arial" pitchFamily="34" charset="-122"/>
                <a:cs typeface="Arial" pitchFamily="34" charset="-120"/>
              </a:rPr>
              <a:t>TEACH</a:t>
            </a:r>
            <a:endParaRPr lang="en-US" sz="1600" dirty="0"/>
          </a:p>
        </p:txBody>
      </p:sp>
      <p:sp>
        <p:nvSpPr>
          <p:cNvPr id="13" name="Text 11"/>
          <p:cNvSpPr/>
          <p:nvPr/>
        </p:nvSpPr>
        <p:spPr>
          <a:xfrm>
            <a:off x="813816" y="457200"/>
            <a:ext cx="9692640" cy="310896"/>
          </a:xfrm>
          <a:prstGeom prst="rect">
            <a:avLst/>
          </a:prstGeom>
          <a:noFill/>
          <a:ln/>
        </p:spPr>
        <p:txBody>
          <a:bodyPr wrap="square" lIns="0" tIns="0" rIns="0" bIns="0" rtlCol="0" anchor="ctr"/>
          <a:lstStyle/>
          <a:p>
            <a:pPr indent="0" marL="0">
              <a:buNone/>
            </a:pPr>
            <a:r>
              <a:rPr lang="en-US" sz="1600" b="1" spc="180" kern="0" dirty="0">
                <a:solidFill>
                  <a:srgbClr val="8A6D14"/>
                </a:solidFill>
                <a:latin typeface="Arial" pitchFamily="34" charset="0"/>
                <a:ea typeface="Arial" pitchFamily="34" charset="-122"/>
                <a:cs typeface="Arial" pitchFamily="34" charset="-120"/>
              </a:rPr>
              <a:t>STEP TWO  ·  THE TRIAGE DESK</a:t>
            </a:r>
            <a:endParaRPr lang="en-US" sz="1600" dirty="0"/>
          </a:p>
        </p:txBody>
      </p:sp>
      <p:sp>
        <p:nvSpPr>
          <p:cNvPr id="14" name="Text 12"/>
          <p:cNvSpPr/>
          <p:nvPr/>
        </p:nvSpPr>
        <p:spPr>
          <a:xfrm>
            <a:off x="813816" y="841248"/>
            <a:ext cx="9144000" cy="653735"/>
          </a:xfrm>
          <a:prstGeom prst="rect">
            <a:avLst/>
          </a:prstGeom>
          <a:noFill/>
          <a:ln/>
        </p:spPr>
        <p:txBody>
          <a:bodyPr wrap="square" lIns="0" tIns="0" rIns="0" bIns="0" rtlCol="0" anchor="t"/>
          <a:lstStyle/>
          <a:p>
            <a:pPr indent="0" marL="0">
              <a:lnSpc>
                <a:spcPct val="94000"/>
              </a:lnSpc>
              <a:buNone/>
            </a:pPr>
            <a:r>
              <a:rPr lang="en-US" sz="3400" b="1" dirty="0">
                <a:solidFill>
                  <a:srgbClr val="14213D"/>
                </a:solidFill>
                <a:latin typeface="Georgia" pitchFamily="34" charset="0"/>
                <a:ea typeface="Georgia" pitchFamily="34" charset="-122"/>
                <a:cs typeface="Georgia" pitchFamily="34" charset="-120"/>
              </a:rPr>
              <a:t>This is the document. She writes it.</a:t>
            </a:r>
            <a:endParaRPr lang="en-US" sz="3400" dirty="0"/>
          </a:p>
        </p:txBody>
      </p:sp>
      <p:sp>
        <p:nvSpPr>
          <p:cNvPr id="15" name="Shape 13"/>
          <p:cNvSpPr/>
          <p:nvPr/>
        </p:nvSpPr>
        <p:spPr>
          <a:xfrm>
            <a:off x="813816" y="1677863"/>
            <a:ext cx="7315200" cy="2743200"/>
          </a:xfrm>
          <a:prstGeom prst="rect">
            <a:avLst/>
          </a:prstGeom>
          <a:solidFill>
            <a:srgbClr val="14213D"/>
          </a:solidFill>
          <a:ln/>
        </p:spPr>
      </p:sp>
      <p:sp>
        <p:nvSpPr>
          <p:cNvPr id="16" name="Text 14"/>
          <p:cNvSpPr/>
          <p:nvPr/>
        </p:nvSpPr>
        <p:spPr>
          <a:xfrm>
            <a:off x="1069848" y="1833311"/>
            <a:ext cx="6803136" cy="274320"/>
          </a:xfrm>
          <a:prstGeom prst="rect">
            <a:avLst/>
          </a:prstGeom>
          <a:noFill/>
          <a:ln/>
        </p:spPr>
        <p:txBody>
          <a:bodyPr wrap="square" lIns="0" tIns="0" rIns="0" bIns="0" rtlCol="0" anchor="ctr"/>
          <a:lstStyle/>
          <a:p>
            <a:pPr indent="0" marL="0">
              <a:buNone/>
            </a:pPr>
            <a:r>
              <a:rPr lang="en-US" sz="1600" b="1" spc="140" kern="0" dirty="0">
                <a:solidFill>
                  <a:srgbClr val="E7C766"/>
                </a:solidFill>
                <a:latin typeface="Arial" pitchFamily="34" charset="0"/>
                <a:ea typeface="Arial" pitchFamily="34" charset="-122"/>
                <a:cs typeface="Arial" pitchFamily="34" charset="-120"/>
              </a:rPr>
              <a:t>PASTE INTO A NEW CHAT IN YOUR DONNA PROJECT</a:t>
            </a:r>
            <a:endParaRPr lang="en-US" sz="1600" dirty="0"/>
          </a:p>
        </p:txBody>
      </p:sp>
      <p:sp>
        <p:nvSpPr>
          <p:cNvPr id="17" name="Text 15"/>
          <p:cNvSpPr/>
          <p:nvPr/>
        </p:nvSpPr>
        <p:spPr>
          <a:xfrm>
            <a:off x="1069848" y="2189927"/>
            <a:ext cx="6803136" cy="2103120"/>
          </a:xfrm>
          <a:prstGeom prst="rect">
            <a:avLst/>
          </a:prstGeom>
          <a:noFill/>
          <a:ln/>
        </p:spPr>
        <p:txBody>
          <a:bodyPr wrap="square" lIns="0" tIns="0" rIns="0" bIns="0" rtlCol="0" anchor="t"/>
          <a:lstStyle/>
          <a:p>
            <a:pPr indent="0" marL="0">
              <a:lnSpc>
                <a:spcPts val="1940"/>
              </a:lnSpc>
              <a:buNone/>
            </a:pPr>
            <a:r>
              <a:rPr lang="en-US" sz="1600" dirty="0">
                <a:solidFill>
                  <a:srgbClr val="F7F3EA"/>
                </a:solidFill>
                <a:latin typeface="Courier New" pitchFamily="34" charset="0"/>
                <a:ea typeface="Courier New" pitchFamily="34" charset="-122"/>
                <a:cs typeface="Courier New" pitchFamily="34" charset="-120"/>
              </a:rPr>
              <a:t>Here is my triage playbook template. Read it, then run</a:t>
            </a:r>
            <a:endParaRPr lang="en-US" sz="1600" dirty="0"/>
          </a:p>
          <a:p>
            <a:pPr indent="0" marL="0">
              <a:lnSpc>
                <a:spcPts val="1940"/>
              </a:lnSpc>
              <a:buNone/>
            </a:pPr>
            <a:r>
              <a:rPr lang="en-US" sz="1600" dirty="0">
                <a:solidFill>
                  <a:srgbClr val="F7F3EA"/>
                </a:solidFill>
                <a:latin typeface="Courier New" pitchFamily="34" charset="0"/>
                <a:ea typeface="Courier New" pitchFamily="34" charset="-122"/>
                <a:cs typeface="Courier New" pitchFamily="34" charset="-120"/>
              </a:rPr>
              <a:t>its Setup Interview on me exactly as written: four</a:t>
            </a:r>
            <a:endParaRPr lang="en-US" sz="1600" dirty="0"/>
          </a:p>
          <a:p>
            <a:pPr indent="0" marL="0">
              <a:lnSpc>
                <a:spcPts val="1940"/>
              </a:lnSpc>
              <a:buNone/>
            </a:pPr>
            <a:r>
              <a:rPr lang="en-US" sz="1600" dirty="0">
                <a:solidFill>
                  <a:srgbClr val="F7F3EA"/>
                </a:solidFill>
                <a:latin typeface="Courier New" pitchFamily="34" charset="0"/>
                <a:ea typeface="Courier New" pitchFamily="34" charset="-122"/>
                <a:cs typeface="Courier New" pitchFamily="34" charset="-120"/>
              </a:rPr>
              <a:t>questions, one question at a time, and give me time to</a:t>
            </a:r>
            <a:endParaRPr lang="en-US" sz="1600" dirty="0"/>
          </a:p>
          <a:p>
            <a:pPr indent="0" marL="0">
              <a:lnSpc>
                <a:spcPts val="1940"/>
              </a:lnSpc>
              <a:buNone/>
            </a:pPr>
            <a:r>
              <a:rPr lang="en-US" sz="1600" dirty="0">
                <a:solidFill>
                  <a:srgbClr val="F7F3EA"/>
                </a:solidFill>
                <a:latin typeface="Courier New" pitchFamily="34" charset="0"/>
                <a:ea typeface="Courier New" pitchFamily="34" charset="-122"/>
                <a:cs typeface="Courier New" pitchFamily="34" charset="-120"/>
              </a:rPr>
              <a:t>answer. Start now with your greeting and Question 1 of</a:t>
            </a:r>
            <a:endParaRPr lang="en-US" sz="1600" dirty="0"/>
          </a:p>
          <a:p>
            <a:pPr indent="0" marL="0">
              <a:lnSpc>
                <a:spcPts val="1940"/>
              </a:lnSpc>
              <a:buNone/>
            </a:pPr>
            <a:r>
              <a:rPr lang="en-US" sz="1600" dirty="0">
                <a:solidFill>
                  <a:srgbClr val="F7F3EA"/>
                </a:solidFill>
                <a:latin typeface="Courier New" pitchFamily="34" charset="0"/>
                <a:ea typeface="Courier New" pitchFamily="34" charset="-122"/>
                <a:cs typeface="Courier New" pitchFamily="34" charset="-120"/>
              </a:rPr>
              <a:t>4.</a:t>
            </a:r>
            <a:endParaRPr lang="en-US" sz="1600" dirty="0"/>
          </a:p>
          <a:p>
            <a:pPr indent="0" marL="0">
              <a:lnSpc>
                <a:spcPts val="1940"/>
              </a:lnSpc>
              <a:buNone/>
            </a:pPr>
            <a:endParaRPr lang="en-US" sz="1600" dirty="0"/>
          </a:p>
          <a:p>
            <a:pPr indent="0" marL="0">
              <a:lnSpc>
                <a:spcPts val="1940"/>
              </a:lnSpc>
              <a:buNone/>
            </a:pPr>
            <a:r>
              <a:rPr lang="en-US" sz="1600" dirty="0">
                <a:solidFill>
                  <a:srgbClr val="F7F3EA"/>
                </a:solidFill>
                <a:latin typeface="Courier New" pitchFamily="34" charset="0"/>
                <a:ea typeface="Courier New" pitchFamily="34" charset="-122"/>
                <a:cs typeface="Courier New" pitchFamily="34" charset="-120"/>
              </a:rPr>
              <a:t>[the full template rides along in the same paste. One</a:t>
            </a:r>
            <a:endParaRPr lang="en-US" sz="1600" dirty="0"/>
          </a:p>
          <a:p>
            <a:pPr indent="0" marL="0">
              <a:lnSpc>
                <a:spcPts val="1940"/>
              </a:lnSpc>
              <a:buNone/>
            </a:pPr>
            <a:r>
              <a:rPr lang="en-US" sz="1600" dirty="0">
                <a:solidFill>
                  <a:srgbClr val="F7F3EA"/>
                </a:solidFill>
                <a:latin typeface="Courier New" pitchFamily="34" charset="0"/>
                <a:ea typeface="Courier New" pitchFamily="34" charset="-122"/>
                <a:cs typeface="Courier New" pitchFamily="34" charset="-120"/>
              </a:rPr>
              <a:t>copy button on the site, Step 2.]</a:t>
            </a:r>
            <a:endParaRPr lang="en-US" sz="1600" dirty="0"/>
          </a:p>
        </p:txBody>
      </p:sp>
      <p:sp>
        <p:nvSpPr>
          <p:cNvPr id="18" name="Shape 16"/>
          <p:cNvSpPr/>
          <p:nvPr/>
        </p:nvSpPr>
        <p:spPr>
          <a:xfrm>
            <a:off x="813816" y="4603943"/>
            <a:ext cx="7315200" cy="713232"/>
          </a:xfrm>
          <a:prstGeom prst="rect">
            <a:avLst/>
          </a:prstGeom>
          <a:solidFill>
            <a:srgbClr val="E8E2D2"/>
          </a:solidFill>
          <a:ln/>
        </p:spPr>
      </p:sp>
      <p:sp>
        <p:nvSpPr>
          <p:cNvPr id="19" name="Shape 17"/>
          <p:cNvSpPr/>
          <p:nvPr/>
        </p:nvSpPr>
        <p:spPr>
          <a:xfrm rot="2700000">
            <a:off x="996696" y="4864547"/>
            <a:ext cx="100584" cy="100584"/>
          </a:xfrm>
          <a:prstGeom prst="rect">
            <a:avLst/>
          </a:prstGeom>
          <a:solidFill>
            <a:srgbClr val="C9A227"/>
          </a:solidFill>
          <a:ln w="3175">
            <a:solidFill>
              <a:srgbClr val="C9A227"/>
            </a:solidFill>
            <a:prstDash val="solid"/>
          </a:ln>
        </p:spPr>
      </p:sp>
      <p:sp>
        <p:nvSpPr>
          <p:cNvPr id="20" name="Text 18"/>
          <p:cNvSpPr/>
          <p:nvPr/>
        </p:nvSpPr>
        <p:spPr>
          <a:xfrm>
            <a:off x="1307592" y="4786823"/>
            <a:ext cx="6638544" cy="347472"/>
          </a:xfrm>
          <a:prstGeom prst="rect">
            <a:avLst/>
          </a:prstGeom>
          <a:noFill/>
          <a:ln/>
        </p:spPr>
        <p:txBody>
          <a:bodyPr wrap="square" lIns="0" tIns="0" rIns="0" bIns="0" rtlCol="0" anchor="t"/>
          <a:lstStyle/>
          <a:p>
            <a:pPr indent="0" marL="0">
              <a:lnSpc>
                <a:spcPct val="116000"/>
              </a:lnSpc>
              <a:buNone/>
            </a:pPr>
            <a:r>
              <a:rPr lang="en-US" sz="1600" b="1" dirty="0">
                <a:solidFill>
                  <a:srgbClr val="8A6D14"/>
                </a:solidFill>
                <a:latin typeface="Arial" pitchFamily="34" charset="0"/>
                <a:ea typeface="Arial" pitchFamily="34" charset="-122"/>
                <a:cs typeface="Arial" pitchFamily="34" charset="-120"/>
              </a:rPr>
              <a:t>Take your time. The better you answer, the better she works.</a:t>
            </a:r>
            <a:endParaRPr lang="en-US" sz="1600" dirty="0"/>
          </a:p>
        </p:txBody>
      </p:sp>
      <p:sp>
        <p:nvSpPr>
          <p:cNvPr id="21" name="Text 19"/>
          <p:cNvSpPr/>
          <p:nvPr/>
        </p:nvSpPr>
        <p:spPr>
          <a:xfrm>
            <a:off x="8494776" y="1714439"/>
            <a:ext cx="2889504" cy="347472"/>
          </a:xfrm>
          <a:prstGeom prst="rect">
            <a:avLst/>
          </a:prstGeom>
          <a:noFill/>
          <a:ln/>
        </p:spPr>
        <p:txBody>
          <a:bodyPr wrap="square" lIns="0" tIns="0" rIns="0" bIns="0" rtlCol="0" anchor="t"/>
          <a:lstStyle/>
          <a:p>
            <a:pPr algn="l" indent="0" marL="0">
              <a:buNone/>
            </a:pPr>
            <a:r>
              <a:rPr lang="en-US" sz="1600" b="1" spc="160" kern="0" dirty="0">
                <a:solidFill>
                  <a:srgbClr val="8A6D14"/>
                </a:solidFill>
                <a:latin typeface="Arial" pitchFamily="34" charset="0"/>
                <a:ea typeface="Arial" pitchFamily="34" charset="-122"/>
                <a:cs typeface="Arial" pitchFamily="34" charset="-120"/>
              </a:rPr>
              <a:t>THE FOUR QUESTIONS</a:t>
            </a:r>
            <a:endParaRPr lang="en-US" sz="1600" dirty="0"/>
          </a:p>
        </p:txBody>
      </p:sp>
      <p:sp>
        <p:nvSpPr>
          <p:cNvPr id="22" name="Shape 20"/>
          <p:cNvSpPr/>
          <p:nvPr/>
        </p:nvSpPr>
        <p:spPr>
          <a:xfrm rot="2700000">
            <a:off x="8494776" y="2194499"/>
            <a:ext cx="100584" cy="100584"/>
          </a:xfrm>
          <a:prstGeom prst="rect">
            <a:avLst/>
          </a:prstGeom>
          <a:solidFill>
            <a:srgbClr val="C9A227"/>
          </a:solidFill>
          <a:ln w="3175">
            <a:solidFill>
              <a:srgbClr val="C9A227"/>
            </a:solidFill>
            <a:prstDash val="solid"/>
          </a:ln>
        </p:spPr>
      </p:sp>
      <p:sp>
        <p:nvSpPr>
          <p:cNvPr id="23" name="Text 21"/>
          <p:cNvSpPr/>
          <p:nvPr/>
        </p:nvSpPr>
        <p:spPr>
          <a:xfrm>
            <a:off x="8805672" y="2116775"/>
            <a:ext cx="2578608" cy="603504"/>
          </a:xfrm>
          <a:prstGeom prst="rect">
            <a:avLst/>
          </a:prstGeom>
          <a:noFill/>
          <a:ln/>
        </p:spPr>
        <p:txBody>
          <a:bodyPr wrap="square" lIns="0" tIns="0" rIns="0" bIns="0" rtlCol="0" anchor="t"/>
          <a:lstStyle/>
          <a:p>
            <a:pPr indent="0" marL="0">
              <a:lnSpc>
                <a:spcPct val="116000"/>
              </a:lnSpc>
              <a:buNone/>
            </a:pPr>
            <a:r>
              <a:rPr lang="en-US" sz="1600" b="1" dirty="0">
                <a:solidFill>
                  <a:srgbClr val="8A6D14"/>
                </a:solidFill>
                <a:latin typeface="Arial" pitchFamily="34" charset="0"/>
                <a:ea typeface="Arial" pitchFamily="34" charset="-122"/>
                <a:cs typeface="Arial" pitchFamily="34" charset="-120"/>
              </a:rPr>
              <a:t>1 · Reply Now </a:t>
            </a:r>
            <a:pPr indent="0" marL="0">
              <a:lnSpc>
                <a:spcPct val="116000"/>
              </a:lnSpc>
              <a:buNone/>
            </a:pPr>
            <a:r>
              <a:rPr lang="en-US" sz="1600" dirty="0">
                <a:solidFill>
                  <a:srgbClr val="14213D"/>
                </a:solidFill>
                <a:latin typeface="Arial" pitchFamily="34" charset="0"/>
                <a:ea typeface="Arial" pitchFamily="34" charset="-122"/>
                <a:cs typeface="Arial" pitchFamily="34" charset="-120"/>
              </a:rPr>
              <a:t>the 3 to 5 who never wait</a:t>
            </a:r>
            <a:endParaRPr lang="en-US" sz="1600" dirty="0"/>
          </a:p>
        </p:txBody>
      </p:sp>
      <p:sp>
        <p:nvSpPr>
          <p:cNvPr id="24" name="Shape 22"/>
          <p:cNvSpPr/>
          <p:nvPr/>
        </p:nvSpPr>
        <p:spPr>
          <a:xfrm rot="2700000">
            <a:off x="8494776" y="2926019"/>
            <a:ext cx="100584" cy="100584"/>
          </a:xfrm>
          <a:prstGeom prst="rect">
            <a:avLst/>
          </a:prstGeom>
          <a:solidFill>
            <a:srgbClr val="C9A227"/>
          </a:solidFill>
          <a:ln w="3175">
            <a:solidFill>
              <a:srgbClr val="C9A227"/>
            </a:solidFill>
            <a:prstDash val="solid"/>
          </a:ln>
        </p:spPr>
      </p:sp>
      <p:sp>
        <p:nvSpPr>
          <p:cNvPr id="25" name="Text 23"/>
          <p:cNvSpPr/>
          <p:nvPr/>
        </p:nvSpPr>
        <p:spPr>
          <a:xfrm>
            <a:off x="8805672" y="2848295"/>
            <a:ext cx="2578608" cy="603504"/>
          </a:xfrm>
          <a:prstGeom prst="rect">
            <a:avLst/>
          </a:prstGeom>
          <a:noFill/>
          <a:ln/>
        </p:spPr>
        <p:txBody>
          <a:bodyPr wrap="square" lIns="0" tIns="0" rIns="0" bIns="0" rtlCol="0" anchor="t"/>
          <a:lstStyle/>
          <a:p>
            <a:pPr indent="0" marL="0">
              <a:lnSpc>
                <a:spcPct val="116000"/>
              </a:lnSpc>
              <a:buNone/>
            </a:pPr>
            <a:r>
              <a:rPr lang="en-US" sz="1600" b="1" dirty="0">
                <a:solidFill>
                  <a:srgbClr val="8A6D14"/>
                </a:solidFill>
                <a:latin typeface="Arial" pitchFamily="34" charset="0"/>
                <a:ea typeface="Arial" pitchFamily="34" charset="-122"/>
                <a:cs typeface="Arial" pitchFamily="34" charset="-120"/>
              </a:rPr>
              <a:t>2 · By End of Day </a:t>
            </a:r>
            <a:pPr indent="0" marL="0">
              <a:lnSpc>
                <a:spcPct val="116000"/>
              </a:lnSpc>
              <a:buNone/>
            </a:pPr>
            <a:r>
              <a:rPr lang="en-US" sz="1600" dirty="0">
                <a:solidFill>
                  <a:srgbClr val="14213D"/>
                </a:solidFill>
                <a:latin typeface="Arial" pitchFamily="34" charset="0"/>
                <a:ea typeface="Arial" pitchFamily="34" charset="-122"/>
                <a:cs typeface="Arial" pitchFamily="34" charset="-120"/>
              </a:rPr>
              <a:t>your team</a:t>
            </a:r>
            <a:endParaRPr lang="en-US" sz="1600" dirty="0"/>
          </a:p>
        </p:txBody>
      </p:sp>
      <p:sp>
        <p:nvSpPr>
          <p:cNvPr id="26" name="Shape 24"/>
          <p:cNvSpPr/>
          <p:nvPr/>
        </p:nvSpPr>
        <p:spPr>
          <a:xfrm rot="2700000">
            <a:off x="8494776" y="3657539"/>
            <a:ext cx="100584" cy="100584"/>
          </a:xfrm>
          <a:prstGeom prst="rect">
            <a:avLst/>
          </a:prstGeom>
          <a:solidFill>
            <a:srgbClr val="C9A227"/>
          </a:solidFill>
          <a:ln w="3175">
            <a:solidFill>
              <a:srgbClr val="C9A227"/>
            </a:solidFill>
            <a:prstDash val="solid"/>
          </a:ln>
        </p:spPr>
      </p:sp>
      <p:sp>
        <p:nvSpPr>
          <p:cNvPr id="27" name="Text 25"/>
          <p:cNvSpPr/>
          <p:nvPr/>
        </p:nvSpPr>
        <p:spPr>
          <a:xfrm>
            <a:off x="8805672" y="3579815"/>
            <a:ext cx="2578608" cy="603504"/>
          </a:xfrm>
          <a:prstGeom prst="rect">
            <a:avLst/>
          </a:prstGeom>
          <a:noFill/>
          <a:ln/>
        </p:spPr>
        <p:txBody>
          <a:bodyPr wrap="square" lIns="0" tIns="0" rIns="0" bIns="0" rtlCol="0" anchor="t"/>
          <a:lstStyle/>
          <a:p>
            <a:pPr indent="0" marL="0">
              <a:lnSpc>
                <a:spcPct val="116000"/>
              </a:lnSpc>
              <a:buNone/>
            </a:pPr>
            <a:r>
              <a:rPr lang="en-US" sz="1600" b="1" dirty="0">
                <a:solidFill>
                  <a:srgbClr val="8A6D14"/>
                </a:solidFill>
                <a:latin typeface="Arial" pitchFamily="34" charset="0"/>
                <a:ea typeface="Arial" pitchFamily="34" charset="-122"/>
                <a:cs typeface="Arial" pitchFamily="34" charset="-120"/>
              </a:rPr>
              <a:t>3 · Your priorities </a:t>
            </a:r>
            <a:pPr indent="0" marL="0">
              <a:lnSpc>
                <a:spcPct val="116000"/>
              </a:lnSpc>
              <a:buNone/>
            </a:pPr>
            <a:r>
              <a:rPr lang="en-US" sz="1600" dirty="0">
                <a:solidFill>
                  <a:srgbClr val="14213D"/>
                </a:solidFill>
                <a:latin typeface="Arial" pitchFamily="34" charset="0"/>
                <a:ea typeface="Arial" pitchFamily="34" charset="-122"/>
                <a:cs typeface="Arial" pitchFamily="34" charset="-120"/>
              </a:rPr>
              <a:t>one to three, right now</a:t>
            </a:r>
            <a:endParaRPr lang="en-US" sz="1600" dirty="0"/>
          </a:p>
        </p:txBody>
      </p:sp>
      <p:sp>
        <p:nvSpPr>
          <p:cNvPr id="28" name="Shape 26"/>
          <p:cNvSpPr/>
          <p:nvPr/>
        </p:nvSpPr>
        <p:spPr>
          <a:xfrm rot="2700000">
            <a:off x="8494776" y="4389059"/>
            <a:ext cx="100584" cy="100584"/>
          </a:xfrm>
          <a:prstGeom prst="rect">
            <a:avLst/>
          </a:prstGeom>
          <a:solidFill>
            <a:srgbClr val="C9A227"/>
          </a:solidFill>
          <a:ln w="3175">
            <a:solidFill>
              <a:srgbClr val="C9A227"/>
            </a:solidFill>
            <a:prstDash val="solid"/>
          </a:ln>
        </p:spPr>
      </p:sp>
      <p:sp>
        <p:nvSpPr>
          <p:cNvPr id="29" name="Text 27"/>
          <p:cNvSpPr/>
          <p:nvPr/>
        </p:nvSpPr>
        <p:spPr>
          <a:xfrm>
            <a:off x="8805672" y="4311335"/>
            <a:ext cx="2578608" cy="603504"/>
          </a:xfrm>
          <a:prstGeom prst="rect">
            <a:avLst/>
          </a:prstGeom>
          <a:noFill/>
          <a:ln/>
        </p:spPr>
        <p:txBody>
          <a:bodyPr wrap="square" lIns="0" tIns="0" rIns="0" bIns="0" rtlCol="0" anchor="t"/>
          <a:lstStyle/>
          <a:p>
            <a:pPr indent="0" marL="0">
              <a:lnSpc>
                <a:spcPct val="116000"/>
              </a:lnSpc>
              <a:buNone/>
            </a:pPr>
            <a:r>
              <a:rPr lang="en-US" sz="1600" b="1" dirty="0">
                <a:solidFill>
                  <a:srgbClr val="8A6D14"/>
                </a:solidFill>
                <a:latin typeface="Arial" pitchFamily="34" charset="0"/>
                <a:ea typeface="Arial" pitchFamily="34" charset="-122"/>
                <a:cs typeface="Arial" pitchFamily="34" charset="-120"/>
              </a:rPr>
              <a:t>4 · Your voice </a:t>
            </a:r>
            <a:pPr indent="0" marL="0">
              <a:lnSpc>
                <a:spcPct val="116000"/>
              </a:lnSpc>
              <a:buNone/>
            </a:pPr>
            <a:r>
              <a:rPr lang="en-US" sz="1600" dirty="0">
                <a:solidFill>
                  <a:srgbClr val="14213D"/>
                </a:solidFill>
                <a:latin typeface="Arial" pitchFamily="34" charset="0"/>
                <a:ea typeface="Arial" pitchFamily="34" charset="-122"/>
                <a:cs typeface="Arial" pitchFamily="34" charset="-120"/>
              </a:rPr>
              <a:t>three words and a sign-off</a:t>
            </a:r>
            <a:endParaRPr lang="en-US" sz="16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4213D"/>
        </a:solidFill>
      </p:bgPr>
    </p:bg>
    <p:spTree>
      <p:nvGrpSpPr>
        <p:cNvPr id="1" name=""/>
        <p:cNvGrpSpPr/>
        <p:nvPr/>
      </p:nvGrpSpPr>
      <p:grpSpPr>
        <a:xfrm>
          <a:off x="0" y="0"/>
          <a:ext cx="0" cy="0"/>
          <a:chOff x="0" y="0"/>
          <a:chExt cx="0" cy="0"/>
        </a:xfrm>
      </p:grpSpPr>
      <p:sp>
        <p:nvSpPr>
          <p:cNvPr id="2" name="Shape 0"/>
          <p:cNvSpPr/>
          <p:nvPr/>
        </p:nvSpPr>
        <p:spPr>
          <a:xfrm>
            <a:off x="813816" y="5779008"/>
            <a:ext cx="10570464" cy="0"/>
          </a:xfrm>
          <a:prstGeom prst="line">
            <a:avLst/>
          </a:prstGeom>
          <a:noFill/>
          <a:ln w="9525">
            <a:solidFill>
              <a:srgbClr val="C9A227"/>
            </a:solidFill>
            <a:prstDash val="solid"/>
          </a:ln>
        </p:spPr>
      </p:sp>
      <p:sp>
        <p:nvSpPr>
          <p:cNvPr id="3" name="Text 1"/>
          <p:cNvSpPr/>
          <p:nvPr/>
        </p:nvSpPr>
        <p:spPr>
          <a:xfrm>
            <a:off x="813816" y="5907024"/>
            <a:ext cx="3358896" cy="274320"/>
          </a:xfrm>
          <a:prstGeom prst="rect">
            <a:avLst/>
          </a:prstGeom>
          <a:noFill/>
          <a:ln/>
        </p:spPr>
        <p:txBody>
          <a:bodyPr wrap="square" lIns="0" tIns="0" rIns="0" bIns="0" rtlCol="0" anchor="ctr"/>
          <a:lstStyle/>
          <a:p>
            <a:pPr indent="0" marL="0">
              <a:buNone/>
            </a:pPr>
            <a:r>
              <a:rPr lang="en-US" sz="1600" spc="120" kern="0" dirty="0">
                <a:solidFill>
                  <a:srgbClr val="AFA893"/>
                </a:solidFill>
                <a:latin typeface="Arial" pitchFamily="34" charset="0"/>
                <a:ea typeface="Arial" pitchFamily="34" charset="-122"/>
                <a:cs typeface="Arial" pitchFamily="34" charset="-120"/>
              </a:rPr>
              <a:t>BUILD YOUR OWN DONNA</a:t>
            </a:r>
            <a:endParaRPr lang="en-US" sz="1600" dirty="0"/>
          </a:p>
        </p:txBody>
      </p:sp>
      <p:sp>
        <p:nvSpPr>
          <p:cNvPr id="4" name="Shape 2"/>
          <p:cNvSpPr/>
          <p:nvPr/>
        </p:nvSpPr>
        <p:spPr>
          <a:xfrm rot="2700000">
            <a:off x="4227576" y="6012180"/>
            <a:ext cx="64008" cy="64008"/>
          </a:xfrm>
          <a:prstGeom prst="rect">
            <a:avLst/>
          </a:prstGeom>
          <a:solidFill>
            <a:srgbClr val="C9A227"/>
          </a:solidFill>
          <a:ln w="3175">
            <a:solidFill>
              <a:srgbClr val="C9A227"/>
            </a:solidFill>
            <a:prstDash val="solid"/>
          </a:ln>
        </p:spPr>
      </p:sp>
      <p:sp>
        <p:nvSpPr>
          <p:cNvPr id="5" name="Text 3"/>
          <p:cNvSpPr/>
          <p:nvPr/>
        </p:nvSpPr>
        <p:spPr>
          <a:xfrm>
            <a:off x="4410456" y="5907024"/>
            <a:ext cx="2712720" cy="274320"/>
          </a:xfrm>
          <a:prstGeom prst="rect">
            <a:avLst/>
          </a:prstGeom>
          <a:noFill/>
          <a:ln/>
        </p:spPr>
        <p:txBody>
          <a:bodyPr wrap="square" lIns="0" tIns="0" rIns="0" bIns="0" rtlCol="0" anchor="ctr"/>
          <a:lstStyle/>
          <a:p>
            <a:pPr indent="0" marL="0">
              <a:buNone/>
            </a:pPr>
            <a:r>
              <a:rPr lang="en-US" sz="1600" spc="120" kern="0" dirty="0">
                <a:solidFill>
                  <a:srgbClr val="AFA893"/>
                </a:solidFill>
                <a:latin typeface="Arial" pitchFamily="34" charset="0"/>
                <a:ea typeface="Arial" pitchFamily="34" charset="-122"/>
                <a:cs typeface="Arial" pitchFamily="34" charset="-120"/>
              </a:rPr>
              <a:t>OCTOBER 21, 2026</a:t>
            </a:r>
            <a:endParaRPr lang="en-US" sz="1600" dirty="0"/>
          </a:p>
        </p:txBody>
      </p:sp>
      <p:sp>
        <p:nvSpPr>
          <p:cNvPr id="6" name="Text 4"/>
          <p:cNvSpPr/>
          <p:nvPr/>
        </p:nvSpPr>
        <p:spPr>
          <a:xfrm>
            <a:off x="10652760" y="5907024"/>
            <a:ext cx="731520" cy="274320"/>
          </a:xfrm>
          <a:prstGeom prst="rect">
            <a:avLst/>
          </a:prstGeom>
          <a:noFill/>
          <a:ln/>
        </p:spPr>
        <p:txBody>
          <a:bodyPr wrap="square" lIns="0" tIns="0" rIns="0" bIns="0" rtlCol="0" anchor="ctr"/>
          <a:lstStyle/>
          <a:p>
            <a:pPr algn="r" indent="0" marL="0">
              <a:buNone/>
            </a:pPr>
            <a:r>
              <a:rPr lang="en-US" sz="1600" spc="120" kern="0" dirty="0">
                <a:solidFill>
                  <a:srgbClr val="AFA893"/>
                </a:solidFill>
                <a:latin typeface="Arial" pitchFamily="34" charset="0"/>
                <a:ea typeface="Arial" pitchFamily="34" charset="-122"/>
                <a:cs typeface="Arial" pitchFamily="34" charset="-120"/>
              </a:rPr>
              <a:t>21</a:t>
            </a:r>
            <a:endParaRPr lang="en-US" sz="1600" dirty="0"/>
          </a:p>
        </p:txBody>
      </p:sp>
      <p:sp>
        <p:nvSpPr>
          <p:cNvPr id="7" name="Shape 5"/>
          <p:cNvSpPr/>
          <p:nvPr/>
        </p:nvSpPr>
        <p:spPr>
          <a:xfrm>
            <a:off x="10789920" y="438912"/>
            <a:ext cx="548640" cy="548640"/>
          </a:xfrm>
          <a:prstGeom prst="ellipse">
            <a:avLst/>
          </a:prstGeom>
          <a:ln w="9525">
            <a:solidFill>
              <a:srgbClr val="C9A227"/>
            </a:solidFill>
            <a:prstDash val="solid"/>
          </a:ln>
        </p:spPr>
      </p:sp>
      <p:sp>
        <p:nvSpPr>
          <p:cNvPr id="8" name="Shape 6"/>
          <p:cNvSpPr/>
          <p:nvPr/>
        </p:nvSpPr>
        <p:spPr>
          <a:xfrm>
            <a:off x="10986516" y="361188"/>
            <a:ext cx="155448" cy="155448"/>
          </a:xfrm>
          <a:prstGeom prst="ellipse">
            <a:avLst/>
          </a:prstGeom>
          <a:solidFill>
            <a:srgbClr val="C9A227"/>
          </a:solidFill>
          <a:ln w="9525">
            <a:solidFill>
              <a:srgbClr val="C9A227"/>
            </a:solidFill>
            <a:prstDash val="solid"/>
          </a:ln>
        </p:spPr>
      </p:sp>
      <p:sp>
        <p:nvSpPr>
          <p:cNvPr id="9" name="Shape 7"/>
          <p:cNvSpPr/>
          <p:nvPr/>
        </p:nvSpPr>
        <p:spPr>
          <a:xfrm>
            <a:off x="11260836" y="635508"/>
            <a:ext cx="155448" cy="155448"/>
          </a:xfrm>
          <a:prstGeom prst="ellipse">
            <a:avLst/>
          </a:prstGeom>
          <a:solidFill>
            <a:srgbClr val="C9A227"/>
          </a:solidFill>
          <a:ln w="9525">
            <a:solidFill>
              <a:srgbClr val="C9A227"/>
            </a:solidFill>
            <a:prstDash val="solid"/>
          </a:ln>
        </p:spPr>
      </p:sp>
      <p:sp>
        <p:nvSpPr>
          <p:cNvPr id="10" name="Shape 8"/>
          <p:cNvSpPr/>
          <p:nvPr/>
        </p:nvSpPr>
        <p:spPr>
          <a:xfrm>
            <a:off x="10986516" y="909828"/>
            <a:ext cx="155448" cy="155448"/>
          </a:xfrm>
          <a:prstGeom prst="ellipse">
            <a:avLst/>
          </a:prstGeom>
          <a:solidFill>
            <a:srgbClr val="14213D"/>
          </a:solidFill>
          <a:ln w="9525">
            <a:solidFill>
              <a:srgbClr val="C9A227"/>
            </a:solidFill>
            <a:prstDash val="solid"/>
          </a:ln>
        </p:spPr>
      </p:sp>
      <p:sp>
        <p:nvSpPr>
          <p:cNvPr id="11" name="Shape 9"/>
          <p:cNvSpPr/>
          <p:nvPr/>
        </p:nvSpPr>
        <p:spPr>
          <a:xfrm>
            <a:off x="10712196" y="635508"/>
            <a:ext cx="155448" cy="155448"/>
          </a:xfrm>
          <a:prstGeom prst="ellipse">
            <a:avLst/>
          </a:prstGeom>
          <a:solidFill>
            <a:srgbClr val="14213D"/>
          </a:solidFill>
          <a:ln w="9525">
            <a:solidFill>
              <a:srgbClr val="C9A227"/>
            </a:solidFill>
            <a:prstDash val="solid"/>
          </a:ln>
        </p:spPr>
      </p:sp>
      <p:sp>
        <p:nvSpPr>
          <p:cNvPr id="12" name="Text 10"/>
          <p:cNvSpPr/>
          <p:nvPr/>
        </p:nvSpPr>
        <p:spPr>
          <a:xfrm>
            <a:off x="10447020" y="1097280"/>
            <a:ext cx="937260" cy="274320"/>
          </a:xfrm>
          <a:prstGeom prst="rect">
            <a:avLst/>
          </a:prstGeom>
          <a:noFill/>
          <a:ln/>
        </p:spPr>
        <p:txBody>
          <a:bodyPr wrap="square" lIns="0" tIns="0" rIns="0" bIns="0" rtlCol="0" anchor="ctr"/>
          <a:lstStyle/>
          <a:p>
            <a:pPr algn="r" indent="0" marL="0">
              <a:buNone/>
            </a:pPr>
            <a:r>
              <a:rPr lang="en-US" sz="1600" b="1" spc="120" kern="0" dirty="0">
                <a:solidFill>
                  <a:srgbClr val="E7C766"/>
                </a:solidFill>
                <a:latin typeface="Arial" pitchFamily="34" charset="0"/>
                <a:ea typeface="Arial" pitchFamily="34" charset="-122"/>
                <a:cs typeface="Arial" pitchFamily="34" charset="-120"/>
              </a:rPr>
              <a:t>TEACH</a:t>
            </a:r>
            <a:endParaRPr lang="en-US" sz="1600" dirty="0"/>
          </a:p>
        </p:txBody>
      </p:sp>
      <p:sp>
        <p:nvSpPr>
          <p:cNvPr id="13" name="Text 11"/>
          <p:cNvSpPr/>
          <p:nvPr/>
        </p:nvSpPr>
        <p:spPr>
          <a:xfrm>
            <a:off x="813816" y="457200"/>
            <a:ext cx="9692640" cy="310896"/>
          </a:xfrm>
          <a:prstGeom prst="rect">
            <a:avLst/>
          </a:prstGeom>
          <a:noFill/>
          <a:ln/>
        </p:spPr>
        <p:txBody>
          <a:bodyPr wrap="square" lIns="0" tIns="0" rIns="0" bIns="0" rtlCol="0" anchor="ctr"/>
          <a:lstStyle/>
          <a:p>
            <a:pPr indent="0" marL="0">
              <a:buNone/>
            </a:pPr>
            <a:r>
              <a:rPr lang="en-US" sz="1600" b="1" spc="180" kern="0" dirty="0">
                <a:solidFill>
                  <a:srgbClr val="E7C766"/>
                </a:solidFill>
                <a:latin typeface="Arial" pitchFamily="34" charset="0"/>
                <a:ea typeface="Arial" pitchFamily="34" charset="-122"/>
                <a:cs typeface="Arial" pitchFamily="34" charset="-120"/>
              </a:rPr>
              <a:t>STEP TWO  ·  CHECKPOINT</a:t>
            </a:r>
            <a:endParaRPr lang="en-US" sz="1600" dirty="0"/>
          </a:p>
        </p:txBody>
      </p:sp>
      <p:sp>
        <p:nvSpPr>
          <p:cNvPr id="14" name="Text 12"/>
          <p:cNvSpPr/>
          <p:nvPr/>
        </p:nvSpPr>
        <p:spPr>
          <a:xfrm>
            <a:off x="1340968" y="1737360"/>
            <a:ext cx="9509760" cy="1399642"/>
          </a:xfrm>
          <a:prstGeom prst="rect">
            <a:avLst/>
          </a:prstGeom>
          <a:noFill/>
          <a:ln/>
        </p:spPr>
        <p:txBody>
          <a:bodyPr wrap="square" lIns="0" tIns="0" rIns="0" bIns="0" rtlCol="0" anchor="t"/>
          <a:lstStyle/>
          <a:p>
            <a:pPr algn="ctr" indent="0" marL="0">
              <a:buNone/>
            </a:pPr>
            <a:r>
              <a:rPr lang="en-US" sz="4000" b="1" dirty="0">
                <a:solidFill>
                  <a:srgbClr val="F7F3EA"/>
                </a:solidFill>
                <a:latin typeface="Georgia" pitchFamily="34" charset="0"/>
                <a:ea typeface="Georgia" pitchFamily="34" charset="-122"/>
                <a:cs typeface="Georgia" pitchFamily="34" charset="-120"/>
              </a:rPr>
              <a:t>You get one table instead of an inbox.</a:t>
            </a:r>
            <a:endParaRPr lang="en-US" sz="4000" dirty="0"/>
          </a:p>
        </p:txBody>
      </p:sp>
      <p:sp>
        <p:nvSpPr>
          <p:cNvPr id="15" name="Shape 13"/>
          <p:cNvSpPr/>
          <p:nvPr/>
        </p:nvSpPr>
        <p:spPr>
          <a:xfrm>
            <a:off x="3352648" y="3722218"/>
            <a:ext cx="5486400" cy="1014984"/>
          </a:xfrm>
          <a:prstGeom prst="rect">
            <a:avLst/>
          </a:prstGeom>
          <a:solidFill>
            <a:srgbClr val="1C2333"/>
          </a:solidFill>
          <a:ln/>
        </p:spPr>
      </p:sp>
      <p:sp>
        <p:nvSpPr>
          <p:cNvPr id="16" name="Text 14"/>
          <p:cNvSpPr/>
          <p:nvPr/>
        </p:nvSpPr>
        <p:spPr>
          <a:xfrm>
            <a:off x="3608680" y="3877666"/>
            <a:ext cx="4974336" cy="274320"/>
          </a:xfrm>
          <a:prstGeom prst="rect">
            <a:avLst/>
          </a:prstGeom>
          <a:noFill/>
          <a:ln/>
        </p:spPr>
        <p:txBody>
          <a:bodyPr wrap="square" lIns="0" tIns="0" rIns="0" bIns="0" rtlCol="0" anchor="ctr"/>
          <a:lstStyle/>
          <a:p>
            <a:pPr indent="0" marL="0">
              <a:buNone/>
            </a:pPr>
            <a:r>
              <a:rPr lang="en-US" sz="1600" b="1" spc="140" kern="0" dirty="0">
                <a:solidFill>
                  <a:srgbClr val="E7C766"/>
                </a:solidFill>
                <a:latin typeface="Arial" pitchFamily="34" charset="0"/>
                <a:ea typeface="Arial" pitchFamily="34" charset="-122"/>
                <a:cs typeface="Arial" pitchFamily="34" charset="-120"/>
              </a:rPr>
              <a:t>THE ENTIRE DAILY RITUAL, FROM NOW ON</a:t>
            </a:r>
            <a:endParaRPr lang="en-US" sz="1600" dirty="0"/>
          </a:p>
        </p:txBody>
      </p:sp>
      <p:sp>
        <p:nvSpPr>
          <p:cNvPr id="17" name="Text 15"/>
          <p:cNvSpPr/>
          <p:nvPr/>
        </p:nvSpPr>
        <p:spPr>
          <a:xfrm>
            <a:off x="3608680" y="4234282"/>
            <a:ext cx="4974336" cy="374904"/>
          </a:xfrm>
          <a:prstGeom prst="rect">
            <a:avLst/>
          </a:prstGeom>
          <a:noFill/>
          <a:ln/>
        </p:spPr>
        <p:txBody>
          <a:bodyPr wrap="square" lIns="0" tIns="0" rIns="0" bIns="0" rtlCol="0" anchor="t"/>
          <a:lstStyle/>
          <a:p>
            <a:pPr indent="0" marL="0">
              <a:lnSpc>
                <a:spcPts val="1940"/>
              </a:lnSpc>
              <a:buNone/>
            </a:pPr>
            <a:r>
              <a:rPr lang="en-US" sz="1600" dirty="0">
                <a:solidFill>
                  <a:srgbClr val="F7F3EA"/>
                </a:solidFill>
                <a:latin typeface="Courier New" pitchFamily="34" charset="0"/>
                <a:ea typeface="Courier New" pitchFamily="34" charset="-122"/>
                <a:cs typeface="Courier New" pitchFamily="34" charset="-120"/>
              </a:rPr>
              <a:t>Triage my inbox.</a:t>
            </a:r>
            <a:endParaRPr lang="en-US" sz="1600" dirty="0"/>
          </a:p>
        </p:txBody>
      </p:sp>
      <p:sp>
        <p:nvSpPr>
          <p:cNvPr id="18" name="Text 16"/>
          <p:cNvSpPr/>
          <p:nvPr/>
        </p:nvSpPr>
        <p:spPr>
          <a:xfrm>
            <a:off x="813816" y="5121250"/>
            <a:ext cx="10570464" cy="329184"/>
          </a:xfrm>
          <a:prstGeom prst="rect">
            <a:avLst/>
          </a:prstGeom>
          <a:noFill/>
          <a:ln/>
        </p:spPr>
        <p:txBody>
          <a:bodyPr wrap="square" lIns="0" tIns="0" rIns="0" bIns="0" rtlCol="0" anchor="ctr"/>
          <a:lstStyle/>
          <a:p>
            <a:pPr algn="ctr" indent="0" marL="0">
              <a:buNone/>
            </a:pPr>
            <a:r>
              <a:rPr lang="en-US" sz="1800" b="1" dirty="0">
                <a:solidFill>
                  <a:srgbClr val="E7C766"/>
                </a:solidFill>
                <a:latin typeface="Arial" pitchFamily="34" charset="0"/>
                <a:ea typeface="Arial" pitchFamily="34" charset="-122"/>
                <a:cs typeface="Arial" pitchFamily="34" charset="-120"/>
              </a:rPr>
              <a:t>Chat is a conversation. A playbook is a standing arrangement.</a:t>
            </a:r>
            <a:endParaRPr lang="en-US" sz="1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4213D"/>
        </a:solidFill>
      </p:bgPr>
    </p:bg>
    <p:spTree>
      <p:nvGrpSpPr>
        <p:cNvPr id="1" name=""/>
        <p:cNvGrpSpPr/>
        <p:nvPr/>
      </p:nvGrpSpPr>
      <p:grpSpPr>
        <a:xfrm>
          <a:off x="0" y="0"/>
          <a:ext cx="0" cy="0"/>
          <a:chOff x="0" y="0"/>
          <a:chExt cx="0" cy="0"/>
        </a:xfrm>
      </p:grpSpPr>
      <p:sp>
        <p:nvSpPr>
          <p:cNvPr id="2" name="Shape 0"/>
          <p:cNvSpPr/>
          <p:nvPr/>
        </p:nvSpPr>
        <p:spPr>
          <a:xfrm>
            <a:off x="813816" y="5779008"/>
            <a:ext cx="10570464" cy="0"/>
          </a:xfrm>
          <a:prstGeom prst="line">
            <a:avLst/>
          </a:prstGeom>
          <a:noFill/>
          <a:ln w="9525">
            <a:solidFill>
              <a:srgbClr val="C9A227"/>
            </a:solidFill>
            <a:prstDash val="solid"/>
          </a:ln>
        </p:spPr>
      </p:sp>
      <p:sp>
        <p:nvSpPr>
          <p:cNvPr id="3" name="Text 1"/>
          <p:cNvSpPr/>
          <p:nvPr/>
        </p:nvSpPr>
        <p:spPr>
          <a:xfrm>
            <a:off x="813816" y="5907024"/>
            <a:ext cx="3358896" cy="274320"/>
          </a:xfrm>
          <a:prstGeom prst="rect">
            <a:avLst/>
          </a:prstGeom>
          <a:noFill/>
          <a:ln/>
        </p:spPr>
        <p:txBody>
          <a:bodyPr wrap="square" lIns="0" tIns="0" rIns="0" bIns="0" rtlCol="0" anchor="ctr"/>
          <a:lstStyle/>
          <a:p>
            <a:pPr indent="0" marL="0">
              <a:buNone/>
            </a:pPr>
            <a:r>
              <a:rPr lang="en-US" sz="1600" spc="120" kern="0" dirty="0">
                <a:solidFill>
                  <a:srgbClr val="AFA893"/>
                </a:solidFill>
                <a:latin typeface="Arial" pitchFamily="34" charset="0"/>
                <a:ea typeface="Arial" pitchFamily="34" charset="-122"/>
                <a:cs typeface="Arial" pitchFamily="34" charset="-120"/>
              </a:rPr>
              <a:t>BUILD YOUR OWN DONNA</a:t>
            </a:r>
            <a:endParaRPr lang="en-US" sz="1600" dirty="0"/>
          </a:p>
        </p:txBody>
      </p:sp>
      <p:sp>
        <p:nvSpPr>
          <p:cNvPr id="4" name="Shape 2"/>
          <p:cNvSpPr/>
          <p:nvPr/>
        </p:nvSpPr>
        <p:spPr>
          <a:xfrm rot="2700000">
            <a:off x="4227576" y="6012180"/>
            <a:ext cx="64008" cy="64008"/>
          </a:xfrm>
          <a:prstGeom prst="rect">
            <a:avLst/>
          </a:prstGeom>
          <a:solidFill>
            <a:srgbClr val="C9A227"/>
          </a:solidFill>
          <a:ln w="3175">
            <a:solidFill>
              <a:srgbClr val="C9A227"/>
            </a:solidFill>
            <a:prstDash val="solid"/>
          </a:ln>
        </p:spPr>
      </p:sp>
      <p:sp>
        <p:nvSpPr>
          <p:cNvPr id="5" name="Text 3"/>
          <p:cNvSpPr/>
          <p:nvPr/>
        </p:nvSpPr>
        <p:spPr>
          <a:xfrm>
            <a:off x="4410456" y="5907024"/>
            <a:ext cx="2712720" cy="274320"/>
          </a:xfrm>
          <a:prstGeom prst="rect">
            <a:avLst/>
          </a:prstGeom>
          <a:noFill/>
          <a:ln/>
        </p:spPr>
        <p:txBody>
          <a:bodyPr wrap="square" lIns="0" tIns="0" rIns="0" bIns="0" rtlCol="0" anchor="ctr"/>
          <a:lstStyle/>
          <a:p>
            <a:pPr indent="0" marL="0">
              <a:buNone/>
            </a:pPr>
            <a:r>
              <a:rPr lang="en-US" sz="1600" spc="120" kern="0" dirty="0">
                <a:solidFill>
                  <a:srgbClr val="AFA893"/>
                </a:solidFill>
                <a:latin typeface="Arial" pitchFamily="34" charset="0"/>
                <a:ea typeface="Arial" pitchFamily="34" charset="-122"/>
                <a:cs typeface="Arial" pitchFamily="34" charset="-120"/>
              </a:rPr>
              <a:t>OCTOBER 21, 2026</a:t>
            </a:r>
            <a:endParaRPr lang="en-US" sz="1600" dirty="0"/>
          </a:p>
        </p:txBody>
      </p:sp>
      <p:sp>
        <p:nvSpPr>
          <p:cNvPr id="6" name="Text 4"/>
          <p:cNvSpPr/>
          <p:nvPr/>
        </p:nvSpPr>
        <p:spPr>
          <a:xfrm>
            <a:off x="10652760" y="5907024"/>
            <a:ext cx="731520" cy="274320"/>
          </a:xfrm>
          <a:prstGeom prst="rect">
            <a:avLst/>
          </a:prstGeom>
          <a:noFill/>
          <a:ln/>
        </p:spPr>
        <p:txBody>
          <a:bodyPr wrap="square" lIns="0" tIns="0" rIns="0" bIns="0" rtlCol="0" anchor="ctr"/>
          <a:lstStyle/>
          <a:p>
            <a:pPr algn="r" indent="0" marL="0">
              <a:buNone/>
            </a:pPr>
            <a:r>
              <a:rPr lang="en-US" sz="1600" spc="120" kern="0" dirty="0">
                <a:solidFill>
                  <a:srgbClr val="AFA893"/>
                </a:solidFill>
                <a:latin typeface="Arial" pitchFamily="34" charset="0"/>
                <a:ea typeface="Arial" pitchFamily="34" charset="-122"/>
                <a:cs typeface="Arial" pitchFamily="34" charset="-120"/>
              </a:rPr>
              <a:t>22</a:t>
            </a:r>
            <a:endParaRPr lang="en-US" sz="1600" dirty="0"/>
          </a:p>
        </p:txBody>
      </p:sp>
      <p:sp>
        <p:nvSpPr>
          <p:cNvPr id="7" name="Shape 5"/>
          <p:cNvSpPr/>
          <p:nvPr/>
        </p:nvSpPr>
        <p:spPr>
          <a:xfrm>
            <a:off x="10789920" y="438912"/>
            <a:ext cx="548640" cy="548640"/>
          </a:xfrm>
          <a:prstGeom prst="ellipse">
            <a:avLst/>
          </a:prstGeom>
          <a:ln w="9525">
            <a:solidFill>
              <a:srgbClr val="C9A227"/>
            </a:solidFill>
            <a:prstDash val="solid"/>
          </a:ln>
        </p:spPr>
      </p:sp>
      <p:sp>
        <p:nvSpPr>
          <p:cNvPr id="8" name="Shape 6"/>
          <p:cNvSpPr/>
          <p:nvPr/>
        </p:nvSpPr>
        <p:spPr>
          <a:xfrm>
            <a:off x="10986516" y="361188"/>
            <a:ext cx="155448" cy="155448"/>
          </a:xfrm>
          <a:prstGeom prst="ellipse">
            <a:avLst/>
          </a:prstGeom>
          <a:solidFill>
            <a:srgbClr val="C9A227"/>
          </a:solidFill>
          <a:ln w="9525">
            <a:solidFill>
              <a:srgbClr val="C9A227"/>
            </a:solidFill>
            <a:prstDash val="solid"/>
          </a:ln>
        </p:spPr>
      </p:sp>
      <p:sp>
        <p:nvSpPr>
          <p:cNvPr id="9" name="Shape 7"/>
          <p:cNvSpPr/>
          <p:nvPr/>
        </p:nvSpPr>
        <p:spPr>
          <a:xfrm>
            <a:off x="11260836" y="635508"/>
            <a:ext cx="155448" cy="155448"/>
          </a:xfrm>
          <a:prstGeom prst="ellipse">
            <a:avLst/>
          </a:prstGeom>
          <a:solidFill>
            <a:srgbClr val="C9A227"/>
          </a:solidFill>
          <a:ln w="9525">
            <a:solidFill>
              <a:srgbClr val="C9A227"/>
            </a:solidFill>
            <a:prstDash val="solid"/>
          </a:ln>
        </p:spPr>
      </p:sp>
      <p:sp>
        <p:nvSpPr>
          <p:cNvPr id="10" name="Shape 8"/>
          <p:cNvSpPr/>
          <p:nvPr/>
        </p:nvSpPr>
        <p:spPr>
          <a:xfrm>
            <a:off x="10986516" y="909828"/>
            <a:ext cx="155448" cy="155448"/>
          </a:xfrm>
          <a:prstGeom prst="ellipse">
            <a:avLst/>
          </a:prstGeom>
          <a:solidFill>
            <a:srgbClr val="C9A227"/>
          </a:solidFill>
          <a:ln w="9525">
            <a:solidFill>
              <a:srgbClr val="C9A227"/>
            </a:solidFill>
            <a:prstDash val="solid"/>
          </a:ln>
        </p:spPr>
      </p:sp>
      <p:sp>
        <p:nvSpPr>
          <p:cNvPr id="11" name="Shape 9"/>
          <p:cNvSpPr/>
          <p:nvPr/>
        </p:nvSpPr>
        <p:spPr>
          <a:xfrm>
            <a:off x="10712196" y="635508"/>
            <a:ext cx="155448" cy="155448"/>
          </a:xfrm>
          <a:prstGeom prst="ellipse">
            <a:avLst/>
          </a:prstGeom>
          <a:solidFill>
            <a:srgbClr val="14213D"/>
          </a:solidFill>
          <a:ln w="9525">
            <a:solidFill>
              <a:srgbClr val="C9A227"/>
            </a:solidFill>
            <a:prstDash val="solid"/>
          </a:ln>
        </p:spPr>
      </p:sp>
      <p:sp>
        <p:nvSpPr>
          <p:cNvPr id="12" name="Text 10"/>
          <p:cNvSpPr/>
          <p:nvPr/>
        </p:nvSpPr>
        <p:spPr>
          <a:xfrm>
            <a:off x="10748772" y="1097280"/>
            <a:ext cx="635508" cy="274320"/>
          </a:xfrm>
          <a:prstGeom prst="rect">
            <a:avLst/>
          </a:prstGeom>
          <a:noFill/>
          <a:ln/>
        </p:spPr>
        <p:txBody>
          <a:bodyPr wrap="square" lIns="0" tIns="0" rIns="0" bIns="0" rtlCol="0" anchor="ctr"/>
          <a:lstStyle/>
          <a:p>
            <a:pPr algn="r" indent="0" marL="0">
              <a:buNone/>
            </a:pPr>
            <a:r>
              <a:rPr lang="en-US" sz="1600" b="1" spc="120" kern="0" dirty="0">
                <a:solidFill>
                  <a:srgbClr val="E7C766"/>
                </a:solidFill>
                <a:latin typeface="Arial" pitchFamily="34" charset="0"/>
                <a:ea typeface="Arial" pitchFamily="34" charset="-122"/>
                <a:cs typeface="Arial" pitchFamily="34" charset="-120"/>
              </a:rPr>
              <a:t>RUN</a:t>
            </a:r>
            <a:endParaRPr lang="en-US" sz="1600" dirty="0"/>
          </a:p>
        </p:txBody>
      </p:sp>
      <p:sp>
        <p:nvSpPr>
          <p:cNvPr id="13" name="Text 11"/>
          <p:cNvSpPr/>
          <p:nvPr/>
        </p:nvSpPr>
        <p:spPr>
          <a:xfrm>
            <a:off x="813816" y="1188720"/>
            <a:ext cx="10570464" cy="292608"/>
          </a:xfrm>
          <a:prstGeom prst="rect">
            <a:avLst/>
          </a:prstGeom>
          <a:noFill/>
          <a:ln/>
        </p:spPr>
        <p:txBody>
          <a:bodyPr wrap="square" lIns="0" tIns="0" rIns="0" bIns="0" rtlCol="0" anchor="ctr"/>
          <a:lstStyle/>
          <a:p>
            <a:pPr algn="ctr" indent="0" marL="0">
              <a:buNone/>
            </a:pPr>
            <a:r>
              <a:rPr lang="en-US" sz="1600" b="1" spc="200" kern="0" dirty="0">
                <a:solidFill>
                  <a:srgbClr val="E7C766"/>
                </a:solidFill>
                <a:latin typeface="Arial" pitchFamily="34" charset="0"/>
                <a:ea typeface="Arial" pitchFamily="34" charset="-122"/>
                <a:cs typeface="Arial" pitchFamily="34" charset="-120"/>
              </a:rPr>
              <a:t>STEP THREE  ·  RUN</a:t>
            </a:r>
            <a:endParaRPr lang="en-US" sz="1600" dirty="0"/>
          </a:p>
        </p:txBody>
      </p:sp>
      <p:sp>
        <p:nvSpPr>
          <p:cNvPr id="14" name="Text 12"/>
          <p:cNvSpPr/>
          <p:nvPr/>
        </p:nvSpPr>
        <p:spPr>
          <a:xfrm>
            <a:off x="1249528" y="1536192"/>
            <a:ext cx="9692640" cy="815889"/>
          </a:xfrm>
          <a:prstGeom prst="rect">
            <a:avLst/>
          </a:prstGeom>
          <a:noFill/>
          <a:ln/>
        </p:spPr>
        <p:txBody>
          <a:bodyPr wrap="square" lIns="0" tIns="0" rIns="0" bIns="0" rtlCol="0" anchor="t"/>
          <a:lstStyle/>
          <a:p>
            <a:pPr algn="ctr" indent="0" marL="0">
              <a:buNone/>
            </a:pPr>
            <a:r>
              <a:rPr lang="en-US" sz="4400" b="1" dirty="0">
                <a:solidFill>
                  <a:srgbClr val="F7F3EA"/>
                </a:solidFill>
                <a:latin typeface="Georgia" pitchFamily="34" charset="0"/>
                <a:ea typeface="Georgia" pitchFamily="34" charset="-122"/>
                <a:cs typeface="Georgia" pitchFamily="34" charset="-120"/>
              </a:rPr>
              <a:t>Donna, full time.</a:t>
            </a:r>
            <a:endParaRPr lang="en-US" sz="4400" dirty="0"/>
          </a:p>
        </p:txBody>
      </p:sp>
      <p:sp>
        <p:nvSpPr>
          <p:cNvPr id="15" name="Text 13"/>
          <p:cNvSpPr/>
          <p:nvPr/>
        </p:nvSpPr>
        <p:spPr>
          <a:xfrm>
            <a:off x="813816" y="2516673"/>
            <a:ext cx="10570464" cy="329184"/>
          </a:xfrm>
          <a:prstGeom prst="rect">
            <a:avLst/>
          </a:prstGeom>
          <a:noFill/>
          <a:ln/>
        </p:spPr>
        <p:txBody>
          <a:bodyPr wrap="square" lIns="0" tIns="0" rIns="0" bIns="0" rtlCol="0" anchor="ctr"/>
          <a:lstStyle/>
          <a:p>
            <a:pPr algn="ctr" indent="0" marL="0">
              <a:buNone/>
            </a:pPr>
            <a:r>
              <a:rPr lang="en-US" sz="1800" dirty="0">
                <a:solidFill>
                  <a:srgbClr val="AFA893"/>
                </a:solidFill>
                <a:latin typeface="Arial" pitchFamily="34" charset="0"/>
                <a:ea typeface="Arial" pitchFamily="34" charset="-122"/>
                <a:cs typeface="Arial" pitchFamily="34" charset="-120"/>
              </a:rPr>
              <a:t>The document leaves your hands and goes on the clock.</a:t>
            </a:r>
            <a:endParaRPr lang="en-US" sz="1800" dirty="0"/>
          </a:p>
        </p:txBody>
      </p:sp>
      <p:sp>
        <p:nvSpPr>
          <p:cNvPr id="16" name="Text 14"/>
          <p:cNvSpPr/>
          <p:nvPr/>
        </p:nvSpPr>
        <p:spPr>
          <a:xfrm>
            <a:off x="813816" y="3138465"/>
            <a:ext cx="10570464" cy="274320"/>
          </a:xfrm>
          <a:prstGeom prst="rect">
            <a:avLst/>
          </a:prstGeom>
          <a:noFill/>
          <a:ln/>
        </p:spPr>
        <p:txBody>
          <a:bodyPr wrap="square" lIns="0" tIns="0" rIns="0" bIns="0" rtlCol="0" anchor="ctr"/>
          <a:lstStyle/>
          <a:p>
            <a:pPr algn="ctr" indent="0" marL="0">
              <a:buNone/>
            </a:pPr>
            <a:r>
              <a:rPr lang="en-US" sz="1600" b="1" spc="200" kern="0" dirty="0">
                <a:solidFill>
                  <a:srgbClr val="E7C766"/>
                </a:solidFill>
                <a:latin typeface="Arial" pitchFamily="34" charset="0"/>
                <a:ea typeface="Arial" pitchFamily="34" charset="-122"/>
                <a:cs typeface="Arial" pitchFamily="34" charset="-120"/>
              </a:rPr>
              <a:t>IN THIS STEP</a:t>
            </a:r>
            <a:endParaRPr lang="en-US" sz="1600" dirty="0"/>
          </a:p>
        </p:txBody>
      </p:sp>
      <p:sp>
        <p:nvSpPr>
          <p:cNvPr id="17" name="Text 15"/>
          <p:cNvSpPr/>
          <p:nvPr/>
        </p:nvSpPr>
        <p:spPr>
          <a:xfrm>
            <a:off x="813816" y="3467649"/>
            <a:ext cx="10570464" cy="329184"/>
          </a:xfrm>
          <a:prstGeom prst="rect">
            <a:avLst/>
          </a:prstGeom>
          <a:noFill/>
          <a:ln/>
        </p:spPr>
        <p:txBody>
          <a:bodyPr wrap="square" lIns="0" tIns="0" rIns="0" bIns="0" rtlCol="0" anchor="ctr"/>
          <a:lstStyle/>
          <a:p>
            <a:pPr algn="ctr" indent="0" marL="0">
              <a:buNone/>
            </a:pPr>
            <a:r>
              <a:rPr lang="en-US" sz="1800" b="1" dirty="0">
                <a:solidFill>
                  <a:srgbClr val="E7C766"/>
                </a:solidFill>
                <a:latin typeface="Georgia" pitchFamily="34" charset="0"/>
                <a:ea typeface="Georgia" pitchFamily="34" charset="-122"/>
                <a:cs typeface="Georgia" pitchFamily="34" charset="-120"/>
              </a:rPr>
              <a:t>1/  </a:t>
            </a:r>
            <a:pPr algn="ctr" indent="0" marL="0">
              <a:buNone/>
            </a:pPr>
            <a:r>
              <a:rPr lang="en-US" sz="1800" dirty="0">
                <a:solidFill>
                  <a:srgbClr val="F7F3EA"/>
                </a:solidFill>
                <a:latin typeface="Arial" pitchFamily="34" charset="0"/>
                <a:ea typeface="Arial" pitchFamily="34" charset="-122"/>
                <a:cs typeface="Arial" pitchFamily="34" charset="-120"/>
              </a:rPr>
              <a:t>She writes her playbook file.</a:t>
            </a:r>
            <a:endParaRPr lang="en-US" sz="1800" dirty="0"/>
          </a:p>
        </p:txBody>
      </p:sp>
      <p:sp>
        <p:nvSpPr>
          <p:cNvPr id="18" name="Text 16"/>
          <p:cNvSpPr/>
          <p:nvPr/>
        </p:nvSpPr>
        <p:spPr>
          <a:xfrm>
            <a:off x="813816" y="3815121"/>
            <a:ext cx="10570464" cy="329184"/>
          </a:xfrm>
          <a:prstGeom prst="rect">
            <a:avLst/>
          </a:prstGeom>
          <a:noFill/>
          <a:ln/>
        </p:spPr>
        <p:txBody>
          <a:bodyPr wrap="square" lIns="0" tIns="0" rIns="0" bIns="0" rtlCol="0" anchor="ctr"/>
          <a:lstStyle/>
          <a:p>
            <a:pPr algn="ctr" indent="0" marL="0">
              <a:buNone/>
            </a:pPr>
            <a:r>
              <a:rPr lang="en-US" sz="1800" b="1" dirty="0">
                <a:solidFill>
                  <a:srgbClr val="E7C766"/>
                </a:solidFill>
                <a:latin typeface="Georgia" pitchFamily="34" charset="0"/>
                <a:ea typeface="Georgia" pitchFamily="34" charset="-122"/>
                <a:cs typeface="Georgia" pitchFamily="34" charset="-120"/>
              </a:rPr>
              <a:t>2/  </a:t>
            </a:r>
            <a:pPr algn="ctr" indent="0" marL="0">
              <a:buNone/>
            </a:pPr>
            <a:r>
              <a:rPr lang="en-US" sz="1800" dirty="0">
                <a:solidFill>
                  <a:srgbClr val="F7F3EA"/>
                </a:solidFill>
                <a:latin typeface="Arial" pitchFamily="34" charset="0"/>
                <a:ea typeface="Arial" pitchFamily="34" charset="-122"/>
                <a:cs typeface="Arial" pitchFamily="34" charset="-120"/>
              </a:rPr>
              <a:t>You upload it as a skill.</a:t>
            </a:r>
            <a:endParaRPr lang="en-US" sz="1800" dirty="0"/>
          </a:p>
        </p:txBody>
      </p:sp>
      <p:sp>
        <p:nvSpPr>
          <p:cNvPr id="19" name="Text 17"/>
          <p:cNvSpPr/>
          <p:nvPr/>
        </p:nvSpPr>
        <p:spPr>
          <a:xfrm>
            <a:off x="813816" y="4162593"/>
            <a:ext cx="10570464" cy="329184"/>
          </a:xfrm>
          <a:prstGeom prst="rect">
            <a:avLst/>
          </a:prstGeom>
          <a:noFill/>
          <a:ln/>
        </p:spPr>
        <p:txBody>
          <a:bodyPr wrap="square" lIns="0" tIns="0" rIns="0" bIns="0" rtlCol="0" anchor="ctr"/>
          <a:lstStyle/>
          <a:p>
            <a:pPr algn="ctr" indent="0" marL="0">
              <a:buNone/>
            </a:pPr>
            <a:r>
              <a:rPr lang="en-US" sz="1800" b="1" dirty="0">
                <a:solidFill>
                  <a:srgbClr val="E7C766"/>
                </a:solidFill>
                <a:latin typeface="Georgia" pitchFamily="34" charset="0"/>
                <a:ea typeface="Georgia" pitchFamily="34" charset="-122"/>
                <a:cs typeface="Georgia" pitchFamily="34" charset="-120"/>
              </a:rPr>
              <a:t>3/  </a:t>
            </a:r>
            <a:pPr algn="ctr" indent="0" marL="0">
              <a:buNone/>
            </a:pPr>
            <a:r>
              <a:rPr lang="en-US" sz="1800" dirty="0">
                <a:solidFill>
                  <a:srgbClr val="F7F3EA"/>
                </a:solidFill>
                <a:latin typeface="Arial" pitchFamily="34" charset="0"/>
                <a:ea typeface="Arial" pitchFamily="34" charset="-122"/>
                <a:cs typeface="Arial" pitchFamily="34" charset="-120"/>
              </a:rPr>
              <a:t>Schedule the 4:30 shift.</a:t>
            </a:r>
            <a:endParaRPr lang="en-US" sz="1800" dirty="0"/>
          </a:p>
        </p:txBody>
      </p:sp>
      <p:sp>
        <p:nvSpPr>
          <p:cNvPr id="20" name="Text 18"/>
          <p:cNvSpPr/>
          <p:nvPr/>
        </p:nvSpPr>
        <p:spPr>
          <a:xfrm>
            <a:off x="813816" y="4937760"/>
            <a:ext cx="10570464" cy="329184"/>
          </a:xfrm>
          <a:prstGeom prst="rect">
            <a:avLst/>
          </a:prstGeom>
          <a:noFill/>
          <a:ln/>
        </p:spPr>
        <p:txBody>
          <a:bodyPr wrap="square" lIns="0" tIns="0" rIns="0" bIns="0" rtlCol="0" anchor="ctr"/>
          <a:lstStyle/>
          <a:p>
            <a:pPr algn="ctr" indent="0" marL="0">
              <a:buNone/>
            </a:pPr>
            <a:r>
              <a:rPr lang="en-US" sz="1800" b="1" dirty="0">
                <a:solidFill>
                  <a:srgbClr val="E7C766"/>
                </a:solidFill>
                <a:latin typeface="Arial" pitchFamily="34" charset="0"/>
                <a:ea typeface="Arial" pitchFamily="34" charset="-122"/>
                <a:cs typeface="Arial" pitchFamily="34" charset="-120"/>
              </a:rPr>
              <a:t>Now go to the instructions: Step 3 on the site.</a:t>
            </a:r>
            <a:endParaRPr lang="en-US" sz="1800" dirty="0"/>
          </a:p>
        </p:txBody>
      </p:sp>
      <p:sp>
        <p:nvSpPr>
          <p:cNvPr id="21" name="Text 19"/>
          <p:cNvSpPr/>
          <p:nvPr/>
        </p:nvSpPr>
        <p:spPr>
          <a:xfrm>
            <a:off x="813816" y="5285232"/>
            <a:ext cx="10570464" cy="274320"/>
          </a:xfrm>
          <a:prstGeom prst="rect">
            <a:avLst/>
          </a:prstGeom>
          <a:noFill/>
          <a:ln/>
        </p:spPr>
        <p:txBody>
          <a:bodyPr wrap="square" lIns="0" tIns="0" rIns="0" bIns="0" rtlCol="0" anchor="ctr"/>
          <a:lstStyle/>
          <a:p>
            <a:pPr algn="ctr" indent="0" marL="0">
              <a:buNone/>
            </a:pPr>
            <a:r>
              <a:rPr lang="en-US" sz="1600" dirty="0">
                <a:solidFill>
                  <a:srgbClr val="AFA893"/>
                </a:solidFill>
                <a:latin typeface="Arial" pitchFamily="34" charset="0"/>
                <a:ea typeface="Arial" pitchFamily="34" charset="-122"/>
                <a:cs typeface="Arial" pitchFamily="34" charset="-120"/>
              </a:rPr>
              <a:t>donnainstructions.denisegosnell.ai</a:t>
            </a:r>
            <a:endParaRPr lang="en-US" sz="16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7F3EA"/>
        </a:solidFill>
      </p:bgPr>
    </p:bg>
    <p:spTree>
      <p:nvGrpSpPr>
        <p:cNvPr id="1" name=""/>
        <p:cNvGrpSpPr/>
        <p:nvPr/>
      </p:nvGrpSpPr>
      <p:grpSpPr>
        <a:xfrm>
          <a:off x="0" y="0"/>
          <a:ext cx="0" cy="0"/>
          <a:chOff x="0" y="0"/>
          <a:chExt cx="0" cy="0"/>
        </a:xfrm>
      </p:grpSpPr>
      <p:sp>
        <p:nvSpPr>
          <p:cNvPr id="2" name="Shape 0"/>
          <p:cNvSpPr/>
          <p:nvPr/>
        </p:nvSpPr>
        <p:spPr>
          <a:xfrm>
            <a:off x="813816" y="5779008"/>
            <a:ext cx="10570464" cy="0"/>
          </a:xfrm>
          <a:prstGeom prst="line">
            <a:avLst/>
          </a:prstGeom>
          <a:noFill/>
          <a:ln w="9525">
            <a:solidFill>
              <a:srgbClr val="C9A227"/>
            </a:solidFill>
            <a:prstDash val="solid"/>
          </a:ln>
        </p:spPr>
      </p:sp>
      <p:sp>
        <p:nvSpPr>
          <p:cNvPr id="3" name="Text 1"/>
          <p:cNvSpPr/>
          <p:nvPr/>
        </p:nvSpPr>
        <p:spPr>
          <a:xfrm>
            <a:off x="813816" y="5907024"/>
            <a:ext cx="3358896" cy="274320"/>
          </a:xfrm>
          <a:prstGeom prst="rect">
            <a:avLst/>
          </a:prstGeom>
          <a:noFill/>
          <a:ln/>
        </p:spPr>
        <p:txBody>
          <a:bodyPr wrap="square" lIns="0" tIns="0" rIns="0" bIns="0" rtlCol="0" anchor="ctr"/>
          <a:lstStyle/>
          <a:p>
            <a:pPr indent="0" marL="0">
              <a:buNone/>
            </a:pPr>
            <a:r>
              <a:rPr lang="en-US" sz="1600" spc="120" kern="0" dirty="0">
                <a:solidFill>
                  <a:srgbClr val="5A6379"/>
                </a:solidFill>
                <a:latin typeface="Arial" pitchFamily="34" charset="0"/>
                <a:ea typeface="Arial" pitchFamily="34" charset="-122"/>
                <a:cs typeface="Arial" pitchFamily="34" charset="-120"/>
              </a:rPr>
              <a:t>BUILD YOUR OWN DONNA</a:t>
            </a:r>
            <a:endParaRPr lang="en-US" sz="1600" dirty="0"/>
          </a:p>
        </p:txBody>
      </p:sp>
      <p:sp>
        <p:nvSpPr>
          <p:cNvPr id="4" name="Shape 2"/>
          <p:cNvSpPr/>
          <p:nvPr/>
        </p:nvSpPr>
        <p:spPr>
          <a:xfrm rot="2700000">
            <a:off x="4227576" y="6012180"/>
            <a:ext cx="64008" cy="64008"/>
          </a:xfrm>
          <a:prstGeom prst="rect">
            <a:avLst/>
          </a:prstGeom>
          <a:solidFill>
            <a:srgbClr val="C9A227"/>
          </a:solidFill>
          <a:ln w="3175">
            <a:solidFill>
              <a:srgbClr val="C9A227"/>
            </a:solidFill>
            <a:prstDash val="solid"/>
          </a:ln>
        </p:spPr>
      </p:sp>
      <p:sp>
        <p:nvSpPr>
          <p:cNvPr id="5" name="Text 3"/>
          <p:cNvSpPr/>
          <p:nvPr/>
        </p:nvSpPr>
        <p:spPr>
          <a:xfrm>
            <a:off x="4410456" y="5907024"/>
            <a:ext cx="2712720" cy="274320"/>
          </a:xfrm>
          <a:prstGeom prst="rect">
            <a:avLst/>
          </a:prstGeom>
          <a:noFill/>
          <a:ln/>
        </p:spPr>
        <p:txBody>
          <a:bodyPr wrap="square" lIns="0" tIns="0" rIns="0" bIns="0" rtlCol="0" anchor="ctr"/>
          <a:lstStyle/>
          <a:p>
            <a:pPr indent="0" marL="0">
              <a:buNone/>
            </a:pPr>
            <a:r>
              <a:rPr lang="en-US" sz="1600" spc="120" kern="0" dirty="0">
                <a:solidFill>
                  <a:srgbClr val="5A6379"/>
                </a:solidFill>
                <a:latin typeface="Arial" pitchFamily="34" charset="0"/>
                <a:ea typeface="Arial" pitchFamily="34" charset="-122"/>
                <a:cs typeface="Arial" pitchFamily="34" charset="-120"/>
              </a:rPr>
              <a:t>OCTOBER 21, 2026</a:t>
            </a:r>
            <a:endParaRPr lang="en-US" sz="1600" dirty="0"/>
          </a:p>
        </p:txBody>
      </p:sp>
      <p:sp>
        <p:nvSpPr>
          <p:cNvPr id="6" name="Text 4"/>
          <p:cNvSpPr/>
          <p:nvPr/>
        </p:nvSpPr>
        <p:spPr>
          <a:xfrm>
            <a:off x="10652760" y="5907024"/>
            <a:ext cx="731520" cy="274320"/>
          </a:xfrm>
          <a:prstGeom prst="rect">
            <a:avLst/>
          </a:prstGeom>
          <a:noFill/>
          <a:ln/>
        </p:spPr>
        <p:txBody>
          <a:bodyPr wrap="square" lIns="0" tIns="0" rIns="0" bIns="0" rtlCol="0" anchor="ctr"/>
          <a:lstStyle/>
          <a:p>
            <a:pPr algn="r" indent="0" marL="0">
              <a:buNone/>
            </a:pPr>
            <a:r>
              <a:rPr lang="en-US" sz="1600" spc="120" kern="0" dirty="0">
                <a:solidFill>
                  <a:srgbClr val="5A6379"/>
                </a:solidFill>
                <a:latin typeface="Arial" pitchFamily="34" charset="0"/>
                <a:ea typeface="Arial" pitchFamily="34" charset="-122"/>
                <a:cs typeface="Arial" pitchFamily="34" charset="-120"/>
              </a:rPr>
              <a:t>23</a:t>
            </a:r>
            <a:endParaRPr lang="en-US" sz="1600" dirty="0"/>
          </a:p>
        </p:txBody>
      </p:sp>
      <p:sp>
        <p:nvSpPr>
          <p:cNvPr id="7" name="Shape 5"/>
          <p:cNvSpPr/>
          <p:nvPr/>
        </p:nvSpPr>
        <p:spPr>
          <a:xfrm>
            <a:off x="10789920" y="438912"/>
            <a:ext cx="548640" cy="548640"/>
          </a:xfrm>
          <a:prstGeom prst="ellipse">
            <a:avLst/>
          </a:prstGeom>
          <a:ln w="9525">
            <a:solidFill>
              <a:srgbClr val="C9A227"/>
            </a:solidFill>
            <a:prstDash val="solid"/>
          </a:ln>
        </p:spPr>
      </p:sp>
      <p:sp>
        <p:nvSpPr>
          <p:cNvPr id="8" name="Shape 6"/>
          <p:cNvSpPr/>
          <p:nvPr/>
        </p:nvSpPr>
        <p:spPr>
          <a:xfrm>
            <a:off x="10986516" y="361188"/>
            <a:ext cx="155448" cy="155448"/>
          </a:xfrm>
          <a:prstGeom prst="ellipse">
            <a:avLst/>
          </a:prstGeom>
          <a:solidFill>
            <a:srgbClr val="C9A227"/>
          </a:solidFill>
          <a:ln w="9525">
            <a:solidFill>
              <a:srgbClr val="C9A227"/>
            </a:solidFill>
            <a:prstDash val="solid"/>
          </a:ln>
        </p:spPr>
      </p:sp>
      <p:sp>
        <p:nvSpPr>
          <p:cNvPr id="9" name="Shape 7"/>
          <p:cNvSpPr/>
          <p:nvPr/>
        </p:nvSpPr>
        <p:spPr>
          <a:xfrm>
            <a:off x="11260836" y="635508"/>
            <a:ext cx="155448" cy="155448"/>
          </a:xfrm>
          <a:prstGeom prst="ellipse">
            <a:avLst/>
          </a:prstGeom>
          <a:solidFill>
            <a:srgbClr val="C9A227"/>
          </a:solidFill>
          <a:ln w="9525">
            <a:solidFill>
              <a:srgbClr val="C9A227"/>
            </a:solidFill>
            <a:prstDash val="solid"/>
          </a:ln>
        </p:spPr>
      </p:sp>
      <p:sp>
        <p:nvSpPr>
          <p:cNvPr id="10" name="Shape 8"/>
          <p:cNvSpPr/>
          <p:nvPr/>
        </p:nvSpPr>
        <p:spPr>
          <a:xfrm>
            <a:off x="10986516" y="909828"/>
            <a:ext cx="155448" cy="155448"/>
          </a:xfrm>
          <a:prstGeom prst="ellipse">
            <a:avLst/>
          </a:prstGeom>
          <a:solidFill>
            <a:srgbClr val="C9A227"/>
          </a:solidFill>
          <a:ln w="9525">
            <a:solidFill>
              <a:srgbClr val="C9A227"/>
            </a:solidFill>
            <a:prstDash val="solid"/>
          </a:ln>
        </p:spPr>
      </p:sp>
      <p:sp>
        <p:nvSpPr>
          <p:cNvPr id="11" name="Shape 9"/>
          <p:cNvSpPr/>
          <p:nvPr/>
        </p:nvSpPr>
        <p:spPr>
          <a:xfrm>
            <a:off x="10712196" y="635508"/>
            <a:ext cx="155448" cy="155448"/>
          </a:xfrm>
          <a:prstGeom prst="ellipse">
            <a:avLst/>
          </a:prstGeom>
          <a:solidFill>
            <a:srgbClr val="F7F3EA"/>
          </a:solidFill>
          <a:ln w="9525">
            <a:solidFill>
              <a:srgbClr val="C9A227"/>
            </a:solidFill>
            <a:prstDash val="solid"/>
          </a:ln>
        </p:spPr>
      </p:sp>
      <p:sp>
        <p:nvSpPr>
          <p:cNvPr id="12" name="Text 10"/>
          <p:cNvSpPr/>
          <p:nvPr/>
        </p:nvSpPr>
        <p:spPr>
          <a:xfrm>
            <a:off x="10748772" y="1097280"/>
            <a:ext cx="635508" cy="274320"/>
          </a:xfrm>
          <a:prstGeom prst="rect">
            <a:avLst/>
          </a:prstGeom>
          <a:noFill/>
          <a:ln/>
        </p:spPr>
        <p:txBody>
          <a:bodyPr wrap="square" lIns="0" tIns="0" rIns="0" bIns="0" rtlCol="0" anchor="ctr"/>
          <a:lstStyle/>
          <a:p>
            <a:pPr algn="r" indent="0" marL="0">
              <a:buNone/>
            </a:pPr>
            <a:r>
              <a:rPr lang="en-US" sz="1600" b="1" spc="120" kern="0" dirty="0">
                <a:solidFill>
                  <a:srgbClr val="8A6D14"/>
                </a:solidFill>
                <a:latin typeface="Arial" pitchFamily="34" charset="0"/>
                <a:ea typeface="Arial" pitchFamily="34" charset="-122"/>
                <a:cs typeface="Arial" pitchFamily="34" charset="-120"/>
              </a:rPr>
              <a:t>RUN</a:t>
            </a:r>
            <a:endParaRPr lang="en-US" sz="1600" dirty="0"/>
          </a:p>
        </p:txBody>
      </p:sp>
      <p:sp>
        <p:nvSpPr>
          <p:cNvPr id="13" name="Text 11"/>
          <p:cNvSpPr/>
          <p:nvPr/>
        </p:nvSpPr>
        <p:spPr>
          <a:xfrm>
            <a:off x="813816" y="457200"/>
            <a:ext cx="9692640" cy="310896"/>
          </a:xfrm>
          <a:prstGeom prst="rect">
            <a:avLst/>
          </a:prstGeom>
          <a:noFill/>
          <a:ln/>
        </p:spPr>
        <p:txBody>
          <a:bodyPr wrap="square" lIns="0" tIns="0" rIns="0" bIns="0" rtlCol="0" anchor="ctr"/>
          <a:lstStyle/>
          <a:p>
            <a:pPr indent="0" marL="0">
              <a:buNone/>
            </a:pPr>
            <a:r>
              <a:rPr lang="en-US" sz="1600" b="1" spc="180" kern="0" dirty="0">
                <a:solidFill>
                  <a:srgbClr val="8A6D14"/>
                </a:solidFill>
                <a:latin typeface="Arial" pitchFamily="34" charset="0"/>
                <a:ea typeface="Arial" pitchFamily="34" charset="-122"/>
                <a:cs typeface="Arial" pitchFamily="34" charset="-120"/>
              </a:rPr>
              <a:t>STEP THREE  ·  HER PLAYBOOK</a:t>
            </a:r>
            <a:endParaRPr lang="en-US" sz="1600" dirty="0"/>
          </a:p>
        </p:txBody>
      </p:sp>
      <p:sp>
        <p:nvSpPr>
          <p:cNvPr id="14" name="Text 12"/>
          <p:cNvSpPr/>
          <p:nvPr/>
        </p:nvSpPr>
        <p:spPr>
          <a:xfrm>
            <a:off x="813816" y="841248"/>
            <a:ext cx="9144000" cy="653735"/>
          </a:xfrm>
          <a:prstGeom prst="rect">
            <a:avLst/>
          </a:prstGeom>
          <a:noFill/>
          <a:ln/>
        </p:spPr>
        <p:txBody>
          <a:bodyPr wrap="square" lIns="0" tIns="0" rIns="0" bIns="0" rtlCol="0" anchor="t"/>
          <a:lstStyle/>
          <a:p>
            <a:pPr indent="0" marL="0">
              <a:lnSpc>
                <a:spcPct val="94000"/>
              </a:lnSpc>
              <a:buNone/>
            </a:pPr>
            <a:r>
              <a:rPr lang="en-US" sz="3400" b="1" dirty="0">
                <a:solidFill>
                  <a:srgbClr val="14213D"/>
                </a:solidFill>
                <a:latin typeface="Georgia" pitchFamily="34" charset="0"/>
                <a:ea typeface="Georgia" pitchFamily="34" charset="-122"/>
                <a:cs typeface="Georgia" pitchFamily="34" charset="-120"/>
              </a:rPr>
              <a:t>She writes her own playbook file.</a:t>
            </a:r>
            <a:endParaRPr lang="en-US" sz="3400" dirty="0"/>
          </a:p>
        </p:txBody>
      </p:sp>
      <p:sp>
        <p:nvSpPr>
          <p:cNvPr id="15" name="Shape 13"/>
          <p:cNvSpPr/>
          <p:nvPr/>
        </p:nvSpPr>
        <p:spPr>
          <a:xfrm>
            <a:off x="813816" y="1677863"/>
            <a:ext cx="7315200" cy="2496312"/>
          </a:xfrm>
          <a:prstGeom prst="rect">
            <a:avLst/>
          </a:prstGeom>
          <a:solidFill>
            <a:srgbClr val="14213D"/>
          </a:solidFill>
          <a:ln/>
        </p:spPr>
      </p:sp>
      <p:sp>
        <p:nvSpPr>
          <p:cNvPr id="16" name="Text 14"/>
          <p:cNvSpPr/>
          <p:nvPr/>
        </p:nvSpPr>
        <p:spPr>
          <a:xfrm>
            <a:off x="1069848" y="1833311"/>
            <a:ext cx="6803136" cy="274320"/>
          </a:xfrm>
          <a:prstGeom prst="rect">
            <a:avLst/>
          </a:prstGeom>
          <a:noFill/>
          <a:ln/>
        </p:spPr>
        <p:txBody>
          <a:bodyPr wrap="square" lIns="0" tIns="0" rIns="0" bIns="0" rtlCol="0" anchor="ctr"/>
          <a:lstStyle/>
          <a:p>
            <a:pPr indent="0" marL="0">
              <a:buNone/>
            </a:pPr>
            <a:r>
              <a:rPr lang="en-US" sz="1600" b="1" spc="140" kern="0" dirty="0">
                <a:solidFill>
                  <a:srgbClr val="E7C766"/>
                </a:solidFill>
                <a:latin typeface="Arial" pitchFamily="34" charset="0"/>
                <a:ea typeface="Arial" pitchFamily="34" charset="-122"/>
                <a:cs typeface="Arial" pitchFamily="34" charset="-120"/>
              </a:rPr>
              <a:t>PASTE IN THE SAME CHAT, AFTER YOUR FIRST TABLE</a:t>
            </a:r>
            <a:endParaRPr lang="en-US" sz="1600" dirty="0"/>
          </a:p>
        </p:txBody>
      </p:sp>
      <p:sp>
        <p:nvSpPr>
          <p:cNvPr id="17" name="Text 15"/>
          <p:cNvSpPr/>
          <p:nvPr/>
        </p:nvSpPr>
        <p:spPr>
          <a:xfrm>
            <a:off x="1069848" y="2189927"/>
            <a:ext cx="6803136" cy="1856232"/>
          </a:xfrm>
          <a:prstGeom prst="rect">
            <a:avLst/>
          </a:prstGeom>
          <a:noFill/>
          <a:ln/>
        </p:spPr>
        <p:txBody>
          <a:bodyPr wrap="square" lIns="0" tIns="0" rIns="0" bIns="0" rtlCol="0" anchor="t"/>
          <a:lstStyle/>
          <a:p>
            <a:pPr indent="0" marL="0">
              <a:lnSpc>
                <a:spcPts val="1940"/>
              </a:lnSpc>
              <a:buNone/>
            </a:pPr>
            <a:r>
              <a:rPr lang="en-US" sz="1600" dirty="0">
                <a:solidFill>
                  <a:srgbClr val="F7F3EA"/>
                </a:solidFill>
                <a:latin typeface="Courier New" pitchFamily="34" charset="0"/>
                <a:ea typeface="Courier New" pitchFamily="34" charset="-122"/>
                <a:cs typeface="Courier New" pitchFamily="34" charset="-120"/>
              </a:rPr>
              <a:t>Turn this conversation's triage setup into a reusable</a:t>
            </a:r>
            <a:endParaRPr lang="en-US" sz="1600" dirty="0"/>
          </a:p>
          <a:p>
            <a:pPr indent="0" marL="0">
              <a:lnSpc>
                <a:spcPts val="1940"/>
              </a:lnSpc>
              <a:buNone/>
            </a:pPr>
            <a:r>
              <a:rPr lang="en-US" sz="1600" dirty="0">
                <a:solidFill>
                  <a:srgbClr val="F7F3EA"/>
                </a:solidFill>
                <a:latin typeface="Courier New" pitchFamily="34" charset="0"/>
                <a:ea typeface="Courier New" pitchFamily="34" charset="-122"/>
                <a:cs typeface="Courier New" pitchFamily="34" charset="-120"/>
              </a:rPr>
              <a:t>skill named donna-triage. Fill in the template with</a:t>
            </a:r>
            <a:endParaRPr lang="en-US" sz="1600" dirty="0"/>
          </a:p>
          <a:p>
            <a:pPr indent="0" marL="0">
              <a:lnSpc>
                <a:spcPts val="1940"/>
              </a:lnSpc>
              <a:buNone/>
            </a:pPr>
            <a:r>
              <a:rPr lang="en-US" sz="1600" dirty="0">
                <a:solidFill>
                  <a:srgbClr val="F7F3EA"/>
                </a:solidFill>
                <a:latin typeface="Courier New" pitchFamily="34" charset="0"/>
                <a:ea typeface="Courier New" pitchFamily="34" charset="-122"/>
                <a:cs typeface="Courier New" pitchFamily="34" charset="-120"/>
              </a:rPr>
              <a:t>everything you learned about me. Keep the daily shift,</a:t>
            </a:r>
            <a:endParaRPr lang="en-US" sz="1600" dirty="0"/>
          </a:p>
          <a:p>
            <a:pPr indent="0" marL="0">
              <a:lnSpc>
                <a:spcPts val="1940"/>
              </a:lnSpc>
              <a:buNone/>
            </a:pPr>
            <a:r>
              <a:rPr lang="en-US" sz="1600" dirty="0">
                <a:solidFill>
                  <a:srgbClr val="F7F3EA"/>
                </a:solidFill>
                <a:latin typeface="Courier New" pitchFamily="34" charset="0"/>
                <a:ea typeface="Courier New" pitchFamily="34" charset="-122"/>
                <a:cs typeface="Courier New" pitchFamily="34" charset="-120"/>
              </a:rPr>
              <a:t>the Friday retrain, and the Setup Interview. Keep the</a:t>
            </a:r>
            <a:endParaRPr lang="en-US" sz="1600" dirty="0"/>
          </a:p>
          <a:p>
            <a:pPr indent="0" marL="0">
              <a:lnSpc>
                <a:spcPts val="1940"/>
              </a:lnSpc>
              <a:buNone/>
            </a:pPr>
            <a:r>
              <a:rPr lang="en-US" sz="1600" dirty="0">
                <a:solidFill>
                  <a:srgbClr val="F7F3EA"/>
                </a:solidFill>
                <a:latin typeface="Courier New" pitchFamily="34" charset="0"/>
                <a:ea typeface="Courier New" pitchFamily="34" charset="-122"/>
                <a:cs typeface="Courier New" pitchFamily="34" charset="-120"/>
              </a:rPr>
              <a:t>hard rules: never send, never delete. Give me the</a:t>
            </a:r>
            <a:endParaRPr lang="en-US" sz="1600" dirty="0"/>
          </a:p>
          <a:p>
            <a:pPr indent="0" marL="0">
              <a:lnSpc>
                <a:spcPts val="1940"/>
              </a:lnSpc>
              <a:buNone/>
            </a:pPr>
            <a:r>
              <a:rPr lang="en-US" sz="1600" dirty="0">
                <a:solidFill>
                  <a:srgbClr val="F7F3EA"/>
                </a:solidFill>
                <a:latin typeface="Courier New" pitchFamily="34" charset="0"/>
                <a:ea typeface="Courier New" pitchFamily="34" charset="-122"/>
                <a:cs typeface="Courier New" pitchFamily="34" charset="-120"/>
              </a:rPr>
              <a:t>skill as a downloadable zip named donna-triage.zip</a:t>
            </a:r>
            <a:endParaRPr lang="en-US" sz="1600" dirty="0"/>
          </a:p>
          <a:p>
            <a:pPr indent="0" marL="0">
              <a:lnSpc>
                <a:spcPts val="1940"/>
              </a:lnSpc>
              <a:buNone/>
            </a:pPr>
            <a:r>
              <a:rPr lang="en-US" sz="1600" dirty="0">
                <a:solidFill>
                  <a:srgbClr val="F7F3EA"/>
                </a:solidFill>
                <a:latin typeface="Courier New" pitchFamily="34" charset="0"/>
                <a:ea typeface="Courier New" pitchFamily="34" charset="-122"/>
                <a:cs typeface="Courier New" pitchFamily="34" charset="-120"/>
              </a:rPr>
              <a:t>containing donna-triage/SKILL.md.</a:t>
            </a:r>
            <a:endParaRPr lang="en-US" sz="1600" dirty="0"/>
          </a:p>
        </p:txBody>
      </p:sp>
      <p:sp>
        <p:nvSpPr>
          <p:cNvPr id="18" name="Shape 16"/>
          <p:cNvSpPr/>
          <p:nvPr/>
        </p:nvSpPr>
        <p:spPr>
          <a:xfrm>
            <a:off x="813816" y="4357055"/>
            <a:ext cx="7315200" cy="969264"/>
          </a:xfrm>
          <a:prstGeom prst="rect">
            <a:avLst/>
          </a:prstGeom>
          <a:solidFill>
            <a:srgbClr val="E8E2D2"/>
          </a:solidFill>
          <a:ln/>
        </p:spPr>
      </p:sp>
      <p:sp>
        <p:nvSpPr>
          <p:cNvPr id="19" name="Shape 17"/>
          <p:cNvSpPr/>
          <p:nvPr/>
        </p:nvSpPr>
        <p:spPr>
          <a:xfrm rot="2700000">
            <a:off x="996696" y="4617659"/>
            <a:ext cx="100584" cy="100584"/>
          </a:xfrm>
          <a:prstGeom prst="rect">
            <a:avLst/>
          </a:prstGeom>
          <a:solidFill>
            <a:srgbClr val="C9A227"/>
          </a:solidFill>
          <a:ln w="3175">
            <a:solidFill>
              <a:srgbClr val="C9A227"/>
            </a:solidFill>
            <a:prstDash val="solid"/>
          </a:ln>
        </p:spPr>
      </p:sp>
      <p:sp>
        <p:nvSpPr>
          <p:cNvPr id="20" name="Text 18"/>
          <p:cNvSpPr/>
          <p:nvPr/>
        </p:nvSpPr>
        <p:spPr>
          <a:xfrm>
            <a:off x="1307592" y="4539935"/>
            <a:ext cx="6638544" cy="603504"/>
          </a:xfrm>
          <a:prstGeom prst="rect">
            <a:avLst/>
          </a:prstGeom>
          <a:noFill/>
          <a:ln/>
        </p:spPr>
        <p:txBody>
          <a:bodyPr wrap="square" lIns="0" tIns="0" rIns="0" bIns="0" rtlCol="0" anchor="t"/>
          <a:lstStyle/>
          <a:p>
            <a:pPr indent="0" marL="0">
              <a:lnSpc>
                <a:spcPct val="116000"/>
              </a:lnSpc>
              <a:buNone/>
            </a:pPr>
            <a:r>
              <a:rPr lang="en-US" sz="1600" b="1" dirty="0">
                <a:solidFill>
                  <a:srgbClr val="8A6D14"/>
                </a:solidFill>
                <a:latin typeface="Arial" pitchFamily="34" charset="0"/>
                <a:ea typeface="Arial" pitchFamily="34" charset="-122"/>
                <a:cs typeface="Arial" pitchFamily="34" charset="-120"/>
              </a:rPr>
              <a:t>Full prompt on the site, Step 3. See donna-triage in your skills list before anyone touches Scheduled.</a:t>
            </a:r>
            <a:endParaRPr lang="en-US" sz="1600" dirty="0"/>
          </a:p>
        </p:txBody>
      </p:sp>
      <p:sp>
        <p:nvSpPr>
          <p:cNvPr id="21" name="Text 19"/>
          <p:cNvSpPr/>
          <p:nvPr/>
        </p:nvSpPr>
        <p:spPr>
          <a:xfrm>
            <a:off x="8494776" y="1714439"/>
            <a:ext cx="2889504" cy="347472"/>
          </a:xfrm>
          <a:prstGeom prst="rect">
            <a:avLst/>
          </a:prstGeom>
          <a:noFill/>
          <a:ln/>
        </p:spPr>
        <p:txBody>
          <a:bodyPr wrap="square" lIns="0" tIns="0" rIns="0" bIns="0" rtlCol="0" anchor="t"/>
          <a:lstStyle/>
          <a:p>
            <a:pPr algn="l" indent="0" marL="0">
              <a:buNone/>
            </a:pPr>
            <a:r>
              <a:rPr lang="en-US" sz="1600" b="1" spc="160" kern="0" dirty="0">
                <a:solidFill>
                  <a:srgbClr val="8A6D14"/>
                </a:solidFill>
                <a:latin typeface="Arial" pitchFamily="34" charset="0"/>
                <a:ea typeface="Arial" pitchFamily="34" charset="-122"/>
                <a:cs typeface="Arial" pitchFamily="34" charset="-120"/>
              </a:rPr>
              <a:t>THEN THE HANDOFF</a:t>
            </a:r>
            <a:endParaRPr lang="en-US" sz="1600" dirty="0"/>
          </a:p>
        </p:txBody>
      </p:sp>
      <p:sp>
        <p:nvSpPr>
          <p:cNvPr id="22" name="Text 20"/>
          <p:cNvSpPr/>
          <p:nvPr/>
        </p:nvSpPr>
        <p:spPr>
          <a:xfrm>
            <a:off x="8494776" y="2135063"/>
            <a:ext cx="457200" cy="420624"/>
          </a:xfrm>
          <a:prstGeom prst="rect">
            <a:avLst/>
          </a:prstGeom>
          <a:noFill/>
          <a:ln/>
        </p:spPr>
        <p:txBody>
          <a:bodyPr wrap="square" lIns="0" tIns="0" rIns="0" bIns="0" rtlCol="0" anchor="ctr"/>
          <a:lstStyle/>
          <a:p>
            <a:pPr indent="0" marL="0">
              <a:buNone/>
            </a:pPr>
            <a:r>
              <a:rPr lang="en-US" sz="2400" b="1" dirty="0">
                <a:solidFill>
                  <a:srgbClr val="8A6D14"/>
                </a:solidFill>
                <a:latin typeface="Georgia" pitchFamily="34" charset="0"/>
                <a:ea typeface="Georgia" pitchFamily="34" charset="-122"/>
                <a:cs typeface="Georgia" pitchFamily="34" charset="-120"/>
              </a:rPr>
              <a:t>1</a:t>
            </a:r>
            <a:endParaRPr lang="en-US" sz="2400" dirty="0"/>
          </a:p>
        </p:txBody>
      </p:sp>
      <p:sp>
        <p:nvSpPr>
          <p:cNvPr id="23" name="Text 21"/>
          <p:cNvSpPr/>
          <p:nvPr/>
        </p:nvSpPr>
        <p:spPr>
          <a:xfrm>
            <a:off x="9098280" y="2171639"/>
            <a:ext cx="2286000" cy="347472"/>
          </a:xfrm>
          <a:prstGeom prst="rect">
            <a:avLst/>
          </a:prstGeom>
          <a:noFill/>
          <a:ln/>
        </p:spPr>
        <p:txBody>
          <a:bodyPr wrap="square" lIns="0" tIns="0" rIns="0" bIns="0" rtlCol="0" anchor="ctr"/>
          <a:lstStyle/>
          <a:p>
            <a:pPr indent="0" marL="0">
              <a:lnSpc>
                <a:spcPct val="112000"/>
              </a:lnSpc>
              <a:buNone/>
            </a:pPr>
            <a:r>
              <a:rPr lang="en-US" sz="1600" dirty="0">
                <a:solidFill>
                  <a:srgbClr val="14213D"/>
                </a:solidFill>
                <a:latin typeface="Arial" pitchFamily="34" charset="0"/>
                <a:ea typeface="Arial" pitchFamily="34" charset="-122"/>
                <a:cs typeface="Arial" pitchFamily="34" charset="-120"/>
              </a:rPr>
              <a:t>She writes the file.</a:t>
            </a:r>
            <a:endParaRPr lang="en-US" sz="1600" dirty="0"/>
          </a:p>
        </p:txBody>
      </p:sp>
      <p:sp>
        <p:nvSpPr>
          <p:cNvPr id="24" name="Text 22"/>
          <p:cNvSpPr/>
          <p:nvPr/>
        </p:nvSpPr>
        <p:spPr>
          <a:xfrm>
            <a:off x="8494776" y="2756855"/>
            <a:ext cx="457200" cy="420624"/>
          </a:xfrm>
          <a:prstGeom prst="rect">
            <a:avLst/>
          </a:prstGeom>
          <a:noFill/>
          <a:ln/>
        </p:spPr>
        <p:txBody>
          <a:bodyPr wrap="square" lIns="0" tIns="0" rIns="0" bIns="0" rtlCol="0" anchor="ctr"/>
          <a:lstStyle/>
          <a:p>
            <a:pPr indent="0" marL="0">
              <a:buNone/>
            </a:pPr>
            <a:r>
              <a:rPr lang="en-US" sz="2400" b="1" dirty="0">
                <a:solidFill>
                  <a:srgbClr val="8A6D14"/>
                </a:solidFill>
                <a:latin typeface="Georgia" pitchFamily="34" charset="0"/>
                <a:ea typeface="Georgia" pitchFamily="34" charset="-122"/>
                <a:cs typeface="Georgia" pitchFamily="34" charset="-120"/>
              </a:rPr>
              <a:t>2</a:t>
            </a:r>
            <a:endParaRPr lang="en-US" sz="2400" dirty="0"/>
          </a:p>
        </p:txBody>
      </p:sp>
      <p:sp>
        <p:nvSpPr>
          <p:cNvPr id="25" name="Text 23"/>
          <p:cNvSpPr/>
          <p:nvPr/>
        </p:nvSpPr>
        <p:spPr>
          <a:xfrm>
            <a:off x="9098280" y="2793431"/>
            <a:ext cx="2286000" cy="603504"/>
          </a:xfrm>
          <a:prstGeom prst="rect">
            <a:avLst/>
          </a:prstGeom>
          <a:noFill/>
          <a:ln/>
        </p:spPr>
        <p:txBody>
          <a:bodyPr wrap="square" lIns="0" tIns="0" rIns="0" bIns="0" rtlCol="0" anchor="ctr"/>
          <a:lstStyle/>
          <a:p>
            <a:pPr indent="0" marL="0">
              <a:lnSpc>
                <a:spcPct val="112000"/>
              </a:lnSpc>
              <a:buNone/>
            </a:pPr>
            <a:r>
              <a:rPr lang="en-US" sz="1600" dirty="0">
                <a:solidFill>
                  <a:srgbClr val="14213D"/>
                </a:solidFill>
                <a:latin typeface="Arial" pitchFamily="34" charset="0"/>
                <a:ea typeface="Arial" pitchFamily="34" charset="-122"/>
                <a:cs typeface="Arial" pitchFamily="34" charset="-120"/>
              </a:rPr>
              <a:t>Download it: the file card's arrow.</a:t>
            </a:r>
            <a:endParaRPr lang="en-US" sz="1600" dirty="0"/>
          </a:p>
        </p:txBody>
      </p:sp>
      <p:sp>
        <p:nvSpPr>
          <p:cNvPr id="26" name="Text 24"/>
          <p:cNvSpPr/>
          <p:nvPr/>
        </p:nvSpPr>
        <p:spPr>
          <a:xfrm>
            <a:off x="8494776" y="3561527"/>
            <a:ext cx="457200" cy="420624"/>
          </a:xfrm>
          <a:prstGeom prst="rect">
            <a:avLst/>
          </a:prstGeom>
          <a:noFill/>
          <a:ln/>
        </p:spPr>
        <p:txBody>
          <a:bodyPr wrap="square" lIns="0" tIns="0" rIns="0" bIns="0" rtlCol="0" anchor="ctr"/>
          <a:lstStyle/>
          <a:p>
            <a:pPr indent="0" marL="0">
              <a:buNone/>
            </a:pPr>
            <a:r>
              <a:rPr lang="en-US" sz="2400" b="1" dirty="0">
                <a:solidFill>
                  <a:srgbClr val="8A6D14"/>
                </a:solidFill>
                <a:latin typeface="Georgia" pitchFamily="34" charset="0"/>
                <a:ea typeface="Georgia" pitchFamily="34" charset="-122"/>
                <a:cs typeface="Georgia" pitchFamily="34" charset="-120"/>
              </a:rPr>
              <a:t>3</a:t>
            </a:r>
            <a:endParaRPr lang="en-US" sz="2400" dirty="0"/>
          </a:p>
        </p:txBody>
      </p:sp>
      <p:sp>
        <p:nvSpPr>
          <p:cNvPr id="27" name="Text 25"/>
          <p:cNvSpPr/>
          <p:nvPr/>
        </p:nvSpPr>
        <p:spPr>
          <a:xfrm>
            <a:off x="9098280" y="3598103"/>
            <a:ext cx="2286000" cy="1115568"/>
          </a:xfrm>
          <a:prstGeom prst="rect">
            <a:avLst/>
          </a:prstGeom>
          <a:noFill/>
          <a:ln/>
        </p:spPr>
        <p:txBody>
          <a:bodyPr wrap="square" lIns="0" tIns="0" rIns="0" bIns="0" rtlCol="0" anchor="ctr"/>
          <a:lstStyle/>
          <a:p>
            <a:pPr indent="0" marL="0">
              <a:lnSpc>
                <a:spcPct val="112000"/>
              </a:lnSpc>
              <a:buNone/>
            </a:pPr>
            <a:r>
              <a:rPr lang="en-US" sz="1600" dirty="0">
                <a:solidFill>
                  <a:srgbClr val="14213D"/>
                </a:solidFill>
                <a:latin typeface="Arial" pitchFamily="34" charset="0"/>
                <a:ea typeface="Arial" pitchFamily="34" charset="-122"/>
                <a:cs typeface="Arial" pitchFamily="34" charset="-120"/>
              </a:rPr>
              <a:t>Customize, Skills, +, Create skill, Upload a skill. Pick the zip.</a:t>
            </a:r>
            <a:endParaRPr lang="en-US" sz="16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7F3EA"/>
        </a:solidFill>
      </p:bgPr>
    </p:bg>
    <p:spTree>
      <p:nvGrpSpPr>
        <p:cNvPr id="1" name=""/>
        <p:cNvGrpSpPr/>
        <p:nvPr/>
      </p:nvGrpSpPr>
      <p:grpSpPr>
        <a:xfrm>
          <a:off x="0" y="0"/>
          <a:ext cx="0" cy="0"/>
          <a:chOff x="0" y="0"/>
          <a:chExt cx="0" cy="0"/>
        </a:xfrm>
      </p:grpSpPr>
      <p:sp>
        <p:nvSpPr>
          <p:cNvPr id="2" name="Shape 0"/>
          <p:cNvSpPr/>
          <p:nvPr/>
        </p:nvSpPr>
        <p:spPr>
          <a:xfrm>
            <a:off x="813816" y="5779008"/>
            <a:ext cx="10570464" cy="0"/>
          </a:xfrm>
          <a:prstGeom prst="line">
            <a:avLst/>
          </a:prstGeom>
          <a:noFill/>
          <a:ln w="9525">
            <a:solidFill>
              <a:srgbClr val="C9A227"/>
            </a:solidFill>
            <a:prstDash val="solid"/>
          </a:ln>
        </p:spPr>
      </p:sp>
      <p:sp>
        <p:nvSpPr>
          <p:cNvPr id="3" name="Text 1"/>
          <p:cNvSpPr/>
          <p:nvPr/>
        </p:nvSpPr>
        <p:spPr>
          <a:xfrm>
            <a:off x="813816" y="5907024"/>
            <a:ext cx="3358896" cy="274320"/>
          </a:xfrm>
          <a:prstGeom prst="rect">
            <a:avLst/>
          </a:prstGeom>
          <a:noFill/>
          <a:ln/>
        </p:spPr>
        <p:txBody>
          <a:bodyPr wrap="square" lIns="0" tIns="0" rIns="0" bIns="0" rtlCol="0" anchor="ctr"/>
          <a:lstStyle/>
          <a:p>
            <a:pPr indent="0" marL="0">
              <a:buNone/>
            </a:pPr>
            <a:r>
              <a:rPr lang="en-US" sz="1600" spc="120" kern="0" dirty="0">
                <a:solidFill>
                  <a:srgbClr val="5A6379"/>
                </a:solidFill>
                <a:latin typeface="Arial" pitchFamily="34" charset="0"/>
                <a:ea typeface="Arial" pitchFamily="34" charset="-122"/>
                <a:cs typeface="Arial" pitchFamily="34" charset="-120"/>
              </a:rPr>
              <a:t>BUILD YOUR OWN DONNA</a:t>
            </a:r>
            <a:endParaRPr lang="en-US" sz="1600" dirty="0"/>
          </a:p>
        </p:txBody>
      </p:sp>
      <p:sp>
        <p:nvSpPr>
          <p:cNvPr id="4" name="Shape 2"/>
          <p:cNvSpPr/>
          <p:nvPr/>
        </p:nvSpPr>
        <p:spPr>
          <a:xfrm rot="2700000">
            <a:off x="4227576" y="6012180"/>
            <a:ext cx="64008" cy="64008"/>
          </a:xfrm>
          <a:prstGeom prst="rect">
            <a:avLst/>
          </a:prstGeom>
          <a:solidFill>
            <a:srgbClr val="C9A227"/>
          </a:solidFill>
          <a:ln w="3175">
            <a:solidFill>
              <a:srgbClr val="C9A227"/>
            </a:solidFill>
            <a:prstDash val="solid"/>
          </a:ln>
        </p:spPr>
      </p:sp>
      <p:sp>
        <p:nvSpPr>
          <p:cNvPr id="5" name="Text 3"/>
          <p:cNvSpPr/>
          <p:nvPr/>
        </p:nvSpPr>
        <p:spPr>
          <a:xfrm>
            <a:off x="4410456" y="5907024"/>
            <a:ext cx="2712720" cy="274320"/>
          </a:xfrm>
          <a:prstGeom prst="rect">
            <a:avLst/>
          </a:prstGeom>
          <a:noFill/>
          <a:ln/>
        </p:spPr>
        <p:txBody>
          <a:bodyPr wrap="square" lIns="0" tIns="0" rIns="0" bIns="0" rtlCol="0" anchor="ctr"/>
          <a:lstStyle/>
          <a:p>
            <a:pPr indent="0" marL="0">
              <a:buNone/>
            </a:pPr>
            <a:r>
              <a:rPr lang="en-US" sz="1600" spc="120" kern="0" dirty="0">
                <a:solidFill>
                  <a:srgbClr val="5A6379"/>
                </a:solidFill>
                <a:latin typeface="Arial" pitchFamily="34" charset="0"/>
                <a:ea typeface="Arial" pitchFamily="34" charset="-122"/>
                <a:cs typeface="Arial" pitchFamily="34" charset="-120"/>
              </a:rPr>
              <a:t>OCTOBER 21, 2026</a:t>
            </a:r>
            <a:endParaRPr lang="en-US" sz="1600" dirty="0"/>
          </a:p>
        </p:txBody>
      </p:sp>
      <p:sp>
        <p:nvSpPr>
          <p:cNvPr id="6" name="Text 4"/>
          <p:cNvSpPr/>
          <p:nvPr/>
        </p:nvSpPr>
        <p:spPr>
          <a:xfrm>
            <a:off x="10652760" y="5907024"/>
            <a:ext cx="731520" cy="274320"/>
          </a:xfrm>
          <a:prstGeom prst="rect">
            <a:avLst/>
          </a:prstGeom>
          <a:noFill/>
          <a:ln/>
        </p:spPr>
        <p:txBody>
          <a:bodyPr wrap="square" lIns="0" tIns="0" rIns="0" bIns="0" rtlCol="0" anchor="ctr"/>
          <a:lstStyle/>
          <a:p>
            <a:pPr algn="r" indent="0" marL="0">
              <a:buNone/>
            </a:pPr>
            <a:r>
              <a:rPr lang="en-US" sz="1600" spc="120" kern="0" dirty="0">
                <a:solidFill>
                  <a:srgbClr val="5A6379"/>
                </a:solidFill>
                <a:latin typeface="Arial" pitchFamily="34" charset="0"/>
                <a:ea typeface="Arial" pitchFamily="34" charset="-122"/>
                <a:cs typeface="Arial" pitchFamily="34" charset="-120"/>
              </a:rPr>
              <a:t>24</a:t>
            </a:r>
            <a:endParaRPr lang="en-US" sz="1600" dirty="0"/>
          </a:p>
        </p:txBody>
      </p:sp>
      <p:sp>
        <p:nvSpPr>
          <p:cNvPr id="7" name="Shape 5"/>
          <p:cNvSpPr/>
          <p:nvPr/>
        </p:nvSpPr>
        <p:spPr>
          <a:xfrm>
            <a:off x="10789920" y="438912"/>
            <a:ext cx="548640" cy="548640"/>
          </a:xfrm>
          <a:prstGeom prst="ellipse">
            <a:avLst/>
          </a:prstGeom>
          <a:ln w="9525">
            <a:solidFill>
              <a:srgbClr val="C9A227"/>
            </a:solidFill>
            <a:prstDash val="solid"/>
          </a:ln>
        </p:spPr>
      </p:sp>
      <p:sp>
        <p:nvSpPr>
          <p:cNvPr id="8" name="Shape 6"/>
          <p:cNvSpPr/>
          <p:nvPr/>
        </p:nvSpPr>
        <p:spPr>
          <a:xfrm>
            <a:off x="10986516" y="361188"/>
            <a:ext cx="155448" cy="155448"/>
          </a:xfrm>
          <a:prstGeom prst="ellipse">
            <a:avLst/>
          </a:prstGeom>
          <a:solidFill>
            <a:srgbClr val="C9A227"/>
          </a:solidFill>
          <a:ln w="9525">
            <a:solidFill>
              <a:srgbClr val="C9A227"/>
            </a:solidFill>
            <a:prstDash val="solid"/>
          </a:ln>
        </p:spPr>
      </p:sp>
      <p:sp>
        <p:nvSpPr>
          <p:cNvPr id="9" name="Shape 7"/>
          <p:cNvSpPr/>
          <p:nvPr/>
        </p:nvSpPr>
        <p:spPr>
          <a:xfrm>
            <a:off x="11260836" y="635508"/>
            <a:ext cx="155448" cy="155448"/>
          </a:xfrm>
          <a:prstGeom prst="ellipse">
            <a:avLst/>
          </a:prstGeom>
          <a:solidFill>
            <a:srgbClr val="C9A227"/>
          </a:solidFill>
          <a:ln w="9525">
            <a:solidFill>
              <a:srgbClr val="C9A227"/>
            </a:solidFill>
            <a:prstDash val="solid"/>
          </a:ln>
        </p:spPr>
      </p:sp>
      <p:sp>
        <p:nvSpPr>
          <p:cNvPr id="10" name="Shape 8"/>
          <p:cNvSpPr/>
          <p:nvPr/>
        </p:nvSpPr>
        <p:spPr>
          <a:xfrm>
            <a:off x="10986516" y="909828"/>
            <a:ext cx="155448" cy="155448"/>
          </a:xfrm>
          <a:prstGeom prst="ellipse">
            <a:avLst/>
          </a:prstGeom>
          <a:solidFill>
            <a:srgbClr val="C9A227"/>
          </a:solidFill>
          <a:ln w="9525">
            <a:solidFill>
              <a:srgbClr val="C9A227"/>
            </a:solidFill>
            <a:prstDash val="solid"/>
          </a:ln>
        </p:spPr>
      </p:sp>
      <p:sp>
        <p:nvSpPr>
          <p:cNvPr id="11" name="Shape 9"/>
          <p:cNvSpPr/>
          <p:nvPr/>
        </p:nvSpPr>
        <p:spPr>
          <a:xfrm>
            <a:off x="10712196" y="635508"/>
            <a:ext cx="155448" cy="155448"/>
          </a:xfrm>
          <a:prstGeom prst="ellipse">
            <a:avLst/>
          </a:prstGeom>
          <a:solidFill>
            <a:srgbClr val="F7F3EA"/>
          </a:solidFill>
          <a:ln w="9525">
            <a:solidFill>
              <a:srgbClr val="C9A227"/>
            </a:solidFill>
            <a:prstDash val="solid"/>
          </a:ln>
        </p:spPr>
      </p:sp>
      <p:sp>
        <p:nvSpPr>
          <p:cNvPr id="12" name="Text 10"/>
          <p:cNvSpPr/>
          <p:nvPr/>
        </p:nvSpPr>
        <p:spPr>
          <a:xfrm>
            <a:off x="10748772" y="1097280"/>
            <a:ext cx="635508" cy="274320"/>
          </a:xfrm>
          <a:prstGeom prst="rect">
            <a:avLst/>
          </a:prstGeom>
          <a:noFill/>
          <a:ln/>
        </p:spPr>
        <p:txBody>
          <a:bodyPr wrap="square" lIns="0" tIns="0" rIns="0" bIns="0" rtlCol="0" anchor="ctr"/>
          <a:lstStyle/>
          <a:p>
            <a:pPr algn="r" indent="0" marL="0">
              <a:buNone/>
            </a:pPr>
            <a:r>
              <a:rPr lang="en-US" sz="1600" b="1" spc="120" kern="0" dirty="0">
                <a:solidFill>
                  <a:srgbClr val="8A6D14"/>
                </a:solidFill>
                <a:latin typeface="Arial" pitchFamily="34" charset="0"/>
                <a:ea typeface="Arial" pitchFamily="34" charset="-122"/>
                <a:cs typeface="Arial" pitchFamily="34" charset="-120"/>
              </a:rPr>
              <a:t>RUN</a:t>
            </a:r>
            <a:endParaRPr lang="en-US" sz="1600" dirty="0"/>
          </a:p>
        </p:txBody>
      </p:sp>
      <p:sp>
        <p:nvSpPr>
          <p:cNvPr id="13" name="Text 11"/>
          <p:cNvSpPr/>
          <p:nvPr/>
        </p:nvSpPr>
        <p:spPr>
          <a:xfrm>
            <a:off x="813816" y="457200"/>
            <a:ext cx="9692640" cy="310896"/>
          </a:xfrm>
          <a:prstGeom prst="rect">
            <a:avLst/>
          </a:prstGeom>
          <a:noFill/>
          <a:ln/>
        </p:spPr>
        <p:txBody>
          <a:bodyPr wrap="square" lIns="0" tIns="0" rIns="0" bIns="0" rtlCol="0" anchor="ctr"/>
          <a:lstStyle/>
          <a:p>
            <a:pPr indent="0" marL="0">
              <a:buNone/>
            </a:pPr>
            <a:r>
              <a:rPr lang="en-US" sz="1600" b="1" spc="180" kern="0" dirty="0">
                <a:solidFill>
                  <a:srgbClr val="8A6D14"/>
                </a:solidFill>
                <a:latin typeface="Arial" pitchFamily="34" charset="0"/>
                <a:ea typeface="Arial" pitchFamily="34" charset="-122"/>
                <a:cs typeface="Arial" pitchFamily="34" charset="-120"/>
              </a:rPr>
              <a:t>STEP THREE  ·  THE 4:30 SHIFT</a:t>
            </a:r>
            <a:endParaRPr lang="en-US" sz="1600" dirty="0"/>
          </a:p>
        </p:txBody>
      </p:sp>
      <p:sp>
        <p:nvSpPr>
          <p:cNvPr id="14" name="Text 12"/>
          <p:cNvSpPr/>
          <p:nvPr/>
        </p:nvSpPr>
        <p:spPr>
          <a:xfrm>
            <a:off x="813816" y="841248"/>
            <a:ext cx="9144000" cy="751027"/>
          </a:xfrm>
          <a:prstGeom prst="rect">
            <a:avLst/>
          </a:prstGeom>
          <a:noFill/>
          <a:ln/>
        </p:spPr>
        <p:txBody>
          <a:bodyPr wrap="square" lIns="0" tIns="0" rIns="0" bIns="0" rtlCol="0" anchor="t"/>
          <a:lstStyle/>
          <a:p>
            <a:pPr indent="0" marL="0">
              <a:lnSpc>
                <a:spcPct val="94000"/>
              </a:lnSpc>
              <a:buNone/>
            </a:pPr>
            <a:r>
              <a:rPr lang="en-US" sz="4000" b="1" dirty="0">
                <a:solidFill>
                  <a:srgbClr val="14213D"/>
                </a:solidFill>
                <a:latin typeface="Georgia" pitchFamily="34" charset="0"/>
                <a:ea typeface="Georgia" pitchFamily="34" charset="-122"/>
                <a:cs typeface="Georgia" pitchFamily="34" charset="-120"/>
              </a:rPr>
              <a:t>Give her the 4:30 shift.</a:t>
            </a:r>
            <a:endParaRPr lang="en-US" sz="4000" dirty="0"/>
          </a:p>
        </p:txBody>
      </p:sp>
      <p:sp>
        <p:nvSpPr>
          <p:cNvPr id="15" name="Shape 13"/>
          <p:cNvSpPr/>
          <p:nvPr/>
        </p:nvSpPr>
        <p:spPr>
          <a:xfrm>
            <a:off x="813816" y="1775155"/>
            <a:ext cx="7315200" cy="2743200"/>
          </a:xfrm>
          <a:prstGeom prst="rect">
            <a:avLst/>
          </a:prstGeom>
          <a:solidFill>
            <a:srgbClr val="14213D"/>
          </a:solidFill>
          <a:ln/>
        </p:spPr>
      </p:sp>
      <p:sp>
        <p:nvSpPr>
          <p:cNvPr id="16" name="Text 14"/>
          <p:cNvSpPr/>
          <p:nvPr/>
        </p:nvSpPr>
        <p:spPr>
          <a:xfrm>
            <a:off x="1069848" y="1930603"/>
            <a:ext cx="6803136" cy="274320"/>
          </a:xfrm>
          <a:prstGeom prst="rect">
            <a:avLst/>
          </a:prstGeom>
          <a:noFill/>
          <a:ln/>
        </p:spPr>
        <p:txBody>
          <a:bodyPr wrap="square" lIns="0" tIns="0" rIns="0" bIns="0" rtlCol="0" anchor="ctr"/>
          <a:lstStyle/>
          <a:p>
            <a:pPr indent="0" marL="0">
              <a:buNone/>
            </a:pPr>
            <a:r>
              <a:rPr lang="en-US" sz="1600" b="1" spc="140" kern="0" dirty="0">
                <a:solidFill>
                  <a:srgbClr val="E7C766"/>
                </a:solidFill>
                <a:latin typeface="Arial" pitchFamily="34" charset="0"/>
                <a:ea typeface="Arial" pitchFamily="34" charset="-122"/>
                <a:cs typeface="Arial" pitchFamily="34" charset="-120"/>
              </a:rPr>
              <a:t>SCHEDULED · NEW TASK · CREATE WITH CLAUDE</a:t>
            </a:r>
            <a:endParaRPr lang="en-US" sz="1600" dirty="0"/>
          </a:p>
        </p:txBody>
      </p:sp>
      <p:sp>
        <p:nvSpPr>
          <p:cNvPr id="17" name="Text 15"/>
          <p:cNvSpPr/>
          <p:nvPr/>
        </p:nvSpPr>
        <p:spPr>
          <a:xfrm>
            <a:off x="1069848" y="2287219"/>
            <a:ext cx="6803136" cy="2103120"/>
          </a:xfrm>
          <a:prstGeom prst="rect">
            <a:avLst/>
          </a:prstGeom>
          <a:noFill/>
          <a:ln/>
        </p:spPr>
        <p:txBody>
          <a:bodyPr wrap="square" lIns="0" tIns="0" rIns="0" bIns="0" rtlCol="0" anchor="t"/>
          <a:lstStyle/>
          <a:p>
            <a:pPr indent="0" marL="0">
              <a:lnSpc>
                <a:spcPts val="1940"/>
              </a:lnSpc>
              <a:buNone/>
            </a:pPr>
            <a:r>
              <a:rPr lang="en-US" sz="1600" dirty="0">
                <a:solidFill>
                  <a:srgbClr val="F7F3EA"/>
                </a:solidFill>
                <a:latin typeface="Courier New" pitchFamily="34" charset="0"/>
                <a:ea typeface="Courier New" pitchFamily="34" charset="-122"/>
                <a:cs typeface="Courier New" pitchFamily="34" charset="-120"/>
              </a:rPr>
              <a:t>Every weekday at 4:30 PM my local time, use my</a:t>
            </a:r>
            <a:endParaRPr lang="en-US" sz="1600" dirty="0"/>
          </a:p>
          <a:p>
            <a:pPr indent="0" marL="0">
              <a:lnSpc>
                <a:spcPts val="1940"/>
              </a:lnSpc>
              <a:buNone/>
            </a:pPr>
            <a:r>
              <a:rPr lang="en-US" sz="1600" dirty="0">
                <a:solidFill>
                  <a:srgbClr val="F7F3EA"/>
                </a:solidFill>
                <a:latin typeface="Courier New" pitchFamily="34" charset="0"/>
                <a:ea typeface="Courier New" pitchFamily="34" charset="-122"/>
                <a:cs typeface="Courier New" pitchFamily="34" charset="-120"/>
              </a:rPr>
              <a:t>donna-triage skill: triage today's inbox, save the</a:t>
            </a:r>
            <a:endParaRPr lang="en-US" sz="1600" dirty="0"/>
          </a:p>
          <a:p>
            <a:pPr indent="0" marL="0">
              <a:lnSpc>
                <a:spcPts val="1940"/>
              </a:lnSpc>
              <a:buNone/>
            </a:pPr>
            <a:r>
              <a:rPr lang="en-US" sz="1600" dirty="0">
                <a:solidFill>
                  <a:srgbClr val="F7F3EA"/>
                </a:solidFill>
                <a:latin typeface="Courier New" pitchFamily="34" charset="0"/>
                <a:ea typeface="Courier New" pitchFamily="34" charset="-122"/>
                <a:cs typeface="Courier New" pitchFamily="34" charset="-120"/>
              </a:rPr>
              <a:t>Reply-Now drafts to my email Drafts, create a 5-minute</a:t>
            </a:r>
            <a:endParaRPr lang="en-US" sz="1600" dirty="0"/>
          </a:p>
          <a:p>
            <a:pPr indent="0" marL="0">
              <a:lnSpc>
                <a:spcPts val="1940"/>
              </a:lnSpc>
              <a:buNone/>
            </a:pPr>
            <a:r>
              <a:rPr lang="en-US" sz="1600" dirty="0">
                <a:solidFill>
                  <a:srgbClr val="F7F3EA"/>
                </a:solidFill>
                <a:latin typeface="Courier New" pitchFamily="34" charset="0"/>
                <a:ea typeface="Courier New" pitchFamily="34" charset="-122"/>
                <a:cs typeface="Courier New" pitchFamily="34" charset="-120"/>
              </a:rPr>
              <a:t>calendar event 10 minutes from now titled "Inbox</a:t>
            </a:r>
            <a:endParaRPr lang="en-US" sz="1600" dirty="0"/>
          </a:p>
          <a:p>
            <a:pPr indent="0" marL="0">
              <a:lnSpc>
                <a:spcPts val="1940"/>
              </a:lnSpc>
              <a:buNone/>
            </a:pPr>
            <a:r>
              <a:rPr lang="en-US" sz="1600" dirty="0">
                <a:solidFill>
                  <a:srgbClr val="F7F3EA"/>
                </a:solidFill>
                <a:latin typeface="Courier New" pitchFamily="34" charset="0"/>
                <a:ea typeface="Courier New" pitchFamily="34" charset="-122"/>
                <a:cs typeface="Courier New" pitchFamily="34" charset="-120"/>
              </a:rPr>
              <a:t>Triage: Donna", write the whole report into the event</a:t>
            </a:r>
            <a:endParaRPr lang="en-US" sz="1600" dirty="0"/>
          </a:p>
          <a:p>
            <a:pPr indent="0" marL="0">
              <a:lnSpc>
                <a:spcPts val="1940"/>
              </a:lnSpc>
              <a:buNone/>
            </a:pPr>
            <a:r>
              <a:rPr lang="en-US" sz="1600" dirty="0">
                <a:solidFill>
                  <a:srgbClr val="F7F3EA"/>
                </a:solidFill>
                <a:latin typeface="Courier New" pitchFamily="34" charset="0"/>
                <a:ea typeface="Courier New" pitchFamily="34" charset="-122"/>
                <a:cs typeface="Courier New" pitchFamily="34" charset="-120"/>
              </a:rPr>
              <a:t>description (short lines, no tables), and set an EMAIL</a:t>
            </a:r>
            <a:endParaRPr lang="en-US" sz="1600" dirty="0"/>
          </a:p>
          <a:p>
            <a:pPr indent="0" marL="0">
              <a:lnSpc>
                <a:spcPts val="1940"/>
              </a:lnSpc>
              <a:buNone/>
            </a:pPr>
            <a:r>
              <a:rPr lang="en-US" sz="1600" dirty="0">
                <a:solidFill>
                  <a:srgbClr val="F7F3EA"/>
                </a:solidFill>
                <a:latin typeface="Courier New" pitchFamily="34" charset="0"/>
                <a:ea typeface="Courier New" pitchFamily="34" charset="-122"/>
                <a:cs typeface="Courier New" pitchFamily="34" charset="-120"/>
              </a:rPr>
              <a:t>reminder 1 minute before. Also do a dry run right now</a:t>
            </a:r>
            <a:endParaRPr lang="en-US" sz="1600" dirty="0"/>
          </a:p>
          <a:p>
            <a:pPr indent="0" marL="0">
              <a:lnSpc>
                <a:spcPts val="1940"/>
              </a:lnSpc>
              <a:buNone/>
            </a:pPr>
            <a:r>
              <a:rPr lang="en-US" sz="1600" dirty="0">
                <a:solidFill>
                  <a:srgbClr val="F7F3EA"/>
                </a:solidFill>
                <a:latin typeface="Courier New" pitchFamily="34" charset="0"/>
                <a:ea typeface="Courier New" pitchFamily="34" charset="-122"/>
                <a:cs typeface="Courier New" pitchFamily="34" charset="-120"/>
              </a:rPr>
              <a:t>so I can watch the first one land.</a:t>
            </a:r>
            <a:endParaRPr lang="en-US" sz="1600" dirty="0"/>
          </a:p>
        </p:txBody>
      </p:sp>
      <p:sp>
        <p:nvSpPr>
          <p:cNvPr id="18" name="Shape 16"/>
          <p:cNvSpPr/>
          <p:nvPr/>
        </p:nvSpPr>
        <p:spPr>
          <a:xfrm>
            <a:off x="813816" y="4701235"/>
            <a:ext cx="7315200" cy="713232"/>
          </a:xfrm>
          <a:prstGeom prst="rect">
            <a:avLst/>
          </a:prstGeom>
          <a:solidFill>
            <a:srgbClr val="E8E2D2"/>
          </a:solidFill>
          <a:ln/>
        </p:spPr>
      </p:sp>
      <p:sp>
        <p:nvSpPr>
          <p:cNvPr id="19" name="Shape 17"/>
          <p:cNvSpPr/>
          <p:nvPr/>
        </p:nvSpPr>
        <p:spPr>
          <a:xfrm rot="2700000">
            <a:off x="996696" y="4961839"/>
            <a:ext cx="100584" cy="100584"/>
          </a:xfrm>
          <a:prstGeom prst="rect">
            <a:avLst/>
          </a:prstGeom>
          <a:solidFill>
            <a:srgbClr val="C9A227"/>
          </a:solidFill>
          <a:ln w="3175">
            <a:solidFill>
              <a:srgbClr val="C9A227"/>
            </a:solidFill>
            <a:prstDash val="solid"/>
          </a:ln>
        </p:spPr>
      </p:sp>
      <p:sp>
        <p:nvSpPr>
          <p:cNvPr id="20" name="Text 18"/>
          <p:cNvSpPr/>
          <p:nvPr/>
        </p:nvSpPr>
        <p:spPr>
          <a:xfrm>
            <a:off x="1307592" y="4884115"/>
            <a:ext cx="6638544" cy="347472"/>
          </a:xfrm>
          <a:prstGeom prst="rect">
            <a:avLst/>
          </a:prstGeom>
          <a:noFill/>
          <a:ln/>
        </p:spPr>
        <p:txBody>
          <a:bodyPr wrap="square" lIns="0" tIns="0" rIns="0" bIns="0" rtlCol="0" anchor="t"/>
          <a:lstStyle/>
          <a:p>
            <a:pPr indent="0" marL="0">
              <a:lnSpc>
                <a:spcPct val="116000"/>
              </a:lnSpc>
              <a:buNone/>
            </a:pPr>
            <a:r>
              <a:rPr lang="en-US" sz="1600" b="1" dirty="0">
                <a:solidFill>
                  <a:srgbClr val="8A6D14"/>
                </a:solidFill>
                <a:latin typeface="Arial" pitchFamily="34" charset="0"/>
                <a:ea typeface="Arial" pitchFamily="34" charset="-122"/>
                <a:cs typeface="Arial" pitchFamily="34" charset="-120"/>
              </a:rPr>
              <a:t>Full prompt on the site, Step 3. Paste by 1:06.</a:t>
            </a:r>
            <a:endParaRPr lang="en-US" sz="1600" dirty="0"/>
          </a:p>
        </p:txBody>
      </p:sp>
      <p:sp>
        <p:nvSpPr>
          <p:cNvPr id="21" name="Text 19"/>
          <p:cNvSpPr/>
          <p:nvPr/>
        </p:nvSpPr>
        <p:spPr>
          <a:xfrm>
            <a:off x="8494776" y="1830019"/>
            <a:ext cx="1005840" cy="457200"/>
          </a:xfrm>
          <a:prstGeom prst="rect">
            <a:avLst/>
          </a:prstGeom>
          <a:noFill/>
          <a:ln/>
        </p:spPr>
        <p:txBody>
          <a:bodyPr wrap="square" lIns="0" tIns="0" rIns="0" bIns="0" rtlCol="0" anchor="ctr"/>
          <a:lstStyle/>
          <a:p>
            <a:pPr indent="0" marL="0">
              <a:buNone/>
            </a:pPr>
            <a:r>
              <a:rPr lang="en-US" sz="2400" b="1" dirty="0">
                <a:solidFill>
                  <a:srgbClr val="8A6D14"/>
                </a:solidFill>
                <a:latin typeface="Georgia" pitchFamily="34" charset="0"/>
                <a:ea typeface="Georgia" pitchFamily="34" charset="-122"/>
                <a:cs typeface="Georgia" pitchFamily="34" charset="-120"/>
              </a:rPr>
              <a:t>4:30</a:t>
            </a:r>
            <a:endParaRPr lang="en-US" sz="2400" dirty="0"/>
          </a:p>
        </p:txBody>
      </p:sp>
      <p:sp>
        <p:nvSpPr>
          <p:cNvPr id="22" name="Text 20"/>
          <p:cNvSpPr/>
          <p:nvPr/>
        </p:nvSpPr>
        <p:spPr>
          <a:xfrm>
            <a:off x="9555480" y="1884883"/>
            <a:ext cx="1828800" cy="347472"/>
          </a:xfrm>
          <a:prstGeom prst="rect">
            <a:avLst/>
          </a:prstGeom>
          <a:noFill/>
          <a:ln/>
        </p:spPr>
        <p:txBody>
          <a:bodyPr wrap="square" lIns="0" tIns="0" rIns="0" bIns="0" rtlCol="0" anchor="ctr"/>
          <a:lstStyle/>
          <a:p>
            <a:pPr indent="0" marL="0">
              <a:lnSpc>
                <a:spcPct val="110000"/>
              </a:lnSpc>
              <a:buNone/>
            </a:pPr>
            <a:r>
              <a:rPr lang="en-US" sz="1600" dirty="0">
                <a:solidFill>
                  <a:srgbClr val="14213D"/>
                </a:solidFill>
                <a:latin typeface="Arial" pitchFamily="34" charset="0"/>
                <a:ea typeface="Arial" pitchFamily="34" charset="-122"/>
                <a:cs typeface="Arial" pitchFamily="34" charset="-120"/>
              </a:rPr>
              <a:t>she works</a:t>
            </a:r>
            <a:endParaRPr lang="en-US" sz="1600" dirty="0"/>
          </a:p>
        </p:txBody>
      </p:sp>
      <p:sp>
        <p:nvSpPr>
          <p:cNvPr id="23" name="Text 21"/>
          <p:cNvSpPr/>
          <p:nvPr/>
        </p:nvSpPr>
        <p:spPr>
          <a:xfrm>
            <a:off x="8494776" y="2360371"/>
            <a:ext cx="1005840" cy="457200"/>
          </a:xfrm>
          <a:prstGeom prst="rect">
            <a:avLst/>
          </a:prstGeom>
          <a:noFill/>
          <a:ln/>
        </p:spPr>
        <p:txBody>
          <a:bodyPr wrap="square" lIns="0" tIns="0" rIns="0" bIns="0" rtlCol="0" anchor="ctr"/>
          <a:lstStyle/>
          <a:p>
            <a:pPr indent="0" marL="0">
              <a:buNone/>
            </a:pPr>
            <a:r>
              <a:rPr lang="en-US" sz="2400" b="1" dirty="0">
                <a:solidFill>
                  <a:srgbClr val="8A6D14"/>
                </a:solidFill>
                <a:latin typeface="Georgia" pitchFamily="34" charset="0"/>
                <a:ea typeface="Georgia" pitchFamily="34" charset="-122"/>
                <a:cs typeface="Georgia" pitchFamily="34" charset="-120"/>
              </a:rPr>
              <a:t>4:39</a:t>
            </a:r>
            <a:endParaRPr lang="en-US" sz="2400" dirty="0"/>
          </a:p>
        </p:txBody>
      </p:sp>
      <p:sp>
        <p:nvSpPr>
          <p:cNvPr id="24" name="Text 22"/>
          <p:cNvSpPr/>
          <p:nvPr/>
        </p:nvSpPr>
        <p:spPr>
          <a:xfrm>
            <a:off x="9555480" y="2415235"/>
            <a:ext cx="1828800" cy="347472"/>
          </a:xfrm>
          <a:prstGeom prst="rect">
            <a:avLst/>
          </a:prstGeom>
          <a:noFill/>
          <a:ln/>
        </p:spPr>
        <p:txBody>
          <a:bodyPr wrap="square" lIns="0" tIns="0" rIns="0" bIns="0" rtlCol="0" anchor="ctr"/>
          <a:lstStyle/>
          <a:p>
            <a:pPr indent="0" marL="0">
              <a:lnSpc>
                <a:spcPct val="110000"/>
              </a:lnSpc>
              <a:buNone/>
            </a:pPr>
            <a:r>
              <a:rPr lang="en-US" sz="1600" dirty="0">
                <a:solidFill>
                  <a:srgbClr val="14213D"/>
                </a:solidFill>
                <a:latin typeface="Arial" pitchFamily="34" charset="0"/>
                <a:ea typeface="Arial" pitchFamily="34" charset="-122"/>
                <a:cs typeface="Arial" pitchFamily="34" charset="-120"/>
              </a:rPr>
              <a:t>the email lands</a:t>
            </a:r>
            <a:endParaRPr lang="en-US" sz="1600" dirty="0"/>
          </a:p>
        </p:txBody>
      </p:sp>
      <p:sp>
        <p:nvSpPr>
          <p:cNvPr id="25" name="Text 23"/>
          <p:cNvSpPr/>
          <p:nvPr/>
        </p:nvSpPr>
        <p:spPr>
          <a:xfrm>
            <a:off x="8494776" y="2890723"/>
            <a:ext cx="1005840" cy="457200"/>
          </a:xfrm>
          <a:prstGeom prst="rect">
            <a:avLst/>
          </a:prstGeom>
          <a:noFill/>
          <a:ln/>
        </p:spPr>
        <p:txBody>
          <a:bodyPr wrap="square" lIns="0" tIns="0" rIns="0" bIns="0" rtlCol="0" anchor="ctr"/>
          <a:lstStyle/>
          <a:p>
            <a:pPr indent="0" marL="0">
              <a:buNone/>
            </a:pPr>
            <a:r>
              <a:rPr lang="en-US" sz="2400" b="1" dirty="0">
                <a:solidFill>
                  <a:srgbClr val="8A6D14"/>
                </a:solidFill>
                <a:latin typeface="Georgia" pitchFamily="34" charset="0"/>
                <a:ea typeface="Georgia" pitchFamily="34" charset="-122"/>
                <a:cs typeface="Georgia" pitchFamily="34" charset="-120"/>
              </a:rPr>
              <a:t>4:40</a:t>
            </a:r>
            <a:endParaRPr lang="en-US" sz="2400" dirty="0"/>
          </a:p>
        </p:txBody>
      </p:sp>
      <p:sp>
        <p:nvSpPr>
          <p:cNvPr id="26" name="Text 24"/>
          <p:cNvSpPr/>
          <p:nvPr/>
        </p:nvSpPr>
        <p:spPr>
          <a:xfrm>
            <a:off x="9555480" y="2817571"/>
            <a:ext cx="1828800" cy="603504"/>
          </a:xfrm>
          <a:prstGeom prst="rect">
            <a:avLst/>
          </a:prstGeom>
          <a:noFill/>
          <a:ln/>
        </p:spPr>
        <p:txBody>
          <a:bodyPr wrap="square" lIns="0" tIns="0" rIns="0" bIns="0" rtlCol="0" anchor="ctr"/>
          <a:lstStyle/>
          <a:p>
            <a:pPr indent="0" marL="0">
              <a:lnSpc>
                <a:spcPct val="110000"/>
              </a:lnSpc>
              <a:buNone/>
            </a:pPr>
            <a:r>
              <a:rPr lang="en-US" sz="1600" dirty="0">
                <a:solidFill>
                  <a:srgbClr val="14213D"/>
                </a:solidFill>
                <a:latin typeface="Arial" pitchFamily="34" charset="0"/>
                <a:ea typeface="Arial" pitchFamily="34" charset="-122"/>
                <a:cs typeface="Arial" pitchFamily="34" charset="-120"/>
              </a:rPr>
              <a:t>one read, whole inbox</a:t>
            </a:r>
            <a:endParaRPr lang="en-US" sz="1600" dirty="0"/>
          </a:p>
        </p:txBody>
      </p:sp>
      <p:sp>
        <p:nvSpPr>
          <p:cNvPr id="27" name="Shape 25"/>
          <p:cNvSpPr/>
          <p:nvPr/>
        </p:nvSpPr>
        <p:spPr>
          <a:xfrm>
            <a:off x="8494776" y="3512515"/>
            <a:ext cx="2889504" cy="1956816"/>
          </a:xfrm>
          <a:prstGeom prst="rect">
            <a:avLst/>
          </a:prstGeom>
          <a:solidFill>
            <a:srgbClr val="E8E2D2"/>
          </a:solidFill>
          <a:ln/>
        </p:spPr>
      </p:sp>
      <p:sp>
        <p:nvSpPr>
          <p:cNvPr id="28" name="Shape 26"/>
          <p:cNvSpPr/>
          <p:nvPr/>
        </p:nvSpPr>
        <p:spPr>
          <a:xfrm rot="2700000">
            <a:off x="8677656" y="3773119"/>
            <a:ext cx="100584" cy="100584"/>
          </a:xfrm>
          <a:prstGeom prst="rect">
            <a:avLst/>
          </a:prstGeom>
          <a:solidFill>
            <a:srgbClr val="C9A227"/>
          </a:solidFill>
          <a:ln w="3175">
            <a:solidFill>
              <a:srgbClr val="C9A227"/>
            </a:solidFill>
            <a:prstDash val="solid"/>
          </a:ln>
        </p:spPr>
      </p:sp>
      <p:sp>
        <p:nvSpPr>
          <p:cNvPr id="29" name="Text 27"/>
          <p:cNvSpPr/>
          <p:nvPr/>
        </p:nvSpPr>
        <p:spPr>
          <a:xfrm>
            <a:off x="8988552" y="3695395"/>
            <a:ext cx="2212848" cy="603504"/>
          </a:xfrm>
          <a:prstGeom prst="rect">
            <a:avLst/>
          </a:prstGeom>
          <a:noFill/>
          <a:ln/>
        </p:spPr>
        <p:txBody>
          <a:bodyPr wrap="square" lIns="0" tIns="0" rIns="0" bIns="0" rtlCol="0" anchor="t"/>
          <a:lstStyle/>
          <a:p>
            <a:pPr indent="0" marL="0">
              <a:lnSpc>
                <a:spcPct val="116000"/>
              </a:lnSpc>
              <a:buNone/>
            </a:pPr>
            <a:r>
              <a:rPr lang="en-US" sz="1600" dirty="0">
                <a:solidFill>
                  <a:srgbClr val="14213D"/>
                </a:solidFill>
                <a:latin typeface="Arial" pitchFamily="34" charset="0"/>
                <a:ea typeface="Arial" pitchFamily="34" charset="-122"/>
                <a:cs typeface="Arial" pitchFamily="34" charset="-120"/>
              </a:rPr>
              <a:t>Runs on Claude's side, laptop closed.</a:t>
            </a:r>
            <a:endParaRPr lang="en-US" sz="1600" dirty="0"/>
          </a:p>
        </p:txBody>
      </p:sp>
      <p:sp>
        <p:nvSpPr>
          <p:cNvPr id="30" name="Shape 28"/>
          <p:cNvSpPr/>
          <p:nvPr/>
        </p:nvSpPr>
        <p:spPr>
          <a:xfrm rot="2700000">
            <a:off x="8677656" y="4504639"/>
            <a:ext cx="100584" cy="100584"/>
          </a:xfrm>
          <a:prstGeom prst="rect">
            <a:avLst/>
          </a:prstGeom>
          <a:solidFill>
            <a:srgbClr val="C9A227"/>
          </a:solidFill>
          <a:ln w="3175">
            <a:solidFill>
              <a:srgbClr val="C9A227"/>
            </a:solidFill>
            <a:prstDash val="solid"/>
          </a:ln>
        </p:spPr>
      </p:sp>
      <p:sp>
        <p:nvSpPr>
          <p:cNvPr id="31" name="Text 29"/>
          <p:cNvSpPr/>
          <p:nvPr/>
        </p:nvSpPr>
        <p:spPr>
          <a:xfrm>
            <a:off x="8988552" y="4426915"/>
            <a:ext cx="2212848" cy="859536"/>
          </a:xfrm>
          <a:prstGeom prst="rect">
            <a:avLst/>
          </a:prstGeom>
          <a:noFill/>
          <a:ln/>
        </p:spPr>
        <p:txBody>
          <a:bodyPr wrap="square" lIns="0" tIns="0" rIns="0" bIns="0" rtlCol="0" anchor="t"/>
          <a:lstStyle/>
          <a:p>
            <a:pPr indent="0" marL="0">
              <a:lnSpc>
                <a:spcPct val="116000"/>
              </a:lnSpc>
              <a:buNone/>
            </a:pPr>
            <a:r>
              <a:rPr lang="en-US" sz="1600" dirty="0">
                <a:solidFill>
                  <a:srgbClr val="14213D"/>
                </a:solidFill>
                <a:latin typeface="Arial" pitchFamily="34" charset="0"/>
                <a:ea typeface="Arial" pitchFamily="34" charset="-122"/>
                <a:cs typeface="Arial" pitchFamily="34" charset="-120"/>
              </a:rPr>
              <a:t>Paid plans only. Free: run her by hand.</a:t>
            </a:r>
            <a:endParaRPr lang="en-US" sz="16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4213D"/>
        </a:solidFill>
      </p:bgPr>
    </p:bg>
    <p:spTree>
      <p:nvGrpSpPr>
        <p:cNvPr id="1" name=""/>
        <p:cNvGrpSpPr/>
        <p:nvPr/>
      </p:nvGrpSpPr>
      <p:grpSpPr>
        <a:xfrm>
          <a:off x="0" y="0"/>
          <a:ext cx="0" cy="0"/>
          <a:chOff x="0" y="0"/>
          <a:chExt cx="0" cy="0"/>
        </a:xfrm>
      </p:grpSpPr>
      <p:sp>
        <p:nvSpPr>
          <p:cNvPr id="2" name="Shape 0"/>
          <p:cNvSpPr/>
          <p:nvPr/>
        </p:nvSpPr>
        <p:spPr>
          <a:xfrm>
            <a:off x="813816" y="5779008"/>
            <a:ext cx="10570464" cy="0"/>
          </a:xfrm>
          <a:prstGeom prst="line">
            <a:avLst/>
          </a:prstGeom>
          <a:noFill/>
          <a:ln w="9525">
            <a:solidFill>
              <a:srgbClr val="C9A227"/>
            </a:solidFill>
            <a:prstDash val="solid"/>
          </a:ln>
        </p:spPr>
      </p:sp>
      <p:sp>
        <p:nvSpPr>
          <p:cNvPr id="3" name="Text 1"/>
          <p:cNvSpPr/>
          <p:nvPr/>
        </p:nvSpPr>
        <p:spPr>
          <a:xfrm>
            <a:off x="813816" y="5907024"/>
            <a:ext cx="3358896" cy="274320"/>
          </a:xfrm>
          <a:prstGeom prst="rect">
            <a:avLst/>
          </a:prstGeom>
          <a:noFill/>
          <a:ln/>
        </p:spPr>
        <p:txBody>
          <a:bodyPr wrap="square" lIns="0" tIns="0" rIns="0" bIns="0" rtlCol="0" anchor="ctr"/>
          <a:lstStyle/>
          <a:p>
            <a:pPr indent="0" marL="0">
              <a:buNone/>
            </a:pPr>
            <a:r>
              <a:rPr lang="en-US" sz="1600" spc="120" kern="0" dirty="0">
                <a:solidFill>
                  <a:srgbClr val="AFA893"/>
                </a:solidFill>
                <a:latin typeface="Arial" pitchFamily="34" charset="0"/>
                <a:ea typeface="Arial" pitchFamily="34" charset="-122"/>
                <a:cs typeface="Arial" pitchFamily="34" charset="-120"/>
              </a:rPr>
              <a:t>BUILD YOUR OWN DONNA</a:t>
            </a:r>
            <a:endParaRPr lang="en-US" sz="1600" dirty="0"/>
          </a:p>
        </p:txBody>
      </p:sp>
      <p:sp>
        <p:nvSpPr>
          <p:cNvPr id="4" name="Shape 2"/>
          <p:cNvSpPr/>
          <p:nvPr/>
        </p:nvSpPr>
        <p:spPr>
          <a:xfrm rot="2700000">
            <a:off x="4227576" y="6012180"/>
            <a:ext cx="64008" cy="64008"/>
          </a:xfrm>
          <a:prstGeom prst="rect">
            <a:avLst/>
          </a:prstGeom>
          <a:solidFill>
            <a:srgbClr val="C9A227"/>
          </a:solidFill>
          <a:ln w="3175">
            <a:solidFill>
              <a:srgbClr val="C9A227"/>
            </a:solidFill>
            <a:prstDash val="solid"/>
          </a:ln>
        </p:spPr>
      </p:sp>
      <p:sp>
        <p:nvSpPr>
          <p:cNvPr id="5" name="Text 3"/>
          <p:cNvSpPr/>
          <p:nvPr/>
        </p:nvSpPr>
        <p:spPr>
          <a:xfrm>
            <a:off x="4410456" y="5907024"/>
            <a:ext cx="2712720" cy="274320"/>
          </a:xfrm>
          <a:prstGeom prst="rect">
            <a:avLst/>
          </a:prstGeom>
          <a:noFill/>
          <a:ln/>
        </p:spPr>
        <p:txBody>
          <a:bodyPr wrap="square" lIns="0" tIns="0" rIns="0" bIns="0" rtlCol="0" anchor="ctr"/>
          <a:lstStyle/>
          <a:p>
            <a:pPr indent="0" marL="0">
              <a:buNone/>
            </a:pPr>
            <a:r>
              <a:rPr lang="en-US" sz="1600" spc="120" kern="0" dirty="0">
                <a:solidFill>
                  <a:srgbClr val="AFA893"/>
                </a:solidFill>
                <a:latin typeface="Arial" pitchFamily="34" charset="0"/>
                <a:ea typeface="Arial" pitchFamily="34" charset="-122"/>
                <a:cs typeface="Arial" pitchFamily="34" charset="-120"/>
              </a:rPr>
              <a:t>OCTOBER 21, 2026</a:t>
            </a:r>
            <a:endParaRPr lang="en-US" sz="1600" dirty="0"/>
          </a:p>
        </p:txBody>
      </p:sp>
      <p:sp>
        <p:nvSpPr>
          <p:cNvPr id="6" name="Text 4"/>
          <p:cNvSpPr/>
          <p:nvPr/>
        </p:nvSpPr>
        <p:spPr>
          <a:xfrm>
            <a:off x="10652760" y="5907024"/>
            <a:ext cx="731520" cy="274320"/>
          </a:xfrm>
          <a:prstGeom prst="rect">
            <a:avLst/>
          </a:prstGeom>
          <a:noFill/>
          <a:ln/>
        </p:spPr>
        <p:txBody>
          <a:bodyPr wrap="square" lIns="0" tIns="0" rIns="0" bIns="0" rtlCol="0" anchor="ctr"/>
          <a:lstStyle/>
          <a:p>
            <a:pPr algn="r" indent="0" marL="0">
              <a:buNone/>
            </a:pPr>
            <a:r>
              <a:rPr lang="en-US" sz="1600" spc="120" kern="0" dirty="0">
                <a:solidFill>
                  <a:srgbClr val="AFA893"/>
                </a:solidFill>
                <a:latin typeface="Arial" pitchFamily="34" charset="0"/>
                <a:ea typeface="Arial" pitchFamily="34" charset="-122"/>
                <a:cs typeface="Arial" pitchFamily="34" charset="-120"/>
              </a:rPr>
              <a:t>25</a:t>
            </a:r>
            <a:endParaRPr lang="en-US" sz="1600" dirty="0"/>
          </a:p>
        </p:txBody>
      </p:sp>
      <p:sp>
        <p:nvSpPr>
          <p:cNvPr id="7" name="Shape 5"/>
          <p:cNvSpPr/>
          <p:nvPr/>
        </p:nvSpPr>
        <p:spPr>
          <a:xfrm>
            <a:off x="10789920" y="438912"/>
            <a:ext cx="548640" cy="548640"/>
          </a:xfrm>
          <a:prstGeom prst="ellipse">
            <a:avLst/>
          </a:prstGeom>
          <a:ln w="9525">
            <a:solidFill>
              <a:srgbClr val="C9A227"/>
            </a:solidFill>
            <a:prstDash val="solid"/>
          </a:ln>
        </p:spPr>
      </p:sp>
      <p:sp>
        <p:nvSpPr>
          <p:cNvPr id="8" name="Shape 6"/>
          <p:cNvSpPr/>
          <p:nvPr/>
        </p:nvSpPr>
        <p:spPr>
          <a:xfrm>
            <a:off x="10986516" y="361188"/>
            <a:ext cx="155448" cy="155448"/>
          </a:xfrm>
          <a:prstGeom prst="ellipse">
            <a:avLst/>
          </a:prstGeom>
          <a:solidFill>
            <a:srgbClr val="C9A227"/>
          </a:solidFill>
          <a:ln w="9525">
            <a:solidFill>
              <a:srgbClr val="C9A227"/>
            </a:solidFill>
            <a:prstDash val="solid"/>
          </a:ln>
        </p:spPr>
      </p:sp>
      <p:sp>
        <p:nvSpPr>
          <p:cNvPr id="9" name="Shape 7"/>
          <p:cNvSpPr/>
          <p:nvPr/>
        </p:nvSpPr>
        <p:spPr>
          <a:xfrm>
            <a:off x="11260836" y="635508"/>
            <a:ext cx="155448" cy="155448"/>
          </a:xfrm>
          <a:prstGeom prst="ellipse">
            <a:avLst/>
          </a:prstGeom>
          <a:solidFill>
            <a:srgbClr val="C9A227"/>
          </a:solidFill>
          <a:ln w="9525">
            <a:solidFill>
              <a:srgbClr val="C9A227"/>
            </a:solidFill>
            <a:prstDash val="solid"/>
          </a:ln>
        </p:spPr>
      </p:sp>
      <p:sp>
        <p:nvSpPr>
          <p:cNvPr id="10" name="Shape 8"/>
          <p:cNvSpPr/>
          <p:nvPr/>
        </p:nvSpPr>
        <p:spPr>
          <a:xfrm>
            <a:off x="10986516" y="909828"/>
            <a:ext cx="155448" cy="155448"/>
          </a:xfrm>
          <a:prstGeom prst="ellipse">
            <a:avLst/>
          </a:prstGeom>
          <a:solidFill>
            <a:srgbClr val="C9A227"/>
          </a:solidFill>
          <a:ln w="9525">
            <a:solidFill>
              <a:srgbClr val="C9A227"/>
            </a:solidFill>
            <a:prstDash val="solid"/>
          </a:ln>
        </p:spPr>
      </p:sp>
      <p:sp>
        <p:nvSpPr>
          <p:cNvPr id="11" name="Shape 9"/>
          <p:cNvSpPr/>
          <p:nvPr/>
        </p:nvSpPr>
        <p:spPr>
          <a:xfrm>
            <a:off x="10712196" y="635508"/>
            <a:ext cx="155448" cy="155448"/>
          </a:xfrm>
          <a:prstGeom prst="ellipse">
            <a:avLst/>
          </a:prstGeom>
          <a:solidFill>
            <a:srgbClr val="14213D"/>
          </a:solidFill>
          <a:ln w="9525">
            <a:solidFill>
              <a:srgbClr val="C9A227"/>
            </a:solidFill>
            <a:prstDash val="solid"/>
          </a:ln>
        </p:spPr>
      </p:sp>
      <p:sp>
        <p:nvSpPr>
          <p:cNvPr id="12" name="Text 10"/>
          <p:cNvSpPr/>
          <p:nvPr/>
        </p:nvSpPr>
        <p:spPr>
          <a:xfrm>
            <a:off x="10748772" y="1097280"/>
            <a:ext cx="635508" cy="274320"/>
          </a:xfrm>
          <a:prstGeom prst="rect">
            <a:avLst/>
          </a:prstGeom>
          <a:noFill/>
          <a:ln/>
        </p:spPr>
        <p:txBody>
          <a:bodyPr wrap="square" lIns="0" tIns="0" rIns="0" bIns="0" rtlCol="0" anchor="ctr"/>
          <a:lstStyle/>
          <a:p>
            <a:pPr algn="r" indent="0" marL="0">
              <a:buNone/>
            </a:pPr>
            <a:r>
              <a:rPr lang="en-US" sz="1600" b="1" spc="120" kern="0" dirty="0">
                <a:solidFill>
                  <a:srgbClr val="E7C766"/>
                </a:solidFill>
                <a:latin typeface="Arial" pitchFamily="34" charset="0"/>
                <a:ea typeface="Arial" pitchFamily="34" charset="-122"/>
                <a:cs typeface="Arial" pitchFamily="34" charset="-120"/>
              </a:rPr>
              <a:t>RUN</a:t>
            </a:r>
            <a:endParaRPr lang="en-US" sz="1600" dirty="0"/>
          </a:p>
        </p:txBody>
      </p:sp>
      <p:sp>
        <p:nvSpPr>
          <p:cNvPr id="13" name="Text 11"/>
          <p:cNvSpPr/>
          <p:nvPr/>
        </p:nvSpPr>
        <p:spPr>
          <a:xfrm>
            <a:off x="813816" y="457200"/>
            <a:ext cx="9692640" cy="310896"/>
          </a:xfrm>
          <a:prstGeom prst="rect">
            <a:avLst/>
          </a:prstGeom>
          <a:noFill/>
          <a:ln/>
        </p:spPr>
        <p:txBody>
          <a:bodyPr wrap="square" lIns="0" tIns="0" rIns="0" bIns="0" rtlCol="0" anchor="ctr"/>
          <a:lstStyle/>
          <a:p>
            <a:pPr indent="0" marL="0">
              <a:buNone/>
            </a:pPr>
            <a:r>
              <a:rPr lang="en-US" sz="1600" b="1" spc="180" kern="0" dirty="0">
                <a:solidFill>
                  <a:srgbClr val="E7C766"/>
                </a:solidFill>
                <a:latin typeface="Arial" pitchFamily="34" charset="0"/>
                <a:ea typeface="Arial" pitchFamily="34" charset="-122"/>
                <a:cs typeface="Arial" pitchFamily="34" charset="-120"/>
              </a:rPr>
              <a:t>STEP THREE  ·  CHECKPOINT  ·  EASTERN</a:t>
            </a:r>
            <a:endParaRPr lang="en-US" sz="1600" dirty="0"/>
          </a:p>
        </p:txBody>
      </p:sp>
      <p:sp>
        <p:nvSpPr>
          <p:cNvPr id="14" name="Text 12"/>
          <p:cNvSpPr/>
          <p:nvPr/>
        </p:nvSpPr>
        <p:spPr>
          <a:xfrm>
            <a:off x="813816" y="1664208"/>
            <a:ext cx="10570464" cy="1060704"/>
          </a:xfrm>
          <a:prstGeom prst="rect">
            <a:avLst/>
          </a:prstGeom>
          <a:noFill/>
          <a:ln/>
        </p:spPr>
        <p:txBody>
          <a:bodyPr wrap="square" lIns="0" tIns="0" rIns="0" bIns="0" rtlCol="0" anchor="ctr"/>
          <a:lstStyle/>
          <a:p>
            <a:pPr algn="ctr" indent="0" marL="0">
              <a:buNone/>
            </a:pPr>
            <a:r>
              <a:rPr lang="en-US" sz="7200" b="1" dirty="0">
                <a:solidFill>
                  <a:srgbClr val="E7C766"/>
                </a:solidFill>
                <a:latin typeface="Georgia" pitchFamily="34" charset="0"/>
                <a:ea typeface="Georgia" pitchFamily="34" charset="-122"/>
                <a:cs typeface="Georgia" pitchFamily="34" charset="-120"/>
              </a:rPr>
              <a:t>1:11</a:t>
            </a:r>
            <a:endParaRPr lang="en-US" sz="7200" dirty="0"/>
          </a:p>
        </p:txBody>
      </p:sp>
      <p:sp>
        <p:nvSpPr>
          <p:cNvPr id="15" name="Text 13"/>
          <p:cNvSpPr/>
          <p:nvPr/>
        </p:nvSpPr>
        <p:spPr>
          <a:xfrm>
            <a:off x="1340968" y="2834640"/>
            <a:ext cx="9509760" cy="1140196"/>
          </a:xfrm>
          <a:prstGeom prst="rect">
            <a:avLst/>
          </a:prstGeom>
          <a:noFill/>
          <a:ln/>
        </p:spPr>
        <p:txBody>
          <a:bodyPr wrap="square" lIns="0" tIns="0" rIns="0" bIns="0" rtlCol="0" anchor="t"/>
          <a:lstStyle/>
          <a:p>
            <a:pPr algn="ctr" indent="0" marL="0">
              <a:buNone/>
            </a:pPr>
            <a:r>
              <a:rPr lang="en-US" sz="3200" b="1" dirty="0">
                <a:solidFill>
                  <a:srgbClr val="F7F3EA"/>
                </a:solidFill>
                <a:latin typeface="Georgia" pitchFamily="34" charset="0"/>
                <a:ea typeface="Georgia" pitchFamily="34" charset="-122"/>
                <a:cs typeface="Georgia" pitchFamily="34" charset="-120"/>
              </a:rPr>
              <a:t>Her first shift lands as the last step starts.</a:t>
            </a:r>
            <a:endParaRPr lang="en-US" sz="3200" dirty="0"/>
          </a:p>
        </p:txBody>
      </p:sp>
      <p:sp>
        <p:nvSpPr>
          <p:cNvPr id="16" name="Text 14"/>
          <p:cNvSpPr/>
          <p:nvPr/>
        </p:nvSpPr>
        <p:spPr>
          <a:xfrm>
            <a:off x="1737360" y="4285732"/>
            <a:ext cx="8714232" cy="365760"/>
          </a:xfrm>
          <a:prstGeom prst="rect">
            <a:avLst/>
          </a:prstGeom>
          <a:noFill/>
          <a:ln/>
        </p:spPr>
        <p:txBody>
          <a:bodyPr wrap="square" lIns="0" tIns="0" rIns="0" bIns="0" rtlCol="0" anchor="t"/>
          <a:lstStyle/>
          <a:p>
            <a:pPr algn="ctr" indent="0" marL="0">
              <a:buNone/>
            </a:pPr>
            <a:r>
              <a:rPr lang="en-US" sz="1800" dirty="0">
                <a:solidFill>
                  <a:srgbClr val="AFA893"/>
                </a:solidFill>
                <a:latin typeface="Arial" pitchFamily="34" charset="0"/>
                <a:ea typeface="Arial" pitchFamily="34" charset="-122"/>
                <a:cs typeface="Arial" pitchFamily="34" charset="-120"/>
              </a:rPr>
              <a:t>The trick: Claude never emails you. Your calendar does.</a:t>
            </a:r>
            <a:endParaRPr lang="en-US" sz="1800" dirty="0"/>
          </a:p>
        </p:txBody>
      </p:sp>
      <p:sp>
        <p:nvSpPr>
          <p:cNvPr id="17" name="Text 15"/>
          <p:cNvSpPr/>
          <p:nvPr/>
        </p:nvSpPr>
        <p:spPr>
          <a:xfrm>
            <a:off x="813816" y="5248656"/>
            <a:ext cx="10570464" cy="347472"/>
          </a:xfrm>
          <a:prstGeom prst="rect">
            <a:avLst/>
          </a:prstGeom>
          <a:noFill/>
          <a:ln/>
        </p:spPr>
        <p:txBody>
          <a:bodyPr wrap="square" lIns="0" tIns="0" rIns="0" bIns="0" rtlCol="0" anchor="t"/>
          <a:lstStyle/>
          <a:p>
            <a:pPr algn="ctr" indent="0" marL="0">
              <a:lnSpc>
                <a:spcPct val="116000"/>
              </a:lnSpc>
              <a:buNone/>
            </a:pPr>
            <a:r>
              <a:rPr lang="en-US" sz="1600" b="1" dirty="0">
                <a:solidFill>
                  <a:srgbClr val="E7C766"/>
                </a:solidFill>
                <a:latin typeface="Arial" pitchFamily="34" charset="0"/>
                <a:ea typeface="Arial" pitchFamily="34" charset="-122"/>
                <a:cs typeface="Arial" pitchFamily="34" charset="-120"/>
              </a:rPr>
              <a:t>Three stations lit. One left, and it is one more scheduled task.</a:t>
            </a:r>
            <a:endParaRPr lang="en-US" sz="16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4213D"/>
        </a:solidFill>
      </p:bgPr>
    </p:bg>
    <p:spTree>
      <p:nvGrpSpPr>
        <p:cNvPr id="1" name=""/>
        <p:cNvGrpSpPr/>
        <p:nvPr/>
      </p:nvGrpSpPr>
      <p:grpSpPr>
        <a:xfrm>
          <a:off x="0" y="0"/>
          <a:ext cx="0" cy="0"/>
          <a:chOff x="0" y="0"/>
          <a:chExt cx="0" cy="0"/>
        </a:xfrm>
      </p:grpSpPr>
      <p:sp>
        <p:nvSpPr>
          <p:cNvPr id="2" name="Shape 0"/>
          <p:cNvSpPr/>
          <p:nvPr/>
        </p:nvSpPr>
        <p:spPr>
          <a:xfrm>
            <a:off x="813816" y="5779008"/>
            <a:ext cx="10570464" cy="0"/>
          </a:xfrm>
          <a:prstGeom prst="line">
            <a:avLst/>
          </a:prstGeom>
          <a:noFill/>
          <a:ln w="9525">
            <a:solidFill>
              <a:srgbClr val="C9A227"/>
            </a:solidFill>
            <a:prstDash val="solid"/>
          </a:ln>
        </p:spPr>
      </p:sp>
      <p:sp>
        <p:nvSpPr>
          <p:cNvPr id="3" name="Text 1"/>
          <p:cNvSpPr/>
          <p:nvPr/>
        </p:nvSpPr>
        <p:spPr>
          <a:xfrm>
            <a:off x="813816" y="5907024"/>
            <a:ext cx="3358896" cy="274320"/>
          </a:xfrm>
          <a:prstGeom prst="rect">
            <a:avLst/>
          </a:prstGeom>
          <a:noFill/>
          <a:ln/>
        </p:spPr>
        <p:txBody>
          <a:bodyPr wrap="square" lIns="0" tIns="0" rIns="0" bIns="0" rtlCol="0" anchor="ctr"/>
          <a:lstStyle/>
          <a:p>
            <a:pPr indent="0" marL="0">
              <a:buNone/>
            </a:pPr>
            <a:r>
              <a:rPr lang="en-US" sz="1600" spc="120" kern="0" dirty="0">
                <a:solidFill>
                  <a:srgbClr val="AFA893"/>
                </a:solidFill>
                <a:latin typeface="Arial" pitchFamily="34" charset="0"/>
                <a:ea typeface="Arial" pitchFamily="34" charset="-122"/>
                <a:cs typeface="Arial" pitchFamily="34" charset="-120"/>
              </a:rPr>
              <a:t>BUILD YOUR OWN DONNA</a:t>
            </a:r>
            <a:endParaRPr lang="en-US" sz="1600" dirty="0"/>
          </a:p>
        </p:txBody>
      </p:sp>
      <p:sp>
        <p:nvSpPr>
          <p:cNvPr id="4" name="Shape 2"/>
          <p:cNvSpPr/>
          <p:nvPr/>
        </p:nvSpPr>
        <p:spPr>
          <a:xfrm rot="2700000">
            <a:off x="4227576" y="6012180"/>
            <a:ext cx="64008" cy="64008"/>
          </a:xfrm>
          <a:prstGeom prst="rect">
            <a:avLst/>
          </a:prstGeom>
          <a:solidFill>
            <a:srgbClr val="C9A227"/>
          </a:solidFill>
          <a:ln w="3175">
            <a:solidFill>
              <a:srgbClr val="C9A227"/>
            </a:solidFill>
            <a:prstDash val="solid"/>
          </a:ln>
        </p:spPr>
      </p:sp>
      <p:sp>
        <p:nvSpPr>
          <p:cNvPr id="5" name="Text 3"/>
          <p:cNvSpPr/>
          <p:nvPr/>
        </p:nvSpPr>
        <p:spPr>
          <a:xfrm>
            <a:off x="4410456" y="5907024"/>
            <a:ext cx="2712720" cy="274320"/>
          </a:xfrm>
          <a:prstGeom prst="rect">
            <a:avLst/>
          </a:prstGeom>
          <a:noFill/>
          <a:ln/>
        </p:spPr>
        <p:txBody>
          <a:bodyPr wrap="square" lIns="0" tIns="0" rIns="0" bIns="0" rtlCol="0" anchor="ctr"/>
          <a:lstStyle/>
          <a:p>
            <a:pPr indent="0" marL="0">
              <a:buNone/>
            </a:pPr>
            <a:r>
              <a:rPr lang="en-US" sz="1600" spc="120" kern="0" dirty="0">
                <a:solidFill>
                  <a:srgbClr val="AFA893"/>
                </a:solidFill>
                <a:latin typeface="Arial" pitchFamily="34" charset="0"/>
                <a:ea typeface="Arial" pitchFamily="34" charset="-122"/>
                <a:cs typeface="Arial" pitchFamily="34" charset="-120"/>
              </a:rPr>
              <a:t>OCTOBER 21, 2026</a:t>
            </a:r>
            <a:endParaRPr lang="en-US" sz="1600" dirty="0"/>
          </a:p>
        </p:txBody>
      </p:sp>
      <p:sp>
        <p:nvSpPr>
          <p:cNvPr id="6" name="Text 4"/>
          <p:cNvSpPr/>
          <p:nvPr/>
        </p:nvSpPr>
        <p:spPr>
          <a:xfrm>
            <a:off x="10652760" y="5907024"/>
            <a:ext cx="731520" cy="274320"/>
          </a:xfrm>
          <a:prstGeom prst="rect">
            <a:avLst/>
          </a:prstGeom>
          <a:noFill/>
          <a:ln/>
        </p:spPr>
        <p:txBody>
          <a:bodyPr wrap="square" lIns="0" tIns="0" rIns="0" bIns="0" rtlCol="0" anchor="ctr"/>
          <a:lstStyle/>
          <a:p>
            <a:pPr algn="r" indent="0" marL="0">
              <a:buNone/>
            </a:pPr>
            <a:r>
              <a:rPr lang="en-US" sz="1600" spc="120" kern="0" dirty="0">
                <a:solidFill>
                  <a:srgbClr val="AFA893"/>
                </a:solidFill>
                <a:latin typeface="Arial" pitchFamily="34" charset="0"/>
                <a:ea typeface="Arial" pitchFamily="34" charset="-122"/>
                <a:cs typeface="Arial" pitchFamily="34" charset="-120"/>
              </a:rPr>
              <a:t>26</a:t>
            </a:r>
            <a:endParaRPr lang="en-US" sz="1600" dirty="0"/>
          </a:p>
        </p:txBody>
      </p:sp>
      <p:sp>
        <p:nvSpPr>
          <p:cNvPr id="7" name="Shape 5"/>
          <p:cNvSpPr/>
          <p:nvPr/>
        </p:nvSpPr>
        <p:spPr>
          <a:xfrm>
            <a:off x="10789920" y="438912"/>
            <a:ext cx="548640" cy="548640"/>
          </a:xfrm>
          <a:prstGeom prst="ellipse">
            <a:avLst/>
          </a:prstGeom>
          <a:ln w="9525">
            <a:solidFill>
              <a:srgbClr val="C9A227"/>
            </a:solidFill>
            <a:prstDash val="solid"/>
          </a:ln>
        </p:spPr>
      </p:sp>
      <p:sp>
        <p:nvSpPr>
          <p:cNvPr id="8" name="Shape 6"/>
          <p:cNvSpPr/>
          <p:nvPr/>
        </p:nvSpPr>
        <p:spPr>
          <a:xfrm>
            <a:off x="10986516" y="361188"/>
            <a:ext cx="155448" cy="155448"/>
          </a:xfrm>
          <a:prstGeom prst="ellipse">
            <a:avLst/>
          </a:prstGeom>
          <a:solidFill>
            <a:srgbClr val="C9A227"/>
          </a:solidFill>
          <a:ln w="9525">
            <a:solidFill>
              <a:srgbClr val="C9A227"/>
            </a:solidFill>
            <a:prstDash val="solid"/>
          </a:ln>
        </p:spPr>
      </p:sp>
      <p:sp>
        <p:nvSpPr>
          <p:cNvPr id="9" name="Shape 7"/>
          <p:cNvSpPr/>
          <p:nvPr/>
        </p:nvSpPr>
        <p:spPr>
          <a:xfrm>
            <a:off x="11260836" y="635508"/>
            <a:ext cx="155448" cy="155448"/>
          </a:xfrm>
          <a:prstGeom prst="ellipse">
            <a:avLst/>
          </a:prstGeom>
          <a:solidFill>
            <a:srgbClr val="C9A227"/>
          </a:solidFill>
          <a:ln w="9525">
            <a:solidFill>
              <a:srgbClr val="C9A227"/>
            </a:solidFill>
            <a:prstDash val="solid"/>
          </a:ln>
        </p:spPr>
      </p:sp>
      <p:sp>
        <p:nvSpPr>
          <p:cNvPr id="10" name="Shape 8"/>
          <p:cNvSpPr/>
          <p:nvPr/>
        </p:nvSpPr>
        <p:spPr>
          <a:xfrm>
            <a:off x="10986516" y="909828"/>
            <a:ext cx="155448" cy="155448"/>
          </a:xfrm>
          <a:prstGeom prst="ellipse">
            <a:avLst/>
          </a:prstGeom>
          <a:solidFill>
            <a:srgbClr val="C9A227"/>
          </a:solidFill>
          <a:ln w="9525">
            <a:solidFill>
              <a:srgbClr val="C9A227"/>
            </a:solidFill>
            <a:prstDash val="solid"/>
          </a:ln>
        </p:spPr>
      </p:sp>
      <p:sp>
        <p:nvSpPr>
          <p:cNvPr id="11" name="Shape 9"/>
          <p:cNvSpPr/>
          <p:nvPr/>
        </p:nvSpPr>
        <p:spPr>
          <a:xfrm>
            <a:off x="10712196" y="635508"/>
            <a:ext cx="155448" cy="155448"/>
          </a:xfrm>
          <a:prstGeom prst="ellipse">
            <a:avLst/>
          </a:prstGeom>
          <a:solidFill>
            <a:srgbClr val="C9A227"/>
          </a:solidFill>
          <a:ln w="9525">
            <a:solidFill>
              <a:srgbClr val="C9A227"/>
            </a:solidFill>
            <a:prstDash val="solid"/>
          </a:ln>
        </p:spPr>
      </p:sp>
      <p:sp>
        <p:nvSpPr>
          <p:cNvPr id="12" name="Text 10"/>
          <p:cNvSpPr/>
          <p:nvPr/>
        </p:nvSpPr>
        <p:spPr>
          <a:xfrm>
            <a:off x="10145268" y="1097280"/>
            <a:ext cx="1239012" cy="274320"/>
          </a:xfrm>
          <a:prstGeom prst="rect">
            <a:avLst/>
          </a:prstGeom>
          <a:noFill/>
          <a:ln/>
        </p:spPr>
        <p:txBody>
          <a:bodyPr wrap="square" lIns="0" tIns="0" rIns="0" bIns="0" rtlCol="0" anchor="ctr"/>
          <a:lstStyle/>
          <a:p>
            <a:pPr algn="r" indent="0" marL="0">
              <a:buNone/>
            </a:pPr>
            <a:r>
              <a:rPr lang="en-US" sz="1600" b="1" spc="120" kern="0" dirty="0">
                <a:solidFill>
                  <a:srgbClr val="E7C766"/>
                </a:solidFill>
                <a:latin typeface="Arial" pitchFamily="34" charset="0"/>
                <a:ea typeface="Arial" pitchFamily="34" charset="-122"/>
                <a:cs typeface="Arial" pitchFamily="34" charset="-120"/>
              </a:rPr>
              <a:t>RETRAIN</a:t>
            </a:r>
            <a:endParaRPr lang="en-US" sz="1600" dirty="0"/>
          </a:p>
        </p:txBody>
      </p:sp>
      <p:sp>
        <p:nvSpPr>
          <p:cNvPr id="13" name="Text 11"/>
          <p:cNvSpPr/>
          <p:nvPr/>
        </p:nvSpPr>
        <p:spPr>
          <a:xfrm>
            <a:off x="813816" y="1188720"/>
            <a:ext cx="10570464" cy="292608"/>
          </a:xfrm>
          <a:prstGeom prst="rect">
            <a:avLst/>
          </a:prstGeom>
          <a:noFill/>
          <a:ln/>
        </p:spPr>
        <p:txBody>
          <a:bodyPr wrap="square" lIns="0" tIns="0" rIns="0" bIns="0" rtlCol="0" anchor="ctr"/>
          <a:lstStyle/>
          <a:p>
            <a:pPr algn="ctr" indent="0" marL="0">
              <a:buNone/>
            </a:pPr>
            <a:r>
              <a:rPr lang="en-US" sz="1600" b="1" spc="200" kern="0" dirty="0">
                <a:solidFill>
                  <a:srgbClr val="E7C766"/>
                </a:solidFill>
                <a:latin typeface="Arial" pitchFamily="34" charset="0"/>
                <a:ea typeface="Arial" pitchFamily="34" charset="-122"/>
                <a:cs typeface="Arial" pitchFamily="34" charset="-120"/>
              </a:rPr>
              <a:t>STEP FOUR  ·  RETRAIN</a:t>
            </a:r>
            <a:endParaRPr lang="en-US" sz="1600" dirty="0"/>
          </a:p>
        </p:txBody>
      </p:sp>
      <p:sp>
        <p:nvSpPr>
          <p:cNvPr id="14" name="Text 12"/>
          <p:cNvSpPr/>
          <p:nvPr/>
        </p:nvSpPr>
        <p:spPr>
          <a:xfrm>
            <a:off x="1249528" y="1536192"/>
            <a:ext cx="9692640" cy="815889"/>
          </a:xfrm>
          <a:prstGeom prst="rect">
            <a:avLst/>
          </a:prstGeom>
          <a:noFill/>
          <a:ln/>
        </p:spPr>
        <p:txBody>
          <a:bodyPr wrap="square" lIns="0" tIns="0" rIns="0" bIns="0" rtlCol="0" anchor="t"/>
          <a:lstStyle/>
          <a:p>
            <a:pPr algn="ctr" indent="0" marL="0">
              <a:buNone/>
            </a:pPr>
            <a:r>
              <a:rPr lang="en-US" sz="4400" b="1" dirty="0">
                <a:solidFill>
                  <a:srgbClr val="F7F3EA"/>
                </a:solidFill>
                <a:latin typeface="Georgia" pitchFamily="34" charset="0"/>
                <a:ea typeface="Georgia" pitchFamily="34" charset="-122"/>
                <a:cs typeface="Georgia" pitchFamily="34" charset="-120"/>
              </a:rPr>
              <a:t>Her performance review.</a:t>
            </a:r>
            <a:endParaRPr lang="en-US" sz="4400" dirty="0"/>
          </a:p>
        </p:txBody>
      </p:sp>
      <p:sp>
        <p:nvSpPr>
          <p:cNvPr id="15" name="Text 13"/>
          <p:cNvSpPr/>
          <p:nvPr/>
        </p:nvSpPr>
        <p:spPr>
          <a:xfrm>
            <a:off x="813816" y="2516673"/>
            <a:ext cx="10570464" cy="329184"/>
          </a:xfrm>
          <a:prstGeom prst="rect">
            <a:avLst/>
          </a:prstGeom>
          <a:noFill/>
          <a:ln/>
        </p:spPr>
        <p:txBody>
          <a:bodyPr wrap="square" lIns="0" tIns="0" rIns="0" bIns="0" rtlCol="0" anchor="ctr"/>
          <a:lstStyle/>
          <a:p>
            <a:pPr algn="ctr" indent="0" marL="0">
              <a:buNone/>
            </a:pPr>
            <a:r>
              <a:rPr lang="en-US" sz="1800" dirty="0">
                <a:solidFill>
                  <a:srgbClr val="AFA893"/>
                </a:solidFill>
                <a:latin typeface="Arial" pitchFamily="34" charset="0"/>
                <a:ea typeface="Arial" pitchFamily="34" charset="-122"/>
                <a:cs typeface="Arial" pitchFamily="34" charset="-120"/>
              </a:rPr>
              <a:t>One more scheduled task. Every Friday she reviews her week. You sign it.</a:t>
            </a:r>
            <a:endParaRPr lang="en-US" sz="1800" dirty="0"/>
          </a:p>
        </p:txBody>
      </p:sp>
      <p:sp>
        <p:nvSpPr>
          <p:cNvPr id="16" name="Text 14"/>
          <p:cNvSpPr/>
          <p:nvPr/>
        </p:nvSpPr>
        <p:spPr>
          <a:xfrm>
            <a:off x="813816" y="3138465"/>
            <a:ext cx="10570464" cy="274320"/>
          </a:xfrm>
          <a:prstGeom prst="rect">
            <a:avLst/>
          </a:prstGeom>
          <a:noFill/>
          <a:ln/>
        </p:spPr>
        <p:txBody>
          <a:bodyPr wrap="square" lIns="0" tIns="0" rIns="0" bIns="0" rtlCol="0" anchor="ctr"/>
          <a:lstStyle/>
          <a:p>
            <a:pPr algn="ctr" indent="0" marL="0">
              <a:buNone/>
            </a:pPr>
            <a:r>
              <a:rPr lang="en-US" sz="1600" b="1" spc="200" kern="0" dirty="0">
                <a:solidFill>
                  <a:srgbClr val="E7C766"/>
                </a:solidFill>
                <a:latin typeface="Arial" pitchFamily="34" charset="0"/>
                <a:ea typeface="Arial" pitchFamily="34" charset="-122"/>
                <a:cs typeface="Arial" pitchFamily="34" charset="-120"/>
              </a:rPr>
              <a:t>IN THIS STEP</a:t>
            </a:r>
            <a:endParaRPr lang="en-US" sz="1600" dirty="0"/>
          </a:p>
        </p:txBody>
      </p:sp>
      <p:sp>
        <p:nvSpPr>
          <p:cNvPr id="17" name="Text 15"/>
          <p:cNvSpPr/>
          <p:nvPr/>
        </p:nvSpPr>
        <p:spPr>
          <a:xfrm>
            <a:off x="813816" y="3467649"/>
            <a:ext cx="10570464" cy="329184"/>
          </a:xfrm>
          <a:prstGeom prst="rect">
            <a:avLst/>
          </a:prstGeom>
          <a:noFill/>
          <a:ln/>
        </p:spPr>
        <p:txBody>
          <a:bodyPr wrap="square" lIns="0" tIns="0" rIns="0" bIns="0" rtlCol="0" anchor="ctr"/>
          <a:lstStyle/>
          <a:p>
            <a:pPr algn="ctr" indent="0" marL="0">
              <a:buNone/>
            </a:pPr>
            <a:r>
              <a:rPr lang="en-US" sz="1800" b="1" dirty="0">
                <a:solidFill>
                  <a:srgbClr val="E7C766"/>
                </a:solidFill>
                <a:latin typeface="Georgia" pitchFamily="34" charset="0"/>
                <a:ea typeface="Georgia" pitchFamily="34" charset="-122"/>
                <a:cs typeface="Georgia" pitchFamily="34" charset="-120"/>
              </a:rPr>
              <a:t>1/  </a:t>
            </a:r>
            <a:pPr algn="ctr" indent="0" marL="0">
              <a:buNone/>
            </a:pPr>
            <a:r>
              <a:rPr lang="en-US" sz="1800" dirty="0">
                <a:solidFill>
                  <a:srgbClr val="F7F3EA"/>
                </a:solidFill>
                <a:latin typeface="Arial" pitchFamily="34" charset="0"/>
                <a:ea typeface="Arial" pitchFamily="34" charset="-122"/>
                <a:cs typeface="Arial" pitchFamily="34" charset="-120"/>
              </a:rPr>
              <a:t>Schedule the Friday retrain.</a:t>
            </a:r>
            <a:endParaRPr lang="en-US" sz="1800" dirty="0"/>
          </a:p>
        </p:txBody>
      </p:sp>
      <p:sp>
        <p:nvSpPr>
          <p:cNvPr id="18" name="Text 16"/>
          <p:cNvSpPr/>
          <p:nvPr/>
        </p:nvSpPr>
        <p:spPr>
          <a:xfrm>
            <a:off x="813816" y="3815121"/>
            <a:ext cx="10570464" cy="329184"/>
          </a:xfrm>
          <a:prstGeom prst="rect">
            <a:avLst/>
          </a:prstGeom>
          <a:noFill/>
          <a:ln/>
        </p:spPr>
        <p:txBody>
          <a:bodyPr wrap="square" lIns="0" tIns="0" rIns="0" bIns="0" rtlCol="0" anchor="ctr"/>
          <a:lstStyle/>
          <a:p>
            <a:pPr algn="ctr" indent="0" marL="0">
              <a:buNone/>
            </a:pPr>
            <a:r>
              <a:rPr lang="en-US" sz="1800" b="1" dirty="0">
                <a:solidFill>
                  <a:srgbClr val="E7C766"/>
                </a:solidFill>
                <a:latin typeface="Georgia" pitchFamily="34" charset="0"/>
                <a:ea typeface="Georgia" pitchFamily="34" charset="-122"/>
                <a:cs typeface="Georgia" pitchFamily="34" charset="-120"/>
              </a:rPr>
              <a:t>2/  </a:t>
            </a:r>
            <a:pPr algn="ctr" indent="0" marL="0">
              <a:buNone/>
            </a:pPr>
            <a:r>
              <a:rPr lang="en-US" sz="1800" dirty="0">
                <a:solidFill>
                  <a:srgbClr val="F7F3EA"/>
                </a:solidFill>
                <a:latin typeface="Arial" pitchFamily="34" charset="0"/>
                <a:ea typeface="Arial" pitchFamily="34" charset="-122"/>
                <a:cs typeface="Arial" pitchFamily="34" charset="-120"/>
              </a:rPr>
              <a:t>Watch her first review land at 1:23.</a:t>
            </a:r>
            <a:endParaRPr lang="en-US" sz="1800" dirty="0"/>
          </a:p>
        </p:txBody>
      </p:sp>
      <p:sp>
        <p:nvSpPr>
          <p:cNvPr id="19" name="Text 17"/>
          <p:cNvSpPr/>
          <p:nvPr/>
        </p:nvSpPr>
        <p:spPr>
          <a:xfrm>
            <a:off x="813816" y="4162593"/>
            <a:ext cx="10570464" cy="329184"/>
          </a:xfrm>
          <a:prstGeom prst="rect">
            <a:avLst/>
          </a:prstGeom>
          <a:noFill/>
          <a:ln/>
        </p:spPr>
        <p:txBody>
          <a:bodyPr wrap="square" lIns="0" tIns="0" rIns="0" bIns="0" rtlCol="0" anchor="ctr"/>
          <a:lstStyle/>
          <a:p>
            <a:pPr algn="ctr" indent="0" marL="0">
              <a:buNone/>
            </a:pPr>
            <a:r>
              <a:rPr lang="en-US" sz="1800" b="1" dirty="0">
                <a:solidFill>
                  <a:srgbClr val="E7C766"/>
                </a:solidFill>
                <a:latin typeface="Georgia" pitchFamily="34" charset="0"/>
                <a:ea typeface="Georgia" pitchFamily="34" charset="-122"/>
                <a:cs typeface="Georgia" pitchFamily="34" charset="-120"/>
              </a:rPr>
              <a:t>3/  </a:t>
            </a:r>
            <a:pPr algn="ctr" indent="0" marL="0">
              <a:buNone/>
            </a:pPr>
            <a:r>
              <a:rPr lang="en-US" sz="1800" dirty="0">
                <a:solidFill>
                  <a:srgbClr val="F7F3EA"/>
                </a:solidFill>
                <a:latin typeface="Arial" pitchFamily="34" charset="0"/>
                <a:ea typeface="Arial" pitchFamily="34" charset="-122"/>
                <a:cs typeface="Arial" pitchFamily="34" charset="-120"/>
              </a:rPr>
              <a:t>Monday: sign it.</a:t>
            </a:r>
            <a:endParaRPr lang="en-US" sz="1800" dirty="0"/>
          </a:p>
        </p:txBody>
      </p:sp>
      <p:sp>
        <p:nvSpPr>
          <p:cNvPr id="20" name="Text 18"/>
          <p:cNvSpPr/>
          <p:nvPr/>
        </p:nvSpPr>
        <p:spPr>
          <a:xfrm>
            <a:off x="813816" y="4937760"/>
            <a:ext cx="10570464" cy="329184"/>
          </a:xfrm>
          <a:prstGeom prst="rect">
            <a:avLst/>
          </a:prstGeom>
          <a:noFill/>
          <a:ln/>
        </p:spPr>
        <p:txBody>
          <a:bodyPr wrap="square" lIns="0" tIns="0" rIns="0" bIns="0" rtlCol="0" anchor="ctr"/>
          <a:lstStyle/>
          <a:p>
            <a:pPr algn="ctr" indent="0" marL="0">
              <a:buNone/>
            </a:pPr>
            <a:r>
              <a:rPr lang="en-US" sz="1800" b="1" dirty="0">
                <a:solidFill>
                  <a:srgbClr val="E7C766"/>
                </a:solidFill>
                <a:latin typeface="Arial" pitchFamily="34" charset="0"/>
                <a:ea typeface="Arial" pitchFamily="34" charset="-122"/>
                <a:cs typeface="Arial" pitchFamily="34" charset="-120"/>
              </a:rPr>
              <a:t>Now go to the instructions: Step 4 on the site.</a:t>
            </a:r>
            <a:endParaRPr lang="en-US" sz="1800" dirty="0"/>
          </a:p>
        </p:txBody>
      </p:sp>
      <p:sp>
        <p:nvSpPr>
          <p:cNvPr id="21" name="Text 19"/>
          <p:cNvSpPr/>
          <p:nvPr/>
        </p:nvSpPr>
        <p:spPr>
          <a:xfrm>
            <a:off x="813816" y="5285232"/>
            <a:ext cx="10570464" cy="274320"/>
          </a:xfrm>
          <a:prstGeom prst="rect">
            <a:avLst/>
          </a:prstGeom>
          <a:noFill/>
          <a:ln/>
        </p:spPr>
        <p:txBody>
          <a:bodyPr wrap="square" lIns="0" tIns="0" rIns="0" bIns="0" rtlCol="0" anchor="ctr"/>
          <a:lstStyle/>
          <a:p>
            <a:pPr algn="ctr" indent="0" marL="0">
              <a:buNone/>
            </a:pPr>
            <a:r>
              <a:rPr lang="en-US" sz="1600" dirty="0">
                <a:solidFill>
                  <a:srgbClr val="AFA893"/>
                </a:solidFill>
                <a:latin typeface="Arial" pitchFamily="34" charset="0"/>
                <a:ea typeface="Arial" pitchFamily="34" charset="-122"/>
                <a:cs typeface="Arial" pitchFamily="34" charset="-120"/>
              </a:rPr>
              <a:t>donnainstructions.denisegosnell.ai</a:t>
            </a:r>
            <a:endParaRPr lang="en-US" sz="16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7F3EA"/>
        </a:solidFill>
      </p:bgPr>
    </p:bg>
    <p:spTree>
      <p:nvGrpSpPr>
        <p:cNvPr id="1" name=""/>
        <p:cNvGrpSpPr/>
        <p:nvPr/>
      </p:nvGrpSpPr>
      <p:grpSpPr>
        <a:xfrm>
          <a:off x="0" y="0"/>
          <a:ext cx="0" cy="0"/>
          <a:chOff x="0" y="0"/>
          <a:chExt cx="0" cy="0"/>
        </a:xfrm>
      </p:grpSpPr>
      <p:sp>
        <p:nvSpPr>
          <p:cNvPr id="2" name="Shape 0"/>
          <p:cNvSpPr/>
          <p:nvPr/>
        </p:nvSpPr>
        <p:spPr>
          <a:xfrm>
            <a:off x="813816" y="5779008"/>
            <a:ext cx="10570464" cy="0"/>
          </a:xfrm>
          <a:prstGeom prst="line">
            <a:avLst/>
          </a:prstGeom>
          <a:noFill/>
          <a:ln w="9525">
            <a:solidFill>
              <a:srgbClr val="C9A227"/>
            </a:solidFill>
            <a:prstDash val="solid"/>
          </a:ln>
        </p:spPr>
      </p:sp>
      <p:sp>
        <p:nvSpPr>
          <p:cNvPr id="3" name="Text 1"/>
          <p:cNvSpPr/>
          <p:nvPr/>
        </p:nvSpPr>
        <p:spPr>
          <a:xfrm>
            <a:off x="813816" y="5907024"/>
            <a:ext cx="3358896" cy="274320"/>
          </a:xfrm>
          <a:prstGeom prst="rect">
            <a:avLst/>
          </a:prstGeom>
          <a:noFill/>
          <a:ln/>
        </p:spPr>
        <p:txBody>
          <a:bodyPr wrap="square" lIns="0" tIns="0" rIns="0" bIns="0" rtlCol="0" anchor="ctr"/>
          <a:lstStyle/>
          <a:p>
            <a:pPr indent="0" marL="0">
              <a:buNone/>
            </a:pPr>
            <a:r>
              <a:rPr lang="en-US" sz="1600" spc="120" kern="0" dirty="0">
                <a:solidFill>
                  <a:srgbClr val="5A6379"/>
                </a:solidFill>
                <a:latin typeface="Arial" pitchFamily="34" charset="0"/>
                <a:ea typeface="Arial" pitchFamily="34" charset="-122"/>
                <a:cs typeface="Arial" pitchFamily="34" charset="-120"/>
              </a:rPr>
              <a:t>BUILD YOUR OWN DONNA</a:t>
            </a:r>
            <a:endParaRPr lang="en-US" sz="1600" dirty="0"/>
          </a:p>
        </p:txBody>
      </p:sp>
      <p:sp>
        <p:nvSpPr>
          <p:cNvPr id="4" name="Shape 2"/>
          <p:cNvSpPr/>
          <p:nvPr/>
        </p:nvSpPr>
        <p:spPr>
          <a:xfrm rot="2700000">
            <a:off x="4227576" y="6012180"/>
            <a:ext cx="64008" cy="64008"/>
          </a:xfrm>
          <a:prstGeom prst="rect">
            <a:avLst/>
          </a:prstGeom>
          <a:solidFill>
            <a:srgbClr val="C9A227"/>
          </a:solidFill>
          <a:ln w="3175">
            <a:solidFill>
              <a:srgbClr val="C9A227"/>
            </a:solidFill>
            <a:prstDash val="solid"/>
          </a:ln>
        </p:spPr>
      </p:sp>
      <p:sp>
        <p:nvSpPr>
          <p:cNvPr id="5" name="Text 3"/>
          <p:cNvSpPr/>
          <p:nvPr/>
        </p:nvSpPr>
        <p:spPr>
          <a:xfrm>
            <a:off x="4410456" y="5907024"/>
            <a:ext cx="2712720" cy="274320"/>
          </a:xfrm>
          <a:prstGeom prst="rect">
            <a:avLst/>
          </a:prstGeom>
          <a:noFill/>
          <a:ln/>
        </p:spPr>
        <p:txBody>
          <a:bodyPr wrap="square" lIns="0" tIns="0" rIns="0" bIns="0" rtlCol="0" anchor="ctr"/>
          <a:lstStyle/>
          <a:p>
            <a:pPr indent="0" marL="0">
              <a:buNone/>
            </a:pPr>
            <a:r>
              <a:rPr lang="en-US" sz="1600" spc="120" kern="0" dirty="0">
                <a:solidFill>
                  <a:srgbClr val="5A6379"/>
                </a:solidFill>
                <a:latin typeface="Arial" pitchFamily="34" charset="0"/>
                <a:ea typeface="Arial" pitchFamily="34" charset="-122"/>
                <a:cs typeface="Arial" pitchFamily="34" charset="-120"/>
              </a:rPr>
              <a:t>OCTOBER 21, 2026</a:t>
            </a:r>
            <a:endParaRPr lang="en-US" sz="1600" dirty="0"/>
          </a:p>
        </p:txBody>
      </p:sp>
      <p:sp>
        <p:nvSpPr>
          <p:cNvPr id="6" name="Text 4"/>
          <p:cNvSpPr/>
          <p:nvPr/>
        </p:nvSpPr>
        <p:spPr>
          <a:xfrm>
            <a:off x="10652760" y="5907024"/>
            <a:ext cx="731520" cy="274320"/>
          </a:xfrm>
          <a:prstGeom prst="rect">
            <a:avLst/>
          </a:prstGeom>
          <a:noFill/>
          <a:ln/>
        </p:spPr>
        <p:txBody>
          <a:bodyPr wrap="square" lIns="0" tIns="0" rIns="0" bIns="0" rtlCol="0" anchor="ctr"/>
          <a:lstStyle/>
          <a:p>
            <a:pPr algn="r" indent="0" marL="0">
              <a:buNone/>
            </a:pPr>
            <a:r>
              <a:rPr lang="en-US" sz="1600" spc="120" kern="0" dirty="0">
                <a:solidFill>
                  <a:srgbClr val="5A6379"/>
                </a:solidFill>
                <a:latin typeface="Arial" pitchFamily="34" charset="0"/>
                <a:ea typeface="Arial" pitchFamily="34" charset="-122"/>
                <a:cs typeface="Arial" pitchFamily="34" charset="-120"/>
              </a:rPr>
              <a:t>27</a:t>
            </a:r>
            <a:endParaRPr lang="en-US" sz="1600" dirty="0"/>
          </a:p>
        </p:txBody>
      </p:sp>
      <p:sp>
        <p:nvSpPr>
          <p:cNvPr id="7" name="Shape 5"/>
          <p:cNvSpPr/>
          <p:nvPr/>
        </p:nvSpPr>
        <p:spPr>
          <a:xfrm>
            <a:off x="10789920" y="438912"/>
            <a:ext cx="548640" cy="548640"/>
          </a:xfrm>
          <a:prstGeom prst="ellipse">
            <a:avLst/>
          </a:prstGeom>
          <a:ln w="9525">
            <a:solidFill>
              <a:srgbClr val="C9A227"/>
            </a:solidFill>
            <a:prstDash val="solid"/>
          </a:ln>
        </p:spPr>
      </p:sp>
      <p:sp>
        <p:nvSpPr>
          <p:cNvPr id="8" name="Shape 6"/>
          <p:cNvSpPr/>
          <p:nvPr/>
        </p:nvSpPr>
        <p:spPr>
          <a:xfrm>
            <a:off x="10986516" y="361188"/>
            <a:ext cx="155448" cy="155448"/>
          </a:xfrm>
          <a:prstGeom prst="ellipse">
            <a:avLst/>
          </a:prstGeom>
          <a:solidFill>
            <a:srgbClr val="C9A227"/>
          </a:solidFill>
          <a:ln w="9525">
            <a:solidFill>
              <a:srgbClr val="C9A227"/>
            </a:solidFill>
            <a:prstDash val="solid"/>
          </a:ln>
        </p:spPr>
      </p:sp>
      <p:sp>
        <p:nvSpPr>
          <p:cNvPr id="9" name="Shape 7"/>
          <p:cNvSpPr/>
          <p:nvPr/>
        </p:nvSpPr>
        <p:spPr>
          <a:xfrm>
            <a:off x="11260836" y="635508"/>
            <a:ext cx="155448" cy="155448"/>
          </a:xfrm>
          <a:prstGeom prst="ellipse">
            <a:avLst/>
          </a:prstGeom>
          <a:solidFill>
            <a:srgbClr val="C9A227"/>
          </a:solidFill>
          <a:ln w="9525">
            <a:solidFill>
              <a:srgbClr val="C9A227"/>
            </a:solidFill>
            <a:prstDash val="solid"/>
          </a:ln>
        </p:spPr>
      </p:sp>
      <p:sp>
        <p:nvSpPr>
          <p:cNvPr id="10" name="Shape 8"/>
          <p:cNvSpPr/>
          <p:nvPr/>
        </p:nvSpPr>
        <p:spPr>
          <a:xfrm>
            <a:off x="10986516" y="909828"/>
            <a:ext cx="155448" cy="155448"/>
          </a:xfrm>
          <a:prstGeom prst="ellipse">
            <a:avLst/>
          </a:prstGeom>
          <a:solidFill>
            <a:srgbClr val="C9A227"/>
          </a:solidFill>
          <a:ln w="9525">
            <a:solidFill>
              <a:srgbClr val="C9A227"/>
            </a:solidFill>
            <a:prstDash val="solid"/>
          </a:ln>
        </p:spPr>
      </p:sp>
      <p:sp>
        <p:nvSpPr>
          <p:cNvPr id="11" name="Shape 9"/>
          <p:cNvSpPr/>
          <p:nvPr/>
        </p:nvSpPr>
        <p:spPr>
          <a:xfrm>
            <a:off x="10712196" y="635508"/>
            <a:ext cx="155448" cy="155448"/>
          </a:xfrm>
          <a:prstGeom prst="ellipse">
            <a:avLst/>
          </a:prstGeom>
          <a:solidFill>
            <a:srgbClr val="C9A227"/>
          </a:solidFill>
          <a:ln w="9525">
            <a:solidFill>
              <a:srgbClr val="C9A227"/>
            </a:solidFill>
            <a:prstDash val="solid"/>
          </a:ln>
        </p:spPr>
      </p:sp>
      <p:sp>
        <p:nvSpPr>
          <p:cNvPr id="12" name="Text 10"/>
          <p:cNvSpPr/>
          <p:nvPr/>
        </p:nvSpPr>
        <p:spPr>
          <a:xfrm>
            <a:off x="10145268" y="1097280"/>
            <a:ext cx="1239012" cy="274320"/>
          </a:xfrm>
          <a:prstGeom prst="rect">
            <a:avLst/>
          </a:prstGeom>
          <a:noFill/>
          <a:ln/>
        </p:spPr>
        <p:txBody>
          <a:bodyPr wrap="square" lIns="0" tIns="0" rIns="0" bIns="0" rtlCol="0" anchor="ctr"/>
          <a:lstStyle/>
          <a:p>
            <a:pPr algn="r" indent="0" marL="0">
              <a:buNone/>
            </a:pPr>
            <a:r>
              <a:rPr lang="en-US" sz="1600" b="1" spc="120" kern="0" dirty="0">
                <a:solidFill>
                  <a:srgbClr val="8A6D14"/>
                </a:solidFill>
                <a:latin typeface="Arial" pitchFamily="34" charset="0"/>
                <a:ea typeface="Arial" pitchFamily="34" charset="-122"/>
                <a:cs typeface="Arial" pitchFamily="34" charset="-120"/>
              </a:rPr>
              <a:t>RETRAIN</a:t>
            </a:r>
            <a:endParaRPr lang="en-US" sz="1600" dirty="0"/>
          </a:p>
        </p:txBody>
      </p:sp>
      <p:sp>
        <p:nvSpPr>
          <p:cNvPr id="13" name="Text 11"/>
          <p:cNvSpPr/>
          <p:nvPr/>
        </p:nvSpPr>
        <p:spPr>
          <a:xfrm>
            <a:off x="813816" y="457200"/>
            <a:ext cx="9692640" cy="310896"/>
          </a:xfrm>
          <a:prstGeom prst="rect">
            <a:avLst/>
          </a:prstGeom>
          <a:noFill/>
          <a:ln/>
        </p:spPr>
        <p:txBody>
          <a:bodyPr wrap="square" lIns="0" tIns="0" rIns="0" bIns="0" rtlCol="0" anchor="ctr"/>
          <a:lstStyle/>
          <a:p>
            <a:pPr indent="0" marL="0">
              <a:buNone/>
            </a:pPr>
            <a:r>
              <a:rPr lang="en-US" sz="1600" b="1" spc="180" kern="0" dirty="0">
                <a:solidFill>
                  <a:srgbClr val="8A6D14"/>
                </a:solidFill>
                <a:latin typeface="Arial" pitchFamily="34" charset="0"/>
                <a:ea typeface="Arial" pitchFamily="34" charset="-122"/>
                <a:cs typeface="Arial" pitchFamily="34" charset="-120"/>
              </a:rPr>
              <a:t>STEP FOUR  ·  THE FRIDAY RETRAIN</a:t>
            </a:r>
            <a:endParaRPr lang="en-US" sz="1600" dirty="0"/>
          </a:p>
        </p:txBody>
      </p:sp>
      <p:sp>
        <p:nvSpPr>
          <p:cNvPr id="14" name="Text 12"/>
          <p:cNvSpPr/>
          <p:nvPr/>
        </p:nvSpPr>
        <p:spPr>
          <a:xfrm>
            <a:off x="813816" y="841248"/>
            <a:ext cx="9144000" cy="751027"/>
          </a:xfrm>
          <a:prstGeom prst="rect">
            <a:avLst/>
          </a:prstGeom>
          <a:noFill/>
          <a:ln/>
        </p:spPr>
        <p:txBody>
          <a:bodyPr wrap="square" lIns="0" tIns="0" rIns="0" bIns="0" rtlCol="0" anchor="t"/>
          <a:lstStyle/>
          <a:p>
            <a:pPr indent="0" marL="0">
              <a:lnSpc>
                <a:spcPct val="94000"/>
              </a:lnSpc>
              <a:buNone/>
            </a:pPr>
            <a:r>
              <a:rPr lang="en-US" sz="4000" b="1" dirty="0">
                <a:solidFill>
                  <a:srgbClr val="14213D"/>
                </a:solidFill>
                <a:latin typeface="Georgia" pitchFamily="34" charset="0"/>
                <a:ea typeface="Georgia" pitchFamily="34" charset="-122"/>
                <a:cs typeface="Georgia" pitchFamily="34" charset="-120"/>
              </a:rPr>
              <a:t>Fridays, she reads her week.</a:t>
            </a:r>
            <a:endParaRPr lang="en-US" sz="4000" dirty="0"/>
          </a:p>
        </p:txBody>
      </p:sp>
      <p:sp>
        <p:nvSpPr>
          <p:cNvPr id="15" name="Shape 13"/>
          <p:cNvSpPr/>
          <p:nvPr/>
        </p:nvSpPr>
        <p:spPr>
          <a:xfrm>
            <a:off x="813816" y="1775155"/>
            <a:ext cx="7315200" cy="2990088"/>
          </a:xfrm>
          <a:prstGeom prst="rect">
            <a:avLst/>
          </a:prstGeom>
          <a:solidFill>
            <a:srgbClr val="14213D"/>
          </a:solidFill>
          <a:ln/>
        </p:spPr>
      </p:sp>
      <p:sp>
        <p:nvSpPr>
          <p:cNvPr id="16" name="Text 14"/>
          <p:cNvSpPr/>
          <p:nvPr/>
        </p:nvSpPr>
        <p:spPr>
          <a:xfrm>
            <a:off x="1069848" y="1930603"/>
            <a:ext cx="6803136" cy="274320"/>
          </a:xfrm>
          <a:prstGeom prst="rect">
            <a:avLst/>
          </a:prstGeom>
          <a:noFill/>
          <a:ln/>
        </p:spPr>
        <p:txBody>
          <a:bodyPr wrap="square" lIns="0" tIns="0" rIns="0" bIns="0" rtlCol="0" anchor="ctr"/>
          <a:lstStyle/>
          <a:p>
            <a:pPr indent="0" marL="0">
              <a:buNone/>
            </a:pPr>
            <a:r>
              <a:rPr lang="en-US" sz="1600" b="1" spc="140" kern="0" dirty="0">
                <a:solidFill>
                  <a:srgbClr val="E7C766"/>
                </a:solidFill>
                <a:latin typeface="Arial" pitchFamily="34" charset="0"/>
                <a:ea typeface="Arial" pitchFamily="34" charset="-122"/>
                <a:cs typeface="Arial" pitchFamily="34" charset="-120"/>
              </a:rPr>
              <a:t>SCHEDULED · NEW TASK · CREATE WITH CLAUDE</a:t>
            </a:r>
            <a:endParaRPr lang="en-US" sz="1600" dirty="0"/>
          </a:p>
        </p:txBody>
      </p:sp>
      <p:sp>
        <p:nvSpPr>
          <p:cNvPr id="17" name="Text 15"/>
          <p:cNvSpPr/>
          <p:nvPr/>
        </p:nvSpPr>
        <p:spPr>
          <a:xfrm>
            <a:off x="1069848" y="2287219"/>
            <a:ext cx="6803136" cy="2350008"/>
          </a:xfrm>
          <a:prstGeom prst="rect">
            <a:avLst/>
          </a:prstGeom>
          <a:noFill/>
          <a:ln/>
        </p:spPr>
        <p:txBody>
          <a:bodyPr wrap="square" lIns="0" tIns="0" rIns="0" bIns="0" rtlCol="0" anchor="t"/>
          <a:lstStyle/>
          <a:p>
            <a:pPr indent="0" marL="0">
              <a:lnSpc>
                <a:spcPts val="1940"/>
              </a:lnSpc>
              <a:buNone/>
            </a:pPr>
            <a:r>
              <a:rPr lang="en-US" sz="1600" dirty="0">
                <a:solidFill>
                  <a:srgbClr val="F7F3EA"/>
                </a:solidFill>
                <a:latin typeface="Courier New" pitchFamily="34" charset="0"/>
                <a:ea typeface="Courier New" pitchFamily="34" charset="-122"/>
                <a:cs typeface="Courier New" pitchFamily="34" charset="-120"/>
              </a:rPr>
              <a:t>Every Friday at 3:00 PM my local time, use my</a:t>
            </a:r>
            <a:endParaRPr lang="en-US" sz="1600" dirty="0"/>
          </a:p>
          <a:p>
            <a:pPr indent="0" marL="0">
              <a:lnSpc>
                <a:spcPts val="1940"/>
              </a:lnSpc>
              <a:buNone/>
            </a:pPr>
            <a:r>
              <a:rPr lang="en-US" sz="1600" dirty="0">
                <a:solidFill>
                  <a:srgbClr val="F7F3EA"/>
                </a:solidFill>
                <a:latin typeface="Courier New" pitchFamily="34" charset="0"/>
                <a:ea typeface="Courier New" pitchFamily="34" charset="-122"/>
                <a:cs typeface="Courier New" pitchFamily="34" charset="-120"/>
              </a:rPr>
              <a:t>donna-triage skill to retrain: read this week's triage</a:t>
            </a:r>
            <a:endParaRPr lang="en-US" sz="1600" dirty="0"/>
          </a:p>
          <a:p>
            <a:pPr indent="0" marL="0">
              <a:lnSpc>
                <a:spcPts val="1940"/>
              </a:lnSpc>
              <a:buNone/>
            </a:pPr>
            <a:r>
              <a:rPr lang="en-US" sz="1600" dirty="0">
                <a:solidFill>
                  <a:srgbClr val="F7F3EA"/>
                </a:solidFill>
                <a:latin typeface="Courier New" pitchFamily="34" charset="0"/>
                <a:ea typeface="Courier New" pitchFamily="34" charset="-122"/>
                <a:cs typeface="Courier New" pitchFamily="34" charset="-120"/>
              </a:rPr>
              <a:t>reports, drafts, and the emails I actually sent.</a:t>
            </a:r>
            <a:endParaRPr lang="en-US" sz="1600" dirty="0"/>
          </a:p>
          <a:p>
            <a:pPr indent="0" marL="0">
              <a:lnSpc>
                <a:spcPts val="1940"/>
              </a:lnSpc>
              <a:buNone/>
            </a:pPr>
            <a:r>
              <a:rPr lang="en-US" sz="1600" dirty="0">
                <a:solidFill>
                  <a:srgbClr val="F7F3EA"/>
                </a:solidFill>
                <a:latin typeface="Courier New" pitchFamily="34" charset="0"/>
                <a:ea typeface="Courier New" pitchFamily="34" charset="-122"/>
                <a:cs typeface="Courier New" pitchFamily="34" charset="-120"/>
              </a:rPr>
              <a:t>Compare. Propose changes to my playbook: people,</a:t>
            </a:r>
            <a:endParaRPr lang="en-US" sz="1600" dirty="0"/>
          </a:p>
          <a:p>
            <a:pPr indent="0" marL="0">
              <a:lnSpc>
                <a:spcPts val="1940"/>
              </a:lnSpc>
              <a:buNone/>
            </a:pPr>
            <a:r>
              <a:rPr lang="en-US" sz="1600" dirty="0">
                <a:solidFill>
                  <a:srgbClr val="F7F3EA"/>
                </a:solidFill>
                <a:latin typeface="Courier New" pitchFamily="34" charset="0"/>
                <a:ea typeface="Courier New" pitchFamily="34" charset="-122"/>
                <a:cs typeface="Courier New" pitchFamily="34" charset="-120"/>
              </a:rPr>
              <a:t>priorities, voice. Keep the hard rules. Put "Donna's</a:t>
            </a:r>
            <a:endParaRPr lang="en-US" sz="1600" dirty="0"/>
          </a:p>
          <a:p>
            <a:pPr indent="0" marL="0">
              <a:lnSpc>
                <a:spcPts val="1940"/>
              </a:lnSpc>
              <a:buNone/>
            </a:pPr>
            <a:r>
              <a:rPr lang="en-US" sz="1600" dirty="0">
                <a:solidFill>
                  <a:srgbClr val="F7F3EA"/>
                </a:solidFill>
                <a:latin typeface="Courier New" pitchFamily="34" charset="0"/>
                <a:ea typeface="Courier New" pitchFamily="34" charset="-122"/>
                <a:cs typeface="Courier New" pitchFamily="34" charset="-120"/>
              </a:rPr>
              <a:t>Week in Review" on my calendar Monday 8:00 AM with an</a:t>
            </a:r>
            <a:endParaRPr lang="en-US" sz="1600" dirty="0"/>
          </a:p>
          <a:p>
            <a:pPr indent="0" marL="0">
              <a:lnSpc>
                <a:spcPts val="1940"/>
              </a:lnSpc>
              <a:buNone/>
            </a:pPr>
            <a:r>
              <a:rPr lang="en-US" sz="1600" dirty="0">
                <a:solidFill>
                  <a:srgbClr val="F7F3EA"/>
                </a:solidFill>
                <a:latin typeface="Courier New" pitchFamily="34" charset="0"/>
                <a:ea typeface="Courier New" pitchFamily="34" charset="-122"/>
                <a:cs typeface="Courier New" pitchFamily="34" charset="-120"/>
              </a:rPr>
              <a:t>EMAIL reminder and save it to a Drive folder called</a:t>
            </a:r>
            <a:endParaRPr lang="en-US" sz="1600" dirty="0"/>
          </a:p>
          <a:p>
            <a:pPr indent="0" marL="0">
              <a:lnSpc>
                <a:spcPts val="1940"/>
              </a:lnSpc>
              <a:buNone/>
            </a:pPr>
            <a:r>
              <a:rPr lang="en-US" sz="1600" dirty="0">
                <a:solidFill>
                  <a:srgbClr val="F7F3EA"/>
                </a:solidFill>
                <a:latin typeface="Courier New" pitchFamily="34" charset="0"/>
                <a:ea typeface="Courier New" pitchFamily="34" charset="-122"/>
                <a:cs typeface="Courier New" pitchFamily="34" charset="-120"/>
              </a:rPr>
              <a:t>"Donna". Also do a dry run right now on this week so</a:t>
            </a:r>
            <a:endParaRPr lang="en-US" sz="1600" dirty="0"/>
          </a:p>
          <a:p>
            <a:pPr indent="0" marL="0">
              <a:lnSpc>
                <a:spcPts val="1940"/>
              </a:lnSpc>
              <a:buNone/>
            </a:pPr>
            <a:r>
              <a:rPr lang="en-US" sz="1600" dirty="0">
                <a:solidFill>
                  <a:srgbClr val="F7F3EA"/>
                </a:solidFill>
                <a:latin typeface="Courier New" pitchFamily="34" charset="0"/>
                <a:ea typeface="Courier New" pitchFamily="34" charset="-122"/>
                <a:cs typeface="Courier New" pitchFamily="34" charset="-120"/>
              </a:rPr>
              <a:t>far.</a:t>
            </a:r>
            <a:endParaRPr lang="en-US" sz="1600" dirty="0"/>
          </a:p>
        </p:txBody>
      </p:sp>
      <p:sp>
        <p:nvSpPr>
          <p:cNvPr id="18" name="Shape 16"/>
          <p:cNvSpPr/>
          <p:nvPr/>
        </p:nvSpPr>
        <p:spPr>
          <a:xfrm>
            <a:off x="813816" y="4911547"/>
            <a:ext cx="7315200" cy="640080"/>
          </a:xfrm>
          <a:prstGeom prst="rect">
            <a:avLst/>
          </a:prstGeom>
          <a:solidFill>
            <a:srgbClr val="E8E2D2"/>
          </a:solidFill>
          <a:ln/>
        </p:spPr>
      </p:sp>
      <p:sp>
        <p:nvSpPr>
          <p:cNvPr id="19" name="Shape 17"/>
          <p:cNvSpPr/>
          <p:nvPr/>
        </p:nvSpPr>
        <p:spPr>
          <a:xfrm rot="2700000">
            <a:off x="960120" y="5135575"/>
            <a:ext cx="100584" cy="100584"/>
          </a:xfrm>
          <a:prstGeom prst="rect">
            <a:avLst/>
          </a:prstGeom>
          <a:solidFill>
            <a:srgbClr val="C9A227"/>
          </a:solidFill>
          <a:ln w="3175">
            <a:solidFill>
              <a:srgbClr val="C9A227"/>
            </a:solidFill>
            <a:prstDash val="solid"/>
          </a:ln>
        </p:spPr>
      </p:sp>
      <p:sp>
        <p:nvSpPr>
          <p:cNvPr id="20" name="Text 18"/>
          <p:cNvSpPr/>
          <p:nvPr/>
        </p:nvSpPr>
        <p:spPr>
          <a:xfrm>
            <a:off x="1271016" y="5057851"/>
            <a:ext cx="6711696" cy="347472"/>
          </a:xfrm>
          <a:prstGeom prst="rect">
            <a:avLst/>
          </a:prstGeom>
          <a:noFill/>
          <a:ln/>
        </p:spPr>
        <p:txBody>
          <a:bodyPr wrap="square" lIns="0" tIns="0" rIns="0" bIns="0" rtlCol="0" anchor="t"/>
          <a:lstStyle/>
          <a:p>
            <a:pPr indent="0" marL="0">
              <a:lnSpc>
                <a:spcPct val="116000"/>
              </a:lnSpc>
              <a:buNone/>
            </a:pPr>
            <a:r>
              <a:rPr lang="en-US" sz="1600" b="1" dirty="0">
                <a:solidFill>
                  <a:srgbClr val="8A6D14"/>
                </a:solidFill>
                <a:latin typeface="Arial" pitchFamily="34" charset="0"/>
                <a:ea typeface="Arial" pitchFamily="34" charset="-122"/>
                <a:cs typeface="Arial" pitchFamily="34" charset="-120"/>
              </a:rPr>
              <a:t>Full prompt on the site, Step 4. Paste by 1:13.</a:t>
            </a:r>
            <a:endParaRPr lang="en-US" sz="1600" dirty="0"/>
          </a:p>
        </p:txBody>
      </p:sp>
      <p:sp>
        <p:nvSpPr>
          <p:cNvPr id="21" name="Shape 19"/>
          <p:cNvSpPr/>
          <p:nvPr/>
        </p:nvSpPr>
        <p:spPr>
          <a:xfrm>
            <a:off x="8494776" y="1775155"/>
            <a:ext cx="2889504" cy="1901952"/>
          </a:xfrm>
          <a:prstGeom prst="rect">
            <a:avLst/>
          </a:prstGeom>
          <a:solidFill>
            <a:srgbClr val="E8E2D2"/>
          </a:solidFill>
          <a:ln/>
        </p:spPr>
      </p:sp>
      <p:sp>
        <p:nvSpPr>
          <p:cNvPr id="22" name="Text 20"/>
          <p:cNvSpPr/>
          <p:nvPr/>
        </p:nvSpPr>
        <p:spPr>
          <a:xfrm>
            <a:off x="8641080" y="1921459"/>
            <a:ext cx="2596896" cy="347472"/>
          </a:xfrm>
          <a:prstGeom prst="rect">
            <a:avLst/>
          </a:prstGeom>
          <a:noFill/>
          <a:ln/>
        </p:spPr>
        <p:txBody>
          <a:bodyPr wrap="square" lIns="0" tIns="0" rIns="0" bIns="0" rtlCol="0" anchor="t"/>
          <a:lstStyle/>
          <a:p>
            <a:pPr indent="0" marL="0">
              <a:buNone/>
            </a:pPr>
            <a:r>
              <a:rPr lang="en-US" sz="1600" b="1" spc="160" kern="0" dirty="0">
                <a:solidFill>
                  <a:srgbClr val="8A6D14"/>
                </a:solidFill>
                <a:latin typeface="Arial" pitchFamily="34" charset="0"/>
                <a:ea typeface="Arial" pitchFamily="34" charset="-122"/>
                <a:cs typeface="Arial" pitchFamily="34" charset="-120"/>
              </a:rPr>
              <a:t>SHE LOOKS AT</a:t>
            </a:r>
            <a:endParaRPr lang="en-US" sz="1600" dirty="0"/>
          </a:p>
        </p:txBody>
      </p:sp>
      <p:sp>
        <p:nvSpPr>
          <p:cNvPr id="23" name="Shape 21"/>
          <p:cNvSpPr/>
          <p:nvPr/>
        </p:nvSpPr>
        <p:spPr>
          <a:xfrm rot="2700000">
            <a:off x="8641080" y="2456383"/>
            <a:ext cx="100584" cy="100584"/>
          </a:xfrm>
          <a:prstGeom prst="rect">
            <a:avLst/>
          </a:prstGeom>
          <a:solidFill>
            <a:srgbClr val="C9A227"/>
          </a:solidFill>
          <a:ln w="3175">
            <a:solidFill>
              <a:srgbClr val="C9A227"/>
            </a:solidFill>
            <a:prstDash val="solid"/>
          </a:ln>
        </p:spPr>
      </p:sp>
      <p:sp>
        <p:nvSpPr>
          <p:cNvPr id="24" name="Text 22"/>
          <p:cNvSpPr/>
          <p:nvPr/>
        </p:nvSpPr>
        <p:spPr>
          <a:xfrm>
            <a:off x="8951976" y="2378659"/>
            <a:ext cx="2286000" cy="347472"/>
          </a:xfrm>
          <a:prstGeom prst="rect">
            <a:avLst/>
          </a:prstGeom>
          <a:noFill/>
          <a:ln/>
        </p:spPr>
        <p:txBody>
          <a:bodyPr wrap="square" lIns="0" tIns="0" rIns="0" bIns="0" rtlCol="0" anchor="t"/>
          <a:lstStyle/>
          <a:p>
            <a:pPr indent="0" marL="0">
              <a:lnSpc>
                <a:spcPct val="116000"/>
              </a:lnSpc>
              <a:buNone/>
            </a:pPr>
            <a:r>
              <a:rPr lang="en-US" sz="1600" dirty="0">
                <a:solidFill>
                  <a:srgbClr val="14213D"/>
                </a:solidFill>
                <a:latin typeface="Arial" pitchFamily="34" charset="0"/>
                <a:ea typeface="Arial" pitchFamily="34" charset="-122"/>
                <a:cs typeface="Arial" pitchFamily="34" charset="-120"/>
              </a:rPr>
              <a:t>her reports</a:t>
            </a:r>
            <a:endParaRPr lang="en-US" sz="1600" dirty="0"/>
          </a:p>
        </p:txBody>
      </p:sp>
      <p:sp>
        <p:nvSpPr>
          <p:cNvPr id="25" name="Shape 23"/>
          <p:cNvSpPr/>
          <p:nvPr/>
        </p:nvSpPr>
        <p:spPr>
          <a:xfrm rot="2700000">
            <a:off x="8641080" y="2858719"/>
            <a:ext cx="100584" cy="100584"/>
          </a:xfrm>
          <a:prstGeom prst="rect">
            <a:avLst/>
          </a:prstGeom>
          <a:solidFill>
            <a:srgbClr val="C9A227"/>
          </a:solidFill>
          <a:ln w="3175">
            <a:solidFill>
              <a:srgbClr val="C9A227"/>
            </a:solidFill>
            <a:prstDash val="solid"/>
          </a:ln>
        </p:spPr>
      </p:sp>
      <p:sp>
        <p:nvSpPr>
          <p:cNvPr id="26" name="Text 24"/>
          <p:cNvSpPr/>
          <p:nvPr/>
        </p:nvSpPr>
        <p:spPr>
          <a:xfrm>
            <a:off x="8951976" y="2780995"/>
            <a:ext cx="2286000" cy="347472"/>
          </a:xfrm>
          <a:prstGeom prst="rect">
            <a:avLst/>
          </a:prstGeom>
          <a:noFill/>
          <a:ln/>
        </p:spPr>
        <p:txBody>
          <a:bodyPr wrap="square" lIns="0" tIns="0" rIns="0" bIns="0" rtlCol="0" anchor="t"/>
          <a:lstStyle/>
          <a:p>
            <a:pPr indent="0" marL="0">
              <a:lnSpc>
                <a:spcPct val="116000"/>
              </a:lnSpc>
              <a:buNone/>
            </a:pPr>
            <a:r>
              <a:rPr lang="en-US" sz="1600" dirty="0">
                <a:solidFill>
                  <a:srgbClr val="14213D"/>
                </a:solidFill>
                <a:latin typeface="Arial" pitchFamily="34" charset="0"/>
                <a:ea typeface="Arial" pitchFamily="34" charset="-122"/>
                <a:cs typeface="Arial" pitchFamily="34" charset="-120"/>
              </a:rPr>
              <a:t>her drafts</a:t>
            </a:r>
            <a:endParaRPr lang="en-US" sz="1600" dirty="0"/>
          </a:p>
        </p:txBody>
      </p:sp>
      <p:sp>
        <p:nvSpPr>
          <p:cNvPr id="27" name="Shape 25"/>
          <p:cNvSpPr/>
          <p:nvPr/>
        </p:nvSpPr>
        <p:spPr>
          <a:xfrm rot="2700000">
            <a:off x="8641080" y="3261055"/>
            <a:ext cx="100584" cy="100584"/>
          </a:xfrm>
          <a:prstGeom prst="rect">
            <a:avLst/>
          </a:prstGeom>
          <a:solidFill>
            <a:srgbClr val="C9A227"/>
          </a:solidFill>
          <a:ln w="3175">
            <a:solidFill>
              <a:srgbClr val="C9A227"/>
            </a:solidFill>
            <a:prstDash val="solid"/>
          </a:ln>
        </p:spPr>
      </p:sp>
      <p:sp>
        <p:nvSpPr>
          <p:cNvPr id="28" name="Text 26"/>
          <p:cNvSpPr/>
          <p:nvPr/>
        </p:nvSpPr>
        <p:spPr>
          <a:xfrm>
            <a:off x="8951976" y="3183331"/>
            <a:ext cx="2286000" cy="347472"/>
          </a:xfrm>
          <a:prstGeom prst="rect">
            <a:avLst/>
          </a:prstGeom>
          <a:noFill/>
          <a:ln/>
        </p:spPr>
        <p:txBody>
          <a:bodyPr wrap="square" lIns="0" tIns="0" rIns="0" bIns="0" rtlCol="0" anchor="t"/>
          <a:lstStyle/>
          <a:p>
            <a:pPr indent="0" marL="0">
              <a:lnSpc>
                <a:spcPct val="116000"/>
              </a:lnSpc>
              <a:buNone/>
            </a:pPr>
            <a:r>
              <a:rPr lang="en-US" sz="1600" dirty="0">
                <a:solidFill>
                  <a:srgbClr val="14213D"/>
                </a:solidFill>
                <a:latin typeface="Arial" pitchFamily="34" charset="0"/>
                <a:ea typeface="Arial" pitchFamily="34" charset="-122"/>
                <a:cs typeface="Arial" pitchFamily="34" charset="-120"/>
              </a:rPr>
              <a:t>your sent emails</a:t>
            </a:r>
            <a:endParaRPr lang="en-US" sz="1600" dirty="0"/>
          </a:p>
        </p:txBody>
      </p:sp>
      <p:sp>
        <p:nvSpPr>
          <p:cNvPr id="29" name="Shape 27"/>
          <p:cNvSpPr/>
          <p:nvPr/>
        </p:nvSpPr>
        <p:spPr>
          <a:xfrm>
            <a:off x="8494776" y="3859987"/>
            <a:ext cx="2889504" cy="1499616"/>
          </a:xfrm>
          <a:prstGeom prst="rect">
            <a:avLst/>
          </a:prstGeom>
          <a:solidFill>
            <a:srgbClr val="E8E2D2"/>
          </a:solidFill>
          <a:ln/>
        </p:spPr>
      </p:sp>
      <p:sp>
        <p:nvSpPr>
          <p:cNvPr id="30" name="Text 28"/>
          <p:cNvSpPr/>
          <p:nvPr/>
        </p:nvSpPr>
        <p:spPr>
          <a:xfrm>
            <a:off x="8641080" y="4006291"/>
            <a:ext cx="2596896" cy="347472"/>
          </a:xfrm>
          <a:prstGeom prst="rect">
            <a:avLst/>
          </a:prstGeom>
          <a:noFill/>
          <a:ln/>
        </p:spPr>
        <p:txBody>
          <a:bodyPr wrap="square" lIns="0" tIns="0" rIns="0" bIns="0" rtlCol="0" anchor="t"/>
          <a:lstStyle/>
          <a:p>
            <a:pPr indent="0" marL="0">
              <a:buNone/>
            </a:pPr>
            <a:r>
              <a:rPr lang="en-US" sz="1600" b="1" spc="160" kern="0" dirty="0">
                <a:solidFill>
                  <a:srgbClr val="8A6D14"/>
                </a:solidFill>
                <a:latin typeface="Arial" pitchFamily="34" charset="0"/>
                <a:ea typeface="Arial" pitchFamily="34" charset="-122"/>
                <a:cs typeface="Arial" pitchFamily="34" charset="-120"/>
              </a:rPr>
              <a:t>WHAT COMES BACK</a:t>
            </a:r>
            <a:endParaRPr lang="en-US" sz="1600" dirty="0"/>
          </a:p>
        </p:txBody>
      </p:sp>
      <p:sp>
        <p:nvSpPr>
          <p:cNvPr id="31" name="Shape 29"/>
          <p:cNvSpPr/>
          <p:nvPr/>
        </p:nvSpPr>
        <p:spPr>
          <a:xfrm rot="2700000">
            <a:off x="8641080" y="4541215"/>
            <a:ext cx="100584" cy="100584"/>
          </a:xfrm>
          <a:prstGeom prst="rect">
            <a:avLst/>
          </a:prstGeom>
          <a:solidFill>
            <a:srgbClr val="C9A227"/>
          </a:solidFill>
          <a:ln w="3175">
            <a:solidFill>
              <a:srgbClr val="C9A227"/>
            </a:solidFill>
            <a:prstDash val="solid"/>
          </a:ln>
        </p:spPr>
      </p:sp>
      <p:sp>
        <p:nvSpPr>
          <p:cNvPr id="32" name="Text 30"/>
          <p:cNvSpPr/>
          <p:nvPr/>
        </p:nvSpPr>
        <p:spPr>
          <a:xfrm>
            <a:off x="8951976" y="4463491"/>
            <a:ext cx="2286000" cy="347472"/>
          </a:xfrm>
          <a:prstGeom prst="rect">
            <a:avLst/>
          </a:prstGeom>
          <a:noFill/>
          <a:ln/>
        </p:spPr>
        <p:txBody>
          <a:bodyPr wrap="square" lIns="0" tIns="0" rIns="0" bIns="0" rtlCol="0" anchor="t"/>
          <a:lstStyle/>
          <a:p>
            <a:pPr indent="0" marL="0">
              <a:lnSpc>
                <a:spcPct val="116000"/>
              </a:lnSpc>
              <a:buNone/>
            </a:pPr>
            <a:r>
              <a:rPr lang="en-US" sz="1600" dirty="0">
                <a:solidFill>
                  <a:srgbClr val="14213D"/>
                </a:solidFill>
                <a:latin typeface="Arial" pitchFamily="34" charset="0"/>
                <a:ea typeface="Arial" pitchFamily="34" charset="-122"/>
                <a:cs typeface="Arial" pitchFamily="34" charset="-120"/>
              </a:rPr>
              <a:t>changes, with a why</a:t>
            </a:r>
            <a:endParaRPr lang="en-US" sz="1600" dirty="0"/>
          </a:p>
        </p:txBody>
      </p:sp>
      <p:sp>
        <p:nvSpPr>
          <p:cNvPr id="33" name="Shape 31"/>
          <p:cNvSpPr/>
          <p:nvPr/>
        </p:nvSpPr>
        <p:spPr>
          <a:xfrm rot="2700000">
            <a:off x="8641080" y="4943551"/>
            <a:ext cx="100584" cy="100584"/>
          </a:xfrm>
          <a:prstGeom prst="rect">
            <a:avLst/>
          </a:prstGeom>
          <a:solidFill>
            <a:srgbClr val="C9A227"/>
          </a:solidFill>
          <a:ln w="3175">
            <a:solidFill>
              <a:srgbClr val="C9A227"/>
            </a:solidFill>
            <a:prstDash val="solid"/>
          </a:ln>
        </p:spPr>
      </p:sp>
      <p:sp>
        <p:nvSpPr>
          <p:cNvPr id="34" name="Text 32"/>
          <p:cNvSpPr/>
          <p:nvPr/>
        </p:nvSpPr>
        <p:spPr>
          <a:xfrm>
            <a:off x="8951976" y="4865827"/>
            <a:ext cx="2286000" cy="347472"/>
          </a:xfrm>
          <a:prstGeom prst="rect">
            <a:avLst/>
          </a:prstGeom>
          <a:noFill/>
          <a:ln/>
        </p:spPr>
        <p:txBody>
          <a:bodyPr wrap="square" lIns="0" tIns="0" rIns="0" bIns="0" rtlCol="0" anchor="t"/>
          <a:lstStyle/>
          <a:p>
            <a:pPr indent="0" marL="0">
              <a:lnSpc>
                <a:spcPct val="116000"/>
              </a:lnSpc>
              <a:buNone/>
            </a:pPr>
            <a:r>
              <a:rPr lang="en-US" sz="1600" dirty="0">
                <a:solidFill>
                  <a:srgbClr val="14213D"/>
                </a:solidFill>
                <a:latin typeface="Arial" pitchFamily="34" charset="0"/>
                <a:ea typeface="Arial" pitchFamily="34" charset="-122"/>
                <a:cs typeface="Arial" pitchFamily="34" charset="-120"/>
              </a:rPr>
              <a:t>you approve first</a:t>
            </a:r>
            <a:endParaRPr lang="en-US" sz="16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4213D"/>
        </a:solidFill>
      </p:bgPr>
    </p:bg>
    <p:spTree>
      <p:nvGrpSpPr>
        <p:cNvPr id="1" name=""/>
        <p:cNvGrpSpPr/>
        <p:nvPr/>
      </p:nvGrpSpPr>
      <p:grpSpPr>
        <a:xfrm>
          <a:off x="0" y="0"/>
          <a:ext cx="0" cy="0"/>
          <a:chOff x="0" y="0"/>
          <a:chExt cx="0" cy="0"/>
        </a:xfrm>
      </p:grpSpPr>
      <p:sp>
        <p:nvSpPr>
          <p:cNvPr id="2" name="Shape 0"/>
          <p:cNvSpPr/>
          <p:nvPr/>
        </p:nvSpPr>
        <p:spPr>
          <a:xfrm>
            <a:off x="813816" y="5779008"/>
            <a:ext cx="10570464" cy="0"/>
          </a:xfrm>
          <a:prstGeom prst="line">
            <a:avLst/>
          </a:prstGeom>
          <a:noFill/>
          <a:ln w="9525">
            <a:solidFill>
              <a:srgbClr val="C9A227"/>
            </a:solidFill>
            <a:prstDash val="solid"/>
          </a:ln>
        </p:spPr>
      </p:sp>
      <p:sp>
        <p:nvSpPr>
          <p:cNvPr id="3" name="Text 1"/>
          <p:cNvSpPr/>
          <p:nvPr/>
        </p:nvSpPr>
        <p:spPr>
          <a:xfrm>
            <a:off x="813816" y="5907024"/>
            <a:ext cx="3358896" cy="274320"/>
          </a:xfrm>
          <a:prstGeom prst="rect">
            <a:avLst/>
          </a:prstGeom>
          <a:noFill/>
          <a:ln/>
        </p:spPr>
        <p:txBody>
          <a:bodyPr wrap="square" lIns="0" tIns="0" rIns="0" bIns="0" rtlCol="0" anchor="ctr"/>
          <a:lstStyle/>
          <a:p>
            <a:pPr indent="0" marL="0">
              <a:buNone/>
            </a:pPr>
            <a:r>
              <a:rPr lang="en-US" sz="1600" spc="120" kern="0" dirty="0">
                <a:solidFill>
                  <a:srgbClr val="AFA893"/>
                </a:solidFill>
                <a:latin typeface="Arial" pitchFamily="34" charset="0"/>
                <a:ea typeface="Arial" pitchFamily="34" charset="-122"/>
                <a:cs typeface="Arial" pitchFamily="34" charset="-120"/>
              </a:rPr>
              <a:t>BUILD YOUR OWN DONNA</a:t>
            </a:r>
            <a:endParaRPr lang="en-US" sz="1600" dirty="0"/>
          </a:p>
        </p:txBody>
      </p:sp>
      <p:sp>
        <p:nvSpPr>
          <p:cNvPr id="4" name="Shape 2"/>
          <p:cNvSpPr/>
          <p:nvPr/>
        </p:nvSpPr>
        <p:spPr>
          <a:xfrm rot="2700000">
            <a:off x="4227576" y="6012180"/>
            <a:ext cx="64008" cy="64008"/>
          </a:xfrm>
          <a:prstGeom prst="rect">
            <a:avLst/>
          </a:prstGeom>
          <a:solidFill>
            <a:srgbClr val="C9A227"/>
          </a:solidFill>
          <a:ln w="3175">
            <a:solidFill>
              <a:srgbClr val="C9A227"/>
            </a:solidFill>
            <a:prstDash val="solid"/>
          </a:ln>
        </p:spPr>
      </p:sp>
      <p:sp>
        <p:nvSpPr>
          <p:cNvPr id="5" name="Text 3"/>
          <p:cNvSpPr/>
          <p:nvPr/>
        </p:nvSpPr>
        <p:spPr>
          <a:xfrm>
            <a:off x="4410456" y="5907024"/>
            <a:ext cx="2712720" cy="274320"/>
          </a:xfrm>
          <a:prstGeom prst="rect">
            <a:avLst/>
          </a:prstGeom>
          <a:noFill/>
          <a:ln/>
        </p:spPr>
        <p:txBody>
          <a:bodyPr wrap="square" lIns="0" tIns="0" rIns="0" bIns="0" rtlCol="0" anchor="ctr"/>
          <a:lstStyle/>
          <a:p>
            <a:pPr indent="0" marL="0">
              <a:buNone/>
            </a:pPr>
            <a:r>
              <a:rPr lang="en-US" sz="1600" spc="120" kern="0" dirty="0">
                <a:solidFill>
                  <a:srgbClr val="AFA893"/>
                </a:solidFill>
                <a:latin typeface="Arial" pitchFamily="34" charset="0"/>
                <a:ea typeface="Arial" pitchFamily="34" charset="-122"/>
                <a:cs typeface="Arial" pitchFamily="34" charset="-120"/>
              </a:rPr>
              <a:t>OCTOBER 21, 2026</a:t>
            </a:r>
            <a:endParaRPr lang="en-US" sz="1600" dirty="0"/>
          </a:p>
        </p:txBody>
      </p:sp>
      <p:sp>
        <p:nvSpPr>
          <p:cNvPr id="6" name="Text 4"/>
          <p:cNvSpPr/>
          <p:nvPr/>
        </p:nvSpPr>
        <p:spPr>
          <a:xfrm>
            <a:off x="10652760" y="5907024"/>
            <a:ext cx="731520" cy="274320"/>
          </a:xfrm>
          <a:prstGeom prst="rect">
            <a:avLst/>
          </a:prstGeom>
          <a:noFill/>
          <a:ln/>
        </p:spPr>
        <p:txBody>
          <a:bodyPr wrap="square" lIns="0" tIns="0" rIns="0" bIns="0" rtlCol="0" anchor="ctr"/>
          <a:lstStyle/>
          <a:p>
            <a:pPr algn="r" indent="0" marL="0">
              <a:buNone/>
            </a:pPr>
            <a:r>
              <a:rPr lang="en-US" sz="1600" spc="120" kern="0" dirty="0">
                <a:solidFill>
                  <a:srgbClr val="AFA893"/>
                </a:solidFill>
                <a:latin typeface="Arial" pitchFamily="34" charset="0"/>
                <a:ea typeface="Arial" pitchFamily="34" charset="-122"/>
                <a:cs typeface="Arial" pitchFamily="34" charset="-120"/>
              </a:rPr>
              <a:t>28</a:t>
            </a:r>
            <a:endParaRPr lang="en-US" sz="1600" dirty="0"/>
          </a:p>
        </p:txBody>
      </p:sp>
      <p:sp>
        <p:nvSpPr>
          <p:cNvPr id="7" name="Text 5"/>
          <p:cNvSpPr/>
          <p:nvPr/>
        </p:nvSpPr>
        <p:spPr>
          <a:xfrm>
            <a:off x="1066648" y="1828800"/>
            <a:ext cx="10058400" cy="880750"/>
          </a:xfrm>
          <a:prstGeom prst="rect">
            <a:avLst/>
          </a:prstGeom>
          <a:noFill/>
          <a:ln/>
        </p:spPr>
        <p:txBody>
          <a:bodyPr wrap="square" lIns="0" tIns="0" rIns="0" bIns="0" rtlCol="0" anchor="t"/>
          <a:lstStyle/>
          <a:p>
            <a:pPr algn="ctr" indent="0" marL="0">
              <a:buNone/>
            </a:pPr>
            <a:r>
              <a:rPr lang="en-US" sz="4800" b="1" dirty="0">
                <a:solidFill>
                  <a:srgbClr val="F7F3EA"/>
                </a:solidFill>
                <a:latin typeface="Georgia" pitchFamily="34" charset="0"/>
                <a:ea typeface="Georgia" pitchFamily="34" charset="-122"/>
                <a:cs typeface="Georgia" pitchFamily="34" charset="-120"/>
              </a:rPr>
              <a:t>This was never about email.</a:t>
            </a:r>
            <a:endParaRPr lang="en-US" sz="4800" dirty="0"/>
          </a:p>
        </p:txBody>
      </p:sp>
      <p:sp>
        <p:nvSpPr>
          <p:cNvPr id="8" name="Text 6"/>
          <p:cNvSpPr/>
          <p:nvPr/>
        </p:nvSpPr>
        <p:spPr>
          <a:xfrm>
            <a:off x="1798168" y="3203326"/>
            <a:ext cx="8595360" cy="955548"/>
          </a:xfrm>
          <a:prstGeom prst="rect">
            <a:avLst/>
          </a:prstGeom>
          <a:noFill/>
          <a:ln/>
        </p:spPr>
        <p:txBody>
          <a:bodyPr wrap="square" lIns="0" tIns="0" rIns="0" bIns="0" rtlCol="0" anchor="t"/>
          <a:lstStyle/>
          <a:p>
            <a:pPr algn="ctr" indent="0" marL="0">
              <a:lnSpc>
                <a:spcPct val="116000"/>
              </a:lnSpc>
              <a:buNone/>
            </a:pPr>
            <a:r>
              <a:rPr lang="en-US" sz="1800" dirty="0">
                <a:solidFill>
                  <a:srgbClr val="F7F3EA"/>
                </a:solidFill>
                <a:latin typeface="Arial" pitchFamily="34" charset="0"/>
                <a:ea typeface="Arial" pitchFamily="34" charset="-122"/>
                <a:cs typeface="Arial" pitchFamily="34" charset="-120"/>
              </a:rPr>
              <a:t>You built a loop today by writing plain English. Rules became a project, the project became a skill, the skill got a schedule, and the schedule got a Friday.</a:t>
            </a:r>
            <a:endParaRPr lang="en-US" sz="1800" dirty="0"/>
          </a:p>
        </p:txBody>
      </p:sp>
      <p:sp>
        <p:nvSpPr>
          <p:cNvPr id="9" name="Text 7"/>
          <p:cNvSpPr/>
          <p:nvPr/>
        </p:nvSpPr>
        <p:spPr>
          <a:xfrm>
            <a:off x="1798168" y="4433194"/>
            <a:ext cx="8595360" cy="667512"/>
          </a:xfrm>
          <a:prstGeom prst="rect">
            <a:avLst/>
          </a:prstGeom>
          <a:noFill/>
          <a:ln/>
        </p:spPr>
        <p:txBody>
          <a:bodyPr wrap="square" lIns="0" tIns="0" rIns="0" bIns="0" rtlCol="0" anchor="t"/>
          <a:lstStyle/>
          <a:p>
            <a:pPr algn="ctr" indent="0" marL="0">
              <a:lnSpc>
                <a:spcPct val="116000"/>
              </a:lnSpc>
              <a:buNone/>
            </a:pPr>
            <a:r>
              <a:rPr lang="en-US" sz="1800" b="1" dirty="0">
                <a:solidFill>
                  <a:srgbClr val="E7C766"/>
                </a:solidFill>
                <a:latin typeface="Arial" pitchFamily="34" charset="0"/>
                <a:ea typeface="Arial" pitchFamily="34" charset="-122"/>
                <a:cs typeface="Arial" pitchFamily="34" charset="-120"/>
              </a:rPr>
              <a:t>Email was the rehearsal. The same loop runs any workflow you can describe in words.</a:t>
            </a:r>
            <a:endParaRPr lang="en-US" sz="1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14213D"/>
        </a:solidFill>
      </p:bgPr>
    </p:bg>
    <p:spTree>
      <p:nvGrpSpPr>
        <p:cNvPr id="1" name=""/>
        <p:cNvGrpSpPr/>
        <p:nvPr/>
      </p:nvGrpSpPr>
      <p:grpSpPr>
        <a:xfrm>
          <a:off x="0" y="0"/>
          <a:ext cx="0" cy="0"/>
          <a:chOff x="0" y="0"/>
          <a:chExt cx="0" cy="0"/>
        </a:xfrm>
      </p:grpSpPr>
      <p:sp>
        <p:nvSpPr>
          <p:cNvPr id="2" name="Shape 0"/>
          <p:cNvSpPr/>
          <p:nvPr/>
        </p:nvSpPr>
        <p:spPr>
          <a:xfrm>
            <a:off x="813816" y="5779008"/>
            <a:ext cx="10570464" cy="0"/>
          </a:xfrm>
          <a:prstGeom prst="line">
            <a:avLst/>
          </a:prstGeom>
          <a:noFill/>
          <a:ln w="9525">
            <a:solidFill>
              <a:srgbClr val="C9A227"/>
            </a:solidFill>
            <a:prstDash val="solid"/>
          </a:ln>
        </p:spPr>
      </p:sp>
      <p:sp>
        <p:nvSpPr>
          <p:cNvPr id="3" name="Text 1"/>
          <p:cNvSpPr/>
          <p:nvPr/>
        </p:nvSpPr>
        <p:spPr>
          <a:xfrm>
            <a:off x="813816" y="5907024"/>
            <a:ext cx="3358896" cy="274320"/>
          </a:xfrm>
          <a:prstGeom prst="rect">
            <a:avLst/>
          </a:prstGeom>
          <a:noFill/>
          <a:ln/>
        </p:spPr>
        <p:txBody>
          <a:bodyPr wrap="square" lIns="0" tIns="0" rIns="0" bIns="0" rtlCol="0" anchor="ctr"/>
          <a:lstStyle/>
          <a:p>
            <a:pPr indent="0" marL="0">
              <a:buNone/>
            </a:pPr>
            <a:r>
              <a:rPr lang="en-US" sz="1600" spc="120" kern="0" dirty="0">
                <a:solidFill>
                  <a:srgbClr val="AFA893"/>
                </a:solidFill>
                <a:latin typeface="Arial" pitchFamily="34" charset="0"/>
                <a:ea typeface="Arial" pitchFamily="34" charset="-122"/>
                <a:cs typeface="Arial" pitchFamily="34" charset="-120"/>
              </a:rPr>
              <a:t>BUILD YOUR OWN DONNA</a:t>
            </a:r>
            <a:endParaRPr lang="en-US" sz="1600" dirty="0"/>
          </a:p>
        </p:txBody>
      </p:sp>
      <p:sp>
        <p:nvSpPr>
          <p:cNvPr id="4" name="Shape 2"/>
          <p:cNvSpPr/>
          <p:nvPr/>
        </p:nvSpPr>
        <p:spPr>
          <a:xfrm rot="2700000">
            <a:off x="4227576" y="6012180"/>
            <a:ext cx="64008" cy="64008"/>
          </a:xfrm>
          <a:prstGeom prst="rect">
            <a:avLst/>
          </a:prstGeom>
          <a:solidFill>
            <a:srgbClr val="C9A227"/>
          </a:solidFill>
          <a:ln w="3175">
            <a:solidFill>
              <a:srgbClr val="C9A227"/>
            </a:solidFill>
            <a:prstDash val="solid"/>
          </a:ln>
        </p:spPr>
      </p:sp>
      <p:sp>
        <p:nvSpPr>
          <p:cNvPr id="5" name="Text 3"/>
          <p:cNvSpPr/>
          <p:nvPr/>
        </p:nvSpPr>
        <p:spPr>
          <a:xfrm>
            <a:off x="4410456" y="5907024"/>
            <a:ext cx="2712720" cy="274320"/>
          </a:xfrm>
          <a:prstGeom prst="rect">
            <a:avLst/>
          </a:prstGeom>
          <a:noFill/>
          <a:ln/>
        </p:spPr>
        <p:txBody>
          <a:bodyPr wrap="square" lIns="0" tIns="0" rIns="0" bIns="0" rtlCol="0" anchor="ctr"/>
          <a:lstStyle/>
          <a:p>
            <a:pPr indent="0" marL="0">
              <a:buNone/>
            </a:pPr>
            <a:r>
              <a:rPr lang="en-US" sz="1600" spc="120" kern="0" dirty="0">
                <a:solidFill>
                  <a:srgbClr val="AFA893"/>
                </a:solidFill>
                <a:latin typeface="Arial" pitchFamily="34" charset="0"/>
                <a:ea typeface="Arial" pitchFamily="34" charset="-122"/>
                <a:cs typeface="Arial" pitchFamily="34" charset="-120"/>
              </a:rPr>
              <a:t>OCTOBER 21, 2026</a:t>
            </a:r>
            <a:endParaRPr lang="en-US" sz="1600" dirty="0"/>
          </a:p>
        </p:txBody>
      </p:sp>
      <p:sp>
        <p:nvSpPr>
          <p:cNvPr id="6" name="Text 4"/>
          <p:cNvSpPr/>
          <p:nvPr/>
        </p:nvSpPr>
        <p:spPr>
          <a:xfrm>
            <a:off x="10652760" y="5907024"/>
            <a:ext cx="731520" cy="274320"/>
          </a:xfrm>
          <a:prstGeom prst="rect">
            <a:avLst/>
          </a:prstGeom>
          <a:noFill/>
          <a:ln/>
        </p:spPr>
        <p:txBody>
          <a:bodyPr wrap="square" lIns="0" tIns="0" rIns="0" bIns="0" rtlCol="0" anchor="ctr"/>
          <a:lstStyle/>
          <a:p>
            <a:pPr algn="r" indent="0" marL="0">
              <a:buNone/>
            </a:pPr>
            <a:r>
              <a:rPr lang="en-US" sz="1600" spc="120" kern="0" dirty="0">
                <a:solidFill>
                  <a:srgbClr val="AFA893"/>
                </a:solidFill>
                <a:latin typeface="Arial" pitchFamily="34" charset="0"/>
                <a:ea typeface="Arial" pitchFamily="34" charset="-122"/>
                <a:cs typeface="Arial" pitchFamily="34" charset="-120"/>
              </a:rPr>
              <a:t>29</a:t>
            </a:r>
            <a:endParaRPr lang="en-US" sz="1600" dirty="0"/>
          </a:p>
        </p:txBody>
      </p:sp>
      <p:sp>
        <p:nvSpPr>
          <p:cNvPr id="7" name="Shape 5"/>
          <p:cNvSpPr/>
          <p:nvPr/>
        </p:nvSpPr>
        <p:spPr>
          <a:xfrm>
            <a:off x="10789920" y="438912"/>
            <a:ext cx="548640" cy="548640"/>
          </a:xfrm>
          <a:prstGeom prst="ellipse">
            <a:avLst/>
          </a:prstGeom>
          <a:ln w="9525">
            <a:solidFill>
              <a:srgbClr val="C9A227"/>
            </a:solidFill>
            <a:prstDash val="solid"/>
          </a:ln>
        </p:spPr>
      </p:sp>
      <p:sp>
        <p:nvSpPr>
          <p:cNvPr id="8" name="Shape 6"/>
          <p:cNvSpPr/>
          <p:nvPr/>
        </p:nvSpPr>
        <p:spPr>
          <a:xfrm>
            <a:off x="10986516" y="361188"/>
            <a:ext cx="155448" cy="155448"/>
          </a:xfrm>
          <a:prstGeom prst="ellipse">
            <a:avLst/>
          </a:prstGeom>
          <a:solidFill>
            <a:srgbClr val="C9A227"/>
          </a:solidFill>
          <a:ln w="9525">
            <a:solidFill>
              <a:srgbClr val="C9A227"/>
            </a:solidFill>
            <a:prstDash val="solid"/>
          </a:ln>
        </p:spPr>
      </p:sp>
      <p:sp>
        <p:nvSpPr>
          <p:cNvPr id="9" name="Shape 7"/>
          <p:cNvSpPr/>
          <p:nvPr/>
        </p:nvSpPr>
        <p:spPr>
          <a:xfrm>
            <a:off x="11260836" y="635508"/>
            <a:ext cx="155448" cy="155448"/>
          </a:xfrm>
          <a:prstGeom prst="ellipse">
            <a:avLst/>
          </a:prstGeom>
          <a:solidFill>
            <a:srgbClr val="C9A227"/>
          </a:solidFill>
          <a:ln w="9525">
            <a:solidFill>
              <a:srgbClr val="C9A227"/>
            </a:solidFill>
            <a:prstDash val="solid"/>
          </a:ln>
        </p:spPr>
      </p:sp>
      <p:sp>
        <p:nvSpPr>
          <p:cNvPr id="10" name="Shape 8"/>
          <p:cNvSpPr/>
          <p:nvPr/>
        </p:nvSpPr>
        <p:spPr>
          <a:xfrm>
            <a:off x="10986516" y="909828"/>
            <a:ext cx="155448" cy="155448"/>
          </a:xfrm>
          <a:prstGeom prst="ellipse">
            <a:avLst/>
          </a:prstGeom>
          <a:solidFill>
            <a:srgbClr val="C9A227"/>
          </a:solidFill>
          <a:ln w="9525">
            <a:solidFill>
              <a:srgbClr val="C9A227"/>
            </a:solidFill>
            <a:prstDash val="solid"/>
          </a:ln>
        </p:spPr>
      </p:sp>
      <p:sp>
        <p:nvSpPr>
          <p:cNvPr id="11" name="Shape 9"/>
          <p:cNvSpPr/>
          <p:nvPr/>
        </p:nvSpPr>
        <p:spPr>
          <a:xfrm>
            <a:off x="10712196" y="635508"/>
            <a:ext cx="155448" cy="155448"/>
          </a:xfrm>
          <a:prstGeom prst="ellipse">
            <a:avLst/>
          </a:prstGeom>
          <a:solidFill>
            <a:srgbClr val="C9A227"/>
          </a:solidFill>
          <a:ln w="9525">
            <a:solidFill>
              <a:srgbClr val="C9A227"/>
            </a:solidFill>
            <a:prstDash val="solid"/>
          </a:ln>
        </p:spPr>
      </p:sp>
      <p:sp>
        <p:nvSpPr>
          <p:cNvPr id="12" name="Text 10"/>
          <p:cNvSpPr/>
          <p:nvPr/>
        </p:nvSpPr>
        <p:spPr>
          <a:xfrm>
            <a:off x="8485632" y="1097280"/>
            <a:ext cx="2898648" cy="274320"/>
          </a:xfrm>
          <a:prstGeom prst="rect">
            <a:avLst/>
          </a:prstGeom>
          <a:noFill/>
          <a:ln/>
        </p:spPr>
        <p:txBody>
          <a:bodyPr wrap="square" lIns="0" tIns="0" rIns="0" bIns="0" rtlCol="0" anchor="ctr"/>
          <a:lstStyle/>
          <a:p>
            <a:pPr algn="r" indent="0" marL="0">
              <a:buNone/>
            </a:pPr>
            <a:r>
              <a:rPr lang="en-US" sz="1600" b="1" spc="120" kern="0" dirty="0">
                <a:solidFill>
                  <a:srgbClr val="E7C766"/>
                </a:solidFill>
                <a:latin typeface="Arial" pitchFamily="34" charset="0"/>
                <a:ea typeface="Arial" pitchFamily="34" charset="-122"/>
                <a:cs typeface="Arial" pitchFamily="34" charset="-120"/>
              </a:rPr>
              <a:t>THE LOOP IS CLOSED</a:t>
            </a:r>
            <a:endParaRPr lang="en-US" sz="1600" dirty="0"/>
          </a:p>
        </p:txBody>
      </p:sp>
      <p:sp>
        <p:nvSpPr>
          <p:cNvPr id="13" name="Text 11"/>
          <p:cNvSpPr/>
          <p:nvPr/>
        </p:nvSpPr>
        <p:spPr>
          <a:xfrm>
            <a:off x="813816" y="457200"/>
            <a:ext cx="9692640" cy="310896"/>
          </a:xfrm>
          <a:prstGeom prst="rect">
            <a:avLst/>
          </a:prstGeom>
          <a:noFill/>
          <a:ln/>
        </p:spPr>
        <p:txBody>
          <a:bodyPr wrap="square" lIns="0" tIns="0" rIns="0" bIns="0" rtlCol="0" anchor="ctr"/>
          <a:lstStyle/>
          <a:p>
            <a:pPr indent="0" marL="0">
              <a:buNone/>
            </a:pPr>
            <a:r>
              <a:rPr lang="en-US" sz="1600" b="1" spc="180" kern="0" dirty="0">
                <a:solidFill>
                  <a:srgbClr val="E7C766"/>
                </a:solidFill>
                <a:latin typeface="Arial" pitchFamily="34" charset="0"/>
                <a:ea typeface="Arial" pitchFamily="34" charset="-122"/>
                <a:cs typeface="Arial" pitchFamily="34" charset="-120"/>
              </a:rPr>
              <a:t>STEP FOUR  ·  CHECKPOINT  ·  EASTERN</a:t>
            </a:r>
            <a:endParaRPr lang="en-US" sz="1600" dirty="0"/>
          </a:p>
        </p:txBody>
      </p:sp>
      <p:sp>
        <p:nvSpPr>
          <p:cNvPr id="14" name="Text 12"/>
          <p:cNvSpPr/>
          <p:nvPr/>
        </p:nvSpPr>
        <p:spPr>
          <a:xfrm>
            <a:off x="813816" y="1664208"/>
            <a:ext cx="10570464" cy="1060704"/>
          </a:xfrm>
          <a:prstGeom prst="rect">
            <a:avLst/>
          </a:prstGeom>
          <a:noFill/>
          <a:ln/>
        </p:spPr>
        <p:txBody>
          <a:bodyPr wrap="square" lIns="0" tIns="0" rIns="0" bIns="0" rtlCol="0" anchor="ctr"/>
          <a:lstStyle/>
          <a:p>
            <a:pPr algn="ctr" indent="0" marL="0">
              <a:buNone/>
            </a:pPr>
            <a:r>
              <a:rPr lang="en-US" sz="7200" b="1" dirty="0">
                <a:solidFill>
                  <a:srgbClr val="E7C766"/>
                </a:solidFill>
                <a:latin typeface="Georgia" pitchFamily="34" charset="0"/>
                <a:ea typeface="Georgia" pitchFamily="34" charset="-122"/>
                <a:cs typeface="Georgia" pitchFamily="34" charset="-120"/>
              </a:rPr>
              <a:t>1:23</a:t>
            </a:r>
            <a:endParaRPr lang="en-US" sz="7200" dirty="0"/>
          </a:p>
        </p:txBody>
      </p:sp>
      <p:sp>
        <p:nvSpPr>
          <p:cNvPr id="15" name="Text 13"/>
          <p:cNvSpPr/>
          <p:nvPr/>
        </p:nvSpPr>
        <p:spPr>
          <a:xfrm>
            <a:off x="1340968" y="2834640"/>
            <a:ext cx="9509760" cy="1140196"/>
          </a:xfrm>
          <a:prstGeom prst="rect">
            <a:avLst/>
          </a:prstGeom>
          <a:noFill/>
          <a:ln/>
        </p:spPr>
        <p:txBody>
          <a:bodyPr wrap="square" lIns="0" tIns="0" rIns="0" bIns="0" rtlCol="0" anchor="t"/>
          <a:lstStyle/>
          <a:p>
            <a:pPr algn="ctr" indent="0" marL="0">
              <a:buNone/>
            </a:pPr>
            <a:r>
              <a:rPr lang="en-US" sz="3200" b="1" dirty="0">
                <a:solidFill>
                  <a:srgbClr val="F7F3EA"/>
                </a:solidFill>
                <a:latin typeface="Georgia" pitchFamily="34" charset="0"/>
                <a:ea typeface="Georgia" pitchFamily="34" charset="-122"/>
                <a:cs typeface="Georgia" pitchFamily="34" charset="-120"/>
              </a:rPr>
              <a:t>Her first Week in Review is on your calendar.</a:t>
            </a:r>
            <a:endParaRPr lang="en-US" sz="3200" dirty="0"/>
          </a:p>
        </p:txBody>
      </p:sp>
      <p:sp>
        <p:nvSpPr>
          <p:cNvPr id="16" name="Text 14"/>
          <p:cNvSpPr/>
          <p:nvPr/>
        </p:nvSpPr>
        <p:spPr>
          <a:xfrm>
            <a:off x="1737360" y="4285732"/>
            <a:ext cx="8714232" cy="640080"/>
          </a:xfrm>
          <a:prstGeom prst="rect">
            <a:avLst/>
          </a:prstGeom>
          <a:noFill/>
          <a:ln/>
        </p:spPr>
        <p:txBody>
          <a:bodyPr wrap="square" lIns="0" tIns="0" rIns="0" bIns="0" rtlCol="0" anchor="t"/>
          <a:lstStyle/>
          <a:p>
            <a:pPr algn="ctr" indent="0" marL="0">
              <a:lnSpc>
                <a:spcPct val="116000"/>
              </a:lnSpc>
              <a:buNone/>
            </a:pPr>
            <a:r>
              <a:rPr lang="en-US" sz="1800" dirty="0">
                <a:solidFill>
                  <a:srgbClr val="AFA893"/>
                </a:solidFill>
                <a:latin typeface="Arial" pitchFamily="34" charset="0"/>
                <a:ea typeface="Arial" pitchFamily="34" charset="-122"/>
                <a:cs typeface="Arial" pitchFamily="34" charset="-120"/>
              </a:rPr>
              <a:t>Four stations. Connect, teach, run, retrain. That is a learning system, and it is yours.</a:t>
            </a:r>
            <a:endParaRPr lang="en-US" sz="1800" dirty="0"/>
          </a:p>
        </p:txBody>
      </p:sp>
      <p:sp>
        <p:nvSpPr>
          <p:cNvPr id="17" name="Text 15"/>
          <p:cNvSpPr/>
          <p:nvPr/>
        </p:nvSpPr>
        <p:spPr>
          <a:xfrm>
            <a:off x="813816" y="5248656"/>
            <a:ext cx="10570464" cy="347472"/>
          </a:xfrm>
          <a:prstGeom prst="rect">
            <a:avLst/>
          </a:prstGeom>
          <a:noFill/>
          <a:ln/>
        </p:spPr>
        <p:txBody>
          <a:bodyPr wrap="square" lIns="0" tIns="0" rIns="0" bIns="0" rtlCol="0" anchor="t"/>
          <a:lstStyle/>
          <a:p>
            <a:pPr algn="ctr" indent="0" marL="0">
              <a:lnSpc>
                <a:spcPct val="116000"/>
              </a:lnSpc>
              <a:buNone/>
            </a:pPr>
            <a:r>
              <a:rPr lang="en-US" sz="1600" b="1" dirty="0">
                <a:solidFill>
                  <a:srgbClr val="E7C766"/>
                </a:solidFill>
                <a:latin typeface="Arial" pitchFamily="34" charset="0"/>
                <a:ea typeface="Arial" pitchFamily="34" charset="-122"/>
                <a:cs typeface="Arial" pitchFamily="34" charset="-120"/>
              </a:rPr>
              <a:t>The loop is closed.</a:t>
            </a:r>
            <a:endParaRPr lang="en-US" sz="16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14213D"/>
        </a:solidFill>
      </p:bgPr>
    </p:bg>
    <p:spTree>
      <p:nvGrpSpPr>
        <p:cNvPr id="1" name=""/>
        <p:cNvGrpSpPr/>
        <p:nvPr/>
      </p:nvGrpSpPr>
      <p:grpSpPr>
        <a:xfrm>
          <a:off x="0" y="0"/>
          <a:ext cx="0" cy="0"/>
          <a:chOff x="0" y="0"/>
          <a:chExt cx="0" cy="0"/>
        </a:xfrm>
      </p:grpSpPr>
      <p:sp>
        <p:nvSpPr>
          <p:cNvPr id="2" name="Shape 0"/>
          <p:cNvSpPr/>
          <p:nvPr/>
        </p:nvSpPr>
        <p:spPr>
          <a:xfrm>
            <a:off x="813816" y="5779008"/>
            <a:ext cx="10570464" cy="0"/>
          </a:xfrm>
          <a:prstGeom prst="line">
            <a:avLst/>
          </a:prstGeom>
          <a:noFill/>
          <a:ln w="9525">
            <a:solidFill>
              <a:srgbClr val="C9A227"/>
            </a:solidFill>
            <a:prstDash val="solid"/>
          </a:ln>
        </p:spPr>
      </p:sp>
      <p:sp>
        <p:nvSpPr>
          <p:cNvPr id="3" name="Text 1"/>
          <p:cNvSpPr/>
          <p:nvPr/>
        </p:nvSpPr>
        <p:spPr>
          <a:xfrm>
            <a:off x="813816" y="5907024"/>
            <a:ext cx="3358896" cy="274320"/>
          </a:xfrm>
          <a:prstGeom prst="rect">
            <a:avLst/>
          </a:prstGeom>
          <a:noFill/>
          <a:ln/>
        </p:spPr>
        <p:txBody>
          <a:bodyPr wrap="square" lIns="0" tIns="0" rIns="0" bIns="0" rtlCol="0" anchor="ctr"/>
          <a:lstStyle/>
          <a:p>
            <a:pPr indent="0" marL="0">
              <a:buNone/>
            </a:pPr>
            <a:r>
              <a:rPr lang="en-US" sz="1600" spc="120" kern="0" dirty="0">
                <a:solidFill>
                  <a:srgbClr val="AFA893"/>
                </a:solidFill>
                <a:latin typeface="Arial" pitchFamily="34" charset="0"/>
                <a:ea typeface="Arial" pitchFamily="34" charset="-122"/>
                <a:cs typeface="Arial" pitchFamily="34" charset="-120"/>
              </a:rPr>
              <a:t>BUILD YOUR OWN DONNA</a:t>
            </a:r>
            <a:endParaRPr lang="en-US" sz="1600" dirty="0"/>
          </a:p>
        </p:txBody>
      </p:sp>
      <p:sp>
        <p:nvSpPr>
          <p:cNvPr id="4" name="Shape 2"/>
          <p:cNvSpPr/>
          <p:nvPr/>
        </p:nvSpPr>
        <p:spPr>
          <a:xfrm rot="2700000">
            <a:off x="4227576" y="6012180"/>
            <a:ext cx="64008" cy="64008"/>
          </a:xfrm>
          <a:prstGeom prst="rect">
            <a:avLst/>
          </a:prstGeom>
          <a:solidFill>
            <a:srgbClr val="C9A227"/>
          </a:solidFill>
          <a:ln w="3175">
            <a:solidFill>
              <a:srgbClr val="C9A227"/>
            </a:solidFill>
            <a:prstDash val="solid"/>
          </a:ln>
        </p:spPr>
      </p:sp>
      <p:sp>
        <p:nvSpPr>
          <p:cNvPr id="5" name="Text 3"/>
          <p:cNvSpPr/>
          <p:nvPr/>
        </p:nvSpPr>
        <p:spPr>
          <a:xfrm>
            <a:off x="4410456" y="5907024"/>
            <a:ext cx="2712720" cy="274320"/>
          </a:xfrm>
          <a:prstGeom prst="rect">
            <a:avLst/>
          </a:prstGeom>
          <a:noFill/>
          <a:ln/>
        </p:spPr>
        <p:txBody>
          <a:bodyPr wrap="square" lIns="0" tIns="0" rIns="0" bIns="0" rtlCol="0" anchor="ctr"/>
          <a:lstStyle/>
          <a:p>
            <a:pPr indent="0" marL="0">
              <a:buNone/>
            </a:pPr>
            <a:r>
              <a:rPr lang="en-US" sz="1600" spc="120" kern="0" dirty="0">
                <a:solidFill>
                  <a:srgbClr val="AFA893"/>
                </a:solidFill>
                <a:latin typeface="Arial" pitchFamily="34" charset="0"/>
                <a:ea typeface="Arial" pitchFamily="34" charset="-122"/>
                <a:cs typeface="Arial" pitchFamily="34" charset="-120"/>
              </a:rPr>
              <a:t>OCTOBER 21, 2026</a:t>
            </a:r>
            <a:endParaRPr lang="en-US" sz="1600" dirty="0"/>
          </a:p>
        </p:txBody>
      </p:sp>
      <p:sp>
        <p:nvSpPr>
          <p:cNvPr id="6" name="Text 4"/>
          <p:cNvSpPr/>
          <p:nvPr/>
        </p:nvSpPr>
        <p:spPr>
          <a:xfrm>
            <a:off x="10652760" y="5907024"/>
            <a:ext cx="731520" cy="274320"/>
          </a:xfrm>
          <a:prstGeom prst="rect">
            <a:avLst/>
          </a:prstGeom>
          <a:noFill/>
          <a:ln/>
        </p:spPr>
        <p:txBody>
          <a:bodyPr wrap="square" lIns="0" tIns="0" rIns="0" bIns="0" rtlCol="0" anchor="ctr"/>
          <a:lstStyle/>
          <a:p>
            <a:pPr algn="r" indent="0" marL="0">
              <a:buNone/>
            </a:pPr>
            <a:r>
              <a:rPr lang="en-US" sz="1600" spc="120" kern="0" dirty="0">
                <a:solidFill>
                  <a:srgbClr val="AFA893"/>
                </a:solidFill>
                <a:latin typeface="Arial" pitchFamily="34" charset="0"/>
                <a:ea typeface="Arial" pitchFamily="34" charset="-122"/>
                <a:cs typeface="Arial" pitchFamily="34" charset="-120"/>
              </a:rPr>
              <a:t>30</a:t>
            </a:r>
            <a:endParaRPr lang="en-US" sz="1600" dirty="0"/>
          </a:p>
        </p:txBody>
      </p:sp>
      <p:sp>
        <p:nvSpPr>
          <p:cNvPr id="7" name="Text 5"/>
          <p:cNvSpPr/>
          <p:nvPr/>
        </p:nvSpPr>
        <p:spPr>
          <a:xfrm>
            <a:off x="813816" y="457200"/>
            <a:ext cx="10570464" cy="310896"/>
          </a:xfrm>
          <a:prstGeom prst="rect">
            <a:avLst/>
          </a:prstGeom>
          <a:noFill/>
          <a:ln/>
        </p:spPr>
        <p:txBody>
          <a:bodyPr wrap="square" lIns="0" tIns="0" rIns="0" bIns="0" rtlCol="0" anchor="ctr"/>
          <a:lstStyle/>
          <a:p>
            <a:pPr indent="0" marL="0">
              <a:buNone/>
            </a:pPr>
            <a:r>
              <a:rPr lang="en-US" sz="1600" b="1" spc="180" kern="0" dirty="0">
                <a:solidFill>
                  <a:srgbClr val="E7C766"/>
                </a:solidFill>
                <a:latin typeface="Arial" pitchFamily="34" charset="0"/>
                <a:ea typeface="Arial" pitchFamily="34" charset="-122"/>
                <a:cs typeface="Arial" pitchFamily="34" charset="-120"/>
              </a:rPr>
              <a:t>THREE ACTS, REVISITED</a:t>
            </a:r>
            <a:endParaRPr lang="en-US" sz="1600" dirty="0"/>
          </a:p>
        </p:txBody>
      </p:sp>
      <p:sp>
        <p:nvSpPr>
          <p:cNvPr id="8" name="Text 6"/>
          <p:cNvSpPr/>
          <p:nvPr/>
        </p:nvSpPr>
        <p:spPr>
          <a:xfrm>
            <a:off x="813816" y="841248"/>
            <a:ext cx="10570464" cy="751027"/>
          </a:xfrm>
          <a:prstGeom prst="rect">
            <a:avLst/>
          </a:prstGeom>
          <a:noFill/>
          <a:ln/>
        </p:spPr>
        <p:txBody>
          <a:bodyPr wrap="square" lIns="0" tIns="0" rIns="0" bIns="0" rtlCol="0" anchor="t"/>
          <a:lstStyle/>
          <a:p>
            <a:pPr indent="0" marL="0">
              <a:lnSpc>
                <a:spcPct val="94000"/>
              </a:lnSpc>
              <a:buNone/>
            </a:pPr>
            <a:r>
              <a:rPr lang="en-US" sz="4000" b="1" dirty="0">
                <a:solidFill>
                  <a:srgbClr val="F7F3EA"/>
                </a:solidFill>
                <a:latin typeface="Georgia" pitchFamily="34" charset="0"/>
                <a:ea typeface="Georgia" pitchFamily="34" charset="-122"/>
                <a:cs typeface="Georgia" pitchFamily="34" charset="-120"/>
              </a:rPr>
              <a:t>What you just built.</a:t>
            </a:r>
            <a:endParaRPr lang="en-US" sz="4000" dirty="0"/>
          </a:p>
        </p:txBody>
      </p:sp>
      <p:sp>
        <p:nvSpPr>
          <p:cNvPr id="9" name="Shape 7"/>
          <p:cNvSpPr/>
          <p:nvPr/>
        </p:nvSpPr>
        <p:spPr>
          <a:xfrm>
            <a:off x="813816" y="1792224"/>
            <a:ext cx="3255264" cy="3200400"/>
          </a:xfrm>
          <a:prstGeom prst="rect">
            <a:avLst/>
          </a:prstGeom>
          <a:solidFill>
            <a:srgbClr val="2A3244"/>
          </a:solidFill>
          <a:ln/>
        </p:spPr>
      </p:sp>
      <p:sp>
        <p:nvSpPr>
          <p:cNvPr id="10" name="Shape 8"/>
          <p:cNvSpPr/>
          <p:nvPr/>
        </p:nvSpPr>
        <p:spPr>
          <a:xfrm>
            <a:off x="1088136" y="2066544"/>
            <a:ext cx="457200" cy="0"/>
          </a:xfrm>
          <a:prstGeom prst="line">
            <a:avLst/>
          </a:prstGeom>
          <a:noFill/>
          <a:ln w="19050">
            <a:solidFill>
              <a:srgbClr val="C9A227"/>
            </a:solidFill>
            <a:prstDash val="solid"/>
          </a:ln>
        </p:spPr>
      </p:sp>
      <p:sp>
        <p:nvSpPr>
          <p:cNvPr id="11" name="Text 9"/>
          <p:cNvSpPr/>
          <p:nvPr/>
        </p:nvSpPr>
        <p:spPr>
          <a:xfrm>
            <a:off x="1088136" y="2176272"/>
            <a:ext cx="2706624" cy="640080"/>
          </a:xfrm>
          <a:prstGeom prst="rect">
            <a:avLst/>
          </a:prstGeom>
          <a:noFill/>
          <a:ln/>
        </p:spPr>
        <p:txBody>
          <a:bodyPr wrap="square" lIns="0" tIns="0" rIns="0" bIns="0" rtlCol="0" anchor="ctr"/>
          <a:lstStyle/>
          <a:p>
            <a:pPr indent="0" marL="0">
              <a:buNone/>
            </a:pPr>
            <a:r>
              <a:rPr lang="en-US" sz="4400" b="1" dirty="0">
                <a:solidFill>
                  <a:srgbClr val="E7C766"/>
                </a:solidFill>
                <a:latin typeface="Georgia" pitchFamily="34" charset="0"/>
                <a:ea typeface="Georgia" pitchFamily="34" charset="-122"/>
                <a:cs typeface="Georgia" pitchFamily="34" charset="-120"/>
              </a:rPr>
              <a:t>I</a:t>
            </a:r>
            <a:endParaRPr lang="en-US" sz="4400" dirty="0"/>
          </a:p>
        </p:txBody>
      </p:sp>
      <p:sp>
        <p:nvSpPr>
          <p:cNvPr id="12" name="Text 10"/>
          <p:cNvSpPr/>
          <p:nvPr/>
        </p:nvSpPr>
        <p:spPr>
          <a:xfrm>
            <a:off x="1088136" y="2871216"/>
            <a:ext cx="2706624" cy="329184"/>
          </a:xfrm>
          <a:prstGeom prst="rect">
            <a:avLst/>
          </a:prstGeom>
          <a:noFill/>
          <a:ln/>
        </p:spPr>
        <p:txBody>
          <a:bodyPr wrap="square" lIns="0" tIns="0" rIns="0" bIns="0" rtlCol="0" anchor="ctr"/>
          <a:lstStyle/>
          <a:p>
            <a:pPr indent="0" marL="0">
              <a:buNone/>
            </a:pPr>
            <a:r>
              <a:rPr lang="en-US" sz="2000" b="1" dirty="0">
                <a:solidFill>
                  <a:srgbClr val="F7F3EA"/>
                </a:solidFill>
                <a:latin typeface="Arial" pitchFamily="34" charset="0"/>
                <a:ea typeface="Arial" pitchFamily="34" charset="-122"/>
                <a:cs typeface="Arial" pitchFamily="34" charset="-120"/>
              </a:rPr>
              <a:t>The idea</a:t>
            </a:r>
            <a:endParaRPr lang="en-US" sz="2000" dirty="0"/>
          </a:p>
        </p:txBody>
      </p:sp>
      <p:sp>
        <p:nvSpPr>
          <p:cNvPr id="13" name="Text 11"/>
          <p:cNvSpPr/>
          <p:nvPr/>
        </p:nvSpPr>
        <p:spPr>
          <a:xfrm>
            <a:off x="1088136" y="3200400"/>
            <a:ext cx="2706624" cy="274320"/>
          </a:xfrm>
          <a:prstGeom prst="rect">
            <a:avLst/>
          </a:prstGeom>
          <a:noFill/>
          <a:ln/>
        </p:spPr>
        <p:txBody>
          <a:bodyPr wrap="square" lIns="0" tIns="0" rIns="0" bIns="0" rtlCol="0" anchor="ctr"/>
          <a:lstStyle/>
          <a:p>
            <a:pPr indent="0" marL="0">
              <a:buNone/>
            </a:pPr>
            <a:r>
              <a:rPr lang="en-US" sz="1600" spc="120" kern="0" dirty="0">
                <a:solidFill>
                  <a:srgbClr val="AFA893"/>
                </a:solidFill>
                <a:latin typeface="Arial" pitchFamily="34" charset="0"/>
                <a:ea typeface="Arial" pitchFamily="34" charset="-122"/>
                <a:cs typeface="Arial" pitchFamily="34" charset="-120"/>
              </a:rPr>
              <a:t>DONE</a:t>
            </a:r>
            <a:endParaRPr lang="en-US" sz="1600" dirty="0"/>
          </a:p>
        </p:txBody>
      </p:sp>
      <p:sp>
        <p:nvSpPr>
          <p:cNvPr id="14" name="Text 12"/>
          <p:cNvSpPr/>
          <p:nvPr/>
        </p:nvSpPr>
        <p:spPr>
          <a:xfrm>
            <a:off x="1088136" y="3584448"/>
            <a:ext cx="2706624" cy="1115568"/>
          </a:xfrm>
          <a:prstGeom prst="rect">
            <a:avLst/>
          </a:prstGeom>
          <a:noFill/>
          <a:ln/>
        </p:spPr>
        <p:txBody>
          <a:bodyPr wrap="square" lIns="0" tIns="0" rIns="0" bIns="0" rtlCol="0" anchor="t"/>
          <a:lstStyle/>
          <a:p>
            <a:pPr indent="0" marL="0">
              <a:lnSpc>
                <a:spcPct val="116000"/>
              </a:lnSpc>
              <a:buNone/>
            </a:pPr>
            <a:r>
              <a:rPr lang="en-US" sz="1600" dirty="0">
                <a:solidFill>
                  <a:srgbClr val="F7F3EA"/>
                </a:solidFill>
                <a:latin typeface="Arial" pitchFamily="34" charset="0"/>
                <a:ea typeface="Arial" pitchFamily="34" charset="-122"/>
                <a:cs typeface="Arial" pitchFamily="34" charset="-120"/>
              </a:rPr>
              <a:t>Every workflow is a loop. Closed loops get better. You can name all four stations.</a:t>
            </a:r>
            <a:endParaRPr lang="en-US" sz="1600" dirty="0"/>
          </a:p>
        </p:txBody>
      </p:sp>
      <p:sp>
        <p:nvSpPr>
          <p:cNvPr id="15" name="Shape 13"/>
          <p:cNvSpPr/>
          <p:nvPr/>
        </p:nvSpPr>
        <p:spPr>
          <a:xfrm>
            <a:off x="4471416" y="1792224"/>
            <a:ext cx="3255264" cy="3200400"/>
          </a:xfrm>
          <a:prstGeom prst="rect">
            <a:avLst/>
          </a:prstGeom>
          <a:solidFill>
            <a:srgbClr val="2A3244"/>
          </a:solidFill>
          <a:ln/>
        </p:spPr>
      </p:sp>
      <p:sp>
        <p:nvSpPr>
          <p:cNvPr id="16" name="Shape 14"/>
          <p:cNvSpPr/>
          <p:nvPr/>
        </p:nvSpPr>
        <p:spPr>
          <a:xfrm>
            <a:off x="4745736" y="2066544"/>
            <a:ext cx="457200" cy="0"/>
          </a:xfrm>
          <a:prstGeom prst="line">
            <a:avLst/>
          </a:prstGeom>
          <a:noFill/>
          <a:ln w="19050">
            <a:solidFill>
              <a:srgbClr val="C9A227"/>
            </a:solidFill>
            <a:prstDash val="solid"/>
          </a:ln>
        </p:spPr>
      </p:sp>
      <p:sp>
        <p:nvSpPr>
          <p:cNvPr id="17" name="Text 15"/>
          <p:cNvSpPr/>
          <p:nvPr/>
        </p:nvSpPr>
        <p:spPr>
          <a:xfrm>
            <a:off x="4745736" y="2176272"/>
            <a:ext cx="2706624" cy="640080"/>
          </a:xfrm>
          <a:prstGeom prst="rect">
            <a:avLst/>
          </a:prstGeom>
          <a:noFill/>
          <a:ln/>
        </p:spPr>
        <p:txBody>
          <a:bodyPr wrap="square" lIns="0" tIns="0" rIns="0" bIns="0" rtlCol="0" anchor="ctr"/>
          <a:lstStyle/>
          <a:p>
            <a:pPr indent="0" marL="0">
              <a:buNone/>
            </a:pPr>
            <a:r>
              <a:rPr lang="en-US" sz="4400" b="1" dirty="0">
                <a:solidFill>
                  <a:srgbClr val="E7C766"/>
                </a:solidFill>
                <a:latin typeface="Georgia" pitchFamily="34" charset="0"/>
                <a:ea typeface="Georgia" pitchFamily="34" charset="-122"/>
                <a:cs typeface="Georgia" pitchFamily="34" charset="-120"/>
              </a:rPr>
              <a:t>II</a:t>
            </a:r>
            <a:endParaRPr lang="en-US" sz="4400" dirty="0"/>
          </a:p>
        </p:txBody>
      </p:sp>
      <p:sp>
        <p:nvSpPr>
          <p:cNvPr id="18" name="Text 16"/>
          <p:cNvSpPr/>
          <p:nvPr/>
        </p:nvSpPr>
        <p:spPr>
          <a:xfrm>
            <a:off x="4745736" y="2871216"/>
            <a:ext cx="2706624" cy="329184"/>
          </a:xfrm>
          <a:prstGeom prst="rect">
            <a:avLst/>
          </a:prstGeom>
          <a:noFill/>
          <a:ln/>
        </p:spPr>
        <p:txBody>
          <a:bodyPr wrap="square" lIns="0" tIns="0" rIns="0" bIns="0" rtlCol="0" anchor="ctr"/>
          <a:lstStyle/>
          <a:p>
            <a:pPr indent="0" marL="0">
              <a:buNone/>
            </a:pPr>
            <a:r>
              <a:rPr lang="en-US" sz="2000" b="1" dirty="0">
                <a:solidFill>
                  <a:srgbClr val="F7F3EA"/>
                </a:solidFill>
                <a:latin typeface="Arial" pitchFamily="34" charset="0"/>
                <a:ea typeface="Arial" pitchFamily="34" charset="-122"/>
                <a:cs typeface="Arial" pitchFamily="34" charset="-120"/>
              </a:rPr>
              <a:t>The build</a:t>
            </a:r>
            <a:endParaRPr lang="en-US" sz="2000" dirty="0"/>
          </a:p>
        </p:txBody>
      </p:sp>
      <p:sp>
        <p:nvSpPr>
          <p:cNvPr id="19" name="Text 17"/>
          <p:cNvSpPr/>
          <p:nvPr/>
        </p:nvSpPr>
        <p:spPr>
          <a:xfrm>
            <a:off x="4745736" y="3200400"/>
            <a:ext cx="2706624" cy="274320"/>
          </a:xfrm>
          <a:prstGeom prst="rect">
            <a:avLst/>
          </a:prstGeom>
          <a:noFill/>
          <a:ln/>
        </p:spPr>
        <p:txBody>
          <a:bodyPr wrap="square" lIns="0" tIns="0" rIns="0" bIns="0" rtlCol="0" anchor="ctr"/>
          <a:lstStyle/>
          <a:p>
            <a:pPr indent="0" marL="0">
              <a:buNone/>
            </a:pPr>
            <a:r>
              <a:rPr lang="en-US" sz="1600" spc="120" kern="0" dirty="0">
                <a:solidFill>
                  <a:srgbClr val="AFA893"/>
                </a:solidFill>
                <a:latin typeface="Arial" pitchFamily="34" charset="0"/>
                <a:ea typeface="Arial" pitchFamily="34" charset="-122"/>
                <a:cs typeface="Arial" pitchFamily="34" charset="-120"/>
              </a:rPr>
              <a:t>DONE, 1:23</a:t>
            </a:r>
            <a:endParaRPr lang="en-US" sz="1600" dirty="0"/>
          </a:p>
        </p:txBody>
      </p:sp>
      <p:sp>
        <p:nvSpPr>
          <p:cNvPr id="20" name="Text 18"/>
          <p:cNvSpPr/>
          <p:nvPr/>
        </p:nvSpPr>
        <p:spPr>
          <a:xfrm>
            <a:off x="4745736" y="3584448"/>
            <a:ext cx="2706624" cy="1115568"/>
          </a:xfrm>
          <a:prstGeom prst="rect">
            <a:avLst/>
          </a:prstGeom>
          <a:noFill/>
          <a:ln/>
        </p:spPr>
        <p:txBody>
          <a:bodyPr wrap="square" lIns="0" tIns="0" rIns="0" bIns="0" rtlCol="0" anchor="t"/>
          <a:lstStyle/>
          <a:p>
            <a:pPr indent="0" marL="0">
              <a:lnSpc>
                <a:spcPct val="116000"/>
              </a:lnSpc>
              <a:buNone/>
            </a:pPr>
            <a:r>
              <a:rPr lang="en-US" sz="1600" dirty="0">
                <a:solidFill>
                  <a:srgbClr val="F7F3EA"/>
                </a:solidFill>
                <a:latin typeface="Arial" pitchFamily="34" charset="0"/>
                <a:ea typeface="Arial" pitchFamily="34" charset="-122"/>
                <a:cs typeface="Arial" pitchFamily="34" charset="-120"/>
              </a:rPr>
              <a:t>A project, a playbook she wrote, a skill you own, two standing orders. She is live.</a:t>
            </a:r>
            <a:endParaRPr lang="en-US" sz="1600" dirty="0"/>
          </a:p>
        </p:txBody>
      </p:sp>
      <p:sp>
        <p:nvSpPr>
          <p:cNvPr id="21" name="Shape 19"/>
          <p:cNvSpPr/>
          <p:nvPr/>
        </p:nvSpPr>
        <p:spPr>
          <a:xfrm>
            <a:off x="8129016" y="1792224"/>
            <a:ext cx="3255264" cy="3200400"/>
          </a:xfrm>
          <a:prstGeom prst="rect">
            <a:avLst/>
          </a:prstGeom>
          <a:solidFill>
            <a:srgbClr val="2A3244"/>
          </a:solidFill>
          <a:ln/>
        </p:spPr>
      </p:sp>
      <p:sp>
        <p:nvSpPr>
          <p:cNvPr id="22" name="Shape 20"/>
          <p:cNvSpPr/>
          <p:nvPr/>
        </p:nvSpPr>
        <p:spPr>
          <a:xfrm>
            <a:off x="8403336" y="2066544"/>
            <a:ext cx="457200" cy="0"/>
          </a:xfrm>
          <a:prstGeom prst="line">
            <a:avLst/>
          </a:prstGeom>
          <a:noFill/>
          <a:ln w="19050">
            <a:solidFill>
              <a:srgbClr val="C9A227"/>
            </a:solidFill>
            <a:prstDash val="solid"/>
          </a:ln>
        </p:spPr>
      </p:sp>
      <p:sp>
        <p:nvSpPr>
          <p:cNvPr id="23" name="Text 21"/>
          <p:cNvSpPr/>
          <p:nvPr/>
        </p:nvSpPr>
        <p:spPr>
          <a:xfrm>
            <a:off x="8403336" y="2176272"/>
            <a:ext cx="2706624" cy="640080"/>
          </a:xfrm>
          <a:prstGeom prst="rect">
            <a:avLst/>
          </a:prstGeom>
          <a:noFill/>
          <a:ln/>
        </p:spPr>
        <p:txBody>
          <a:bodyPr wrap="square" lIns="0" tIns="0" rIns="0" bIns="0" rtlCol="0" anchor="ctr"/>
          <a:lstStyle/>
          <a:p>
            <a:pPr indent="0" marL="0">
              <a:buNone/>
            </a:pPr>
            <a:r>
              <a:rPr lang="en-US" sz="4400" b="1" dirty="0">
                <a:solidFill>
                  <a:srgbClr val="E7C766"/>
                </a:solidFill>
                <a:latin typeface="Georgia" pitchFamily="34" charset="0"/>
                <a:ea typeface="Georgia" pitchFamily="34" charset="-122"/>
                <a:cs typeface="Georgia" pitchFamily="34" charset="-120"/>
              </a:rPr>
              <a:t>III</a:t>
            </a:r>
            <a:endParaRPr lang="en-US" sz="4400" dirty="0"/>
          </a:p>
        </p:txBody>
      </p:sp>
      <p:sp>
        <p:nvSpPr>
          <p:cNvPr id="24" name="Text 22"/>
          <p:cNvSpPr/>
          <p:nvPr/>
        </p:nvSpPr>
        <p:spPr>
          <a:xfrm>
            <a:off x="8403336" y="2871216"/>
            <a:ext cx="2706624" cy="329184"/>
          </a:xfrm>
          <a:prstGeom prst="rect">
            <a:avLst/>
          </a:prstGeom>
          <a:noFill/>
          <a:ln/>
        </p:spPr>
        <p:txBody>
          <a:bodyPr wrap="square" lIns="0" tIns="0" rIns="0" bIns="0" rtlCol="0" anchor="ctr"/>
          <a:lstStyle/>
          <a:p>
            <a:pPr indent="0" marL="0">
              <a:buNone/>
            </a:pPr>
            <a:r>
              <a:rPr lang="en-US" sz="2000" b="1" dirty="0">
                <a:solidFill>
                  <a:srgbClr val="F7F3EA"/>
                </a:solidFill>
                <a:latin typeface="Arial" pitchFamily="34" charset="0"/>
                <a:ea typeface="Arial" pitchFamily="34" charset="-122"/>
                <a:cs typeface="Arial" pitchFamily="34" charset="-120"/>
              </a:rPr>
              <a:t>The wrap</a:t>
            </a:r>
            <a:endParaRPr lang="en-US" sz="2000" dirty="0"/>
          </a:p>
        </p:txBody>
      </p:sp>
      <p:sp>
        <p:nvSpPr>
          <p:cNvPr id="25" name="Text 23"/>
          <p:cNvSpPr/>
          <p:nvPr/>
        </p:nvSpPr>
        <p:spPr>
          <a:xfrm>
            <a:off x="8403336" y="3200400"/>
            <a:ext cx="2706624" cy="274320"/>
          </a:xfrm>
          <a:prstGeom prst="rect">
            <a:avLst/>
          </a:prstGeom>
          <a:noFill/>
          <a:ln/>
        </p:spPr>
        <p:txBody>
          <a:bodyPr wrap="square" lIns="0" tIns="0" rIns="0" bIns="0" rtlCol="0" anchor="ctr"/>
          <a:lstStyle/>
          <a:p>
            <a:pPr indent="0" marL="0">
              <a:buNone/>
            </a:pPr>
            <a:r>
              <a:rPr lang="en-US" sz="1600" spc="120" kern="0" dirty="0">
                <a:solidFill>
                  <a:srgbClr val="AFA893"/>
                </a:solidFill>
                <a:latin typeface="Arial" pitchFamily="34" charset="0"/>
                <a:ea typeface="Arial" pitchFamily="34" charset="-122"/>
                <a:cs typeface="Arial" pitchFamily="34" charset="-120"/>
              </a:rPr>
              <a:t>NOW</a:t>
            </a:r>
            <a:endParaRPr lang="en-US" sz="1600" dirty="0"/>
          </a:p>
        </p:txBody>
      </p:sp>
      <p:sp>
        <p:nvSpPr>
          <p:cNvPr id="26" name="Text 24"/>
          <p:cNvSpPr/>
          <p:nvPr/>
        </p:nvSpPr>
        <p:spPr>
          <a:xfrm>
            <a:off x="8403336" y="3584448"/>
            <a:ext cx="2706624" cy="1115568"/>
          </a:xfrm>
          <a:prstGeom prst="rect">
            <a:avLst/>
          </a:prstGeom>
          <a:noFill/>
          <a:ln/>
        </p:spPr>
        <p:txBody>
          <a:bodyPr wrap="square" lIns="0" tIns="0" rIns="0" bIns="0" rtlCol="0" anchor="t"/>
          <a:lstStyle/>
          <a:p>
            <a:pPr indent="0" marL="0">
              <a:lnSpc>
                <a:spcPct val="116000"/>
              </a:lnSpc>
              <a:buNone/>
            </a:pPr>
            <a:r>
              <a:rPr lang="en-US" sz="1600" dirty="0">
                <a:solidFill>
                  <a:srgbClr val="F7F3EA"/>
                </a:solidFill>
                <a:latin typeface="Arial" pitchFamily="34" charset="0"/>
                <a:ea typeface="Arial" pitchFamily="34" charset="-122"/>
                <a:cs typeface="Arial" pitchFamily="34" charset="-120"/>
              </a:rPr>
              <a:t>Where your loop turns next, and the Friday she tells you what she got wrong.</a:t>
            </a:r>
            <a:endParaRPr lang="en-US" sz="1600" dirty="0"/>
          </a:p>
        </p:txBody>
      </p:sp>
      <p:sp>
        <p:nvSpPr>
          <p:cNvPr id="27" name="Text 25"/>
          <p:cNvSpPr/>
          <p:nvPr/>
        </p:nvSpPr>
        <p:spPr>
          <a:xfrm>
            <a:off x="813816" y="5230368"/>
            <a:ext cx="10570464" cy="347472"/>
          </a:xfrm>
          <a:prstGeom prst="rect">
            <a:avLst/>
          </a:prstGeom>
          <a:noFill/>
          <a:ln/>
        </p:spPr>
        <p:txBody>
          <a:bodyPr wrap="square" lIns="0" tIns="0" rIns="0" bIns="0" rtlCol="0" anchor="t"/>
          <a:lstStyle/>
          <a:p>
            <a:pPr algn="l" indent="0" marL="0">
              <a:lnSpc>
                <a:spcPct val="116000"/>
              </a:lnSpc>
              <a:buNone/>
            </a:pPr>
            <a:r>
              <a:rPr lang="en-US" sz="1600" b="1" dirty="0">
                <a:solidFill>
                  <a:srgbClr val="E7C766"/>
                </a:solidFill>
                <a:latin typeface="Arial" pitchFamily="34" charset="0"/>
                <a:ea typeface="Arial" pitchFamily="34" charset="-122"/>
                <a:cs typeface="Arial" pitchFamily="34" charset="-120"/>
              </a:rPr>
              <a:t>You did not learn a tool today. You built a loop, and closed it.</a:t>
            </a:r>
            <a:endParaRPr lang="en-US" sz="16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7F3EA"/>
        </a:solidFill>
      </p:bgPr>
    </p:bg>
    <p:spTree>
      <p:nvGrpSpPr>
        <p:cNvPr id="1" name=""/>
        <p:cNvGrpSpPr/>
        <p:nvPr/>
      </p:nvGrpSpPr>
      <p:grpSpPr>
        <a:xfrm>
          <a:off x="0" y="0"/>
          <a:ext cx="0" cy="0"/>
          <a:chOff x="0" y="0"/>
          <a:chExt cx="0" cy="0"/>
        </a:xfrm>
      </p:grpSpPr>
      <p:sp>
        <p:nvSpPr>
          <p:cNvPr id="2" name="Shape 0"/>
          <p:cNvSpPr/>
          <p:nvPr/>
        </p:nvSpPr>
        <p:spPr>
          <a:xfrm>
            <a:off x="813816" y="5779008"/>
            <a:ext cx="10570464" cy="0"/>
          </a:xfrm>
          <a:prstGeom prst="line">
            <a:avLst/>
          </a:prstGeom>
          <a:noFill/>
          <a:ln w="9525">
            <a:solidFill>
              <a:srgbClr val="C9A227"/>
            </a:solidFill>
            <a:prstDash val="solid"/>
          </a:ln>
        </p:spPr>
      </p:sp>
      <p:sp>
        <p:nvSpPr>
          <p:cNvPr id="3" name="Text 1"/>
          <p:cNvSpPr/>
          <p:nvPr/>
        </p:nvSpPr>
        <p:spPr>
          <a:xfrm>
            <a:off x="813816" y="5907024"/>
            <a:ext cx="3358896" cy="274320"/>
          </a:xfrm>
          <a:prstGeom prst="rect">
            <a:avLst/>
          </a:prstGeom>
          <a:noFill/>
          <a:ln/>
        </p:spPr>
        <p:txBody>
          <a:bodyPr wrap="square" lIns="0" tIns="0" rIns="0" bIns="0" rtlCol="0" anchor="ctr"/>
          <a:lstStyle/>
          <a:p>
            <a:pPr indent="0" marL="0">
              <a:buNone/>
            </a:pPr>
            <a:r>
              <a:rPr lang="en-US" sz="1600" spc="120" kern="0" dirty="0">
                <a:solidFill>
                  <a:srgbClr val="5A6379"/>
                </a:solidFill>
                <a:latin typeface="Arial" pitchFamily="34" charset="0"/>
                <a:ea typeface="Arial" pitchFamily="34" charset="-122"/>
                <a:cs typeface="Arial" pitchFamily="34" charset="-120"/>
              </a:rPr>
              <a:t>BUILD YOUR OWN DONNA</a:t>
            </a:r>
            <a:endParaRPr lang="en-US" sz="1600" dirty="0"/>
          </a:p>
        </p:txBody>
      </p:sp>
      <p:sp>
        <p:nvSpPr>
          <p:cNvPr id="4" name="Shape 2"/>
          <p:cNvSpPr/>
          <p:nvPr/>
        </p:nvSpPr>
        <p:spPr>
          <a:xfrm rot="2700000">
            <a:off x="4227576" y="6012180"/>
            <a:ext cx="64008" cy="64008"/>
          </a:xfrm>
          <a:prstGeom prst="rect">
            <a:avLst/>
          </a:prstGeom>
          <a:solidFill>
            <a:srgbClr val="C9A227"/>
          </a:solidFill>
          <a:ln w="3175">
            <a:solidFill>
              <a:srgbClr val="C9A227"/>
            </a:solidFill>
            <a:prstDash val="solid"/>
          </a:ln>
        </p:spPr>
      </p:sp>
      <p:sp>
        <p:nvSpPr>
          <p:cNvPr id="5" name="Text 3"/>
          <p:cNvSpPr/>
          <p:nvPr/>
        </p:nvSpPr>
        <p:spPr>
          <a:xfrm>
            <a:off x="4410456" y="5907024"/>
            <a:ext cx="2712720" cy="274320"/>
          </a:xfrm>
          <a:prstGeom prst="rect">
            <a:avLst/>
          </a:prstGeom>
          <a:noFill/>
          <a:ln/>
        </p:spPr>
        <p:txBody>
          <a:bodyPr wrap="square" lIns="0" tIns="0" rIns="0" bIns="0" rtlCol="0" anchor="ctr"/>
          <a:lstStyle/>
          <a:p>
            <a:pPr indent="0" marL="0">
              <a:buNone/>
            </a:pPr>
            <a:r>
              <a:rPr lang="en-US" sz="1600" spc="120" kern="0" dirty="0">
                <a:solidFill>
                  <a:srgbClr val="5A6379"/>
                </a:solidFill>
                <a:latin typeface="Arial" pitchFamily="34" charset="0"/>
                <a:ea typeface="Arial" pitchFamily="34" charset="-122"/>
                <a:cs typeface="Arial" pitchFamily="34" charset="-120"/>
              </a:rPr>
              <a:t>OCTOBER 21, 2026</a:t>
            </a:r>
            <a:endParaRPr lang="en-US" sz="1600" dirty="0"/>
          </a:p>
        </p:txBody>
      </p:sp>
      <p:sp>
        <p:nvSpPr>
          <p:cNvPr id="6" name="Text 4"/>
          <p:cNvSpPr/>
          <p:nvPr/>
        </p:nvSpPr>
        <p:spPr>
          <a:xfrm>
            <a:off x="10652760" y="5907024"/>
            <a:ext cx="731520" cy="274320"/>
          </a:xfrm>
          <a:prstGeom prst="rect">
            <a:avLst/>
          </a:prstGeom>
          <a:noFill/>
          <a:ln/>
        </p:spPr>
        <p:txBody>
          <a:bodyPr wrap="square" lIns="0" tIns="0" rIns="0" bIns="0" rtlCol="0" anchor="ctr"/>
          <a:lstStyle/>
          <a:p>
            <a:pPr algn="r" indent="0" marL="0">
              <a:buNone/>
            </a:pPr>
            <a:r>
              <a:rPr lang="en-US" sz="1600" spc="120" kern="0" dirty="0">
                <a:solidFill>
                  <a:srgbClr val="5A6379"/>
                </a:solidFill>
                <a:latin typeface="Arial" pitchFamily="34" charset="0"/>
                <a:ea typeface="Arial" pitchFamily="34" charset="-122"/>
                <a:cs typeface="Arial" pitchFamily="34" charset="-120"/>
              </a:rPr>
              <a:t>31</a:t>
            </a:r>
            <a:endParaRPr lang="en-US" sz="1600" dirty="0"/>
          </a:p>
        </p:txBody>
      </p:sp>
      <p:sp>
        <p:nvSpPr>
          <p:cNvPr id="7" name="Text 5"/>
          <p:cNvSpPr/>
          <p:nvPr/>
        </p:nvSpPr>
        <p:spPr>
          <a:xfrm>
            <a:off x="813816" y="457200"/>
            <a:ext cx="10570464" cy="310896"/>
          </a:xfrm>
          <a:prstGeom prst="rect">
            <a:avLst/>
          </a:prstGeom>
          <a:noFill/>
          <a:ln/>
        </p:spPr>
        <p:txBody>
          <a:bodyPr wrap="square" lIns="0" tIns="0" rIns="0" bIns="0" rtlCol="0" anchor="ctr"/>
          <a:lstStyle/>
          <a:p>
            <a:pPr indent="0" marL="0">
              <a:buNone/>
            </a:pPr>
            <a:r>
              <a:rPr lang="en-US" sz="1600" b="1" spc="180" kern="0" dirty="0">
                <a:solidFill>
                  <a:srgbClr val="8A6D14"/>
                </a:solidFill>
                <a:latin typeface="Arial" pitchFamily="34" charset="0"/>
                <a:ea typeface="Arial" pitchFamily="34" charset="-122"/>
                <a:cs typeface="Arial" pitchFamily="34" charset="-120"/>
              </a:rPr>
              <a:t>THE DISCUSSION</a:t>
            </a:r>
            <a:endParaRPr lang="en-US" sz="1600" dirty="0"/>
          </a:p>
        </p:txBody>
      </p:sp>
      <p:sp>
        <p:nvSpPr>
          <p:cNvPr id="8" name="Text 6"/>
          <p:cNvSpPr/>
          <p:nvPr/>
        </p:nvSpPr>
        <p:spPr>
          <a:xfrm>
            <a:off x="813816" y="841248"/>
            <a:ext cx="10570464" cy="751027"/>
          </a:xfrm>
          <a:prstGeom prst="rect">
            <a:avLst/>
          </a:prstGeom>
          <a:noFill/>
          <a:ln/>
        </p:spPr>
        <p:txBody>
          <a:bodyPr wrap="square" lIns="0" tIns="0" rIns="0" bIns="0" rtlCol="0" anchor="t"/>
          <a:lstStyle/>
          <a:p>
            <a:pPr indent="0" marL="0">
              <a:lnSpc>
                <a:spcPct val="94000"/>
              </a:lnSpc>
              <a:buNone/>
            </a:pPr>
            <a:r>
              <a:rPr lang="en-US" sz="4000" b="1" dirty="0">
                <a:solidFill>
                  <a:srgbClr val="14213D"/>
                </a:solidFill>
                <a:latin typeface="Georgia" pitchFamily="34" charset="0"/>
                <a:ea typeface="Georgia" pitchFamily="34" charset="-122"/>
                <a:cs typeface="Georgia" pitchFamily="34" charset="-120"/>
              </a:rPr>
              <a:t>Where does the loop turn next?</a:t>
            </a:r>
            <a:endParaRPr lang="en-US" sz="4000" dirty="0"/>
          </a:p>
        </p:txBody>
      </p:sp>
      <p:sp>
        <p:nvSpPr>
          <p:cNvPr id="9" name="Shape 7"/>
          <p:cNvSpPr/>
          <p:nvPr/>
        </p:nvSpPr>
        <p:spPr>
          <a:xfrm>
            <a:off x="2149450" y="2460955"/>
            <a:ext cx="1919021" cy="1919021"/>
          </a:xfrm>
          <a:prstGeom prst="ellipse">
            <a:avLst/>
          </a:prstGeom>
          <a:ln w="12700">
            <a:solidFill>
              <a:srgbClr val="C9A227"/>
            </a:solidFill>
            <a:prstDash val="solid"/>
          </a:ln>
        </p:spPr>
      </p:sp>
      <p:sp>
        <p:nvSpPr>
          <p:cNvPr id="10" name="Shape 8"/>
          <p:cNvSpPr/>
          <p:nvPr/>
        </p:nvSpPr>
        <p:spPr>
          <a:xfrm rot="8100000">
            <a:off x="3739888" y="2676610"/>
            <a:ext cx="95098" cy="130759"/>
          </a:xfrm>
          <a:prstGeom prst="triangle">
            <a:avLst/>
          </a:prstGeom>
          <a:solidFill>
            <a:srgbClr val="C9A227"/>
          </a:solidFill>
          <a:ln/>
        </p:spPr>
      </p:sp>
      <p:sp>
        <p:nvSpPr>
          <p:cNvPr id="11" name="Shape 9"/>
          <p:cNvSpPr/>
          <p:nvPr/>
        </p:nvSpPr>
        <p:spPr>
          <a:xfrm rot="13500000">
            <a:off x="3739888" y="4033562"/>
            <a:ext cx="95098" cy="130759"/>
          </a:xfrm>
          <a:prstGeom prst="triangle">
            <a:avLst/>
          </a:prstGeom>
          <a:solidFill>
            <a:srgbClr val="C9A227"/>
          </a:solidFill>
          <a:ln/>
        </p:spPr>
      </p:sp>
      <p:sp>
        <p:nvSpPr>
          <p:cNvPr id="12" name="Shape 10"/>
          <p:cNvSpPr/>
          <p:nvPr/>
        </p:nvSpPr>
        <p:spPr>
          <a:xfrm rot="18900000">
            <a:off x="2382935" y="4033562"/>
            <a:ext cx="95098" cy="130759"/>
          </a:xfrm>
          <a:prstGeom prst="triangle">
            <a:avLst/>
          </a:prstGeom>
          <a:solidFill>
            <a:srgbClr val="C9A227"/>
          </a:solidFill>
          <a:ln/>
        </p:spPr>
      </p:sp>
      <p:sp>
        <p:nvSpPr>
          <p:cNvPr id="13" name="Shape 11"/>
          <p:cNvSpPr/>
          <p:nvPr/>
        </p:nvSpPr>
        <p:spPr>
          <a:xfrm rot="2700000">
            <a:off x="2382935" y="2676610"/>
            <a:ext cx="95098" cy="130759"/>
          </a:xfrm>
          <a:prstGeom prst="triangle">
            <a:avLst/>
          </a:prstGeom>
          <a:solidFill>
            <a:srgbClr val="C9A227"/>
          </a:solidFill>
          <a:ln/>
        </p:spPr>
      </p:sp>
      <p:sp>
        <p:nvSpPr>
          <p:cNvPr id="14" name="Shape 12"/>
          <p:cNvSpPr/>
          <p:nvPr/>
        </p:nvSpPr>
        <p:spPr>
          <a:xfrm>
            <a:off x="2552444" y="2863950"/>
            <a:ext cx="1113032" cy="1113032"/>
          </a:xfrm>
          <a:prstGeom prst="ellipse">
            <a:avLst/>
          </a:prstGeom>
          <a:solidFill>
            <a:srgbClr val="14213D"/>
          </a:solidFill>
          <a:ln/>
        </p:spPr>
      </p:sp>
      <p:sp>
        <p:nvSpPr>
          <p:cNvPr id="15" name="Text 13"/>
          <p:cNvSpPr/>
          <p:nvPr/>
        </p:nvSpPr>
        <p:spPr>
          <a:xfrm>
            <a:off x="2598164" y="3156306"/>
            <a:ext cx="1021592" cy="528320"/>
          </a:xfrm>
          <a:prstGeom prst="rect">
            <a:avLst/>
          </a:prstGeom>
          <a:noFill/>
          <a:ln/>
        </p:spPr>
        <p:txBody>
          <a:bodyPr wrap="square" lIns="0" tIns="0" rIns="0" bIns="0" rtlCol="0" anchor="ctr"/>
          <a:lstStyle/>
          <a:p>
            <a:pPr algn="ctr" indent="0" marL="0">
              <a:lnSpc>
                <a:spcPct val="102000"/>
              </a:lnSpc>
              <a:buNone/>
            </a:pPr>
            <a:r>
              <a:rPr lang="en-US" sz="1600" b="1" dirty="0">
                <a:solidFill>
                  <a:srgbClr val="F7F3EA"/>
                </a:solidFill>
                <a:latin typeface="Georgia" pitchFamily="34" charset="0"/>
                <a:ea typeface="Georgia" pitchFamily="34" charset="-122"/>
                <a:cs typeface="Georgia" pitchFamily="34" charset="-120"/>
              </a:rPr>
              <a:t>THE</a:t>
            </a:r>
            <a:endParaRPr lang="en-US" sz="1600" dirty="0"/>
          </a:p>
          <a:p>
            <a:pPr algn="ctr" indent="0" marL="0">
              <a:lnSpc>
                <a:spcPct val="102000"/>
              </a:lnSpc>
              <a:buNone/>
            </a:pPr>
            <a:r>
              <a:rPr lang="en-US" sz="1600" b="1" dirty="0">
                <a:solidFill>
                  <a:srgbClr val="F7F3EA"/>
                </a:solidFill>
                <a:latin typeface="Georgia" pitchFamily="34" charset="0"/>
                <a:ea typeface="Georgia" pitchFamily="34" charset="-122"/>
                <a:cs typeface="Georgia" pitchFamily="34" charset="-120"/>
              </a:rPr>
              <a:t>WORK</a:t>
            </a:r>
            <a:endParaRPr lang="en-US" sz="1600" dirty="0"/>
          </a:p>
        </p:txBody>
      </p:sp>
      <p:sp>
        <p:nvSpPr>
          <p:cNvPr id="16" name="Shape 14"/>
          <p:cNvSpPr/>
          <p:nvPr/>
        </p:nvSpPr>
        <p:spPr>
          <a:xfrm>
            <a:off x="2880360" y="2232355"/>
            <a:ext cx="457200" cy="457200"/>
          </a:xfrm>
          <a:prstGeom prst="ellipse">
            <a:avLst/>
          </a:prstGeom>
          <a:solidFill>
            <a:srgbClr val="F7F3EA"/>
          </a:solidFill>
          <a:ln w="12700">
            <a:solidFill>
              <a:srgbClr val="C9A227"/>
            </a:solidFill>
            <a:prstDash val="solid"/>
          </a:ln>
        </p:spPr>
      </p:sp>
      <p:sp>
        <p:nvSpPr>
          <p:cNvPr id="17" name="Text 15"/>
          <p:cNvSpPr/>
          <p:nvPr/>
        </p:nvSpPr>
        <p:spPr>
          <a:xfrm>
            <a:off x="2880360" y="2232355"/>
            <a:ext cx="457200" cy="457200"/>
          </a:xfrm>
          <a:prstGeom prst="rect">
            <a:avLst/>
          </a:prstGeom>
          <a:noFill/>
          <a:ln/>
        </p:spPr>
        <p:txBody>
          <a:bodyPr wrap="square" lIns="0" tIns="0" rIns="0" bIns="0" rtlCol="0" anchor="ctr"/>
          <a:lstStyle/>
          <a:p>
            <a:pPr algn="ctr" indent="0" marL="0">
              <a:buNone/>
            </a:pPr>
            <a:r>
              <a:rPr lang="en-US" sz="1600" b="1" dirty="0">
                <a:solidFill>
                  <a:srgbClr val="8A6D14"/>
                </a:solidFill>
                <a:latin typeface="Georgia" pitchFamily="34" charset="0"/>
                <a:ea typeface="Georgia" pitchFamily="34" charset="-122"/>
                <a:cs typeface="Georgia" pitchFamily="34" charset="-120"/>
              </a:rPr>
              <a:t>01</a:t>
            </a:r>
            <a:endParaRPr lang="en-US" sz="1600" dirty="0"/>
          </a:p>
        </p:txBody>
      </p:sp>
      <p:sp>
        <p:nvSpPr>
          <p:cNvPr id="18" name="Text 16"/>
          <p:cNvSpPr/>
          <p:nvPr/>
        </p:nvSpPr>
        <p:spPr>
          <a:xfrm>
            <a:off x="2240280" y="1811731"/>
            <a:ext cx="1737360" cy="347472"/>
          </a:xfrm>
          <a:prstGeom prst="rect">
            <a:avLst/>
          </a:prstGeom>
          <a:noFill/>
          <a:ln/>
        </p:spPr>
        <p:txBody>
          <a:bodyPr wrap="square" lIns="0" tIns="0" rIns="0" bIns="0" rtlCol="0" anchor="ctr"/>
          <a:lstStyle/>
          <a:p>
            <a:pPr algn="ctr" indent="0" marL="0">
              <a:buNone/>
            </a:pPr>
            <a:r>
              <a:rPr lang="en-US" sz="1600" b="1" spc="120" kern="0" dirty="0">
                <a:solidFill>
                  <a:srgbClr val="8A6D14"/>
                </a:solidFill>
                <a:latin typeface="Arial" pitchFamily="34" charset="0"/>
                <a:ea typeface="Arial" pitchFamily="34" charset="-122"/>
                <a:cs typeface="Arial" pitchFamily="34" charset="-120"/>
              </a:rPr>
              <a:t>CONNECT</a:t>
            </a:r>
            <a:endParaRPr lang="en-US" sz="1600" dirty="0"/>
          </a:p>
        </p:txBody>
      </p:sp>
      <p:sp>
        <p:nvSpPr>
          <p:cNvPr id="19" name="Shape 17"/>
          <p:cNvSpPr/>
          <p:nvPr/>
        </p:nvSpPr>
        <p:spPr>
          <a:xfrm>
            <a:off x="3839870" y="3191866"/>
            <a:ext cx="457200" cy="457200"/>
          </a:xfrm>
          <a:prstGeom prst="ellipse">
            <a:avLst/>
          </a:prstGeom>
          <a:solidFill>
            <a:srgbClr val="F7F3EA"/>
          </a:solidFill>
          <a:ln w="12700">
            <a:solidFill>
              <a:srgbClr val="C9A227"/>
            </a:solidFill>
            <a:prstDash val="solid"/>
          </a:ln>
        </p:spPr>
      </p:sp>
      <p:sp>
        <p:nvSpPr>
          <p:cNvPr id="20" name="Text 18"/>
          <p:cNvSpPr/>
          <p:nvPr/>
        </p:nvSpPr>
        <p:spPr>
          <a:xfrm>
            <a:off x="3839870" y="3191866"/>
            <a:ext cx="457200" cy="457200"/>
          </a:xfrm>
          <a:prstGeom prst="rect">
            <a:avLst/>
          </a:prstGeom>
          <a:noFill/>
          <a:ln/>
        </p:spPr>
        <p:txBody>
          <a:bodyPr wrap="square" lIns="0" tIns="0" rIns="0" bIns="0" rtlCol="0" anchor="ctr"/>
          <a:lstStyle/>
          <a:p>
            <a:pPr algn="ctr" indent="0" marL="0">
              <a:buNone/>
            </a:pPr>
            <a:r>
              <a:rPr lang="en-US" sz="1600" b="1" dirty="0">
                <a:solidFill>
                  <a:srgbClr val="8A6D14"/>
                </a:solidFill>
                <a:latin typeface="Georgia" pitchFamily="34" charset="0"/>
                <a:ea typeface="Georgia" pitchFamily="34" charset="-122"/>
                <a:cs typeface="Georgia" pitchFamily="34" charset="-120"/>
              </a:rPr>
              <a:t>02</a:t>
            </a:r>
            <a:endParaRPr lang="en-US" sz="1600" dirty="0"/>
          </a:p>
        </p:txBody>
      </p:sp>
      <p:sp>
        <p:nvSpPr>
          <p:cNvPr id="21" name="Text 19"/>
          <p:cNvSpPr/>
          <p:nvPr/>
        </p:nvSpPr>
        <p:spPr>
          <a:xfrm>
            <a:off x="4425086" y="3246730"/>
            <a:ext cx="917448" cy="347472"/>
          </a:xfrm>
          <a:prstGeom prst="rect">
            <a:avLst/>
          </a:prstGeom>
          <a:noFill/>
          <a:ln/>
        </p:spPr>
        <p:txBody>
          <a:bodyPr wrap="square" lIns="0" tIns="0" rIns="0" bIns="0" rtlCol="0" anchor="ctr"/>
          <a:lstStyle/>
          <a:p>
            <a:pPr algn="l" indent="0" marL="0">
              <a:buNone/>
            </a:pPr>
            <a:r>
              <a:rPr lang="en-US" sz="1600" b="1" spc="120" kern="0" dirty="0">
                <a:solidFill>
                  <a:srgbClr val="8A6D14"/>
                </a:solidFill>
                <a:latin typeface="Arial" pitchFamily="34" charset="0"/>
                <a:ea typeface="Arial" pitchFamily="34" charset="-122"/>
                <a:cs typeface="Arial" pitchFamily="34" charset="-120"/>
              </a:rPr>
              <a:t>TEACH</a:t>
            </a:r>
            <a:endParaRPr lang="en-US" sz="1600" dirty="0"/>
          </a:p>
        </p:txBody>
      </p:sp>
      <p:sp>
        <p:nvSpPr>
          <p:cNvPr id="22" name="Shape 20"/>
          <p:cNvSpPr/>
          <p:nvPr/>
        </p:nvSpPr>
        <p:spPr>
          <a:xfrm>
            <a:off x="2880360" y="4151376"/>
            <a:ext cx="457200" cy="457200"/>
          </a:xfrm>
          <a:prstGeom prst="ellipse">
            <a:avLst/>
          </a:prstGeom>
          <a:solidFill>
            <a:srgbClr val="F7F3EA"/>
          </a:solidFill>
          <a:ln w="12700">
            <a:solidFill>
              <a:srgbClr val="C9A227"/>
            </a:solidFill>
            <a:prstDash val="solid"/>
          </a:ln>
        </p:spPr>
      </p:sp>
      <p:sp>
        <p:nvSpPr>
          <p:cNvPr id="23" name="Text 21"/>
          <p:cNvSpPr/>
          <p:nvPr/>
        </p:nvSpPr>
        <p:spPr>
          <a:xfrm>
            <a:off x="2880360" y="4151376"/>
            <a:ext cx="457200" cy="457200"/>
          </a:xfrm>
          <a:prstGeom prst="rect">
            <a:avLst/>
          </a:prstGeom>
          <a:noFill/>
          <a:ln/>
        </p:spPr>
        <p:txBody>
          <a:bodyPr wrap="square" lIns="0" tIns="0" rIns="0" bIns="0" rtlCol="0" anchor="ctr"/>
          <a:lstStyle/>
          <a:p>
            <a:pPr algn="ctr" indent="0" marL="0">
              <a:buNone/>
            </a:pPr>
            <a:r>
              <a:rPr lang="en-US" sz="1600" b="1" dirty="0">
                <a:solidFill>
                  <a:srgbClr val="8A6D14"/>
                </a:solidFill>
                <a:latin typeface="Georgia" pitchFamily="34" charset="0"/>
                <a:ea typeface="Georgia" pitchFamily="34" charset="-122"/>
                <a:cs typeface="Georgia" pitchFamily="34" charset="-120"/>
              </a:rPr>
              <a:t>03</a:t>
            </a:r>
            <a:endParaRPr lang="en-US" sz="1600" dirty="0"/>
          </a:p>
        </p:txBody>
      </p:sp>
      <p:sp>
        <p:nvSpPr>
          <p:cNvPr id="24" name="Text 22"/>
          <p:cNvSpPr/>
          <p:nvPr/>
        </p:nvSpPr>
        <p:spPr>
          <a:xfrm>
            <a:off x="2240280" y="4681728"/>
            <a:ext cx="1737360" cy="347472"/>
          </a:xfrm>
          <a:prstGeom prst="rect">
            <a:avLst/>
          </a:prstGeom>
          <a:noFill/>
          <a:ln/>
        </p:spPr>
        <p:txBody>
          <a:bodyPr wrap="square" lIns="0" tIns="0" rIns="0" bIns="0" rtlCol="0" anchor="ctr"/>
          <a:lstStyle/>
          <a:p>
            <a:pPr algn="ctr" indent="0" marL="0">
              <a:buNone/>
            </a:pPr>
            <a:r>
              <a:rPr lang="en-US" sz="1600" b="1" spc="120" kern="0" dirty="0">
                <a:solidFill>
                  <a:srgbClr val="8A6D14"/>
                </a:solidFill>
                <a:latin typeface="Arial" pitchFamily="34" charset="0"/>
                <a:ea typeface="Arial" pitchFamily="34" charset="-122"/>
                <a:cs typeface="Arial" pitchFamily="34" charset="-120"/>
              </a:rPr>
              <a:t>RUN</a:t>
            </a:r>
            <a:endParaRPr lang="en-US" sz="1600" dirty="0"/>
          </a:p>
        </p:txBody>
      </p:sp>
      <p:sp>
        <p:nvSpPr>
          <p:cNvPr id="25" name="Shape 23"/>
          <p:cNvSpPr/>
          <p:nvPr/>
        </p:nvSpPr>
        <p:spPr>
          <a:xfrm>
            <a:off x="1920850" y="3191866"/>
            <a:ext cx="457200" cy="457200"/>
          </a:xfrm>
          <a:prstGeom prst="ellipse">
            <a:avLst/>
          </a:prstGeom>
          <a:solidFill>
            <a:srgbClr val="F7F3EA"/>
          </a:solidFill>
          <a:ln w="12700">
            <a:solidFill>
              <a:srgbClr val="C9A227"/>
            </a:solidFill>
            <a:prstDash val="solid"/>
          </a:ln>
        </p:spPr>
      </p:sp>
      <p:sp>
        <p:nvSpPr>
          <p:cNvPr id="26" name="Text 24"/>
          <p:cNvSpPr/>
          <p:nvPr/>
        </p:nvSpPr>
        <p:spPr>
          <a:xfrm>
            <a:off x="1920850" y="3191866"/>
            <a:ext cx="457200" cy="457200"/>
          </a:xfrm>
          <a:prstGeom prst="rect">
            <a:avLst/>
          </a:prstGeom>
          <a:noFill/>
          <a:ln/>
        </p:spPr>
        <p:txBody>
          <a:bodyPr wrap="square" lIns="0" tIns="0" rIns="0" bIns="0" rtlCol="0" anchor="ctr"/>
          <a:lstStyle/>
          <a:p>
            <a:pPr algn="ctr" indent="0" marL="0">
              <a:buNone/>
            </a:pPr>
            <a:r>
              <a:rPr lang="en-US" sz="1600" b="1" dirty="0">
                <a:solidFill>
                  <a:srgbClr val="8A6D14"/>
                </a:solidFill>
                <a:latin typeface="Georgia" pitchFamily="34" charset="0"/>
                <a:ea typeface="Georgia" pitchFamily="34" charset="-122"/>
                <a:cs typeface="Georgia" pitchFamily="34" charset="-120"/>
              </a:rPr>
              <a:t>04</a:t>
            </a:r>
            <a:endParaRPr lang="en-US" sz="1600" dirty="0"/>
          </a:p>
        </p:txBody>
      </p:sp>
      <p:sp>
        <p:nvSpPr>
          <p:cNvPr id="27" name="Text 25"/>
          <p:cNvSpPr/>
          <p:nvPr/>
        </p:nvSpPr>
        <p:spPr>
          <a:xfrm>
            <a:off x="552298" y="3246730"/>
            <a:ext cx="1240536" cy="347472"/>
          </a:xfrm>
          <a:prstGeom prst="rect">
            <a:avLst/>
          </a:prstGeom>
          <a:noFill/>
          <a:ln/>
        </p:spPr>
        <p:txBody>
          <a:bodyPr wrap="square" lIns="0" tIns="0" rIns="0" bIns="0" rtlCol="0" anchor="ctr"/>
          <a:lstStyle/>
          <a:p>
            <a:pPr algn="r" indent="0" marL="0">
              <a:buNone/>
            </a:pPr>
            <a:r>
              <a:rPr lang="en-US" sz="1600" b="1" spc="120" kern="0" dirty="0">
                <a:solidFill>
                  <a:srgbClr val="8A6D14"/>
                </a:solidFill>
                <a:latin typeface="Arial" pitchFamily="34" charset="0"/>
                <a:ea typeface="Arial" pitchFamily="34" charset="-122"/>
                <a:cs typeface="Arial" pitchFamily="34" charset="-120"/>
              </a:rPr>
              <a:t>RETRAIN</a:t>
            </a:r>
            <a:endParaRPr lang="en-US" sz="1600" dirty="0"/>
          </a:p>
        </p:txBody>
      </p:sp>
      <p:sp>
        <p:nvSpPr>
          <p:cNvPr id="28" name="Shape 26"/>
          <p:cNvSpPr/>
          <p:nvPr/>
        </p:nvSpPr>
        <p:spPr>
          <a:xfrm>
            <a:off x="5577840" y="1775155"/>
            <a:ext cx="5806440" cy="3401568"/>
          </a:xfrm>
          <a:prstGeom prst="rect">
            <a:avLst/>
          </a:prstGeom>
          <a:solidFill>
            <a:srgbClr val="E8E2D2"/>
          </a:solidFill>
          <a:ln/>
        </p:spPr>
      </p:sp>
      <p:sp>
        <p:nvSpPr>
          <p:cNvPr id="29" name="Shape 27"/>
          <p:cNvSpPr/>
          <p:nvPr/>
        </p:nvSpPr>
        <p:spPr>
          <a:xfrm rot="2700000">
            <a:off x="5852160" y="2127199"/>
            <a:ext cx="100584" cy="100584"/>
          </a:xfrm>
          <a:prstGeom prst="rect">
            <a:avLst/>
          </a:prstGeom>
          <a:solidFill>
            <a:srgbClr val="C9A227"/>
          </a:solidFill>
          <a:ln w="3175">
            <a:solidFill>
              <a:srgbClr val="C9A227"/>
            </a:solidFill>
            <a:prstDash val="solid"/>
          </a:ln>
        </p:spPr>
      </p:sp>
      <p:sp>
        <p:nvSpPr>
          <p:cNvPr id="30" name="Text 28"/>
          <p:cNvSpPr/>
          <p:nvPr/>
        </p:nvSpPr>
        <p:spPr>
          <a:xfrm>
            <a:off x="6163056" y="2049475"/>
            <a:ext cx="4946904" cy="603504"/>
          </a:xfrm>
          <a:prstGeom prst="rect">
            <a:avLst/>
          </a:prstGeom>
          <a:noFill/>
          <a:ln/>
        </p:spPr>
        <p:txBody>
          <a:bodyPr wrap="square" lIns="0" tIns="0" rIns="0" bIns="0" rtlCol="0" anchor="t"/>
          <a:lstStyle/>
          <a:p>
            <a:pPr indent="0" marL="0">
              <a:lnSpc>
                <a:spcPct val="116000"/>
              </a:lnSpc>
              <a:buNone/>
            </a:pPr>
            <a:r>
              <a:rPr lang="en-US" sz="1600" b="1" dirty="0">
                <a:solidFill>
                  <a:srgbClr val="8A6D14"/>
                </a:solidFill>
                <a:latin typeface="Arial" pitchFamily="34" charset="0"/>
                <a:ea typeface="Arial" pitchFamily="34" charset="-122"/>
                <a:cs typeface="Arial" pitchFamily="34" charset="-120"/>
              </a:rPr>
              <a:t>CONNECT: </a:t>
            </a:r>
            <a:pPr indent="0" marL="0">
              <a:lnSpc>
                <a:spcPct val="116000"/>
              </a:lnSpc>
              <a:buNone/>
            </a:pPr>
            <a:r>
              <a:rPr lang="en-US" sz="1600" dirty="0">
                <a:solidFill>
                  <a:srgbClr val="14213D"/>
                </a:solidFill>
                <a:latin typeface="Arial" pitchFamily="34" charset="0"/>
                <a:ea typeface="Arial" pitchFamily="34" charset="-122"/>
                <a:cs typeface="Arial" pitchFamily="34" charset="-120"/>
              </a:rPr>
              <a:t>What arrives every day that you read by hand?</a:t>
            </a:r>
            <a:endParaRPr lang="en-US" sz="1600" dirty="0"/>
          </a:p>
        </p:txBody>
      </p:sp>
      <p:sp>
        <p:nvSpPr>
          <p:cNvPr id="31" name="Shape 29"/>
          <p:cNvSpPr/>
          <p:nvPr/>
        </p:nvSpPr>
        <p:spPr>
          <a:xfrm rot="2700000">
            <a:off x="5852160" y="2877007"/>
            <a:ext cx="100584" cy="100584"/>
          </a:xfrm>
          <a:prstGeom prst="rect">
            <a:avLst/>
          </a:prstGeom>
          <a:solidFill>
            <a:srgbClr val="C9A227"/>
          </a:solidFill>
          <a:ln w="3175">
            <a:solidFill>
              <a:srgbClr val="C9A227"/>
            </a:solidFill>
            <a:prstDash val="solid"/>
          </a:ln>
        </p:spPr>
      </p:sp>
      <p:sp>
        <p:nvSpPr>
          <p:cNvPr id="32" name="Text 30"/>
          <p:cNvSpPr/>
          <p:nvPr/>
        </p:nvSpPr>
        <p:spPr>
          <a:xfrm>
            <a:off x="6163056" y="2799283"/>
            <a:ext cx="4946904" cy="603504"/>
          </a:xfrm>
          <a:prstGeom prst="rect">
            <a:avLst/>
          </a:prstGeom>
          <a:noFill/>
          <a:ln/>
        </p:spPr>
        <p:txBody>
          <a:bodyPr wrap="square" lIns="0" tIns="0" rIns="0" bIns="0" rtlCol="0" anchor="t"/>
          <a:lstStyle/>
          <a:p>
            <a:pPr indent="0" marL="0">
              <a:lnSpc>
                <a:spcPct val="116000"/>
              </a:lnSpc>
              <a:buNone/>
            </a:pPr>
            <a:r>
              <a:rPr lang="en-US" sz="1600" b="1" dirty="0">
                <a:solidFill>
                  <a:srgbClr val="8A6D14"/>
                </a:solidFill>
                <a:latin typeface="Arial" pitchFamily="34" charset="0"/>
                <a:ea typeface="Arial" pitchFamily="34" charset="-122"/>
                <a:cs typeface="Arial" pitchFamily="34" charset="-120"/>
              </a:rPr>
              <a:t>TEACH: </a:t>
            </a:r>
            <a:pPr indent="0" marL="0">
              <a:lnSpc>
                <a:spcPct val="116000"/>
              </a:lnSpc>
              <a:buNone/>
            </a:pPr>
            <a:r>
              <a:rPr lang="en-US" sz="1600" dirty="0">
                <a:solidFill>
                  <a:srgbClr val="14213D"/>
                </a:solidFill>
                <a:latin typeface="Arial" pitchFamily="34" charset="0"/>
                <a:ea typeface="Arial" pitchFamily="34" charset="-122"/>
                <a:cs typeface="Arial" pitchFamily="34" charset="-120"/>
              </a:rPr>
              <a:t>What do you re-explain to somebody every single week?</a:t>
            </a:r>
            <a:endParaRPr lang="en-US" sz="1600" dirty="0"/>
          </a:p>
        </p:txBody>
      </p:sp>
      <p:sp>
        <p:nvSpPr>
          <p:cNvPr id="33" name="Shape 31"/>
          <p:cNvSpPr/>
          <p:nvPr/>
        </p:nvSpPr>
        <p:spPr>
          <a:xfrm rot="2700000">
            <a:off x="5852160" y="3626815"/>
            <a:ext cx="100584" cy="100584"/>
          </a:xfrm>
          <a:prstGeom prst="rect">
            <a:avLst/>
          </a:prstGeom>
          <a:solidFill>
            <a:srgbClr val="C9A227"/>
          </a:solidFill>
          <a:ln w="3175">
            <a:solidFill>
              <a:srgbClr val="C9A227"/>
            </a:solidFill>
            <a:prstDash val="solid"/>
          </a:ln>
        </p:spPr>
      </p:sp>
      <p:sp>
        <p:nvSpPr>
          <p:cNvPr id="34" name="Text 32"/>
          <p:cNvSpPr/>
          <p:nvPr/>
        </p:nvSpPr>
        <p:spPr>
          <a:xfrm>
            <a:off x="6163056" y="3549091"/>
            <a:ext cx="4946904" cy="603504"/>
          </a:xfrm>
          <a:prstGeom prst="rect">
            <a:avLst/>
          </a:prstGeom>
          <a:noFill/>
          <a:ln/>
        </p:spPr>
        <p:txBody>
          <a:bodyPr wrap="square" lIns="0" tIns="0" rIns="0" bIns="0" rtlCol="0" anchor="t"/>
          <a:lstStyle/>
          <a:p>
            <a:pPr indent="0" marL="0">
              <a:lnSpc>
                <a:spcPct val="116000"/>
              </a:lnSpc>
              <a:buNone/>
            </a:pPr>
            <a:r>
              <a:rPr lang="en-US" sz="1600" b="1" dirty="0">
                <a:solidFill>
                  <a:srgbClr val="8A6D14"/>
                </a:solidFill>
                <a:latin typeface="Arial" pitchFamily="34" charset="0"/>
                <a:ea typeface="Arial" pitchFamily="34" charset="-122"/>
                <a:cs typeface="Arial" pitchFamily="34" charset="-120"/>
              </a:rPr>
              <a:t>RUN: </a:t>
            </a:r>
            <a:pPr indent="0" marL="0">
              <a:lnSpc>
                <a:spcPct val="116000"/>
              </a:lnSpc>
              <a:buNone/>
            </a:pPr>
            <a:r>
              <a:rPr lang="en-US" sz="1600" dirty="0">
                <a:solidFill>
                  <a:srgbClr val="14213D"/>
                </a:solidFill>
                <a:latin typeface="Arial" pitchFamily="34" charset="0"/>
                <a:ea typeface="Arial" pitchFamily="34" charset="-122"/>
                <a:cs typeface="Arial" pitchFamily="34" charset="-120"/>
              </a:rPr>
              <a:t>What would you want running at 4:30 tomorrow without you?</a:t>
            </a:r>
            <a:endParaRPr lang="en-US" sz="1600" dirty="0"/>
          </a:p>
        </p:txBody>
      </p:sp>
      <p:sp>
        <p:nvSpPr>
          <p:cNvPr id="35" name="Shape 33"/>
          <p:cNvSpPr/>
          <p:nvPr/>
        </p:nvSpPr>
        <p:spPr>
          <a:xfrm rot="2700000">
            <a:off x="5852160" y="4376623"/>
            <a:ext cx="100584" cy="100584"/>
          </a:xfrm>
          <a:prstGeom prst="rect">
            <a:avLst/>
          </a:prstGeom>
          <a:solidFill>
            <a:srgbClr val="C9A227"/>
          </a:solidFill>
          <a:ln w="3175">
            <a:solidFill>
              <a:srgbClr val="C9A227"/>
            </a:solidFill>
            <a:prstDash val="solid"/>
          </a:ln>
        </p:spPr>
      </p:sp>
      <p:sp>
        <p:nvSpPr>
          <p:cNvPr id="36" name="Text 34"/>
          <p:cNvSpPr/>
          <p:nvPr/>
        </p:nvSpPr>
        <p:spPr>
          <a:xfrm>
            <a:off x="6163056" y="4298899"/>
            <a:ext cx="4946904" cy="603504"/>
          </a:xfrm>
          <a:prstGeom prst="rect">
            <a:avLst/>
          </a:prstGeom>
          <a:noFill/>
          <a:ln/>
        </p:spPr>
        <p:txBody>
          <a:bodyPr wrap="square" lIns="0" tIns="0" rIns="0" bIns="0" rtlCol="0" anchor="t"/>
          <a:lstStyle/>
          <a:p>
            <a:pPr indent="0" marL="0">
              <a:lnSpc>
                <a:spcPct val="116000"/>
              </a:lnSpc>
              <a:buNone/>
            </a:pPr>
            <a:r>
              <a:rPr lang="en-US" sz="1600" b="1" dirty="0">
                <a:solidFill>
                  <a:srgbClr val="8A6D14"/>
                </a:solidFill>
                <a:latin typeface="Arial" pitchFamily="34" charset="0"/>
                <a:ea typeface="Arial" pitchFamily="34" charset="-122"/>
                <a:cs typeface="Arial" pitchFamily="34" charset="-120"/>
              </a:rPr>
              <a:t>RETRAIN: </a:t>
            </a:r>
            <a:pPr indent="0" marL="0">
              <a:lnSpc>
                <a:spcPct val="116000"/>
              </a:lnSpc>
              <a:buNone/>
            </a:pPr>
            <a:r>
              <a:rPr lang="en-US" sz="1600" dirty="0">
                <a:solidFill>
                  <a:srgbClr val="14213D"/>
                </a:solidFill>
                <a:latin typeface="Arial" pitchFamily="34" charset="0"/>
                <a:ea typeface="Arial" pitchFamily="34" charset="-122"/>
                <a:cs typeface="Arial" pitchFamily="34" charset="-120"/>
              </a:rPr>
              <a:t>What did you learn last month that nobody wrote down?</a:t>
            </a:r>
            <a:endParaRPr lang="en-US" sz="1600" dirty="0"/>
          </a:p>
        </p:txBody>
      </p:sp>
      <p:sp>
        <p:nvSpPr>
          <p:cNvPr id="37" name="Text 35"/>
          <p:cNvSpPr/>
          <p:nvPr/>
        </p:nvSpPr>
        <p:spPr>
          <a:xfrm>
            <a:off x="813816" y="5248656"/>
            <a:ext cx="10570464" cy="347472"/>
          </a:xfrm>
          <a:prstGeom prst="rect">
            <a:avLst/>
          </a:prstGeom>
          <a:noFill/>
          <a:ln/>
        </p:spPr>
        <p:txBody>
          <a:bodyPr wrap="square" lIns="0" tIns="0" rIns="0" bIns="0" rtlCol="0" anchor="t"/>
          <a:lstStyle/>
          <a:p>
            <a:pPr algn="l" indent="0" marL="0">
              <a:lnSpc>
                <a:spcPct val="116000"/>
              </a:lnSpc>
              <a:buNone/>
            </a:pPr>
            <a:r>
              <a:rPr lang="en-US" sz="1600" b="1" dirty="0">
                <a:solidFill>
                  <a:srgbClr val="8A6D14"/>
                </a:solidFill>
                <a:latin typeface="Arial" pitchFamily="34" charset="0"/>
                <a:ea typeface="Arial" pitchFamily="34" charset="-122"/>
                <a:cs typeface="Arial" pitchFamily="34" charset="-120"/>
              </a:rPr>
              <a:t>Answer any one of these out loud and you have just specified your next agent.</a:t>
            </a:r>
            <a:endParaRPr lang="en-US" sz="16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7F3EA"/>
        </a:solidFill>
      </p:bgPr>
    </p:bg>
    <p:spTree>
      <p:nvGrpSpPr>
        <p:cNvPr id="1" name=""/>
        <p:cNvGrpSpPr/>
        <p:nvPr/>
      </p:nvGrpSpPr>
      <p:grpSpPr>
        <a:xfrm>
          <a:off x="0" y="0"/>
          <a:ext cx="0" cy="0"/>
          <a:chOff x="0" y="0"/>
          <a:chExt cx="0" cy="0"/>
        </a:xfrm>
      </p:grpSpPr>
      <p:sp>
        <p:nvSpPr>
          <p:cNvPr id="2" name="Shape 0"/>
          <p:cNvSpPr/>
          <p:nvPr/>
        </p:nvSpPr>
        <p:spPr>
          <a:xfrm>
            <a:off x="813816" y="5779008"/>
            <a:ext cx="10570464" cy="0"/>
          </a:xfrm>
          <a:prstGeom prst="line">
            <a:avLst/>
          </a:prstGeom>
          <a:noFill/>
          <a:ln w="9525">
            <a:solidFill>
              <a:srgbClr val="C9A227"/>
            </a:solidFill>
            <a:prstDash val="solid"/>
          </a:ln>
        </p:spPr>
      </p:sp>
      <p:sp>
        <p:nvSpPr>
          <p:cNvPr id="3" name="Text 1"/>
          <p:cNvSpPr/>
          <p:nvPr/>
        </p:nvSpPr>
        <p:spPr>
          <a:xfrm>
            <a:off x="813816" y="5907024"/>
            <a:ext cx="3358896" cy="274320"/>
          </a:xfrm>
          <a:prstGeom prst="rect">
            <a:avLst/>
          </a:prstGeom>
          <a:noFill/>
          <a:ln/>
        </p:spPr>
        <p:txBody>
          <a:bodyPr wrap="square" lIns="0" tIns="0" rIns="0" bIns="0" rtlCol="0" anchor="ctr"/>
          <a:lstStyle/>
          <a:p>
            <a:pPr indent="0" marL="0">
              <a:buNone/>
            </a:pPr>
            <a:r>
              <a:rPr lang="en-US" sz="1600" spc="120" kern="0" dirty="0">
                <a:solidFill>
                  <a:srgbClr val="5A6379"/>
                </a:solidFill>
                <a:latin typeface="Arial" pitchFamily="34" charset="0"/>
                <a:ea typeface="Arial" pitchFamily="34" charset="-122"/>
                <a:cs typeface="Arial" pitchFamily="34" charset="-120"/>
              </a:rPr>
              <a:t>BUILD YOUR OWN DONNA</a:t>
            </a:r>
            <a:endParaRPr lang="en-US" sz="1600" dirty="0"/>
          </a:p>
        </p:txBody>
      </p:sp>
      <p:sp>
        <p:nvSpPr>
          <p:cNvPr id="4" name="Shape 2"/>
          <p:cNvSpPr/>
          <p:nvPr/>
        </p:nvSpPr>
        <p:spPr>
          <a:xfrm rot="2700000">
            <a:off x="4227576" y="6012180"/>
            <a:ext cx="64008" cy="64008"/>
          </a:xfrm>
          <a:prstGeom prst="rect">
            <a:avLst/>
          </a:prstGeom>
          <a:solidFill>
            <a:srgbClr val="C9A227"/>
          </a:solidFill>
          <a:ln w="3175">
            <a:solidFill>
              <a:srgbClr val="C9A227"/>
            </a:solidFill>
            <a:prstDash val="solid"/>
          </a:ln>
        </p:spPr>
      </p:sp>
      <p:sp>
        <p:nvSpPr>
          <p:cNvPr id="5" name="Text 3"/>
          <p:cNvSpPr/>
          <p:nvPr/>
        </p:nvSpPr>
        <p:spPr>
          <a:xfrm>
            <a:off x="4410456" y="5907024"/>
            <a:ext cx="2712720" cy="274320"/>
          </a:xfrm>
          <a:prstGeom prst="rect">
            <a:avLst/>
          </a:prstGeom>
          <a:noFill/>
          <a:ln/>
        </p:spPr>
        <p:txBody>
          <a:bodyPr wrap="square" lIns="0" tIns="0" rIns="0" bIns="0" rtlCol="0" anchor="ctr"/>
          <a:lstStyle/>
          <a:p>
            <a:pPr indent="0" marL="0">
              <a:buNone/>
            </a:pPr>
            <a:r>
              <a:rPr lang="en-US" sz="1600" spc="120" kern="0" dirty="0">
                <a:solidFill>
                  <a:srgbClr val="5A6379"/>
                </a:solidFill>
                <a:latin typeface="Arial" pitchFamily="34" charset="0"/>
                <a:ea typeface="Arial" pitchFamily="34" charset="-122"/>
                <a:cs typeface="Arial" pitchFamily="34" charset="-120"/>
              </a:rPr>
              <a:t>OCTOBER 21, 2026</a:t>
            </a:r>
            <a:endParaRPr lang="en-US" sz="1600" dirty="0"/>
          </a:p>
        </p:txBody>
      </p:sp>
      <p:sp>
        <p:nvSpPr>
          <p:cNvPr id="6" name="Text 4"/>
          <p:cNvSpPr/>
          <p:nvPr/>
        </p:nvSpPr>
        <p:spPr>
          <a:xfrm>
            <a:off x="10652760" y="5907024"/>
            <a:ext cx="731520" cy="274320"/>
          </a:xfrm>
          <a:prstGeom prst="rect">
            <a:avLst/>
          </a:prstGeom>
          <a:noFill/>
          <a:ln/>
        </p:spPr>
        <p:txBody>
          <a:bodyPr wrap="square" lIns="0" tIns="0" rIns="0" bIns="0" rtlCol="0" anchor="ctr"/>
          <a:lstStyle/>
          <a:p>
            <a:pPr algn="r" indent="0" marL="0">
              <a:buNone/>
            </a:pPr>
            <a:r>
              <a:rPr lang="en-US" sz="1600" spc="120" kern="0" dirty="0">
                <a:solidFill>
                  <a:srgbClr val="5A6379"/>
                </a:solidFill>
                <a:latin typeface="Arial" pitchFamily="34" charset="0"/>
                <a:ea typeface="Arial" pitchFamily="34" charset="-122"/>
                <a:cs typeface="Arial" pitchFamily="34" charset="-120"/>
              </a:rPr>
              <a:t>32</a:t>
            </a:r>
            <a:endParaRPr lang="en-US" sz="1600" dirty="0"/>
          </a:p>
        </p:txBody>
      </p:sp>
      <p:sp>
        <p:nvSpPr>
          <p:cNvPr id="7" name="Text 5"/>
          <p:cNvSpPr/>
          <p:nvPr/>
        </p:nvSpPr>
        <p:spPr>
          <a:xfrm>
            <a:off x="813816" y="457200"/>
            <a:ext cx="10570464" cy="310896"/>
          </a:xfrm>
          <a:prstGeom prst="rect">
            <a:avLst/>
          </a:prstGeom>
          <a:noFill/>
          <a:ln/>
        </p:spPr>
        <p:txBody>
          <a:bodyPr wrap="square" lIns="0" tIns="0" rIns="0" bIns="0" rtlCol="0" anchor="ctr"/>
          <a:lstStyle/>
          <a:p>
            <a:pPr indent="0" marL="0">
              <a:buNone/>
            </a:pPr>
            <a:r>
              <a:rPr lang="en-US" sz="1600" b="1" spc="180" kern="0" dirty="0">
                <a:solidFill>
                  <a:srgbClr val="8A6D14"/>
                </a:solidFill>
                <a:latin typeface="Arial" pitchFamily="34" charset="0"/>
                <a:ea typeface="Arial" pitchFamily="34" charset="-122"/>
                <a:cs typeface="Arial" pitchFamily="34" charset="-120"/>
              </a:rPr>
              <a:t>WHAT HAPPENS NEXT</a:t>
            </a:r>
            <a:endParaRPr lang="en-US" sz="1600" dirty="0"/>
          </a:p>
        </p:txBody>
      </p:sp>
      <p:sp>
        <p:nvSpPr>
          <p:cNvPr id="8" name="Text 6"/>
          <p:cNvSpPr/>
          <p:nvPr/>
        </p:nvSpPr>
        <p:spPr>
          <a:xfrm>
            <a:off x="813816" y="841248"/>
            <a:ext cx="10570464" cy="751027"/>
          </a:xfrm>
          <a:prstGeom prst="rect">
            <a:avLst/>
          </a:prstGeom>
          <a:noFill/>
          <a:ln/>
        </p:spPr>
        <p:txBody>
          <a:bodyPr wrap="square" lIns="0" tIns="0" rIns="0" bIns="0" rtlCol="0" anchor="t"/>
          <a:lstStyle/>
          <a:p>
            <a:pPr indent="0" marL="0">
              <a:lnSpc>
                <a:spcPct val="94000"/>
              </a:lnSpc>
              <a:buNone/>
            </a:pPr>
            <a:r>
              <a:rPr lang="en-US" sz="4000" b="1" dirty="0">
                <a:solidFill>
                  <a:srgbClr val="14213D"/>
                </a:solidFill>
                <a:latin typeface="Georgia" pitchFamily="34" charset="0"/>
                <a:ea typeface="Georgia" pitchFamily="34" charset="-122"/>
                <a:cs typeface="Georgia" pitchFamily="34" charset="-120"/>
              </a:rPr>
              <a:t>Your first Friday.</a:t>
            </a:r>
            <a:endParaRPr lang="en-US" sz="4000" dirty="0"/>
          </a:p>
        </p:txBody>
      </p:sp>
      <p:sp>
        <p:nvSpPr>
          <p:cNvPr id="9" name="Shape 7"/>
          <p:cNvSpPr/>
          <p:nvPr/>
        </p:nvSpPr>
        <p:spPr>
          <a:xfrm>
            <a:off x="813816" y="2926080"/>
            <a:ext cx="10570464" cy="0"/>
          </a:xfrm>
          <a:prstGeom prst="line">
            <a:avLst/>
          </a:prstGeom>
          <a:noFill/>
          <a:ln w="9525">
            <a:solidFill>
              <a:srgbClr val="C9A227">
                <a:alpha val="45000"/>
              </a:srgbClr>
            </a:solidFill>
            <a:prstDash val="solid"/>
          </a:ln>
        </p:spPr>
      </p:sp>
      <p:sp>
        <p:nvSpPr>
          <p:cNvPr id="10" name="Shape 8"/>
          <p:cNvSpPr/>
          <p:nvPr/>
        </p:nvSpPr>
        <p:spPr>
          <a:xfrm>
            <a:off x="2057400" y="2848356"/>
            <a:ext cx="155448" cy="155448"/>
          </a:xfrm>
          <a:prstGeom prst="ellipse">
            <a:avLst/>
          </a:prstGeom>
          <a:solidFill>
            <a:srgbClr val="14213D"/>
          </a:solidFill>
          <a:ln/>
        </p:spPr>
      </p:sp>
      <p:sp>
        <p:nvSpPr>
          <p:cNvPr id="11" name="Text 9"/>
          <p:cNvSpPr/>
          <p:nvPr/>
        </p:nvSpPr>
        <p:spPr>
          <a:xfrm>
            <a:off x="900684" y="2011680"/>
            <a:ext cx="2468880" cy="292608"/>
          </a:xfrm>
          <a:prstGeom prst="rect">
            <a:avLst/>
          </a:prstGeom>
          <a:noFill/>
          <a:ln/>
        </p:spPr>
        <p:txBody>
          <a:bodyPr wrap="square" lIns="0" tIns="0" rIns="0" bIns="0" rtlCol="0" anchor="ctr"/>
          <a:lstStyle/>
          <a:p>
            <a:pPr algn="ctr" indent="0" marL="0">
              <a:buNone/>
            </a:pPr>
            <a:r>
              <a:rPr lang="en-US" sz="1800" b="1" dirty="0">
                <a:solidFill>
                  <a:srgbClr val="14213D"/>
                </a:solidFill>
                <a:latin typeface="Arial" pitchFamily="34" charset="0"/>
                <a:ea typeface="Arial" pitchFamily="34" charset="-122"/>
                <a:cs typeface="Arial" pitchFamily="34" charset="-120"/>
              </a:rPr>
              <a:t>Thu 4:30</a:t>
            </a:r>
            <a:endParaRPr lang="en-US" sz="1800" dirty="0"/>
          </a:p>
        </p:txBody>
      </p:sp>
      <p:sp>
        <p:nvSpPr>
          <p:cNvPr id="12" name="Text 10"/>
          <p:cNvSpPr/>
          <p:nvPr/>
        </p:nvSpPr>
        <p:spPr>
          <a:xfrm>
            <a:off x="900684" y="2340864"/>
            <a:ext cx="2468880" cy="347472"/>
          </a:xfrm>
          <a:prstGeom prst="rect">
            <a:avLst/>
          </a:prstGeom>
          <a:noFill/>
          <a:ln/>
        </p:spPr>
        <p:txBody>
          <a:bodyPr wrap="square" lIns="0" tIns="0" rIns="0" bIns="0" rtlCol="0" anchor="t"/>
          <a:lstStyle/>
          <a:p>
            <a:pPr algn="ctr" indent="0" marL="0">
              <a:lnSpc>
                <a:spcPct val="110000"/>
              </a:lnSpc>
              <a:buNone/>
            </a:pPr>
            <a:r>
              <a:rPr lang="en-US" sz="1600" dirty="0">
                <a:solidFill>
                  <a:srgbClr val="5A6379"/>
                </a:solidFill>
                <a:latin typeface="Arial" pitchFamily="34" charset="0"/>
                <a:ea typeface="Arial" pitchFamily="34" charset="-122"/>
                <a:cs typeface="Arial" pitchFamily="34" charset="-120"/>
              </a:rPr>
              <a:t>her first real shift</a:t>
            </a:r>
            <a:endParaRPr lang="en-US" sz="1600" dirty="0"/>
          </a:p>
        </p:txBody>
      </p:sp>
      <p:sp>
        <p:nvSpPr>
          <p:cNvPr id="13" name="Shape 11"/>
          <p:cNvSpPr/>
          <p:nvPr/>
        </p:nvSpPr>
        <p:spPr>
          <a:xfrm>
            <a:off x="4700016" y="2848356"/>
            <a:ext cx="155448" cy="155448"/>
          </a:xfrm>
          <a:prstGeom prst="ellipse">
            <a:avLst/>
          </a:prstGeom>
          <a:solidFill>
            <a:srgbClr val="14213D"/>
          </a:solidFill>
          <a:ln/>
        </p:spPr>
      </p:sp>
      <p:sp>
        <p:nvSpPr>
          <p:cNvPr id="14" name="Text 12"/>
          <p:cNvSpPr/>
          <p:nvPr/>
        </p:nvSpPr>
        <p:spPr>
          <a:xfrm>
            <a:off x="3543300" y="3163824"/>
            <a:ext cx="2468880" cy="292608"/>
          </a:xfrm>
          <a:prstGeom prst="rect">
            <a:avLst/>
          </a:prstGeom>
          <a:noFill/>
          <a:ln/>
        </p:spPr>
        <p:txBody>
          <a:bodyPr wrap="square" lIns="0" tIns="0" rIns="0" bIns="0" rtlCol="0" anchor="ctr"/>
          <a:lstStyle/>
          <a:p>
            <a:pPr algn="ctr" indent="0" marL="0">
              <a:buNone/>
            </a:pPr>
            <a:r>
              <a:rPr lang="en-US" sz="1800" b="1" dirty="0">
                <a:solidFill>
                  <a:srgbClr val="14213D"/>
                </a:solidFill>
                <a:latin typeface="Arial" pitchFamily="34" charset="0"/>
                <a:ea typeface="Arial" pitchFamily="34" charset="-122"/>
                <a:cs typeface="Arial" pitchFamily="34" charset="-120"/>
              </a:rPr>
              <a:t>Fri 3:00</a:t>
            </a:r>
            <a:endParaRPr lang="en-US" sz="1800" dirty="0"/>
          </a:p>
        </p:txBody>
      </p:sp>
      <p:sp>
        <p:nvSpPr>
          <p:cNvPr id="15" name="Text 13"/>
          <p:cNvSpPr/>
          <p:nvPr/>
        </p:nvSpPr>
        <p:spPr>
          <a:xfrm>
            <a:off x="3543300" y="3493008"/>
            <a:ext cx="2468880" cy="347472"/>
          </a:xfrm>
          <a:prstGeom prst="rect">
            <a:avLst/>
          </a:prstGeom>
          <a:noFill/>
          <a:ln/>
        </p:spPr>
        <p:txBody>
          <a:bodyPr wrap="square" lIns="0" tIns="0" rIns="0" bIns="0" rtlCol="0" anchor="t"/>
          <a:lstStyle/>
          <a:p>
            <a:pPr algn="ctr" indent="0" marL="0">
              <a:lnSpc>
                <a:spcPct val="110000"/>
              </a:lnSpc>
              <a:buNone/>
            </a:pPr>
            <a:r>
              <a:rPr lang="en-US" sz="1600" dirty="0">
                <a:solidFill>
                  <a:srgbClr val="5A6379"/>
                </a:solidFill>
                <a:latin typeface="Arial" pitchFamily="34" charset="0"/>
                <a:ea typeface="Arial" pitchFamily="34" charset="-122"/>
                <a:cs typeface="Arial" pitchFamily="34" charset="-120"/>
              </a:rPr>
              <a:t>her first real retrain</a:t>
            </a:r>
            <a:endParaRPr lang="en-US" sz="1600" dirty="0"/>
          </a:p>
        </p:txBody>
      </p:sp>
      <p:sp>
        <p:nvSpPr>
          <p:cNvPr id="16" name="Shape 14"/>
          <p:cNvSpPr/>
          <p:nvPr/>
        </p:nvSpPr>
        <p:spPr>
          <a:xfrm>
            <a:off x="7342632" y="2848356"/>
            <a:ext cx="155448" cy="155448"/>
          </a:xfrm>
          <a:prstGeom prst="ellipse">
            <a:avLst/>
          </a:prstGeom>
          <a:solidFill>
            <a:srgbClr val="C9A227"/>
          </a:solidFill>
          <a:ln/>
        </p:spPr>
      </p:sp>
      <p:sp>
        <p:nvSpPr>
          <p:cNvPr id="17" name="Text 15"/>
          <p:cNvSpPr/>
          <p:nvPr/>
        </p:nvSpPr>
        <p:spPr>
          <a:xfrm>
            <a:off x="6185916" y="1755648"/>
            <a:ext cx="2468880" cy="292608"/>
          </a:xfrm>
          <a:prstGeom prst="rect">
            <a:avLst/>
          </a:prstGeom>
          <a:noFill/>
          <a:ln/>
        </p:spPr>
        <p:txBody>
          <a:bodyPr wrap="square" lIns="0" tIns="0" rIns="0" bIns="0" rtlCol="0" anchor="ctr"/>
          <a:lstStyle/>
          <a:p>
            <a:pPr algn="ctr" indent="0" marL="0">
              <a:buNone/>
            </a:pPr>
            <a:r>
              <a:rPr lang="en-US" sz="1800" b="1" dirty="0">
                <a:solidFill>
                  <a:srgbClr val="8A6D14"/>
                </a:solidFill>
                <a:latin typeface="Arial" pitchFamily="34" charset="0"/>
                <a:ea typeface="Arial" pitchFamily="34" charset="-122"/>
                <a:cs typeface="Arial" pitchFamily="34" charset="-120"/>
              </a:rPr>
              <a:t>Mon 8:00</a:t>
            </a:r>
            <a:endParaRPr lang="en-US" sz="1800" dirty="0"/>
          </a:p>
        </p:txBody>
      </p:sp>
      <p:sp>
        <p:nvSpPr>
          <p:cNvPr id="18" name="Text 16"/>
          <p:cNvSpPr/>
          <p:nvPr/>
        </p:nvSpPr>
        <p:spPr>
          <a:xfrm>
            <a:off x="6185916" y="2084832"/>
            <a:ext cx="2468880" cy="603504"/>
          </a:xfrm>
          <a:prstGeom prst="rect">
            <a:avLst/>
          </a:prstGeom>
          <a:noFill/>
          <a:ln/>
        </p:spPr>
        <p:txBody>
          <a:bodyPr wrap="square" lIns="0" tIns="0" rIns="0" bIns="0" rtlCol="0" anchor="t"/>
          <a:lstStyle/>
          <a:p>
            <a:pPr algn="ctr" indent="0" marL="0">
              <a:lnSpc>
                <a:spcPct val="110000"/>
              </a:lnSpc>
              <a:buNone/>
            </a:pPr>
            <a:r>
              <a:rPr lang="en-US" sz="1600" dirty="0">
                <a:solidFill>
                  <a:srgbClr val="8A6D14"/>
                </a:solidFill>
                <a:latin typeface="Arial" pitchFamily="34" charset="0"/>
                <a:ea typeface="Arial" pitchFamily="34" charset="-122"/>
                <a:cs typeface="Arial" pitchFamily="34" charset="-120"/>
              </a:rPr>
              <a:t>her Week in Review, on your calendar</a:t>
            </a:r>
            <a:endParaRPr lang="en-US" sz="1600" dirty="0"/>
          </a:p>
        </p:txBody>
      </p:sp>
      <p:sp>
        <p:nvSpPr>
          <p:cNvPr id="19" name="Shape 17"/>
          <p:cNvSpPr/>
          <p:nvPr/>
        </p:nvSpPr>
        <p:spPr>
          <a:xfrm>
            <a:off x="9985248" y="2848356"/>
            <a:ext cx="155448" cy="155448"/>
          </a:xfrm>
          <a:prstGeom prst="ellipse">
            <a:avLst/>
          </a:prstGeom>
          <a:solidFill>
            <a:srgbClr val="14213D"/>
          </a:solidFill>
          <a:ln/>
        </p:spPr>
      </p:sp>
      <p:sp>
        <p:nvSpPr>
          <p:cNvPr id="20" name="Text 18"/>
          <p:cNvSpPr/>
          <p:nvPr/>
        </p:nvSpPr>
        <p:spPr>
          <a:xfrm>
            <a:off x="8828532" y="3163824"/>
            <a:ext cx="2468880" cy="292608"/>
          </a:xfrm>
          <a:prstGeom prst="rect">
            <a:avLst/>
          </a:prstGeom>
          <a:noFill/>
          <a:ln/>
        </p:spPr>
        <p:txBody>
          <a:bodyPr wrap="square" lIns="0" tIns="0" rIns="0" bIns="0" rtlCol="0" anchor="ctr"/>
          <a:lstStyle/>
          <a:p>
            <a:pPr algn="ctr" indent="0" marL="0">
              <a:buNone/>
            </a:pPr>
            <a:r>
              <a:rPr lang="en-US" sz="1800" b="1" dirty="0">
                <a:solidFill>
                  <a:srgbClr val="14213D"/>
                </a:solidFill>
                <a:latin typeface="Arial" pitchFamily="34" charset="0"/>
                <a:ea typeface="Arial" pitchFamily="34" charset="-122"/>
                <a:cs typeface="Arial" pitchFamily="34" charset="-120"/>
              </a:rPr>
              <a:t>Mon, you sign it</a:t>
            </a:r>
            <a:endParaRPr lang="en-US" sz="1800" dirty="0"/>
          </a:p>
        </p:txBody>
      </p:sp>
      <p:sp>
        <p:nvSpPr>
          <p:cNvPr id="21" name="Text 19"/>
          <p:cNvSpPr/>
          <p:nvPr/>
        </p:nvSpPr>
        <p:spPr>
          <a:xfrm>
            <a:off x="8828532" y="3493008"/>
            <a:ext cx="2468880" cy="347472"/>
          </a:xfrm>
          <a:prstGeom prst="rect">
            <a:avLst/>
          </a:prstGeom>
          <a:noFill/>
          <a:ln/>
        </p:spPr>
        <p:txBody>
          <a:bodyPr wrap="square" lIns="0" tIns="0" rIns="0" bIns="0" rtlCol="0" anchor="t"/>
          <a:lstStyle/>
          <a:p>
            <a:pPr algn="ctr" indent="0" marL="0">
              <a:lnSpc>
                <a:spcPct val="110000"/>
              </a:lnSpc>
              <a:buNone/>
            </a:pPr>
            <a:r>
              <a:rPr lang="en-US" sz="1600" dirty="0">
                <a:solidFill>
                  <a:srgbClr val="5A6379"/>
                </a:solidFill>
                <a:latin typeface="Arial" pitchFamily="34" charset="0"/>
                <a:ea typeface="Arial" pitchFamily="34" charset="-122"/>
                <a:cs typeface="Arial" pitchFamily="34" charset="-120"/>
              </a:rPr>
              <a:t>one paste, one upload</a:t>
            </a:r>
            <a:endParaRPr lang="en-US" sz="1600" dirty="0"/>
          </a:p>
        </p:txBody>
      </p:sp>
      <p:sp>
        <p:nvSpPr>
          <p:cNvPr id="22" name="Shape 20"/>
          <p:cNvSpPr/>
          <p:nvPr/>
        </p:nvSpPr>
        <p:spPr>
          <a:xfrm>
            <a:off x="813816" y="4023360"/>
            <a:ext cx="10570464" cy="1143000"/>
          </a:xfrm>
          <a:prstGeom prst="rect">
            <a:avLst/>
          </a:prstGeom>
          <a:solidFill>
            <a:srgbClr val="E8E2D2"/>
          </a:solidFill>
          <a:ln/>
        </p:spPr>
      </p:sp>
      <p:sp>
        <p:nvSpPr>
          <p:cNvPr id="23" name="Shape 21"/>
          <p:cNvSpPr/>
          <p:nvPr/>
        </p:nvSpPr>
        <p:spPr>
          <a:xfrm rot="2700000">
            <a:off x="1051560" y="4338828"/>
            <a:ext cx="100584" cy="100584"/>
          </a:xfrm>
          <a:prstGeom prst="rect">
            <a:avLst/>
          </a:prstGeom>
          <a:solidFill>
            <a:srgbClr val="C9A227"/>
          </a:solidFill>
          <a:ln w="3175">
            <a:solidFill>
              <a:srgbClr val="C9A227"/>
            </a:solidFill>
            <a:prstDash val="solid"/>
          </a:ln>
        </p:spPr>
      </p:sp>
      <p:sp>
        <p:nvSpPr>
          <p:cNvPr id="24" name="Text 22"/>
          <p:cNvSpPr/>
          <p:nvPr/>
        </p:nvSpPr>
        <p:spPr>
          <a:xfrm>
            <a:off x="1362456" y="4261104"/>
            <a:ext cx="9784080" cy="667512"/>
          </a:xfrm>
          <a:prstGeom prst="rect">
            <a:avLst/>
          </a:prstGeom>
          <a:noFill/>
          <a:ln/>
        </p:spPr>
        <p:txBody>
          <a:bodyPr wrap="square" lIns="0" tIns="0" rIns="0" bIns="0" rtlCol="0" anchor="t"/>
          <a:lstStyle/>
          <a:p>
            <a:pPr indent="0" marL="0">
              <a:lnSpc>
                <a:spcPct val="116000"/>
              </a:lnSpc>
              <a:buNone/>
            </a:pPr>
            <a:r>
              <a:rPr lang="en-US" sz="1800" b="1" dirty="0">
                <a:solidFill>
                  <a:srgbClr val="8A6D14"/>
                </a:solidFill>
                <a:latin typeface="Arial" pitchFamily="34" charset="0"/>
                <a:ea typeface="Arial" pitchFamily="34" charset="-122"/>
                <a:cs typeface="Arial" pitchFamily="34" charset="-120"/>
              </a:rPr>
              <a:t>If she gets it wrong, you do not need a better prompt. You need to retrain with better info, and more specific info.</a:t>
            </a:r>
            <a:endParaRPr lang="en-US" sz="1800" dirty="0"/>
          </a:p>
        </p:txBody>
      </p:sp>
      <p:sp>
        <p:nvSpPr>
          <p:cNvPr id="25" name="Text 23"/>
          <p:cNvSpPr/>
          <p:nvPr/>
        </p:nvSpPr>
        <p:spPr>
          <a:xfrm>
            <a:off x="813816" y="5212080"/>
            <a:ext cx="10570464" cy="274320"/>
          </a:xfrm>
          <a:prstGeom prst="rect">
            <a:avLst/>
          </a:prstGeom>
          <a:noFill/>
          <a:ln/>
        </p:spPr>
        <p:txBody>
          <a:bodyPr wrap="square" lIns="0" tIns="0" rIns="0" bIns="0" rtlCol="0" anchor="ctr"/>
          <a:lstStyle/>
          <a:p>
            <a:pPr algn="ctr" indent="0" marL="0">
              <a:buNone/>
            </a:pPr>
            <a:r>
              <a:rPr lang="en-US" sz="1600" dirty="0">
                <a:solidFill>
                  <a:srgbClr val="5A6379"/>
                </a:solidFill>
                <a:latin typeface="Arial" pitchFamily="34" charset="0"/>
                <a:ea typeface="Arial" pitchFamily="34" charset="-122"/>
                <a:cs typeface="Arial" pitchFamily="34" charset="-120"/>
              </a:rPr>
              <a:t>donnainstructions.denisegosnell.ai   ·   denise@denisegosnell.ai</a:t>
            </a:r>
            <a:endParaRPr lang="en-US" sz="16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14213D"/>
        </a:solidFill>
      </p:bgPr>
    </p:bg>
    <p:spTree>
      <p:nvGrpSpPr>
        <p:cNvPr id="1" name=""/>
        <p:cNvGrpSpPr/>
        <p:nvPr/>
      </p:nvGrpSpPr>
      <p:grpSpPr>
        <a:xfrm>
          <a:off x="0" y="0"/>
          <a:ext cx="0" cy="0"/>
          <a:chOff x="0" y="0"/>
          <a:chExt cx="0" cy="0"/>
        </a:xfrm>
      </p:grpSpPr>
      <p:sp>
        <p:nvSpPr>
          <p:cNvPr id="2" name="Shape 0"/>
          <p:cNvSpPr/>
          <p:nvPr/>
        </p:nvSpPr>
        <p:spPr>
          <a:xfrm>
            <a:off x="5392217" y="667512"/>
            <a:ext cx="1408176" cy="1408176"/>
          </a:xfrm>
          <a:prstGeom prst="ellipse">
            <a:avLst/>
          </a:prstGeom>
          <a:ln w="12700">
            <a:solidFill>
              <a:srgbClr val="C9A227"/>
            </a:solidFill>
            <a:prstDash val="solid"/>
          </a:ln>
        </p:spPr>
      </p:sp>
      <p:sp>
        <p:nvSpPr>
          <p:cNvPr id="3" name="Shape 1"/>
          <p:cNvSpPr/>
          <p:nvPr/>
        </p:nvSpPr>
        <p:spPr>
          <a:xfrm>
            <a:off x="5496422" y="771717"/>
            <a:ext cx="1199766" cy="1199766"/>
          </a:xfrm>
          <a:prstGeom prst="ellipse">
            <a:avLst/>
          </a:prstGeom>
          <a:ln w="12700">
            <a:solidFill>
              <a:srgbClr val="C9A227"/>
            </a:solidFill>
            <a:prstDash val="solid"/>
          </a:ln>
        </p:spPr>
      </p:sp>
      <p:sp>
        <p:nvSpPr>
          <p:cNvPr id="4" name="Shape 2"/>
          <p:cNvSpPr/>
          <p:nvPr/>
        </p:nvSpPr>
        <p:spPr>
          <a:xfrm>
            <a:off x="6096305" y="632308"/>
            <a:ext cx="0" cy="70409"/>
          </a:xfrm>
          <a:prstGeom prst="line">
            <a:avLst/>
          </a:prstGeom>
          <a:noFill/>
          <a:ln w="12700">
            <a:solidFill>
              <a:srgbClr val="C9A227"/>
            </a:solidFill>
            <a:prstDash val="solid"/>
          </a:ln>
        </p:spPr>
      </p:sp>
      <p:sp>
        <p:nvSpPr>
          <p:cNvPr id="5" name="Shape 3"/>
          <p:cNvSpPr/>
          <p:nvPr/>
        </p:nvSpPr>
        <p:spPr>
          <a:xfrm>
            <a:off x="6096305" y="2040484"/>
            <a:ext cx="0" cy="70409"/>
          </a:xfrm>
          <a:prstGeom prst="line">
            <a:avLst/>
          </a:prstGeom>
          <a:noFill/>
          <a:ln w="12700">
            <a:solidFill>
              <a:srgbClr val="C9A227"/>
            </a:solidFill>
            <a:prstDash val="solid"/>
          </a:ln>
        </p:spPr>
      </p:sp>
      <p:sp>
        <p:nvSpPr>
          <p:cNvPr id="6" name="Shape 4"/>
          <p:cNvSpPr/>
          <p:nvPr/>
        </p:nvSpPr>
        <p:spPr>
          <a:xfrm>
            <a:off x="5357012" y="1371600"/>
            <a:ext cx="70409" cy="0"/>
          </a:xfrm>
          <a:prstGeom prst="line">
            <a:avLst/>
          </a:prstGeom>
          <a:noFill/>
          <a:ln w="12700">
            <a:solidFill>
              <a:srgbClr val="C9A227"/>
            </a:solidFill>
            <a:prstDash val="solid"/>
          </a:ln>
        </p:spPr>
      </p:sp>
      <p:sp>
        <p:nvSpPr>
          <p:cNvPr id="7" name="Shape 5"/>
          <p:cNvSpPr/>
          <p:nvPr/>
        </p:nvSpPr>
        <p:spPr>
          <a:xfrm>
            <a:off x="6765188" y="1371600"/>
            <a:ext cx="70409" cy="0"/>
          </a:xfrm>
          <a:prstGeom prst="line">
            <a:avLst/>
          </a:prstGeom>
          <a:noFill/>
          <a:ln w="12700">
            <a:solidFill>
              <a:srgbClr val="C9A227"/>
            </a:solidFill>
            <a:prstDash val="solid"/>
          </a:ln>
        </p:spPr>
      </p:sp>
      <p:sp>
        <p:nvSpPr>
          <p:cNvPr id="8" name="Text 6"/>
          <p:cNvSpPr/>
          <p:nvPr/>
        </p:nvSpPr>
        <p:spPr>
          <a:xfrm>
            <a:off x="5496422" y="771717"/>
            <a:ext cx="1199766" cy="1199766"/>
          </a:xfrm>
          <a:prstGeom prst="rect">
            <a:avLst/>
          </a:prstGeom>
          <a:noFill/>
          <a:ln/>
        </p:spPr>
        <p:txBody>
          <a:bodyPr wrap="square" lIns="0" tIns="0" rIns="0" bIns="0" rtlCol="0" anchor="ctr"/>
          <a:lstStyle/>
          <a:p>
            <a:pPr algn="ctr" indent="0" marL="0">
              <a:buNone/>
            </a:pPr>
            <a:r>
              <a:rPr lang="en-US" sz="5500" b="1" dirty="0">
                <a:solidFill>
                  <a:srgbClr val="A31621"/>
                </a:solidFill>
                <a:latin typeface="Georgia" pitchFamily="34" charset="0"/>
                <a:ea typeface="Georgia" pitchFamily="34" charset="-122"/>
                <a:cs typeface="Georgia" pitchFamily="34" charset="-120"/>
              </a:rPr>
              <a:t>D</a:t>
            </a:r>
            <a:endParaRPr lang="en-US" sz="5500" dirty="0"/>
          </a:p>
        </p:txBody>
      </p:sp>
      <p:sp>
        <p:nvSpPr>
          <p:cNvPr id="9" name="Shape 7"/>
          <p:cNvSpPr/>
          <p:nvPr/>
        </p:nvSpPr>
        <p:spPr>
          <a:xfrm>
            <a:off x="1706728" y="2249424"/>
            <a:ext cx="8778240" cy="1776862"/>
          </a:xfrm>
          <a:prstGeom prst="rect">
            <a:avLst/>
          </a:prstGeom>
          <a:solidFill>
            <a:srgbClr val="E8E2D2"/>
          </a:solidFill>
          <a:ln/>
        </p:spPr>
      </p:sp>
      <p:sp>
        <p:nvSpPr>
          <p:cNvPr id="10" name="Text 8"/>
          <p:cNvSpPr/>
          <p:nvPr/>
        </p:nvSpPr>
        <p:spPr>
          <a:xfrm>
            <a:off x="2163928" y="2505456"/>
            <a:ext cx="7863840" cy="880750"/>
          </a:xfrm>
          <a:prstGeom prst="rect">
            <a:avLst/>
          </a:prstGeom>
          <a:noFill/>
          <a:ln/>
        </p:spPr>
        <p:txBody>
          <a:bodyPr wrap="square" lIns="0" tIns="0" rIns="0" bIns="0" rtlCol="0" anchor="ctr"/>
          <a:lstStyle/>
          <a:p>
            <a:pPr algn="ctr" indent="0" marL="0">
              <a:buNone/>
            </a:pPr>
            <a:r>
              <a:rPr lang="en-US" sz="2400" b="1" i="1" dirty="0">
                <a:solidFill>
                  <a:srgbClr val="A31621"/>
                </a:solidFill>
                <a:latin typeface="Georgia" pitchFamily="34" charset="0"/>
                <a:ea typeface="Georgia" pitchFamily="34" charset="-122"/>
                <a:cs typeface="Georgia" pitchFamily="34" charset="-120"/>
              </a:rPr>
              <a:t>“If you were ever lucky enough to have me, you wouldn’t want to share.”</a:t>
            </a:r>
            <a:endParaRPr lang="en-US" sz="2400" dirty="0"/>
          </a:p>
        </p:txBody>
      </p:sp>
      <p:sp>
        <p:nvSpPr>
          <p:cNvPr id="11" name="Text 9"/>
          <p:cNvSpPr/>
          <p:nvPr/>
        </p:nvSpPr>
        <p:spPr>
          <a:xfrm>
            <a:off x="2163928" y="3514222"/>
            <a:ext cx="7863840" cy="274320"/>
          </a:xfrm>
          <a:prstGeom prst="rect">
            <a:avLst/>
          </a:prstGeom>
          <a:noFill/>
          <a:ln/>
        </p:spPr>
        <p:txBody>
          <a:bodyPr wrap="square" lIns="0" tIns="0" rIns="0" bIns="0" rtlCol="0" anchor="ctr"/>
          <a:lstStyle/>
          <a:p>
            <a:pPr algn="ctr" indent="0" marL="0">
              <a:buNone/>
            </a:pPr>
            <a:r>
              <a:rPr lang="en-US" sz="1600" b="1" spc="160" kern="0" dirty="0">
                <a:solidFill>
                  <a:srgbClr val="14213D"/>
                </a:solidFill>
                <a:latin typeface="Arial" pitchFamily="34" charset="0"/>
                <a:ea typeface="Arial" pitchFamily="34" charset="-122"/>
                <a:cs typeface="Arial" pitchFamily="34" charset="-120"/>
              </a:rPr>
              <a:t>— DONNA PAULSEN, SUITS</a:t>
            </a:r>
            <a:endParaRPr lang="en-US" sz="1600" dirty="0"/>
          </a:p>
        </p:txBody>
      </p:sp>
      <p:sp>
        <p:nvSpPr>
          <p:cNvPr id="12" name="Text 10"/>
          <p:cNvSpPr/>
          <p:nvPr/>
        </p:nvSpPr>
        <p:spPr>
          <a:xfrm>
            <a:off x="813816" y="4300606"/>
            <a:ext cx="10570464" cy="658368"/>
          </a:xfrm>
          <a:prstGeom prst="rect">
            <a:avLst/>
          </a:prstGeom>
          <a:noFill/>
          <a:ln/>
        </p:spPr>
        <p:txBody>
          <a:bodyPr wrap="square" lIns="0" tIns="0" rIns="0" bIns="0" rtlCol="0" anchor="ctr"/>
          <a:lstStyle/>
          <a:p>
            <a:pPr algn="ctr" indent="0" marL="0">
              <a:buNone/>
            </a:pPr>
            <a:r>
              <a:rPr lang="en-US" sz="4000" b="1" dirty="0">
                <a:solidFill>
                  <a:srgbClr val="F7F3EA"/>
                </a:solidFill>
                <a:latin typeface="Georgia" pitchFamily="34" charset="0"/>
                <a:ea typeface="Georgia" pitchFamily="34" charset="-122"/>
                <a:cs typeface="Georgia" pitchFamily="34" charset="-120"/>
              </a:rPr>
              <a:t>Yours starts tomorrow at 4:30.</a:t>
            </a:r>
            <a:endParaRPr lang="en-US" sz="4000" dirty="0"/>
          </a:p>
        </p:txBody>
      </p:sp>
      <p:sp>
        <p:nvSpPr>
          <p:cNvPr id="13" name="Text 11"/>
          <p:cNvSpPr/>
          <p:nvPr/>
        </p:nvSpPr>
        <p:spPr>
          <a:xfrm>
            <a:off x="813816" y="5032126"/>
            <a:ext cx="10570464" cy="274320"/>
          </a:xfrm>
          <a:prstGeom prst="rect">
            <a:avLst/>
          </a:prstGeom>
          <a:noFill/>
          <a:ln/>
        </p:spPr>
        <p:txBody>
          <a:bodyPr wrap="square" lIns="0" tIns="0" rIns="0" bIns="0" rtlCol="0" anchor="ctr"/>
          <a:lstStyle/>
          <a:p>
            <a:pPr algn="ctr" indent="0" marL="0">
              <a:buNone/>
            </a:pPr>
            <a:r>
              <a:rPr lang="en-US" sz="1600" dirty="0">
                <a:solidFill>
                  <a:srgbClr val="AFA893"/>
                </a:solidFill>
                <a:latin typeface="Arial" pitchFamily="34" charset="0"/>
                <a:ea typeface="Arial" pitchFamily="34" charset="-122"/>
                <a:cs typeface="Arial" pitchFamily="34" charset="-120"/>
              </a:rPr>
              <a:t>donnainstructions.denisegosnell.ai   ·   denise@denisegosnell.ai</a:t>
            </a:r>
            <a:endParaRPr lang="en-US" sz="1600" dirty="0"/>
          </a:p>
        </p:txBody>
      </p:sp>
      <p:sp>
        <p:nvSpPr>
          <p:cNvPr id="14" name="Shape 12"/>
          <p:cNvSpPr/>
          <p:nvPr/>
        </p:nvSpPr>
        <p:spPr>
          <a:xfrm>
            <a:off x="2438248" y="6492240"/>
            <a:ext cx="7315200" cy="0"/>
          </a:xfrm>
          <a:prstGeom prst="line">
            <a:avLst/>
          </a:prstGeom>
          <a:noFill/>
          <a:ln w="9525">
            <a:solidFill>
              <a:srgbClr val="C9A227">
                <a:alpha val="50000"/>
              </a:srgbClr>
            </a:solidFill>
            <a:prstDash val="solid"/>
          </a:ln>
        </p:spPr>
      </p:sp>
      <p:sp>
        <p:nvSpPr>
          <p:cNvPr id="15" name="Shape 13"/>
          <p:cNvSpPr/>
          <p:nvPr/>
        </p:nvSpPr>
        <p:spPr>
          <a:xfrm>
            <a:off x="2438248" y="6378854"/>
            <a:ext cx="0" cy="113386"/>
          </a:xfrm>
          <a:prstGeom prst="line">
            <a:avLst/>
          </a:prstGeom>
          <a:noFill/>
          <a:ln w="9525">
            <a:solidFill>
              <a:srgbClr val="C9A227">
                <a:alpha val="50000"/>
              </a:srgbClr>
            </a:solidFill>
            <a:prstDash val="solid"/>
          </a:ln>
        </p:spPr>
      </p:sp>
      <p:sp>
        <p:nvSpPr>
          <p:cNvPr id="16" name="Shape 14"/>
          <p:cNvSpPr/>
          <p:nvPr/>
        </p:nvSpPr>
        <p:spPr>
          <a:xfrm>
            <a:off x="2438248" y="6378854"/>
            <a:ext cx="347472" cy="0"/>
          </a:xfrm>
          <a:prstGeom prst="line">
            <a:avLst/>
          </a:prstGeom>
          <a:noFill/>
          <a:ln w="9525">
            <a:solidFill>
              <a:srgbClr val="C9A227">
                <a:alpha val="50000"/>
              </a:srgbClr>
            </a:solidFill>
            <a:prstDash val="solid"/>
          </a:ln>
        </p:spPr>
      </p:sp>
      <p:sp>
        <p:nvSpPr>
          <p:cNvPr id="17" name="Shape 15"/>
          <p:cNvSpPr/>
          <p:nvPr/>
        </p:nvSpPr>
        <p:spPr>
          <a:xfrm>
            <a:off x="2785720" y="6378854"/>
            <a:ext cx="0" cy="113386"/>
          </a:xfrm>
          <a:prstGeom prst="line">
            <a:avLst/>
          </a:prstGeom>
          <a:noFill/>
          <a:ln w="9525">
            <a:solidFill>
              <a:srgbClr val="C9A227">
                <a:alpha val="50000"/>
              </a:srgbClr>
            </a:solidFill>
            <a:prstDash val="solid"/>
          </a:ln>
        </p:spPr>
      </p:sp>
      <p:sp>
        <p:nvSpPr>
          <p:cNvPr id="18" name="Shape 16"/>
          <p:cNvSpPr/>
          <p:nvPr/>
        </p:nvSpPr>
        <p:spPr>
          <a:xfrm>
            <a:off x="2822296" y="6299484"/>
            <a:ext cx="0" cy="192756"/>
          </a:xfrm>
          <a:prstGeom prst="line">
            <a:avLst/>
          </a:prstGeom>
          <a:noFill/>
          <a:ln w="9525">
            <a:solidFill>
              <a:srgbClr val="C9A227">
                <a:alpha val="50000"/>
              </a:srgbClr>
            </a:solidFill>
            <a:prstDash val="solid"/>
          </a:ln>
        </p:spPr>
      </p:sp>
      <p:sp>
        <p:nvSpPr>
          <p:cNvPr id="19" name="Shape 17"/>
          <p:cNvSpPr/>
          <p:nvPr/>
        </p:nvSpPr>
        <p:spPr>
          <a:xfrm>
            <a:off x="2822296" y="6299484"/>
            <a:ext cx="292608" cy="0"/>
          </a:xfrm>
          <a:prstGeom prst="line">
            <a:avLst/>
          </a:prstGeom>
          <a:noFill/>
          <a:ln w="9525">
            <a:solidFill>
              <a:srgbClr val="C9A227">
                <a:alpha val="50000"/>
              </a:srgbClr>
            </a:solidFill>
            <a:prstDash val="solid"/>
          </a:ln>
        </p:spPr>
      </p:sp>
      <p:sp>
        <p:nvSpPr>
          <p:cNvPr id="20" name="Shape 18"/>
          <p:cNvSpPr/>
          <p:nvPr/>
        </p:nvSpPr>
        <p:spPr>
          <a:xfrm>
            <a:off x="3114904" y="6299484"/>
            <a:ext cx="0" cy="192756"/>
          </a:xfrm>
          <a:prstGeom prst="line">
            <a:avLst/>
          </a:prstGeom>
          <a:noFill/>
          <a:ln w="9525">
            <a:solidFill>
              <a:srgbClr val="C9A227">
                <a:alpha val="50000"/>
              </a:srgbClr>
            </a:solidFill>
            <a:prstDash val="solid"/>
          </a:ln>
        </p:spPr>
      </p:sp>
      <p:sp>
        <p:nvSpPr>
          <p:cNvPr id="21" name="Shape 19"/>
          <p:cNvSpPr/>
          <p:nvPr/>
        </p:nvSpPr>
        <p:spPr>
          <a:xfrm>
            <a:off x="3151480" y="6401532"/>
            <a:ext cx="0" cy="90708"/>
          </a:xfrm>
          <a:prstGeom prst="line">
            <a:avLst/>
          </a:prstGeom>
          <a:noFill/>
          <a:ln w="9525">
            <a:solidFill>
              <a:srgbClr val="C9A227">
                <a:alpha val="50000"/>
              </a:srgbClr>
            </a:solidFill>
            <a:prstDash val="solid"/>
          </a:ln>
        </p:spPr>
      </p:sp>
      <p:sp>
        <p:nvSpPr>
          <p:cNvPr id="22" name="Shape 20"/>
          <p:cNvSpPr/>
          <p:nvPr/>
        </p:nvSpPr>
        <p:spPr>
          <a:xfrm>
            <a:off x="3151480" y="6401532"/>
            <a:ext cx="182880" cy="0"/>
          </a:xfrm>
          <a:prstGeom prst="line">
            <a:avLst/>
          </a:prstGeom>
          <a:noFill/>
          <a:ln w="9525">
            <a:solidFill>
              <a:srgbClr val="C9A227">
                <a:alpha val="50000"/>
              </a:srgbClr>
            </a:solidFill>
            <a:prstDash val="solid"/>
          </a:ln>
        </p:spPr>
      </p:sp>
      <p:sp>
        <p:nvSpPr>
          <p:cNvPr id="23" name="Shape 21"/>
          <p:cNvSpPr/>
          <p:nvPr/>
        </p:nvSpPr>
        <p:spPr>
          <a:xfrm>
            <a:off x="3334360" y="6401532"/>
            <a:ext cx="0" cy="90708"/>
          </a:xfrm>
          <a:prstGeom prst="line">
            <a:avLst/>
          </a:prstGeom>
          <a:noFill/>
          <a:ln w="9525">
            <a:solidFill>
              <a:srgbClr val="C9A227">
                <a:alpha val="50000"/>
              </a:srgbClr>
            </a:solidFill>
            <a:prstDash val="solid"/>
          </a:ln>
        </p:spPr>
      </p:sp>
      <p:sp>
        <p:nvSpPr>
          <p:cNvPr id="24" name="Shape 22"/>
          <p:cNvSpPr/>
          <p:nvPr/>
        </p:nvSpPr>
        <p:spPr>
          <a:xfrm>
            <a:off x="3370936" y="6231453"/>
            <a:ext cx="0" cy="260787"/>
          </a:xfrm>
          <a:prstGeom prst="line">
            <a:avLst/>
          </a:prstGeom>
          <a:noFill/>
          <a:ln w="9525">
            <a:solidFill>
              <a:srgbClr val="C9A227">
                <a:alpha val="50000"/>
              </a:srgbClr>
            </a:solidFill>
            <a:prstDash val="solid"/>
          </a:ln>
        </p:spPr>
      </p:sp>
      <p:sp>
        <p:nvSpPr>
          <p:cNvPr id="25" name="Shape 23"/>
          <p:cNvSpPr/>
          <p:nvPr/>
        </p:nvSpPr>
        <p:spPr>
          <a:xfrm>
            <a:off x="3370936" y="6231453"/>
            <a:ext cx="347472" cy="0"/>
          </a:xfrm>
          <a:prstGeom prst="line">
            <a:avLst/>
          </a:prstGeom>
          <a:noFill/>
          <a:ln w="9525">
            <a:solidFill>
              <a:srgbClr val="C9A227">
                <a:alpha val="50000"/>
              </a:srgbClr>
            </a:solidFill>
            <a:prstDash val="solid"/>
          </a:ln>
        </p:spPr>
      </p:sp>
      <p:sp>
        <p:nvSpPr>
          <p:cNvPr id="26" name="Shape 24"/>
          <p:cNvSpPr/>
          <p:nvPr/>
        </p:nvSpPr>
        <p:spPr>
          <a:xfrm>
            <a:off x="3718408" y="6231453"/>
            <a:ext cx="0" cy="260787"/>
          </a:xfrm>
          <a:prstGeom prst="line">
            <a:avLst/>
          </a:prstGeom>
          <a:noFill/>
          <a:ln w="9525">
            <a:solidFill>
              <a:srgbClr val="C9A227">
                <a:alpha val="50000"/>
              </a:srgbClr>
            </a:solidFill>
            <a:prstDash val="solid"/>
          </a:ln>
        </p:spPr>
      </p:sp>
      <p:sp>
        <p:nvSpPr>
          <p:cNvPr id="27" name="Shape 25"/>
          <p:cNvSpPr/>
          <p:nvPr/>
        </p:nvSpPr>
        <p:spPr>
          <a:xfrm>
            <a:off x="3754984" y="6344839"/>
            <a:ext cx="0" cy="147401"/>
          </a:xfrm>
          <a:prstGeom prst="line">
            <a:avLst/>
          </a:prstGeom>
          <a:noFill/>
          <a:ln w="9525">
            <a:solidFill>
              <a:srgbClr val="C9A227">
                <a:alpha val="50000"/>
              </a:srgbClr>
            </a:solidFill>
            <a:prstDash val="solid"/>
          </a:ln>
        </p:spPr>
      </p:sp>
      <p:sp>
        <p:nvSpPr>
          <p:cNvPr id="28" name="Shape 26"/>
          <p:cNvSpPr/>
          <p:nvPr/>
        </p:nvSpPr>
        <p:spPr>
          <a:xfrm>
            <a:off x="3754984" y="6344839"/>
            <a:ext cx="237744" cy="0"/>
          </a:xfrm>
          <a:prstGeom prst="line">
            <a:avLst/>
          </a:prstGeom>
          <a:noFill/>
          <a:ln w="9525">
            <a:solidFill>
              <a:srgbClr val="C9A227">
                <a:alpha val="50000"/>
              </a:srgbClr>
            </a:solidFill>
            <a:prstDash val="solid"/>
          </a:ln>
        </p:spPr>
      </p:sp>
      <p:sp>
        <p:nvSpPr>
          <p:cNvPr id="29" name="Shape 27"/>
          <p:cNvSpPr/>
          <p:nvPr/>
        </p:nvSpPr>
        <p:spPr>
          <a:xfrm>
            <a:off x="3992728" y="6344839"/>
            <a:ext cx="0" cy="147401"/>
          </a:xfrm>
          <a:prstGeom prst="line">
            <a:avLst/>
          </a:prstGeom>
          <a:noFill/>
          <a:ln w="9525">
            <a:solidFill>
              <a:srgbClr val="C9A227">
                <a:alpha val="50000"/>
              </a:srgbClr>
            </a:solidFill>
            <a:prstDash val="solid"/>
          </a:ln>
        </p:spPr>
      </p:sp>
      <p:sp>
        <p:nvSpPr>
          <p:cNvPr id="30" name="Shape 28"/>
          <p:cNvSpPr/>
          <p:nvPr/>
        </p:nvSpPr>
        <p:spPr>
          <a:xfrm>
            <a:off x="4029304" y="6140745"/>
            <a:ext cx="0" cy="351495"/>
          </a:xfrm>
          <a:prstGeom prst="line">
            <a:avLst/>
          </a:prstGeom>
          <a:noFill/>
          <a:ln w="9525">
            <a:solidFill>
              <a:srgbClr val="C9A227">
                <a:alpha val="50000"/>
              </a:srgbClr>
            </a:solidFill>
            <a:prstDash val="solid"/>
          </a:ln>
        </p:spPr>
      </p:sp>
      <p:sp>
        <p:nvSpPr>
          <p:cNvPr id="31" name="Shape 29"/>
          <p:cNvSpPr/>
          <p:nvPr/>
        </p:nvSpPr>
        <p:spPr>
          <a:xfrm>
            <a:off x="4029304" y="6140745"/>
            <a:ext cx="292608" cy="0"/>
          </a:xfrm>
          <a:prstGeom prst="line">
            <a:avLst/>
          </a:prstGeom>
          <a:noFill/>
          <a:ln w="9525">
            <a:solidFill>
              <a:srgbClr val="C9A227">
                <a:alpha val="50000"/>
              </a:srgbClr>
            </a:solidFill>
            <a:prstDash val="solid"/>
          </a:ln>
        </p:spPr>
      </p:sp>
      <p:sp>
        <p:nvSpPr>
          <p:cNvPr id="32" name="Shape 30"/>
          <p:cNvSpPr/>
          <p:nvPr/>
        </p:nvSpPr>
        <p:spPr>
          <a:xfrm>
            <a:off x="4321912" y="6140745"/>
            <a:ext cx="0" cy="351495"/>
          </a:xfrm>
          <a:prstGeom prst="line">
            <a:avLst/>
          </a:prstGeom>
          <a:noFill/>
          <a:ln w="9525">
            <a:solidFill>
              <a:srgbClr val="C9A227">
                <a:alpha val="50000"/>
              </a:srgbClr>
            </a:solidFill>
            <a:prstDash val="solid"/>
          </a:ln>
        </p:spPr>
      </p:sp>
      <p:sp>
        <p:nvSpPr>
          <p:cNvPr id="33" name="Shape 31"/>
          <p:cNvSpPr/>
          <p:nvPr/>
        </p:nvSpPr>
        <p:spPr>
          <a:xfrm>
            <a:off x="4358488" y="6322162"/>
            <a:ext cx="0" cy="170078"/>
          </a:xfrm>
          <a:prstGeom prst="line">
            <a:avLst/>
          </a:prstGeom>
          <a:noFill/>
          <a:ln w="9525">
            <a:solidFill>
              <a:srgbClr val="C9A227">
                <a:alpha val="50000"/>
              </a:srgbClr>
            </a:solidFill>
            <a:prstDash val="solid"/>
          </a:ln>
        </p:spPr>
      </p:sp>
      <p:sp>
        <p:nvSpPr>
          <p:cNvPr id="34" name="Shape 32"/>
          <p:cNvSpPr/>
          <p:nvPr/>
        </p:nvSpPr>
        <p:spPr>
          <a:xfrm>
            <a:off x="4358488" y="6322162"/>
            <a:ext cx="274320" cy="0"/>
          </a:xfrm>
          <a:prstGeom prst="line">
            <a:avLst/>
          </a:prstGeom>
          <a:noFill/>
          <a:ln w="9525">
            <a:solidFill>
              <a:srgbClr val="C9A227">
                <a:alpha val="50000"/>
              </a:srgbClr>
            </a:solidFill>
            <a:prstDash val="solid"/>
          </a:ln>
        </p:spPr>
      </p:sp>
      <p:sp>
        <p:nvSpPr>
          <p:cNvPr id="35" name="Shape 33"/>
          <p:cNvSpPr/>
          <p:nvPr/>
        </p:nvSpPr>
        <p:spPr>
          <a:xfrm>
            <a:off x="4632808" y="6322162"/>
            <a:ext cx="0" cy="170078"/>
          </a:xfrm>
          <a:prstGeom prst="line">
            <a:avLst/>
          </a:prstGeom>
          <a:noFill/>
          <a:ln w="9525">
            <a:solidFill>
              <a:srgbClr val="C9A227">
                <a:alpha val="50000"/>
              </a:srgbClr>
            </a:solidFill>
            <a:prstDash val="solid"/>
          </a:ln>
        </p:spPr>
      </p:sp>
      <p:sp>
        <p:nvSpPr>
          <p:cNvPr id="36" name="Shape 34"/>
          <p:cNvSpPr/>
          <p:nvPr/>
        </p:nvSpPr>
        <p:spPr>
          <a:xfrm>
            <a:off x="4669384" y="6378854"/>
            <a:ext cx="0" cy="113386"/>
          </a:xfrm>
          <a:prstGeom prst="line">
            <a:avLst/>
          </a:prstGeom>
          <a:noFill/>
          <a:ln w="9525">
            <a:solidFill>
              <a:srgbClr val="C9A227">
                <a:alpha val="50000"/>
              </a:srgbClr>
            </a:solidFill>
            <a:prstDash val="solid"/>
          </a:ln>
        </p:spPr>
      </p:sp>
      <p:sp>
        <p:nvSpPr>
          <p:cNvPr id="37" name="Shape 35"/>
          <p:cNvSpPr/>
          <p:nvPr/>
        </p:nvSpPr>
        <p:spPr>
          <a:xfrm>
            <a:off x="4669384" y="6378854"/>
            <a:ext cx="219456" cy="0"/>
          </a:xfrm>
          <a:prstGeom prst="line">
            <a:avLst/>
          </a:prstGeom>
          <a:noFill/>
          <a:ln w="9525">
            <a:solidFill>
              <a:srgbClr val="C9A227">
                <a:alpha val="50000"/>
              </a:srgbClr>
            </a:solidFill>
            <a:prstDash val="solid"/>
          </a:ln>
        </p:spPr>
      </p:sp>
      <p:sp>
        <p:nvSpPr>
          <p:cNvPr id="38" name="Shape 36"/>
          <p:cNvSpPr/>
          <p:nvPr/>
        </p:nvSpPr>
        <p:spPr>
          <a:xfrm>
            <a:off x="4888840" y="6378854"/>
            <a:ext cx="0" cy="113386"/>
          </a:xfrm>
          <a:prstGeom prst="line">
            <a:avLst/>
          </a:prstGeom>
          <a:noFill/>
          <a:ln w="9525">
            <a:solidFill>
              <a:srgbClr val="C9A227">
                <a:alpha val="50000"/>
              </a:srgbClr>
            </a:solidFill>
            <a:prstDash val="solid"/>
          </a:ln>
        </p:spPr>
      </p:sp>
      <p:sp>
        <p:nvSpPr>
          <p:cNvPr id="39" name="Shape 37"/>
          <p:cNvSpPr/>
          <p:nvPr/>
        </p:nvSpPr>
        <p:spPr>
          <a:xfrm>
            <a:off x="4925416" y="6208776"/>
            <a:ext cx="0" cy="283464"/>
          </a:xfrm>
          <a:prstGeom prst="line">
            <a:avLst/>
          </a:prstGeom>
          <a:noFill/>
          <a:ln w="9525">
            <a:solidFill>
              <a:srgbClr val="C9A227">
                <a:alpha val="50000"/>
              </a:srgbClr>
            </a:solidFill>
            <a:prstDash val="solid"/>
          </a:ln>
        </p:spPr>
      </p:sp>
      <p:sp>
        <p:nvSpPr>
          <p:cNvPr id="40" name="Shape 38"/>
          <p:cNvSpPr/>
          <p:nvPr/>
        </p:nvSpPr>
        <p:spPr>
          <a:xfrm>
            <a:off x="4925416" y="6208776"/>
            <a:ext cx="365760" cy="0"/>
          </a:xfrm>
          <a:prstGeom prst="line">
            <a:avLst/>
          </a:prstGeom>
          <a:noFill/>
          <a:ln w="9525">
            <a:solidFill>
              <a:srgbClr val="C9A227">
                <a:alpha val="50000"/>
              </a:srgbClr>
            </a:solidFill>
            <a:prstDash val="solid"/>
          </a:ln>
        </p:spPr>
      </p:sp>
      <p:sp>
        <p:nvSpPr>
          <p:cNvPr id="41" name="Shape 39"/>
          <p:cNvSpPr/>
          <p:nvPr/>
        </p:nvSpPr>
        <p:spPr>
          <a:xfrm>
            <a:off x="5291176" y="6208776"/>
            <a:ext cx="0" cy="283464"/>
          </a:xfrm>
          <a:prstGeom prst="line">
            <a:avLst/>
          </a:prstGeom>
          <a:noFill/>
          <a:ln w="9525">
            <a:solidFill>
              <a:srgbClr val="C9A227">
                <a:alpha val="50000"/>
              </a:srgbClr>
            </a:solidFill>
            <a:prstDash val="solid"/>
          </a:ln>
        </p:spPr>
      </p:sp>
      <p:sp>
        <p:nvSpPr>
          <p:cNvPr id="42" name="Shape 40"/>
          <p:cNvSpPr/>
          <p:nvPr/>
        </p:nvSpPr>
        <p:spPr>
          <a:xfrm>
            <a:off x="5327752" y="6288146"/>
            <a:ext cx="0" cy="204094"/>
          </a:xfrm>
          <a:prstGeom prst="line">
            <a:avLst/>
          </a:prstGeom>
          <a:noFill/>
          <a:ln w="9525">
            <a:solidFill>
              <a:srgbClr val="C9A227">
                <a:alpha val="50000"/>
              </a:srgbClr>
            </a:solidFill>
            <a:prstDash val="solid"/>
          </a:ln>
        </p:spPr>
      </p:sp>
      <p:sp>
        <p:nvSpPr>
          <p:cNvPr id="43" name="Shape 41"/>
          <p:cNvSpPr/>
          <p:nvPr/>
        </p:nvSpPr>
        <p:spPr>
          <a:xfrm>
            <a:off x="5327752" y="6288146"/>
            <a:ext cx="274320" cy="0"/>
          </a:xfrm>
          <a:prstGeom prst="line">
            <a:avLst/>
          </a:prstGeom>
          <a:noFill/>
          <a:ln w="9525">
            <a:solidFill>
              <a:srgbClr val="C9A227">
                <a:alpha val="50000"/>
              </a:srgbClr>
            </a:solidFill>
            <a:prstDash val="solid"/>
          </a:ln>
        </p:spPr>
      </p:sp>
      <p:sp>
        <p:nvSpPr>
          <p:cNvPr id="44" name="Shape 42"/>
          <p:cNvSpPr/>
          <p:nvPr/>
        </p:nvSpPr>
        <p:spPr>
          <a:xfrm>
            <a:off x="5602072" y="6288146"/>
            <a:ext cx="0" cy="204094"/>
          </a:xfrm>
          <a:prstGeom prst="line">
            <a:avLst/>
          </a:prstGeom>
          <a:noFill/>
          <a:ln w="9525">
            <a:solidFill>
              <a:srgbClr val="C9A227">
                <a:alpha val="50000"/>
              </a:srgbClr>
            </a:solidFill>
            <a:prstDash val="solid"/>
          </a:ln>
        </p:spPr>
      </p:sp>
      <p:sp>
        <p:nvSpPr>
          <p:cNvPr id="45" name="Shape 43"/>
          <p:cNvSpPr/>
          <p:nvPr/>
        </p:nvSpPr>
        <p:spPr>
          <a:xfrm>
            <a:off x="5638648" y="6367516"/>
            <a:ext cx="0" cy="124724"/>
          </a:xfrm>
          <a:prstGeom prst="line">
            <a:avLst/>
          </a:prstGeom>
          <a:noFill/>
          <a:ln w="9525">
            <a:solidFill>
              <a:srgbClr val="C9A227">
                <a:alpha val="50000"/>
              </a:srgbClr>
            </a:solidFill>
            <a:prstDash val="solid"/>
          </a:ln>
        </p:spPr>
      </p:sp>
      <p:sp>
        <p:nvSpPr>
          <p:cNvPr id="46" name="Shape 44"/>
          <p:cNvSpPr/>
          <p:nvPr/>
        </p:nvSpPr>
        <p:spPr>
          <a:xfrm>
            <a:off x="5638648" y="6367516"/>
            <a:ext cx="219456" cy="0"/>
          </a:xfrm>
          <a:prstGeom prst="line">
            <a:avLst/>
          </a:prstGeom>
          <a:noFill/>
          <a:ln w="9525">
            <a:solidFill>
              <a:srgbClr val="C9A227">
                <a:alpha val="50000"/>
              </a:srgbClr>
            </a:solidFill>
            <a:prstDash val="solid"/>
          </a:ln>
        </p:spPr>
      </p:sp>
      <p:sp>
        <p:nvSpPr>
          <p:cNvPr id="47" name="Shape 45"/>
          <p:cNvSpPr/>
          <p:nvPr/>
        </p:nvSpPr>
        <p:spPr>
          <a:xfrm>
            <a:off x="5858104" y="6367516"/>
            <a:ext cx="0" cy="124724"/>
          </a:xfrm>
          <a:prstGeom prst="line">
            <a:avLst/>
          </a:prstGeom>
          <a:noFill/>
          <a:ln w="9525">
            <a:solidFill>
              <a:srgbClr val="C9A227">
                <a:alpha val="50000"/>
              </a:srgbClr>
            </a:solidFill>
            <a:prstDash val="solid"/>
          </a:ln>
        </p:spPr>
      </p:sp>
      <p:sp>
        <p:nvSpPr>
          <p:cNvPr id="48" name="Shape 46"/>
          <p:cNvSpPr/>
          <p:nvPr/>
        </p:nvSpPr>
        <p:spPr>
          <a:xfrm>
            <a:off x="5894680" y="6163422"/>
            <a:ext cx="0" cy="328818"/>
          </a:xfrm>
          <a:prstGeom prst="line">
            <a:avLst/>
          </a:prstGeom>
          <a:noFill/>
          <a:ln w="9525">
            <a:solidFill>
              <a:srgbClr val="C9A227">
                <a:alpha val="50000"/>
              </a:srgbClr>
            </a:solidFill>
            <a:prstDash val="solid"/>
          </a:ln>
        </p:spPr>
      </p:sp>
      <p:sp>
        <p:nvSpPr>
          <p:cNvPr id="49" name="Shape 47"/>
          <p:cNvSpPr/>
          <p:nvPr/>
        </p:nvSpPr>
        <p:spPr>
          <a:xfrm>
            <a:off x="5894680" y="6163422"/>
            <a:ext cx="329184" cy="0"/>
          </a:xfrm>
          <a:prstGeom prst="line">
            <a:avLst/>
          </a:prstGeom>
          <a:noFill/>
          <a:ln w="9525">
            <a:solidFill>
              <a:srgbClr val="C9A227">
                <a:alpha val="50000"/>
              </a:srgbClr>
            </a:solidFill>
            <a:prstDash val="solid"/>
          </a:ln>
        </p:spPr>
      </p:sp>
      <p:sp>
        <p:nvSpPr>
          <p:cNvPr id="50" name="Shape 48"/>
          <p:cNvSpPr/>
          <p:nvPr/>
        </p:nvSpPr>
        <p:spPr>
          <a:xfrm>
            <a:off x="6223864" y="6163422"/>
            <a:ext cx="0" cy="328818"/>
          </a:xfrm>
          <a:prstGeom prst="line">
            <a:avLst/>
          </a:prstGeom>
          <a:noFill/>
          <a:ln w="9525">
            <a:solidFill>
              <a:srgbClr val="C9A227">
                <a:alpha val="50000"/>
              </a:srgbClr>
            </a:solidFill>
            <a:prstDash val="solid"/>
          </a:ln>
        </p:spPr>
      </p:sp>
      <p:sp>
        <p:nvSpPr>
          <p:cNvPr id="51" name="Shape 49"/>
          <p:cNvSpPr/>
          <p:nvPr/>
        </p:nvSpPr>
        <p:spPr>
          <a:xfrm>
            <a:off x="6260440" y="6322162"/>
            <a:ext cx="0" cy="170078"/>
          </a:xfrm>
          <a:prstGeom prst="line">
            <a:avLst/>
          </a:prstGeom>
          <a:noFill/>
          <a:ln w="9525">
            <a:solidFill>
              <a:srgbClr val="C9A227">
                <a:alpha val="50000"/>
              </a:srgbClr>
            </a:solidFill>
            <a:prstDash val="solid"/>
          </a:ln>
        </p:spPr>
      </p:sp>
      <p:sp>
        <p:nvSpPr>
          <p:cNvPr id="52" name="Shape 50"/>
          <p:cNvSpPr/>
          <p:nvPr/>
        </p:nvSpPr>
        <p:spPr>
          <a:xfrm>
            <a:off x="6260440" y="6322162"/>
            <a:ext cx="256032" cy="0"/>
          </a:xfrm>
          <a:prstGeom prst="line">
            <a:avLst/>
          </a:prstGeom>
          <a:noFill/>
          <a:ln w="9525">
            <a:solidFill>
              <a:srgbClr val="C9A227">
                <a:alpha val="50000"/>
              </a:srgbClr>
            </a:solidFill>
            <a:prstDash val="solid"/>
          </a:ln>
        </p:spPr>
      </p:sp>
      <p:sp>
        <p:nvSpPr>
          <p:cNvPr id="53" name="Shape 51"/>
          <p:cNvSpPr/>
          <p:nvPr/>
        </p:nvSpPr>
        <p:spPr>
          <a:xfrm>
            <a:off x="6516472" y="6322162"/>
            <a:ext cx="0" cy="170078"/>
          </a:xfrm>
          <a:prstGeom prst="line">
            <a:avLst/>
          </a:prstGeom>
          <a:noFill/>
          <a:ln w="9525">
            <a:solidFill>
              <a:srgbClr val="C9A227">
                <a:alpha val="50000"/>
              </a:srgbClr>
            </a:solidFill>
            <a:prstDash val="solid"/>
          </a:ln>
        </p:spPr>
      </p:sp>
      <p:sp>
        <p:nvSpPr>
          <p:cNvPr id="54" name="Shape 52"/>
          <p:cNvSpPr/>
          <p:nvPr/>
        </p:nvSpPr>
        <p:spPr>
          <a:xfrm>
            <a:off x="6553048" y="6254130"/>
            <a:ext cx="0" cy="238110"/>
          </a:xfrm>
          <a:prstGeom prst="line">
            <a:avLst/>
          </a:prstGeom>
          <a:noFill/>
          <a:ln w="9525">
            <a:solidFill>
              <a:srgbClr val="C9A227">
                <a:alpha val="50000"/>
              </a:srgbClr>
            </a:solidFill>
            <a:prstDash val="solid"/>
          </a:ln>
        </p:spPr>
      </p:sp>
      <p:sp>
        <p:nvSpPr>
          <p:cNvPr id="55" name="Shape 53"/>
          <p:cNvSpPr/>
          <p:nvPr/>
        </p:nvSpPr>
        <p:spPr>
          <a:xfrm>
            <a:off x="6553048" y="6254130"/>
            <a:ext cx="347472" cy="0"/>
          </a:xfrm>
          <a:prstGeom prst="line">
            <a:avLst/>
          </a:prstGeom>
          <a:noFill/>
          <a:ln w="9525">
            <a:solidFill>
              <a:srgbClr val="C9A227">
                <a:alpha val="50000"/>
              </a:srgbClr>
            </a:solidFill>
            <a:prstDash val="solid"/>
          </a:ln>
        </p:spPr>
      </p:sp>
      <p:sp>
        <p:nvSpPr>
          <p:cNvPr id="56" name="Shape 54"/>
          <p:cNvSpPr/>
          <p:nvPr/>
        </p:nvSpPr>
        <p:spPr>
          <a:xfrm>
            <a:off x="6900520" y="6254130"/>
            <a:ext cx="0" cy="238110"/>
          </a:xfrm>
          <a:prstGeom prst="line">
            <a:avLst/>
          </a:prstGeom>
          <a:noFill/>
          <a:ln w="9525">
            <a:solidFill>
              <a:srgbClr val="C9A227">
                <a:alpha val="50000"/>
              </a:srgbClr>
            </a:solidFill>
            <a:prstDash val="solid"/>
          </a:ln>
        </p:spPr>
      </p:sp>
      <p:sp>
        <p:nvSpPr>
          <p:cNvPr id="57" name="Shape 55"/>
          <p:cNvSpPr/>
          <p:nvPr/>
        </p:nvSpPr>
        <p:spPr>
          <a:xfrm>
            <a:off x="6937096" y="6378854"/>
            <a:ext cx="0" cy="113386"/>
          </a:xfrm>
          <a:prstGeom prst="line">
            <a:avLst/>
          </a:prstGeom>
          <a:noFill/>
          <a:ln w="9525">
            <a:solidFill>
              <a:srgbClr val="C9A227">
                <a:alpha val="50000"/>
              </a:srgbClr>
            </a:solidFill>
            <a:prstDash val="solid"/>
          </a:ln>
        </p:spPr>
      </p:sp>
      <p:sp>
        <p:nvSpPr>
          <p:cNvPr id="58" name="Shape 56"/>
          <p:cNvSpPr/>
          <p:nvPr/>
        </p:nvSpPr>
        <p:spPr>
          <a:xfrm>
            <a:off x="6937096" y="6378854"/>
            <a:ext cx="219456" cy="0"/>
          </a:xfrm>
          <a:prstGeom prst="line">
            <a:avLst/>
          </a:prstGeom>
          <a:noFill/>
          <a:ln w="9525">
            <a:solidFill>
              <a:srgbClr val="C9A227">
                <a:alpha val="50000"/>
              </a:srgbClr>
            </a:solidFill>
            <a:prstDash val="solid"/>
          </a:ln>
        </p:spPr>
      </p:sp>
      <p:sp>
        <p:nvSpPr>
          <p:cNvPr id="59" name="Shape 57"/>
          <p:cNvSpPr/>
          <p:nvPr/>
        </p:nvSpPr>
        <p:spPr>
          <a:xfrm>
            <a:off x="7156552" y="6378854"/>
            <a:ext cx="0" cy="113386"/>
          </a:xfrm>
          <a:prstGeom prst="line">
            <a:avLst/>
          </a:prstGeom>
          <a:noFill/>
          <a:ln w="9525">
            <a:solidFill>
              <a:srgbClr val="C9A227">
                <a:alpha val="50000"/>
              </a:srgbClr>
            </a:solidFill>
            <a:prstDash val="solid"/>
          </a:ln>
        </p:spPr>
      </p:sp>
      <p:sp>
        <p:nvSpPr>
          <p:cNvPr id="60" name="Shape 58"/>
          <p:cNvSpPr/>
          <p:nvPr/>
        </p:nvSpPr>
        <p:spPr>
          <a:xfrm>
            <a:off x="7193128" y="6186099"/>
            <a:ext cx="0" cy="306141"/>
          </a:xfrm>
          <a:prstGeom prst="line">
            <a:avLst/>
          </a:prstGeom>
          <a:noFill/>
          <a:ln w="9525">
            <a:solidFill>
              <a:srgbClr val="C9A227">
                <a:alpha val="50000"/>
              </a:srgbClr>
            </a:solidFill>
            <a:prstDash val="solid"/>
          </a:ln>
        </p:spPr>
      </p:sp>
      <p:sp>
        <p:nvSpPr>
          <p:cNvPr id="61" name="Shape 59"/>
          <p:cNvSpPr/>
          <p:nvPr/>
        </p:nvSpPr>
        <p:spPr>
          <a:xfrm>
            <a:off x="7193128" y="6186099"/>
            <a:ext cx="347472" cy="0"/>
          </a:xfrm>
          <a:prstGeom prst="line">
            <a:avLst/>
          </a:prstGeom>
          <a:noFill/>
          <a:ln w="9525">
            <a:solidFill>
              <a:srgbClr val="C9A227">
                <a:alpha val="50000"/>
              </a:srgbClr>
            </a:solidFill>
            <a:prstDash val="solid"/>
          </a:ln>
        </p:spPr>
      </p:sp>
      <p:sp>
        <p:nvSpPr>
          <p:cNvPr id="62" name="Shape 60"/>
          <p:cNvSpPr/>
          <p:nvPr/>
        </p:nvSpPr>
        <p:spPr>
          <a:xfrm>
            <a:off x="7540600" y="6186099"/>
            <a:ext cx="0" cy="306141"/>
          </a:xfrm>
          <a:prstGeom prst="line">
            <a:avLst/>
          </a:prstGeom>
          <a:noFill/>
          <a:ln w="9525">
            <a:solidFill>
              <a:srgbClr val="C9A227">
                <a:alpha val="50000"/>
              </a:srgbClr>
            </a:solidFill>
            <a:prstDash val="solid"/>
          </a:ln>
        </p:spPr>
      </p:sp>
      <p:sp>
        <p:nvSpPr>
          <p:cNvPr id="63" name="Shape 61"/>
          <p:cNvSpPr/>
          <p:nvPr/>
        </p:nvSpPr>
        <p:spPr>
          <a:xfrm>
            <a:off x="7577176" y="6310823"/>
            <a:ext cx="0" cy="181417"/>
          </a:xfrm>
          <a:prstGeom prst="line">
            <a:avLst/>
          </a:prstGeom>
          <a:noFill/>
          <a:ln w="9525">
            <a:solidFill>
              <a:srgbClr val="C9A227">
                <a:alpha val="50000"/>
              </a:srgbClr>
            </a:solidFill>
            <a:prstDash val="solid"/>
          </a:ln>
        </p:spPr>
      </p:sp>
      <p:sp>
        <p:nvSpPr>
          <p:cNvPr id="64" name="Shape 62"/>
          <p:cNvSpPr/>
          <p:nvPr/>
        </p:nvSpPr>
        <p:spPr>
          <a:xfrm>
            <a:off x="7577176" y="6310823"/>
            <a:ext cx="274320" cy="0"/>
          </a:xfrm>
          <a:prstGeom prst="line">
            <a:avLst/>
          </a:prstGeom>
          <a:noFill/>
          <a:ln w="9525">
            <a:solidFill>
              <a:srgbClr val="C9A227">
                <a:alpha val="50000"/>
              </a:srgbClr>
            </a:solidFill>
            <a:prstDash val="solid"/>
          </a:ln>
        </p:spPr>
      </p:sp>
      <p:sp>
        <p:nvSpPr>
          <p:cNvPr id="65" name="Shape 63"/>
          <p:cNvSpPr/>
          <p:nvPr/>
        </p:nvSpPr>
        <p:spPr>
          <a:xfrm>
            <a:off x="7851496" y="6310823"/>
            <a:ext cx="0" cy="181417"/>
          </a:xfrm>
          <a:prstGeom prst="line">
            <a:avLst/>
          </a:prstGeom>
          <a:noFill/>
          <a:ln w="9525">
            <a:solidFill>
              <a:srgbClr val="C9A227">
                <a:alpha val="50000"/>
              </a:srgbClr>
            </a:solidFill>
            <a:prstDash val="solid"/>
          </a:ln>
        </p:spPr>
      </p:sp>
      <p:sp>
        <p:nvSpPr>
          <p:cNvPr id="66" name="Shape 64"/>
          <p:cNvSpPr/>
          <p:nvPr/>
        </p:nvSpPr>
        <p:spPr>
          <a:xfrm>
            <a:off x="7888072" y="6356177"/>
            <a:ext cx="0" cy="136063"/>
          </a:xfrm>
          <a:prstGeom prst="line">
            <a:avLst/>
          </a:prstGeom>
          <a:noFill/>
          <a:ln w="9525">
            <a:solidFill>
              <a:srgbClr val="C9A227">
                <a:alpha val="50000"/>
              </a:srgbClr>
            </a:solidFill>
            <a:prstDash val="solid"/>
          </a:ln>
        </p:spPr>
      </p:sp>
      <p:sp>
        <p:nvSpPr>
          <p:cNvPr id="67" name="Shape 65"/>
          <p:cNvSpPr/>
          <p:nvPr/>
        </p:nvSpPr>
        <p:spPr>
          <a:xfrm>
            <a:off x="7888072" y="6356177"/>
            <a:ext cx="219456" cy="0"/>
          </a:xfrm>
          <a:prstGeom prst="line">
            <a:avLst/>
          </a:prstGeom>
          <a:noFill/>
          <a:ln w="9525">
            <a:solidFill>
              <a:srgbClr val="C9A227">
                <a:alpha val="50000"/>
              </a:srgbClr>
            </a:solidFill>
            <a:prstDash val="solid"/>
          </a:ln>
        </p:spPr>
      </p:sp>
      <p:sp>
        <p:nvSpPr>
          <p:cNvPr id="68" name="Shape 66"/>
          <p:cNvSpPr/>
          <p:nvPr/>
        </p:nvSpPr>
        <p:spPr>
          <a:xfrm>
            <a:off x="8107528" y="6356177"/>
            <a:ext cx="0" cy="136063"/>
          </a:xfrm>
          <a:prstGeom prst="line">
            <a:avLst/>
          </a:prstGeom>
          <a:noFill/>
          <a:ln w="9525">
            <a:solidFill>
              <a:srgbClr val="C9A227">
                <a:alpha val="50000"/>
              </a:srgbClr>
            </a:solidFill>
            <a:prstDash val="solid"/>
          </a:ln>
        </p:spPr>
      </p:sp>
      <p:sp>
        <p:nvSpPr>
          <p:cNvPr id="69" name="Shape 67"/>
          <p:cNvSpPr/>
          <p:nvPr/>
        </p:nvSpPr>
        <p:spPr>
          <a:xfrm>
            <a:off x="8144104" y="6242792"/>
            <a:ext cx="0" cy="249448"/>
          </a:xfrm>
          <a:prstGeom prst="line">
            <a:avLst/>
          </a:prstGeom>
          <a:noFill/>
          <a:ln w="9525">
            <a:solidFill>
              <a:srgbClr val="C9A227">
                <a:alpha val="50000"/>
              </a:srgbClr>
            </a:solidFill>
            <a:prstDash val="solid"/>
          </a:ln>
        </p:spPr>
      </p:sp>
      <p:sp>
        <p:nvSpPr>
          <p:cNvPr id="70" name="Shape 68"/>
          <p:cNvSpPr/>
          <p:nvPr/>
        </p:nvSpPr>
        <p:spPr>
          <a:xfrm>
            <a:off x="8144104" y="6242792"/>
            <a:ext cx="347472" cy="0"/>
          </a:xfrm>
          <a:prstGeom prst="line">
            <a:avLst/>
          </a:prstGeom>
          <a:noFill/>
          <a:ln w="9525">
            <a:solidFill>
              <a:srgbClr val="C9A227">
                <a:alpha val="50000"/>
              </a:srgbClr>
            </a:solidFill>
            <a:prstDash val="solid"/>
          </a:ln>
        </p:spPr>
      </p:sp>
      <p:sp>
        <p:nvSpPr>
          <p:cNvPr id="71" name="Shape 69"/>
          <p:cNvSpPr/>
          <p:nvPr/>
        </p:nvSpPr>
        <p:spPr>
          <a:xfrm>
            <a:off x="8491576" y="6242792"/>
            <a:ext cx="0" cy="249448"/>
          </a:xfrm>
          <a:prstGeom prst="line">
            <a:avLst/>
          </a:prstGeom>
          <a:noFill/>
          <a:ln w="9525">
            <a:solidFill>
              <a:srgbClr val="C9A227">
                <a:alpha val="50000"/>
              </a:srgbClr>
            </a:solidFill>
            <a:prstDash val="solid"/>
          </a:ln>
        </p:spPr>
      </p:sp>
      <p:sp>
        <p:nvSpPr>
          <p:cNvPr id="72" name="Shape 70"/>
          <p:cNvSpPr/>
          <p:nvPr/>
        </p:nvSpPr>
        <p:spPr>
          <a:xfrm>
            <a:off x="8528152" y="6322162"/>
            <a:ext cx="0" cy="170078"/>
          </a:xfrm>
          <a:prstGeom prst="line">
            <a:avLst/>
          </a:prstGeom>
          <a:noFill/>
          <a:ln w="9525">
            <a:solidFill>
              <a:srgbClr val="C9A227">
                <a:alpha val="50000"/>
              </a:srgbClr>
            </a:solidFill>
            <a:prstDash val="solid"/>
          </a:ln>
        </p:spPr>
      </p:sp>
      <p:sp>
        <p:nvSpPr>
          <p:cNvPr id="73" name="Shape 71"/>
          <p:cNvSpPr/>
          <p:nvPr/>
        </p:nvSpPr>
        <p:spPr>
          <a:xfrm>
            <a:off x="8528152" y="6322162"/>
            <a:ext cx="274320" cy="0"/>
          </a:xfrm>
          <a:prstGeom prst="line">
            <a:avLst/>
          </a:prstGeom>
          <a:noFill/>
          <a:ln w="9525">
            <a:solidFill>
              <a:srgbClr val="C9A227">
                <a:alpha val="50000"/>
              </a:srgbClr>
            </a:solidFill>
            <a:prstDash val="solid"/>
          </a:ln>
        </p:spPr>
      </p:sp>
      <p:sp>
        <p:nvSpPr>
          <p:cNvPr id="74" name="Shape 72"/>
          <p:cNvSpPr/>
          <p:nvPr/>
        </p:nvSpPr>
        <p:spPr>
          <a:xfrm>
            <a:off x="8802472" y="6322162"/>
            <a:ext cx="0" cy="170078"/>
          </a:xfrm>
          <a:prstGeom prst="line">
            <a:avLst/>
          </a:prstGeom>
          <a:noFill/>
          <a:ln w="9525">
            <a:solidFill>
              <a:srgbClr val="C9A227">
                <a:alpha val="50000"/>
              </a:srgbClr>
            </a:solidFill>
            <a:prstDash val="solid"/>
          </a:ln>
        </p:spPr>
      </p:sp>
      <p:sp>
        <p:nvSpPr>
          <p:cNvPr id="75" name="Shape 73"/>
          <p:cNvSpPr/>
          <p:nvPr/>
        </p:nvSpPr>
        <p:spPr>
          <a:xfrm>
            <a:off x="8839048" y="6208776"/>
            <a:ext cx="0" cy="283464"/>
          </a:xfrm>
          <a:prstGeom prst="line">
            <a:avLst/>
          </a:prstGeom>
          <a:noFill/>
          <a:ln w="9525">
            <a:solidFill>
              <a:srgbClr val="C9A227">
                <a:alpha val="50000"/>
              </a:srgbClr>
            </a:solidFill>
            <a:prstDash val="solid"/>
          </a:ln>
        </p:spPr>
      </p:sp>
      <p:sp>
        <p:nvSpPr>
          <p:cNvPr id="76" name="Shape 74"/>
          <p:cNvSpPr/>
          <p:nvPr/>
        </p:nvSpPr>
        <p:spPr>
          <a:xfrm>
            <a:off x="8839048" y="6208776"/>
            <a:ext cx="347472" cy="0"/>
          </a:xfrm>
          <a:prstGeom prst="line">
            <a:avLst/>
          </a:prstGeom>
          <a:noFill/>
          <a:ln w="9525">
            <a:solidFill>
              <a:srgbClr val="C9A227">
                <a:alpha val="50000"/>
              </a:srgbClr>
            </a:solidFill>
            <a:prstDash val="solid"/>
          </a:ln>
        </p:spPr>
      </p:sp>
      <p:sp>
        <p:nvSpPr>
          <p:cNvPr id="77" name="Shape 75"/>
          <p:cNvSpPr/>
          <p:nvPr/>
        </p:nvSpPr>
        <p:spPr>
          <a:xfrm>
            <a:off x="9186520" y="6208776"/>
            <a:ext cx="0" cy="283464"/>
          </a:xfrm>
          <a:prstGeom prst="line">
            <a:avLst/>
          </a:prstGeom>
          <a:noFill/>
          <a:ln w="9525">
            <a:solidFill>
              <a:srgbClr val="C9A227">
                <a:alpha val="50000"/>
              </a:srgbClr>
            </a:solidFill>
            <a:prstDash val="solid"/>
          </a:ln>
        </p:spPr>
      </p:sp>
      <p:sp>
        <p:nvSpPr>
          <p:cNvPr id="78" name="Shape 76"/>
          <p:cNvSpPr/>
          <p:nvPr/>
        </p:nvSpPr>
        <p:spPr>
          <a:xfrm>
            <a:off x="9223096" y="6367516"/>
            <a:ext cx="0" cy="124724"/>
          </a:xfrm>
          <a:prstGeom prst="line">
            <a:avLst/>
          </a:prstGeom>
          <a:noFill/>
          <a:ln w="9525">
            <a:solidFill>
              <a:srgbClr val="C9A227">
                <a:alpha val="50000"/>
              </a:srgbClr>
            </a:solidFill>
            <a:prstDash val="solid"/>
          </a:ln>
        </p:spPr>
      </p:sp>
      <p:sp>
        <p:nvSpPr>
          <p:cNvPr id="79" name="Shape 77"/>
          <p:cNvSpPr/>
          <p:nvPr/>
        </p:nvSpPr>
        <p:spPr>
          <a:xfrm>
            <a:off x="9223096" y="6367516"/>
            <a:ext cx="219456" cy="0"/>
          </a:xfrm>
          <a:prstGeom prst="line">
            <a:avLst/>
          </a:prstGeom>
          <a:noFill/>
          <a:ln w="9525">
            <a:solidFill>
              <a:srgbClr val="C9A227">
                <a:alpha val="50000"/>
              </a:srgbClr>
            </a:solidFill>
            <a:prstDash val="solid"/>
          </a:ln>
        </p:spPr>
      </p:sp>
      <p:sp>
        <p:nvSpPr>
          <p:cNvPr id="80" name="Shape 78"/>
          <p:cNvSpPr/>
          <p:nvPr/>
        </p:nvSpPr>
        <p:spPr>
          <a:xfrm>
            <a:off x="9442552" y="6367516"/>
            <a:ext cx="0" cy="124724"/>
          </a:xfrm>
          <a:prstGeom prst="line">
            <a:avLst/>
          </a:prstGeom>
          <a:noFill/>
          <a:ln w="9525">
            <a:solidFill>
              <a:srgbClr val="C9A227">
                <a:alpha val="50000"/>
              </a:srgbClr>
            </a:solidFill>
            <a:prstDash val="solid"/>
          </a:ln>
        </p:spPr>
      </p:sp>
      <p:sp>
        <p:nvSpPr>
          <p:cNvPr id="81" name="Shape 79"/>
          <p:cNvSpPr/>
          <p:nvPr/>
        </p:nvSpPr>
        <p:spPr>
          <a:xfrm>
            <a:off x="9479128" y="6322162"/>
            <a:ext cx="0" cy="170078"/>
          </a:xfrm>
          <a:prstGeom prst="line">
            <a:avLst/>
          </a:prstGeom>
          <a:noFill/>
          <a:ln w="9525">
            <a:solidFill>
              <a:srgbClr val="C9A227">
                <a:alpha val="50000"/>
              </a:srgbClr>
            </a:solidFill>
            <a:prstDash val="solid"/>
          </a:ln>
        </p:spPr>
      </p:sp>
      <p:sp>
        <p:nvSpPr>
          <p:cNvPr id="82" name="Shape 80"/>
          <p:cNvSpPr/>
          <p:nvPr/>
        </p:nvSpPr>
        <p:spPr>
          <a:xfrm>
            <a:off x="9479128" y="6322162"/>
            <a:ext cx="237744" cy="0"/>
          </a:xfrm>
          <a:prstGeom prst="line">
            <a:avLst/>
          </a:prstGeom>
          <a:noFill/>
          <a:ln w="9525">
            <a:solidFill>
              <a:srgbClr val="C9A227">
                <a:alpha val="50000"/>
              </a:srgbClr>
            </a:solidFill>
            <a:prstDash val="solid"/>
          </a:ln>
        </p:spPr>
      </p:sp>
      <p:sp>
        <p:nvSpPr>
          <p:cNvPr id="83" name="Shape 81"/>
          <p:cNvSpPr/>
          <p:nvPr/>
        </p:nvSpPr>
        <p:spPr>
          <a:xfrm>
            <a:off x="9716872" y="6322162"/>
            <a:ext cx="0" cy="170078"/>
          </a:xfrm>
          <a:prstGeom prst="line">
            <a:avLst/>
          </a:prstGeom>
          <a:noFill/>
          <a:ln w="9525">
            <a:solidFill>
              <a:srgbClr val="C9A227">
                <a:alpha val="50000"/>
              </a:srgbClr>
            </a:solidFill>
            <a:prstDash val="solid"/>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vector>
  </TitlesOfParts>
  <Company>Denise Gosnell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Build Your Own Donna</dc:title>
  <dc:subject>PptxGenJS Presentation</dc:subject>
  <dc:creator>Denise Gosnell</dc:creator>
  <cp:lastModifiedBy>Denise Gosnell</cp:lastModifiedBy>
  <cp:revision>1</cp:revision>
  <dcterms:created xsi:type="dcterms:W3CDTF">2026-10-21T08:24:21Z</dcterms:created>
  <dcterms:modified xsi:type="dcterms:W3CDTF">2026-10-21T08:24:21Z</dcterms:modified>
</cp:coreProperties>
</file>