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1:13 Eastern every one of you owns a working Donna. Not a demo. Yours, on your own inbox, and she gets better every Friday.
[DO] Zoom housekeeping in one breath: Claude open on your laptop, the chat is for two things, a checkmark when you have it and a word when you are stuck. Name the TAs working the chat and the breakout rooms.
[WATCH] Do not start until the chat shows checkmarks from most of the room. The people who fall behind fall behind here, not later.
[NEXT] First, everyone opens the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Open the site now, on your phone or in a tab beside Claude. Type the password: suits, all lowercase. The TAs are putting the link and the password in the chat.
[DO] Say the password out loud twice and paste the link and the password into the Zoom chat yourself. Wait for checkmarks.
[WATCH] Someone will type the password with a capital letter or a space; the site ignores both. Someone else will be on the promo page instead of the instructions; the link in the chat fixes it.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lines at the top out loud, slowly. Then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If anyone technical pushes: the textbook version adds evaluate and monitor; we fold them into RUN and RETRAIN.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Proof that this is real: what mine does for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This is not a demo account. Mine holds calendar time the moment a thread converges, checks every invite for the people who matter, preps me before I meet a stranger, watches the eggs versus the balls, reads every Slack channel, runs a 24-hour reply desk, and plans tomorrow before I log off.
[DO] Pick two and tell the story in one breath each: the calendar hold that appeared before you finished reading, and the egg she caught. Keep it fun; the numbers are on the next slide.
[WATCH] Eggs versus balls: the goals that break if dropped are eggs; everything else bounces. She knows which is which because I wrote it down once.
[NEXT] What does that give back? The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receipts from my own calendar. The Friday after a conference, the follow-ups that used to take four hours took thirty-three minutes. Thirty-five personalized invitations in seventy-five minutes, which I simply would not have done before. And over a hundred meeting briefs since August, every one written before I walked in.
[DO] Point at the middle number. The honest ROI is the work that was not possible before, not just the hours saved.
[WATCH] The Microsoft figure is a survey of early Copilot users, self-reported, so call it a benchmark and not a promise. Your own receipts are the ones that count; they start Thursday at 4:30.
[NEXT] One honest slide about which AI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One phrase each, no religion. Copilot is the AI inside Microsoft 365. Perplexity is research with sources. ChatGPT is the everyday all-rounder. Claude is careful writing plus agents that do the work, which is why today runs on it: projects, connectors, skills, and scheduled tasks.
[DO] Point at the dark card, then at the caption. The skill you build today is a file. It is portable.
[WATCH] Do not get pulled into a feature war. The honest answer to 'which is best' is: the playbook is yours either way; the tool is the one your company allows.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say so in the chat or raise your hand, and a TA takes you into a Zoom room one to one.
[WATCH] After rule 5, say the last line out loud. It is the one that keeps people from hiding.
[NEXT] Four steps. By 1:13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12:17, teach at 12:31, run at 12:45, retrain at 1:01. At 1:13 she is working for you, and she has already given herself her first performance review.
[DO] Say the arc out loud, then point at the clock on each card. From here, each step opens with one slide that says what we are doing, then we switch to the site.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three things: create her project, connect the three Google accounts, then two prompts. The desk before the mail.
[DO] Read the three lines. Then switch the screen share to the site, Step 1, and stay there until the checkpoint.
[WATCH] Watch the pip in the top right. One of four stations lit. By 1:13 all four are.
[NEXT] The site,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Prompt 2 now makes her read your Sent folder first, and bans em dashes and AI speech patterns.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Still stuck: a TA takes them into a Zoom room.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Nothing until the chat shows a checkmark from nearly everyone.
[DO] Run it live on your own screen first, then hold. Count the checkmarks out loud. The TAs chase the stuck.
[WATCH] If a connector is stuck: disconnect, reconnect, confirm the account. If someone is hopelessly stuck, a TA takes them into a Zoom room and the room keeps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Three things: paste her playbook into a new chat in the Donna project, answer her four questions, then type Triage my inbox.
[DO] Pip moves to TEACH. Read the three lines, then share the site, Step 2.
[WATCH] Give people time here. The better the answers, the better the Donna.
[NEXT] The site,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 min.
[SAY] You do not write the document. You answer four questions and she writes it. Reply Now, By End of Day, your priorities, your voice. Take your time; specific answers make a better Donna.
[DO] Everyone pastes the template from the site into a NEW chat inside the Donna project. Gate: every screen shows 'Four questions. Take your time.' and QUESTION 1 OF 4. Checkmarks in the chat. Then let them answer. Circulate through the chat with the TAs.
[WATCH] Someone will paste OUTSIDE the Donna project and get generic results; get them inside the project, it is the first note on the page. Nobody gets hurried: there is no shortcut phrase this time.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playbook.
[DO]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Three things: she writes her playbook file, you upload it as a skill, then you schedule the 4:30 shift.
[DO] Pip moves to RUN. Read the three lines, then share the site, Step 3.
[WATCH] Free-plan people: the first two work for them; the schedule needs a paid plan, and the site says what they do instead.
[NEXT] The site,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A skill written in chat does not exist until you upload it. The file is a zip; the Skills screen wants a zip. Go slow and demo it on screen.
[DO] Three beats. She writes it. You DOWNLOAD it. You UPLOAD it under Customize, Skills, plus, Create skill, Upload a skill. Wait until the chat says every screen shows donna-triage in the list.
[WATCH] Stay in the SAME chat as step two; a fresh chat has not met them yet and writes a blank template. The gotchas are on the site: no Skills menu means the capability switch is off; a refused upload means the zip is not a folder with SKILL.md inside. The workaround for anyone: paste the playbook text into the scheduled task itself.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Free-plan people: no Scheduled menu; they run her by hand with Triage my inbox, and the site says so.
[WATCH] Scheduled tasks run on Anthropic's side now, so a closed laptop is fine; say that plainly. 'My local time' matters: half this room is in Europe. Paste by 12:56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1:05. Do not wait for the email here. Move on at 1:01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It is one more scheduled task, same place as the 4:30 shift.
[DO] Pip: all four stations lit. Read the three lines, then share the site, Step 4.
[WATCH] Nothing yet.
[NEXT] The site,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Your Sent folder is her report card. She reads the reports she wrote, the drafts she saved, and the emails you actually sent, and she proposes changes to her own playbook. Numbered, each with a because. Nothing changes until you say approve.
[DO] Paste first, by 1:03, then talk. Same place as the daily shift: Scheduled, New task, paste. The last line runs it right now on this week so far, with today's event ten minutes out, which lands at 1:13 if the paste is at 1:03.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upload, only when she proposes something.
[NEXT] While she reads: the reframe.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While her review is landing: recap the loop with THEIR artifacts. The playbook she wrote, the skill file they own, the schedule it runs on, the Friday it learns on. They did not learn a tool today. They built a loop, and closed it.
[DO] Two minutes, no more. Then the calendar.
[WATCH] Nothing.
[NEXT] 1:13. Open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discussion.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 min.
[SAY] Same four stations, pointed at the rest of your work. Every one of these questions is a workflow somebody on this call is doing by hand.
[DO] Facilitate from the chat; read answers aloud and map each one onto the ring so people hear their own use case become buildable. Three or four answers per station.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upload. If she gets it wrong, you do not need a better prompt. You need to retrain with better info, and more specific info.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576072"/>
            <a:ext cx="1408176" cy="1408176"/>
          </a:xfrm>
          <a:prstGeom prst="ellipse">
            <a:avLst/>
          </a:prstGeom>
          <a:ln w="12700">
            <a:solidFill>
              <a:srgbClr val="C9A227"/>
            </a:solidFill>
            <a:prstDash val="solid"/>
          </a:ln>
        </p:spPr>
      </p:sp>
      <p:sp>
        <p:nvSpPr>
          <p:cNvPr id="3" name="Shape 1"/>
          <p:cNvSpPr/>
          <p:nvPr/>
        </p:nvSpPr>
        <p:spPr>
          <a:xfrm>
            <a:off x="5496422" y="680277"/>
            <a:ext cx="1199766" cy="1199766"/>
          </a:xfrm>
          <a:prstGeom prst="ellipse">
            <a:avLst/>
          </a:prstGeom>
          <a:ln w="12700">
            <a:solidFill>
              <a:srgbClr val="C9A227"/>
            </a:solidFill>
            <a:prstDash val="solid"/>
          </a:ln>
        </p:spPr>
      </p:sp>
      <p:sp>
        <p:nvSpPr>
          <p:cNvPr id="4" name="Shape 2"/>
          <p:cNvSpPr/>
          <p:nvPr/>
        </p:nvSpPr>
        <p:spPr>
          <a:xfrm>
            <a:off x="6096305" y="540868"/>
            <a:ext cx="0" cy="70409"/>
          </a:xfrm>
          <a:prstGeom prst="line">
            <a:avLst/>
          </a:prstGeom>
          <a:noFill/>
          <a:ln w="12700">
            <a:solidFill>
              <a:srgbClr val="C9A227"/>
            </a:solidFill>
            <a:prstDash val="solid"/>
          </a:ln>
        </p:spPr>
      </p:sp>
      <p:sp>
        <p:nvSpPr>
          <p:cNvPr id="5" name="Shape 3"/>
          <p:cNvSpPr/>
          <p:nvPr/>
        </p:nvSpPr>
        <p:spPr>
          <a:xfrm>
            <a:off x="6096305" y="1949044"/>
            <a:ext cx="0" cy="70409"/>
          </a:xfrm>
          <a:prstGeom prst="line">
            <a:avLst/>
          </a:prstGeom>
          <a:noFill/>
          <a:ln w="12700">
            <a:solidFill>
              <a:srgbClr val="C9A227"/>
            </a:solidFill>
            <a:prstDash val="solid"/>
          </a:ln>
        </p:spPr>
      </p:sp>
      <p:sp>
        <p:nvSpPr>
          <p:cNvPr id="6" name="Shape 4"/>
          <p:cNvSpPr/>
          <p:nvPr/>
        </p:nvSpPr>
        <p:spPr>
          <a:xfrm>
            <a:off x="5357012" y="1280160"/>
            <a:ext cx="70409" cy="0"/>
          </a:xfrm>
          <a:prstGeom prst="line">
            <a:avLst/>
          </a:prstGeom>
          <a:noFill/>
          <a:ln w="12700">
            <a:solidFill>
              <a:srgbClr val="C9A227"/>
            </a:solidFill>
            <a:prstDash val="solid"/>
          </a:ln>
        </p:spPr>
      </p:sp>
      <p:sp>
        <p:nvSpPr>
          <p:cNvPr id="7" name="Shape 5"/>
          <p:cNvSpPr/>
          <p:nvPr/>
        </p:nvSpPr>
        <p:spPr>
          <a:xfrm>
            <a:off x="6765188" y="1280160"/>
            <a:ext cx="70409" cy="0"/>
          </a:xfrm>
          <a:prstGeom prst="line">
            <a:avLst/>
          </a:prstGeom>
          <a:noFill/>
          <a:ln w="12700">
            <a:solidFill>
              <a:srgbClr val="C9A227"/>
            </a:solidFill>
            <a:prstDash val="solid"/>
          </a:ln>
        </p:spPr>
      </p:sp>
      <p:sp>
        <p:nvSpPr>
          <p:cNvPr id="8" name="Text 6"/>
          <p:cNvSpPr/>
          <p:nvPr/>
        </p:nvSpPr>
        <p:spPr>
          <a:xfrm>
            <a:off x="5496422" y="68027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194560"/>
            <a:ext cx="8138160" cy="1452555"/>
          </a:xfrm>
          <a:prstGeom prst="rect">
            <a:avLst/>
          </a:prstGeom>
          <a:solidFill>
            <a:srgbClr val="E8E2D2"/>
          </a:solidFill>
          <a:ln/>
        </p:spPr>
      </p:sp>
      <p:sp>
        <p:nvSpPr>
          <p:cNvPr id="10" name="Text 8"/>
          <p:cNvSpPr/>
          <p:nvPr/>
        </p:nvSpPr>
        <p:spPr>
          <a:xfrm>
            <a:off x="2483968" y="245059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135051"/>
            <a:ext cx="722376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386657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470075"/>
            <a:ext cx="10570464" cy="365760"/>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No code. You copy, you paste, you leave with an agent.</a:t>
            </a:r>
            <a:endParaRPr lang="en-US" sz="1800" dirty="0"/>
          </a:p>
        </p:txBody>
      </p:sp>
      <p:sp>
        <p:nvSpPr>
          <p:cNvPr id="14" name="Text 12"/>
          <p:cNvSpPr/>
          <p:nvPr/>
        </p:nvSpPr>
        <p:spPr>
          <a:xfrm>
            <a:off x="813816" y="4927275"/>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DENISE GOSNELL, PH.D.   ·   WEDNESDAY, OCTOBER 21, 2026</a:t>
            </a:r>
            <a:endParaRPr lang="en-US" sz="1600" dirty="0"/>
          </a:p>
        </p:txBody>
      </p:sp>
      <p:sp>
        <p:nvSpPr>
          <p:cNvPr id="15" name="Text 13"/>
          <p:cNvSpPr/>
          <p:nvPr/>
        </p:nvSpPr>
        <p:spPr>
          <a:xfrm>
            <a:off x="813816" y="5219883"/>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12:00 PM ET   ·   9:00 AM PT   ·   5:00 PM LONDON   ·   6:00 PM PARIS</a:t>
            </a:r>
            <a:endParaRPr lang="en-US" sz="1600" dirty="0"/>
          </a:p>
        </p:txBody>
      </p:sp>
      <p:sp>
        <p:nvSpPr>
          <p:cNvPr id="16" name="Shape 14"/>
          <p:cNvSpPr/>
          <p:nvPr/>
        </p:nvSpPr>
        <p:spPr>
          <a:xfrm>
            <a:off x="2438248" y="6492240"/>
            <a:ext cx="7315200" cy="0"/>
          </a:xfrm>
          <a:prstGeom prst="line">
            <a:avLst/>
          </a:prstGeom>
          <a:noFill/>
          <a:ln w="9525">
            <a:solidFill>
              <a:srgbClr val="C9A227">
                <a:alpha val="50000"/>
              </a:srgbClr>
            </a:solidFill>
            <a:prstDash val="solid"/>
          </a:ln>
        </p:spPr>
      </p:sp>
      <p:sp>
        <p:nvSpPr>
          <p:cNvPr id="17" name="Shape 15"/>
          <p:cNvSpPr/>
          <p:nvPr/>
        </p:nvSpPr>
        <p:spPr>
          <a:xfrm>
            <a:off x="2438248" y="6378854"/>
            <a:ext cx="0" cy="113386"/>
          </a:xfrm>
          <a:prstGeom prst="line">
            <a:avLst/>
          </a:prstGeom>
          <a:noFill/>
          <a:ln w="9525">
            <a:solidFill>
              <a:srgbClr val="C9A227">
                <a:alpha val="50000"/>
              </a:srgbClr>
            </a:solidFill>
            <a:prstDash val="solid"/>
          </a:ln>
        </p:spPr>
      </p:sp>
      <p:sp>
        <p:nvSpPr>
          <p:cNvPr id="18" name="Shape 16"/>
          <p:cNvSpPr/>
          <p:nvPr/>
        </p:nvSpPr>
        <p:spPr>
          <a:xfrm>
            <a:off x="2438248" y="6378854"/>
            <a:ext cx="347472" cy="0"/>
          </a:xfrm>
          <a:prstGeom prst="line">
            <a:avLst/>
          </a:prstGeom>
          <a:noFill/>
          <a:ln w="9525">
            <a:solidFill>
              <a:srgbClr val="C9A227">
                <a:alpha val="50000"/>
              </a:srgbClr>
            </a:solidFill>
            <a:prstDash val="solid"/>
          </a:ln>
        </p:spPr>
      </p:sp>
      <p:sp>
        <p:nvSpPr>
          <p:cNvPr id="19" name="Shape 17"/>
          <p:cNvSpPr/>
          <p:nvPr/>
        </p:nvSpPr>
        <p:spPr>
          <a:xfrm>
            <a:off x="2785720" y="6378854"/>
            <a:ext cx="0" cy="113386"/>
          </a:xfrm>
          <a:prstGeom prst="line">
            <a:avLst/>
          </a:prstGeom>
          <a:noFill/>
          <a:ln w="9525">
            <a:solidFill>
              <a:srgbClr val="C9A227">
                <a:alpha val="50000"/>
              </a:srgbClr>
            </a:solidFill>
            <a:prstDash val="solid"/>
          </a:ln>
        </p:spPr>
      </p:sp>
      <p:sp>
        <p:nvSpPr>
          <p:cNvPr id="20" name="Shape 18"/>
          <p:cNvSpPr/>
          <p:nvPr/>
        </p:nvSpPr>
        <p:spPr>
          <a:xfrm>
            <a:off x="2822296" y="6299484"/>
            <a:ext cx="0" cy="192756"/>
          </a:xfrm>
          <a:prstGeom prst="line">
            <a:avLst/>
          </a:prstGeom>
          <a:noFill/>
          <a:ln w="9525">
            <a:solidFill>
              <a:srgbClr val="C9A227">
                <a:alpha val="50000"/>
              </a:srgbClr>
            </a:solidFill>
            <a:prstDash val="solid"/>
          </a:ln>
        </p:spPr>
      </p:sp>
      <p:sp>
        <p:nvSpPr>
          <p:cNvPr id="21" name="Shape 19"/>
          <p:cNvSpPr/>
          <p:nvPr/>
        </p:nvSpPr>
        <p:spPr>
          <a:xfrm>
            <a:off x="2822296" y="6299484"/>
            <a:ext cx="292608" cy="0"/>
          </a:xfrm>
          <a:prstGeom prst="line">
            <a:avLst/>
          </a:prstGeom>
          <a:noFill/>
          <a:ln w="9525">
            <a:solidFill>
              <a:srgbClr val="C9A227">
                <a:alpha val="50000"/>
              </a:srgbClr>
            </a:solidFill>
            <a:prstDash val="solid"/>
          </a:ln>
        </p:spPr>
      </p:sp>
      <p:sp>
        <p:nvSpPr>
          <p:cNvPr id="22" name="Shape 20"/>
          <p:cNvSpPr/>
          <p:nvPr/>
        </p:nvSpPr>
        <p:spPr>
          <a:xfrm>
            <a:off x="3114904" y="6299484"/>
            <a:ext cx="0" cy="192756"/>
          </a:xfrm>
          <a:prstGeom prst="line">
            <a:avLst/>
          </a:prstGeom>
          <a:noFill/>
          <a:ln w="9525">
            <a:solidFill>
              <a:srgbClr val="C9A227">
                <a:alpha val="50000"/>
              </a:srgbClr>
            </a:solidFill>
            <a:prstDash val="solid"/>
          </a:ln>
        </p:spPr>
      </p:sp>
      <p:sp>
        <p:nvSpPr>
          <p:cNvPr id="23" name="Shape 21"/>
          <p:cNvSpPr/>
          <p:nvPr/>
        </p:nvSpPr>
        <p:spPr>
          <a:xfrm>
            <a:off x="3151480" y="6401532"/>
            <a:ext cx="0" cy="90708"/>
          </a:xfrm>
          <a:prstGeom prst="line">
            <a:avLst/>
          </a:prstGeom>
          <a:noFill/>
          <a:ln w="9525">
            <a:solidFill>
              <a:srgbClr val="C9A227">
                <a:alpha val="50000"/>
              </a:srgbClr>
            </a:solidFill>
            <a:prstDash val="solid"/>
          </a:ln>
        </p:spPr>
      </p:sp>
      <p:sp>
        <p:nvSpPr>
          <p:cNvPr id="24" name="Shape 22"/>
          <p:cNvSpPr/>
          <p:nvPr/>
        </p:nvSpPr>
        <p:spPr>
          <a:xfrm>
            <a:off x="3151480" y="6401532"/>
            <a:ext cx="182880" cy="0"/>
          </a:xfrm>
          <a:prstGeom prst="line">
            <a:avLst/>
          </a:prstGeom>
          <a:noFill/>
          <a:ln w="9525">
            <a:solidFill>
              <a:srgbClr val="C9A227">
                <a:alpha val="50000"/>
              </a:srgbClr>
            </a:solidFill>
            <a:prstDash val="solid"/>
          </a:ln>
        </p:spPr>
      </p:sp>
      <p:sp>
        <p:nvSpPr>
          <p:cNvPr id="25" name="Shape 23"/>
          <p:cNvSpPr/>
          <p:nvPr/>
        </p:nvSpPr>
        <p:spPr>
          <a:xfrm>
            <a:off x="3334360" y="6401532"/>
            <a:ext cx="0" cy="90708"/>
          </a:xfrm>
          <a:prstGeom prst="line">
            <a:avLst/>
          </a:prstGeom>
          <a:noFill/>
          <a:ln w="9525">
            <a:solidFill>
              <a:srgbClr val="C9A227">
                <a:alpha val="50000"/>
              </a:srgbClr>
            </a:solidFill>
            <a:prstDash val="solid"/>
          </a:ln>
        </p:spPr>
      </p:sp>
      <p:sp>
        <p:nvSpPr>
          <p:cNvPr id="26" name="Shape 24"/>
          <p:cNvSpPr/>
          <p:nvPr/>
        </p:nvSpPr>
        <p:spPr>
          <a:xfrm>
            <a:off x="3370936" y="6231453"/>
            <a:ext cx="0" cy="260787"/>
          </a:xfrm>
          <a:prstGeom prst="line">
            <a:avLst/>
          </a:prstGeom>
          <a:noFill/>
          <a:ln w="9525">
            <a:solidFill>
              <a:srgbClr val="C9A227">
                <a:alpha val="50000"/>
              </a:srgbClr>
            </a:solidFill>
            <a:prstDash val="solid"/>
          </a:ln>
        </p:spPr>
      </p:sp>
      <p:sp>
        <p:nvSpPr>
          <p:cNvPr id="27" name="Shape 25"/>
          <p:cNvSpPr/>
          <p:nvPr/>
        </p:nvSpPr>
        <p:spPr>
          <a:xfrm>
            <a:off x="3370936" y="6231453"/>
            <a:ext cx="347472" cy="0"/>
          </a:xfrm>
          <a:prstGeom prst="line">
            <a:avLst/>
          </a:prstGeom>
          <a:noFill/>
          <a:ln w="9525">
            <a:solidFill>
              <a:srgbClr val="C9A227">
                <a:alpha val="50000"/>
              </a:srgbClr>
            </a:solidFill>
            <a:prstDash val="solid"/>
          </a:ln>
        </p:spPr>
      </p:sp>
      <p:sp>
        <p:nvSpPr>
          <p:cNvPr id="28" name="Shape 26"/>
          <p:cNvSpPr/>
          <p:nvPr/>
        </p:nvSpPr>
        <p:spPr>
          <a:xfrm>
            <a:off x="3718408" y="6231453"/>
            <a:ext cx="0" cy="260787"/>
          </a:xfrm>
          <a:prstGeom prst="line">
            <a:avLst/>
          </a:prstGeom>
          <a:noFill/>
          <a:ln w="9525">
            <a:solidFill>
              <a:srgbClr val="C9A227">
                <a:alpha val="50000"/>
              </a:srgbClr>
            </a:solidFill>
            <a:prstDash val="solid"/>
          </a:ln>
        </p:spPr>
      </p:sp>
      <p:sp>
        <p:nvSpPr>
          <p:cNvPr id="29" name="Shape 27"/>
          <p:cNvSpPr/>
          <p:nvPr/>
        </p:nvSpPr>
        <p:spPr>
          <a:xfrm>
            <a:off x="3754984" y="6344839"/>
            <a:ext cx="0" cy="147401"/>
          </a:xfrm>
          <a:prstGeom prst="line">
            <a:avLst/>
          </a:prstGeom>
          <a:noFill/>
          <a:ln w="9525">
            <a:solidFill>
              <a:srgbClr val="C9A227">
                <a:alpha val="50000"/>
              </a:srgbClr>
            </a:solidFill>
            <a:prstDash val="solid"/>
          </a:ln>
        </p:spPr>
      </p:sp>
      <p:sp>
        <p:nvSpPr>
          <p:cNvPr id="30" name="Shape 28"/>
          <p:cNvSpPr/>
          <p:nvPr/>
        </p:nvSpPr>
        <p:spPr>
          <a:xfrm>
            <a:off x="3754984" y="6344839"/>
            <a:ext cx="237744" cy="0"/>
          </a:xfrm>
          <a:prstGeom prst="line">
            <a:avLst/>
          </a:prstGeom>
          <a:noFill/>
          <a:ln w="9525">
            <a:solidFill>
              <a:srgbClr val="C9A227">
                <a:alpha val="50000"/>
              </a:srgbClr>
            </a:solidFill>
            <a:prstDash val="solid"/>
          </a:ln>
        </p:spPr>
      </p:sp>
      <p:sp>
        <p:nvSpPr>
          <p:cNvPr id="31" name="Shape 29"/>
          <p:cNvSpPr/>
          <p:nvPr/>
        </p:nvSpPr>
        <p:spPr>
          <a:xfrm>
            <a:off x="3992728" y="6344839"/>
            <a:ext cx="0" cy="147401"/>
          </a:xfrm>
          <a:prstGeom prst="line">
            <a:avLst/>
          </a:prstGeom>
          <a:noFill/>
          <a:ln w="9525">
            <a:solidFill>
              <a:srgbClr val="C9A227">
                <a:alpha val="50000"/>
              </a:srgbClr>
            </a:solidFill>
            <a:prstDash val="solid"/>
          </a:ln>
        </p:spPr>
      </p:sp>
      <p:sp>
        <p:nvSpPr>
          <p:cNvPr id="32" name="Shape 30"/>
          <p:cNvSpPr/>
          <p:nvPr/>
        </p:nvSpPr>
        <p:spPr>
          <a:xfrm>
            <a:off x="4029304" y="6140745"/>
            <a:ext cx="0" cy="351495"/>
          </a:xfrm>
          <a:prstGeom prst="line">
            <a:avLst/>
          </a:prstGeom>
          <a:noFill/>
          <a:ln w="9525">
            <a:solidFill>
              <a:srgbClr val="C9A227">
                <a:alpha val="50000"/>
              </a:srgbClr>
            </a:solidFill>
            <a:prstDash val="solid"/>
          </a:ln>
        </p:spPr>
      </p:sp>
      <p:sp>
        <p:nvSpPr>
          <p:cNvPr id="33" name="Shape 31"/>
          <p:cNvSpPr/>
          <p:nvPr/>
        </p:nvSpPr>
        <p:spPr>
          <a:xfrm>
            <a:off x="4029304" y="6140745"/>
            <a:ext cx="292608" cy="0"/>
          </a:xfrm>
          <a:prstGeom prst="line">
            <a:avLst/>
          </a:prstGeom>
          <a:noFill/>
          <a:ln w="9525">
            <a:solidFill>
              <a:srgbClr val="C9A227">
                <a:alpha val="50000"/>
              </a:srgbClr>
            </a:solidFill>
            <a:prstDash val="solid"/>
          </a:ln>
        </p:spPr>
      </p:sp>
      <p:sp>
        <p:nvSpPr>
          <p:cNvPr id="34" name="Shape 32"/>
          <p:cNvSpPr/>
          <p:nvPr/>
        </p:nvSpPr>
        <p:spPr>
          <a:xfrm>
            <a:off x="4321912" y="6140745"/>
            <a:ext cx="0" cy="351495"/>
          </a:xfrm>
          <a:prstGeom prst="line">
            <a:avLst/>
          </a:prstGeom>
          <a:noFill/>
          <a:ln w="9525">
            <a:solidFill>
              <a:srgbClr val="C9A227">
                <a:alpha val="50000"/>
              </a:srgbClr>
            </a:solidFill>
            <a:prstDash val="solid"/>
          </a:ln>
        </p:spPr>
      </p:sp>
      <p:sp>
        <p:nvSpPr>
          <p:cNvPr id="35" name="Shape 33"/>
          <p:cNvSpPr/>
          <p:nvPr/>
        </p:nvSpPr>
        <p:spPr>
          <a:xfrm>
            <a:off x="4358488" y="6322162"/>
            <a:ext cx="0" cy="170078"/>
          </a:xfrm>
          <a:prstGeom prst="line">
            <a:avLst/>
          </a:prstGeom>
          <a:noFill/>
          <a:ln w="9525">
            <a:solidFill>
              <a:srgbClr val="C9A227">
                <a:alpha val="50000"/>
              </a:srgbClr>
            </a:solidFill>
            <a:prstDash val="solid"/>
          </a:ln>
        </p:spPr>
      </p:sp>
      <p:sp>
        <p:nvSpPr>
          <p:cNvPr id="36" name="Shape 34"/>
          <p:cNvSpPr/>
          <p:nvPr/>
        </p:nvSpPr>
        <p:spPr>
          <a:xfrm>
            <a:off x="4358488" y="6322162"/>
            <a:ext cx="274320" cy="0"/>
          </a:xfrm>
          <a:prstGeom prst="line">
            <a:avLst/>
          </a:prstGeom>
          <a:noFill/>
          <a:ln w="9525">
            <a:solidFill>
              <a:srgbClr val="C9A227">
                <a:alpha val="50000"/>
              </a:srgbClr>
            </a:solidFill>
            <a:prstDash val="solid"/>
          </a:ln>
        </p:spPr>
      </p:sp>
      <p:sp>
        <p:nvSpPr>
          <p:cNvPr id="37" name="Shape 35"/>
          <p:cNvSpPr/>
          <p:nvPr/>
        </p:nvSpPr>
        <p:spPr>
          <a:xfrm>
            <a:off x="4632808" y="6322162"/>
            <a:ext cx="0" cy="170078"/>
          </a:xfrm>
          <a:prstGeom prst="line">
            <a:avLst/>
          </a:prstGeom>
          <a:noFill/>
          <a:ln w="9525">
            <a:solidFill>
              <a:srgbClr val="C9A227">
                <a:alpha val="50000"/>
              </a:srgbClr>
            </a:solidFill>
            <a:prstDash val="solid"/>
          </a:ln>
        </p:spPr>
      </p:sp>
      <p:sp>
        <p:nvSpPr>
          <p:cNvPr id="38" name="Shape 36"/>
          <p:cNvSpPr/>
          <p:nvPr/>
        </p:nvSpPr>
        <p:spPr>
          <a:xfrm>
            <a:off x="4669384" y="6378854"/>
            <a:ext cx="0" cy="113386"/>
          </a:xfrm>
          <a:prstGeom prst="line">
            <a:avLst/>
          </a:prstGeom>
          <a:noFill/>
          <a:ln w="9525">
            <a:solidFill>
              <a:srgbClr val="C9A227">
                <a:alpha val="50000"/>
              </a:srgbClr>
            </a:solidFill>
            <a:prstDash val="solid"/>
          </a:ln>
        </p:spPr>
      </p:sp>
      <p:sp>
        <p:nvSpPr>
          <p:cNvPr id="39" name="Shape 37"/>
          <p:cNvSpPr/>
          <p:nvPr/>
        </p:nvSpPr>
        <p:spPr>
          <a:xfrm>
            <a:off x="4669384" y="6378854"/>
            <a:ext cx="219456" cy="0"/>
          </a:xfrm>
          <a:prstGeom prst="line">
            <a:avLst/>
          </a:prstGeom>
          <a:noFill/>
          <a:ln w="9525">
            <a:solidFill>
              <a:srgbClr val="C9A227">
                <a:alpha val="50000"/>
              </a:srgbClr>
            </a:solidFill>
            <a:prstDash val="solid"/>
          </a:ln>
        </p:spPr>
      </p:sp>
      <p:sp>
        <p:nvSpPr>
          <p:cNvPr id="40" name="Shape 38"/>
          <p:cNvSpPr/>
          <p:nvPr/>
        </p:nvSpPr>
        <p:spPr>
          <a:xfrm>
            <a:off x="4888840" y="6378854"/>
            <a:ext cx="0" cy="113386"/>
          </a:xfrm>
          <a:prstGeom prst="line">
            <a:avLst/>
          </a:prstGeom>
          <a:noFill/>
          <a:ln w="9525">
            <a:solidFill>
              <a:srgbClr val="C9A227">
                <a:alpha val="50000"/>
              </a:srgbClr>
            </a:solidFill>
            <a:prstDash val="solid"/>
          </a:ln>
        </p:spPr>
      </p:sp>
      <p:sp>
        <p:nvSpPr>
          <p:cNvPr id="41" name="Shape 39"/>
          <p:cNvSpPr/>
          <p:nvPr/>
        </p:nvSpPr>
        <p:spPr>
          <a:xfrm>
            <a:off x="4925416" y="6208776"/>
            <a:ext cx="0" cy="283464"/>
          </a:xfrm>
          <a:prstGeom prst="line">
            <a:avLst/>
          </a:prstGeom>
          <a:noFill/>
          <a:ln w="9525">
            <a:solidFill>
              <a:srgbClr val="C9A227">
                <a:alpha val="50000"/>
              </a:srgbClr>
            </a:solidFill>
            <a:prstDash val="solid"/>
          </a:ln>
        </p:spPr>
      </p:sp>
      <p:sp>
        <p:nvSpPr>
          <p:cNvPr id="42" name="Shape 40"/>
          <p:cNvSpPr/>
          <p:nvPr/>
        </p:nvSpPr>
        <p:spPr>
          <a:xfrm>
            <a:off x="4925416" y="6208776"/>
            <a:ext cx="365760" cy="0"/>
          </a:xfrm>
          <a:prstGeom prst="line">
            <a:avLst/>
          </a:prstGeom>
          <a:noFill/>
          <a:ln w="9525">
            <a:solidFill>
              <a:srgbClr val="C9A227">
                <a:alpha val="50000"/>
              </a:srgbClr>
            </a:solidFill>
            <a:prstDash val="solid"/>
          </a:ln>
        </p:spPr>
      </p:sp>
      <p:sp>
        <p:nvSpPr>
          <p:cNvPr id="43" name="Shape 41"/>
          <p:cNvSpPr/>
          <p:nvPr/>
        </p:nvSpPr>
        <p:spPr>
          <a:xfrm>
            <a:off x="5291176" y="6208776"/>
            <a:ext cx="0" cy="283464"/>
          </a:xfrm>
          <a:prstGeom prst="line">
            <a:avLst/>
          </a:prstGeom>
          <a:noFill/>
          <a:ln w="9525">
            <a:solidFill>
              <a:srgbClr val="C9A227">
                <a:alpha val="50000"/>
              </a:srgbClr>
            </a:solidFill>
            <a:prstDash val="solid"/>
          </a:ln>
        </p:spPr>
      </p:sp>
      <p:sp>
        <p:nvSpPr>
          <p:cNvPr id="44" name="Shape 42"/>
          <p:cNvSpPr/>
          <p:nvPr/>
        </p:nvSpPr>
        <p:spPr>
          <a:xfrm>
            <a:off x="5327752" y="6288146"/>
            <a:ext cx="0" cy="204094"/>
          </a:xfrm>
          <a:prstGeom prst="line">
            <a:avLst/>
          </a:prstGeom>
          <a:noFill/>
          <a:ln w="9525">
            <a:solidFill>
              <a:srgbClr val="C9A227">
                <a:alpha val="50000"/>
              </a:srgbClr>
            </a:solidFill>
            <a:prstDash val="solid"/>
          </a:ln>
        </p:spPr>
      </p:sp>
      <p:sp>
        <p:nvSpPr>
          <p:cNvPr id="45" name="Shape 43"/>
          <p:cNvSpPr/>
          <p:nvPr/>
        </p:nvSpPr>
        <p:spPr>
          <a:xfrm>
            <a:off x="5327752" y="6288146"/>
            <a:ext cx="274320" cy="0"/>
          </a:xfrm>
          <a:prstGeom prst="line">
            <a:avLst/>
          </a:prstGeom>
          <a:noFill/>
          <a:ln w="9525">
            <a:solidFill>
              <a:srgbClr val="C9A227">
                <a:alpha val="50000"/>
              </a:srgbClr>
            </a:solidFill>
            <a:prstDash val="solid"/>
          </a:ln>
        </p:spPr>
      </p:sp>
      <p:sp>
        <p:nvSpPr>
          <p:cNvPr id="46" name="Shape 44"/>
          <p:cNvSpPr/>
          <p:nvPr/>
        </p:nvSpPr>
        <p:spPr>
          <a:xfrm>
            <a:off x="5602072" y="6288146"/>
            <a:ext cx="0" cy="204094"/>
          </a:xfrm>
          <a:prstGeom prst="line">
            <a:avLst/>
          </a:prstGeom>
          <a:noFill/>
          <a:ln w="9525">
            <a:solidFill>
              <a:srgbClr val="C9A227">
                <a:alpha val="50000"/>
              </a:srgbClr>
            </a:solidFill>
            <a:prstDash val="solid"/>
          </a:ln>
        </p:spPr>
      </p:sp>
      <p:sp>
        <p:nvSpPr>
          <p:cNvPr id="47" name="Shape 45"/>
          <p:cNvSpPr/>
          <p:nvPr/>
        </p:nvSpPr>
        <p:spPr>
          <a:xfrm>
            <a:off x="5638648" y="6367516"/>
            <a:ext cx="0" cy="124724"/>
          </a:xfrm>
          <a:prstGeom prst="line">
            <a:avLst/>
          </a:prstGeom>
          <a:noFill/>
          <a:ln w="9525">
            <a:solidFill>
              <a:srgbClr val="C9A227">
                <a:alpha val="50000"/>
              </a:srgbClr>
            </a:solidFill>
            <a:prstDash val="solid"/>
          </a:ln>
        </p:spPr>
      </p:sp>
      <p:sp>
        <p:nvSpPr>
          <p:cNvPr id="48" name="Shape 46"/>
          <p:cNvSpPr/>
          <p:nvPr/>
        </p:nvSpPr>
        <p:spPr>
          <a:xfrm>
            <a:off x="5638648" y="6367516"/>
            <a:ext cx="219456" cy="0"/>
          </a:xfrm>
          <a:prstGeom prst="line">
            <a:avLst/>
          </a:prstGeom>
          <a:noFill/>
          <a:ln w="9525">
            <a:solidFill>
              <a:srgbClr val="C9A227">
                <a:alpha val="50000"/>
              </a:srgbClr>
            </a:solidFill>
            <a:prstDash val="solid"/>
          </a:ln>
        </p:spPr>
      </p:sp>
      <p:sp>
        <p:nvSpPr>
          <p:cNvPr id="49" name="Shape 47"/>
          <p:cNvSpPr/>
          <p:nvPr/>
        </p:nvSpPr>
        <p:spPr>
          <a:xfrm>
            <a:off x="5858104" y="6367516"/>
            <a:ext cx="0" cy="124724"/>
          </a:xfrm>
          <a:prstGeom prst="line">
            <a:avLst/>
          </a:prstGeom>
          <a:noFill/>
          <a:ln w="9525">
            <a:solidFill>
              <a:srgbClr val="C9A227">
                <a:alpha val="50000"/>
              </a:srgbClr>
            </a:solidFill>
            <a:prstDash val="solid"/>
          </a:ln>
        </p:spPr>
      </p:sp>
      <p:sp>
        <p:nvSpPr>
          <p:cNvPr id="50" name="Shape 48"/>
          <p:cNvSpPr/>
          <p:nvPr/>
        </p:nvSpPr>
        <p:spPr>
          <a:xfrm>
            <a:off x="5894680" y="6163422"/>
            <a:ext cx="0" cy="328818"/>
          </a:xfrm>
          <a:prstGeom prst="line">
            <a:avLst/>
          </a:prstGeom>
          <a:noFill/>
          <a:ln w="9525">
            <a:solidFill>
              <a:srgbClr val="C9A227">
                <a:alpha val="50000"/>
              </a:srgbClr>
            </a:solidFill>
            <a:prstDash val="solid"/>
          </a:ln>
        </p:spPr>
      </p:sp>
      <p:sp>
        <p:nvSpPr>
          <p:cNvPr id="51" name="Shape 49"/>
          <p:cNvSpPr/>
          <p:nvPr/>
        </p:nvSpPr>
        <p:spPr>
          <a:xfrm>
            <a:off x="5894680" y="6163422"/>
            <a:ext cx="329184" cy="0"/>
          </a:xfrm>
          <a:prstGeom prst="line">
            <a:avLst/>
          </a:prstGeom>
          <a:noFill/>
          <a:ln w="9525">
            <a:solidFill>
              <a:srgbClr val="C9A227">
                <a:alpha val="50000"/>
              </a:srgbClr>
            </a:solidFill>
            <a:prstDash val="solid"/>
          </a:ln>
        </p:spPr>
      </p:sp>
      <p:sp>
        <p:nvSpPr>
          <p:cNvPr id="52" name="Shape 50"/>
          <p:cNvSpPr/>
          <p:nvPr/>
        </p:nvSpPr>
        <p:spPr>
          <a:xfrm>
            <a:off x="6223864" y="6163422"/>
            <a:ext cx="0" cy="328818"/>
          </a:xfrm>
          <a:prstGeom prst="line">
            <a:avLst/>
          </a:prstGeom>
          <a:noFill/>
          <a:ln w="9525">
            <a:solidFill>
              <a:srgbClr val="C9A227">
                <a:alpha val="50000"/>
              </a:srgbClr>
            </a:solidFill>
            <a:prstDash val="solid"/>
          </a:ln>
        </p:spPr>
      </p:sp>
      <p:sp>
        <p:nvSpPr>
          <p:cNvPr id="53" name="Shape 51"/>
          <p:cNvSpPr/>
          <p:nvPr/>
        </p:nvSpPr>
        <p:spPr>
          <a:xfrm>
            <a:off x="6260440" y="6322162"/>
            <a:ext cx="0" cy="170078"/>
          </a:xfrm>
          <a:prstGeom prst="line">
            <a:avLst/>
          </a:prstGeom>
          <a:noFill/>
          <a:ln w="9525">
            <a:solidFill>
              <a:srgbClr val="C9A227">
                <a:alpha val="50000"/>
              </a:srgbClr>
            </a:solidFill>
            <a:prstDash val="solid"/>
          </a:ln>
        </p:spPr>
      </p:sp>
      <p:sp>
        <p:nvSpPr>
          <p:cNvPr id="54" name="Shape 52"/>
          <p:cNvSpPr/>
          <p:nvPr/>
        </p:nvSpPr>
        <p:spPr>
          <a:xfrm>
            <a:off x="6260440" y="6322162"/>
            <a:ext cx="256032" cy="0"/>
          </a:xfrm>
          <a:prstGeom prst="line">
            <a:avLst/>
          </a:prstGeom>
          <a:noFill/>
          <a:ln w="9525">
            <a:solidFill>
              <a:srgbClr val="C9A227">
                <a:alpha val="50000"/>
              </a:srgbClr>
            </a:solidFill>
            <a:prstDash val="solid"/>
          </a:ln>
        </p:spPr>
      </p:sp>
      <p:sp>
        <p:nvSpPr>
          <p:cNvPr id="55" name="Shape 53"/>
          <p:cNvSpPr/>
          <p:nvPr/>
        </p:nvSpPr>
        <p:spPr>
          <a:xfrm>
            <a:off x="6516472" y="6322162"/>
            <a:ext cx="0" cy="170078"/>
          </a:xfrm>
          <a:prstGeom prst="line">
            <a:avLst/>
          </a:prstGeom>
          <a:noFill/>
          <a:ln w="9525">
            <a:solidFill>
              <a:srgbClr val="C9A227">
                <a:alpha val="50000"/>
              </a:srgbClr>
            </a:solidFill>
            <a:prstDash val="solid"/>
          </a:ln>
        </p:spPr>
      </p:sp>
      <p:sp>
        <p:nvSpPr>
          <p:cNvPr id="56" name="Shape 54"/>
          <p:cNvSpPr/>
          <p:nvPr/>
        </p:nvSpPr>
        <p:spPr>
          <a:xfrm>
            <a:off x="6553048" y="6254130"/>
            <a:ext cx="0" cy="238110"/>
          </a:xfrm>
          <a:prstGeom prst="line">
            <a:avLst/>
          </a:prstGeom>
          <a:noFill/>
          <a:ln w="9525">
            <a:solidFill>
              <a:srgbClr val="C9A227">
                <a:alpha val="50000"/>
              </a:srgbClr>
            </a:solidFill>
            <a:prstDash val="solid"/>
          </a:ln>
        </p:spPr>
      </p:sp>
      <p:sp>
        <p:nvSpPr>
          <p:cNvPr id="57" name="Shape 55"/>
          <p:cNvSpPr/>
          <p:nvPr/>
        </p:nvSpPr>
        <p:spPr>
          <a:xfrm>
            <a:off x="6553048" y="6254130"/>
            <a:ext cx="347472" cy="0"/>
          </a:xfrm>
          <a:prstGeom prst="line">
            <a:avLst/>
          </a:prstGeom>
          <a:noFill/>
          <a:ln w="9525">
            <a:solidFill>
              <a:srgbClr val="C9A227">
                <a:alpha val="50000"/>
              </a:srgbClr>
            </a:solidFill>
            <a:prstDash val="solid"/>
          </a:ln>
        </p:spPr>
      </p:sp>
      <p:sp>
        <p:nvSpPr>
          <p:cNvPr id="58" name="Shape 56"/>
          <p:cNvSpPr/>
          <p:nvPr/>
        </p:nvSpPr>
        <p:spPr>
          <a:xfrm>
            <a:off x="6900520" y="6254130"/>
            <a:ext cx="0" cy="238110"/>
          </a:xfrm>
          <a:prstGeom prst="line">
            <a:avLst/>
          </a:prstGeom>
          <a:noFill/>
          <a:ln w="9525">
            <a:solidFill>
              <a:srgbClr val="C9A227">
                <a:alpha val="50000"/>
              </a:srgbClr>
            </a:solidFill>
            <a:prstDash val="solid"/>
          </a:ln>
        </p:spPr>
      </p:sp>
      <p:sp>
        <p:nvSpPr>
          <p:cNvPr id="59" name="Shape 57"/>
          <p:cNvSpPr/>
          <p:nvPr/>
        </p:nvSpPr>
        <p:spPr>
          <a:xfrm>
            <a:off x="6937096" y="6378854"/>
            <a:ext cx="0" cy="113386"/>
          </a:xfrm>
          <a:prstGeom prst="line">
            <a:avLst/>
          </a:prstGeom>
          <a:noFill/>
          <a:ln w="9525">
            <a:solidFill>
              <a:srgbClr val="C9A227">
                <a:alpha val="50000"/>
              </a:srgbClr>
            </a:solidFill>
            <a:prstDash val="solid"/>
          </a:ln>
        </p:spPr>
      </p:sp>
      <p:sp>
        <p:nvSpPr>
          <p:cNvPr id="60" name="Shape 58"/>
          <p:cNvSpPr/>
          <p:nvPr/>
        </p:nvSpPr>
        <p:spPr>
          <a:xfrm>
            <a:off x="6937096" y="6378854"/>
            <a:ext cx="219456" cy="0"/>
          </a:xfrm>
          <a:prstGeom prst="line">
            <a:avLst/>
          </a:prstGeom>
          <a:noFill/>
          <a:ln w="9525">
            <a:solidFill>
              <a:srgbClr val="C9A227">
                <a:alpha val="50000"/>
              </a:srgbClr>
            </a:solidFill>
            <a:prstDash val="solid"/>
          </a:ln>
        </p:spPr>
      </p:sp>
      <p:sp>
        <p:nvSpPr>
          <p:cNvPr id="61" name="Shape 59"/>
          <p:cNvSpPr/>
          <p:nvPr/>
        </p:nvSpPr>
        <p:spPr>
          <a:xfrm>
            <a:off x="7156552" y="6378854"/>
            <a:ext cx="0" cy="113386"/>
          </a:xfrm>
          <a:prstGeom prst="line">
            <a:avLst/>
          </a:prstGeom>
          <a:noFill/>
          <a:ln w="9525">
            <a:solidFill>
              <a:srgbClr val="C9A227">
                <a:alpha val="50000"/>
              </a:srgbClr>
            </a:solidFill>
            <a:prstDash val="solid"/>
          </a:ln>
        </p:spPr>
      </p:sp>
      <p:sp>
        <p:nvSpPr>
          <p:cNvPr id="62" name="Shape 60"/>
          <p:cNvSpPr/>
          <p:nvPr/>
        </p:nvSpPr>
        <p:spPr>
          <a:xfrm>
            <a:off x="7193128" y="6186099"/>
            <a:ext cx="0" cy="306141"/>
          </a:xfrm>
          <a:prstGeom prst="line">
            <a:avLst/>
          </a:prstGeom>
          <a:noFill/>
          <a:ln w="9525">
            <a:solidFill>
              <a:srgbClr val="C9A227">
                <a:alpha val="50000"/>
              </a:srgbClr>
            </a:solidFill>
            <a:prstDash val="solid"/>
          </a:ln>
        </p:spPr>
      </p:sp>
      <p:sp>
        <p:nvSpPr>
          <p:cNvPr id="63" name="Shape 61"/>
          <p:cNvSpPr/>
          <p:nvPr/>
        </p:nvSpPr>
        <p:spPr>
          <a:xfrm>
            <a:off x="7193128" y="6186099"/>
            <a:ext cx="347472" cy="0"/>
          </a:xfrm>
          <a:prstGeom prst="line">
            <a:avLst/>
          </a:prstGeom>
          <a:noFill/>
          <a:ln w="9525">
            <a:solidFill>
              <a:srgbClr val="C9A227">
                <a:alpha val="50000"/>
              </a:srgbClr>
            </a:solidFill>
            <a:prstDash val="solid"/>
          </a:ln>
        </p:spPr>
      </p:sp>
      <p:sp>
        <p:nvSpPr>
          <p:cNvPr id="64" name="Shape 62"/>
          <p:cNvSpPr/>
          <p:nvPr/>
        </p:nvSpPr>
        <p:spPr>
          <a:xfrm>
            <a:off x="7540600" y="6186099"/>
            <a:ext cx="0" cy="306141"/>
          </a:xfrm>
          <a:prstGeom prst="line">
            <a:avLst/>
          </a:prstGeom>
          <a:noFill/>
          <a:ln w="9525">
            <a:solidFill>
              <a:srgbClr val="C9A227">
                <a:alpha val="50000"/>
              </a:srgbClr>
            </a:solidFill>
            <a:prstDash val="solid"/>
          </a:ln>
        </p:spPr>
      </p:sp>
      <p:sp>
        <p:nvSpPr>
          <p:cNvPr id="65" name="Shape 63"/>
          <p:cNvSpPr/>
          <p:nvPr/>
        </p:nvSpPr>
        <p:spPr>
          <a:xfrm>
            <a:off x="7577176" y="6310823"/>
            <a:ext cx="0" cy="181417"/>
          </a:xfrm>
          <a:prstGeom prst="line">
            <a:avLst/>
          </a:prstGeom>
          <a:noFill/>
          <a:ln w="9525">
            <a:solidFill>
              <a:srgbClr val="C9A227">
                <a:alpha val="50000"/>
              </a:srgbClr>
            </a:solidFill>
            <a:prstDash val="solid"/>
          </a:ln>
        </p:spPr>
      </p:sp>
      <p:sp>
        <p:nvSpPr>
          <p:cNvPr id="66" name="Shape 64"/>
          <p:cNvSpPr/>
          <p:nvPr/>
        </p:nvSpPr>
        <p:spPr>
          <a:xfrm>
            <a:off x="7577176" y="6310823"/>
            <a:ext cx="274320" cy="0"/>
          </a:xfrm>
          <a:prstGeom prst="line">
            <a:avLst/>
          </a:prstGeom>
          <a:noFill/>
          <a:ln w="9525">
            <a:solidFill>
              <a:srgbClr val="C9A227">
                <a:alpha val="50000"/>
              </a:srgbClr>
            </a:solidFill>
            <a:prstDash val="solid"/>
          </a:ln>
        </p:spPr>
      </p:sp>
      <p:sp>
        <p:nvSpPr>
          <p:cNvPr id="67" name="Shape 65"/>
          <p:cNvSpPr/>
          <p:nvPr/>
        </p:nvSpPr>
        <p:spPr>
          <a:xfrm>
            <a:off x="7851496" y="6310823"/>
            <a:ext cx="0" cy="181417"/>
          </a:xfrm>
          <a:prstGeom prst="line">
            <a:avLst/>
          </a:prstGeom>
          <a:noFill/>
          <a:ln w="9525">
            <a:solidFill>
              <a:srgbClr val="C9A227">
                <a:alpha val="50000"/>
              </a:srgbClr>
            </a:solidFill>
            <a:prstDash val="solid"/>
          </a:ln>
        </p:spPr>
      </p:sp>
      <p:sp>
        <p:nvSpPr>
          <p:cNvPr id="68" name="Shape 66"/>
          <p:cNvSpPr/>
          <p:nvPr/>
        </p:nvSpPr>
        <p:spPr>
          <a:xfrm>
            <a:off x="7888072" y="6356177"/>
            <a:ext cx="0" cy="136063"/>
          </a:xfrm>
          <a:prstGeom prst="line">
            <a:avLst/>
          </a:prstGeom>
          <a:noFill/>
          <a:ln w="9525">
            <a:solidFill>
              <a:srgbClr val="C9A227">
                <a:alpha val="50000"/>
              </a:srgbClr>
            </a:solidFill>
            <a:prstDash val="solid"/>
          </a:ln>
        </p:spPr>
      </p:sp>
      <p:sp>
        <p:nvSpPr>
          <p:cNvPr id="69" name="Shape 67"/>
          <p:cNvSpPr/>
          <p:nvPr/>
        </p:nvSpPr>
        <p:spPr>
          <a:xfrm>
            <a:off x="7888072" y="6356177"/>
            <a:ext cx="219456" cy="0"/>
          </a:xfrm>
          <a:prstGeom prst="line">
            <a:avLst/>
          </a:prstGeom>
          <a:noFill/>
          <a:ln w="9525">
            <a:solidFill>
              <a:srgbClr val="C9A227">
                <a:alpha val="50000"/>
              </a:srgbClr>
            </a:solidFill>
            <a:prstDash val="solid"/>
          </a:ln>
        </p:spPr>
      </p:sp>
      <p:sp>
        <p:nvSpPr>
          <p:cNvPr id="70" name="Shape 68"/>
          <p:cNvSpPr/>
          <p:nvPr/>
        </p:nvSpPr>
        <p:spPr>
          <a:xfrm>
            <a:off x="8107528" y="6356177"/>
            <a:ext cx="0" cy="136063"/>
          </a:xfrm>
          <a:prstGeom prst="line">
            <a:avLst/>
          </a:prstGeom>
          <a:noFill/>
          <a:ln w="9525">
            <a:solidFill>
              <a:srgbClr val="C9A227">
                <a:alpha val="50000"/>
              </a:srgbClr>
            </a:solidFill>
            <a:prstDash val="solid"/>
          </a:ln>
        </p:spPr>
      </p:sp>
      <p:sp>
        <p:nvSpPr>
          <p:cNvPr id="71" name="Shape 69"/>
          <p:cNvSpPr/>
          <p:nvPr/>
        </p:nvSpPr>
        <p:spPr>
          <a:xfrm>
            <a:off x="8144104" y="6242792"/>
            <a:ext cx="0" cy="249448"/>
          </a:xfrm>
          <a:prstGeom prst="line">
            <a:avLst/>
          </a:prstGeom>
          <a:noFill/>
          <a:ln w="9525">
            <a:solidFill>
              <a:srgbClr val="C9A227">
                <a:alpha val="50000"/>
              </a:srgbClr>
            </a:solidFill>
            <a:prstDash val="solid"/>
          </a:ln>
        </p:spPr>
      </p:sp>
      <p:sp>
        <p:nvSpPr>
          <p:cNvPr id="72" name="Shape 70"/>
          <p:cNvSpPr/>
          <p:nvPr/>
        </p:nvSpPr>
        <p:spPr>
          <a:xfrm>
            <a:off x="8144104" y="6242792"/>
            <a:ext cx="347472" cy="0"/>
          </a:xfrm>
          <a:prstGeom prst="line">
            <a:avLst/>
          </a:prstGeom>
          <a:noFill/>
          <a:ln w="9525">
            <a:solidFill>
              <a:srgbClr val="C9A227">
                <a:alpha val="50000"/>
              </a:srgbClr>
            </a:solidFill>
            <a:prstDash val="solid"/>
          </a:ln>
        </p:spPr>
      </p:sp>
      <p:sp>
        <p:nvSpPr>
          <p:cNvPr id="73" name="Shape 71"/>
          <p:cNvSpPr/>
          <p:nvPr/>
        </p:nvSpPr>
        <p:spPr>
          <a:xfrm>
            <a:off x="8491576" y="6242792"/>
            <a:ext cx="0" cy="249448"/>
          </a:xfrm>
          <a:prstGeom prst="line">
            <a:avLst/>
          </a:prstGeom>
          <a:noFill/>
          <a:ln w="9525">
            <a:solidFill>
              <a:srgbClr val="C9A227">
                <a:alpha val="50000"/>
              </a:srgbClr>
            </a:solidFill>
            <a:prstDash val="solid"/>
          </a:ln>
        </p:spPr>
      </p:sp>
      <p:sp>
        <p:nvSpPr>
          <p:cNvPr id="74" name="Shape 72"/>
          <p:cNvSpPr/>
          <p:nvPr/>
        </p:nvSpPr>
        <p:spPr>
          <a:xfrm>
            <a:off x="8528152" y="6322162"/>
            <a:ext cx="0" cy="170078"/>
          </a:xfrm>
          <a:prstGeom prst="line">
            <a:avLst/>
          </a:prstGeom>
          <a:noFill/>
          <a:ln w="9525">
            <a:solidFill>
              <a:srgbClr val="C9A227">
                <a:alpha val="50000"/>
              </a:srgbClr>
            </a:solidFill>
            <a:prstDash val="solid"/>
          </a:ln>
        </p:spPr>
      </p:sp>
      <p:sp>
        <p:nvSpPr>
          <p:cNvPr id="75" name="Shape 73"/>
          <p:cNvSpPr/>
          <p:nvPr/>
        </p:nvSpPr>
        <p:spPr>
          <a:xfrm>
            <a:off x="8528152" y="6322162"/>
            <a:ext cx="274320" cy="0"/>
          </a:xfrm>
          <a:prstGeom prst="line">
            <a:avLst/>
          </a:prstGeom>
          <a:noFill/>
          <a:ln w="9525">
            <a:solidFill>
              <a:srgbClr val="C9A227">
                <a:alpha val="50000"/>
              </a:srgbClr>
            </a:solidFill>
            <a:prstDash val="solid"/>
          </a:ln>
        </p:spPr>
      </p:sp>
      <p:sp>
        <p:nvSpPr>
          <p:cNvPr id="76" name="Shape 74"/>
          <p:cNvSpPr/>
          <p:nvPr/>
        </p:nvSpPr>
        <p:spPr>
          <a:xfrm>
            <a:off x="8802472" y="6322162"/>
            <a:ext cx="0" cy="170078"/>
          </a:xfrm>
          <a:prstGeom prst="line">
            <a:avLst/>
          </a:prstGeom>
          <a:noFill/>
          <a:ln w="9525">
            <a:solidFill>
              <a:srgbClr val="C9A227">
                <a:alpha val="50000"/>
              </a:srgbClr>
            </a:solidFill>
            <a:prstDash val="solid"/>
          </a:ln>
        </p:spPr>
      </p:sp>
      <p:sp>
        <p:nvSpPr>
          <p:cNvPr id="77" name="Shape 75"/>
          <p:cNvSpPr/>
          <p:nvPr/>
        </p:nvSpPr>
        <p:spPr>
          <a:xfrm>
            <a:off x="8839048" y="6208776"/>
            <a:ext cx="0" cy="283464"/>
          </a:xfrm>
          <a:prstGeom prst="line">
            <a:avLst/>
          </a:prstGeom>
          <a:noFill/>
          <a:ln w="9525">
            <a:solidFill>
              <a:srgbClr val="C9A227">
                <a:alpha val="50000"/>
              </a:srgbClr>
            </a:solidFill>
            <a:prstDash val="solid"/>
          </a:ln>
        </p:spPr>
      </p:sp>
      <p:sp>
        <p:nvSpPr>
          <p:cNvPr id="78" name="Shape 76"/>
          <p:cNvSpPr/>
          <p:nvPr/>
        </p:nvSpPr>
        <p:spPr>
          <a:xfrm>
            <a:off x="8839048" y="6208776"/>
            <a:ext cx="347472" cy="0"/>
          </a:xfrm>
          <a:prstGeom prst="line">
            <a:avLst/>
          </a:prstGeom>
          <a:noFill/>
          <a:ln w="9525">
            <a:solidFill>
              <a:srgbClr val="C9A227">
                <a:alpha val="50000"/>
              </a:srgbClr>
            </a:solidFill>
            <a:prstDash val="solid"/>
          </a:ln>
        </p:spPr>
      </p:sp>
      <p:sp>
        <p:nvSpPr>
          <p:cNvPr id="79" name="Shape 77"/>
          <p:cNvSpPr/>
          <p:nvPr/>
        </p:nvSpPr>
        <p:spPr>
          <a:xfrm>
            <a:off x="9186520" y="6208776"/>
            <a:ext cx="0" cy="283464"/>
          </a:xfrm>
          <a:prstGeom prst="line">
            <a:avLst/>
          </a:prstGeom>
          <a:noFill/>
          <a:ln w="9525">
            <a:solidFill>
              <a:srgbClr val="C9A227">
                <a:alpha val="50000"/>
              </a:srgbClr>
            </a:solidFill>
            <a:prstDash val="solid"/>
          </a:ln>
        </p:spPr>
      </p:sp>
      <p:sp>
        <p:nvSpPr>
          <p:cNvPr id="80" name="Shape 78"/>
          <p:cNvSpPr/>
          <p:nvPr/>
        </p:nvSpPr>
        <p:spPr>
          <a:xfrm>
            <a:off x="9223096" y="6367516"/>
            <a:ext cx="0" cy="124724"/>
          </a:xfrm>
          <a:prstGeom prst="line">
            <a:avLst/>
          </a:prstGeom>
          <a:noFill/>
          <a:ln w="9525">
            <a:solidFill>
              <a:srgbClr val="C9A227">
                <a:alpha val="50000"/>
              </a:srgbClr>
            </a:solidFill>
            <a:prstDash val="solid"/>
          </a:ln>
        </p:spPr>
      </p:sp>
      <p:sp>
        <p:nvSpPr>
          <p:cNvPr id="81" name="Shape 79"/>
          <p:cNvSpPr/>
          <p:nvPr/>
        </p:nvSpPr>
        <p:spPr>
          <a:xfrm>
            <a:off x="9223096" y="6367516"/>
            <a:ext cx="219456" cy="0"/>
          </a:xfrm>
          <a:prstGeom prst="line">
            <a:avLst/>
          </a:prstGeom>
          <a:noFill/>
          <a:ln w="9525">
            <a:solidFill>
              <a:srgbClr val="C9A227">
                <a:alpha val="50000"/>
              </a:srgbClr>
            </a:solidFill>
            <a:prstDash val="solid"/>
          </a:ln>
        </p:spPr>
      </p:sp>
      <p:sp>
        <p:nvSpPr>
          <p:cNvPr id="82" name="Shape 80"/>
          <p:cNvSpPr/>
          <p:nvPr/>
        </p:nvSpPr>
        <p:spPr>
          <a:xfrm>
            <a:off x="9442552" y="6367516"/>
            <a:ext cx="0" cy="124724"/>
          </a:xfrm>
          <a:prstGeom prst="line">
            <a:avLst/>
          </a:prstGeom>
          <a:noFill/>
          <a:ln w="9525">
            <a:solidFill>
              <a:srgbClr val="C9A227">
                <a:alpha val="50000"/>
              </a:srgbClr>
            </a:solidFill>
            <a:prstDash val="solid"/>
          </a:ln>
        </p:spPr>
      </p:sp>
      <p:sp>
        <p:nvSpPr>
          <p:cNvPr id="83" name="Shape 81"/>
          <p:cNvSpPr/>
          <p:nvPr/>
        </p:nvSpPr>
        <p:spPr>
          <a:xfrm>
            <a:off x="9479128" y="6322162"/>
            <a:ext cx="0" cy="170078"/>
          </a:xfrm>
          <a:prstGeom prst="line">
            <a:avLst/>
          </a:prstGeom>
          <a:noFill/>
          <a:ln w="9525">
            <a:solidFill>
              <a:srgbClr val="C9A227">
                <a:alpha val="50000"/>
              </a:srgbClr>
            </a:solidFill>
            <a:prstDash val="solid"/>
          </a:ln>
        </p:spPr>
      </p:sp>
      <p:sp>
        <p:nvSpPr>
          <p:cNvPr id="84" name="Shape 82"/>
          <p:cNvSpPr/>
          <p:nvPr/>
        </p:nvSpPr>
        <p:spPr>
          <a:xfrm>
            <a:off x="9479128" y="6322162"/>
            <a:ext cx="237744" cy="0"/>
          </a:xfrm>
          <a:prstGeom prst="line">
            <a:avLst/>
          </a:prstGeom>
          <a:noFill/>
          <a:ln w="9525">
            <a:solidFill>
              <a:srgbClr val="C9A227">
                <a:alpha val="50000"/>
              </a:srgbClr>
            </a:solidFill>
            <a:prstDash val="solid"/>
          </a:ln>
        </p:spPr>
      </p:sp>
      <p:sp>
        <p:nvSpPr>
          <p:cNvPr id="85" name="Shape 83"/>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BEFORE ANYTHING ELSE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Open the instructions.</a:t>
            </a:r>
            <a:endParaRPr lang="en-US" sz="4000" dirty="0"/>
          </a:p>
        </p:txBody>
      </p:sp>
      <p:sp>
        <p:nvSpPr>
          <p:cNvPr id="9" name="Text 7"/>
          <p:cNvSpPr/>
          <p:nvPr/>
        </p:nvSpPr>
        <p:spPr>
          <a:xfrm>
            <a:off x="813816" y="1848307"/>
            <a:ext cx="10570464" cy="731520"/>
          </a:xfrm>
          <a:prstGeom prst="rect">
            <a:avLst/>
          </a:prstGeom>
          <a:noFill/>
          <a:ln/>
        </p:spPr>
        <p:txBody>
          <a:bodyPr wrap="square" lIns="0" tIns="0" rIns="0" bIns="0" rtlCol="0" anchor="ctr"/>
          <a:lstStyle/>
          <a:p>
            <a:pPr algn="ctr" indent="0" marL="0">
              <a:buNone/>
            </a:pPr>
            <a:r>
              <a:rPr lang="en-US" sz="4000" b="1" dirty="0">
                <a:solidFill>
                  <a:srgbClr val="14213D"/>
                </a:solidFill>
                <a:latin typeface="Georgia" pitchFamily="34" charset="0"/>
                <a:ea typeface="Georgia" pitchFamily="34" charset="-122"/>
                <a:cs typeface="Georgia" pitchFamily="34" charset="-120"/>
              </a:rPr>
              <a:t>denisekgosnell.github.io/Donna</a:t>
            </a:r>
            <a:endParaRPr lang="en-US" sz="4000" dirty="0"/>
          </a:p>
        </p:txBody>
      </p:sp>
      <p:sp>
        <p:nvSpPr>
          <p:cNvPr id="10" name="Shape 8"/>
          <p:cNvSpPr/>
          <p:nvPr/>
        </p:nvSpPr>
        <p:spPr>
          <a:xfrm>
            <a:off x="2895448" y="2762707"/>
            <a:ext cx="6400800" cy="1371600"/>
          </a:xfrm>
          <a:prstGeom prst="rect">
            <a:avLst/>
          </a:prstGeom>
          <a:solidFill>
            <a:srgbClr val="E8E2D2"/>
          </a:solidFill>
          <a:ln/>
        </p:spPr>
      </p:sp>
      <p:sp>
        <p:nvSpPr>
          <p:cNvPr id="11" name="Text 9"/>
          <p:cNvSpPr/>
          <p:nvPr/>
        </p:nvSpPr>
        <p:spPr>
          <a:xfrm>
            <a:off x="2895448" y="2945587"/>
            <a:ext cx="6400800" cy="274320"/>
          </a:xfrm>
          <a:prstGeom prst="rect">
            <a:avLst/>
          </a:prstGeom>
          <a:noFill/>
          <a:ln/>
        </p:spPr>
        <p:txBody>
          <a:bodyPr wrap="square" lIns="0" tIns="0" rIns="0" bIns="0" rtlCol="0" anchor="ctr"/>
          <a:lstStyle/>
          <a:p>
            <a:pPr algn="ctr" indent="0" marL="0">
              <a:buNone/>
            </a:pPr>
            <a:r>
              <a:rPr lang="en-US" sz="1600" b="1" spc="200" kern="0" dirty="0">
                <a:solidFill>
                  <a:srgbClr val="8A6D14"/>
                </a:solidFill>
                <a:latin typeface="Arial" pitchFamily="34" charset="0"/>
                <a:ea typeface="Arial" pitchFamily="34" charset="-122"/>
                <a:cs typeface="Arial" pitchFamily="34" charset="-120"/>
              </a:rPr>
              <a:t>PASSWORD</a:t>
            </a:r>
            <a:endParaRPr lang="en-US" sz="1600" dirty="0"/>
          </a:p>
        </p:txBody>
      </p:sp>
      <p:sp>
        <p:nvSpPr>
          <p:cNvPr id="12" name="Text 10"/>
          <p:cNvSpPr/>
          <p:nvPr/>
        </p:nvSpPr>
        <p:spPr>
          <a:xfrm>
            <a:off x="2895448" y="3238195"/>
            <a:ext cx="6400800" cy="731520"/>
          </a:xfrm>
          <a:prstGeom prst="rect">
            <a:avLst/>
          </a:prstGeom>
          <a:noFill/>
          <a:ln/>
        </p:spPr>
        <p:txBody>
          <a:bodyPr wrap="square" lIns="0" tIns="0" rIns="0" bIns="0" rtlCol="0" anchor="ctr"/>
          <a:lstStyle/>
          <a:p>
            <a:pPr algn="ctr" indent="0" marL="0">
              <a:buNone/>
            </a:pPr>
            <a:r>
              <a:rPr lang="en-US" sz="4800" b="1" dirty="0">
                <a:solidFill>
                  <a:srgbClr val="14213D"/>
                </a:solidFill>
                <a:latin typeface="Georgia" pitchFamily="34" charset="0"/>
                <a:ea typeface="Georgia" pitchFamily="34" charset="-122"/>
                <a:cs typeface="Georgia" pitchFamily="34" charset="-120"/>
              </a:rPr>
              <a:t>suits</a:t>
            </a:r>
            <a:endParaRPr lang="en-US" sz="4800" dirty="0"/>
          </a:p>
        </p:txBody>
      </p:sp>
      <p:sp>
        <p:nvSpPr>
          <p:cNvPr id="13" name="Shape 11"/>
          <p:cNvSpPr/>
          <p:nvPr/>
        </p:nvSpPr>
        <p:spPr>
          <a:xfrm rot="2700000">
            <a:off x="2011680" y="4522927"/>
            <a:ext cx="100584" cy="100584"/>
          </a:xfrm>
          <a:prstGeom prst="rect">
            <a:avLst/>
          </a:prstGeom>
          <a:solidFill>
            <a:srgbClr val="C9A227"/>
          </a:solidFill>
          <a:ln w="3175">
            <a:solidFill>
              <a:srgbClr val="C9A227"/>
            </a:solidFill>
            <a:prstDash val="solid"/>
          </a:ln>
        </p:spPr>
      </p:sp>
      <p:sp>
        <p:nvSpPr>
          <p:cNvPr id="14" name="Text 12"/>
          <p:cNvSpPr/>
          <p:nvPr/>
        </p:nvSpPr>
        <p:spPr>
          <a:xfrm>
            <a:off x="2322576" y="4445203"/>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Phone or laptop. Keep it open: every prompt has a copy button.</a:t>
            </a:r>
            <a:endParaRPr lang="en-US" sz="1800" dirty="0"/>
          </a:p>
        </p:txBody>
      </p:sp>
      <p:sp>
        <p:nvSpPr>
          <p:cNvPr id="15" name="Shape 13"/>
          <p:cNvSpPr/>
          <p:nvPr/>
        </p:nvSpPr>
        <p:spPr>
          <a:xfrm rot="2700000">
            <a:off x="2011680" y="5030419"/>
            <a:ext cx="100584" cy="100584"/>
          </a:xfrm>
          <a:prstGeom prst="rect">
            <a:avLst/>
          </a:prstGeom>
          <a:solidFill>
            <a:srgbClr val="C9A227"/>
          </a:solidFill>
          <a:ln w="3175">
            <a:solidFill>
              <a:srgbClr val="C9A227"/>
            </a:solidFill>
            <a:prstDash val="solid"/>
          </a:ln>
        </p:spPr>
      </p:sp>
      <p:sp>
        <p:nvSpPr>
          <p:cNvPr id="16" name="Text 14"/>
          <p:cNvSpPr/>
          <p:nvPr/>
        </p:nvSpPr>
        <p:spPr>
          <a:xfrm>
            <a:off x="2322576" y="4952695"/>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The site is the live version. If they disagree, the site wins.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56032"/>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58368"/>
            <a:ext cx="10241280" cy="57607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  ·  THE BOTTLE, IN THREE FRAMES</a:t>
            </a:r>
            <a:endParaRPr lang="en-US" sz="16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Before AI. One task per second. All of them yours.</a:t>
            </a:r>
            <a:endParaRPr lang="en-US" sz="16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6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6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11" name="Shape 6"/>
          <p:cNvSpPr/>
          <p:nvPr/>
        </p:nvSpPr>
        <p:spPr>
          <a:xfrm rot="2700000">
            <a:off x="4227576" y="6012180"/>
            <a:ext cx="64008" cy="64008"/>
          </a:xfrm>
          <a:prstGeom prst="rect">
            <a:avLst/>
          </a:prstGeom>
          <a:solidFill>
            <a:srgbClr val="C9A227"/>
          </a:solidFill>
          <a:ln w="3175">
            <a:solidFill>
              <a:srgbClr val="C9A227"/>
            </a:solidFill>
            <a:prstDash val="solid"/>
          </a:ln>
        </p:spPr>
      </p:sp>
      <p:sp>
        <p:nvSpPr>
          <p:cNvPr id="12" name="Text 7"/>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4</a:t>
            </a:r>
            <a:endParaRPr lang="en-US" sz="1600" dirty="0"/>
          </a:p>
        </p:txBody>
      </p:sp>
      <p:sp>
        <p:nvSpPr>
          <p:cNvPr id="7" name="Text 5"/>
          <p:cNvSpPr/>
          <p:nvPr/>
        </p:nvSpPr>
        <p:spPr>
          <a:xfrm>
            <a:off x="1249528" y="502920"/>
            <a:ext cx="9692640" cy="1269919"/>
          </a:xfrm>
          <a:prstGeom prst="rect">
            <a:avLst/>
          </a:prstGeom>
          <a:noFill/>
          <a:ln/>
        </p:spPr>
        <p:txBody>
          <a:bodyPr wrap="square" lIns="0" tIns="0" rIns="0" bIns="0" rtlCol="0" anchor="t"/>
          <a:lstStyle/>
          <a:p>
            <a:pPr algn="ctr" indent="0" marL="0">
              <a:buNone/>
            </a:pPr>
            <a:r>
              <a:rPr lang="en-US" sz="3600" b="1" dirty="0">
                <a:solidFill>
                  <a:srgbClr val="14213D"/>
                </a:solidFill>
                <a:latin typeface="Georgia" pitchFamily="34" charset="0"/>
                <a:ea typeface="Georgia" pitchFamily="34" charset="-122"/>
                <a:cs typeface="Georgia" pitchFamily="34" charset="-120"/>
              </a:rPr>
              <a:t>Open loops make more work.</a:t>
            </a:r>
            <a:endParaRPr lang="en-US" sz="3600" dirty="0"/>
          </a:p>
          <a:p>
            <a:pPr algn="ctr" indent="0" marL="0">
              <a:buNone/>
            </a:pPr>
            <a:r>
              <a:rPr lang="en-US" sz="3600" b="1" dirty="0">
                <a:solidFill>
                  <a:srgbClr val="14213D"/>
                </a:solidFill>
                <a:latin typeface="Georgia" pitchFamily="34" charset="0"/>
                <a:ea typeface="Georgia" pitchFamily="34" charset="-122"/>
                <a:cs typeface="Georgia" pitchFamily="34" charset="-120"/>
              </a:rPr>
              <a:t>Closed loops make better work.</a:t>
            </a:r>
            <a:endParaRPr lang="en-US" sz="3600" dirty="0"/>
          </a:p>
        </p:txBody>
      </p:sp>
      <p:sp>
        <p:nvSpPr>
          <p:cNvPr id="8" name="Text 6"/>
          <p:cNvSpPr/>
          <p:nvPr/>
        </p:nvSpPr>
        <p:spPr>
          <a:xfrm>
            <a:off x="1088136"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OPEN</a:t>
            </a:r>
            <a:endParaRPr lang="en-US" sz="1600" dirty="0"/>
          </a:p>
        </p:txBody>
      </p:sp>
      <p:sp>
        <p:nvSpPr>
          <p:cNvPr id="9" name="Shape 7"/>
          <p:cNvSpPr/>
          <p:nvPr/>
        </p:nvSpPr>
        <p:spPr>
          <a:xfrm>
            <a:off x="1179576" y="2778679"/>
            <a:ext cx="1828800" cy="1828800"/>
          </a:xfrm>
          <a:prstGeom prst="ellipse">
            <a:avLst/>
          </a:prstGeom>
          <a:ln w="12700">
            <a:solidFill>
              <a:srgbClr val="C9A227"/>
            </a:solidFill>
            <a:prstDash val="solid"/>
          </a:ln>
        </p:spPr>
      </p:sp>
      <p:sp>
        <p:nvSpPr>
          <p:cNvPr id="10" name="Text 8"/>
          <p:cNvSpPr/>
          <p:nvPr/>
        </p:nvSpPr>
        <p:spPr>
          <a:xfrm>
            <a:off x="1179576" y="2778679"/>
            <a:ext cx="1828800" cy="182880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11" name="Shape 9"/>
          <p:cNvSpPr/>
          <p:nvPr/>
        </p:nvSpPr>
        <p:spPr>
          <a:xfrm>
            <a:off x="3008376" y="3693079"/>
            <a:ext cx="2834640" cy="0"/>
          </a:xfrm>
          <a:prstGeom prst="line">
            <a:avLst/>
          </a:prstGeom>
          <a:noFill/>
          <a:ln w="12700">
            <a:solidFill>
              <a:srgbClr val="C9A227"/>
            </a:solidFill>
            <a:prstDash val="solid"/>
          </a:ln>
        </p:spPr>
      </p:sp>
      <p:sp>
        <p:nvSpPr>
          <p:cNvPr id="12" name="Shape 10"/>
          <p:cNvSpPr/>
          <p:nvPr/>
        </p:nvSpPr>
        <p:spPr>
          <a:xfrm rot="5400000">
            <a:off x="3419856" y="3574207"/>
            <a:ext cx="182880" cy="237744"/>
          </a:xfrm>
          <a:prstGeom prst="triangle">
            <a:avLst/>
          </a:prstGeom>
          <a:solidFill>
            <a:srgbClr val="C9A227"/>
          </a:solidFill>
          <a:ln/>
        </p:spPr>
      </p:sp>
      <p:sp>
        <p:nvSpPr>
          <p:cNvPr id="13" name="Shape 11"/>
          <p:cNvSpPr/>
          <p:nvPr/>
        </p:nvSpPr>
        <p:spPr>
          <a:xfrm rot="5400000">
            <a:off x="4334256" y="3574207"/>
            <a:ext cx="182880" cy="237744"/>
          </a:xfrm>
          <a:prstGeom prst="triangle">
            <a:avLst/>
          </a:prstGeom>
          <a:solidFill>
            <a:srgbClr val="C9A227"/>
          </a:solidFill>
          <a:ln/>
        </p:spPr>
      </p:sp>
      <p:sp>
        <p:nvSpPr>
          <p:cNvPr id="14" name="Shape 12"/>
          <p:cNvSpPr/>
          <p:nvPr/>
        </p:nvSpPr>
        <p:spPr>
          <a:xfrm rot="5400000">
            <a:off x="5248656" y="3574207"/>
            <a:ext cx="182880" cy="237744"/>
          </a:xfrm>
          <a:prstGeom prst="triangle">
            <a:avLst/>
          </a:prstGeom>
          <a:solidFill>
            <a:srgbClr val="C9A227"/>
          </a:solidFill>
          <a:ln/>
        </p:spPr>
      </p:sp>
      <p:sp>
        <p:nvSpPr>
          <p:cNvPr id="15" name="Text 13"/>
          <p:cNvSpPr/>
          <p:nvPr/>
        </p:nvSpPr>
        <p:spPr>
          <a:xfrm>
            <a:off x="3099816" y="3126151"/>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work goes out</a:t>
            </a:r>
            <a:endParaRPr lang="en-US" sz="1600" dirty="0"/>
          </a:p>
        </p:txBody>
      </p:sp>
      <p:sp>
        <p:nvSpPr>
          <p:cNvPr id="16" name="Text 14"/>
          <p:cNvSpPr/>
          <p:nvPr/>
        </p:nvSpPr>
        <p:spPr>
          <a:xfrm>
            <a:off x="3099816" y="3967399"/>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nothing comes back</a:t>
            </a:r>
            <a:endParaRPr lang="en-US" sz="1600" dirty="0"/>
          </a:p>
        </p:txBody>
      </p:sp>
      <p:sp>
        <p:nvSpPr>
          <p:cNvPr id="17" name="Text 15"/>
          <p:cNvSpPr/>
          <p:nvPr/>
        </p:nvSpPr>
        <p:spPr>
          <a:xfrm>
            <a:off x="6348679"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CLOSED</a:t>
            </a:r>
            <a:endParaRPr lang="en-US" sz="1600" dirty="0"/>
          </a:p>
        </p:txBody>
      </p:sp>
      <p:sp>
        <p:nvSpPr>
          <p:cNvPr id="18" name="Shape 16"/>
          <p:cNvSpPr/>
          <p:nvPr/>
        </p:nvSpPr>
        <p:spPr>
          <a:xfrm>
            <a:off x="7409383" y="2376343"/>
            <a:ext cx="2633472" cy="2633472"/>
          </a:xfrm>
          <a:prstGeom prst="ellipse">
            <a:avLst/>
          </a:prstGeom>
          <a:ln w="12700">
            <a:solidFill>
              <a:srgbClr val="C9A227"/>
            </a:solidFill>
            <a:prstDash val="solid"/>
          </a:ln>
        </p:spPr>
      </p:sp>
      <p:sp>
        <p:nvSpPr>
          <p:cNvPr id="19" name="Shape 17"/>
          <p:cNvSpPr/>
          <p:nvPr/>
        </p:nvSpPr>
        <p:spPr>
          <a:xfrm rot="8100000">
            <a:off x="9595013" y="2676509"/>
            <a:ext cx="124358" cy="170993"/>
          </a:xfrm>
          <a:prstGeom prst="triangle">
            <a:avLst/>
          </a:prstGeom>
          <a:solidFill>
            <a:srgbClr val="C9A227"/>
          </a:solidFill>
          <a:ln/>
        </p:spPr>
      </p:sp>
      <p:sp>
        <p:nvSpPr>
          <p:cNvPr id="20" name="Shape 18"/>
          <p:cNvSpPr/>
          <p:nvPr/>
        </p:nvSpPr>
        <p:spPr>
          <a:xfrm rot="13500000">
            <a:off x="9595013" y="4538655"/>
            <a:ext cx="124358" cy="170993"/>
          </a:xfrm>
          <a:prstGeom prst="triangle">
            <a:avLst/>
          </a:prstGeom>
          <a:solidFill>
            <a:srgbClr val="C9A227"/>
          </a:solidFill>
          <a:ln/>
        </p:spPr>
      </p:sp>
      <p:sp>
        <p:nvSpPr>
          <p:cNvPr id="21" name="Shape 19"/>
          <p:cNvSpPr/>
          <p:nvPr/>
        </p:nvSpPr>
        <p:spPr>
          <a:xfrm rot="18900000">
            <a:off x="7732867" y="4538655"/>
            <a:ext cx="124358" cy="170993"/>
          </a:xfrm>
          <a:prstGeom prst="triangle">
            <a:avLst/>
          </a:prstGeom>
          <a:solidFill>
            <a:srgbClr val="C9A227"/>
          </a:solidFill>
          <a:ln/>
        </p:spPr>
      </p:sp>
      <p:sp>
        <p:nvSpPr>
          <p:cNvPr id="22" name="Shape 20"/>
          <p:cNvSpPr/>
          <p:nvPr/>
        </p:nvSpPr>
        <p:spPr>
          <a:xfrm rot="2700000">
            <a:off x="7732867" y="2676509"/>
            <a:ext cx="124358" cy="170993"/>
          </a:xfrm>
          <a:prstGeom prst="triangle">
            <a:avLst/>
          </a:prstGeom>
          <a:solidFill>
            <a:srgbClr val="C9A227"/>
          </a:solidFill>
          <a:ln/>
        </p:spPr>
      </p:sp>
      <p:sp>
        <p:nvSpPr>
          <p:cNvPr id="23" name="Shape 21"/>
          <p:cNvSpPr/>
          <p:nvPr/>
        </p:nvSpPr>
        <p:spPr>
          <a:xfrm>
            <a:off x="7962412" y="2929372"/>
            <a:ext cx="1527414" cy="1527414"/>
          </a:xfrm>
          <a:prstGeom prst="ellipse">
            <a:avLst/>
          </a:prstGeom>
          <a:ln w="12700">
            <a:solidFill>
              <a:srgbClr val="C9A227"/>
            </a:solidFill>
            <a:prstDash val="solid"/>
          </a:ln>
        </p:spPr>
      </p:sp>
      <p:sp>
        <p:nvSpPr>
          <p:cNvPr id="24" name="Text 22"/>
          <p:cNvSpPr/>
          <p:nvPr/>
        </p:nvSpPr>
        <p:spPr>
          <a:xfrm>
            <a:off x="8008132" y="3395899"/>
            <a:ext cx="1435974" cy="59436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25" name="Shape 23"/>
          <p:cNvSpPr/>
          <p:nvPr/>
        </p:nvSpPr>
        <p:spPr>
          <a:xfrm>
            <a:off x="8524951" y="2175175"/>
            <a:ext cx="402336" cy="402336"/>
          </a:xfrm>
          <a:prstGeom prst="ellipse">
            <a:avLst/>
          </a:prstGeom>
          <a:solidFill>
            <a:srgbClr val="F7F3EA"/>
          </a:solidFill>
          <a:ln w="12700">
            <a:solidFill>
              <a:srgbClr val="C9A227"/>
            </a:solidFill>
            <a:prstDash val="solid"/>
          </a:ln>
        </p:spPr>
      </p:sp>
      <p:sp>
        <p:nvSpPr>
          <p:cNvPr id="26" name="Text 24"/>
          <p:cNvSpPr/>
          <p:nvPr/>
        </p:nvSpPr>
        <p:spPr>
          <a:xfrm>
            <a:off x="8524951" y="2175175"/>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01</a:t>
            </a:r>
            <a:endParaRPr lang="en-US" sz="1800" dirty="0"/>
          </a:p>
        </p:txBody>
      </p:sp>
      <p:sp>
        <p:nvSpPr>
          <p:cNvPr id="27" name="Shape 25"/>
          <p:cNvSpPr/>
          <p:nvPr/>
        </p:nvSpPr>
        <p:spPr>
          <a:xfrm>
            <a:off x="9841687" y="3491911"/>
            <a:ext cx="402336" cy="402336"/>
          </a:xfrm>
          <a:prstGeom prst="ellipse">
            <a:avLst/>
          </a:prstGeom>
          <a:solidFill>
            <a:srgbClr val="F7F3EA"/>
          </a:solidFill>
          <a:ln w="12700">
            <a:solidFill>
              <a:srgbClr val="C9A227"/>
            </a:solidFill>
            <a:prstDash val="solid"/>
          </a:ln>
        </p:spPr>
      </p:sp>
      <p:sp>
        <p:nvSpPr>
          <p:cNvPr id="28" name="Text 26"/>
          <p:cNvSpPr/>
          <p:nvPr/>
        </p:nvSpPr>
        <p:spPr>
          <a:xfrm>
            <a:off x="9841687"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02</a:t>
            </a:r>
            <a:endParaRPr lang="en-US" sz="1800" dirty="0"/>
          </a:p>
        </p:txBody>
      </p:sp>
      <p:sp>
        <p:nvSpPr>
          <p:cNvPr id="29" name="Shape 27"/>
          <p:cNvSpPr/>
          <p:nvPr/>
        </p:nvSpPr>
        <p:spPr>
          <a:xfrm>
            <a:off x="8524951" y="4808647"/>
            <a:ext cx="402336" cy="402336"/>
          </a:xfrm>
          <a:prstGeom prst="ellipse">
            <a:avLst/>
          </a:prstGeom>
          <a:solidFill>
            <a:srgbClr val="F7F3EA"/>
          </a:solidFill>
          <a:ln w="12700">
            <a:solidFill>
              <a:srgbClr val="C9A227"/>
            </a:solidFill>
            <a:prstDash val="solid"/>
          </a:ln>
        </p:spPr>
      </p:sp>
      <p:sp>
        <p:nvSpPr>
          <p:cNvPr id="30" name="Text 28"/>
          <p:cNvSpPr/>
          <p:nvPr/>
        </p:nvSpPr>
        <p:spPr>
          <a:xfrm>
            <a:off x="8524951" y="4808647"/>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03</a:t>
            </a:r>
            <a:endParaRPr lang="en-US" sz="1800" dirty="0"/>
          </a:p>
        </p:txBody>
      </p:sp>
      <p:sp>
        <p:nvSpPr>
          <p:cNvPr id="31" name="Shape 29"/>
          <p:cNvSpPr/>
          <p:nvPr/>
        </p:nvSpPr>
        <p:spPr>
          <a:xfrm>
            <a:off x="7208215" y="3491911"/>
            <a:ext cx="402336" cy="402336"/>
          </a:xfrm>
          <a:prstGeom prst="ellipse">
            <a:avLst/>
          </a:prstGeom>
          <a:solidFill>
            <a:srgbClr val="F7F3EA"/>
          </a:solidFill>
          <a:ln w="12700">
            <a:solidFill>
              <a:srgbClr val="C9A227"/>
            </a:solidFill>
            <a:prstDash val="solid"/>
          </a:ln>
        </p:spPr>
      </p:sp>
      <p:sp>
        <p:nvSpPr>
          <p:cNvPr id="32" name="Text 30"/>
          <p:cNvSpPr/>
          <p:nvPr/>
        </p:nvSpPr>
        <p:spPr>
          <a:xfrm>
            <a:off x="7208215"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04</a:t>
            </a:r>
            <a:endParaRPr lang="en-US" sz="1800" dirty="0"/>
          </a:p>
        </p:txBody>
      </p:sp>
      <p:sp>
        <p:nvSpPr>
          <p:cNvPr id="33" name="Text 31"/>
          <p:cNvSpPr/>
          <p:nvPr/>
        </p:nvSpPr>
        <p:spPr>
          <a:xfrm>
            <a:off x="813816" y="5302423"/>
            <a:ext cx="10570464" cy="411480"/>
          </a:xfrm>
          <a:prstGeom prst="rect">
            <a:avLst/>
          </a:prstGeom>
          <a:noFill/>
          <a:ln/>
        </p:spPr>
        <p:txBody>
          <a:bodyPr wrap="square" lIns="0" tIns="0" rIns="0" bIns="0" rtlCol="0" anchor="t"/>
          <a:lstStyle/>
          <a:p>
            <a:pPr algn="l" indent="0" marL="0">
              <a:lnSpc>
                <a:spcPct val="116000"/>
              </a:lnSpc>
              <a:buNone/>
            </a:pPr>
            <a:r>
              <a:rPr lang="en-US" sz="2000" i="1" dirty="0">
                <a:solidFill>
                  <a:srgbClr val="5A6379"/>
                </a:solidFill>
                <a:latin typeface="Arial" pitchFamily="34" charset="0"/>
                <a:ea typeface="Arial" pitchFamily="34" charset="-122"/>
                <a:cs typeface="Arial" pitchFamily="34" charset="-120"/>
              </a:rPr>
              <a:t>AI makes open loops cheap. That is the whole problem.</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ANY WORKFLOW YOU CAN DESCRIBE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F7F3EA"/>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Work comes in.</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Write the rules down once.</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The work gets done, on a schedule.</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Look at what came back. Fix the rules.</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Email. Invoices. Hiring. Support tickets. Same four stops.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6</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MACHINE LEARNING ACTUALLY IS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this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14213D"/>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MODEL</a:t>
            </a:r>
            <a:endParaRPr lang="en-US" sz="1600" dirty="0"/>
          </a:p>
        </p:txBody>
      </p:sp>
      <p:sp>
        <p:nvSpPr>
          <p:cNvPr id="16" name="Shape 14"/>
          <p:cNvSpPr/>
          <p:nvPr/>
        </p:nvSpPr>
        <p:spPr>
          <a:xfrm>
            <a:off x="3282696" y="2177491"/>
            <a:ext cx="566928" cy="566928"/>
          </a:xfrm>
          <a:prstGeom prst="ellipse">
            <a:avLst/>
          </a:prstGeom>
          <a:solidFill>
            <a:srgbClr val="F7F3EA"/>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F7F3EA"/>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F7F3EA"/>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F7F3EA"/>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01  </a:t>
            </a:r>
            <a:pPr indent="0" marL="0">
              <a:buNone/>
            </a:pPr>
            <a:r>
              <a:rPr lang="en-US" sz="1600" b="1" spc="100" kern="0" dirty="0">
                <a:solidFill>
                  <a:srgbClr val="14213D"/>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Collect the data.</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02  </a:t>
            </a:r>
            <a:pPr indent="0" marL="0">
              <a:buNone/>
            </a:pPr>
            <a:r>
              <a:rPr lang="en-US" sz="1600" b="1" spc="100" kern="0" dirty="0">
                <a:solidFill>
                  <a:srgbClr val="14213D"/>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Train the model on it.</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03  </a:t>
            </a:r>
            <a:pPr indent="0" marL="0">
              <a:buNone/>
            </a:pPr>
            <a:r>
              <a:rPr lang="en-US" sz="1600" b="1" spc="100" kern="0" dirty="0">
                <a:solidFill>
                  <a:srgbClr val="14213D"/>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Put it to work and watch what it does.</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04  </a:t>
            </a:r>
            <a:pPr indent="0" marL="0">
              <a:buNone/>
            </a:pPr>
            <a:r>
              <a:rPr lang="en-US" sz="1600" b="1" spc="100" kern="0" dirty="0">
                <a:solidFill>
                  <a:srgbClr val="14213D"/>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Compare to what you wanted. Retrain.</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Over fifty years of this loop. The prompt was never the hard part. Step four was the job.</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7</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WHAT YOU BUILD IN THE NEXT HOUR</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A31621"/>
          </a:solidFill>
          <a:ln/>
        </p:spPr>
      </p:sp>
      <p:sp>
        <p:nvSpPr>
          <p:cNvPr id="15" name="Text 13"/>
          <p:cNvSpPr/>
          <p:nvPr/>
        </p:nvSpPr>
        <p:spPr>
          <a:xfrm>
            <a:off x="3018239" y="3352394"/>
            <a:ext cx="1095841" cy="264160"/>
          </a:xfrm>
          <a:prstGeom prst="rect">
            <a:avLst/>
          </a:prstGeom>
          <a:noFill/>
          <a:ln/>
        </p:spPr>
        <p:txBody>
          <a:bodyPr wrap="square" lIns="0" tIns="0" rIns="0" bIns="0" rtlCol="0" anchor="ctr"/>
          <a:lstStyle/>
          <a:p>
            <a:pPr algn="ctr" indent="0" marL="0">
              <a:lnSpc>
                <a:spcPct val="102000"/>
              </a:lnSpc>
              <a:buNone/>
            </a:pPr>
            <a:r>
              <a:rPr lang="en-US" sz="1600" b="1" dirty="0">
                <a:solidFill>
                  <a:srgbClr val="FFFFFF"/>
                </a:solidFill>
                <a:latin typeface="Georgia" pitchFamily="34" charset="0"/>
                <a:ea typeface="Georgia" pitchFamily="34" charset="-122"/>
                <a:cs typeface="Georgia" pitchFamily="34" charset="-120"/>
              </a:rPr>
              <a:t>DONNA</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Connect her to your inbox and calendar.</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questions. She writes her playbook.</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She takes the 4:30 shift, every weekday.</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Fridays she reviews her week. You sign it.</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PROOF OF LIFE: HOW MY DONNA WORKS FOR ME TODAY</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my Donna does for me.</a:t>
            </a:r>
            <a:endParaRPr lang="en-US" sz="4000" dirty="0"/>
          </a:p>
        </p:txBody>
      </p:sp>
      <p:sp>
        <p:nvSpPr>
          <p:cNvPr id="9" name="Shape 7"/>
          <p:cNvSpPr/>
          <p:nvPr/>
        </p:nvSpPr>
        <p:spPr>
          <a:xfrm rot="2700000">
            <a:off x="813816" y="1871167"/>
            <a:ext cx="100584" cy="100584"/>
          </a:xfrm>
          <a:prstGeom prst="rect">
            <a:avLst/>
          </a:prstGeom>
          <a:solidFill>
            <a:srgbClr val="C9A227"/>
          </a:solidFill>
          <a:ln w="3175">
            <a:solidFill>
              <a:srgbClr val="C9A227"/>
            </a:solidFill>
            <a:prstDash val="solid"/>
          </a:ln>
        </p:spPr>
      </p:sp>
      <p:sp>
        <p:nvSpPr>
          <p:cNvPr id="10" name="Text 8"/>
          <p:cNvSpPr/>
          <p:nvPr/>
        </p:nvSpPr>
        <p:spPr>
          <a:xfrm>
            <a:off x="1124712" y="1793443"/>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Holds the calendar.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thread picks a time. The hold is already on my calendar.</a:t>
            </a:r>
            <a:endParaRPr lang="en-US" sz="1600" dirty="0"/>
          </a:p>
        </p:txBody>
      </p:sp>
      <p:sp>
        <p:nvSpPr>
          <p:cNvPr id="11" name="Shape 9"/>
          <p:cNvSpPr/>
          <p:nvPr/>
        </p:nvSpPr>
        <p:spPr>
          <a:xfrm rot="2700000">
            <a:off x="813816" y="2620975"/>
            <a:ext cx="100584" cy="100584"/>
          </a:xfrm>
          <a:prstGeom prst="rect">
            <a:avLst/>
          </a:prstGeom>
          <a:solidFill>
            <a:srgbClr val="C9A227"/>
          </a:solidFill>
          <a:ln w="3175">
            <a:solidFill>
              <a:srgbClr val="C9A227"/>
            </a:solidFill>
            <a:prstDash val="solid"/>
          </a:ln>
        </p:spPr>
      </p:sp>
      <p:sp>
        <p:nvSpPr>
          <p:cNvPr id="12" name="Text 10"/>
          <p:cNvSpPr/>
          <p:nvPr/>
        </p:nvSpPr>
        <p:spPr>
          <a:xfrm>
            <a:off x="1124712" y="2543251"/>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Checks the guest list.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Every invite, scanned. The people who matter are on it.</a:t>
            </a:r>
            <a:endParaRPr lang="en-US" sz="1600" dirty="0"/>
          </a:p>
        </p:txBody>
      </p:sp>
      <p:sp>
        <p:nvSpPr>
          <p:cNvPr id="13" name="Shape 11"/>
          <p:cNvSpPr/>
          <p:nvPr/>
        </p:nvSpPr>
        <p:spPr>
          <a:xfrm rot="2700000">
            <a:off x="813816" y="3370783"/>
            <a:ext cx="100584" cy="100584"/>
          </a:xfrm>
          <a:prstGeom prst="rect">
            <a:avLst/>
          </a:prstGeom>
          <a:solidFill>
            <a:srgbClr val="C9A227"/>
          </a:solidFill>
          <a:ln w="3175">
            <a:solidFill>
              <a:srgbClr val="C9A227"/>
            </a:solidFill>
            <a:prstDash val="solid"/>
          </a:ln>
        </p:spPr>
      </p:sp>
      <p:sp>
        <p:nvSpPr>
          <p:cNvPr id="14" name="Text 12"/>
          <p:cNvSpPr/>
          <p:nvPr/>
        </p:nvSpPr>
        <p:spPr>
          <a:xfrm>
            <a:off x="1124712" y="3293059"/>
            <a:ext cx="471830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Preps me for strangers.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one-page brief before I meet anyone new, in my inbox and Drive.</a:t>
            </a:r>
            <a:endParaRPr lang="en-US" sz="1600" dirty="0"/>
          </a:p>
        </p:txBody>
      </p:sp>
      <p:sp>
        <p:nvSpPr>
          <p:cNvPr id="15" name="Shape 13"/>
          <p:cNvSpPr/>
          <p:nvPr/>
        </p:nvSpPr>
        <p:spPr>
          <a:xfrm rot="2700000">
            <a:off x="813816" y="4376623"/>
            <a:ext cx="100584" cy="100584"/>
          </a:xfrm>
          <a:prstGeom prst="rect">
            <a:avLst/>
          </a:prstGeom>
          <a:solidFill>
            <a:srgbClr val="C9A227"/>
          </a:solidFill>
          <a:ln w="3175">
            <a:solidFill>
              <a:srgbClr val="C9A227"/>
            </a:solidFill>
            <a:prstDash val="solid"/>
          </a:ln>
        </p:spPr>
      </p:sp>
      <p:sp>
        <p:nvSpPr>
          <p:cNvPr id="16" name="Text 14"/>
          <p:cNvSpPr/>
          <p:nvPr/>
        </p:nvSpPr>
        <p:spPr>
          <a:xfrm>
            <a:off x="1124712" y="4298899"/>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Eggs versus balls.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She watches my real goals and warns me before I drop an egg.</a:t>
            </a:r>
            <a:endParaRPr lang="en-US" sz="1600" dirty="0"/>
          </a:p>
        </p:txBody>
      </p:sp>
      <p:sp>
        <p:nvSpPr>
          <p:cNvPr id="17" name="Shape 15"/>
          <p:cNvSpPr/>
          <p:nvPr/>
        </p:nvSpPr>
        <p:spPr>
          <a:xfrm rot="2700000">
            <a:off x="6400800" y="1871167"/>
            <a:ext cx="100584" cy="100584"/>
          </a:xfrm>
          <a:prstGeom prst="rect">
            <a:avLst/>
          </a:prstGeom>
          <a:solidFill>
            <a:srgbClr val="C9A227"/>
          </a:solidFill>
          <a:ln w="3175">
            <a:solidFill>
              <a:srgbClr val="C9A227"/>
            </a:solidFill>
            <a:prstDash val="solid"/>
          </a:ln>
        </p:spPr>
      </p:sp>
      <p:sp>
        <p:nvSpPr>
          <p:cNvPr id="18" name="Text 16"/>
          <p:cNvSpPr/>
          <p:nvPr/>
        </p:nvSpPr>
        <p:spPr>
          <a:xfrm>
            <a:off x="6711696" y="1793443"/>
            <a:ext cx="467258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Reads every Slack channel.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All of them. I read one briefing.</a:t>
            </a:r>
            <a:endParaRPr lang="en-US" sz="1600" dirty="0"/>
          </a:p>
        </p:txBody>
      </p:sp>
      <p:sp>
        <p:nvSpPr>
          <p:cNvPr id="19" name="Shape 17"/>
          <p:cNvSpPr/>
          <p:nvPr/>
        </p:nvSpPr>
        <p:spPr>
          <a:xfrm rot="2700000">
            <a:off x="6400800" y="2620975"/>
            <a:ext cx="100584" cy="100584"/>
          </a:xfrm>
          <a:prstGeom prst="rect">
            <a:avLst/>
          </a:prstGeom>
          <a:solidFill>
            <a:srgbClr val="C9A227"/>
          </a:solidFill>
          <a:ln w="3175">
            <a:solidFill>
              <a:srgbClr val="C9A227"/>
            </a:solidFill>
            <a:prstDash val="solid"/>
          </a:ln>
        </p:spPr>
      </p:sp>
      <p:sp>
        <p:nvSpPr>
          <p:cNvPr id="20" name="Text 18"/>
          <p:cNvSpPr/>
          <p:nvPr/>
        </p:nvSpPr>
        <p:spPr>
          <a:xfrm>
            <a:off x="6711696" y="254325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Runs the 24-hour reply desk.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No real email goes a day without an answer or a holding reply.</a:t>
            </a:r>
            <a:endParaRPr lang="en-US" sz="1600" dirty="0"/>
          </a:p>
        </p:txBody>
      </p:sp>
      <p:sp>
        <p:nvSpPr>
          <p:cNvPr id="21" name="Shape 19"/>
          <p:cNvSpPr/>
          <p:nvPr/>
        </p:nvSpPr>
        <p:spPr>
          <a:xfrm rot="2700000">
            <a:off x="6400800" y="3626815"/>
            <a:ext cx="100584" cy="100584"/>
          </a:xfrm>
          <a:prstGeom prst="rect">
            <a:avLst/>
          </a:prstGeom>
          <a:solidFill>
            <a:srgbClr val="C9A227"/>
          </a:solidFill>
          <a:ln w="3175">
            <a:solidFill>
              <a:srgbClr val="C9A227"/>
            </a:solidFill>
            <a:prstDash val="solid"/>
          </a:ln>
        </p:spPr>
      </p:sp>
      <p:sp>
        <p:nvSpPr>
          <p:cNvPr id="22" name="Text 20"/>
          <p:cNvSpPr/>
          <p:nvPr/>
        </p:nvSpPr>
        <p:spPr>
          <a:xfrm>
            <a:off x="6711696" y="354909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Plans tomorrow at 4 PM.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Before I log off, tomorrow is laid out: meetings, prep, buffers, risks.</a:t>
            </a:r>
            <a:endParaRPr lang="en-US" sz="1600" dirty="0"/>
          </a:p>
        </p:txBody>
      </p:sp>
      <p:sp>
        <p:nvSpPr>
          <p:cNvPr id="23" name="Text 21"/>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All of it from one playbook, written in plain English. Today you write yours.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THE RECEIPTS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she gives back.</a:t>
            </a:r>
            <a:endParaRPr lang="en-US" sz="4000" dirty="0"/>
          </a:p>
        </p:txBody>
      </p:sp>
      <p:sp>
        <p:nvSpPr>
          <p:cNvPr id="9" name="Text 7"/>
          <p:cNvSpPr/>
          <p:nvPr/>
        </p:nvSpPr>
        <p:spPr>
          <a:xfrm>
            <a:off x="8138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 hrs</a:t>
            </a:r>
            <a:endParaRPr lang="en-US" sz="5400" dirty="0"/>
          </a:p>
        </p:txBody>
      </p:sp>
      <p:sp>
        <p:nvSpPr>
          <p:cNvPr id="10" name="Text 8"/>
          <p:cNvSpPr/>
          <p:nvPr/>
        </p:nvSpPr>
        <p:spPr>
          <a:xfrm>
            <a:off x="8138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saved on post-conference follow-ups. Four hours by hand. Thirty-three minutes with Donna, the Friday after a conference.</a:t>
            </a:r>
            <a:endParaRPr lang="en-US" sz="1600" dirty="0"/>
          </a:p>
        </p:txBody>
      </p:sp>
      <p:sp>
        <p:nvSpPr>
          <p:cNvPr id="11" name="Text 9"/>
          <p:cNvSpPr/>
          <p:nvPr/>
        </p:nvSpPr>
        <p:spPr>
          <a:xfrm>
            <a:off x="44714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a:t>
            </a:r>
            <a:endParaRPr lang="en-US" sz="5400" dirty="0"/>
          </a:p>
        </p:txBody>
      </p:sp>
      <p:sp>
        <p:nvSpPr>
          <p:cNvPr id="12" name="Text 10"/>
          <p:cNvSpPr/>
          <p:nvPr/>
        </p:nvSpPr>
        <p:spPr>
          <a:xfrm>
            <a:off x="4471416" y="2808061"/>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personalized one-to-one event invitations, written in 75 minutes. Before Donna: not possible, so not done.</a:t>
            </a:r>
            <a:endParaRPr lang="en-US" sz="1600" dirty="0"/>
          </a:p>
        </p:txBody>
      </p:sp>
      <p:sp>
        <p:nvSpPr>
          <p:cNvPr id="13" name="Text 11"/>
          <p:cNvSpPr/>
          <p:nvPr/>
        </p:nvSpPr>
        <p:spPr>
          <a:xfrm>
            <a:off x="81290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100+</a:t>
            </a:r>
            <a:endParaRPr lang="en-US" sz="5400" dirty="0"/>
          </a:p>
        </p:txBody>
      </p:sp>
      <p:sp>
        <p:nvSpPr>
          <p:cNvPr id="14" name="Text 12"/>
          <p:cNvSpPr/>
          <p:nvPr/>
        </p:nvSpPr>
        <p:spPr>
          <a:xfrm>
            <a:off x="81290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meeting briefs since August 7, one per meeting, written before I walk in. 27 prep blocks on my calendar in the last 30 days.</a:t>
            </a:r>
            <a:endParaRPr lang="en-US" sz="1600" dirty="0"/>
          </a:p>
        </p:txBody>
      </p:sp>
      <p:sp>
        <p:nvSpPr>
          <p:cNvPr id="15" name="Shape 13"/>
          <p:cNvSpPr/>
          <p:nvPr/>
        </p:nvSpPr>
        <p:spPr>
          <a:xfrm>
            <a:off x="813816" y="4435693"/>
            <a:ext cx="10570464" cy="1042416"/>
          </a:xfrm>
          <a:prstGeom prst="rect">
            <a:avLst/>
          </a:prstGeom>
          <a:solidFill>
            <a:srgbClr val="2A3244"/>
          </a:solidFill>
          <a:ln/>
        </p:spPr>
      </p:sp>
      <p:sp>
        <p:nvSpPr>
          <p:cNvPr id="16" name="Shape 14"/>
          <p:cNvSpPr/>
          <p:nvPr/>
        </p:nvSpPr>
        <p:spPr>
          <a:xfrm rot="2700000">
            <a:off x="1033272" y="4732873"/>
            <a:ext cx="100584" cy="100584"/>
          </a:xfrm>
          <a:prstGeom prst="rect">
            <a:avLst/>
          </a:prstGeom>
          <a:solidFill>
            <a:srgbClr val="C9A227"/>
          </a:solidFill>
          <a:ln w="3175">
            <a:solidFill>
              <a:srgbClr val="C9A227"/>
            </a:solidFill>
            <a:prstDash val="solid"/>
          </a:ln>
        </p:spPr>
      </p:sp>
      <p:sp>
        <p:nvSpPr>
          <p:cNvPr id="17" name="Text 15"/>
          <p:cNvSpPr/>
          <p:nvPr/>
        </p:nvSpPr>
        <p:spPr>
          <a:xfrm>
            <a:off x="1344168" y="4655149"/>
            <a:ext cx="9820656" cy="603504"/>
          </a:xfrm>
          <a:prstGeom prst="rect">
            <a:avLst/>
          </a:prstGeom>
          <a:noFill/>
          <a:ln/>
        </p:spPr>
        <p:txBody>
          <a:bodyPr wrap="square" lIns="0" tIns="0" rIns="0" bIns="0" rtlCol="0" anchor="t"/>
          <a:lstStyle/>
          <a:p>
            <a:pPr indent="0" marL="0">
              <a:lnSpc>
                <a:spcPct val="116000"/>
              </a:lnSpc>
              <a:buNone/>
            </a:pPr>
            <a:r>
              <a:rPr lang="en-US" sz="1600" b="1" dirty="0">
                <a:solidFill>
                  <a:srgbClr val="E7C766"/>
                </a:solidFill>
                <a:latin typeface="Arial" pitchFamily="34" charset="0"/>
                <a:ea typeface="Arial" pitchFamily="34" charset="-122"/>
                <a:cs typeface="Arial" pitchFamily="34" charset="-120"/>
              </a:rPr>
              <a:t>Published benchmark: </a:t>
            </a:r>
            <a:pPr indent="0" marL="0">
              <a:lnSpc>
                <a:spcPct val="116000"/>
              </a:lnSpc>
              <a:buNone/>
            </a:pPr>
            <a:r>
              <a:rPr lang="en-US" sz="1600" dirty="0">
                <a:solidFill>
                  <a:srgbClr val="F7F3EA"/>
                </a:solidFill>
                <a:latin typeface="Arial" pitchFamily="34" charset="0"/>
                <a:ea typeface="Arial" pitchFamily="34" charset="-122"/>
                <a:cs typeface="Arial" pitchFamily="34" charset="-120"/>
              </a:rPr>
              <a:t>Microsoft's first 297 Copilot users reported 64% less time on email and 1.2 hours a week back. (Work Trend Index, November 2023)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WHICH AI?</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Pick your tool. Keep your playbook.</a:t>
            </a:r>
            <a:endParaRPr lang="en-US" sz="4000" dirty="0"/>
          </a:p>
        </p:txBody>
      </p:sp>
      <p:sp>
        <p:nvSpPr>
          <p:cNvPr id="9" name="Shape 7"/>
          <p:cNvSpPr/>
          <p:nvPr/>
        </p:nvSpPr>
        <p:spPr>
          <a:xfrm>
            <a:off x="813816" y="1793443"/>
            <a:ext cx="2395728" cy="2834640"/>
          </a:xfrm>
          <a:prstGeom prst="rect">
            <a:avLst/>
          </a:prstGeom>
          <a:solidFill>
            <a:srgbClr val="E8E2D2"/>
          </a:solidFill>
          <a:ln/>
        </p:spPr>
      </p:sp>
      <p:sp>
        <p:nvSpPr>
          <p:cNvPr id="10" name="Text 8"/>
          <p:cNvSpPr/>
          <p:nvPr/>
        </p:nvSpPr>
        <p:spPr>
          <a:xfrm>
            <a:off x="1033272"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Copilot</a:t>
            </a:r>
            <a:endParaRPr lang="en-US" sz="2200" dirty="0"/>
          </a:p>
        </p:txBody>
      </p:sp>
      <p:sp>
        <p:nvSpPr>
          <p:cNvPr id="11" name="Text 9"/>
          <p:cNvSpPr/>
          <p:nvPr/>
        </p:nvSpPr>
        <p:spPr>
          <a:xfrm>
            <a:off x="1033272" y="2506675"/>
            <a:ext cx="1956816" cy="1371600"/>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AI inside Microsoft 365. Pick it if your company lives in Outlook and Teams.</a:t>
            </a:r>
            <a:endParaRPr lang="en-US" sz="1600" dirty="0"/>
          </a:p>
        </p:txBody>
      </p:sp>
      <p:sp>
        <p:nvSpPr>
          <p:cNvPr id="12" name="Shape 10"/>
          <p:cNvSpPr/>
          <p:nvPr/>
        </p:nvSpPr>
        <p:spPr>
          <a:xfrm>
            <a:off x="3538728" y="1793443"/>
            <a:ext cx="2395728" cy="2834640"/>
          </a:xfrm>
          <a:prstGeom prst="rect">
            <a:avLst/>
          </a:prstGeom>
          <a:solidFill>
            <a:srgbClr val="E8E2D2"/>
          </a:solidFill>
          <a:ln/>
        </p:spPr>
      </p:sp>
      <p:sp>
        <p:nvSpPr>
          <p:cNvPr id="13" name="Text 11"/>
          <p:cNvSpPr/>
          <p:nvPr/>
        </p:nvSpPr>
        <p:spPr>
          <a:xfrm>
            <a:off x="3758184"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Perplexity</a:t>
            </a:r>
            <a:endParaRPr lang="en-US" sz="2200" dirty="0"/>
          </a:p>
        </p:txBody>
      </p:sp>
      <p:sp>
        <p:nvSpPr>
          <p:cNvPr id="14" name="Text 12"/>
          <p:cNvSpPr/>
          <p:nvPr/>
        </p:nvSpPr>
        <p:spPr>
          <a:xfrm>
            <a:off x="3758184"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Research with sources. Ask the web, get the citations.</a:t>
            </a:r>
            <a:endParaRPr lang="en-US" sz="1600" dirty="0"/>
          </a:p>
        </p:txBody>
      </p:sp>
      <p:sp>
        <p:nvSpPr>
          <p:cNvPr id="15" name="Shape 13"/>
          <p:cNvSpPr/>
          <p:nvPr/>
        </p:nvSpPr>
        <p:spPr>
          <a:xfrm>
            <a:off x="6263640" y="1793443"/>
            <a:ext cx="2395728" cy="2834640"/>
          </a:xfrm>
          <a:prstGeom prst="rect">
            <a:avLst/>
          </a:prstGeom>
          <a:solidFill>
            <a:srgbClr val="E8E2D2"/>
          </a:solidFill>
          <a:ln/>
        </p:spPr>
      </p:sp>
      <p:sp>
        <p:nvSpPr>
          <p:cNvPr id="16" name="Text 14"/>
          <p:cNvSpPr/>
          <p:nvPr/>
        </p:nvSpPr>
        <p:spPr>
          <a:xfrm>
            <a:off x="6483096"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ChatGPT</a:t>
            </a:r>
            <a:endParaRPr lang="en-US" sz="2200" dirty="0"/>
          </a:p>
        </p:txBody>
      </p:sp>
      <p:sp>
        <p:nvSpPr>
          <p:cNvPr id="17" name="Text 15"/>
          <p:cNvSpPr/>
          <p:nvPr/>
        </p:nvSpPr>
        <p:spPr>
          <a:xfrm>
            <a:off x="6483096"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The everyday all-rounder, with the widest set of tricks.</a:t>
            </a:r>
            <a:endParaRPr lang="en-US" sz="1600" dirty="0"/>
          </a:p>
        </p:txBody>
      </p:sp>
      <p:sp>
        <p:nvSpPr>
          <p:cNvPr id="18" name="Shape 16"/>
          <p:cNvSpPr/>
          <p:nvPr/>
        </p:nvSpPr>
        <p:spPr>
          <a:xfrm>
            <a:off x="8988552" y="1793443"/>
            <a:ext cx="2395728" cy="2834640"/>
          </a:xfrm>
          <a:prstGeom prst="rect">
            <a:avLst/>
          </a:prstGeom>
          <a:solidFill>
            <a:srgbClr val="14213D"/>
          </a:solidFill>
          <a:ln/>
        </p:spPr>
      </p:sp>
      <p:sp>
        <p:nvSpPr>
          <p:cNvPr id="19" name="Text 17"/>
          <p:cNvSpPr/>
          <p:nvPr/>
        </p:nvSpPr>
        <p:spPr>
          <a:xfrm>
            <a:off x="9208008" y="1994611"/>
            <a:ext cx="1956816" cy="420624"/>
          </a:xfrm>
          <a:prstGeom prst="rect">
            <a:avLst/>
          </a:prstGeom>
          <a:noFill/>
          <a:ln/>
        </p:spPr>
        <p:txBody>
          <a:bodyPr wrap="square" lIns="0" tIns="0" rIns="0" bIns="0" rtlCol="0" anchor="ctr"/>
          <a:lstStyle/>
          <a:p>
            <a:pPr indent="0" marL="0">
              <a:buNone/>
            </a:pPr>
            <a:r>
              <a:rPr lang="en-US" sz="2200" b="1" dirty="0">
                <a:solidFill>
                  <a:srgbClr val="E7C766"/>
                </a:solidFill>
                <a:latin typeface="Georgia" pitchFamily="34" charset="0"/>
                <a:ea typeface="Georgia" pitchFamily="34" charset="-122"/>
                <a:cs typeface="Georgia" pitchFamily="34" charset="-120"/>
              </a:rPr>
              <a:t>Claude</a:t>
            </a:r>
            <a:endParaRPr lang="en-US" sz="2200" dirty="0"/>
          </a:p>
        </p:txBody>
      </p:sp>
      <p:sp>
        <p:nvSpPr>
          <p:cNvPr id="20" name="Text 18"/>
          <p:cNvSpPr/>
          <p:nvPr/>
        </p:nvSpPr>
        <p:spPr>
          <a:xfrm>
            <a:off x="9208008" y="2506675"/>
            <a:ext cx="1956816" cy="188366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Careful writing, plus agents that do the work: projects, connectors, skills, scheduled tasks.</a:t>
            </a:r>
            <a:endParaRPr lang="en-US" sz="1600" dirty="0"/>
          </a:p>
        </p:txBody>
      </p:sp>
      <p:sp>
        <p:nvSpPr>
          <p:cNvPr id="21" name="Text 19"/>
          <p:cNvSpPr/>
          <p:nvPr/>
        </p:nvSpPr>
        <p:spPr>
          <a:xfrm>
            <a:off x="813816" y="4829251"/>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What you build today is a plain-text playbook. Download it, and paste it into any of these tomorrow.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955548"/>
          </a:xfrm>
          <a:prstGeom prst="rect">
            <a:avLst/>
          </a:prstGeom>
          <a:noFill/>
          <a:ln/>
        </p:spPr>
        <p:txBody>
          <a:bodyPr wrap="square" lIns="0" tIns="0" rIns="0" bIns="0" rtlCol="0" anchor="t"/>
          <a:lstStyle/>
          <a:p>
            <a:pPr algn="ctr" indent="0" marL="0">
              <a:lnSpc>
                <a:spcPct val="116000"/>
              </a:lnSpc>
              <a:buNone/>
            </a:pPr>
            <a:r>
              <a:rPr lang="en-US" sz="1800" dirty="0">
                <a:solidFill>
                  <a:srgbClr val="FFFFFF"/>
                </a:solidFill>
                <a:latin typeface="Arial" pitchFamily="34" charset="0"/>
                <a:ea typeface="Arial" pitchFamily="34" charset="-122"/>
                <a:cs typeface="Arial" pitchFamily="34" charset="-120"/>
              </a:rPr>
              <a:t>She never deletes. She reads your inbox and your calendar, writes drafts, and puts events on your calendar. That is her whole job, and it is written into her playbook.</a:t>
            </a:r>
            <a:endParaRPr lang="en-US" sz="1800" dirty="0"/>
          </a:p>
        </p:txBody>
      </p:sp>
      <p:sp>
        <p:nvSpPr>
          <p:cNvPr id="5" name="Text 3"/>
          <p:cNvSpPr/>
          <p:nvPr/>
        </p:nvSpPr>
        <p:spPr>
          <a:xfrm>
            <a:off x="1737360" y="4952817"/>
            <a:ext cx="8714232" cy="310896"/>
          </a:xfrm>
          <a:prstGeom prst="rect">
            <a:avLst/>
          </a:prstGeom>
          <a:noFill/>
          <a:ln/>
        </p:spPr>
        <p:txBody>
          <a:bodyPr wrap="square" lIns="0" tIns="0" rIns="0" bIns="0"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HOUSE RULES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77515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11731"/>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sends. Drafts only. You are the send button.</a:t>
            </a:r>
            <a:endParaRPr lang="en-US" sz="1800" dirty="0"/>
          </a:p>
        </p:txBody>
      </p:sp>
      <p:sp>
        <p:nvSpPr>
          <p:cNvPr id="11" name="Text 9"/>
          <p:cNvSpPr/>
          <p:nvPr/>
        </p:nvSpPr>
        <p:spPr>
          <a:xfrm>
            <a:off x="813816" y="234208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378659"/>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deletes. Nothing we do today is destructive.</a:t>
            </a:r>
            <a:endParaRPr lang="en-US" sz="1800" dirty="0"/>
          </a:p>
        </p:txBody>
      </p:sp>
      <p:sp>
        <p:nvSpPr>
          <p:cNvPr id="13" name="Text 11"/>
          <p:cNvSpPr/>
          <p:nvPr/>
        </p:nvSpPr>
        <p:spPr>
          <a:xfrm>
            <a:off x="813816" y="290901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2945587"/>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800" dirty="0"/>
          </a:p>
        </p:txBody>
      </p:sp>
      <p:sp>
        <p:nvSpPr>
          <p:cNvPr id="15" name="Text 13"/>
          <p:cNvSpPr/>
          <p:nvPr/>
        </p:nvSpPr>
        <p:spPr>
          <a:xfrm>
            <a:off x="813816" y="34759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512515"/>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Copy buttons everywhere. Nobody types more than a sentence.</a:t>
            </a:r>
            <a:endParaRPr lang="en-US" sz="1800" dirty="0"/>
          </a:p>
        </p:txBody>
      </p:sp>
      <p:sp>
        <p:nvSpPr>
          <p:cNvPr id="17" name="Text 15"/>
          <p:cNvSpPr/>
          <p:nvPr/>
        </p:nvSpPr>
        <p:spPr>
          <a:xfrm>
            <a:off x="813816" y="404286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079443"/>
            <a:ext cx="9966960" cy="667512"/>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No question is too small. Stuck for 60 seconds? Say so in the chat or raise your hand. A TA takes you into a Zoom room, 1:1.</a:t>
            </a:r>
            <a:endParaRPr lang="en-US" sz="1800" dirty="0"/>
          </a:p>
        </p:txBody>
      </p:sp>
      <p:sp>
        <p:nvSpPr>
          <p:cNvPr id="19" name="Text 17"/>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13</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PLAN, EASTERN</a:t>
            </a:r>
            <a:endParaRPr lang="en-US" sz="16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1:13 she’s working for you.</a:t>
            </a:r>
            <a:endParaRPr lang="en-US" sz="3400" dirty="0"/>
          </a:p>
        </p:txBody>
      </p:sp>
      <p:sp>
        <p:nvSpPr>
          <p:cNvPr id="9" name="Shape 7"/>
          <p:cNvSpPr/>
          <p:nvPr/>
        </p:nvSpPr>
        <p:spPr>
          <a:xfrm>
            <a:off x="813816" y="1751015"/>
            <a:ext cx="2395728" cy="2651760"/>
          </a:xfrm>
          <a:prstGeom prst="rect">
            <a:avLst/>
          </a:prstGeom>
          <a:solidFill>
            <a:srgbClr val="E8E2D2"/>
          </a:solidFill>
          <a:ln/>
        </p:spPr>
      </p:sp>
      <p:sp>
        <p:nvSpPr>
          <p:cNvPr id="10" name="Text 8"/>
          <p:cNvSpPr/>
          <p:nvPr/>
        </p:nvSpPr>
        <p:spPr>
          <a:xfrm>
            <a:off x="1051560"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CONNECT</a:t>
            </a:r>
            <a:endParaRPr lang="en-US" sz="1600" dirty="0"/>
          </a:p>
        </p:txBody>
      </p:sp>
      <p:sp>
        <p:nvSpPr>
          <p:cNvPr id="12" name="Text 10"/>
          <p:cNvSpPr/>
          <p:nvPr/>
        </p:nvSpPr>
        <p:spPr>
          <a:xfrm>
            <a:off x="1051560"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 desk, your inbox, her first draft.</a:t>
            </a:r>
            <a:endParaRPr lang="en-US" sz="1600" dirty="0"/>
          </a:p>
        </p:txBody>
      </p:sp>
      <p:sp>
        <p:nvSpPr>
          <p:cNvPr id="13" name="Text 11"/>
          <p:cNvSpPr/>
          <p:nvPr/>
        </p:nvSpPr>
        <p:spPr>
          <a:xfrm>
            <a:off x="1051560"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12:17</a:t>
            </a:r>
            <a:endParaRPr lang="en-US" sz="2200" dirty="0"/>
          </a:p>
        </p:txBody>
      </p:sp>
      <p:sp>
        <p:nvSpPr>
          <p:cNvPr id="14" name="Shape 12"/>
          <p:cNvSpPr/>
          <p:nvPr/>
        </p:nvSpPr>
        <p:spPr>
          <a:xfrm>
            <a:off x="3538728" y="1751015"/>
            <a:ext cx="2395728" cy="2651760"/>
          </a:xfrm>
          <a:prstGeom prst="rect">
            <a:avLst/>
          </a:prstGeom>
          <a:solidFill>
            <a:srgbClr val="E8E2D2"/>
          </a:solidFill>
          <a:ln/>
        </p:spPr>
      </p:sp>
      <p:sp>
        <p:nvSpPr>
          <p:cNvPr id="15" name="Text 13"/>
          <p:cNvSpPr/>
          <p:nvPr/>
        </p:nvSpPr>
        <p:spPr>
          <a:xfrm>
            <a:off x="3776472"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TEACH</a:t>
            </a:r>
            <a:endParaRPr lang="en-US" sz="1600" dirty="0"/>
          </a:p>
        </p:txBody>
      </p:sp>
      <p:sp>
        <p:nvSpPr>
          <p:cNvPr id="17" name="Text 15"/>
          <p:cNvSpPr/>
          <p:nvPr/>
        </p:nvSpPr>
        <p:spPr>
          <a:xfrm>
            <a:off x="3776472"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Four questions. She writes her playbook.</a:t>
            </a:r>
            <a:endParaRPr lang="en-US" sz="1600" dirty="0"/>
          </a:p>
        </p:txBody>
      </p:sp>
      <p:sp>
        <p:nvSpPr>
          <p:cNvPr id="18" name="Text 16"/>
          <p:cNvSpPr/>
          <p:nvPr/>
        </p:nvSpPr>
        <p:spPr>
          <a:xfrm>
            <a:off x="3776472"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12:31</a:t>
            </a:r>
            <a:endParaRPr lang="en-US" sz="2200" dirty="0"/>
          </a:p>
        </p:txBody>
      </p:sp>
      <p:sp>
        <p:nvSpPr>
          <p:cNvPr id="19" name="Shape 17"/>
          <p:cNvSpPr/>
          <p:nvPr/>
        </p:nvSpPr>
        <p:spPr>
          <a:xfrm>
            <a:off x="6263640" y="1751015"/>
            <a:ext cx="2395728" cy="2651760"/>
          </a:xfrm>
          <a:prstGeom prst="rect">
            <a:avLst/>
          </a:prstGeom>
          <a:solidFill>
            <a:srgbClr val="E8E2D2"/>
          </a:solidFill>
          <a:ln/>
        </p:spPr>
      </p:sp>
      <p:sp>
        <p:nvSpPr>
          <p:cNvPr id="20" name="Text 18"/>
          <p:cNvSpPr/>
          <p:nvPr/>
        </p:nvSpPr>
        <p:spPr>
          <a:xfrm>
            <a:off x="6501384"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RUN</a:t>
            </a:r>
            <a:endParaRPr lang="en-US" sz="1600" dirty="0"/>
          </a:p>
        </p:txBody>
      </p:sp>
      <p:sp>
        <p:nvSpPr>
          <p:cNvPr id="22" name="Text 20"/>
          <p:cNvSpPr/>
          <p:nvPr/>
        </p:nvSpPr>
        <p:spPr>
          <a:xfrm>
            <a:off x="6501384"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playbook becomes a skill on a schedule.</a:t>
            </a:r>
            <a:endParaRPr lang="en-US" sz="1600" dirty="0"/>
          </a:p>
        </p:txBody>
      </p:sp>
      <p:sp>
        <p:nvSpPr>
          <p:cNvPr id="23" name="Text 21"/>
          <p:cNvSpPr/>
          <p:nvPr/>
        </p:nvSpPr>
        <p:spPr>
          <a:xfrm>
            <a:off x="6501384"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12:45</a:t>
            </a:r>
            <a:endParaRPr lang="en-US" sz="2200" dirty="0"/>
          </a:p>
        </p:txBody>
      </p:sp>
      <p:sp>
        <p:nvSpPr>
          <p:cNvPr id="24" name="Shape 22"/>
          <p:cNvSpPr/>
          <p:nvPr/>
        </p:nvSpPr>
        <p:spPr>
          <a:xfrm>
            <a:off x="8988552" y="1751015"/>
            <a:ext cx="2395728" cy="2651760"/>
          </a:xfrm>
          <a:prstGeom prst="rect">
            <a:avLst/>
          </a:prstGeom>
          <a:solidFill>
            <a:srgbClr val="E8E2D2"/>
          </a:solidFill>
          <a:ln/>
        </p:spPr>
      </p:sp>
      <p:sp>
        <p:nvSpPr>
          <p:cNvPr id="25" name="Text 23"/>
          <p:cNvSpPr/>
          <p:nvPr/>
        </p:nvSpPr>
        <p:spPr>
          <a:xfrm>
            <a:off x="9226296"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RETRAIN</a:t>
            </a:r>
            <a:endParaRPr lang="en-US" sz="1600" dirty="0"/>
          </a:p>
        </p:txBody>
      </p:sp>
      <p:sp>
        <p:nvSpPr>
          <p:cNvPr id="27" name="Text 25"/>
          <p:cNvSpPr/>
          <p:nvPr/>
        </p:nvSpPr>
        <p:spPr>
          <a:xfrm>
            <a:off x="9226296"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One more task: Fridays she reviews her week.</a:t>
            </a:r>
            <a:endParaRPr lang="en-US" sz="1600" dirty="0"/>
          </a:p>
        </p:txBody>
      </p:sp>
      <p:sp>
        <p:nvSpPr>
          <p:cNvPr id="28" name="Text 26"/>
          <p:cNvSpPr/>
          <p:nvPr/>
        </p:nvSpPr>
        <p:spPr>
          <a:xfrm>
            <a:off x="9226296"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1:01</a:t>
            </a:r>
            <a:endParaRPr lang="en-US" sz="2200" dirty="0"/>
          </a:p>
        </p:txBody>
      </p:sp>
      <p:sp>
        <p:nvSpPr>
          <p:cNvPr id="29" name="Text 27"/>
          <p:cNvSpPr/>
          <p:nvPr/>
        </p:nvSpPr>
        <p:spPr>
          <a:xfrm>
            <a:off x="813816" y="4622231"/>
            <a:ext cx="10570464" cy="347472"/>
          </a:xfrm>
          <a:prstGeom prst="rect">
            <a:avLst/>
          </a:prstGeom>
          <a:noFill/>
          <a:ln/>
        </p:spPr>
        <p:txBody>
          <a:bodyPr wrap="square" lIns="0" tIns="0" rIns="0" bIns="0" rtlCol="0" anchor="t"/>
          <a:lstStyle/>
          <a:p>
            <a:pPr algn="l" indent="0" marL="0">
              <a:lnSpc>
                <a:spcPct val="116000"/>
              </a:lnSpc>
              <a:buNone/>
            </a:pPr>
            <a:r>
              <a:rPr lang="en-US" sz="16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ONE  ·  CONNECT</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First impressions.</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Give her a desk, connect your inbox, and watch her read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Create her project.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Connect Gmail, Calendar, and Drive.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Two prompts: the question, then the first draft.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1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denisekgosnell.github.io/Donna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F7F3EA"/>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ONE  ·  FIRST IMPRESSIONS</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Create her project, then connect.</a:t>
            </a:r>
            <a:endParaRPr lang="en-US" sz="3400" dirty="0"/>
          </a:p>
        </p:txBody>
      </p:sp>
      <p:sp>
        <p:nvSpPr>
          <p:cNvPr id="15" name="Shape 13"/>
          <p:cNvSpPr/>
          <p:nvPr/>
        </p:nvSpPr>
        <p:spPr>
          <a:xfrm>
            <a:off x="813816" y="1677863"/>
            <a:ext cx="4663440" cy="2121408"/>
          </a:xfrm>
          <a:prstGeom prst="rect">
            <a:avLst/>
          </a:prstGeom>
          <a:solidFill>
            <a:srgbClr val="E8E2D2"/>
          </a:solidFill>
          <a:ln/>
        </p:spPr>
      </p:sp>
      <p:sp>
        <p:nvSpPr>
          <p:cNvPr id="16" name="Text 14"/>
          <p:cNvSpPr/>
          <p:nvPr/>
        </p:nvSpPr>
        <p:spPr>
          <a:xfrm>
            <a:off x="996696" y="1860743"/>
            <a:ext cx="4297680"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THE SETUP</a:t>
            </a:r>
            <a:endParaRPr lang="en-US" sz="1600" dirty="0"/>
          </a:p>
        </p:txBody>
      </p:sp>
      <p:sp>
        <p:nvSpPr>
          <p:cNvPr id="17" name="Shape 15"/>
          <p:cNvSpPr/>
          <p:nvPr/>
        </p:nvSpPr>
        <p:spPr>
          <a:xfrm rot="2700000">
            <a:off x="996696" y="2395667"/>
            <a:ext cx="100584" cy="100584"/>
          </a:xfrm>
          <a:prstGeom prst="rect">
            <a:avLst/>
          </a:prstGeom>
          <a:solidFill>
            <a:srgbClr val="C9A227"/>
          </a:solidFill>
          <a:ln w="3175">
            <a:solidFill>
              <a:srgbClr val="C9A227"/>
            </a:solidFill>
            <a:prstDash val="solid"/>
          </a:ln>
        </p:spPr>
      </p:sp>
      <p:sp>
        <p:nvSpPr>
          <p:cNvPr id="18" name="Text 16"/>
          <p:cNvSpPr/>
          <p:nvPr/>
        </p:nvSpPr>
        <p:spPr>
          <a:xfrm>
            <a:off x="1307592" y="2317943"/>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Projects, New project. Name it Donna.</a:t>
            </a:r>
            <a:endParaRPr lang="en-US" sz="1600" dirty="0"/>
          </a:p>
        </p:txBody>
      </p:sp>
      <p:sp>
        <p:nvSpPr>
          <p:cNvPr id="19" name="Shape 17"/>
          <p:cNvSpPr/>
          <p:nvPr/>
        </p:nvSpPr>
        <p:spPr>
          <a:xfrm rot="2700000">
            <a:off x="996696" y="2871155"/>
            <a:ext cx="100584" cy="100584"/>
          </a:xfrm>
          <a:prstGeom prst="rect">
            <a:avLst/>
          </a:prstGeom>
          <a:solidFill>
            <a:srgbClr val="C9A227"/>
          </a:solidFill>
          <a:ln w="3175">
            <a:solidFill>
              <a:srgbClr val="C9A227"/>
            </a:solidFill>
            <a:prstDash val="solid"/>
          </a:ln>
        </p:spPr>
      </p:sp>
      <p:sp>
        <p:nvSpPr>
          <p:cNvPr id="20" name="Text 18"/>
          <p:cNvSpPr/>
          <p:nvPr/>
        </p:nvSpPr>
        <p:spPr>
          <a:xfrm>
            <a:off x="1307592" y="2793431"/>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Customize, then Connectors.</a:t>
            </a:r>
            <a:endParaRPr lang="en-US" sz="1600" dirty="0"/>
          </a:p>
        </p:txBody>
      </p:sp>
      <p:sp>
        <p:nvSpPr>
          <p:cNvPr id="21" name="Shape 19"/>
          <p:cNvSpPr/>
          <p:nvPr/>
        </p:nvSpPr>
        <p:spPr>
          <a:xfrm rot="2700000">
            <a:off x="996696" y="3346643"/>
            <a:ext cx="100584" cy="100584"/>
          </a:xfrm>
          <a:prstGeom prst="rect">
            <a:avLst/>
          </a:prstGeom>
          <a:solidFill>
            <a:srgbClr val="C9A227"/>
          </a:solidFill>
          <a:ln w="3175">
            <a:solidFill>
              <a:srgbClr val="C9A227"/>
            </a:solidFill>
            <a:prstDash val="solid"/>
          </a:ln>
        </p:spPr>
      </p:sp>
      <p:sp>
        <p:nvSpPr>
          <p:cNvPr id="22" name="Text 20"/>
          <p:cNvSpPr/>
          <p:nvPr/>
        </p:nvSpPr>
        <p:spPr>
          <a:xfrm>
            <a:off x="1307592" y="3268919"/>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Connect Gmail, Calendar, and Drive.</a:t>
            </a:r>
            <a:endParaRPr lang="en-US" sz="1600" dirty="0"/>
          </a:p>
        </p:txBody>
      </p:sp>
      <p:sp>
        <p:nvSpPr>
          <p:cNvPr id="23" name="Shape 21"/>
          <p:cNvSpPr/>
          <p:nvPr/>
        </p:nvSpPr>
        <p:spPr>
          <a:xfrm>
            <a:off x="813816" y="3982151"/>
            <a:ext cx="4663440" cy="1225296"/>
          </a:xfrm>
          <a:prstGeom prst="rect">
            <a:avLst/>
          </a:prstGeom>
          <a:solidFill>
            <a:srgbClr val="E8E2D2"/>
          </a:solidFill>
          <a:ln/>
        </p:spPr>
      </p:sp>
      <p:sp>
        <p:nvSpPr>
          <p:cNvPr id="24" name="Shape 22"/>
          <p:cNvSpPr/>
          <p:nvPr/>
        </p:nvSpPr>
        <p:spPr>
          <a:xfrm rot="2700000">
            <a:off x="996696" y="4242755"/>
            <a:ext cx="100584" cy="100584"/>
          </a:xfrm>
          <a:prstGeom prst="rect">
            <a:avLst/>
          </a:prstGeom>
          <a:solidFill>
            <a:srgbClr val="C9A227"/>
          </a:solidFill>
          <a:ln w="3175">
            <a:solidFill>
              <a:srgbClr val="C9A227"/>
            </a:solidFill>
            <a:prstDash val="solid"/>
          </a:ln>
        </p:spPr>
      </p:sp>
      <p:sp>
        <p:nvSpPr>
          <p:cNvPr id="25" name="Text 23"/>
          <p:cNvSpPr/>
          <p:nvPr/>
        </p:nvSpPr>
        <p:spPr>
          <a:xfrm>
            <a:off x="1307592" y="4165031"/>
            <a:ext cx="39867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Still stuck?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Say so in the chat or raise your hand. A TA takes you into a Zoom room, 1:1.</a:t>
            </a:r>
            <a:endParaRPr lang="en-US" sz="1600" dirty="0"/>
          </a:p>
        </p:txBody>
      </p:sp>
      <p:sp>
        <p:nvSpPr>
          <p:cNvPr id="26" name="Shape 24"/>
          <p:cNvSpPr/>
          <p:nvPr/>
        </p:nvSpPr>
        <p:spPr>
          <a:xfrm>
            <a:off x="5751576" y="1677863"/>
            <a:ext cx="5632704" cy="1508760"/>
          </a:xfrm>
          <a:prstGeom prst="rect">
            <a:avLst/>
          </a:prstGeom>
          <a:solidFill>
            <a:srgbClr val="14213D"/>
          </a:solidFill>
          <a:ln/>
        </p:spPr>
      </p:sp>
      <p:sp>
        <p:nvSpPr>
          <p:cNvPr id="27" name="Text 25"/>
          <p:cNvSpPr/>
          <p:nvPr/>
        </p:nvSpPr>
        <p:spPr>
          <a:xfrm>
            <a:off x="6007608" y="1833311"/>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1 · THE QUESTION</a:t>
            </a:r>
            <a:endParaRPr lang="en-US" sz="1600" dirty="0"/>
          </a:p>
        </p:txBody>
      </p:sp>
      <p:sp>
        <p:nvSpPr>
          <p:cNvPr id="28" name="Text 26"/>
          <p:cNvSpPr/>
          <p:nvPr/>
        </p:nvSpPr>
        <p:spPr>
          <a:xfrm>
            <a:off x="6007608" y="2189927"/>
            <a:ext cx="5120640" cy="86868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What landed in my inbox in the last 24</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hours that actually needs ME? Top 5,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line each.</a:t>
            </a:r>
            <a:endParaRPr lang="en-US" sz="1600" dirty="0"/>
          </a:p>
        </p:txBody>
      </p:sp>
      <p:sp>
        <p:nvSpPr>
          <p:cNvPr id="29" name="Shape 27"/>
          <p:cNvSpPr/>
          <p:nvPr/>
        </p:nvSpPr>
        <p:spPr>
          <a:xfrm>
            <a:off x="5751576" y="3332927"/>
            <a:ext cx="5632704" cy="2002536"/>
          </a:xfrm>
          <a:prstGeom prst="rect">
            <a:avLst/>
          </a:prstGeom>
          <a:solidFill>
            <a:srgbClr val="14213D"/>
          </a:solidFill>
          <a:ln/>
        </p:spPr>
      </p:sp>
      <p:sp>
        <p:nvSpPr>
          <p:cNvPr id="30" name="Text 28"/>
          <p:cNvSpPr/>
          <p:nvPr/>
        </p:nvSpPr>
        <p:spPr>
          <a:xfrm>
            <a:off x="6007608" y="3488375"/>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2 · THE FIRST DRAFT</a:t>
            </a:r>
            <a:endParaRPr lang="en-US" sz="1600" dirty="0"/>
          </a:p>
        </p:txBody>
      </p:sp>
      <p:sp>
        <p:nvSpPr>
          <p:cNvPr id="31" name="Text 29"/>
          <p:cNvSpPr/>
          <p:nvPr/>
        </p:nvSpPr>
        <p:spPr>
          <a:xfrm>
            <a:off x="6007608" y="3844991"/>
            <a:ext cx="5120640" cy="1362456"/>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Draft a reply to #1. Under 100 words,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warm but decisive. Read my sent emails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and learn how I write. Never use em</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dashes. Never use AI speech patterns.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Save it as a draft. Do not send it.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ONE  ·  CHECKPOINT</a:t>
            </a:r>
            <a:endParaRPr lang="en-US" sz="16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The interview is over. She’s hired. Now we teach her.</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TWO  ·  TEACH</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The triage desk.</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Four questions. She writes her own playbook.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Paste her playbook into a new chat.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Answer her four questions. Take your time.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Type: Triage my inbox.</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2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denisekgosnell.github.io/Donna</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18</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TWO  ·  THE TRIAGE DESK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This is the document. She writes it.</a:t>
            </a:r>
            <a:endParaRPr lang="en-US" sz="3400" dirty="0"/>
          </a:p>
        </p:txBody>
      </p:sp>
      <p:sp>
        <p:nvSpPr>
          <p:cNvPr id="15" name="Shape 13"/>
          <p:cNvSpPr/>
          <p:nvPr/>
        </p:nvSpPr>
        <p:spPr>
          <a:xfrm>
            <a:off x="813816" y="1677863"/>
            <a:ext cx="7315200" cy="2743200"/>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INTO A NEW CHAT IN YOUR DONNA PROJECT</a:t>
            </a:r>
            <a:endParaRPr lang="en-US" sz="1600" dirty="0"/>
          </a:p>
        </p:txBody>
      </p:sp>
      <p:sp>
        <p:nvSpPr>
          <p:cNvPr id="17" name="Text 15"/>
          <p:cNvSpPr/>
          <p:nvPr/>
        </p:nvSpPr>
        <p:spPr>
          <a:xfrm>
            <a:off x="1069848" y="2189927"/>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Here is my triage playbook template. Read it, then run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its Setup Interview on me exactly as written: four</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questions, one question at a time, and give me time to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answer. Start now with your greeting and Question 1 of</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4.</a:t>
            </a:r>
            <a:endParaRPr lang="en-US" sz="1600" dirty="0"/>
          </a:p>
          <a:p>
            <a:pPr indent="0" marL="0">
              <a:lnSpc>
                <a:spcPts val="1940"/>
              </a:lnSpc>
              <a:buNone/>
            </a:pP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full template rides along in the same paste.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copy button on the site, Step 2.]</a:t>
            </a:r>
            <a:endParaRPr lang="en-US" sz="1600" dirty="0"/>
          </a:p>
        </p:txBody>
      </p:sp>
      <p:sp>
        <p:nvSpPr>
          <p:cNvPr id="18" name="Shape 16"/>
          <p:cNvSpPr/>
          <p:nvPr/>
        </p:nvSpPr>
        <p:spPr>
          <a:xfrm>
            <a:off x="813816" y="4603943"/>
            <a:ext cx="7315200" cy="713232"/>
          </a:xfrm>
          <a:prstGeom prst="rect">
            <a:avLst/>
          </a:prstGeom>
          <a:solidFill>
            <a:srgbClr val="E8E2D2"/>
          </a:solidFill>
          <a:ln/>
        </p:spPr>
      </p:sp>
      <p:sp>
        <p:nvSpPr>
          <p:cNvPr id="19" name="Shape 17"/>
          <p:cNvSpPr/>
          <p:nvPr/>
        </p:nvSpPr>
        <p:spPr>
          <a:xfrm rot="2700000">
            <a:off x="996696" y="4864547"/>
            <a:ext cx="100584" cy="100584"/>
          </a:xfrm>
          <a:prstGeom prst="rect">
            <a:avLst/>
          </a:prstGeom>
          <a:solidFill>
            <a:srgbClr val="C9A227"/>
          </a:solidFill>
          <a:ln w="3175">
            <a:solidFill>
              <a:srgbClr val="C9A227"/>
            </a:solidFill>
            <a:prstDash val="solid"/>
          </a:ln>
        </p:spPr>
      </p:sp>
      <p:sp>
        <p:nvSpPr>
          <p:cNvPr id="20" name="Text 18"/>
          <p:cNvSpPr/>
          <p:nvPr/>
        </p:nvSpPr>
        <p:spPr>
          <a:xfrm>
            <a:off x="1307592" y="4786823"/>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Take your time. The better you answer, the better she works.</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 FOUR QUESTIONS</a:t>
            </a:r>
            <a:endParaRPr lang="en-US" sz="1600" dirty="0"/>
          </a:p>
        </p:txBody>
      </p:sp>
      <p:sp>
        <p:nvSpPr>
          <p:cNvPr id="22" name="Shape 20"/>
          <p:cNvSpPr/>
          <p:nvPr/>
        </p:nvSpPr>
        <p:spPr>
          <a:xfrm rot="2700000">
            <a:off x="8494776" y="2194499"/>
            <a:ext cx="100584" cy="100584"/>
          </a:xfrm>
          <a:prstGeom prst="rect">
            <a:avLst/>
          </a:prstGeom>
          <a:solidFill>
            <a:srgbClr val="C9A227"/>
          </a:solidFill>
          <a:ln w="3175">
            <a:solidFill>
              <a:srgbClr val="C9A227"/>
            </a:solidFill>
            <a:prstDash val="solid"/>
          </a:ln>
        </p:spPr>
      </p:sp>
      <p:sp>
        <p:nvSpPr>
          <p:cNvPr id="23" name="Text 21"/>
          <p:cNvSpPr/>
          <p:nvPr/>
        </p:nvSpPr>
        <p:spPr>
          <a:xfrm>
            <a:off x="8805672" y="211677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1 · Reply Now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the 3 to 5 who never wait</a:t>
            </a:r>
            <a:endParaRPr lang="en-US" sz="1600" dirty="0"/>
          </a:p>
        </p:txBody>
      </p:sp>
      <p:sp>
        <p:nvSpPr>
          <p:cNvPr id="24" name="Shape 22"/>
          <p:cNvSpPr/>
          <p:nvPr/>
        </p:nvSpPr>
        <p:spPr>
          <a:xfrm rot="2700000">
            <a:off x="8494776" y="2926019"/>
            <a:ext cx="100584" cy="100584"/>
          </a:xfrm>
          <a:prstGeom prst="rect">
            <a:avLst/>
          </a:prstGeom>
          <a:solidFill>
            <a:srgbClr val="C9A227"/>
          </a:solidFill>
          <a:ln w="3175">
            <a:solidFill>
              <a:srgbClr val="C9A227"/>
            </a:solidFill>
            <a:prstDash val="solid"/>
          </a:ln>
        </p:spPr>
      </p:sp>
      <p:sp>
        <p:nvSpPr>
          <p:cNvPr id="25" name="Text 23"/>
          <p:cNvSpPr/>
          <p:nvPr/>
        </p:nvSpPr>
        <p:spPr>
          <a:xfrm>
            <a:off x="8805672" y="284829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2 · By End of Day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your team</a:t>
            </a:r>
            <a:endParaRPr lang="en-US" sz="1600" dirty="0"/>
          </a:p>
        </p:txBody>
      </p:sp>
      <p:sp>
        <p:nvSpPr>
          <p:cNvPr id="26" name="Shape 24"/>
          <p:cNvSpPr/>
          <p:nvPr/>
        </p:nvSpPr>
        <p:spPr>
          <a:xfrm rot="2700000">
            <a:off x="8494776" y="3657539"/>
            <a:ext cx="100584" cy="100584"/>
          </a:xfrm>
          <a:prstGeom prst="rect">
            <a:avLst/>
          </a:prstGeom>
          <a:solidFill>
            <a:srgbClr val="C9A227"/>
          </a:solidFill>
          <a:ln w="3175">
            <a:solidFill>
              <a:srgbClr val="C9A227"/>
            </a:solidFill>
            <a:prstDash val="solid"/>
          </a:ln>
        </p:spPr>
      </p:sp>
      <p:sp>
        <p:nvSpPr>
          <p:cNvPr id="27" name="Text 25"/>
          <p:cNvSpPr/>
          <p:nvPr/>
        </p:nvSpPr>
        <p:spPr>
          <a:xfrm>
            <a:off x="8805672" y="357981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3 · Your priorities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one to three, right now</a:t>
            </a:r>
            <a:endParaRPr lang="en-US" sz="1600" dirty="0"/>
          </a:p>
        </p:txBody>
      </p:sp>
      <p:sp>
        <p:nvSpPr>
          <p:cNvPr id="28" name="Shape 26"/>
          <p:cNvSpPr/>
          <p:nvPr/>
        </p:nvSpPr>
        <p:spPr>
          <a:xfrm rot="2700000">
            <a:off x="8494776" y="4389059"/>
            <a:ext cx="100584" cy="100584"/>
          </a:xfrm>
          <a:prstGeom prst="rect">
            <a:avLst/>
          </a:prstGeom>
          <a:solidFill>
            <a:srgbClr val="C9A227"/>
          </a:solidFill>
          <a:ln w="3175">
            <a:solidFill>
              <a:srgbClr val="C9A227"/>
            </a:solidFill>
            <a:prstDash val="solid"/>
          </a:ln>
        </p:spPr>
      </p:sp>
      <p:sp>
        <p:nvSpPr>
          <p:cNvPr id="29" name="Text 27"/>
          <p:cNvSpPr/>
          <p:nvPr/>
        </p:nvSpPr>
        <p:spPr>
          <a:xfrm>
            <a:off x="8805672" y="431133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4 · Your voice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three words and a sign-off</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TWO  ·  CHECKPOINT</a:t>
            </a:r>
            <a:endParaRPr lang="en-US" sz="16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722218"/>
            <a:ext cx="5486400" cy="1014984"/>
          </a:xfrm>
          <a:prstGeom prst="rect">
            <a:avLst/>
          </a:prstGeom>
          <a:solidFill>
            <a:srgbClr val="1C2333"/>
          </a:solidFill>
          <a:ln/>
        </p:spPr>
      </p:sp>
      <p:sp>
        <p:nvSpPr>
          <p:cNvPr id="16" name="Text 14"/>
          <p:cNvSpPr/>
          <p:nvPr/>
        </p:nvSpPr>
        <p:spPr>
          <a:xfrm>
            <a:off x="3608680" y="3877666"/>
            <a:ext cx="49743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THE ENTIRE DAILY RITUAL, FROM NOW ON</a:t>
            </a:r>
            <a:endParaRPr lang="en-US" sz="1600" dirty="0"/>
          </a:p>
        </p:txBody>
      </p:sp>
      <p:sp>
        <p:nvSpPr>
          <p:cNvPr id="17" name="Text 15"/>
          <p:cNvSpPr/>
          <p:nvPr/>
        </p:nvSpPr>
        <p:spPr>
          <a:xfrm>
            <a:off x="3608680" y="4234282"/>
            <a:ext cx="4974336" cy="374904"/>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my inbox.</a:t>
            </a:r>
            <a:endParaRPr lang="en-US" sz="1600" dirty="0"/>
          </a:p>
        </p:txBody>
      </p:sp>
      <p:sp>
        <p:nvSpPr>
          <p:cNvPr id="18" name="Text 16"/>
          <p:cNvSpPr/>
          <p:nvPr/>
        </p:nvSpPr>
        <p:spPr>
          <a:xfrm>
            <a:off x="813816" y="512125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20</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THREE  ·  RUN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Donna, full time.</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The document leaves your hands and goes on the clock.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She writes her playbook file.</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You upload it as a skill.</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Schedule the 4:30 shift.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3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denisekgosnell.github.io/Donna</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21</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HER PLAYBOOK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She writes her own playbook file.</a:t>
            </a:r>
            <a:endParaRPr lang="en-US" sz="3400" dirty="0"/>
          </a:p>
        </p:txBody>
      </p:sp>
      <p:sp>
        <p:nvSpPr>
          <p:cNvPr id="15" name="Shape 13"/>
          <p:cNvSpPr/>
          <p:nvPr/>
        </p:nvSpPr>
        <p:spPr>
          <a:xfrm>
            <a:off x="813816" y="1677863"/>
            <a:ext cx="7315200" cy="2496312"/>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 THE SAME CHAT, AFTER YOUR FIRST TABLE</a:t>
            </a:r>
            <a:endParaRPr lang="en-US" sz="1600" dirty="0"/>
          </a:p>
        </p:txBody>
      </p:sp>
      <p:sp>
        <p:nvSpPr>
          <p:cNvPr id="17" name="Text 15"/>
          <p:cNvSpPr/>
          <p:nvPr/>
        </p:nvSpPr>
        <p:spPr>
          <a:xfrm>
            <a:off x="1069848" y="2189927"/>
            <a:ext cx="6803136" cy="1856232"/>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Turn this conversation's triage setup into a reusable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named donna-triage. Fill in the template with</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everything you learned about me. Keep the daily shift,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Friday retrain, and the Setup Interview. Keep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hard rules: never send, never delete. Give me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as a downloadable zip named donna-triage.zip</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containing donna-triage/SKILL.md.</a:t>
            </a:r>
            <a:endParaRPr lang="en-US" sz="1600" dirty="0"/>
          </a:p>
        </p:txBody>
      </p:sp>
      <p:sp>
        <p:nvSpPr>
          <p:cNvPr id="18" name="Shape 16"/>
          <p:cNvSpPr/>
          <p:nvPr/>
        </p:nvSpPr>
        <p:spPr>
          <a:xfrm>
            <a:off x="813816" y="4357055"/>
            <a:ext cx="7315200" cy="969264"/>
          </a:xfrm>
          <a:prstGeom prst="rect">
            <a:avLst/>
          </a:prstGeom>
          <a:solidFill>
            <a:srgbClr val="E8E2D2"/>
          </a:solidFill>
          <a:ln/>
        </p:spPr>
      </p:sp>
      <p:sp>
        <p:nvSpPr>
          <p:cNvPr id="19" name="Shape 17"/>
          <p:cNvSpPr/>
          <p:nvPr/>
        </p:nvSpPr>
        <p:spPr>
          <a:xfrm rot="2700000">
            <a:off x="996696" y="4617659"/>
            <a:ext cx="100584" cy="100584"/>
          </a:xfrm>
          <a:prstGeom prst="rect">
            <a:avLst/>
          </a:prstGeom>
          <a:solidFill>
            <a:srgbClr val="C9A227"/>
          </a:solidFill>
          <a:ln w="3175">
            <a:solidFill>
              <a:srgbClr val="C9A227"/>
            </a:solidFill>
            <a:prstDash val="solid"/>
          </a:ln>
        </p:spPr>
      </p:sp>
      <p:sp>
        <p:nvSpPr>
          <p:cNvPr id="20" name="Text 18"/>
          <p:cNvSpPr/>
          <p:nvPr/>
        </p:nvSpPr>
        <p:spPr>
          <a:xfrm>
            <a:off x="1307592" y="4539935"/>
            <a:ext cx="663854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See donna-triage in your skills list before anyone touches Scheduled.</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THEN THE HANDOFF</a:t>
            </a:r>
            <a:endParaRPr lang="en-US" sz="1600" dirty="0"/>
          </a:p>
        </p:txBody>
      </p:sp>
      <p:sp>
        <p:nvSpPr>
          <p:cNvPr id="22" name="Text 20"/>
          <p:cNvSpPr/>
          <p:nvPr/>
        </p:nvSpPr>
        <p:spPr>
          <a:xfrm>
            <a:off x="8494776" y="2135063"/>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9098280" y="2171639"/>
            <a:ext cx="2286000" cy="347472"/>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She writes the file.</a:t>
            </a:r>
            <a:endParaRPr lang="en-US" sz="1600" dirty="0"/>
          </a:p>
        </p:txBody>
      </p:sp>
      <p:sp>
        <p:nvSpPr>
          <p:cNvPr id="24" name="Text 22"/>
          <p:cNvSpPr/>
          <p:nvPr/>
        </p:nvSpPr>
        <p:spPr>
          <a:xfrm>
            <a:off x="8494776" y="2756855"/>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9098280" y="2793431"/>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Download it: the file card's arrow.</a:t>
            </a:r>
            <a:endParaRPr lang="en-US" sz="1600" dirty="0"/>
          </a:p>
        </p:txBody>
      </p:sp>
      <p:sp>
        <p:nvSpPr>
          <p:cNvPr id="26" name="Text 24"/>
          <p:cNvSpPr/>
          <p:nvPr/>
        </p:nvSpPr>
        <p:spPr>
          <a:xfrm>
            <a:off x="8494776" y="3561527"/>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9098280" y="3598103"/>
            <a:ext cx="2286000" cy="1115568"/>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Customize, Skills, +, Create skill, Upload a skill. Pick the zip.</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22</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THE 4:30 SHIFT</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315200" cy="2743200"/>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weekday at 4:30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triage today's inbox, save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Reply-Now drafts to my email Drafts, create a 5-minute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calendar event 10 minutes from now titled "Inbox</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Donna", write the whole report into the event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description (short lines, no tables), and set an EMAIL</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reminder 1 minute before. Also do a dry run right now</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so I can watch the first one land.</a:t>
            </a:r>
            <a:endParaRPr lang="en-US" sz="1600" dirty="0"/>
          </a:p>
        </p:txBody>
      </p:sp>
      <p:sp>
        <p:nvSpPr>
          <p:cNvPr id="18" name="Shape 16"/>
          <p:cNvSpPr/>
          <p:nvPr/>
        </p:nvSpPr>
        <p:spPr>
          <a:xfrm>
            <a:off x="813816" y="4701235"/>
            <a:ext cx="7315200" cy="713232"/>
          </a:xfrm>
          <a:prstGeom prst="rect">
            <a:avLst/>
          </a:prstGeom>
          <a:solidFill>
            <a:srgbClr val="E8E2D2"/>
          </a:solidFill>
          <a:ln/>
        </p:spPr>
      </p:sp>
      <p:sp>
        <p:nvSpPr>
          <p:cNvPr id="19" name="Shape 17"/>
          <p:cNvSpPr/>
          <p:nvPr/>
        </p:nvSpPr>
        <p:spPr>
          <a:xfrm rot="2700000">
            <a:off x="996696" y="4961839"/>
            <a:ext cx="100584" cy="100584"/>
          </a:xfrm>
          <a:prstGeom prst="rect">
            <a:avLst/>
          </a:prstGeom>
          <a:solidFill>
            <a:srgbClr val="C9A227"/>
          </a:solidFill>
          <a:ln w="3175">
            <a:solidFill>
              <a:srgbClr val="C9A227"/>
            </a:solidFill>
            <a:prstDash val="solid"/>
          </a:ln>
        </p:spPr>
      </p:sp>
      <p:sp>
        <p:nvSpPr>
          <p:cNvPr id="20" name="Text 18"/>
          <p:cNvSpPr/>
          <p:nvPr/>
        </p:nvSpPr>
        <p:spPr>
          <a:xfrm>
            <a:off x="1307592" y="4884115"/>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Paste by 12:56.</a:t>
            </a:r>
            <a:endParaRPr lang="en-US" sz="1600" dirty="0"/>
          </a:p>
        </p:txBody>
      </p:sp>
      <p:sp>
        <p:nvSpPr>
          <p:cNvPr id="21" name="Text 19"/>
          <p:cNvSpPr/>
          <p:nvPr/>
        </p:nvSpPr>
        <p:spPr>
          <a:xfrm>
            <a:off x="8494776" y="1830019"/>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4:30</a:t>
            </a:r>
            <a:endParaRPr lang="en-US" sz="2400" dirty="0"/>
          </a:p>
        </p:txBody>
      </p:sp>
      <p:sp>
        <p:nvSpPr>
          <p:cNvPr id="22" name="Text 20"/>
          <p:cNvSpPr/>
          <p:nvPr/>
        </p:nvSpPr>
        <p:spPr>
          <a:xfrm>
            <a:off x="9555480" y="1884883"/>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she works</a:t>
            </a:r>
            <a:endParaRPr lang="en-US" sz="1600" dirty="0"/>
          </a:p>
        </p:txBody>
      </p:sp>
      <p:sp>
        <p:nvSpPr>
          <p:cNvPr id="23" name="Text 21"/>
          <p:cNvSpPr/>
          <p:nvPr/>
        </p:nvSpPr>
        <p:spPr>
          <a:xfrm>
            <a:off x="8494776" y="2360371"/>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4:39</a:t>
            </a:r>
            <a:endParaRPr lang="en-US" sz="2400" dirty="0"/>
          </a:p>
        </p:txBody>
      </p:sp>
      <p:sp>
        <p:nvSpPr>
          <p:cNvPr id="24" name="Text 22"/>
          <p:cNvSpPr/>
          <p:nvPr/>
        </p:nvSpPr>
        <p:spPr>
          <a:xfrm>
            <a:off x="9555480" y="2415235"/>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the email lands</a:t>
            </a:r>
            <a:endParaRPr lang="en-US" sz="1600" dirty="0"/>
          </a:p>
        </p:txBody>
      </p:sp>
      <p:sp>
        <p:nvSpPr>
          <p:cNvPr id="25" name="Text 23"/>
          <p:cNvSpPr/>
          <p:nvPr/>
        </p:nvSpPr>
        <p:spPr>
          <a:xfrm>
            <a:off x="8494776" y="2890723"/>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4:40</a:t>
            </a:r>
            <a:endParaRPr lang="en-US" sz="2400" dirty="0"/>
          </a:p>
        </p:txBody>
      </p:sp>
      <p:sp>
        <p:nvSpPr>
          <p:cNvPr id="26" name="Text 24"/>
          <p:cNvSpPr/>
          <p:nvPr/>
        </p:nvSpPr>
        <p:spPr>
          <a:xfrm>
            <a:off x="9555480" y="2817571"/>
            <a:ext cx="1828800" cy="603504"/>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one read, whole inbox</a:t>
            </a:r>
            <a:endParaRPr lang="en-US" sz="1600" dirty="0"/>
          </a:p>
        </p:txBody>
      </p:sp>
      <p:sp>
        <p:nvSpPr>
          <p:cNvPr id="27" name="Shape 25"/>
          <p:cNvSpPr/>
          <p:nvPr/>
        </p:nvSpPr>
        <p:spPr>
          <a:xfrm>
            <a:off x="8494776" y="3512515"/>
            <a:ext cx="2889504" cy="1956816"/>
          </a:xfrm>
          <a:prstGeom prst="rect">
            <a:avLst/>
          </a:prstGeom>
          <a:solidFill>
            <a:srgbClr val="E8E2D2"/>
          </a:solidFill>
          <a:ln/>
        </p:spPr>
      </p:sp>
      <p:sp>
        <p:nvSpPr>
          <p:cNvPr id="28" name="Shape 26"/>
          <p:cNvSpPr/>
          <p:nvPr/>
        </p:nvSpPr>
        <p:spPr>
          <a:xfrm rot="2700000">
            <a:off x="8677656" y="3773119"/>
            <a:ext cx="100584" cy="100584"/>
          </a:xfrm>
          <a:prstGeom prst="rect">
            <a:avLst/>
          </a:prstGeom>
          <a:solidFill>
            <a:srgbClr val="C9A227"/>
          </a:solidFill>
          <a:ln w="3175">
            <a:solidFill>
              <a:srgbClr val="C9A227"/>
            </a:solidFill>
            <a:prstDash val="solid"/>
          </a:ln>
        </p:spPr>
      </p:sp>
      <p:sp>
        <p:nvSpPr>
          <p:cNvPr id="29" name="Text 27"/>
          <p:cNvSpPr/>
          <p:nvPr/>
        </p:nvSpPr>
        <p:spPr>
          <a:xfrm>
            <a:off x="8988552" y="3695395"/>
            <a:ext cx="2212848" cy="603504"/>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Runs on Claude's side, laptop closed.</a:t>
            </a:r>
            <a:endParaRPr lang="en-US" sz="1600" dirty="0"/>
          </a:p>
        </p:txBody>
      </p:sp>
      <p:sp>
        <p:nvSpPr>
          <p:cNvPr id="30" name="Shape 28"/>
          <p:cNvSpPr/>
          <p:nvPr/>
        </p:nvSpPr>
        <p:spPr>
          <a:xfrm rot="2700000">
            <a:off x="8677656" y="4504639"/>
            <a:ext cx="100584" cy="100584"/>
          </a:xfrm>
          <a:prstGeom prst="rect">
            <a:avLst/>
          </a:prstGeom>
          <a:solidFill>
            <a:srgbClr val="C9A227"/>
          </a:solidFill>
          <a:ln w="3175">
            <a:solidFill>
              <a:srgbClr val="C9A227"/>
            </a:solidFill>
            <a:prstDash val="solid"/>
          </a:ln>
        </p:spPr>
      </p:sp>
      <p:sp>
        <p:nvSpPr>
          <p:cNvPr id="31" name="Text 29"/>
          <p:cNvSpPr/>
          <p:nvPr/>
        </p:nvSpPr>
        <p:spPr>
          <a:xfrm>
            <a:off x="8988552" y="4426915"/>
            <a:ext cx="2212848"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Paid plans only. Free: run her by hand.</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23</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THREE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1:01</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285732"/>
            <a:ext cx="8714232" cy="365760"/>
          </a:xfrm>
          <a:prstGeom prst="rect">
            <a:avLst/>
          </a:prstGeom>
          <a:noFill/>
          <a:ln/>
        </p:spPr>
        <p:txBody>
          <a:bodyPr wrap="square" lIns="0" tIns="0" rIns="0" bIns="0" rtlCol="0" anchor="t"/>
          <a:lstStyle/>
          <a:p>
            <a:pPr algn="ctr" indent="0" marL="0">
              <a:buNone/>
            </a:pPr>
            <a:r>
              <a:rPr lang="en-US" sz="1800" dirty="0">
                <a:solidFill>
                  <a:srgbClr val="AFA893"/>
                </a:solidFill>
                <a:latin typeface="Arial" pitchFamily="34" charset="0"/>
                <a:ea typeface="Arial" pitchFamily="34" charset="-122"/>
                <a:cs typeface="Arial" pitchFamily="34" charset="-120"/>
              </a:rPr>
              <a:t>The trick: Claude never emails you. Your calendar does.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Three stations lit. One left, and it is one more scheduled task.</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FOUR  ·  RETRAIN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Her performance review.</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One more scheduled task. Every Friday she reviews her week. You sign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Schedule the Friday retrain.</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Watch her first review land at 1:13.</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Monday: sign it.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4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denisekgosnell.github.io/Donna</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FOUR  ·  THE FRIDAY RETRAIN</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2990088"/>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350008"/>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Friday at 3:00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to retrain: read this week's triage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reports, drafts, and the emails I actually sent.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Compare. Propose changes to my playbook: people,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priorities, voice. Keep the hard rules. Put "Donna's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Week in Review" on my calendar Monday 8:00 AM with an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EMAIL reminder and save it to a Drive folder called</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 Also do a dry run right now on this week so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far.</a:t>
            </a:r>
            <a:endParaRPr lang="en-US" sz="1600" dirty="0"/>
          </a:p>
        </p:txBody>
      </p:sp>
      <p:sp>
        <p:nvSpPr>
          <p:cNvPr id="18" name="Shape 16"/>
          <p:cNvSpPr/>
          <p:nvPr/>
        </p:nvSpPr>
        <p:spPr>
          <a:xfrm>
            <a:off x="813816" y="4911547"/>
            <a:ext cx="7315200" cy="640080"/>
          </a:xfrm>
          <a:prstGeom prst="rect">
            <a:avLst/>
          </a:prstGeom>
          <a:solidFill>
            <a:srgbClr val="E8E2D2"/>
          </a:solidFill>
          <a:ln/>
        </p:spPr>
      </p:sp>
      <p:sp>
        <p:nvSpPr>
          <p:cNvPr id="19" name="Shape 17"/>
          <p:cNvSpPr/>
          <p:nvPr/>
        </p:nvSpPr>
        <p:spPr>
          <a:xfrm rot="2700000">
            <a:off x="960120" y="5135575"/>
            <a:ext cx="100584" cy="100584"/>
          </a:xfrm>
          <a:prstGeom prst="rect">
            <a:avLst/>
          </a:prstGeom>
          <a:solidFill>
            <a:srgbClr val="C9A227"/>
          </a:solidFill>
          <a:ln w="3175">
            <a:solidFill>
              <a:srgbClr val="C9A227"/>
            </a:solidFill>
            <a:prstDash val="solid"/>
          </a:ln>
        </p:spPr>
      </p:sp>
      <p:sp>
        <p:nvSpPr>
          <p:cNvPr id="20" name="Text 18"/>
          <p:cNvSpPr/>
          <p:nvPr/>
        </p:nvSpPr>
        <p:spPr>
          <a:xfrm>
            <a:off x="1271016" y="5057851"/>
            <a:ext cx="6711696"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4. Paste by 1:03.</a:t>
            </a:r>
            <a:endParaRPr lang="en-US" sz="1600" dirty="0"/>
          </a:p>
        </p:txBody>
      </p:sp>
      <p:sp>
        <p:nvSpPr>
          <p:cNvPr id="21" name="Shape 19"/>
          <p:cNvSpPr/>
          <p:nvPr/>
        </p:nvSpPr>
        <p:spPr>
          <a:xfrm>
            <a:off x="8494776" y="1775155"/>
            <a:ext cx="2889504" cy="1901952"/>
          </a:xfrm>
          <a:prstGeom prst="rect">
            <a:avLst/>
          </a:prstGeom>
          <a:solidFill>
            <a:srgbClr val="E8E2D2"/>
          </a:solidFill>
          <a:ln/>
        </p:spPr>
      </p:sp>
      <p:sp>
        <p:nvSpPr>
          <p:cNvPr id="22" name="Text 20"/>
          <p:cNvSpPr/>
          <p:nvPr/>
        </p:nvSpPr>
        <p:spPr>
          <a:xfrm>
            <a:off x="8641080" y="1921459"/>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SHE LOOKS AT</a:t>
            </a:r>
            <a:endParaRPr lang="en-US" sz="1600" dirty="0"/>
          </a:p>
        </p:txBody>
      </p:sp>
      <p:sp>
        <p:nvSpPr>
          <p:cNvPr id="23" name="Shape 21"/>
          <p:cNvSpPr/>
          <p:nvPr/>
        </p:nvSpPr>
        <p:spPr>
          <a:xfrm rot="2700000">
            <a:off x="8641080" y="2456383"/>
            <a:ext cx="100584" cy="100584"/>
          </a:xfrm>
          <a:prstGeom prst="rect">
            <a:avLst/>
          </a:prstGeom>
          <a:solidFill>
            <a:srgbClr val="C9A227"/>
          </a:solidFill>
          <a:ln w="3175">
            <a:solidFill>
              <a:srgbClr val="C9A227"/>
            </a:solidFill>
            <a:prstDash val="solid"/>
          </a:ln>
        </p:spPr>
      </p:sp>
      <p:sp>
        <p:nvSpPr>
          <p:cNvPr id="24" name="Text 22"/>
          <p:cNvSpPr/>
          <p:nvPr/>
        </p:nvSpPr>
        <p:spPr>
          <a:xfrm>
            <a:off x="8951976" y="2378659"/>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reports</a:t>
            </a:r>
            <a:endParaRPr lang="en-US" sz="1600" dirty="0"/>
          </a:p>
        </p:txBody>
      </p:sp>
      <p:sp>
        <p:nvSpPr>
          <p:cNvPr id="25" name="Shape 23"/>
          <p:cNvSpPr/>
          <p:nvPr/>
        </p:nvSpPr>
        <p:spPr>
          <a:xfrm rot="2700000">
            <a:off x="8641080" y="2858719"/>
            <a:ext cx="100584" cy="100584"/>
          </a:xfrm>
          <a:prstGeom prst="rect">
            <a:avLst/>
          </a:prstGeom>
          <a:solidFill>
            <a:srgbClr val="C9A227"/>
          </a:solidFill>
          <a:ln w="3175">
            <a:solidFill>
              <a:srgbClr val="C9A227"/>
            </a:solidFill>
            <a:prstDash val="solid"/>
          </a:ln>
        </p:spPr>
      </p:sp>
      <p:sp>
        <p:nvSpPr>
          <p:cNvPr id="26" name="Text 24"/>
          <p:cNvSpPr/>
          <p:nvPr/>
        </p:nvSpPr>
        <p:spPr>
          <a:xfrm>
            <a:off x="8951976" y="2780995"/>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drafts</a:t>
            </a:r>
            <a:endParaRPr lang="en-US" sz="1600" dirty="0"/>
          </a:p>
        </p:txBody>
      </p:sp>
      <p:sp>
        <p:nvSpPr>
          <p:cNvPr id="27" name="Shape 25"/>
          <p:cNvSpPr/>
          <p:nvPr/>
        </p:nvSpPr>
        <p:spPr>
          <a:xfrm rot="2700000">
            <a:off x="8641080" y="3261055"/>
            <a:ext cx="100584" cy="100584"/>
          </a:xfrm>
          <a:prstGeom prst="rect">
            <a:avLst/>
          </a:prstGeom>
          <a:solidFill>
            <a:srgbClr val="C9A227"/>
          </a:solidFill>
          <a:ln w="3175">
            <a:solidFill>
              <a:srgbClr val="C9A227"/>
            </a:solidFill>
            <a:prstDash val="solid"/>
          </a:ln>
        </p:spPr>
      </p:sp>
      <p:sp>
        <p:nvSpPr>
          <p:cNvPr id="28" name="Text 26"/>
          <p:cNvSpPr/>
          <p:nvPr/>
        </p:nvSpPr>
        <p:spPr>
          <a:xfrm>
            <a:off x="8951976" y="318333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your sent emails</a:t>
            </a:r>
            <a:endParaRPr lang="en-US" sz="1600" dirty="0"/>
          </a:p>
        </p:txBody>
      </p:sp>
      <p:sp>
        <p:nvSpPr>
          <p:cNvPr id="29" name="Shape 27"/>
          <p:cNvSpPr/>
          <p:nvPr/>
        </p:nvSpPr>
        <p:spPr>
          <a:xfrm>
            <a:off x="8494776" y="3859987"/>
            <a:ext cx="2889504" cy="1499616"/>
          </a:xfrm>
          <a:prstGeom prst="rect">
            <a:avLst/>
          </a:prstGeom>
          <a:solidFill>
            <a:srgbClr val="E8E2D2"/>
          </a:solidFill>
          <a:ln/>
        </p:spPr>
      </p:sp>
      <p:sp>
        <p:nvSpPr>
          <p:cNvPr id="30" name="Text 28"/>
          <p:cNvSpPr/>
          <p:nvPr/>
        </p:nvSpPr>
        <p:spPr>
          <a:xfrm>
            <a:off x="8641080" y="4006291"/>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WHAT COMES BACK</a:t>
            </a:r>
            <a:endParaRPr lang="en-US" sz="1600" dirty="0"/>
          </a:p>
        </p:txBody>
      </p:sp>
      <p:sp>
        <p:nvSpPr>
          <p:cNvPr id="31" name="Shape 29"/>
          <p:cNvSpPr/>
          <p:nvPr/>
        </p:nvSpPr>
        <p:spPr>
          <a:xfrm rot="2700000">
            <a:off x="8641080" y="4541215"/>
            <a:ext cx="100584" cy="100584"/>
          </a:xfrm>
          <a:prstGeom prst="rect">
            <a:avLst/>
          </a:prstGeom>
          <a:solidFill>
            <a:srgbClr val="C9A227"/>
          </a:solidFill>
          <a:ln w="3175">
            <a:solidFill>
              <a:srgbClr val="C9A227"/>
            </a:solidFill>
            <a:prstDash val="solid"/>
          </a:ln>
        </p:spPr>
      </p:sp>
      <p:sp>
        <p:nvSpPr>
          <p:cNvPr id="32" name="Text 30"/>
          <p:cNvSpPr/>
          <p:nvPr/>
        </p:nvSpPr>
        <p:spPr>
          <a:xfrm>
            <a:off x="8951976" y="446349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changes, with a why</a:t>
            </a:r>
            <a:endParaRPr lang="en-US" sz="1600" dirty="0"/>
          </a:p>
        </p:txBody>
      </p:sp>
      <p:sp>
        <p:nvSpPr>
          <p:cNvPr id="33" name="Shape 31"/>
          <p:cNvSpPr/>
          <p:nvPr/>
        </p:nvSpPr>
        <p:spPr>
          <a:xfrm rot="2700000">
            <a:off x="8641080" y="4943551"/>
            <a:ext cx="100584" cy="100584"/>
          </a:xfrm>
          <a:prstGeom prst="rect">
            <a:avLst/>
          </a:prstGeom>
          <a:solidFill>
            <a:srgbClr val="C9A227"/>
          </a:solidFill>
          <a:ln w="3175">
            <a:solidFill>
              <a:srgbClr val="C9A227"/>
            </a:solidFill>
            <a:prstDash val="solid"/>
          </a:ln>
        </p:spPr>
      </p:sp>
      <p:sp>
        <p:nvSpPr>
          <p:cNvPr id="34" name="Text 32"/>
          <p:cNvSpPr/>
          <p:nvPr/>
        </p:nvSpPr>
        <p:spPr>
          <a:xfrm>
            <a:off x="8951976" y="4865827"/>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 approve first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26</a:t>
            </a:r>
            <a:endParaRPr lang="en-US" sz="16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955548"/>
          </a:xfrm>
          <a:prstGeom prst="rect">
            <a:avLst/>
          </a:prstGeom>
          <a:noFill/>
          <a:ln/>
        </p:spPr>
        <p:txBody>
          <a:bodyPr wrap="square" lIns="0" tIns="0" rIns="0" bIns="0" rtlCol="0" anchor="t"/>
          <a:lstStyle/>
          <a:p>
            <a:pPr algn="ctr" indent="0" marL="0">
              <a:lnSpc>
                <a:spcPct val="116000"/>
              </a:lnSpc>
              <a:buNone/>
            </a:pPr>
            <a:r>
              <a:rPr lang="en-US" sz="18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800" dirty="0"/>
          </a:p>
        </p:txBody>
      </p:sp>
      <p:sp>
        <p:nvSpPr>
          <p:cNvPr id="9" name="Text 7"/>
          <p:cNvSpPr/>
          <p:nvPr/>
        </p:nvSpPr>
        <p:spPr>
          <a:xfrm>
            <a:off x="1798168" y="4433194"/>
            <a:ext cx="8595360" cy="667512"/>
          </a:xfrm>
          <a:prstGeom prst="rect">
            <a:avLst/>
          </a:prstGeom>
          <a:noFill/>
          <a:ln/>
        </p:spPr>
        <p:txBody>
          <a:bodyPr wrap="square" lIns="0" tIns="0" rIns="0" bIns="0" rtlCol="0" anchor="t"/>
          <a:lstStyle/>
          <a:p>
            <a:pPr algn="ctr" indent="0" marL="0">
              <a:lnSpc>
                <a:spcPct val="116000"/>
              </a:lnSpc>
              <a:buNone/>
            </a:pPr>
            <a:r>
              <a:rPr lang="en-US" sz="18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8485632" y="1097280"/>
            <a:ext cx="289864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THE LOOP IS CLOSED</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FOUR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1:13</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285732"/>
            <a:ext cx="8714232" cy="640080"/>
          </a:xfrm>
          <a:prstGeom prst="rect">
            <a:avLst/>
          </a:prstGeom>
          <a:noFill/>
          <a:ln/>
        </p:spPr>
        <p:txBody>
          <a:bodyPr wrap="square" lIns="0" tIns="0" rIns="0" bIns="0" rtlCol="0" anchor="t"/>
          <a:lstStyle/>
          <a:p>
            <a:pPr algn="ctr" indent="0" marL="0">
              <a:lnSpc>
                <a:spcPct val="116000"/>
              </a:lnSpc>
              <a:buNone/>
            </a:pPr>
            <a:r>
              <a:rPr lang="en-US" sz="18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The loop is closed.</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DISCUSSION</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2149450" y="2460955"/>
            <a:ext cx="1919021" cy="1919021"/>
          </a:xfrm>
          <a:prstGeom prst="ellipse">
            <a:avLst/>
          </a:prstGeom>
          <a:ln w="12700">
            <a:solidFill>
              <a:srgbClr val="C9A227"/>
            </a:solidFill>
            <a:prstDash val="solid"/>
          </a:ln>
        </p:spPr>
      </p:sp>
      <p:sp>
        <p:nvSpPr>
          <p:cNvPr id="10" name="Shape 8"/>
          <p:cNvSpPr/>
          <p:nvPr/>
        </p:nvSpPr>
        <p:spPr>
          <a:xfrm rot="8100000">
            <a:off x="3739888" y="2676610"/>
            <a:ext cx="95098" cy="130759"/>
          </a:xfrm>
          <a:prstGeom prst="triangle">
            <a:avLst/>
          </a:prstGeom>
          <a:solidFill>
            <a:srgbClr val="C9A227"/>
          </a:solidFill>
          <a:ln/>
        </p:spPr>
      </p:sp>
      <p:sp>
        <p:nvSpPr>
          <p:cNvPr id="11" name="Shape 9"/>
          <p:cNvSpPr/>
          <p:nvPr/>
        </p:nvSpPr>
        <p:spPr>
          <a:xfrm rot="13500000">
            <a:off x="3739888" y="4033562"/>
            <a:ext cx="95098" cy="130759"/>
          </a:xfrm>
          <a:prstGeom prst="triangle">
            <a:avLst/>
          </a:prstGeom>
          <a:solidFill>
            <a:srgbClr val="C9A227"/>
          </a:solidFill>
          <a:ln/>
        </p:spPr>
      </p:sp>
      <p:sp>
        <p:nvSpPr>
          <p:cNvPr id="12" name="Shape 10"/>
          <p:cNvSpPr/>
          <p:nvPr/>
        </p:nvSpPr>
        <p:spPr>
          <a:xfrm rot="18900000">
            <a:off x="2382935" y="4033562"/>
            <a:ext cx="95098" cy="130759"/>
          </a:xfrm>
          <a:prstGeom prst="triangle">
            <a:avLst/>
          </a:prstGeom>
          <a:solidFill>
            <a:srgbClr val="C9A227"/>
          </a:solidFill>
          <a:ln/>
        </p:spPr>
      </p:sp>
      <p:sp>
        <p:nvSpPr>
          <p:cNvPr id="13" name="Shape 11"/>
          <p:cNvSpPr/>
          <p:nvPr/>
        </p:nvSpPr>
        <p:spPr>
          <a:xfrm rot="2700000">
            <a:off x="2382935" y="2676610"/>
            <a:ext cx="95098" cy="130759"/>
          </a:xfrm>
          <a:prstGeom prst="triangle">
            <a:avLst/>
          </a:prstGeom>
          <a:solidFill>
            <a:srgbClr val="C9A227"/>
          </a:solidFill>
          <a:ln/>
        </p:spPr>
      </p:sp>
      <p:sp>
        <p:nvSpPr>
          <p:cNvPr id="14" name="Shape 12"/>
          <p:cNvSpPr/>
          <p:nvPr/>
        </p:nvSpPr>
        <p:spPr>
          <a:xfrm>
            <a:off x="2552444" y="2863950"/>
            <a:ext cx="1113032" cy="1113032"/>
          </a:xfrm>
          <a:prstGeom prst="ellipse">
            <a:avLst/>
          </a:prstGeom>
          <a:solidFill>
            <a:srgbClr val="14213D"/>
          </a:solidFill>
          <a:ln/>
        </p:spPr>
      </p:sp>
      <p:sp>
        <p:nvSpPr>
          <p:cNvPr id="15" name="Text 13"/>
          <p:cNvSpPr/>
          <p:nvPr/>
        </p:nvSpPr>
        <p:spPr>
          <a:xfrm>
            <a:off x="2598164" y="3156306"/>
            <a:ext cx="1021592"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2880360" y="2232355"/>
            <a:ext cx="457200" cy="457200"/>
          </a:xfrm>
          <a:prstGeom prst="ellipse">
            <a:avLst/>
          </a:prstGeom>
          <a:solidFill>
            <a:srgbClr val="F7F3EA"/>
          </a:solidFill>
          <a:ln w="12700">
            <a:solidFill>
              <a:srgbClr val="C9A227"/>
            </a:solidFill>
            <a:prstDash val="solid"/>
          </a:ln>
        </p:spPr>
      </p:sp>
      <p:sp>
        <p:nvSpPr>
          <p:cNvPr id="17" name="Text 15"/>
          <p:cNvSpPr/>
          <p:nvPr/>
        </p:nvSpPr>
        <p:spPr>
          <a:xfrm>
            <a:off x="2880360" y="2232355"/>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240280" y="1811731"/>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3839870" y="3191866"/>
            <a:ext cx="457200" cy="457200"/>
          </a:xfrm>
          <a:prstGeom prst="ellipse">
            <a:avLst/>
          </a:prstGeom>
          <a:solidFill>
            <a:srgbClr val="F7F3EA"/>
          </a:solidFill>
          <a:ln w="12700">
            <a:solidFill>
              <a:srgbClr val="C9A227"/>
            </a:solidFill>
            <a:prstDash val="solid"/>
          </a:ln>
        </p:spPr>
      </p:sp>
      <p:sp>
        <p:nvSpPr>
          <p:cNvPr id="20" name="Text 18"/>
          <p:cNvSpPr/>
          <p:nvPr/>
        </p:nvSpPr>
        <p:spPr>
          <a:xfrm>
            <a:off x="383987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4425086" y="3246730"/>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2880360" y="4151376"/>
            <a:ext cx="457200" cy="457200"/>
          </a:xfrm>
          <a:prstGeom prst="ellipse">
            <a:avLst/>
          </a:prstGeom>
          <a:solidFill>
            <a:srgbClr val="F7F3EA"/>
          </a:solidFill>
          <a:ln w="12700">
            <a:solidFill>
              <a:srgbClr val="C9A227"/>
            </a:solidFill>
            <a:prstDash val="solid"/>
          </a:ln>
        </p:spPr>
      </p:sp>
      <p:sp>
        <p:nvSpPr>
          <p:cNvPr id="23" name="Text 21"/>
          <p:cNvSpPr/>
          <p:nvPr/>
        </p:nvSpPr>
        <p:spPr>
          <a:xfrm>
            <a:off x="2880360" y="415137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240280" y="468172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1920850" y="3191866"/>
            <a:ext cx="457200" cy="457200"/>
          </a:xfrm>
          <a:prstGeom prst="ellipse">
            <a:avLst/>
          </a:prstGeom>
          <a:solidFill>
            <a:srgbClr val="F7F3EA"/>
          </a:solidFill>
          <a:ln w="12700">
            <a:solidFill>
              <a:srgbClr val="C9A227"/>
            </a:solidFill>
            <a:prstDash val="solid"/>
          </a:ln>
        </p:spPr>
      </p:sp>
      <p:sp>
        <p:nvSpPr>
          <p:cNvPr id="26" name="Text 24"/>
          <p:cNvSpPr/>
          <p:nvPr/>
        </p:nvSpPr>
        <p:spPr>
          <a:xfrm>
            <a:off x="192085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552298" y="3246730"/>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Shape 26"/>
          <p:cNvSpPr/>
          <p:nvPr/>
        </p:nvSpPr>
        <p:spPr>
          <a:xfrm>
            <a:off x="5577840" y="1775155"/>
            <a:ext cx="5806440" cy="3401568"/>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arrives every day that you read by hand?</a:t>
            </a:r>
            <a:endParaRPr lang="en-US" sz="1600" dirty="0"/>
          </a:p>
        </p:txBody>
      </p:sp>
      <p:sp>
        <p:nvSpPr>
          <p:cNvPr id="31" name="Shape 29"/>
          <p:cNvSpPr/>
          <p:nvPr/>
        </p:nvSpPr>
        <p:spPr>
          <a:xfrm rot="2700000">
            <a:off x="5852160" y="287700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99283"/>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do you re-explain to somebody every single week?</a:t>
            </a:r>
            <a:endParaRPr lang="en-US" sz="1600" dirty="0"/>
          </a:p>
        </p:txBody>
      </p:sp>
      <p:sp>
        <p:nvSpPr>
          <p:cNvPr id="33" name="Shape 31"/>
          <p:cNvSpPr/>
          <p:nvPr/>
        </p:nvSpPr>
        <p:spPr>
          <a:xfrm rot="2700000">
            <a:off x="5852160" y="3626815"/>
            <a:ext cx="100584" cy="100584"/>
          </a:xfrm>
          <a:prstGeom prst="rect">
            <a:avLst/>
          </a:prstGeom>
          <a:solidFill>
            <a:srgbClr val="C9A227"/>
          </a:solidFill>
          <a:ln w="3175">
            <a:solidFill>
              <a:srgbClr val="C9A227"/>
            </a:solidFill>
            <a:prstDash val="solid"/>
          </a:ln>
        </p:spPr>
      </p:sp>
      <p:sp>
        <p:nvSpPr>
          <p:cNvPr id="34" name="Text 32"/>
          <p:cNvSpPr/>
          <p:nvPr/>
        </p:nvSpPr>
        <p:spPr>
          <a:xfrm>
            <a:off x="6163056" y="3549091"/>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would you want running at 4:30 tomorrow without you?</a:t>
            </a:r>
            <a:endParaRPr lang="en-US" sz="1600" dirty="0"/>
          </a:p>
        </p:txBody>
      </p:sp>
      <p:sp>
        <p:nvSpPr>
          <p:cNvPr id="35" name="Shape 33"/>
          <p:cNvSpPr/>
          <p:nvPr/>
        </p:nvSpPr>
        <p:spPr>
          <a:xfrm rot="2700000">
            <a:off x="5852160" y="4376623"/>
            <a:ext cx="100584" cy="100584"/>
          </a:xfrm>
          <a:prstGeom prst="rect">
            <a:avLst/>
          </a:prstGeom>
          <a:solidFill>
            <a:srgbClr val="C9A227"/>
          </a:solidFill>
          <a:ln w="3175">
            <a:solidFill>
              <a:srgbClr val="C9A227"/>
            </a:solidFill>
            <a:prstDash val="solid"/>
          </a:ln>
        </p:spPr>
      </p:sp>
      <p:sp>
        <p:nvSpPr>
          <p:cNvPr id="36" name="Text 34"/>
          <p:cNvSpPr/>
          <p:nvPr/>
        </p:nvSpPr>
        <p:spPr>
          <a:xfrm>
            <a:off x="6163056" y="4298899"/>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did you learn last month that nobody wrote down?</a:t>
            </a:r>
            <a:endParaRPr lang="en-US" sz="1600" dirty="0"/>
          </a:p>
        </p:txBody>
      </p:sp>
      <p:sp>
        <p:nvSpPr>
          <p:cNvPr id="37" name="Text 35"/>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HAPPENS NEXT</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2926080"/>
            <a:ext cx="10570464" cy="0"/>
          </a:xfrm>
          <a:prstGeom prst="line">
            <a:avLst/>
          </a:prstGeom>
          <a:noFill/>
          <a:ln w="9525">
            <a:solidFill>
              <a:srgbClr val="C9A227">
                <a:alpha val="45000"/>
              </a:srgbClr>
            </a:solidFill>
            <a:prstDash val="solid"/>
          </a:ln>
        </p:spPr>
      </p:sp>
      <p:sp>
        <p:nvSpPr>
          <p:cNvPr id="10" name="Shape 8"/>
          <p:cNvSpPr/>
          <p:nvPr/>
        </p:nvSpPr>
        <p:spPr>
          <a:xfrm>
            <a:off x="2057400" y="2848356"/>
            <a:ext cx="155448" cy="155448"/>
          </a:xfrm>
          <a:prstGeom prst="ellipse">
            <a:avLst/>
          </a:prstGeom>
          <a:solidFill>
            <a:srgbClr val="14213D"/>
          </a:solidFill>
          <a:ln/>
        </p:spPr>
      </p:sp>
      <p:sp>
        <p:nvSpPr>
          <p:cNvPr id="11" name="Text 9"/>
          <p:cNvSpPr/>
          <p:nvPr/>
        </p:nvSpPr>
        <p:spPr>
          <a:xfrm>
            <a:off x="900684" y="2011680"/>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Thu 4:30</a:t>
            </a:r>
            <a:endParaRPr lang="en-US" sz="1800" dirty="0"/>
          </a:p>
        </p:txBody>
      </p:sp>
      <p:sp>
        <p:nvSpPr>
          <p:cNvPr id="12" name="Text 10"/>
          <p:cNvSpPr/>
          <p:nvPr/>
        </p:nvSpPr>
        <p:spPr>
          <a:xfrm>
            <a:off x="900684" y="2340864"/>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shift</a:t>
            </a:r>
            <a:endParaRPr lang="en-US" sz="1600" dirty="0"/>
          </a:p>
        </p:txBody>
      </p:sp>
      <p:sp>
        <p:nvSpPr>
          <p:cNvPr id="13" name="Shape 11"/>
          <p:cNvSpPr/>
          <p:nvPr/>
        </p:nvSpPr>
        <p:spPr>
          <a:xfrm>
            <a:off x="4700016" y="2848356"/>
            <a:ext cx="155448" cy="155448"/>
          </a:xfrm>
          <a:prstGeom prst="ellipse">
            <a:avLst/>
          </a:prstGeom>
          <a:solidFill>
            <a:srgbClr val="14213D"/>
          </a:solidFill>
          <a:ln/>
        </p:spPr>
      </p:sp>
      <p:sp>
        <p:nvSpPr>
          <p:cNvPr id="14" name="Text 12"/>
          <p:cNvSpPr/>
          <p:nvPr/>
        </p:nvSpPr>
        <p:spPr>
          <a:xfrm>
            <a:off x="3543300"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Fri 3:00</a:t>
            </a:r>
            <a:endParaRPr lang="en-US" sz="1800" dirty="0"/>
          </a:p>
        </p:txBody>
      </p:sp>
      <p:sp>
        <p:nvSpPr>
          <p:cNvPr id="15" name="Text 13"/>
          <p:cNvSpPr/>
          <p:nvPr/>
        </p:nvSpPr>
        <p:spPr>
          <a:xfrm>
            <a:off x="3543300"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retrain</a:t>
            </a:r>
            <a:endParaRPr lang="en-US" sz="1600" dirty="0"/>
          </a:p>
        </p:txBody>
      </p:sp>
      <p:sp>
        <p:nvSpPr>
          <p:cNvPr id="16" name="Shape 14"/>
          <p:cNvSpPr/>
          <p:nvPr/>
        </p:nvSpPr>
        <p:spPr>
          <a:xfrm>
            <a:off x="7342632" y="2848356"/>
            <a:ext cx="155448" cy="155448"/>
          </a:xfrm>
          <a:prstGeom prst="ellipse">
            <a:avLst/>
          </a:prstGeom>
          <a:solidFill>
            <a:srgbClr val="C9A227"/>
          </a:solidFill>
          <a:ln/>
        </p:spPr>
      </p:sp>
      <p:sp>
        <p:nvSpPr>
          <p:cNvPr id="17" name="Text 15"/>
          <p:cNvSpPr/>
          <p:nvPr/>
        </p:nvSpPr>
        <p:spPr>
          <a:xfrm>
            <a:off x="6185916" y="1755648"/>
            <a:ext cx="2468880" cy="292608"/>
          </a:xfrm>
          <a:prstGeom prst="rect">
            <a:avLst/>
          </a:prstGeom>
          <a:noFill/>
          <a:ln/>
        </p:spPr>
        <p:txBody>
          <a:bodyPr wrap="square" lIns="0" tIns="0" rIns="0" bIns="0" rtlCol="0" anchor="ctr"/>
          <a:lstStyle/>
          <a:p>
            <a:pPr algn="ctr" indent="0" marL="0">
              <a:buNone/>
            </a:pPr>
            <a:r>
              <a:rPr lang="en-US" sz="1800" b="1" dirty="0">
                <a:solidFill>
                  <a:srgbClr val="8A6D14"/>
                </a:solidFill>
                <a:latin typeface="Arial" pitchFamily="34" charset="0"/>
                <a:ea typeface="Arial" pitchFamily="34" charset="-122"/>
                <a:cs typeface="Arial" pitchFamily="34" charset="-120"/>
              </a:rPr>
              <a:t>Mon 8:00</a:t>
            </a:r>
            <a:endParaRPr lang="en-US" sz="1800" dirty="0"/>
          </a:p>
        </p:txBody>
      </p:sp>
      <p:sp>
        <p:nvSpPr>
          <p:cNvPr id="18" name="Text 16"/>
          <p:cNvSpPr/>
          <p:nvPr/>
        </p:nvSpPr>
        <p:spPr>
          <a:xfrm>
            <a:off x="6185916" y="2084832"/>
            <a:ext cx="2468880" cy="603504"/>
          </a:xfrm>
          <a:prstGeom prst="rect">
            <a:avLst/>
          </a:prstGeom>
          <a:noFill/>
          <a:ln/>
        </p:spPr>
        <p:txBody>
          <a:bodyPr wrap="square" lIns="0" tIns="0" rIns="0" bIns="0" rtlCol="0" anchor="t"/>
          <a:lstStyle/>
          <a:p>
            <a:pPr algn="ctr" indent="0" marL="0">
              <a:lnSpc>
                <a:spcPct val="110000"/>
              </a:lnSpc>
              <a:buNone/>
            </a:pPr>
            <a:r>
              <a:rPr lang="en-US" sz="1600" dirty="0">
                <a:solidFill>
                  <a:srgbClr val="8A6D14"/>
                </a:solidFill>
                <a:latin typeface="Arial" pitchFamily="34" charset="0"/>
                <a:ea typeface="Arial" pitchFamily="34" charset="-122"/>
                <a:cs typeface="Arial" pitchFamily="34" charset="-120"/>
              </a:rPr>
              <a:t>her Week in Review, on your calendar</a:t>
            </a:r>
            <a:endParaRPr lang="en-US" sz="1600" dirty="0"/>
          </a:p>
        </p:txBody>
      </p:sp>
      <p:sp>
        <p:nvSpPr>
          <p:cNvPr id="19" name="Shape 17"/>
          <p:cNvSpPr/>
          <p:nvPr/>
        </p:nvSpPr>
        <p:spPr>
          <a:xfrm>
            <a:off x="9985248" y="2848356"/>
            <a:ext cx="155448" cy="155448"/>
          </a:xfrm>
          <a:prstGeom prst="ellipse">
            <a:avLst/>
          </a:prstGeom>
          <a:solidFill>
            <a:srgbClr val="14213D"/>
          </a:solidFill>
          <a:ln/>
        </p:spPr>
      </p:sp>
      <p:sp>
        <p:nvSpPr>
          <p:cNvPr id="20" name="Text 18"/>
          <p:cNvSpPr/>
          <p:nvPr/>
        </p:nvSpPr>
        <p:spPr>
          <a:xfrm>
            <a:off x="8828532"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Mon, you sign it</a:t>
            </a:r>
            <a:endParaRPr lang="en-US" sz="1800" dirty="0"/>
          </a:p>
        </p:txBody>
      </p:sp>
      <p:sp>
        <p:nvSpPr>
          <p:cNvPr id="21" name="Text 19"/>
          <p:cNvSpPr/>
          <p:nvPr/>
        </p:nvSpPr>
        <p:spPr>
          <a:xfrm>
            <a:off x="8828532"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one paste, one upload</a:t>
            </a:r>
            <a:endParaRPr lang="en-US" sz="1600" dirty="0"/>
          </a:p>
        </p:txBody>
      </p:sp>
      <p:sp>
        <p:nvSpPr>
          <p:cNvPr id="22" name="Shape 20"/>
          <p:cNvSpPr/>
          <p:nvPr/>
        </p:nvSpPr>
        <p:spPr>
          <a:xfrm>
            <a:off x="813816" y="4023360"/>
            <a:ext cx="10570464" cy="1143000"/>
          </a:xfrm>
          <a:prstGeom prst="rect">
            <a:avLst/>
          </a:prstGeom>
          <a:solidFill>
            <a:srgbClr val="E8E2D2"/>
          </a:solidFill>
          <a:ln/>
        </p:spPr>
      </p:sp>
      <p:sp>
        <p:nvSpPr>
          <p:cNvPr id="23" name="Shape 21"/>
          <p:cNvSpPr/>
          <p:nvPr/>
        </p:nvSpPr>
        <p:spPr>
          <a:xfrm rot="2700000">
            <a:off x="1051560" y="4338828"/>
            <a:ext cx="100584" cy="100584"/>
          </a:xfrm>
          <a:prstGeom prst="rect">
            <a:avLst/>
          </a:prstGeom>
          <a:solidFill>
            <a:srgbClr val="C9A227"/>
          </a:solidFill>
          <a:ln w="3175">
            <a:solidFill>
              <a:srgbClr val="C9A227"/>
            </a:solidFill>
            <a:prstDash val="solid"/>
          </a:ln>
        </p:spPr>
      </p:sp>
      <p:sp>
        <p:nvSpPr>
          <p:cNvPr id="24" name="Text 22"/>
          <p:cNvSpPr/>
          <p:nvPr/>
        </p:nvSpPr>
        <p:spPr>
          <a:xfrm>
            <a:off x="1362456" y="4261104"/>
            <a:ext cx="9784080" cy="667512"/>
          </a:xfrm>
          <a:prstGeom prst="rect">
            <a:avLst/>
          </a:prstGeom>
          <a:noFill/>
          <a:ln/>
        </p:spPr>
        <p:txBody>
          <a:bodyPr wrap="square" lIns="0" tIns="0" rIns="0" bIns="0" rtlCol="0" anchor="t"/>
          <a:lstStyle/>
          <a:p>
            <a:pPr indent="0" marL="0">
              <a:lnSpc>
                <a:spcPct val="116000"/>
              </a:lnSpc>
              <a:buNone/>
            </a:pPr>
            <a:r>
              <a:rPr lang="en-US" sz="1800" b="1" dirty="0">
                <a:solidFill>
                  <a:srgbClr val="8A6D14"/>
                </a:solidFill>
                <a:latin typeface="Arial" pitchFamily="34" charset="0"/>
                <a:ea typeface="Arial" pitchFamily="34" charset="-122"/>
                <a:cs typeface="Arial" pitchFamily="34" charset="-120"/>
              </a:rPr>
              <a:t>If she gets it wrong, you do not need a better prompt. You need to retrain with better info, and more specific info.</a:t>
            </a:r>
            <a:endParaRPr lang="en-US" sz="1800" dirty="0"/>
          </a:p>
        </p:txBody>
      </p:sp>
      <p:sp>
        <p:nvSpPr>
          <p:cNvPr id="25" name="Text 23"/>
          <p:cNvSpPr/>
          <p:nvPr/>
        </p:nvSpPr>
        <p:spPr>
          <a:xfrm>
            <a:off x="813816" y="5212080"/>
            <a:ext cx="10570464" cy="274320"/>
          </a:xfrm>
          <a:prstGeom prst="rect">
            <a:avLst/>
          </a:prstGeom>
          <a:noFill/>
          <a:ln/>
        </p:spPr>
        <p:txBody>
          <a:bodyPr wrap="square" lIns="0" tIns="0" rIns="0" bIns="0" rtlCol="0" anchor="ctr"/>
          <a:lstStyle/>
          <a:p>
            <a:pPr algn="ctr" indent="0" marL="0">
              <a:buNone/>
            </a:pPr>
            <a:r>
              <a:rPr lang="en-US" sz="1600" dirty="0">
                <a:solidFill>
                  <a:srgbClr val="5A6379"/>
                </a:solidFill>
                <a:latin typeface="Arial" pitchFamily="34" charset="0"/>
                <a:ea typeface="Arial" pitchFamily="34" charset="-122"/>
                <a:cs typeface="Arial" pitchFamily="34" charset="-120"/>
              </a:rPr>
              <a:t>denisekgosnell.github.io/Donna   ·   denise@denisegosnell.ai</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667512"/>
            <a:ext cx="1408176" cy="1408176"/>
          </a:xfrm>
          <a:prstGeom prst="ellipse">
            <a:avLst/>
          </a:prstGeom>
          <a:ln w="12700">
            <a:solidFill>
              <a:srgbClr val="C9A227"/>
            </a:solidFill>
            <a:prstDash val="solid"/>
          </a:ln>
        </p:spPr>
      </p:sp>
      <p:sp>
        <p:nvSpPr>
          <p:cNvPr id="3" name="Shape 1"/>
          <p:cNvSpPr/>
          <p:nvPr/>
        </p:nvSpPr>
        <p:spPr>
          <a:xfrm>
            <a:off x="5496422" y="771717"/>
            <a:ext cx="1199766" cy="1199766"/>
          </a:xfrm>
          <a:prstGeom prst="ellipse">
            <a:avLst/>
          </a:prstGeom>
          <a:ln w="12700">
            <a:solidFill>
              <a:srgbClr val="C9A227"/>
            </a:solidFill>
            <a:prstDash val="solid"/>
          </a:ln>
        </p:spPr>
      </p:sp>
      <p:sp>
        <p:nvSpPr>
          <p:cNvPr id="4" name="Shape 2"/>
          <p:cNvSpPr/>
          <p:nvPr/>
        </p:nvSpPr>
        <p:spPr>
          <a:xfrm>
            <a:off x="6096305" y="632308"/>
            <a:ext cx="0" cy="70409"/>
          </a:xfrm>
          <a:prstGeom prst="line">
            <a:avLst/>
          </a:prstGeom>
          <a:noFill/>
          <a:ln w="12700">
            <a:solidFill>
              <a:srgbClr val="C9A227"/>
            </a:solidFill>
            <a:prstDash val="solid"/>
          </a:ln>
        </p:spPr>
      </p:sp>
      <p:sp>
        <p:nvSpPr>
          <p:cNvPr id="5" name="Shape 3"/>
          <p:cNvSpPr/>
          <p:nvPr/>
        </p:nvSpPr>
        <p:spPr>
          <a:xfrm>
            <a:off x="6096305" y="2040484"/>
            <a:ext cx="0" cy="70409"/>
          </a:xfrm>
          <a:prstGeom prst="line">
            <a:avLst/>
          </a:prstGeom>
          <a:noFill/>
          <a:ln w="12700">
            <a:solidFill>
              <a:srgbClr val="C9A227"/>
            </a:solidFill>
            <a:prstDash val="solid"/>
          </a:ln>
        </p:spPr>
      </p:sp>
      <p:sp>
        <p:nvSpPr>
          <p:cNvPr id="6" name="Shape 4"/>
          <p:cNvSpPr/>
          <p:nvPr/>
        </p:nvSpPr>
        <p:spPr>
          <a:xfrm>
            <a:off x="5357012" y="1371600"/>
            <a:ext cx="70409" cy="0"/>
          </a:xfrm>
          <a:prstGeom prst="line">
            <a:avLst/>
          </a:prstGeom>
          <a:noFill/>
          <a:ln w="12700">
            <a:solidFill>
              <a:srgbClr val="C9A227"/>
            </a:solidFill>
            <a:prstDash val="solid"/>
          </a:ln>
        </p:spPr>
      </p:sp>
      <p:sp>
        <p:nvSpPr>
          <p:cNvPr id="7" name="Shape 5"/>
          <p:cNvSpPr/>
          <p:nvPr/>
        </p:nvSpPr>
        <p:spPr>
          <a:xfrm>
            <a:off x="6765188" y="1371600"/>
            <a:ext cx="70409" cy="0"/>
          </a:xfrm>
          <a:prstGeom prst="line">
            <a:avLst/>
          </a:prstGeom>
          <a:noFill/>
          <a:ln w="12700">
            <a:solidFill>
              <a:srgbClr val="C9A227"/>
            </a:solidFill>
            <a:prstDash val="solid"/>
          </a:ln>
        </p:spPr>
      </p:sp>
      <p:sp>
        <p:nvSpPr>
          <p:cNvPr id="8" name="Text 6"/>
          <p:cNvSpPr/>
          <p:nvPr/>
        </p:nvSpPr>
        <p:spPr>
          <a:xfrm>
            <a:off x="5496422" y="77171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249424"/>
            <a:ext cx="8778240" cy="1776862"/>
          </a:xfrm>
          <a:prstGeom prst="rect">
            <a:avLst/>
          </a:prstGeom>
          <a:solidFill>
            <a:srgbClr val="E8E2D2"/>
          </a:solidFill>
          <a:ln/>
        </p:spPr>
      </p:sp>
      <p:sp>
        <p:nvSpPr>
          <p:cNvPr id="10" name="Text 8"/>
          <p:cNvSpPr/>
          <p:nvPr/>
        </p:nvSpPr>
        <p:spPr>
          <a:xfrm>
            <a:off x="2163928" y="2505456"/>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14222"/>
            <a:ext cx="786384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430060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denisekgosnell.github.io/Donna   ·   denise@denisegosnell.ai</a:t>
            </a:r>
            <a:endParaRPr lang="en-US" sz="16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2026-10-20T16:32:47Z</dcterms:created>
  <dcterms:modified xsi:type="dcterms:W3CDTF">2026-10-20T16:32:47Z</dcterms:modified>
</cp:coreProperties>
</file>