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She ran the best closer in New York City. Today she comes to work for you. By 1:13 Eastern every one of you owns a working Donna. Not a demo. Yours, on your own inbox, and she gets better every Friday.
[DO] Zoom housekeeping in one breath: the site open on your phone, Claude open on your laptop, the chat is for two things, a checkmark when you have it and HELP when you do not. Name the co-host working the chat.
[WATCH] Do not start until the chat shows checkmarks from most of the room. The people who fall behind fall behind here, not later.
[NEXT] Fifty-five seconds of silence. Let the video do the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Nothing. Fifty-five seconds. Let it play to the end card.
[DO] Press play the moment the slide lands. If it stalls, go to the hidden slide right after this one and narrate the three stills in the captions' words.
[WATCH] The numbers are a cartoon, not a statistic. If anyone asks, say so: an illustration of what everyone in the room already feels.
[NEXT] Here is the one idea the whole hour sits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 min. Hidden. Use only if the video on the previous slide will not play.
[SAY] Walk the three captions left to right, in those words.
[NEXT] Here is the one idea the whole hour sits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Read the two sentences at the top out loud, slowly. Then the last line of the caption: AI makes open loops cheap. That is the whole problem, and it is the whole opportunity.
[DO] Point left, then right. Open: work goes out, nothing comes back. Closed: the result comes back to whoever set the rules.
[WATCH] Do not define feedback loops, control theory, or anything with a Wikipedia page. Two sentences and move.
[NEXT] Every workflow you have is one of these two shapes. Here is the closed one, with its four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Four stops. Work comes in. Somebody writes the rules down once. The work gets done, on a schedule. And then the part almost nobody builds: you look at what came back and you fix the rules.
[DO] Walk the ring clockwise with your cursor so the room has the four words. Say them: connect, teach, run, retrain. They will hear those four words about forty more times today.
[WATCH] Do not get pulled into which workflows. Email, invoices, hiring, tickets. One breath. The point is the fourth stop.
[NEXT] Now, the part that is actually a computer science lecture, in one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Same four stops. This is how computer scientists have built anything that learns for over fifty years: collect the data, train the model, put it to work, then look at what it got wrong and retrain. Silicon Valley spent two years telling you the magic was in the prompt. It was not. You can ask the AI to write the prompt. The part that matters is step four, and you already know how to do it. It is called looking at how the week went.
[DO] Point at the hub: the model. Then at station four. Hold there.
[WATCH] Say 'over fifty years', not 'invented'. Engineers had feedback loops before computer scientists did. And say 'the textbook version has more stops; we fold two of them in' if anyone technical pushes. It is on the slide in small print.
[NEXT] And here is the only trick in the whole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Same wheel. New hub. Donna is a document: her playbook. Connect it to your inbox, teach it your rules, run it on a schedule, and on Fridays she reads her own week and proposes edits to her own playbook. You are not retraining Claude. Nobody's model changes on Friday. You are retraining Donna, and Donna is a document you own.
[DO] Point at the red hub. That is the file they will download in step three.
[WATCH] This is the sentence people repeat afterward. Say it twice.
[NEXT] One promise before anyone connects an inbox.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Say it twice, verbatim: she never sends. Ever. And she never deletes.
[DO] Slow down here. This is the trust slide, and it answers the fear nobody has typed in the chat yet: what if it emails a client?
[WATCH] Her playbook forbids it in its first line, and nothing leaves until you press send on a draft you have read. You are the send button. If someone asks about privacy, the appendix has the plan-by-plan answer; do not go there now.
[NEXT] Five house rules, then we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Read all five slowly. This slide buys calm for the next hour.
[DO] Rules 1 and 2 kill the unspoken fear. Rule 3 is how we move on Zoom: a checkmark in the chat at every checkpoint, and nobody moves until the count matches. Rule 5: HELP in the chat, and the co-host comes to you.
[WATCH] After rule 5, say the last line out loud. It is the one that keeps people from hiding.
[NEXT] Four steps. By 1:13 she is working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Four steps, one per station of the loop you just saw. Connect at 12:12, teach at 12:26, run at 12:40, retrain at 12:58. At 1:13 she is working for you, and she has already given herself her first performance review.
[DO] Say the arc out loud, then point at the clock on each card. Then switch to the site: everything from here is copy and paste from your phone.
[WATCH] Nobody types anything longer than one sentence today. Say that; it lowers the temperature.
[NEXT] Step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one. The desk before the mail: we make her project first, then we connect the accounts.
[DO] Watch the pip in the top right. One of four stations lit. By 1:13 all four are. Switch the screen share to the site, Step 1.
[WATCH] Nothing yet. Keep moving.
[NEXT] Setup, then two prompts.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
[SAY] Project first, then connectors. The desk before the mail. Then two prompts, from the site, inside the Donna project.
[DO] Share the site, Step 1. Give prompt 1 a beat: the chat goes quiet when Claude answers from their real inbox. Then prompt 2, and send them to their Drafts folder.
[WATCH] The classic failure is signing into the personal Google account instead of work, or a work account whose IT blocks the connector: the note on the page says bring a personal Gmail. If a connector reads Connected but Claude cannot see mail, quit Claude fully and reopen. Fixes it nine times out of ten.
[NEXT] Hold at the checkpoint.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
[SAY] Nothing until the chat shows a checkmark from nearly everyone.
[DO] Run it live on your own screen first, then hold. Count the checkmarks out loud. The co-host chases the HELPs.
[WATCH] If a connector is stuck: disconnect, reconnect, confirm the account. If someone is hopelessly stuck, pair them with the co-host in a breakout and keep the room moving.
[NEXT] Step two, and this is the one that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two is the document. Everything else today is plumbing.
[DO] Pip moves to TEACH. Share the site, Step 2.
[WATCH] Nothing yet.
[NEXT] Four questions, and she does the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9 min.
[SAY] You do not write the document. You answer four questions and she writes it. Reply Now, By End of Day, your priorities, your voice. About four minutes.
[DO] Everyone pastes the template from the site into a NEW chat inside the Donna project. Gate: every screen shows 'Four questions. About four minutes.' and QUESTION 1 OF 4. Checkmarks in the chat. Then let them run. Circulate through the chat with the co-host.
[WATCH] She reaches THE FINAL QUESTION by minute four on her own. When I call time, anyone not there types: final question. Someone will paste OUTSIDE the Donna project and get generic results; get them inside the project, it is the first note on the page.
[NEXT] The checkpoint, and the ritual.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You will never re-explain your rules again. That is the difference between a chat and a playbook.
[DO] Gate first: is THE FINAL QUESTION on your screen? Anyone who is not there types: final question. After the OPEN FOR BUSINESS banner, everyone runs the one-sentence ritual inside the project. Hold until the checkmarks say every screen shows a table.
[WATCH] Reply-Now drafts are already sitting in their Drafts folder. Have them check; that is the gasp.
[NEXT] Step three. The document leaves your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three is where it stops being a conversation and becomes an employee.
[DO] Pip moves to RUN. Share the site, Step 3.
[WATCH] Nothing yet.
[NEXT] She writes her own playbook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
[SAY] A skill written in chat does not exist until you upload it. The file is a zip; the Skills screen wants a zip. Go slow and demo it on screen.
[DO] Three beats. She writes it. You DOWNLOAD it. You UPLOAD it under Skills. Wait until the chat says every screen shows donna-triage in the list.
[WATCH] Stay in the SAME chat as step two; a fresh chat has not met them yet and writes a blank template. If someone cannot find Skills (some builds say Customize, then Skills), the rescue prompt on the page asks Claude where it is in their version.
[NEXT] Now give her the 4:30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
[SAY] The last line of that prompt is the finale of this step: a dry run, right now, with today's event ten minutes out so the email lands while we are still together.
[DO] Grab the prompt from the site rather than retyping. Scheduled in the left sidebar, New task, Create with Claude. If Claude asks how much she may do without checking in, pick the hands-free option. If someone cannot find Scheduled, the rescue prompt on the page asks Claude where it is.
[WATCH] Scheduled tasks run on Anthropic's side now, so a closed laptop is fine; say that plainly. 'My local time' matters: half this room is in Europe. Paste by 12:51 at the latest so the event lands before step four.
[NEXT] Everybody watch your calendar.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Open today's calendar. The checkmark is the event with the triage inside it. The email arrives a minute before it starts, right as step four begins.
[DO] Everyone opens the event: the whole triage in its description, drafts waiting. Hold the silence. Checkmarks in the chat.
[WATCH] The event appears when the dry run finishes, two to five minutes after the paste; the email follows ten minutes after the task started, so most land around 1:00. Do not wait for the email here. Move on at 12:58 and let it arrive during step four.
[NEXT] Three stations lit. Now the one almost nobody builds.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four. Donna Paulsen would never sit through a performance review. So she gives herself one, every Friday, and you sign it.
[DO] Pip: all four stations lit. Share the site, Step 4.
[WATCH] Nothing yet.
[NEXT] Fridays, she reads her week against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 min.
[SAY] Your Sent folder is her report card. She reads the reports she wrote, the drafts she saved, and the emails you actually sent, and she proposes changes to her own playbook. Numbered, each with a because. Nothing changes until you say approve.
[DO] Paste first, by 1:01, then talk. Same place as the daily shift: Scheduled, New task, paste. The last line runs it right now on this week so far, with today's event ten minutes out, which lands at 1:11 if the paste is at 1:01. Talk through the Sent-folder idea while she reads the week. Yes, on a Wednesday: the Sent folder since Monday gives her plenty to say.
[WATCH] Someone will ask whether she can just apply the changes herself. No, and that is the point: the human signature is what closes the loop. Monday, one paste and one upload, only when she proposes something.
[NEXT] Watch for the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Nothing. Let it land. Then: four stations. Connect, teach, run, retrain. That is a learning system, and it is yours.
[DO] Everyone opens the event: proposed changes at the top, numbered, each with a because. Checkmarks in the chat. Point at the pip: all four lit, and the caption says the loop is closed.
[WATCH] A few reviews will land a minute or two late. Keep talking; they will arrive during the next slide.
[NEXT] Then the reframe: this was never about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Recap the loop with THEIR artifacts: the playbook she wrote, the skill file they own, the schedule it runs on, the Friday it learns on. They did not learn a tool today. They built a loop, and closed it.
[DO] Pause here, then open the floor.
[WATCH] Nothing.
[NEXT] Where does the loop turn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11 min.
[SAY] Same four stations, pointed at the rest of your work. Every one of these questions is a workflow somebody on this call is doing by hand.
[DO] Facilitate from the chat; read answers aloud and map each one onto the ring so people hear their own use case become buildable. Three or four answers per station.
[WATCH] Give one personal story: the two-calendar morning shift is your own daily driver, so say so. The RETRAIN answers are your pipeline for the next workshop. Write them down.
[NEXT] What happens next, starting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Tomorrow at 4:30 she works her first real shift, and the email lands at 4:39. Friday at 3:00 she reads her week. Monday at 8:00 her Week in Review is on your calendar, and you sign it with one paste and one upload. If she gets it wrong, you do not need a better prompt. You need a Friday.
[DO] Point at Monday. That is the loop closing for the first time without you in the room.
[WATCH] The site stays up: every prompt, every rescue prompt, the Monday signature. Questions to the email address, any time.
[NEXT] Send-off.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Tomorrow at 4:39 the triage arrives on its own for the first time. Friday she reads her week. Monday she tells you what she wants to change. When that lands, that is Donna saying she has got it from here.
[DO] Questions any time: denise@denisegosnell.ai. The site stays up with every prompt.
[WATCH] Stop the recording after the last question, not before.
[NEXT] Done. You're weird. We'll be friends.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video" Target="../media/media-2-1.mp4"/><Relationship Id="rId2" Type="http://schemas.microsoft.com/office/2007/relationships/media" Target="../media/media-2-1.mp4"/><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5392217" y="777240"/>
            <a:ext cx="1408176" cy="1408176"/>
          </a:xfrm>
          <a:prstGeom prst="ellipse">
            <a:avLst/>
          </a:prstGeom>
          <a:ln w="12700">
            <a:solidFill>
              <a:srgbClr val="C9A227"/>
            </a:solidFill>
            <a:prstDash val="solid"/>
          </a:ln>
        </p:spPr>
      </p:sp>
      <p:sp>
        <p:nvSpPr>
          <p:cNvPr id="3" name="Shape 1"/>
          <p:cNvSpPr/>
          <p:nvPr/>
        </p:nvSpPr>
        <p:spPr>
          <a:xfrm>
            <a:off x="5496422" y="881445"/>
            <a:ext cx="1199766" cy="1199766"/>
          </a:xfrm>
          <a:prstGeom prst="ellipse">
            <a:avLst/>
          </a:prstGeom>
          <a:ln w="12700">
            <a:solidFill>
              <a:srgbClr val="C9A227"/>
            </a:solidFill>
            <a:prstDash val="solid"/>
          </a:ln>
        </p:spPr>
      </p:sp>
      <p:sp>
        <p:nvSpPr>
          <p:cNvPr id="4" name="Shape 2"/>
          <p:cNvSpPr/>
          <p:nvPr/>
        </p:nvSpPr>
        <p:spPr>
          <a:xfrm>
            <a:off x="6096305" y="742036"/>
            <a:ext cx="0" cy="70409"/>
          </a:xfrm>
          <a:prstGeom prst="line">
            <a:avLst/>
          </a:prstGeom>
          <a:noFill/>
          <a:ln w="12700">
            <a:solidFill>
              <a:srgbClr val="C9A227"/>
            </a:solidFill>
            <a:prstDash val="solid"/>
          </a:ln>
        </p:spPr>
      </p:sp>
      <p:sp>
        <p:nvSpPr>
          <p:cNvPr id="5" name="Shape 3"/>
          <p:cNvSpPr/>
          <p:nvPr/>
        </p:nvSpPr>
        <p:spPr>
          <a:xfrm>
            <a:off x="6096305" y="2150212"/>
            <a:ext cx="0" cy="70409"/>
          </a:xfrm>
          <a:prstGeom prst="line">
            <a:avLst/>
          </a:prstGeom>
          <a:noFill/>
          <a:ln w="12700">
            <a:solidFill>
              <a:srgbClr val="C9A227"/>
            </a:solidFill>
            <a:prstDash val="solid"/>
          </a:ln>
        </p:spPr>
      </p:sp>
      <p:sp>
        <p:nvSpPr>
          <p:cNvPr id="6" name="Shape 4"/>
          <p:cNvSpPr/>
          <p:nvPr/>
        </p:nvSpPr>
        <p:spPr>
          <a:xfrm>
            <a:off x="5357012" y="1481328"/>
            <a:ext cx="70409" cy="0"/>
          </a:xfrm>
          <a:prstGeom prst="line">
            <a:avLst/>
          </a:prstGeom>
          <a:noFill/>
          <a:ln w="12700">
            <a:solidFill>
              <a:srgbClr val="C9A227"/>
            </a:solidFill>
            <a:prstDash val="solid"/>
          </a:ln>
        </p:spPr>
      </p:sp>
      <p:sp>
        <p:nvSpPr>
          <p:cNvPr id="7" name="Shape 5"/>
          <p:cNvSpPr/>
          <p:nvPr/>
        </p:nvSpPr>
        <p:spPr>
          <a:xfrm>
            <a:off x="6765188" y="1481328"/>
            <a:ext cx="70409" cy="0"/>
          </a:xfrm>
          <a:prstGeom prst="line">
            <a:avLst/>
          </a:prstGeom>
          <a:noFill/>
          <a:ln w="12700">
            <a:solidFill>
              <a:srgbClr val="C9A227"/>
            </a:solidFill>
            <a:prstDash val="solid"/>
          </a:ln>
        </p:spPr>
      </p:sp>
      <p:sp>
        <p:nvSpPr>
          <p:cNvPr id="8" name="Text 6"/>
          <p:cNvSpPr/>
          <p:nvPr/>
        </p:nvSpPr>
        <p:spPr>
          <a:xfrm>
            <a:off x="5496422" y="881445"/>
            <a:ext cx="1199766" cy="1199766"/>
          </a:xfrm>
          <a:prstGeom prst="rect">
            <a:avLst/>
          </a:prstGeom>
          <a:noFill/>
          <a:ln/>
        </p:spPr>
        <p:txBody>
          <a:bodyPr wrap="square" lIns="0" tIns="0" rIns="0" bIns="0" rtlCol="0" anchor="ctr"/>
          <a:lstStyle/>
          <a:p>
            <a:pPr algn="ctr" indent="0" marL="0">
              <a:buNone/>
            </a:pPr>
            <a:r>
              <a:rPr lang="en-US" sz="5500" b="1" dirty="0">
                <a:solidFill>
                  <a:srgbClr val="A31621"/>
                </a:solidFill>
                <a:latin typeface="Georgia" pitchFamily="34" charset="0"/>
                <a:ea typeface="Georgia" pitchFamily="34" charset="-122"/>
                <a:cs typeface="Georgia" pitchFamily="34" charset="-120"/>
              </a:rPr>
              <a:t>D</a:t>
            </a:r>
            <a:endParaRPr lang="en-US" sz="5500" dirty="0"/>
          </a:p>
        </p:txBody>
      </p:sp>
      <p:sp>
        <p:nvSpPr>
          <p:cNvPr id="9" name="Shape 7"/>
          <p:cNvSpPr/>
          <p:nvPr/>
        </p:nvSpPr>
        <p:spPr>
          <a:xfrm>
            <a:off x="2026768" y="2468880"/>
            <a:ext cx="8138160" cy="1342827"/>
          </a:xfrm>
          <a:prstGeom prst="rect">
            <a:avLst/>
          </a:prstGeom>
          <a:solidFill>
            <a:srgbClr val="E8E2D2"/>
          </a:solidFill>
          <a:ln/>
        </p:spPr>
      </p:sp>
      <p:sp>
        <p:nvSpPr>
          <p:cNvPr id="10" name="Text 8"/>
          <p:cNvSpPr/>
          <p:nvPr/>
        </p:nvSpPr>
        <p:spPr>
          <a:xfrm>
            <a:off x="2483968" y="2724912"/>
            <a:ext cx="7223760" cy="556443"/>
          </a:xfrm>
          <a:prstGeom prst="rect">
            <a:avLst/>
          </a:prstGeom>
          <a:noFill/>
          <a:ln/>
        </p:spPr>
        <p:txBody>
          <a:bodyPr wrap="square" lIns="0" tIns="0" rIns="0" bIns="0" rtlCol="0" anchor="ctr"/>
          <a:lstStyle/>
          <a:p>
            <a:pPr algn="ctr" indent="0" marL="0">
              <a:buNone/>
            </a:pPr>
            <a:r>
              <a:rPr lang="en-US" sz="2800" b="1" i="1" dirty="0">
                <a:solidFill>
                  <a:srgbClr val="A31621"/>
                </a:solidFill>
                <a:latin typeface="Georgia" pitchFamily="34" charset="0"/>
                <a:ea typeface="Georgia" pitchFamily="34" charset="-122"/>
                <a:cs typeface="Georgia" pitchFamily="34" charset="-120"/>
              </a:rPr>
              <a:t>“I’m Donna. I know everything.”</a:t>
            </a:r>
            <a:endParaRPr lang="en-US" sz="2800" dirty="0"/>
          </a:p>
        </p:txBody>
      </p:sp>
      <p:sp>
        <p:nvSpPr>
          <p:cNvPr id="11" name="Text 9"/>
          <p:cNvSpPr/>
          <p:nvPr/>
        </p:nvSpPr>
        <p:spPr>
          <a:xfrm>
            <a:off x="2483968" y="3409371"/>
            <a:ext cx="7223760" cy="219456"/>
          </a:xfrm>
          <a:prstGeom prst="rect">
            <a:avLst/>
          </a:prstGeom>
          <a:noFill/>
          <a:ln/>
        </p:spPr>
        <p:txBody>
          <a:bodyPr wrap="square" lIns="0" tIns="0" rIns="0" bIns="0" rtlCol="0" anchor="ctr"/>
          <a:lstStyle/>
          <a:p>
            <a:pPr algn="ctr" indent="0" marL="0">
              <a:buNone/>
            </a:pPr>
            <a:r>
              <a:rPr lang="en-US" sz="1100" b="1" spc="160" kern="0" dirty="0">
                <a:solidFill>
                  <a:srgbClr val="14213D"/>
                </a:solidFill>
                <a:latin typeface="Arial" pitchFamily="34" charset="0"/>
                <a:ea typeface="Arial" pitchFamily="34" charset="-122"/>
                <a:cs typeface="Arial" pitchFamily="34" charset="-120"/>
              </a:rPr>
              <a:t>— DONNA PAULSEN, SUITS</a:t>
            </a:r>
            <a:endParaRPr lang="en-US" sz="1100" dirty="0"/>
          </a:p>
        </p:txBody>
      </p:sp>
      <p:sp>
        <p:nvSpPr>
          <p:cNvPr id="12" name="Text 10"/>
          <p:cNvSpPr/>
          <p:nvPr/>
        </p:nvSpPr>
        <p:spPr>
          <a:xfrm>
            <a:off x="813816" y="4049451"/>
            <a:ext cx="10570464" cy="566928"/>
          </a:xfrm>
          <a:prstGeom prst="rect">
            <a:avLst/>
          </a:prstGeom>
          <a:noFill/>
          <a:ln/>
        </p:spPr>
        <p:txBody>
          <a:bodyPr wrap="square" lIns="0" tIns="0" rIns="0" bIns="0" rtlCol="0" anchor="ctr"/>
          <a:lstStyle/>
          <a:p>
            <a:pPr algn="ctr" indent="0" marL="0">
              <a:buNone/>
            </a:pPr>
            <a:r>
              <a:rPr lang="en-US" sz="3400" b="1" spc="200" kern="0" dirty="0">
                <a:solidFill>
                  <a:srgbClr val="F7F3EA"/>
                </a:solidFill>
                <a:latin typeface="Arial" pitchFamily="34" charset="0"/>
                <a:ea typeface="Arial" pitchFamily="34" charset="-122"/>
                <a:cs typeface="Arial" pitchFamily="34" charset="-120"/>
              </a:rPr>
              <a:t>BUILD YOUR OWN DONNA</a:t>
            </a:r>
            <a:endParaRPr lang="en-US" sz="3400" dirty="0"/>
          </a:p>
        </p:txBody>
      </p:sp>
      <p:sp>
        <p:nvSpPr>
          <p:cNvPr id="13" name="Text 11"/>
          <p:cNvSpPr/>
          <p:nvPr/>
        </p:nvSpPr>
        <p:spPr>
          <a:xfrm>
            <a:off x="813816" y="4634667"/>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A 90 minute workshop for anyone who is done reading email. No code. You copy, you paste, you leave with an agent.</a:t>
            </a:r>
            <a:endParaRPr lang="en-US" sz="1500" dirty="0"/>
          </a:p>
        </p:txBody>
      </p:sp>
      <p:sp>
        <p:nvSpPr>
          <p:cNvPr id="14" name="Text 12"/>
          <p:cNvSpPr/>
          <p:nvPr/>
        </p:nvSpPr>
        <p:spPr>
          <a:xfrm>
            <a:off x="813816" y="5000427"/>
            <a:ext cx="10570464" cy="219456"/>
          </a:xfrm>
          <a:prstGeom prst="rect">
            <a:avLst/>
          </a:prstGeom>
          <a:noFill/>
          <a:ln/>
        </p:spPr>
        <p:txBody>
          <a:bodyPr wrap="square" lIns="0" tIns="0" rIns="0" bIns="0" rtlCol="0" anchor="ctr"/>
          <a:lstStyle/>
          <a:p>
            <a:pPr algn="ctr" indent="0" marL="0">
              <a:buNone/>
            </a:pPr>
            <a:r>
              <a:rPr lang="en-US" sz="1000" spc="160" kern="0" dirty="0">
                <a:solidFill>
                  <a:srgbClr val="AFA893"/>
                </a:solidFill>
                <a:latin typeface="Arial" pitchFamily="34" charset="0"/>
                <a:ea typeface="Arial" pitchFamily="34" charset="-122"/>
                <a:cs typeface="Arial" pitchFamily="34" charset="-120"/>
              </a:rPr>
              <a:t>DENISE GOSNELL, PH.D.   ·   WEDNESDAY, OCTOBER 21   ·   12:00 PM ET   ·   9:00 AM PT   ·   5:00 PM LONDON   ·   6:00 PM PARIS</a:t>
            </a:r>
            <a:endParaRPr lang="en-US" sz="1000" dirty="0"/>
          </a:p>
        </p:txBody>
      </p:sp>
      <p:sp>
        <p:nvSpPr>
          <p:cNvPr id="15" name="Shape 13"/>
          <p:cNvSpPr/>
          <p:nvPr/>
        </p:nvSpPr>
        <p:spPr>
          <a:xfrm>
            <a:off x="2438248" y="6492240"/>
            <a:ext cx="7315200" cy="0"/>
          </a:xfrm>
          <a:prstGeom prst="line">
            <a:avLst/>
          </a:prstGeom>
          <a:noFill/>
          <a:ln w="9525">
            <a:solidFill>
              <a:srgbClr val="C9A227">
                <a:alpha val="50000"/>
              </a:srgbClr>
            </a:solidFill>
            <a:prstDash val="solid"/>
          </a:ln>
        </p:spPr>
      </p:sp>
      <p:sp>
        <p:nvSpPr>
          <p:cNvPr id="16" name="Shape 14"/>
          <p:cNvSpPr/>
          <p:nvPr/>
        </p:nvSpPr>
        <p:spPr>
          <a:xfrm>
            <a:off x="2438248" y="6378854"/>
            <a:ext cx="0" cy="113386"/>
          </a:xfrm>
          <a:prstGeom prst="line">
            <a:avLst/>
          </a:prstGeom>
          <a:noFill/>
          <a:ln w="9525">
            <a:solidFill>
              <a:srgbClr val="C9A227">
                <a:alpha val="50000"/>
              </a:srgbClr>
            </a:solidFill>
            <a:prstDash val="solid"/>
          </a:ln>
        </p:spPr>
      </p:sp>
      <p:sp>
        <p:nvSpPr>
          <p:cNvPr id="17" name="Shape 15"/>
          <p:cNvSpPr/>
          <p:nvPr/>
        </p:nvSpPr>
        <p:spPr>
          <a:xfrm>
            <a:off x="2438248" y="6378854"/>
            <a:ext cx="347472" cy="0"/>
          </a:xfrm>
          <a:prstGeom prst="line">
            <a:avLst/>
          </a:prstGeom>
          <a:noFill/>
          <a:ln w="9525">
            <a:solidFill>
              <a:srgbClr val="C9A227">
                <a:alpha val="50000"/>
              </a:srgbClr>
            </a:solidFill>
            <a:prstDash val="solid"/>
          </a:ln>
        </p:spPr>
      </p:sp>
      <p:sp>
        <p:nvSpPr>
          <p:cNvPr id="18" name="Shape 16"/>
          <p:cNvSpPr/>
          <p:nvPr/>
        </p:nvSpPr>
        <p:spPr>
          <a:xfrm>
            <a:off x="2785720" y="6378854"/>
            <a:ext cx="0" cy="113386"/>
          </a:xfrm>
          <a:prstGeom prst="line">
            <a:avLst/>
          </a:prstGeom>
          <a:noFill/>
          <a:ln w="9525">
            <a:solidFill>
              <a:srgbClr val="C9A227">
                <a:alpha val="50000"/>
              </a:srgbClr>
            </a:solidFill>
            <a:prstDash val="solid"/>
          </a:ln>
        </p:spPr>
      </p:sp>
      <p:sp>
        <p:nvSpPr>
          <p:cNvPr id="19" name="Shape 17"/>
          <p:cNvSpPr/>
          <p:nvPr/>
        </p:nvSpPr>
        <p:spPr>
          <a:xfrm>
            <a:off x="2822296" y="6299484"/>
            <a:ext cx="0" cy="192756"/>
          </a:xfrm>
          <a:prstGeom prst="line">
            <a:avLst/>
          </a:prstGeom>
          <a:noFill/>
          <a:ln w="9525">
            <a:solidFill>
              <a:srgbClr val="C9A227">
                <a:alpha val="50000"/>
              </a:srgbClr>
            </a:solidFill>
            <a:prstDash val="solid"/>
          </a:ln>
        </p:spPr>
      </p:sp>
      <p:sp>
        <p:nvSpPr>
          <p:cNvPr id="20" name="Shape 18"/>
          <p:cNvSpPr/>
          <p:nvPr/>
        </p:nvSpPr>
        <p:spPr>
          <a:xfrm>
            <a:off x="2822296" y="6299484"/>
            <a:ext cx="292608" cy="0"/>
          </a:xfrm>
          <a:prstGeom prst="line">
            <a:avLst/>
          </a:prstGeom>
          <a:noFill/>
          <a:ln w="9525">
            <a:solidFill>
              <a:srgbClr val="C9A227">
                <a:alpha val="50000"/>
              </a:srgbClr>
            </a:solidFill>
            <a:prstDash val="solid"/>
          </a:ln>
        </p:spPr>
      </p:sp>
      <p:sp>
        <p:nvSpPr>
          <p:cNvPr id="21" name="Shape 19"/>
          <p:cNvSpPr/>
          <p:nvPr/>
        </p:nvSpPr>
        <p:spPr>
          <a:xfrm>
            <a:off x="3114904" y="6299484"/>
            <a:ext cx="0" cy="192756"/>
          </a:xfrm>
          <a:prstGeom prst="line">
            <a:avLst/>
          </a:prstGeom>
          <a:noFill/>
          <a:ln w="9525">
            <a:solidFill>
              <a:srgbClr val="C9A227">
                <a:alpha val="50000"/>
              </a:srgbClr>
            </a:solidFill>
            <a:prstDash val="solid"/>
          </a:ln>
        </p:spPr>
      </p:sp>
      <p:sp>
        <p:nvSpPr>
          <p:cNvPr id="22" name="Shape 20"/>
          <p:cNvSpPr/>
          <p:nvPr/>
        </p:nvSpPr>
        <p:spPr>
          <a:xfrm>
            <a:off x="3151480" y="6401532"/>
            <a:ext cx="0" cy="90708"/>
          </a:xfrm>
          <a:prstGeom prst="line">
            <a:avLst/>
          </a:prstGeom>
          <a:noFill/>
          <a:ln w="9525">
            <a:solidFill>
              <a:srgbClr val="C9A227">
                <a:alpha val="50000"/>
              </a:srgbClr>
            </a:solidFill>
            <a:prstDash val="solid"/>
          </a:ln>
        </p:spPr>
      </p:sp>
      <p:sp>
        <p:nvSpPr>
          <p:cNvPr id="23" name="Shape 21"/>
          <p:cNvSpPr/>
          <p:nvPr/>
        </p:nvSpPr>
        <p:spPr>
          <a:xfrm>
            <a:off x="3151480" y="6401532"/>
            <a:ext cx="182880" cy="0"/>
          </a:xfrm>
          <a:prstGeom prst="line">
            <a:avLst/>
          </a:prstGeom>
          <a:noFill/>
          <a:ln w="9525">
            <a:solidFill>
              <a:srgbClr val="C9A227">
                <a:alpha val="50000"/>
              </a:srgbClr>
            </a:solidFill>
            <a:prstDash val="solid"/>
          </a:ln>
        </p:spPr>
      </p:sp>
      <p:sp>
        <p:nvSpPr>
          <p:cNvPr id="24" name="Shape 22"/>
          <p:cNvSpPr/>
          <p:nvPr/>
        </p:nvSpPr>
        <p:spPr>
          <a:xfrm>
            <a:off x="3334360" y="6401532"/>
            <a:ext cx="0" cy="90708"/>
          </a:xfrm>
          <a:prstGeom prst="line">
            <a:avLst/>
          </a:prstGeom>
          <a:noFill/>
          <a:ln w="9525">
            <a:solidFill>
              <a:srgbClr val="C9A227">
                <a:alpha val="50000"/>
              </a:srgbClr>
            </a:solidFill>
            <a:prstDash val="solid"/>
          </a:ln>
        </p:spPr>
      </p:sp>
      <p:sp>
        <p:nvSpPr>
          <p:cNvPr id="25" name="Shape 23"/>
          <p:cNvSpPr/>
          <p:nvPr/>
        </p:nvSpPr>
        <p:spPr>
          <a:xfrm>
            <a:off x="3370936" y="6231453"/>
            <a:ext cx="0" cy="260787"/>
          </a:xfrm>
          <a:prstGeom prst="line">
            <a:avLst/>
          </a:prstGeom>
          <a:noFill/>
          <a:ln w="9525">
            <a:solidFill>
              <a:srgbClr val="C9A227">
                <a:alpha val="50000"/>
              </a:srgbClr>
            </a:solidFill>
            <a:prstDash val="solid"/>
          </a:ln>
        </p:spPr>
      </p:sp>
      <p:sp>
        <p:nvSpPr>
          <p:cNvPr id="26" name="Shape 24"/>
          <p:cNvSpPr/>
          <p:nvPr/>
        </p:nvSpPr>
        <p:spPr>
          <a:xfrm>
            <a:off x="3370936" y="6231453"/>
            <a:ext cx="347472" cy="0"/>
          </a:xfrm>
          <a:prstGeom prst="line">
            <a:avLst/>
          </a:prstGeom>
          <a:noFill/>
          <a:ln w="9525">
            <a:solidFill>
              <a:srgbClr val="C9A227">
                <a:alpha val="50000"/>
              </a:srgbClr>
            </a:solidFill>
            <a:prstDash val="solid"/>
          </a:ln>
        </p:spPr>
      </p:sp>
      <p:sp>
        <p:nvSpPr>
          <p:cNvPr id="27" name="Shape 25"/>
          <p:cNvSpPr/>
          <p:nvPr/>
        </p:nvSpPr>
        <p:spPr>
          <a:xfrm>
            <a:off x="3718408" y="6231453"/>
            <a:ext cx="0" cy="260787"/>
          </a:xfrm>
          <a:prstGeom prst="line">
            <a:avLst/>
          </a:prstGeom>
          <a:noFill/>
          <a:ln w="9525">
            <a:solidFill>
              <a:srgbClr val="C9A227">
                <a:alpha val="50000"/>
              </a:srgbClr>
            </a:solidFill>
            <a:prstDash val="solid"/>
          </a:ln>
        </p:spPr>
      </p:sp>
      <p:sp>
        <p:nvSpPr>
          <p:cNvPr id="28" name="Shape 26"/>
          <p:cNvSpPr/>
          <p:nvPr/>
        </p:nvSpPr>
        <p:spPr>
          <a:xfrm>
            <a:off x="3754984" y="6344839"/>
            <a:ext cx="0" cy="147401"/>
          </a:xfrm>
          <a:prstGeom prst="line">
            <a:avLst/>
          </a:prstGeom>
          <a:noFill/>
          <a:ln w="9525">
            <a:solidFill>
              <a:srgbClr val="C9A227">
                <a:alpha val="50000"/>
              </a:srgbClr>
            </a:solidFill>
            <a:prstDash val="solid"/>
          </a:ln>
        </p:spPr>
      </p:sp>
      <p:sp>
        <p:nvSpPr>
          <p:cNvPr id="29" name="Shape 27"/>
          <p:cNvSpPr/>
          <p:nvPr/>
        </p:nvSpPr>
        <p:spPr>
          <a:xfrm>
            <a:off x="3754984" y="6344839"/>
            <a:ext cx="237744" cy="0"/>
          </a:xfrm>
          <a:prstGeom prst="line">
            <a:avLst/>
          </a:prstGeom>
          <a:noFill/>
          <a:ln w="9525">
            <a:solidFill>
              <a:srgbClr val="C9A227">
                <a:alpha val="50000"/>
              </a:srgbClr>
            </a:solidFill>
            <a:prstDash val="solid"/>
          </a:ln>
        </p:spPr>
      </p:sp>
      <p:sp>
        <p:nvSpPr>
          <p:cNvPr id="30" name="Shape 28"/>
          <p:cNvSpPr/>
          <p:nvPr/>
        </p:nvSpPr>
        <p:spPr>
          <a:xfrm>
            <a:off x="3992728" y="6344839"/>
            <a:ext cx="0" cy="147401"/>
          </a:xfrm>
          <a:prstGeom prst="line">
            <a:avLst/>
          </a:prstGeom>
          <a:noFill/>
          <a:ln w="9525">
            <a:solidFill>
              <a:srgbClr val="C9A227">
                <a:alpha val="50000"/>
              </a:srgbClr>
            </a:solidFill>
            <a:prstDash val="solid"/>
          </a:ln>
        </p:spPr>
      </p:sp>
      <p:sp>
        <p:nvSpPr>
          <p:cNvPr id="31" name="Shape 29"/>
          <p:cNvSpPr/>
          <p:nvPr/>
        </p:nvSpPr>
        <p:spPr>
          <a:xfrm>
            <a:off x="4029304" y="6140745"/>
            <a:ext cx="0" cy="351495"/>
          </a:xfrm>
          <a:prstGeom prst="line">
            <a:avLst/>
          </a:prstGeom>
          <a:noFill/>
          <a:ln w="9525">
            <a:solidFill>
              <a:srgbClr val="C9A227">
                <a:alpha val="50000"/>
              </a:srgbClr>
            </a:solidFill>
            <a:prstDash val="solid"/>
          </a:ln>
        </p:spPr>
      </p:sp>
      <p:sp>
        <p:nvSpPr>
          <p:cNvPr id="32" name="Shape 30"/>
          <p:cNvSpPr/>
          <p:nvPr/>
        </p:nvSpPr>
        <p:spPr>
          <a:xfrm>
            <a:off x="4029304" y="6140745"/>
            <a:ext cx="292608" cy="0"/>
          </a:xfrm>
          <a:prstGeom prst="line">
            <a:avLst/>
          </a:prstGeom>
          <a:noFill/>
          <a:ln w="9525">
            <a:solidFill>
              <a:srgbClr val="C9A227">
                <a:alpha val="50000"/>
              </a:srgbClr>
            </a:solidFill>
            <a:prstDash val="solid"/>
          </a:ln>
        </p:spPr>
      </p:sp>
      <p:sp>
        <p:nvSpPr>
          <p:cNvPr id="33" name="Shape 31"/>
          <p:cNvSpPr/>
          <p:nvPr/>
        </p:nvSpPr>
        <p:spPr>
          <a:xfrm>
            <a:off x="4321912" y="6140745"/>
            <a:ext cx="0" cy="351495"/>
          </a:xfrm>
          <a:prstGeom prst="line">
            <a:avLst/>
          </a:prstGeom>
          <a:noFill/>
          <a:ln w="9525">
            <a:solidFill>
              <a:srgbClr val="C9A227">
                <a:alpha val="50000"/>
              </a:srgbClr>
            </a:solidFill>
            <a:prstDash val="solid"/>
          </a:ln>
        </p:spPr>
      </p:sp>
      <p:sp>
        <p:nvSpPr>
          <p:cNvPr id="34" name="Shape 32"/>
          <p:cNvSpPr/>
          <p:nvPr/>
        </p:nvSpPr>
        <p:spPr>
          <a:xfrm>
            <a:off x="4358488" y="6322162"/>
            <a:ext cx="0" cy="170078"/>
          </a:xfrm>
          <a:prstGeom prst="line">
            <a:avLst/>
          </a:prstGeom>
          <a:noFill/>
          <a:ln w="9525">
            <a:solidFill>
              <a:srgbClr val="C9A227">
                <a:alpha val="50000"/>
              </a:srgbClr>
            </a:solidFill>
            <a:prstDash val="solid"/>
          </a:ln>
        </p:spPr>
      </p:sp>
      <p:sp>
        <p:nvSpPr>
          <p:cNvPr id="35" name="Shape 33"/>
          <p:cNvSpPr/>
          <p:nvPr/>
        </p:nvSpPr>
        <p:spPr>
          <a:xfrm>
            <a:off x="4358488" y="6322162"/>
            <a:ext cx="274320" cy="0"/>
          </a:xfrm>
          <a:prstGeom prst="line">
            <a:avLst/>
          </a:prstGeom>
          <a:noFill/>
          <a:ln w="9525">
            <a:solidFill>
              <a:srgbClr val="C9A227">
                <a:alpha val="50000"/>
              </a:srgbClr>
            </a:solidFill>
            <a:prstDash val="solid"/>
          </a:ln>
        </p:spPr>
      </p:sp>
      <p:sp>
        <p:nvSpPr>
          <p:cNvPr id="36" name="Shape 34"/>
          <p:cNvSpPr/>
          <p:nvPr/>
        </p:nvSpPr>
        <p:spPr>
          <a:xfrm>
            <a:off x="4632808" y="6322162"/>
            <a:ext cx="0" cy="170078"/>
          </a:xfrm>
          <a:prstGeom prst="line">
            <a:avLst/>
          </a:prstGeom>
          <a:noFill/>
          <a:ln w="9525">
            <a:solidFill>
              <a:srgbClr val="C9A227">
                <a:alpha val="50000"/>
              </a:srgbClr>
            </a:solidFill>
            <a:prstDash val="solid"/>
          </a:ln>
        </p:spPr>
      </p:sp>
      <p:sp>
        <p:nvSpPr>
          <p:cNvPr id="37" name="Shape 35"/>
          <p:cNvSpPr/>
          <p:nvPr/>
        </p:nvSpPr>
        <p:spPr>
          <a:xfrm>
            <a:off x="4669384" y="6378854"/>
            <a:ext cx="0" cy="113386"/>
          </a:xfrm>
          <a:prstGeom prst="line">
            <a:avLst/>
          </a:prstGeom>
          <a:noFill/>
          <a:ln w="9525">
            <a:solidFill>
              <a:srgbClr val="C9A227">
                <a:alpha val="50000"/>
              </a:srgbClr>
            </a:solidFill>
            <a:prstDash val="solid"/>
          </a:ln>
        </p:spPr>
      </p:sp>
      <p:sp>
        <p:nvSpPr>
          <p:cNvPr id="38" name="Shape 36"/>
          <p:cNvSpPr/>
          <p:nvPr/>
        </p:nvSpPr>
        <p:spPr>
          <a:xfrm>
            <a:off x="4669384" y="6378854"/>
            <a:ext cx="219456" cy="0"/>
          </a:xfrm>
          <a:prstGeom prst="line">
            <a:avLst/>
          </a:prstGeom>
          <a:noFill/>
          <a:ln w="9525">
            <a:solidFill>
              <a:srgbClr val="C9A227">
                <a:alpha val="50000"/>
              </a:srgbClr>
            </a:solidFill>
            <a:prstDash val="solid"/>
          </a:ln>
        </p:spPr>
      </p:sp>
      <p:sp>
        <p:nvSpPr>
          <p:cNvPr id="39" name="Shape 37"/>
          <p:cNvSpPr/>
          <p:nvPr/>
        </p:nvSpPr>
        <p:spPr>
          <a:xfrm>
            <a:off x="4888840" y="6378854"/>
            <a:ext cx="0" cy="113386"/>
          </a:xfrm>
          <a:prstGeom prst="line">
            <a:avLst/>
          </a:prstGeom>
          <a:noFill/>
          <a:ln w="9525">
            <a:solidFill>
              <a:srgbClr val="C9A227">
                <a:alpha val="50000"/>
              </a:srgbClr>
            </a:solidFill>
            <a:prstDash val="solid"/>
          </a:ln>
        </p:spPr>
      </p:sp>
      <p:sp>
        <p:nvSpPr>
          <p:cNvPr id="40" name="Shape 38"/>
          <p:cNvSpPr/>
          <p:nvPr/>
        </p:nvSpPr>
        <p:spPr>
          <a:xfrm>
            <a:off x="4925416" y="6208776"/>
            <a:ext cx="0" cy="283464"/>
          </a:xfrm>
          <a:prstGeom prst="line">
            <a:avLst/>
          </a:prstGeom>
          <a:noFill/>
          <a:ln w="9525">
            <a:solidFill>
              <a:srgbClr val="C9A227">
                <a:alpha val="50000"/>
              </a:srgbClr>
            </a:solidFill>
            <a:prstDash val="solid"/>
          </a:ln>
        </p:spPr>
      </p:sp>
      <p:sp>
        <p:nvSpPr>
          <p:cNvPr id="41" name="Shape 39"/>
          <p:cNvSpPr/>
          <p:nvPr/>
        </p:nvSpPr>
        <p:spPr>
          <a:xfrm>
            <a:off x="4925416" y="6208776"/>
            <a:ext cx="365760" cy="0"/>
          </a:xfrm>
          <a:prstGeom prst="line">
            <a:avLst/>
          </a:prstGeom>
          <a:noFill/>
          <a:ln w="9525">
            <a:solidFill>
              <a:srgbClr val="C9A227">
                <a:alpha val="50000"/>
              </a:srgbClr>
            </a:solidFill>
            <a:prstDash val="solid"/>
          </a:ln>
        </p:spPr>
      </p:sp>
      <p:sp>
        <p:nvSpPr>
          <p:cNvPr id="42" name="Shape 40"/>
          <p:cNvSpPr/>
          <p:nvPr/>
        </p:nvSpPr>
        <p:spPr>
          <a:xfrm>
            <a:off x="5291176" y="6208776"/>
            <a:ext cx="0" cy="283464"/>
          </a:xfrm>
          <a:prstGeom prst="line">
            <a:avLst/>
          </a:prstGeom>
          <a:noFill/>
          <a:ln w="9525">
            <a:solidFill>
              <a:srgbClr val="C9A227">
                <a:alpha val="50000"/>
              </a:srgbClr>
            </a:solidFill>
            <a:prstDash val="solid"/>
          </a:ln>
        </p:spPr>
      </p:sp>
      <p:sp>
        <p:nvSpPr>
          <p:cNvPr id="43" name="Shape 41"/>
          <p:cNvSpPr/>
          <p:nvPr/>
        </p:nvSpPr>
        <p:spPr>
          <a:xfrm>
            <a:off x="5327752" y="6288146"/>
            <a:ext cx="0" cy="204094"/>
          </a:xfrm>
          <a:prstGeom prst="line">
            <a:avLst/>
          </a:prstGeom>
          <a:noFill/>
          <a:ln w="9525">
            <a:solidFill>
              <a:srgbClr val="C9A227">
                <a:alpha val="50000"/>
              </a:srgbClr>
            </a:solidFill>
            <a:prstDash val="solid"/>
          </a:ln>
        </p:spPr>
      </p:sp>
      <p:sp>
        <p:nvSpPr>
          <p:cNvPr id="44" name="Shape 42"/>
          <p:cNvSpPr/>
          <p:nvPr/>
        </p:nvSpPr>
        <p:spPr>
          <a:xfrm>
            <a:off x="5327752" y="6288146"/>
            <a:ext cx="274320" cy="0"/>
          </a:xfrm>
          <a:prstGeom prst="line">
            <a:avLst/>
          </a:prstGeom>
          <a:noFill/>
          <a:ln w="9525">
            <a:solidFill>
              <a:srgbClr val="C9A227">
                <a:alpha val="50000"/>
              </a:srgbClr>
            </a:solidFill>
            <a:prstDash val="solid"/>
          </a:ln>
        </p:spPr>
      </p:sp>
      <p:sp>
        <p:nvSpPr>
          <p:cNvPr id="45" name="Shape 43"/>
          <p:cNvSpPr/>
          <p:nvPr/>
        </p:nvSpPr>
        <p:spPr>
          <a:xfrm>
            <a:off x="5602072" y="6288146"/>
            <a:ext cx="0" cy="204094"/>
          </a:xfrm>
          <a:prstGeom prst="line">
            <a:avLst/>
          </a:prstGeom>
          <a:noFill/>
          <a:ln w="9525">
            <a:solidFill>
              <a:srgbClr val="C9A227">
                <a:alpha val="50000"/>
              </a:srgbClr>
            </a:solidFill>
            <a:prstDash val="solid"/>
          </a:ln>
        </p:spPr>
      </p:sp>
      <p:sp>
        <p:nvSpPr>
          <p:cNvPr id="46" name="Shape 44"/>
          <p:cNvSpPr/>
          <p:nvPr/>
        </p:nvSpPr>
        <p:spPr>
          <a:xfrm>
            <a:off x="5638648" y="6367516"/>
            <a:ext cx="0" cy="124724"/>
          </a:xfrm>
          <a:prstGeom prst="line">
            <a:avLst/>
          </a:prstGeom>
          <a:noFill/>
          <a:ln w="9525">
            <a:solidFill>
              <a:srgbClr val="C9A227">
                <a:alpha val="50000"/>
              </a:srgbClr>
            </a:solidFill>
            <a:prstDash val="solid"/>
          </a:ln>
        </p:spPr>
      </p:sp>
      <p:sp>
        <p:nvSpPr>
          <p:cNvPr id="47" name="Shape 45"/>
          <p:cNvSpPr/>
          <p:nvPr/>
        </p:nvSpPr>
        <p:spPr>
          <a:xfrm>
            <a:off x="5638648" y="6367516"/>
            <a:ext cx="219456" cy="0"/>
          </a:xfrm>
          <a:prstGeom prst="line">
            <a:avLst/>
          </a:prstGeom>
          <a:noFill/>
          <a:ln w="9525">
            <a:solidFill>
              <a:srgbClr val="C9A227">
                <a:alpha val="50000"/>
              </a:srgbClr>
            </a:solidFill>
            <a:prstDash val="solid"/>
          </a:ln>
        </p:spPr>
      </p:sp>
      <p:sp>
        <p:nvSpPr>
          <p:cNvPr id="48" name="Shape 46"/>
          <p:cNvSpPr/>
          <p:nvPr/>
        </p:nvSpPr>
        <p:spPr>
          <a:xfrm>
            <a:off x="5858104" y="6367516"/>
            <a:ext cx="0" cy="124724"/>
          </a:xfrm>
          <a:prstGeom prst="line">
            <a:avLst/>
          </a:prstGeom>
          <a:noFill/>
          <a:ln w="9525">
            <a:solidFill>
              <a:srgbClr val="C9A227">
                <a:alpha val="50000"/>
              </a:srgbClr>
            </a:solidFill>
            <a:prstDash val="solid"/>
          </a:ln>
        </p:spPr>
      </p:sp>
      <p:sp>
        <p:nvSpPr>
          <p:cNvPr id="49" name="Shape 47"/>
          <p:cNvSpPr/>
          <p:nvPr/>
        </p:nvSpPr>
        <p:spPr>
          <a:xfrm>
            <a:off x="5894680" y="6163422"/>
            <a:ext cx="0" cy="328818"/>
          </a:xfrm>
          <a:prstGeom prst="line">
            <a:avLst/>
          </a:prstGeom>
          <a:noFill/>
          <a:ln w="9525">
            <a:solidFill>
              <a:srgbClr val="C9A227">
                <a:alpha val="50000"/>
              </a:srgbClr>
            </a:solidFill>
            <a:prstDash val="solid"/>
          </a:ln>
        </p:spPr>
      </p:sp>
      <p:sp>
        <p:nvSpPr>
          <p:cNvPr id="50" name="Shape 48"/>
          <p:cNvSpPr/>
          <p:nvPr/>
        </p:nvSpPr>
        <p:spPr>
          <a:xfrm>
            <a:off x="5894680" y="6163422"/>
            <a:ext cx="329184" cy="0"/>
          </a:xfrm>
          <a:prstGeom prst="line">
            <a:avLst/>
          </a:prstGeom>
          <a:noFill/>
          <a:ln w="9525">
            <a:solidFill>
              <a:srgbClr val="C9A227">
                <a:alpha val="50000"/>
              </a:srgbClr>
            </a:solidFill>
            <a:prstDash val="solid"/>
          </a:ln>
        </p:spPr>
      </p:sp>
      <p:sp>
        <p:nvSpPr>
          <p:cNvPr id="51" name="Shape 49"/>
          <p:cNvSpPr/>
          <p:nvPr/>
        </p:nvSpPr>
        <p:spPr>
          <a:xfrm>
            <a:off x="6223864" y="6163422"/>
            <a:ext cx="0" cy="328818"/>
          </a:xfrm>
          <a:prstGeom prst="line">
            <a:avLst/>
          </a:prstGeom>
          <a:noFill/>
          <a:ln w="9525">
            <a:solidFill>
              <a:srgbClr val="C9A227">
                <a:alpha val="50000"/>
              </a:srgbClr>
            </a:solidFill>
            <a:prstDash val="solid"/>
          </a:ln>
        </p:spPr>
      </p:sp>
      <p:sp>
        <p:nvSpPr>
          <p:cNvPr id="52" name="Shape 50"/>
          <p:cNvSpPr/>
          <p:nvPr/>
        </p:nvSpPr>
        <p:spPr>
          <a:xfrm>
            <a:off x="6260440" y="6322162"/>
            <a:ext cx="0" cy="170078"/>
          </a:xfrm>
          <a:prstGeom prst="line">
            <a:avLst/>
          </a:prstGeom>
          <a:noFill/>
          <a:ln w="9525">
            <a:solidFill>
              <a:srgbClr val="C9A227">
                <a:alpha val="50000"/>
              </a:srgbClr>
            </a:solidFill>
            <a:prstDash val="solid"/>
          </a:ln>
        </p:spPr>
      </p:sp>
      <p:sp>
        <p:nvSpPr>
          <p:cNvPr id="53" name="Shape 51"/>
          <p:cNvSpPr/>
          <p:nvPr/>
        </p:nvSpPr>
        <p:spPr>
          <a:xfrm>
            <a:off x="6260440" y="6322162"/>
            <a:ext cx="256032" cy="0"/>
          </a:xfrm>
          <a:prstGeom prst="line">
            <a:avLst/>
          </a:prstGeom>
          <a:noFill/>
          <a:ln w="9525">
            <a:solidFill>
              <a:srgbClr val="C9A227">
                <a:alpha val="50000"/>
              </a:srgbClr>
            </a:solidFill>
            <a:prstDash val="solid"/>
          </a:ln>
        </p:spPr>
      </p:sp>
      <p:sp>
        <p:nvSpPr>
          <p:cNvPr id="54" name="Shape 52"/>
          <p:cNvSpPr/>
          <p:nvPr/>
        </p:nvSpPr>
        <p:spPr>
          <a:xfrm>
            <a:off x="6516472" y="6322162"/>
            <a:ext cx="0" cy="170078"/>
          </a:xfrm>
          <a:prstGeom prst="line">
            <a:avLst/>
          </a:prstGeom>
          <a:noFill/>
          <a:ln w="9525">
            <a:solidFill>
              <a:srgbClr val="C9A227">
                <a:alpha val="50000"/>
              </a:srgbClr>
            </a:solidFill>
            <a:prstDash val="solid"/>
          </a:ln>
        </p:spPr>
      </p:sp>
      <p:sp>
        <p:nvSpPr>
          <p:cNvPr id="55" name="Shape 53"/>
          <p:cNvSpPr/>
          <p:nvPr/>
        </p:nvSpPr>
        <p:spPr>
          <a:xfrm>
            <a:off x="6553048" y="6254130"/>
            <a:ext cx="0" cy="238110"/>
          </a:xfrm>
          <a:prstGeom prst="line">
            <a:avLst/>
          </a:prstGeom>
          <a:noFill/>
          <a:ln w="9525">
            <a:solidFill>
              <a:srgbClr val="C9A227">
                <a:alpha val="50000"/>
              </a:srgbClr>
            </a:solidFill>
            <a:prstDash val="solid"/>
          </a:ln>
        </p:spPr>
      </p:sp>
      <p:sp>
        <p:nvSpPr>
          <p:cNvPr id="56" name="Shape 54"/>
          <p:cNvSpPr/>
          <p:nvPr/>
        </p:nvSpPr>
        <p:spPr>
          <a:xfrm>
            <a:off x="6553048" y="6254130"/>
            <a:ext cx="347472" cy="0"/>
          </a:xfrm>
          <a:prstGeom prst="line">
            <a:avLst/>
          </a:prstGeom>
          <a:noFill/>
          <a:ln w="9525">
            <a:solidFill>
              <a:srgbClr val="C9A227">
                <a:alpha val="50000"/>
              </a:srgbClr>
            </a:solidFill>
            <a:prstDash val="solid"/>
          </a:ln>
        </p:spPr>
      </p:sp>
      <p:sp>
        <p:nvSpPr>
          <p:cNvPr id="57" name="Shape 55"/>
          <p:cNvSpPr/>
          <p:nvPr/>
        </p:nvSpPr>
        <p:spPr>
          <a:xfrm>
            <a:off x="6900520" y="6254130"/>
            <a:ext cx="0" cy="238110"/>
          </a:xfrm>
          <a:prstGeom prst="line">
            <a:avLst/>
          </a:prstGeom>
          <a:noFill/>
          <a:ln w="9525">
            <a:solidFill>
              <a:srgbClr val="C9A227">
                <a:alpha val="50000"/>
              </a:srgbClr>
            </a:solidFill>
            <a:prstDash val="solid"/>
          </a:ln>
        </p:spPr>
      </p:sp>
      <p:sp>
        <p:nvSpPr>
          <p:cNvPr id="58" name="Shape 56"/>
          <p:cNvSpPr/>
          <p:nvPr/>
        </p:nvSpPr>
        <p:spPr>
          <a:xfrm>
            <a:off x="6937096" y="6378854"/>
            <a:ext cx="0" cy="113386"/>
          </a:xfrm>
          <a:prstGeom prst="line">
            <a:avLst/>
          </a:prstGeom>
          <a:noFill/>
          <a:ln w="9525">
            <a:solidFill>
              <a:srgbClr val="C9A227">
                <a:alpha val="50000"/>
              </a:srgbClr>
            </a:solidFill>
            <a:prstDash val="solid"/>
          </a:ln>
        </p:spPr>
      </p:sp>
      <p:sp>
        <p:nvSpPr>
          <p:cNvPr id="59" name="Shape 57"/>
          <p:cNvSpPr/>
          <p:nvPr/>
        </p:nvSpPr>
        <p:spPr>
          <a:xfrm>
            <a:off x="6937096" y="6378854"/>
            <a:ext cx="219456" cy="0"/>
          </a:xfrm>
          <a:prstGeom prst="line">
            <a:avLst/>
          </a:prstGeom>
          <a:noFill/>
          <a:ln w="9525">
            <a:solidFill>
              <a:srgbClr val="C9A227">
                <a:alpha val="50000"/>
              </a:srgbClr>
            </a:solidFill>
            <a:prstDash val="solid"/>
          </a:ln>
        </p:spPr>
      </p:sp>
      <p:sp>
        <p:nvSpPr>
          <p:cNvPr id="60" name="Shape 58"/>
          <p:cNvSpPr/>
          <p:nvPr/>
        </p:nvSpPr>
        <p:spPr>
          <a:xfrm>
            <a:off x="7156552" y="6378854"/>
            <a:ext cx="0" cy="113386"/>
          </a:xfrm>
          <a:prstGeom prst="line">
            <a:avLst/>
          </a:prstGeom>
          <a:noFill/>
          <a:ln w="9525">
            <a:solidFill>
              <a:srgbClr val="C9A227">
                <a:alpha val="50000"/>
              </a:srgbClr>
            </a:solidFill>
            <a:prstDash val="solid"/>
          </a:ln>
        </p:spPr>
      </p:sp>
      <p:sp>
        <p:nvSpPr>
          <p:cNvPr id="61" name="Shape 59"/>
          <p:cNvSpPr/>
          <p:nvPr/>
        </p:nvSpPr>
        <p:spPr>
          <a:xfrm>
            <a:off x="7193128" y="6186099"/>
            <a:ext cx="0" cy="306141"/>
          </a:xfrm>
          <a:prstGeom prst="line">
            <a:avLst/>
          </a:prstGeom>
          <a:noFill/>
          <a:ln w="9525">
            <a:solidFill>
              <a:srgbClr val="C9A227">
                <a:alpha val="50000"/>
              </a:srgbClr>
            </a:solidFill>
            <a:prstDash val="solid"/>
          </a:ln>
        </p:spPr>
      </p:sp>
      <p:sp>
        <p:nvSpPr>
          <p:cNvPr id="62" name="Shape 60"/>
          <p:cNvSpPr/>
          <p:nvPr/>
        </p:nvSpPr>
        <p:spPr>
          <a:xfrm>
            <a:off x="7193128" y="6186099"/>
            <a:ext cx="347472" cy="0"/>
          </a:xfrm>
          <a:prstGeom prst="line">
            <a:avLst/>
          </a:prstGeom>
          <a:noFill/>
          <a:ln w="9525">
            <a:solidFill>
              <a:srgbClr val="C9A227">
                <a:alpha val="50000"/>
              </a:srgbClr>
            </a:solidFill>
            <a:prstDash val="solid"/>
          </a:ln>
        </p:spPr>
      </p:sp>
      <p:sp>
        <p:nvSpPr>
          <p:cNvPr id="63" name="Shape 61"/>
          <p:cNvSpPr/>
          <p:nvPr/>
        </p:nvSpPr>
        <p:spPr>
          <a:xfrm>
            <a:off x="7540600" y="6186099"/>
            <a:ext cx="0" cy="306141"/>
          </a:xfrm>
          <a:prstGeom prst="line">
            <a:avLst/>
          </a:prstGeom>
          <a:noFill/>
          <a:ln w="9525">
            <a:solidFill>
              <a:srgbClr val="C9A227">
                <a:alpha val="50000"/>
              </a:srgbClr>
            </a:solidFill>
            <a:prstDash val="solid"/>
          </a:ln>
        </p:spPr>
      </p:sp>
      <p:sp>
        <p:nvSpPr>
          <p:cNvPr id="64" name="Shape 62"/>
          <p:cNvSpPr/>
          <p:nvPr/>
        </p:nvSpPr>
        <p:spPr>
          <a:xfrm>
            <a:off x="7577176" y="6310823"/>
            <a:ext cx="0" cy="181417"/>
          </a:xfrm>
          <a:prstGeom prst="line">
            <a:avLst/>
          </a:prstGeom>
          <a:noFill/>
          <a:ln w="9525">
            <a:solidFill>
              <a:srgbClr val="C9A227">
                <a:alpha val="50000"/>
              </a:srgbClr>
            </a:solidFill>
            <a:prstDash val="solid"/>
          </a:ln>
        </p:spPr>
      </p:sp>
      <p:sp>
        <p:nvSpPr>
          <p:cNvPr id="65" name="Shape 63"/>
          <p:cNvSpPr/>
          <p:nvPr/>
        </p:nvSpPr>
        <p:spPr>
          <a:xfrm>
            <a:off x="7577176" y="6310823"/>
            <a:ext cx="274320" cy="0"/>
          </a:xfrm>
          <a:prstGeom prst="line">
            <a:avLst/>
          </a:prstGeom>
          <a:noFill/>
          <a:ln w="9525">
            <a:solidFill>
              <a:srgbClr val="C9A227">
                <a:alpha val="50000"/>
              </a:srgbClr>
            </a:solidFill>
            <a:prstDash val="solid"/>
          </a:ln>
        </p:spPr>
      </p:sp>
      <p:sp>
        <p:nvSpPr>
          <p:cNvPr id="66" name="Shape 64"/>
          <p:cNvSpPr/>
          <p:nvPr/>
        </p:nvSpPr>
        <p:spPr>
          <a:xfrm>
            <a:off x="7851496" y="6310823"/>
            <a:ext cx="0" cy="181417"/>
          </a:xfrm>
          <a:prstGeom prst="line">
            <a:avLst/>
          </a:prstGeom>
          <a:noFill/>
          <a:ln w="9525">
            <a:solidFill>
              <a:srgbClr val="C9A227">
                <a:alpha val="50000"/>
              </a:srgbClr>
            </a:solidFill>
            <a:prstDash val="solid"/>
          </a:ln>
        </p:spPr>
      </p:sp>
      <p:sp>
        <p:nvSpPr>
          <p:cNvPr id="67" name="Shape 65"/>
          <p:cNvSpPr/>
          <p:nvPr/>
        </p:nvSpPr>
        <p:spPr>
          <a:xfrm>
            <a:off x="7888072" y="6356177"/>
            <a:ext cx="0" cy="136063"/>
          </a:xfrm>
          <a:prstGeom prst="line">
            <a:avLst/>
          </a:prstGeom>
          <a:noFill/>
          <a:ln w="9525">
            <a:solidFill>
              <a:srgbClr val="C9A227">
                <a:alpha val="50000"/>
              </a:srgbClr>
            </a:solidFill>
            <a:prstDash val="solid"/>
          </a:ln>
        </p:spPr>
      </p:sp>
      <p:sp>
        <p:nvSpPr>
          <p:cNvPr id="68" name="Shape 66"/>
          <p:cNvSpPr/>
          <p:nvPr/>
        </p:nvSpPr>
        <p:spPr>
          <a:xfrm>
            <a:off x="7888072" y="6356177"/>
            <a:ext cx="219456" cy="0"/>
          </a:xfrm>
          <a:prstGeom prst="line">
            <a:avLst/>
          </a:prstGeom>
          <a:noFill/>
          <a:ln w="9525">
            <a:solidFill>
              <a:srgbClr val="C9A227">
                <a:alpha val="50000"/>
              </a:srgbClr>
            </a:solidFill>
            <a:prstDash val="solid"/>
          </a:ln>
        </p:spPr>
      </p:sp>
      <p:sp>
        <p:nvSpPr>
          <p:cNvPr id="69" name="Shape 67"/>
          <p:cNvSpPr/>
          <p:nvPr/>
        </p:nvSpPr>
        <p:spPr>
          <a:xfrm>
            <a:off x="8107528" y="6356177"/>
            <a:ext cx="0" cy="136063"/>
          </a:xfrm>
          <a:prstGeom prst="line">
            <a:avLst/>
          </a:prstGeom>
          <a:noFill/>
          <a:ln w="9525">
            <a:solidFill>
              <a:srgbClr val="C9A227">
                <a:alpha val="50000"/>
              </a:srgbClr>
            </a:solidFill>
            <a:prstDash val="solid"/>
          </a:ln>
        </p:spPr>
      </p:sp>
      <p:sp>
        <p:nvSpPr>
          <p:cNvPr id="70" name="Shape 68"/>
          <p:cNvSpPr/>
          <p:nvPr/>
        </p:nvSpPr>
        <p:spPr>
          <a:xfrm>
            <a:off x="8144104" y="6242792"/>
            <a:ext cx="0" cy="249448"/>
          </a:xfrm>
          <a:prstGeom prst="line">
            <a:avLst/>
          </a:prstGeom>
          <a:noFill/>
          <a:ln w="9525">
            <a:solidFill>
              <a:srgbClr val="C9A227">
                <a:alpha val="50000"/>
              </a:srgbClr>
            </a:solidFill>
            <a:prstDash val="solid"/>
          </a:ln>
        </p:spPr>
      </p:sp>
      <p:sp>
        <p:nvSpPr>
          <p:cNvPr id="71" name="Shape 69"/>
          <p:cNvSpPr/>
          <p:nvPr/>
        </p:nvSpPr>
        <p:spPr>
          <a:xfrm>
            <a:off x="8144104" y="6242792"/>
            <a:ext cx="347472" cy="0"/>
          </a:xfrm>
          <a:prstGeom prst="line">
            <a:avLst/>
          </a:prstGeom>
          <a:noFill/>
          <a:ln w="9525">
            <a:solidFill>
              <a:srgbClr val="C9A227">
                <a:alpha val="50000"/>
              </a:srgbClr>
            </a:solidFill>
            <a:prstDash val="solid"/>
          </a:ln>
        </p:spPr>
      </p:sp>
      <p:sp>
        <p:nvSpPr>
          <p:cNvPr id="72" name="Shape 70"/>
          <p:cNvSpPr/>
          <p:nvPr/>
        </p:nvSpPr>
        <p:spPr>
          <a:xfrm>
            <a:off x="8491576" y="6242792"/>
            <a:ext cx="0" cy="249448"/>
          </a:xfrm>
          <a:prstGeom prst="line">
            <a:avLst/>
          </a:prstGeom>
          <a:noFill/>
          <a:ln w="9525">
            <a:solidFill>
              <a:srgbClr val="C9A227">
                <a:alpha val="50000"/>
              </a:srgbClr>
            </a:solidFill>
            <a:prstDash val="solid"/>
          </a:ln>
        </p:spPr>
      </p:sp>
      <p:sp>
        <p:nvSpPr>
          <p:cNvPr id="73" name="Shape 71"/>
          <p:cNvSpPr/>
          <p:nvPr/>
        </p:nvSpPr>
        <p:spPr>
          <a:xfrm>
            <a:off x="8528152" y="6322162"/>
            <a:ext cx="0" cy="170078"/>
          </a:xfrm>
          <a:prstGeom prst="line">
            <a:avLst/>
          </a:prstGeom>
          <a:noFill/>
          <a:ln w="9525">
            <a:solidFill>
              <a:srgbClr val="C9A227">
                <a:alpha val="50000"/>
              </a:srgbClr>
            </a:solidFill>
            <a:prstDash val="solid"/>
          </a:ln>
        </p:spPr>
      </p:sp>
      <p:sp>
        <p:nvSpPr>
          <p:cNvPr id="74" name="Shape 72"/>
          <p:cNvSpPr/>
          <p:nvPr/>
        </p:nvSpPr>
        <p:spPr>
          <a:xfrm>
            <a:off x="8528152" y="6322162"/>
            <a:ext cx="274320" cy="0"/>
          </a:xfrm>
          <a:prstGeom prst="line">
            <a:avLst/>
          </a:prstGeom>
          <a:noFill/>
          <a:ln w="9525">
            <a:solidFill>
              <a:srgbClr val="C9A227">
                <a:alpha val="50000"/>
              </a:srgbClr>
            </a:solidFill>
            <a:prstDash val="solid"/>
          </a:ln>
        </p:spPr>
      </p:sp>
      <p:sp>
        <p:nvSpPr>
          <p:cNvPr id="75" name="Shape 73"/>
          <p:cNvSpPr/>
          <p:nvPr/>
        </p:nvSpPr>
        <p:spPr>
          <a:xfrm>
            <a:off x="8802472" y="6322162"/>
            <a:ext cx="0" cy="170078"/>
          </a:xfrm>
          <a:prstGeom prst="line">
            <a:avLst/>
          </a:prstGeom>
          <a:noFill/>
          <a:ln w="9525">
            <a:solidFill>
              <a:srgbClr val="C9A227">
                <a:alpha val="50000"/>
              </a:srgbClr>
            </a:solidFill>
            <a:prstDash val="solid"/>
          </a:ln>
        </p:spPr>
      </p:sp>
      <p:sp>
        <p:nvSpPr>
          <p:cNvPr id="76" name="Shape 74"/>
          <p:cNvSpPr/>
          <p:nvPr/>
        </p:nvSpPr>
        <p:spPr>
          <a:xfrm>
            <a:off x="8839048" y="6208776"/>
            <a:ext cx="0" cy="283464"/>
          </a:xfrm>
          <a:prstGeom prst="line">
            <a:avLst/>
          </a:prstGeom>
          <a:noFill/>
          <a:ln w="9525">
            <a:solidFill>
              <a:srgbClr val="C9A227">
                <a:alpha val="50000"/>
              </a:srgbClr>
            </a:solidFill>
            <a:prstDash val="solid"/>
          </a:ln>
        </p:spPr>
      </p:sp>
      <p:sp>
        <p:nvSpPr>
          <p:cNvPr id="77" name="Shape 75"/>
          <p:cNvSpPr/>
          <p:nvPr/>
        </p:nvSpPr>
        <p:spPr>
          <a:xfrm>
            <a:off x="8839048" y="6208776"/>
            <a:ext cx="347472" cy="0"/>
          </a:xfrm>
          <a:prstGeom prst="line">
            <a:avLst/>
          </a:prstGeom>
          <a:noFill/>
          <a:ln w="9525">
            <a:solidFill>
              <a:srgbClr val="C9A227">
                <a:alpha val="50000"/>
              </a:srgbClr>
            </a:solidFill>
            <a:prstDash val="solid"/>
          </a:ln>
        </p:spPr>
      </p:sp>
      <p:sp>
        <p:nvSpPr>
          <p:cNvPr id="78" name="Shape 76"/>
          <p:cNvSpPr/>
          <p:nvPr/>
        </p:nvSpPr>
        <p:spPr>
          <a:xfrm>
            <a:off x="9186520" y="6208776"/>
            <a:ext cx="0" cy="283464"/>
          </a:xfrm>
          <a:prstGeom prst="line">
            <a:avLst/>
          </a:prstGeom>
          <a:noFill/>
          <a:ln w="9525">
            <a:solidFill>
              <a:srgbClr val="C9A227">
                <a:alpha val="50000"/>
              </a:srgbClr>
            </a:solidFill>
            <a:prstDash val="solid"/>
          </a:ln>
        </p:spPr>
      </p:sp>
      <p:sp>
        <p:nvSpPr>
          <p:cNvPr id="79" name="Shape 77"/>
          <p:cNvSpPr/>
          <p:nvPr/>
        </p:nvSpPr>
        <p:spPr>
          <a:xfrm>
            <a:off x="9223096" y="6367516"/>
            <a:ext cx="0" cy="124724"/>
          </a:xfrm>
          <a:prstGeom prst="line">
            <a:avLst/>
          </a:prstGeom>
          <a:noFill/>
          <a:ln w="9525">
            <a:solidFill>
              <a:srgbClr val="C9A227">
                <a:alpha val="50000"/>
              </a:srgbClr>
            </a:solidFill>
            <a:prstDash val="solid"/>
          </a:ln>
        </p:spPr>
      </p:sp>
      <p:sp>
        <p:nvSpPr>
          <p:cNvPr id="80" name="Shape 78"/>
          <p:cNvSpPr/>
          <p:nvPr/>
        </p:nvSpPr>
        <p:spPr>
          <a:xfrm>
            <a:off x="9223096" y="6367516"/>
            <a:ext cx="219456" cy="0"/>
          </a:xfrm>
          <a:prstGeom prst="line">
            <a:avLst/>
          </a:prstGeom>
          <a:noFill/>
          <a:ln w="9525">
            <a:solidFill>
              <a:srgbClr val="C9A227">
                <a:alpha val="50000"/>
              </a:srgbClr>
            </a:solidFill>
            <a:prstDash val="solid"/>
          </a:ln>
        </p:spPr>
      </p:sp>
      <p:sp>
        <p:nvSpPr>
          <p:cNvPr id="81" name="Shape 79"/>
          <p:cNvSpPr/>
          <p:nvPr/>
        </p:nvSpPr>
        <p:spPr>
          <a:xfrm>
            <a:off x="9442552" y="6367516"/>
            <a:ext cx="0" cy="124724"/>
          </a:xfrm>
          <a:prstGeom prst="line">
            <a:avLst/>
          </a:prstGeom>
          <a:noFill/>
          <a:ln w="9525">
            <a:solidFill>
              <a:srgbClr val="C9A227">
                <a:alpha val="50000"/>
              </a:srgbClr>
            </a:solidFill>
            <a:prstDash val="solid"/>
          </a:ln>
        </p:spPr>
      </p:sp>
      <p:sp>
        <p:nvSpPr>
          <p:cNvPr id="82" name="Shape 80"/>
          <p:cNvSpPr/>
          <p:nvPr/>
        </p:nvSpPr>
        <p:spPr>
          <a:xfrm>
            <a:off x="9479128" y="6322162"/>
            <a:ext cx="0" cy="170078"/>
          </a:xfrm>
          <a:prstGeom prst="line">
            <a:avLst/>
          </a:prstGeom>
          <a:noFill/>
          <a:ln w="9525">
            <a:solidFill>
              <a:srgbClr val="C9A227">
                <a:alpha val="50000"/>
              </a:srgbClr>
            </a:solidFill>
            <a:prstDash val="solid"/>
          </a:ln>
        </p:spPr>
      </p:sp>
      <p:sp>
        <p:nvSpPr>
          <p:cNvPr id="83" name="Shape 81"/>
          <p:cNvSpPr/>
          <p:nvPr/>
        </p:nvSpPr>
        <p:spPr>
          <a:xfrm>
            <a:off x="9479128" y="6322162"/>
            <a:ext cx="237744" cy="0"/>
          </a:xfrm>
          <a:prstGeom prst="line">
            <a:avLst/>
          </a:prstGeom>
          <a:noFill/>
          <a:ln w="9525">
            <a:solidFill>
              <a:srgbClr val="C9A227">
                <a:alpha val="50000"/>
              </a:srgbClr>
            </a:solidFill>
            <a:prstDash val="solid"/>
          </a:ln>
        </p:spPr>
      </p:sp>
      <p:sp>
        <p:nvSpPr>
          <p:cNvPr id="84" name="Shape 82"/>
          <p:cNvSpPr/>
          <p:nvPr/>
        </p:nvSpPr>
        <p:spPr>
          <a:xfrm>
            <a:off x="9716872" y="6322162"/>
            <a:ext cx="0" cy="170078"/>
          </a:xfrm>
          <a:prstGeom prst="line">
            <a:avLst/>
          </a:prstGeom>
          <a:noFill/>
          <a:ln w="9525">
            <a:solidFill>
              <a:srgbClr val="C9A227">
                <a:alpha val="50000"/>
              </a:srgb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3816" y="2743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WHERE WE ARE WITH AI AT WORK</a:t>
            </a:r>
            <a:endParaRPr lang="en-US" sz="12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975208" y="640080"/>
            <a:ext cx="10241280" cy="576072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name="Slide 3">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WHERE WE ARE WITH AI AT WORK  ·  THE BOTTLE, IN THREE FRAMES</a:t>
            </a:r>
            <a:endParaRPr lang="en-US" sz="1200" dirty="0"/>
          </a:p>
        </p:txBody>
      </p:sp>
      <p:pic>
        <p:nvPicPr>
          <p:cNvPr id="3" name="Image 0" descr="assets/video/the-bottle-1.png">    </p:cNvPr>
          <p:cNvPicPr>
            <a:picLocks noChangeAspect="1"/>
          </p:cNvPicPr>
          <p:nvPr/>
        </p:nvPicPr>
        <p:blipFill>
          <a:blip r:embed="rId1"/>
          <a:stretch>
            <a:fillRect/>
          </a:stretch>
        </p:blipFill>
        <p:spPr>
          <a:xfrm>
            <a:off x="813816" y="1188720"/>
            <a:ext cx="3255264" cy="1831086"/>
          </a:xfrm>
          <a:prstGeom prst="rect">
            <a:avLst/>
          </a:prstGeom>
        </p:spPr>
      </p:pic>
      <p:sp>
        <p:nvSpPr>
          <p:cNvPr id="4" name="Text 1"/>
          <p:cNvSpPr/>
          <p:nvPr/>
        </p:nvSpPr>
        <p:spPr>
          <a:xfrm>
            <a:off x="813816" y="3166110"/>
            <a:ext cx="3255264" cy="507492"/>
          </a:xfrm>
          <a:prstGeom prst="rect">
            <a:avLst/>
          </a:prstGeom>
          <a:noFill/>
          <a:ln/>
        </p:spPr>
        <p:txBody>
          <a:bodyPr wrap="square" lIns="0" tIns="0" rIns="0" bIns="0" rtlCol="0" anchor="t"/>
          <a:lstStyle/>
          <a:p>
            <a:pPr indent="0" marL="0">
              <a:lnSpc>
                <a:spcPct val="116000"/>
              </a:lnSpc>
              <a:buNone/>
            </a:pPr>
            <a:r>
              <a:rPr lang="en-US" sz="1300" dirty="0">
                <a:solidFill>
                  <a:srgbClr val="F7F3EA"/>
                </a:solidFill>
                <a:latin typeface="Arial" pitchFamily="34" charset="0"/>
                <a:ea typeface="Arial" pitchFamily="34" charset="-122"/>
                <a:cs typeface="Arial" pitchFamily="34" charset="-120"/>
              </a:rPr>
              <a:t>Before AI. One task per second. All of them yours.</a:t>
            </a:r>
            <a:endParaRPr lang="en-US" sz="1300" dirty="0"/>
          </a:p>
        </p:txBody>
      </p:sp>
      <p:pic>
        <p:nvPicPr>
          <p:cNvPr id="5" name="Image 1" descr="assets/video/the-bottle-2.png">    </p:cNvPr>
          <p:cNvPicPr>
            <a:picLocks noChangeAspect="1"/>
          </p:cNvPicPr>
          <p:nvPr/>
        </p:nvPicPr>
        <p:blipFill>
          <a:blip r:embed="rId2"/>
          <a:stretch>
            <a:fillRect/>
          </a:stretch>
        </p:blipFill>
        <p:spPr>
          <a:xfrm>
            <a:off x="4471416" y="1188720"/>
            <a:ext cx="3255264" cy="1831086"/>
          </a:xfrm>
          <a:prstGeom prst="rect">
            <a:avLst/>
          </a:prstGeom>
        </p:spPr>
      </p:pic>
      <p:sp>
        <p:nvSpPr>
          <p:cNvPr id="6" name="Text 2"/>
          <p:cNvSpPr/>
          <p:nvPr/>
        </p:nvSpPr>
        <p:spPr>
          <a:xfrm>
            <a:off x="4471416" y="3166110"/>
            <a:ext cx="3255264" cy="715518"/>
          </a:xfrm>
          <a:prstGeom prst="rect">
            <a:avLst/>
          </a:prstGeom>
          <a:noFill/>
          <a:ln/>
        </p:spPr>
        <p:txBody>
          <a:bodyPr wrap="square" lIns="0" tIns="0" rIns="0" bIns="0" rtlCol="0" anchor="t"/>
          <a:lstStyle/>
          <a:p>
            <a:pPr indent="0" marL="0">
              <a:lnSpc>
                <a:spcPct val="116000"/>
              </a:lnSpc>
              <a:buNone/>
            </a:pPr>
            <a:r>
              <a:rPr lang="en-US" sz="1300" dirty="0">
                <a:solidFill>
                  <a:srgbClr val="F7F3EA"/>
                </a:solidFill>
                <a:latin typeface="Arial" pitchFamily="34" charset="0"/>
                <a:ea typeface="Arial" pitchFamily="34" charset="-122"/>
                <a:cs typeface="Arial" pitchFamily="34" charset="-120"/>
              </a:rPr>
              <a:t>After AI. Four times the output. The same ten you wanted. And you sort the rest.</a:t>
            </a:r>
            <a:endParaRPr lang="en-US" sz="1300" dirty="0"/>
          </a:p>
        </p:txBody>
      </p:sp>
      <p:pic>
        <p:nvPicPr>
          <p:cNvPr id="7" name="Image 2" descr="assets/video/the-bottle-3.png">    </p:cNvPr>
          <p:cNvPicPr>
            <a:picLocks noChangeAspect="1"/>
          </p:cNvPicPr>
          <p:nvPr/>
        </p:nvPicPr>
        <p:blipFill>
          <a:blip r:embed="rId3"/>
          <a:stretch>
            <a:fillRect/>
          </a:stretch>
        </p:blipFill>
        <p:spPr>
          <a:xfrm>
            <a:off x="8129016" y="1188720"/>
            <a:ext cx="3255264" cy="1831086"/>
          </a:xfrm>
          <a:prstGeom prst="rect">
            <a:avLst/>
          </a:prstGeom>
        </p:spPr>
      </p:pic>
      <p:sp>
        <p:nvSpPr>
          <p:cNvPr id="8" name="Text 3"/>
          <p:cNvSpPr/>
          <p:nvPr/>
        </p:nvSpPr>
        <p:spPr>
          <a:xfrm>
            <a:off x="8129016" y="3166110"/>
            <a:ext cx="3255264" cy="715518"/>
          </a:xfrm>
          <a:prstGeom prst="rect">
            <a:avLst/>
          </a:prstGeom>
          <a:noFill/>
          <a:ln/>
        </p:spPr>
        <p:txBody>
          <a:bodyPr wrap="square" lIns="0" tIns="0" rIns="0" bIns="0" rtlCol="0" anchor="t"/>
          <a:lstStyle/>
          <a:p>
            <a:pPr indent="0" marL="0">
              <a:lnSpc>
                <a:spcPct val="116000"/>
              </a:lnSpc>
              <a:buNone/>
            </a:pPr>
            <a:r>
              <a:rPr lang="en-US" sz="1300" dirty="0">
                <a:solidFill>
                  <a:srgbClr val="F7F3EA"/>
                </a:solidFill>
                <a:latin typeface="Arial" pitchFamily="34" charset="0"/>
                <a:ea typeface="Arial" pitchFamily="34" charset="-122"/>
                <a:cs typeface="Arial" pitchFamily="34" charset="-120"/>
              </a:rPr>
              <a:t>Close the loop. Every sort you make teaches the rules. The rules make the next batch better.</a:t>
            </a:r>
            <a:endParaRPr lang="en-US" sz="1300" dirty="0"/>
          </a:p>
        </p:txBody>
      </p:sp>
      <p:sp>
        <p:nvSpPr>
          <p:cNvPr id="9" name="Shape 4"/>
          <p:cNvSpPr/>
          <p:nvPr/>
        </p:nvSpPr>
        <p:spPr>
          <a:xfrm>
            <a:off x="813816" y="5779008"/>
            <a:ext cx="10570464" cy="0"/>
          </a:xfrm>
          <a:prstGeom prst="line">
            <a:avLst/>
          </a:prstGeom>
          <a:noFill/>
          <a:ln w="9525">
            <a:solidFill>
              <a:srgbClr val="C9A227"/>
            </a:solidFill>
            <a:prstDash val="solid"/>
          </a:ln>
        </p:spPr>
      </p:sp>
      <p:sp>
        <p:nvSpPr>
          <p:cNvPr id="10" name="Text 5"/>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11" name="Shape 6"/>
          <p:cNvSpPr/>
          <p:nvPr/>
        </p:nvSpPr>
        <p:spPr>
          <a:xfrm rot="2700000">
            <a:off x="2947416" y="6003036"/>
            <a:ext cx="64008" cy="64008"/>
          </a:xfrm>
          <a:prstGeom prst="rect">
            <a:avLst/>
          </a:prstGeom>
          <a:solidFill>
            <a:srgbClr val="C9A227"/>
          </a:solidFill>
          <a:ln w="3175">
            <a:solidFill>
              <a:srgbClr val="C9A227"/>
            </a:solidFill>
            <a:prstDash val="solid"/>
          </a:ln>
        </p:spPr>
      </p:sp>
      <p:sp>
        <p:nvSpPr>
          <p:cNvPr id="12" name="Text 7"/>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3</a:t>
            </a:r>
            <a:endParaRPr lang="en-US" sz="900" dirty="0"/>
          </a:p>
        </p:txBody>
      </p:sp>
      <p:sp>
        <p:nvSpPr>
          <p:cNvPr id="7" name="Text 5"/>
          <p:cNvSpPr/>
          <p:nvPr/>
        </p:nvSpPr>
        <p:spPr>
          <a:xfrm>
            <a:off x="1249528" y="822960"/>
            <a:ext cx="9692640" cy="1399642"/>
          </a:xfrm>
          <a:prstGeom prst="rect">
            <a:avLst/>
          </a:prstGeom>
          <a:noFill/>
          <a:ln/>
        </p:spPr>
        <p:txBody>
          <a:bodyPr wrap="square" lIns="0" tIns="0" rIns="0" bIns="0" rtlCol="0" anchor="t"/>
          <a:lstStyle/>
          <a:p>
            <a:pPr algn="ctr" indent="0" marL="0">
              <a:buNone/>
            </a:pPr>
            <a:r>
              <a:rPr lang="en-US" sz="4000" b="1" dirty="0">
                <a:solidFill>
                  <a:srgbClr val="14213D"/>
                </a:solidFill>
                <a:latin typeface="Georgia" pitchFamily="34" charset="0"/>
                <a:ea typeface="Georgia" pitchFamily="34" charset="-122"/>
                <a:cs typeface="Georgia" pitchFamily="34" charset="-120"/>
              </a:rPr>
              <a:t>Open loops make more work. Closed loops make better work.</a:t>
            </a:r>
            <a:endParaRPr lang="en-US" sz="4000" dirty="0"/>
          </a:p>
        </p:txBody>
      </p:sp>
      <p:sp>
        <p:nvSpPr>
          <p:cNvPr id="8" name="Text 6"/>
          <p:cNvSpPr/>
          <p:nvPr/>
        </p:nvSpPr>
        <p:spPr>
          <a:xfrm>
            <a:off x="1088136" y="2496922"/>
            <a:ext cx="4754880" cy="299466"/>
          </a:xfrm>
          <a:prstGeom prst="rect">
            <a:avLst/>
          </a:prstGeom>
          <a:noFill/>
          <a:ln/>
        </p:spPr>
        <p:txBody>
          <a:bodyPr wrap="square" lIns="0" tIns="0" rIns="0" bIns="0" rtlCol="0" anchor="t"/>
          <a:lstStyle/>
          <a:p>
            <a:pPr algn="ctr" indent="0" marL="0">
              <a:buNone/>
            </a:pPr>
            <a:r>
              <a:rPr lang="en-US" sz="1300" b="1" spc="160" kern="0" dirty="0">
                <a:solidFill>
                  <a:srgbClr val="8A6D14"/>
                </a:solidFill>
                <a:latin typeface="Arial" pitchFamily="34" charset="0"/>
                <a:ea typeface="Arial" pitchFamily="34" charset="-122"/>
                <a:cs typeface="Arial" pitchFamily="34" charset="-120"/>
              </a:rPr>
              <a:t>OPEN</a:t>
            </a:r>
            <a:endParaRPr lang="en-US" sz="1300" dirty="0"/>
          </a:p>
        </p:txBody>
      </p:sp>
      <p:sp>
        <p:nvSpPr>
          <p:cNvPr id="9" name="Shape 7"/>
          <p:cNvSpPr/>
          <p:nvPr/>
        </p:nvSpPr>
        <p:spPr>
          <a:xfrm>
            <a:off x="1271016" y="3063850"/>
            <a:ext cx="914400" cy="914400"/>
          </a:xfrm>
          <a:prstGeom prst="ellipse">
            <a:avLst/>
          </a:prstGeom>
          <a:ln w="12700">
            <a:solidFill>
              <a:srgbClr val="C9A227"/>
            </a:solidFill>
            <a:prstDash val="solid"/>
          </a:ln>
        </p:spPr>
      </p:sp>
      <p:sp>
        <p:nvSpPr>
          <p:cNvPr id="10" name="Text 8"/>
          <p:cNvSpPr/>
          <p:nvPr/>
        </p:nvSpPr>
        <p:spPr>
          <a:xfrm>
            <a:off x="1271016" y="3063850"/>
            <a:ext cx="914400" cy="914400"/>
          </a:xfrm>
          <a:prstGeom prst="rect">
            <a:avLst/>
          </a:prstGeom>
          <a:noFill/>
          <a:ln/>
        </p:spPr>
        <p:txBody>
          <a:bodyPr wrap="square" lIns="0" tIns="0" rIns="0" bIns="0" rtlCol="0" anchor="ctr"/>
          <a:lstStyle/>
          <a:p>
            <a:pPr algn="ctr" indent="0" marL="0">
              <a:buNone/>
            </a:pPr>
            <a:r>
              <a:rPr lang="en-US" sz="1000" b="1" dirty="0">
                <a:solidFill>
                  <a:srgbClr val="8A6D14"/>
                </a:solidFill>
                <a:latin typeface="Georgia" pitchFamily="34" charset="0"/>
                <a:ea typeface="Georgia" pitchFamily="34" charset="-122"/>
                <a:cs typeface="Georgia" pitchFamily="34" charset="-120"/>
              </a:rPr>
              <a:t>THE RULES</a:t>
            </a:r>
            <a:endParaRPr lang="en-US" sz="1000" dirty="0"/>
          </a:p>
        </p:txBody>
      </p:sp>
      <p:sp>
        <p:nvSpPr>
          <p:cNvPr id="11" name="Shape 9"/>
          <p:cNvSpPr/>
          <p:nvPr/>
        </p:nvSpPr>
        <p:spPr>
          <a:xfrm>
            <a:off x="2185416" y="3521050"/>
            <a:ext cx="3657600" cy="0"/>
          </a:xfrm>
          <a:prstGeom prst="line">
            <a:avLst/>
          </a:prstGeom>
          <a:noFill/>
          <a:ln w="12700">
            <a:solidFill>
              <a:srgbClr val="C9A227"/>
            </a:solidFill>
            <a:prstDash val="solid"/>
          </a:ln>
        </p:spPr>
      </p:sp>
      <p:sp>
        <p:nvSpPr>
          <p:cNvPr id="12" name="Shape 10"/>
          <p:cNvSpPr/>
          <p:nvPr/>
        </p:nvSpPr>
        <p:spPr>
          <a:xfrm rot="5400000">
            <a:off x="2670048" y="3434182"/>
            <a:ext cx="128016" cy="173736"/>
          </a:xfrm>
          <a:prstGeom prst="triangle">
            <a:avLst/>
          </a:prstGeom>
          <a:solidFill>
            <a:srgbClr val="C9A227"/>
          </a:solidFill>
          <a:ln/>
        </p:spPr>
      </p:sp>
      <p:sp>
        <p:nvSpPr>
          <p:cNvPr id="13" name="Shape 11"/>
          <p:cNvSpPr/>
          <p:nvPr/>
        </p:nvSpPr>
        <p:spPr>
          <a:xfrm rot="5400000">
            <a:off x="3675888" y="3434182"/>
            <a:ext cx="128016" cy="173736"/>
          </a:xfrm>
          <a:prstGeom prst="triangle">
            <a:avLst/>
          </a:prstGeom>
          <a:solidFill>
            <a:srgbClr val="C9A227"/>
          </a:solidFill>
          <a:ln/>
        </p:spPr>
      </p:sp>
      <p:sp>
        <p:nvSpPr>
          <p:cNvPr id="14" name="Shape 12"/>
          <p:cNvSpPr/>
          <p:nvPr/>
        </p:nvSpPr>
        <p:spPr>
          <a:xfrm rot="5400000">
            <a:off x="4681728" y="3434182"/>
            <a:ext cx="128016" cy="173736"/>
          </a:xfrm>
          <a:prstGeom prst="triangle">
            <a:avLst/>
          </a:prstGeom>
          <a:solidFill>
            <a:srgbClr val="C9A227"/>
          </a:solidFill>
          <a:ln/>
        </p:spPr>
      </p:sp>
      <p:sp>
        <p:nvSpPr>
          <p:cNvPr id="15" name="Text 13"/>
          <p:cNvSpPr/>
          <p:nvPr/>
        </p:nvSpPr>
        <p:spPr>
          <a:xfrm>
            <a:off x="2459736" y="3063850"/>
            <a:ext cx="3383280" cy="219456"/>
          </a:xfrm>
          <a:prstGeom prst="rect">
            <a:avLst/>
          </a:prstGeom>
          <a:noFill/>
          <a:ln/>
        </p:spPr>
        <p:txBody>
          <a:bodyPr wrap="square" lIns="0" tIns="0" rIns="0" bIns="0" rtlCol="0" anchor="ctr"/>
          <a:lstStyle/>
          <a:p>
            <a:pPr algn="ctr" indent="0" marL="0">
              <a:buNone/>
            </a:pPr>
            <a:r>
              <a:rPr lang="en-US" sz="1100" i="1" dirty="0">
                <a:solidFill>
                  <a:srgbClr val="5A6379"/>
                </a:solidFill>
                <a:latin typeface="Arial" pitchFamily="34" charset="0"/>
                <a:ea typeface="Arial" pitchFamily="34" charset="-122"/>
                <a:cs typeface="Arial" pitchFamily="34" charset="-120"/>
              </a:rPr>
              <a:t>work goes out</a:t>
            </a:r>
            <a:endParaRPr lang="en-US" sz="1100" dirty="0"/>
          </a:p>
        </p:txBody>
      </p:sp>
      <p:sp>
        <p:nvSpPr>
          <p:cNvPr id="16" name="Text 14"/>
          <p:cNvSpPr/>
          <p:nvPr/>
        </p:nvSpPr>
        <p:spPr>
          <a:xfrm>
            <a:off x="2459736" y="3758794"/>
            <a:ext cx="3383280" cy="219456"/>
          </a:xfrm>
          <a:prstGeom prst="rect">
            <a:avLst/>
          </a:prstGeom>
          <a:noFill/>
          <a:ln/>
        </p:spPr>
        <p:txBody>
          <a:bodyPr wrap="square" lIns="0" tIns="0" rIns="0" bIns="0" rtlCol="0" anchor="ctr"/>
          <a:lstStyle/>
          <a:p>
            <a:pPr algn="ctr" indent="0" marL="0">
              <a:buNone/>
            </a:pPr>
            <a:r>
              <a:rPr lang="en-US" sz="1100" i="1" dirty="0">
                <a:solidFill>
                  <a:srgbClr val="5A6379"/>
                </a:solidFill>
                <a:latin typeface="Arial" pitchFamily="34" charset="0"/>
                <a:ea typeface="Arial" pitchFamily="34" charset="-122"/>
                <a:cs typeface="Arial" pitchFamily="34" charset="-120"/>
              </a:rPr>
              <a:t>nothing comes back</a:t>
            </a:r>
            <a:endParaRPr lang="en-US" sz="1100" dirty="0"/>
          </a:p>
        </p:txBody>
      </p:sp>
      <p:sp>
        <p:nvSpPr>
          <p:cNvPr id="17" name="Text 15"/>
          <p:cNvSpPr/>
          <p:nvPr/>
        </p:nvSpPr>
        <p:spPr>
          <a:xfrm>
            <a:off x="6348679" y="2496922"/>
            <a:ext cx="4754880" cy="299466"/>
          </a:xfrm>
          <a:prstGeom prst="rect">
            <a:avLst/>
          </a:prstGeom>
          <a:noFill/>
          <a:ln/>
        </p:spPr>
        <p:txBody>
          <a:bodyPr wrap="square" lIns="0" tIns="0" rIns="0" bIns="0" rtlCol="0" anchor="t"/>
          <a:lstStyle/>
          <a:p>
            <a:pPr algn="ctr" indent="0" marL="0">
              <a:buNone/>
            </a:pPr>
            <a:r>
              <a:rPr lang="en-US" sz="1300" b="1" spc="160" kern="0" dirty="0">
                <a:solidFill>
                  <a:srgbClr val="8A6D14"/>
                </a:solidFill>
                <a:latin typeface="Arial" pitchFamily="34" charset="0"/>
                <a:ea typeface="Arial" pitchFamily="34" charset="-122"/>
                <a:cs typeface="Arial" pitchFamily="34" charset="-120"/>
              </a:rPr>
              <a:t>CLOSED</a:t>
            </a:r>
            <a:endParaRPr lang="en-US" sz="1300" dirty="0"/>
          </a:p>
        </p:txBody>
      </p:sp>
      <p:sp>
        <p:nvSpPr>
          <p:cNvPr id="18" name="Shape 16"/>
          <p:cNvSpPr/>
          <p:nvPr/>
        </p:nvSpPr>
        <p:spPr>
          <a:xfrm>
            <a:off x="8067751" y="2862682"/>
            <a:ext cx="1316736" cy="1316736"/>
          </a:xfrm>
          <a:prstGeom prst="ellipse">
            <a:avLst/>
          </a:prstGeom>
          <a:ln w="12700">
            <a:solidFill>
              <a:srgbClr val="C9A227"/>
            </a:solidFill>
            <a:prstDash val="solid"/>
          </a:ln>
        </p:spPr>
      </p:sp>
      <p:sp>
        <p:nvSpPr>
          <p:cNvPr id="19" name="Shape 17"/>
          <p:cNvSpPr/>
          <p:nvPr/>
        </p:nvSpPr>
        <p:spPr>
          <a:xfrm rot="8100000">
            <a:off x="9144107" y="2990134"/>
            <a:ext cx="95098" cy="130759"/>
          </a:xfrm>
          <a:prstGeom prst="triangle">
            <a:avLst/>
          </a:prstGeom>
          <a:solidFill>
            <a:srgbClr val="C9A227"/>
          </a:solidFill>
          <a:ln/>
        </p:spPr>
      </p:sp>
      <p:sp>
        <p:nvSpPr>
          <p:cNvPr id="20" name="Shape 18"/>
          <p:cNvSpPr/>
          <p:nvPr/>
        </p:nvSpPr>
        <p:spPr>
          <a:xfrm rot="13500000">
            <a:off x="9144107" y="3921206"/>
            <a:ext cx="95098" cy="130759"/>
          </a:xfrm>
          <a:prstGeom prst="triangle">
            <a:avLst/>
          </a:prstGeom>
          <a:solidFill>
            <a:srgbClr val="C9A227"/>
          </a:solidFill>
          <a:ln/>
        </p:spPr>
      </p:sp>
      <p:sp>
        <p:nvSpPr>
          <p:cNvPr id="21" name="Shape 19"/>
          <p:cNvSpPr/>
          <p:nvPr/>
        </p:nvSpPr>
        <p:spPr>
          <a:xfrm rot="18900000">
            <a:off x="8213034" y="3921206"/>
            <a:ext cx="95098" cy="130759"/>
          </a:xfrm>
          <a:prstGeom prst="triangle">
            <a:avLst/>
          </a:prstGeom>
          <a:solidFill>
            <a:srgbClr val="C9A227"/>
          </a:solidFill>
          <a:ln/>
        </p:spPr>
      </p:sp>
      <p:sp>
        <p:nvSpPr>
          <p:cNvPr id="22" name="Shape 20"/>
          <p:cNvSpPr/>
          <p:nvPr/>
        </p:nvSpPr>
        <p:spPr>
          <a:xfrm rot="2700000">
            <a:off x="8213034" y="2990134"/>
            <a:ext cx="95098" cy="130759"/>
          </a:xfrm>
          <a:prstGeom prst="triangle">
            <a:avLst/>
          </a:prstGeom>
          <a:solidFill>
            <a:srgbClr val="C9A227"/>
          </a:solidFill>
          <a:ln/>
        </p:spPr>
      </p:sp>
      <p:sp>
        <p:nvSpPr>
          <p:cNvPr id="23" name="Shape 21"/>
          <p:cNvSpPr/>
          <p:nvPr/>
        </p:nvSpPr>
        <p:spPr>
          <a:xfrm>
            <a:off x="8344266" y="3139196"/>
            <a:ext cx="763707" cy="763707"/>
          </a:xfrm>
          <a:prstGeom prst="ellipse">
            <a:avLst/>
          </a:prstGeom>
          <a:ln w="12700">
            <a:solidFill>
              <a:srgbClr val="C9A227"/>
            </a:solidFill>
            <a:prstDash val="solid"/>
          </a:ln>
        </p:spPr>
      </p:sp>
      <p:sp>
        <p:nvSpPr>
          <p:cNvPr id="24" name="Text 22"/>
          <p:cNvSpPr/>
          <p:nvPr/>
        </p:nvSpPr>
        <p:spPr>
          <a:xfrm>
            <a:off x="8389986" y="3339440"/>
            <a:ext cx="672267" cy="363220"/>
          </a:xfrm>
          <a:prstGeom prst="rect">
            <a:avLst/>
          </a:prstGeom>
          <a:noFill/>
          <a:ln/>
        </p:spPr>
        <p:txBody>
          <a:bodyPr wrap="square" lIns="0" tIns="0" rIns="0" bIns="0" rtlCol="0" anchor="ctr"/>
          <a:lstStyle/>
          <a:p>
            <a:pPr algn="ctr" indent="0" marL="0">
              <a:lnSpc>
                <a:spcPct val="102000"/>
              </a:lnSpc>
              <a:buNone/>
            </a:pPr>
            <a:r>
              <a:rPr lang="en-US" sz="1100" b="1" dirty="0">
                <a:solidFill>
                  <a:srgbClr val="8A6D14"/>
                </a:solidFill>
                <a:latin typeface="Georgia" pitchFamily="34" charset="0"/>
                <a:ea typeface="Georgia" pitchFamily="34" charset="-122"/>
                <a:cs typeface="Georgia" pitchFamily="34" charset="-120"/>
              </a:rPr>
              <a:t>THE</a:t>
            </a:r>
            <a:endParaRPr lang="en-US" sz="1100" dirty="0"/>
          </a:p>
          <a:p>
            <a:pPr algn="ctr" indent="0" marL="0">
              <a:lnSpc>
                <a:spcPct val="102000"/>
              </a:lnSpc>
              <a:buNone/>
            </a:pPr>
            <a:r>
              <a:rPr lang="en-US" sz="1100" b="1" dirty="0">
                <a:solidFill>
                  <a:srgbClr val="8A6D14"/>
                </a:solidFill>
                <a:latin typeface="Georgia" pitchFamily="34" charset="0"/>
                <a:ea typeface="Georgia" pitchFamily="34" charset="-122"/>
                <a:cs typeface="Georgia" pitchFamily="34" charset="-120"/>
              </a:rPr>
              <a:t>RULES</a:t>
            </a:r>
            <a:endParaRPr lang="en-US" sz="1100" dirty="0"/>
          </a:p>
        </p:txBody>
      </p:sp>
      <p:sp>
        <p:nvSpPr>
          <p:cNvPr id="25" name="Shape 23"/>
          <p:cNvSpPr/>
          <p:nvPr/>
        </p:nvSpPr>
        <p:spPr>
          <a:xfrm>
            <a:off x="8561527" y="2698090"/>
            <a:ext cx="329184" cy="329184"/>
          </a:xfrm>
          <a:prstGeom prst="ellipse">
            <a:avLst/>
          </a:prstGeom>
          <a:solidFill>
            <a:srgbClr val="F7F3EA"/>
          </a:solidFill>
          <a:ln w="12700">
            <a:solidFill>
              <a:srgbClr val="C9A227"/>
            </a:solidFill>
            <a:prstDash val="solid"/>
          </a:ln>
        </p:spPr>
      </p:sp>
      <p:sp>
        <p:nvSpPr>
          <p:cNvPr id="26" name="Text 24"/>
          <p:cNvSpPr/>
          <p:nvPr/>
        </p:nvSpPr>
        <p:spPr>
          <a:xfrm>
            <a:off x="8561527" y="2698090"/>
            <a:ext cx="329184" cy="329184"/>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01</a:t>
            </a:r>
            <a:endParaRPr lang="en-US" sz="1200" dirty="0"/>
          </a:p>
        </p:txBody>
      </p:sp>
      <p:sp>
        <p:nvSpPr>
          <p:cNvPr id="27" name="Shape 25"/>
          <p:cNvSpPr/>
          <p:nvPr/>
        </p:nvSpPr>
        <p:spPr>
          <a:xfrm>
            <a:off x="9219895" y="3356458"/>
            <a:ext cx="329184" cy="329184"/>
          </a:xfrm>
          <a:prstGeom prst="ellipse">
            <a:avLst/>
          </a:prstGeom>
          <a:solidFill>
            <a:srgbClr val="F7F3EA"/>
          </a:solidFill>
          <a:ln w="12700">
            <a:solidFill>
              <a:srgbClr val="C9A227"/>
            </a:solidFill>
            <a:prstDash val="solid"/>
          </a:ln>
        </p:spPr>
      </p:sp>
      <p:sp>
        <p:nvSpPr>
          <p:cNvPr id="28" name="Text 26"/>
          <p:cNvSpPr/>
          <p:nvPr/>
        </p:nvSpPr>
        <p:spPr>
          <a:xfrm>
            <a:off x="9219895" y="3356458"/>
            <a:ext cx="329184" cy="329184"/>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02</a:t>
            </a:r>
            <a:endParaRPr lang="en-US" sz="1200" dirty="0"/>
          </a:p>
        </p:txBody>
      </p:sp>
      <p:sp>
        <p:nvSpPr>
          <p:cNvPr id="29" name="Shape 27"/>
          <p:cNvSpPr/>
          <p:nvPr/>
        </p:nvSpPr>
        <p:spPr>
          <a:xfrm>
            <a:off x="8561527" y="4014826"/>
            <a:ext cx="329184" cy="329184"/>
          </a:xfrm>
          <a:prstGeom prst="ellipse">
            <a:avLst/>
          </a:prstGeom>
          <a:solidFill>
            <a:srgbClr val="F7F3EA"/>
          </a:solidFill>
          <a:ln w="12700">
            <a:solidFill>
              <a:srgbClr val="C9A227"/>
            </a:solidFill>
            <a:prstDash val="solid"/>
          </a:ln>
        </p:spPr>
      </p:sp>
      <p:sp>
        <p:nvSpPr>
          <p:cNvPr id="30" name="Text 28"/>
          <p:cNvSpPr/>
          <p:nvPr/>
        </p:nvSpPr>
        <p:spPr>
          <a:xfrm>
            <a:off x="8561527" y="4014826"/>
            <a:ext cx="329184" cy="329184"/>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03</a:t>
            </a:r>
            <a:endParaRPr lang="en-US" sz="1200" dirty="0"/>
          </a:p>
        </p:txBody>
      </p:sp>
      <p:sp>
        <p:nvSpPr>
          <p:cNvPr id="31" name="Shape 29"/>
          <p:cNvSpPr/>
          <p:nvPr/>
        </p:nvSpPr>
        <p:spPr>
          <a:xfrm>
            <a:off x="7903159" y="3356458"/>
            <a:ext cx="329184" cy="329184"/>
          </a:xfrm>
          <a:prstGeom prst="ellipse">
            <a:avLst/>
          </a:prstGeom>
          <a:solidFill>
            <a:srgbClr val="F7F3EA"/>
          </a:solidFill>
          <a:ln w="12700">
            <a:solidFill>
              <a:srgbClr val="C9A227"/>
            </a:solidFill>
            <a:prstDash val="solid"/>
          </a:ln>
        </p:spPr>
      </p:sp>
      <p:sp>
        <p:nvSpPr>
          <p:cNvPr id="32" name="Text 30"/>
          <p:cNvSpPr/>
          <p:nvPr/>
        </p:nvSpPr>
        <p:spPr>
          <a:xfrm>
            <a:off x="7903159" y="3356458"/>
            <a:ext cx="329184" cy="329184"/>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04</a:t>
            </a:r>
            <a:endParaRPr lang="en-US" sz="1200" dirty="0"/>
          </a:p>
        </p:txBody>
      </p:sp>
      <p:sp>
        <p:nvSpPr>
          <p:cNvPr id="33" name="Text 31"/>
          <p:cNvSpPr/>
          <p:nvPr/>
        </p:nvSpPr>
        <p:spPr>
          <a:xfrm>
            <a:off x="813816" y="4563466"/>
            <a:ext cx="10570464" cy="715518"/>
          </a:xfrm>
          <a:prstGeom prst="rect">
            <a:avLst/>
          </a:prstGeom>
          <a:noFill/>
          <a:ln/>
        </p:spPr>
        <p:txBody>
          <a:bodyPr wrap="square" lIns="0" tIns="0" rIns="0" bIns="0" rtlCol="0" anchor="t"/>
          <a:lstStyle/>
          <a:p>
            <a:pPr algn="l" indent="0" marL="0">
              <a:lnSpc>
                <a:spcPct val="116000"/>
              </a:lnSpc>
              <a:buNone/>
            </a:pPr>
            <a:r>
              <a:rPr lang="en-US" sz="1300" i="1" dirty="0">
                <a:solidFill>
                  <a:srgbClr val="5A6379"/>
                </a:solidFill>
                <a:latin typeface="Arial" pitchFamily="34" charset="0"/>
                <a:ea typeface="Arial" pitchFamily="34" charset="-122"/>
                <a:cs typeface="Arial" pitchFamily="34" charset="-120"/>
              </a:rPr>
              <a:t>A loop is open when work goes out and nothing comes back to tell you how it went. A loop is closed when the result comes back to the person who set the rules, and the rules get better. AI makes open loops cheap. That is the whole problem, and it is the whole opportunity.</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4</a:t>
            </a:r>
            <a:endParaRPr lang="en-US" sz="900" dirty="0"/>
          </a:p>
        </p:txBody>
      </p:sp>
      <p:sp>
        <p:nvSpPr>
          <p:cNvPr id="7" name="Text 5"/>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ANY WORKFLOW YOU CAN DESCRIBE</a:t>
            </a:r>
            <a:endParaRPr lang="en-US" sz="12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Every workflow is a loop.</a:t>
            </a:r>
            <a:endParaRPr lang="en-US" sz="4000" dirty="0"/>
          </a:p>
        </p:txBody>
      </p:sp>
      <p:sp>
        <p:nvSpPr>
          <p:cNvPr id="9" name="Shape 7"/>
          <p:cNvSpPr/>
          <p:nvPr/>
        </p:nvSpPr>
        <p:spPr>
          <a:xfrm>
            <a:off x="2890114" y="2424379"/>
            <a:ext cx="1717853" cy="1717853"/>
          </a:xfrm>
          <a:prstGeom prst="ellipse">
            <a:avLst/>
          </a:prstGeom>
          <a:ln w="12700">
            <a:solidFill>
              <a:srgbClr val="C9A227"/>
            </a:solidFill>
            <a:prstDash val="solid"/>
          </a:ln>
        </p:spPr>
      </p:sp>
      <p:sp>
        <p:nvSpPr>
          <p:cNvPr id="10" name="Shape 8"/>
          <p:cNvSpPr/>
          <p:nvPr/>
        </p:nvSpPr>
        <p:spPr>
          <a:xfrm rot="8100000">
            <a:off x="4308844" y="2610573"/>
            <a:ext cx="95098" cy="130759"/>
          </a:xfrm>
          <a:prstGeom prst="triangle">
            <a:avLst/>
          </a:prstGeom>
          <a:solidFill>
            <a:srgbClr val="C9A227"/>
          </a:solidFill>
          <a:ln/>
        </p:spPr>
      </p:sp>
      <p:sp>
        <p:nvSpPr>
          <p:cNvPr id="11" name="Shape 9"/>
          <p:cNvSpPr/>
          <p:nvPr/>
        </p:nvSpPr>
        <p:spPr>
          <a:xfrm rot="13500000">
            <a:off x="4308844" y="3825279"/>
            <a:ext cx="95098" cy="130759"/>
          </a:xfrm>
          <a:prstGeom prst="triangle">
            <a:avLst/>
          </a:prstGeom>
          <a:solidFill>
            <a:srgbClr val="C9A227"/>
          </a:solidFill>
          <a:ln/>
        </p:spPr>
      </p:sp>
      <p:sp>
        <p:nvSpPr>
          <p:cNvPr id="12" name="Shape 10"/>
          <p:cNvSpPr/>
          <p:nvPr/>
        </p:nvSpPr>
        <p:spPr>
          <a:xfrm rot="18900000">
            <a:off x="3094139" y="3825279"/>
            <a:ext cx="95098" cy="130759"/>
          </a:xfrm>
          <a:prstGeom prst="triangle">
            <a:avLst/>
          </a:prstGeom>
          <a:solidFill>
            <a:srgbClr val="C9A227"/>
          </a:solidFill>
          <a:ln/>
        </p:spPr>
      </p:sp>
      <p:sp>
        <p:nvSpPr>
          <p:cNvPr id="13" name="Shape 11"/>
          <p:cNvSpPr/>
          <p:nvPr/>
        </p:nvSpPr>
        <p:spPr>
          <a:xfrm rot="2700000">
            <a:off x="3094139" y="2610573"/>
            <a:ext cx="95098" cy="130759"/>
          </a:xfrm>
          <a:prstGeom prst="triangle">
            <a:avLst/>
          </a:prstGeom>
          <a:solidFill>
            <a:srgbClr val="C9A227"/>
          </a:solidFill>
          <a:ln/>
        </p:spPr>
      </p:sp>
      <p:sp>
        <p:nvSpPr>
          <p:cNvPr id="14" name="Shape 12"/>
          <p:cNvSpPr/>
          <p:nvPr/>
        </p:nvSpPr>
        <p:spPr>
          <a:xfrm>
            <a:off x="3250863" y="2785128"/>
            <a:ext cx="996355" cy="996355"/>
          </a:xfrm>
          <a:prstGeom prst="ellipse">
            <a:avLst/>
          </a:prstGeom>
          <a:solidFill>
            <a:srgbClr val="F7F3EA"/>
          </a:solidFill>
          <a:ln/>
        </p:spPr>
      </p:sp>
      <p:sp>
        <p:nvSpPr>
          <p:cNvPr id="15" name="Text 13"/>
          <p:cNvSpPr/>
          <p:nvPr/>
        </p:nvSpPr>
        <p:spPr>
          <a:xfrm>
            <a:off x="3296583" y="3085186"/>
            <a:ext cx="904915" cy="396240"/>
          </a:xfrm>
          <a:prstGeom prst="rect">
            <a:avLst/>
          </a:prstGeom>
          <a:noFill/>
          <a:ln/>
        </p:spPr>
        <p:txBody>
          <a:bodyPr wrap="square" lIns="0" tIns="0" rIns="0" bIns="0" rtlCol="0" anchor="ctr"/>
          <a:lstStyle/>
          <a:p>
            <a:pPr algn="ctr" indent="0" marL="0">
              <a:lnSpc>
                <a:spcPct val="102000"/>
              </a:lnSpc>
              <a:buNone/>
            </a:pPr>
            <a:r>
              <a:rPr lang="en-US" sz="1200" b="1" dirty="0">
                <a:solidFill>
                  <a:srgbClr val="14213D"/>
                </a:solidFill>
                <a:latin typeface="Georgia" pitchFamily="34" charset="0"/>
                <a:ea typeface="Georgia" pitchFamily="34" charset="-122"/>
                <a:cs typeface="Georgia" pitchFamily="34" charset="-120"/>
              </a:rPr>
              <a:t>THE</a:t>
            </a:r>
            <a:endParaRPr lang="en-US" sz="1200" dirty="0"/>
          </a:p>
          <a:p>
            <a:pPr algn="ctr" indent="0" marL="0">
              <a:lnSpc>
                <a:spcPct val="102000"/>
              </a:lnSpc>
              <a:buNone/>
            </a:pPr>
            <a:r>
              <a:rPr lang="en-US" sz="1200" b="1" dirty="0">
                <a:solidFill>
                  <a:srgbClr val="14213D"/>
                </a:solidFill>
                <a:latin typeface="Georgia" pitchFamily="34" charset="0"/>
                <a:ea typeface="Georgia" pitchFamily="34" charset="-122"/>
                <a:cs typeface="Georgia" pitchFamily="34" charset="-120"/>
              </a:rPr>
              <a:t>WORK</a:t>
            </a:r>
            <a:endParaRPr lang="en-US" sz="1200" dirty="0"/>
          </a:p>
        </p:txBody>
      </p:sp>
      <p:sp>
        <p:nvSpPr>
          <p:cNvPr id="16" name="Shape 14"/>
          <p:cNvSpPr/>
          <p:nvPr/>
        </p:nvSpPr>
        <p:spPr>
          <a:xfrm>
            <a:off x="3465576" y="2140915"/>
            <a:ext cx="566928" cy="566928"/>
          </a:xfrm>
          <a:prstGeom prst="ellipse">
            <a:avLst/>
          </a:prstGeom>
          <a:solidFill>
            <a:srgbClr val="14213D"/>
          </a:solidFill>
          <a:ln w="12700">
            <a:solidFill>
              <a:srgbClr val="C9A227"/>
            </a:solidFill>
            <a:prstDash val="solid"/>
          </a:ln>
        </p:spPr>
      </p:sp>
      <p:sp>
        <p:nvSpPr>
          <p:cNvPr id="17" name="Text 15"/>
          <p:cNvSpPr/>
          <p:nvPr/>
        </p:nvSpPr>
        <p:spPr>
          <a:xfrm>
            <a:off x="3465576" y="2140915"/>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01</a:t>
            </a:r>
            <a:endParaRPr lang="en-US" sz="1200" dirty="0"/>
          </a:p>
        </p:txBody>
      </p:sp>
      <p:sp>
        <p:nvSpPr>
          <p:cNvPr id="18" name="Text 16"/>
          <p:cNvSpPr/>
          <p:nvPr/>
        </p:nvSpPr>
        <p:spPr>
          <a:xfrm>
            <a:off x="2962656" y="1816303"/>
            <a:ext cx="1572768" cy="251460"/>
          </a:xfrm>
          <a:prstGeom prst="rect">
            <a:avLst/>
          </a:prstGeom>
          <a:noFill/>
          <a:ln/>
        </p:spPr>
        <p:txBody>
          <a:bodyPr wrap="square" lIns="0" tIns="0" rIns="0" bIns="0" rtlCol="0" anchor="ctr"/>
          <a:lstStyle/>
          <a:p>
            <a:pPr algn="ctr" indent="0" marL="0">
              <a:buNone/>
            </a:pPr>
            <a:r>
              <a:rPr lang="en-US" sz="1000" b="1" spc="120" kern="0" dirty="0">
                <a:solidFill>
                  <a:srgbClr val="E7C766"/>
                </a:solidFill>
                <a:latin typeface="Arial" pitchFamily="34" charset="0"/>
                <a:ea typeface="Arial" pitchFamily="34" charset="-122"/>
                <a:cs typeface="Arial" pitchFamily="34" charset="-120"/>
              </a:rPr>
              <a:t>CONNECT</a:t>
            </a:r>
            <a:endParaRPr lang="en-US" sz="1000" dirty="0"/>
          </a:p>
        </p:txBody>
      </p:sp>
      <p:sp>
        <p:nvSpPr>
          <p:cNvPr id="19" name="Shape 17"/>
          <p:cNvSpPr/>
          <p:nvPr/>
        </p:nvSpPr>
        <p:spPr>
          <a:xfrm>
            <a:off x="4324502" y="2999842"/>
            <a:ext cx="566928" cy="566928"/>
          </a:xfrm>
          <a:prstGeom prst="ellipse">
            <a:avLst/>
          </a:prstGeom>
          <a:solidFill>
            <a:srgbClr val="14213D"/>
          </a:solidFill>
          <a:ln w="12700">
            <a:solidFill>
              <a:srgbClr val="C9A227"/>
            </a:solidFill>
            <a:prstDash val="solid"/>
          </a:ln>
        </p:spPr>
      </p:sp>
      <p:sp>
        <p:nvSpPr>
          <p:cNvPr id="20" name="Text 18"/>
          <p:cNvSpPr/>
          <p:nvPr/>
        </p:nvSpPr>
        <p:spPr>
          <a:xfrm>
            <a:off x="4324502" y="2999842"/>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02</a:t>
            </a:r>
            <a:endParaRPr lang="en-US" sz="1200" dirty="0"/>
          </a:p>
        </p:txBody>
      </p:sp>
      <p:sp>
        <p:nvSpPr>
          <p:cNvPr id="21" name="Text 19"/>
          <p:cNvSpPr/>
          <p:nvPr/>
        </p:nvSpPr>
        <p:spPr>
          <a:xfrm>
            <a:off x="5019446" y="3157576"/>
            <a:ext cx="643128" cy="251460"/>
          </a:xfrm>
          <a:prstGeom prst="rect">
            <a:avLst/>
          </a:prstGeom>
          <a:noFill/>
          <a:ln/>
        </p:spPr>
        <p:txBody>
          <a:bodyPr wrap="square" lIns="0" tIns="0" rIns="0" bIns="0" rtlCol="0" anchor="ctr"/>
          <a:lstStyle/>
          <a:p>
            <a:pPr algn="l" indent="0" marL="0">
              <a:buNone/>
            </a:pPr>
            <a:r>
              <a:rPr lang="en-US" sz="1000" b="1" spc="120" kern="0" dirty="0">
                <a:solidFill>
                  <a:srgbClr val="E7C766"/>
                </a:solidFill>
                <a:latin typeface="Arial" pitchFamily="34" charset="0"/>
                <a:ea typeface="Arial" pitchFamily="34" charset="-122"/>
                <a:cs typeface="Arial" pitchFamily="34" charset="-120"/>
              </a:rPr>
              <a:t>TEACH</a:t>
            </a:r>
            <a:endParaRPr lang="en-US" sz="1000" dirty="0"/>
          </a:p>
        </p:txBody>
      </p:sp>
      <p:sp>
        <p:nvSpPr>
          <p:cNvPr id="22" name="Shape 20"/>
          <p:cNvSpPr/>
          <p:nvPr/>
        </p:nvSpPr>
        <p:spPr>
          <a:xfrm>
            <a:off x="3465576" y="3858768"/>
            <a:ext cx="566928" cy="566928"/>
          </a:xfrm>
          <a:prstGeom prst="ellipse">
            <a:avLst/>
          </a:prstGeom>
          <a:solidFill>
            <a:srgbClr val="14213D"/>
          </a:solidFill>
          <a:ln w="12700">
            <a:solidFill>
              <a:srgbClr val="C9A227"/>
            </a:solidFill>
            <a:prstDash val="solid"/>
          </a:ln>
        </p:spPr>
      </p:sp>
      <p:sp>
        <p:nvSpPr>
          <p:cNvPr id="23" name="Text 21"/>
          <p:cNvSpPr/>
          <p:nvPr/>
        </p:nvSpPr>
        <p:spPr>
          <a:xfrm>
            <a:off x="3465576" y="3858768"/>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03</a:t>
            </a:r>
            <a:endParaRPr lang="en-US" sz="1200" dirty="0"/>
          </a:p>
        </p:txBody>
      </p:sp>
      <p:sp>
        <p:nvSpPr>
          <p:cNvPr id="24" name="Text 22"/>
          <p:cNvSpPr/>
          <p:nvPr/>
        </p:nvSpPr>
        <p:spPr>
          <a:xfrm>
            <a:off x="2962656" y="4498848"/>
            <a:ext cx="1572768" cy="251460"/>
          </a:xfrm>
          <a:prstGeom prst="rect">
            <a:avLst/>
          </a:prstGeom>
          <a:noFill/>
          <a:ln/>
        </p:spPr>
        <p:txBody>
          <a:bodyPr wrap="square" lIns="0" tIns="0" rIns="0" bIns="0" rtlCol="0" anchor="ctr"/>
          <a:lstStyle/>
          <a:p>
            <a:pPr algn="ctr" indent="0" marL="0">
              <a:buNone/>
            </a:pPr>
            <a:r>
              <a:rPr lang="en-US" sz="1000" b="1" spc="120" kern="0" dirty="0">
                <a:solidFill>
                  <a:srgbClr val="E7C766"/>
                </a:solidFill>
                <a:latin typeface="Arial" pitchFamily="34" charset="0"/>
                <a:ea typeface="Arial" pitchFamily="34" charset="-122"/>
                <a:cs typeface="Arial" pitchFamily="34" charset="-120"/>
              </a:rPr>
              <a:t>RUN</a:t>
            </a:r>
            <a:endParaRPr lang="en-US" sz="1000" dirty="0"/>
          </a:p>
        </p:txBody>
      </p:sp>
      <p:sp>
        <p:nvSpPr>
          <p:cNvPr id="25" name="Shape 23"/>
          <p:cNvSpPr/>
          <p:nvPr/>
        </p:nvSpPr>
        <p:spPr>
          <a:xfrm>
            <a:off x="2606650" y="2999842"/>
            <a:ext cx="566928" cy="566928"/>
          </a:xfrm>
          <a:prstGeom prst="ellipse">
            <a:avLst/>
          </a:prstGeom>
          <a:solidFill>
            <a:srgbClr val="14213D"/>
          </a:solidFill>
          <a:ln w="12700">
            <a:solidFill>
              <a:srgbClr val="C9A227"/>
            </a:solidFill>
            <a:prstDash val="solid"/>
          </a:ln>
        </p:spPr>
      </p:sp>
      <p:sp>
        <p:nvSpPr>
          <p:cNvPr id="26" name="Text 24"/>
          <p:cNvSpPr/>
          <p:nvPr/>
        </p:nvSpPr>
        <p:spPr>
          <a:xfrm>
            <a:off x="2606650" y="2999842"/>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04</a:t>
            </a:r>
            <a:endParaRPr lang="en-US" sz="1200" dirty="0"/>
          </a:p>
        </p:txBody>
      </p:sp>
      <p:sp>
        <p:nvSpPr>
          <p:cNvPr id="27" name="Text 25"/>
          <p:cNvSpPr/>
          <p:nvPr/>
        </p:nvSpPr>
        <p:spPr>
          <a:xfrm>
            <a:off x="1622146" y="3157576"/>
            <a:ext cx="856488" cy="251460"/>
          </a:xfrm>
          <a:prstGeom prst="rect">
            <a:avLst/>
          </a:prstGeom>
          <a:noFill/>
          <a:ln/>
        </p:spPr>
        <p:txBody>
          <a:bodyPr wrap="square" lIns="0" tIns="0" rIns="0" bIns="0" rtlCol="0" anchor="ctr"/>
          <a:lstStyle/>
          <a:p>
            <a:pPr algn="r" indent="0" marL="0">
              <a:buNone/>
            </a:pPr>
            <a:r>
              <a:rPr lang="en-US" sz="1000" b="1" spc="120" kern="0" dirty="0">
                <a:solidFill>
                  <a:srgbClr val="E7C766"/>
                </a:solidFill>
                <a:latin typeface="Arial" pitchFamily="34" charset="0"/>
                <a:ea typeface="Arial" pitchFamily="34" charset="-122"/>
                <a:cs typeface="Arial" pitchFamily="34" charset="-120"/>
              </a:rPr>
              <a:t>RETRAIN</a:t>
            </a:r>
            <a:endParaRPr lang="en-US" sz="1000" dirty="0"/>
          </a:p>
        </p:txBody>
      </p:sp>
      <p:sp>
        <p:nvSpPr>
          <p:cNvPr id="28" name="Text 26"/>
          <p:cNvSpPr/>
          <p:nvPr/>
        </p:nvSpPr>
        <p:spPr>
          <a:xfrm>
            <a:off x="6903720" y="1793443"/>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01  </a:t>
            </a:r>
            <a:pPr indent="0" marL="0">
              <a:buNone/>
            </a:pPr>
            <a:r>
              <a:rPr lang="en-US" sz="1300" b="1" spc="100" kern="0" dirty="0">
                <a:solidFill>
                  <a:srgbClr val="F7F3EA"/>
                </a:solidFill>
                <a:latin typeface="Arial" pitchFamily="34" charset="0"/>
                <a:ea typeface="Arial" pitchFamily="34" charset="-122"/>
                <a:cs typeface="Arial" pitchFamily="34" charset="-120"/>
              </a:rPr>
              <a:t>CONNECT</a:t>
            </a:r>
            <a:endParaRPr lang="en-US" sz="1300" dirty="0"/>
          </a:p>
        </p:txBody>
      </p:sp>
      <p:sp>
        <p:nvSpPr>
          <p:cNvPr id="29" name="Text 27"/>
          <p:cNvSpPr/>
          <p:nvPr/>
        </p:nvSpPr>
        <p:spPr>
          <a:xfrm>
            <a:off x="6903720" y="2111197"/>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Work comes in.</a:t>
            </a:r>
            <a:endParaRPr lang="en-US" sz="1200" dirty="0"/>
          </a:p>
        </p:txBody>
      </p:sp>
      <p:sp>
        <p:nvSpPr>
          <p:cNvPr id="30" name="Text 28"/>
          <p:cNvSpPr/>
          <p:nvPr/>
        </p:nvSpPr>
        <p:spPr>
          <a:xfrm>
            <a:off x="6903720" y="2540965"/>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02  </a:t>
            </a:r>
            <a:pPr indent="0" marL="0">
              <a:buNone/>
            </a:pPr>
            <a:r>
              <a:rPr lang="en-US" sz="1300" b="1" spc="100" kern="0" dirty="0">
                <a:solidFill>
                  <a:srgbClr val="F7F3EA"/>
                </a:solidFill>
                <a:latin typeface="Arial" pitchFamily="34" charset="0"/>
                <a:ea typeface="Arial" pitchFamily="34" charset="-122"/>
                <a:cs typeface="Arial" pitchFamily="34" charset="-120"/>
              </a:rPr>
              <a:t>TEACH</a:t>
            </a:r>
            <a:endParaRPr lang="en-US" sz="1300" dirty="0"/>
          </a:p>
        </p:txBody>
      </p:sp>
      <p:sp>
        <p:nvSpPr>
          <p:cNvPr id="31" name="Text 29"/>
          <p:cNvSpPr/>
          <p:nvPr/>
        </p:nvSpPr>
        <p:spPr>
          <a:xfrm>
            <a:off x="6903720" y="2858719"/>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Write the rules down once.</a:t>
            </a:r>
            <a:endParaRPr lang="en-US" sz="1200" dirty="0"/>
          </a:p>
        </p:txBody>
      </p:sp>
      <p:sp>
        <p:nvSpPr>
          <p:cNvPr id="32" name="Text 30"/>
          <p:cNvSpPr/>
          <p:nvPr/>
        </p:nvSpPr>
        <p:spPr>
          <a:xfrm>
            <a:off x="6903720" y="3288487"/>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03  </a:t>
            </a:r>
            <a:pPr indent="0" marL="0">
              <a:buNone/>
            </a:pPr>
            <a:r>
              <a:rPr lang="en-US" sz="1300" b="1" spc="100" kern="0" dirty="0">
                <a:solidFill>
                  <a:srgbClr val="F7F3EA"/>
                </a:solidFill>
                <a:latin typeface="Arial" pitchFamily="34" charset="0"/>
                <a:ea typeface="Arial" pitchFamily="34" charset="-122"/>
                <a:cs typeface="Arial" pitchFamily="34" charset="-120"/>
              </a:rPr>
              <a:t>RUN</a:t>
            </a:r>
            <a:endParaRPr lang="en-US" sz="1300" dirty="0"/>
          </a:p>
        </p:txBody>
      </p:sp>
      <p:sp>
        <p:nvSpPr>
          <p:cNvPr id="33" name="Text 31"/>
          <p:cNvSpPr/>
          <p:nvPr/>
        </p:nvSpPr>
        <p:spPr>
          <a:xfrm>
            <a:off x="6903720" y="3606241"/>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The work gets done, on a schedule.</a:t>
            </a:r>
            <a:endParaRPr lang="en-US" sz="1200" dirty="0"/>
          </a:p>
        </p:txBody>
      </p:sp>
      <p:sp>
        <p:nvSpPr>
          <p:cNvPr id="34" name="Text 32"/>
          <p:cNvSpPr/>
          <p:nvPr/>
        </p:nvSpPr>
        <p:spPr>
          <a:xfrm>
            <a:off x="6903720" y="4036009"/>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04  </a:t>
            </a:r>
            <a:pPr indent="0" marL="0">
              <a:buNone/>
            </a:pPr>
            <a:r>
              <a:rPr lang="en-US" sz="1300" b="1" spc="100" kern="0" dirty="0">
                <a:solidFill>
                  <a:srgbClr val="F7F3EA"/>
                </a:solidFill>
                <a:latin typeface="Arial" pitchFamily="34" charset="0"/>
                <a:ea typeface="Arial" pitchFamily="34" charset="-122"/>
                <a:cs typeface="Arial" pitchFamily="34" charset="-120"/>
              </a:rPr>
              <a:t>RETRAIN</a:t>
            </a:r>
            <a:endParaRPr lang="en-US" sz="1300" dirty="0"/>
          </a:p>
        </p:txBody>
      </p:sp>
      <p:sp>
        <p:nvSpPr>
          <p:cNvPr id="35" name="Text 33"/>
          <p:cNvSpPr/>
          <p:nvPr/>
        </p:nvSpPr>
        <p:spPr>
          <a:xfrm>
            <a:off x="6903720" y="4353763"/>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Look at what came back. Fix the rules.</a:t>
            </a:r>
            <a:endParaRPr lang="en-US" sz="1200" dirty="0"/>
          </a:p>
        </p:txBody>
      </p:sp>
      <p:sp>
        <p:nvSpPr>
          <p:cNvPr id="36" name="Text 34"/>
          <p:cNvSpPr/>
          <p:nvPr/>
        </p:nvSpPr>
        <p:spPr>
          <a:xfrm>
            <a:off x="813816" y="4937760"/>
            <a:ext cx="10570464" cy="507492"/>
          </a:xfrm>
          <a:prstGeom prst="rect">
            <a:avLst/>
          </a:prstGeom>
          <a:noFill/>
          <a:ln/>
        </p:spPr>
        <p:txBody>
          <a:bodyPr wrap="square" lIns="0" tIns="0" rIns="0" bIns="0" rtlCol="0" anchor="t"/>
          <a:lstStyle/>
          <a:p>
            <a:pPr algn="l" indent="0" marL="0">
              <a:lnSpc>
                <a:spcPct val="116000"/>
              </a:lnSpc>
              <a:buNone/>
            </a:pPr>
            <a:r>
              <a:rPr lang="en-US" sz="1300" b="1" dirty="0">
                <a:solidFill>
                  <a:srgbClr val="E7C766"/>
                </a:solidFill>
                <a:latin typeface="Arial" pitchFamily="34" charset="0"/>
                <a:ea typeface="Arial" pitchFamily="34" charset="-122"/>
                <a:cs typeface="Arial" pitchFamily="34" charset="-120"/>
              </a:rPr>
              <a:t>Email. Invoices. Hiring. Support tickets. Same four stops. Most are left open: people build the first three and never come back for the fourth.</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5</a:t>
            </a:r>
            <a:endParaRPr lang="en-US" sz="900" dirty="0"/>
          </a:p>
        </p:txBody>
      </p:sp>
      <p:sp>
        <p:nvSpPr>
          <p:cNvPr id="7" name="Text 5"/>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WHAT MACHINE LEARNING ACTUALLY IS</a:t>
            </a:r>
            <a:endParaRPr lang="en-US" sz="12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Machine learning runs the same loop.</a:t>
            </a:r>
            <a:endParaRPr lang="en-US" sz="4000" dirty="0"/>
          </a:p>
        </p:txBody>
      </p:sp>
      <p:sp>
        <p:nvSpPr>
          <p:cNvPr id="9" name="Shape 7"/>
          <p:cNvSpPr/>
          <p:nvPr/>
        </p:nvSpPr>
        <p:spPr>
          <a:xfrm>
            <a:off x="2954122" y="2424379"/>
            <a:ext cx="1589837" cy="1589837"/>
          </a:xfrm>
          <a:prstGeom prst="ellipse">
            <a:avLst/>
          </a:prstGeom>
          <a:ln w="12700">
            <a:solidFill>
              <a:srgbClr val="C9A227"/>
            </a:solidFill>
            <a:prstDash val="solid"/>
          </a:ln>
        </p:spPr>
      </p:sp>
      <p:sp>
        <p:nvSpPr>
          <p:cNvPr id="10" name="Shape 8"/>
          <p:cNvSpPr/>
          <p:nvPr/>
        </p:nvSpPr>
        <p:spPr>
          <a:xfrm rot="8100000">
            <a:off x="4263583" y="2591826"/>
            <a:ext cx="95098" cy="130759"/>
          </a:xfrm>
          <a:prstGeom prst="triangle">
            <a:avLst/>
          </a:prstGeom>
          <a:solidFill>
            <a:srgbClr val="C9A227"/>
          </a:solidFill>
          <a:ln/>
        </p:spPr>
      </p:sp>
      <p:sp>
        <p:nvSpPr>
          <p:cNvPr id="11" name="Shape 9"/>
          <p:cNvSpPr/>
          <p:nvPr/>
        </p:nvSpPr>
        <p:spPr>
          <a:xfrm rot="13500000">
            <a:off x="4263583" y="3716010"/>
            <a:ext cx="95098" cy="130759"/>
          </a:xfrm>
          <a:prstGeom prst="triangle">
            <a:avLst/>
          </a:prstGeom>
          <a:solidFill>
            <a:srgbClr val="C9A227"/>
          </a:solidFill>
          <a:ln/>
        </p:spPr>
      </p:sp>
      <p:sp>
        <p:nvSpPr>
          <p:cNvPr id="12" name="Shape 10"/>
          <p:cNvSpPr/>
          <p:nvPr/>
        </p:nvSpPr>
        <p:spPr>
          <a:xfrm rot="18900000">
            <a:off x="3139399" y="3716010"/>
            <a:ext cx="95098" cy="130759"/>
          </a:xfrm>
          <a:prstGeom prst="triangle">
            <a:avLst/>
          </a:prstGeom>
          <a:solidFill>
            <a:srgbClr val="C9A227"/>
          </a:solidFill>
          <a:ln/>
        </p:spPr>
      </p:sp>
      <p:sp>
        <p:nvSpPr>
          <p:cNvPr id="13" name="Shape 11"/>
          <p:cNvSpPr/>
          <p:nvPr/>
        </p:nvSpPr>
        <p:spPr>
          <a:xfrm rot="2700000">
            <a:off x="3139399" y="2591826"/>
            <a:ext cx="95098" cy="130759"/>
          </a:xfrm>
          <a:prstGeom prst="triangle">
            <a:avLst/>
          </a:prstGeom>
          <a:solidFill>
            <a:srgbClr val="C9A227"/>
          </a:solidFill>
          <a:ln/>
        </p:spPr>
      </p:sp>
      <p:sp>
        <p:nvSpPr>
          <p:cNvPr id="14" name="Shape 12"/>
          <p:cNvSpPr/>
          <p:nvPr/>
        </p:nvSpPr>
        <p:spPr>
          <a:xfrm>
            <a:off x="3287987" y="2758245"/>
            <a:ext cx="922105" cy="922105"/>
          </a:xfrm>
          <a:prstGeom prst="ellipse">
            <a:avLst/>
          </a:prstGeom>
          <a:solidFill>
            <a:srgbClr val="14213D"/>
          </a:solidFill>
          <a:ln/>
        </p:spPr>
      </p:sp>
      <p:sp>
        <p:nvSpPr>
          <p:cNvPr id="15" name="Text 13"/>
          <p:cNvSpPr/>
          <p:nvPr/>
        </p:nvSpPr>
        <p:spPr>
          <a:xfrm>
            <a:off x="3333707" y="3021178"/>
            <a:ext cx="830665" cy="396240"/>
          </a:xfrm>
          <a:prstGeom prst="rect">
            <a:avLst/>
          </a:prstGeom>
          <a:noFill/>
          <a:ln/>
        </p:spPr>
        <p:txBody>
          <a:bodyPr wrap="square" lIns="0" tIns="0" rIns="0" bIns="0" rtlCol="0" anchor="ctr"/>
          <a:lstStyle/>
          <a:p>
            <a:pPr algn="ctr" indent="0" marL="0">
              <a:lnSpc>
                <a:spcPct val="102000"/>
              </a:lnSpc>
              <a:buNone/>
            </a:pPr>
            <a:r>
              <a:rPr lang="en-US" sz="1200" b="1" dirty="0">
                <a:solidFill>
                  <a:srgbClr val="F7F3EA"/>
                </a:solidFill>
                <a:latin typeface="Georgia" pitchFamily="34" charset="0"/>
                <a:ea typeface="Georgia" pitchFamily="34" charset="-122"/>
                <a:cs typeface="Georgia" pitchFamily="34" charset="-120"/>
              </a:rPr>
              <a:t>THE</a:t>
            </a:r>
            <a:endParaRPr lang="en-US" sz="1200" dirty="0"/>
          </a:p>
          <a:p>
            <a:pPr algn="ctr" indent="0" marL="0">
              <a:lnSpc>
                <a:spcPct val="102000"/>
              </a:lnSpc>
              <a:buNone/>
            </a:pPr>
            <a:r>
              <a:rPr lang="en-US" sz="1200" b="1" dirty="0">
                <a:solidFill>
                  <a:srgbClr val="F7F3EA"/>
                </a:solidFill>
                <a:latin typeface="Georgia" pitchFamily="34" charset="0"/>
                <a:ea typeface="Georgia" pitchFamily="34" charset="-122"/>
                <a:cs typeface="Georgia" pitchFamily="34" charset="-120"/>
              </a:rPr>
              <a:t>MODEL</a:t>
            </a:r>
            <a:endParaRPr lang="en-US" sz="1200" dirty="0"/>
          </a:p>
        </p:txBody>
      </p:sp>
      <p:sp>
        <p:nvSpPr>
          <p:cNvPr id="16" name="Shape 14"/>
          <p:cNvSpPr/>
          <p:nvPr/>
        </p:nvSpPr>
        <p:spPr>
          <a:xfrm>
            <a:off x="3465576" y="2140915"/>
            <a:ext cx="566928" cy="566928"/>
          </a:xfrm>
          <a:prstGeom prst="ellipse">
            <a:avLst/>
          </a:prstGeom>
          <a:solidFill>
            <a:srgbClr val="F7F3EA"/>
          </a:solidFill>
          <a:ln w="12700">
            <a:solidFill>
              <a:srgbClr val="C9A227"/>
            </a:solidFill>
            <a:prstDash val="solid"/>
          </a:ln>
        </p:spPr>
      </p:sp>
      <p:sp>
        <p:nvSpPr>
          <p:cNvPr id="17" name="Text 15"/>
          <p:cNvSpPr/>
          <p:nvPr/>
        </p:nvSpPr>
        <p:spPr>
          <a:xfrm>
            <a:off x="3465576" y="2140915"/>
            <a:ext cx="566928" cy="56692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01</a:t>
            </a:r>
            <a:endParaRPr lang="en-US" sz="1200" dirty="0"/>
          </a:p>
        </p:txBody>
      </p:sp>
      <p:sp>
        <p:nvSpPr>
          <p:cNvPr id="18" name="Text 16"/>
          <p:cNvSpPr/>
          <p:nvPr/>
        </p:nvSpPr>
        <p:spPr>
          <a:xfrm>
            <a:off x="2962656" y="1816303"/>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CONNECT</a:t>
            </a:r>
            <a:endParaRPr lang="en-US" sz="1000" dirty="0"/>
          </a:p>
        </p:txBody>
      </p:sp>
      <p:sp>
        <p:nvSpPr>
          <p:cNvPr id="19" name="Shape 17"/>
          <p:cNvSpPr/>
          <p:nvPr/>
        </p:nvSpPr>
        <p:spPr>
          <a:xfrm>
            <a:off x="4260494" y="2935834"/>
            <a:ext cx="566928" cy="566928"/>
          </a:xfrm>
          <a:prstGeom prst="ellipse">
            <a:avLst/>
          </a:prstGeom>
          <a:solidFill>
            <a:srgbClr val="F7F3EA"/>
          </a:solidFill>
          <a:ln w="12700">
            <a:solidFill>
              <a:srgbClr val="C9A227"/>
            </a:solidFill>
            <a:prstDash val="solid"/>
          </a:ln>
        </p:spPr>
      </p:sp>
      <p:sp>
        <p:nvSpPr>
          <p:cNvPr id="20" name="Text 18"/>
          <p:cNvSpPr/>
          <p:nvPr/>
        </p:nvSpPr>
        <p:spPr>
          <a:xfrm>
            <a:off x="4260494" y="2935834"/>
            <a:ext cx="566928" cy="56692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02</a:t>
            </a:r>
            <a:endParaRPr lang="en-US" sz="1200" dirty="0"/>
          </a:p>
        </p:txBody>
      </p:sp>
      <p:sp>
        <p:nvSpPr>
          <p:cNvPr id="21" name="Text 19"/>
          <p:cNvSpPr/>
          <p:nvPr/>
        </p:nvSpPr>
        <p:spPr>
          <a:xfrm>
            <a:off x="4955438" y="3093568"/>
            <a:ext cx="643128" cy="251460"/>
          </a:xfrm>
          <a:prstGeom prst="rect">
            <a:avLst/>
          </a:prstGeom>
          <a:noFill/>
          <a:ln/>
        </p:spPr>
        <p:txBody>
          <a:bodyPr wrap="square" lIns="0" tIns="0" rIns="0" bIns="0" rtlCol="0" anchor="ctr"/>
          <a:lstStyle/>
          <a:p>
            <a:pPr algn="l" indent="0" marL="0">
              <a:buNone/>
            </a:pPr>
            <a:r>
              <a:rPr lang="en-US" sz="1000" b="1" spc="120" kern="0" dirty="0">
                <a:solidFill>
                  <a:srgbClr val="8A6D14"/>
                </a:solidFill>
                <a:latin typeface="Arial" pitchFamily="34" charset="0"/>
                <a:ea typeface="Arial" pitchFamily="34" charset="-122"/>
                <a:cs typeface="Arial" pitchFamily="34" charset="-120"/>
              </a:rPr>
              <a:t>TEACH</a:t>
            </a:r>
            <a:endParaRPr lang="en-US" sz="1000" dirty="0"/>
          </a:p>
        </p:txBody>
      </p:sp>
      <p:sp>
        <p:nvSpPr>
          <p:cNvPr id="22" name="Shape 20"/>
          <p:cNvSpPr/>
          <p:nvPr/>
        </p:nvSpPr>
        <p:spPr>
          <a:xfrm>
            <a:off x="3465576" y="3730752"/>
            <a:ext cx="566928" cy="566928"/>
          </a:xfrm>
          <a:prstGeom prst="ellipse">
            <a:avLst/>
          </a:prstGeom>
          <a:solidFill>
            <a:srgbClr val="F7F3EA"/>
          </a:solidFill>
          <a:ln w="12700">
            <a:solidFill>
              <a:srgbClr val="C9A227"/>
            </a:solidFill>
            <a:prstDash val="solid"/>
          </a:ln>
        </p:spPr>
      </p:sp>
      <p:sp>
        <p:nvSpPr>
          <p:cNvPr id="23" name="Text 21"/>
          <p:cNvSpPr/>
          <p:nvPr/>
        </p:nvSpPr>
        <p:spPr>
          <a:xfrm>
            <a:off x="3465576" y="3730752"/>
            <a:ext cx="566928" cy="56692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03</a:t>
            </a:r>
            <a:endParaRPr lang="en-US" sz="1200" dirty="0"/>
          </a:p>
        </p:txBody>
      </p:sp>
      <p:sp>
        <p:nvSpPr>
          <p:cNvPr id="24" name="Text 22"/>
          <p:cNvSpPr/>
          <p:nvPr/>
        </p:nvSpPr>
        <p:spPr>
          <a:xfrm>
            <a:off x="2962656" y="4370832"/>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RUN</a:t>
            </a:r>
            <a:endParaRPr lang="en-US" sz="1000" dirty="0"/>
          </a:p>
        </p:txBody>
      </p:sp>
      <p:sp>
        <p:nvSpPr>
          <p:cNvPr id="25" name="Shape 23"/>
          <p:cNvSpPr/>
          <p:nvPr/>
        </p:nvSpPr>
        <p:spPr>
          <a:xfrm>
            <a:off x="2670658" y="2935834"/>
            <a:ext cx="566928" cy="566928"/>
          </a:xfrm>
          <a:prstGeom prst="ellipse">
            <a:avLst/>
          </a:prstGeom>
          <a:solidFill>
            <a:srgbClr val="F7F3EA"/>
          </a:solidFill>
          <a:ln w="12700">
            <a:solidFill>
              <a:srgbClr val="C9A227"/>
            </a:solidFill>
            <a:prstDash val="solid"/>
          </a:ln>
        </p:spPr>
      </p:sp>
      <p:sp>
        <p:nvSpPr>
          <p:cNvPr id="26" name="Text 24"/>
          <p:cNvSpPr/>
          <p:nvPr/>
        </p:nvSpPr>
        <p:spPr>
          <a:xfrm>
            <a:off x="2670658" y="2935834"/>
            <a:ext cx="566928" cy="56692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04</a:t>
            </a:r>
            <a:endParaRPr lang="en-US" sz="1200" dirty="0"/>
          </a:p>
        </p:txBody>
      </p:sp>
      <p:sp>
        <p:nvSpPr>
          <p:cNvPr id="27" name="Text 25"/>
          <p:cNvSpPr/>
          <p:nvPr/>
        </p:nvSpPr>
        <p:spPr>
          <a:xfrm>
            <a:off x="1686154" y="3093568"/>
            <a:ext cx="856488" cy="251460"/>
          </a:xfrm>
          <a:prstGeom prst="rect">
            <a:avLst/>
          </a:prstGeom>
          <a:noFill/>
          <a:ln/>
        </p:spPr>
        <p:txBody>
          <a:bodyPr wrap="square" lIns="0" tIns="0" rIns="0" bIns="0" rtlCol="0" anchor="ctr"/>
          <a:lstStyle/>
          <a:p>
            <a:pPr algn="r" indent="0" marL="0">
              <a:buNone/>
            </a:pPr>
            <a:r>
              <a:rPr lang="en-US" sz="1000" b="1" spc="120" kern="0" dirty="0">
                <a:solidFill>
                  <a:srgbClr val="8A6D14"/>
                </a:solidFill>
                <a:latin typeface="Arial" pitchFamily="34" charset="0"/>
                <a:ea typeface="Arial" pitchFamily="34" charset="-122"/>
                <a:cs typeface="Arial" pitchFamily="34" charset="-120"/>
              </a:rPr>
              <a:t>RETRAIN</a:t>
            </a:r>
            <a:endParaRPr lang="en-US" sz="1000" dirty="0"/>
          </a:p>
        </p:txBody>
      </p:sp>
      <p:sp>
        <p:nvSpPr>
          <p:cNvPr id="28" name="Text 26"/>
          <p:cNvSpPr/>
          <p:nvPr/>
        </p:nvSpPr>
        <p:spPr>
          <a:xfrm>
            <a:off x="6903720" y="1793443"/>
            <a:ext cx="4480560" cy="299466"/>
          </a:xfrm>
          <a:prstGeom prst="rect">
            <a:avLst/>
          </a:prstGeom>
          <a:noFill/>
          <a:ln/>
        </p:spPr>
        <p:txBody>
          <a:bodyPr wrap="square" lIns="0" tIns="0" rIns="0" bIns="0" rtlCol="0" anchor="t"/>
          <a:lstStyle/>
          <a:p>
            <a:pPr indent="0" marL="0">
              <a:buNone/>
            </a:pPr>
            <a:r>
              <a:rPr lang="en-US" sz="1300" b="1" dirty="0">
                <a:solidFill>
                  <a:srgbClr val="8A6D14"/>
                </a:solidFill>
                <a:latin typeface="Arial" pitchFamily="34" charset="0"/>
                <a:ea typeface="Arial" pitchFamily="34" charset="-122"/>
                <a:cs typeface="Arial" pitchFamily="34" charset="-120"/>
              </a:rPr>
              <a:t>01  </a:t>
            </a:r>
            <a:pPr indent="0" marL="0">
              <a:buNone/>
            </a:pPr>
            <a:r>
              <a:rPr lang="en-US" sz="1300" b="1" spc="100" kern="0" dirty="0">
                <a:solidFill>
                  <a:srgbClr val="14213D"/>
                </a:solidFill>
                <a:latin typeface="Arial" pitchFamily="34" charset="0"/>
                <a:ea typeface="Arial" pitchFamily="34" charset="-122"/>
                <a:cs typeface="Arial" pitchFamily="34" charset="-120"/>
              </a:rPr>
              <a:t>CONNECT</a:t>
            </a:r>
            <a:endParaRPr lang="en-US" sz="1300" dirty="0"/>
          </a:p>
        </p:txBody>
      </p:sp>
      <p:sp>
        <p:nvSpPr>
          <p:cNvPr id="29" name="Text 27"/>
          <p:cNvSpPr/>
          <p:nvPr/>
        </p:nvSpPr>
        <p:spPr>
          <a:xfrm>
            <a:off x="6903720" y="2111197"/>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Collect the data.</a:t>
            </a:r>
            <a:endParaRPr lang="en-US" sz="1200" dirty="0"/>
          </a:p>
        </p:txBody>
      </p:sp>
      <p:sp>
        <p:nvSpPr>
          <p:cNvPr id="30" name="Text 28"/>
          <p:cNvSpPr/>
          <p:nvPr/>
        </p:nvSpPr>
        <p:spPr>
          <a:xfrm>
            <a:off x="6903720" y="2540965"/>
            <a:ext cx="4480560" cy="299466"/>
          </a:xfrm>
          <a:prstGeom prst="rect">
            <a:avLst/>
          </a:prstGeom>
          <a:noFill/>
          <a:ln/>
        </p:spPr>
        <p:txBody>
          <a:bodyPr wrap="square" lIns="0" tIns="0" rIns="0" bIns="0" rtlCol="0" anchor="t"/>
          <a:lstStyle/>
          <a:p>
            <a:pPr indent="0" marL="0">
              <a:buNone/>
            </a:pPr>
            <a:r>
              <a:rPr lang="en-US" sz="1300" b="1" dirty="0">
                <a:solidFill>
                  <a:srgbClr val="8A6D14"/>
                </a:solidFill>
                <a:latin typeface="Arial" pitchFamily="34" charset="0"/>
                <a:ea typeface="Arial" pitchFamily="34" charset="-122"/>
                <a:cs typeface="Arial" pitchFamily="34" charset="-120"/>
              </a:rPr>
              <a:t>02  </a:t>
            </a:r>
            <a:pPr indent="0" marL="0">
              <a:buNone/>
            </a:pPr>
            <a:r>
              <a:rPr lang="en-US" sz="1300" b="1" spc="100" kern="0" dirty="0">
                <a:solidFill>
                  <a:srgbClr val="14213D"/>
                </a:solidFill>
                <a:latin typeface="Arial" pitchFamily="34" charset="0"/>
                <a:ea typeface="Arial" pitchFamily="34" charset="-122"/>
                <a:cs typeface="Arial" pitchFamily="34" charset="-120"/>
              </a:rPr>
              <a:t>TEACH</a:t>
            </a:r>
            <a:endParaRPr lang="en-US" sz="1300" dirty="0"/>
          </a:p>
        </p:txBody>
      </p:sp>
      <p:sp>
        <p:nvSpPr>
          <p:cNvPr id="31" name="Text 29"/>
          <p:cNvSpPr/>
          <p:nvPr/>
        </p:nvSpPr>
        <p:spPr>
          <a:xfrm>
            <a:off x="6903720" y="2858719"/>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Train the model on it.</a:t>
            </a:r>
            <a:endParaRPr lang="en-US" sz="1200" dirty="0"/>
          </a:p>
        </p:txBody>
      </p:sp>
      <p:sp>
        <p:nvSpPr>
          <p:cNvPr id="32" name="Text 30"/>
          <p:cNvSpPr/>
          <p:nvPr/>
        </p:nvSpPr>
        <p:spPr>
          <a:xfrm>
            <a:off x="6903720" y="3288487"/>
            <a:ext cx="4480560" cy="299466"/>
          </a:xfrm>
          <a:prstGeom prst="rect">
            <a:avLst/>
          </a:prstGeom>
          <a:noFill/>
          <a:ln/>
        </p:spPr>
        <p:txBody>
          <a:bodyPr wrap="square" lIns="0" tIns="0" rIns="0" bIns="0" rtlCol="0" anchor="t"/>
          <a:lstStyle/>
          <a:p>
            <a:pPr indent="0" marL="0">
              <a:buNone/>
            </a:pPr>
            <a:r>
              <a:rPr lang="en-US" sz="1300" b="1" dirty="0">
                <a:solidFill>
                  <a:srgbClr val="8A6D14"/>
                </a:solidFill>
                <a:latin typeface="Arial" pitchFamily="34" charset="0"/>
                <a:ea typeface="Arial" pitchFamily="34" charset="-122"/>
                <a:cs typeface="Arial" pitchFamily="34" charset="-120"/>
              </a:rPr>
              <a:t>03  </a:t>
            </a:r>
            <a:pPr indent="0" marL="0">
              <a:buNone/>
            </a:pPr>
            <a:r>
              <a:rPr lang="en-US" sz="1300" b="1" spc="100" kern="0" dirty="0">
                <a:solidFill>
                  <a:srgbClr val="14213D"/>
                </a:solidFill>
                <a:latin typeface="Arial" pitchFamily="34" charset="0"/>
                <a:ea typeface="Arial" pitchFamily="34" charset="-122"/>
                <a:cs typeface="Arial" pitchFamily="34" charset="-120"/>
              </a:rPr>
              <a:t>RUN</a:t>
            </a:r>
            <a:endParaRPr lang="en-US" sz="1300" dirty="0"/>
          </a:p>
        </p:txBody>
      </p:sp>
      <p:sp>
        <p:nvSpPr>
          <p:cNvPr id="33" name="Text 31"/>
          <p:cNvSpPr/>
          <p:nvPr/>
        </p:nvSpPr>
        <p:spPr>
          <a:xfrm>
            <a:off x="6903720" y="3606241"/>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Put it to work and watch what it does.</a:t>
            </a:r>
            <a:endParaRPr lang="en-US" sz="1200" dirty="0"/>
          </a:p>
        </p:txBody>
      </p:sp>
      <p:sp>
        <p:nvSpPr>
          <p:cNvPr id="34" name="Text 32"/>
          <p:cNvSpPr/>
          <p:nvPr/>
        </p:nvSpPr>
        <p:spPr>
          <a:xfrm>
            <a:off x="6903720" y="4036009"/>
            <a:ext cx="4480560" cy="299466"/>
          </a:xfrm>
          <a:prstGeom prst="rect">
            <a:avLst/>
          </a:prstGeom>
          <a:noFill/>
          <a:ln/>
        </p:spPr>
        <p:txBody>
          <a:bodyPr wrap="square" lIns="0" tIns="0" rIns="0" bIns="0" rtlCol="0" anchor="t"/>
          <a:lstStyle/>
          <a:p>
            <a:pPr indent="0" marL="0">
              <a:buNone/>
            </a:pPr>
            <a:r>
              <a:rPr lang="en-US" sz="1300" b="1" dirty="0">
                <a:solidFill>
                  <a:srgbClr val="8A6D14"/>
                </a:solidFill>
                <a:latin typeface="Arial" pitchFamily="34" charset="0"/>
                <a:ea typeface="Arial" pitchFamily="34" charset="-122"/>
                <a:cs typeface="Arial" pitchFamily="34" charset="-120"/>
              </a:rPr>
              <a:t>04  </a:t>
            </a:r>
            <a:pPr indent="0" marL="0">
              <a:buNone/>
            </a:pPr>
            <a:r>
              <a:rPr lang="en-US" sz="1300" b="1" spc="100" kern="0" dirty="0">
                <a:solidFill>
                  <a:srgbClr val="14213D"/>
                </a:solidFill>
                <a:latin typeface="Arial" pitchFamily="34" charset="0"/>
                <a:ea typeface="Arial" pitchFamily="34" charset="-122"/>
                <a:cs typeface="Arial" pitchFamily="34" charset="-120"/>
              </a:rPr>
              <a:t>RETRAIN</a:t>
            </a:r>
            <a:endParaRPr lang="en-US" sz="1300" dirty="0"/>
          </a:p>
        </p:txBody>
      </p:sp>
      <p:sp>
        <p:nvSpPr>
          <p:cNvPr id="35" name="Text 33"/>
          <p:cNvSpPr/>
          <p:nvPr/>
        </p:nvSpPr>
        <p:spPr>
          <a:xfrm>
            <a:off x="6903720" y="4353763"/>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Compare results to what you wanted. Retrain.</a:t>
            </a:r>
            <a:endParaRPr lang="en-US" sz="1200" dirty="0"/>
          </a:p>
        </p:txBody>
      </p:sp>
      <p:sp>
        <p:nvSpPr>
          <p:cNvPr id="36" name="Text 34"/>
          <p:cNvSpPr/>
          <p:nvPr/>
        </p:nvSpPr>
        <p:spPr>
          <a:xfrm>
            <a:off x="813816" y="4809744"/>
            <a:ext cx="10570464" cy="507492"/>
          </a:xfrm>
          <a:prstGeom prst="rect">
            <a:avLst/>
          </a:prstGeom>
          <a:noFill/>
          <a:ln/>
        </p:spPr>
        <p:txBody>
          <a:bodyPr wrap="square" lIns="0" tIns="0" rIns="0" bIns="0" rtlCol="0" anchor="t"/>
          <a:lstStyle/>
          <a:p>
            <a:pPr algn="l" indent="0" marL="0">
              <a:lnSpc>
                <a:spcPct val="116000"/>
              </a:lnSpc>
              <a:buNone/>
            </a:pPr>
            <a:r>
              <a:rPr lang="en-US" sz="1300" b="1" dirty="0">
                <a:solidFill>
                  <a:srgbClr val="8A6D14"/>
                </a:solidFill>
                <a:latin typeface="Arial" pitchFamily="34" charset="0"/>
                <a:ea typeface="Arial" pitchFamily="34" charset="-122"/>
                <a:cs typeface="Arial" pitchFamily="34" charset="-120"/>
              </a:rPr>
              <a:t>Computer science has run this loop for over fifty years. Silicon Valley spent two years on the prompt. The prompt was never the hard part. You can ask the AI to write it. Step four was always the job.</a:t>
            </a:r>
            <a:endParaRPr lang="en-US" sz="1300" dirty="0"/>
          </a:p>
        </p:txBody>
      </p:sp>
      <p:sp>
        <p:nvSpPr>
          <p:cNvPr id="37" name="Text 35"/>
          <p:cNvSpPr/>
          <p:nvPr/>
        </p:nvSpPr>
        <p:spPr>
          <a:xfrm>
            <a:off x="813816" y="5486400"/>
            <a:ext cx="10570464" cy="164592"/>
          </a:xfrm>
          <a:prstGeom prst="rect">
            <a:avLst/>
          </a:prstGeom>
          <a:noFill/>
          <a:ln/>
        </p:spPr>
        <p:txBody>
          <a:bodyPr wrap="square" lIns="0" tIns="0" rIns="0" bIns="0" rtlCol="0" anchor="ctr"/>
          <a:lstStyle/>
          <a:p>
            <a:pPr algn="r" indent="0" marL="0">
              <a:buNone/>
            </a:pPr>
            <a:r>
              <a:rPr lang="en-US" sz="900" i="1" dirty="0">
                <a:solidFill>
                  <a:srgbClr val="5A6379"/>
                </a:solidFill>
                <a:latin typeface="Arial" pitchFamily="34" charset="0"/>
                <a:ea typeface="Arial" pitchFamily="34" charset="-122"/>
                <a:cs typeface="Arial" pitchFamily="34" charset="-120"/>
              </a:rPr>
              <a:t>The textbook version adds "evaluate" and "monitor"; we fold them into RUN and RETRAIN.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6</a:t>
            </a:r>
            <a:endParaRPr lang="en-US" sz="900" dirty="0"/>
          </a:p>
        </p:txBody>
      </p:sp>
      <p:sp>
        <p:nvSpPr>
          <p:cNvPr id="7" name="Text 5"/>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WHAT YOU BUILD IN THE NEXT HOUR</a:t>
            </a:r>
            <a:endParaRPr lang="en-US" sz="12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An agent is just a document.</a:t>
            </a:r>
            <a:endParaRPr lang="en-US" sz="4000" dirty="0"/>
          </a:p>
        </p:txBody>
      </p:sp>
      <p:sp>
        <p:nvSpPr>
          <p:cNvPr id="9" name="Shape 7"/>
          <p:cNvSpPr/>
          <p:nvPr/>
        </p:nvSpPr>
        <p:spPr>
          <a:xfrm>
            <a:off x="2890114" y="2424379"/>
            <a:ext cx="1717853" cy="1717853"/>
          </a:xfrm>
          <a:prstGeom prst="ellipse">
            <a:avLst/>
          </a:prstGeom>
          <a:ln w="12700">
            <a:solidFill>
              <a:srgbClr val="C9A227"/>
            </a:solidFill>
            <a:prstDash val="solid"/>
          </a:ln>
        </p:spPr>
      </p:sp>
      <p:sp>
        <p:nvSpPr>
          <p:cNvPr id="10" name="Shape 8"/>
          <p:cNvSpPr/>
          <p:nvPr/>
        </p:nvSpPr>
        <p:spPr>
          <a:xfrm rot="8100000">
            <a:off x="4308844" y="2610573"/>
            <a:ext cx="95098" cy="130759"/>
          </a:xfrm>
          <a:prstGeom prst="triangle">
            <a:avLst/>
          </a:prstGeom>
          <a:solidFill>
            <a:srgbClr val="C9A227"/>
          </a:solidFill>
          <a:ln/>
        </p:spPr>
      </p:sp>
      <p:sp>
        <p:nvSpPr>
          <p:cNvPr id="11" name="Shape 9"/>
          <p:cNvSpPr/>
          <p:nvPr/>
        </p:nvSpPr>
        <p:spPr>
          <a:xfrm rot="13500000">
            <a:off x="4308844" y="3825279"/>
            <a:ext cx="95098" cy="130759"/>
          </a:xfrm>
          <a:prstGeom prst="triangle">
            <a:avLst/>
          </a:prstGeom>
          <a:solidFill>
            <a:srgbClr val="C9A227"/>
          </a:solidFill>
          <a:ln/>
        </p:spPr>
      </p:sp>
      <p:sp>
        <p:nvSpPr>
          <p:cNvPr id="12" name="Shape 10"/>
          <p:cNvSpPr/>
          <p:nvPr/>
        </p:nvSpPr>
        <p:spPr>
          <a:xfrm rot="18900000">
            <a:off x="3094139" y="3825279"/>
            <a:ext cx="95098" cy="130759"/>
          </a:xfrm>
          <a:prstGeom prst="triangle">
            <a:avLst/>
          </a:prstGeom>
          <a:solidFill>
            <a:srgbClr val="C9A227"/>
          </a:solidFill>
          <a:ln/>
        </p:spPr>
      </p:sp>
      <p:sp>
        <p:nvSpPr>
          <p:cNvPr id="13" name="Shape 11"/>
          <p:cNvSpPr/>
          <p:nvPr/>
        </p:nvSpPr>
        <p:spPr>
          <a:xfrm rot="2700000">
            <a:off x="3094139" y="2610573"/>
            <a:ext cx="95098" cy="130759"/>
          </a:xfrm>
          <a:prstGeom prst="triangle">
            <a:avLst/>
          </a:prstGeom>
          <a:solidFill>
            <a:srgbClr val="C9A227"/>
          </a:solidFill>
          <a:ln/>
        </p:spPr>
      </p:sp>
      <p:sp>
        <p:nvSpPr>
          <p:cNvPr id="14" name="Shape 12"/>
          <p:cNvSpPr/>
          <p:nvPr/>
        </p:nvSpPr>
        <p:spPr>
          <a:xfrm>
            <a:off x="3250863" y="2785128"/>
            <a:ext cx="996355" cy="996355"/>
          </a:xfrm>
          <a:prstGeom prst="ellipse">
            <a:avLst/>
          </a:prstGeom>
          <a:solidFill>
            <a:srgbClr val="A31621"/>
          </a:solidFill>
          <a:ln/>
        </p:spPr>
      </p:sp>
      <p:sp>
        <p:nvSpPr>
          <p:cNvPr id="15" name="Text 13"/>
          <p:cNvSpPr/>
          <p:nvPr/>
        </p:nvSpPr>
        <p:spPr>
          <a:xfrm>
            <a:off x="3296583" y="3134716"/>
            <a:ext cx="904915" cy="297180"/>
          </a:xfrm>
          <a:prstGeom prst="rect">
            <a:avLst/>
          </a:prstGeom>
          <a:noFill/>
          <a:ln/>
        </p:spPr>
        <p:txBody>
          <a:bodyPr wrap="square" lIns="0" tIns="0" rIns="0" bIns="0" rtlCol="0" anchor="ctr"/>
          <a:lstStyle/>
          <a:p>
            <a:pPr algn="ctr" indent="0" marL="0">
              <a:lnSpc>
                <a:spcPct val="102000"/>
              </a:lnSpc>
              <a:buNone/>
            </a:pPr>
            <a:r>
              <a:rPr lang="en-US" sz="900" b="1" dirty="0">
                <a:solidFill>
                  <a:srgbClr val="FFFFFF"/>
                </a:solidFill>
                <a:latin typeface="Georgia" pitchFamily="34" charset="0"/>
                <a:ea typeface="Georgia" pitchFamily="34" charset="-122"/>
                <a:cs typeface="Georgia" pitchFamily="34" charset="-120"/>
              </a:rPr>
              <a:t>HER</a:t>
            </a:r>
            <a:endParaRPr lang="en-US" sz="900" dirty="0"/>
          </a:p>
          <a:p>
            <a:pPr algn="ctr" indent="0" marL="0">
              <a:lnSpc>
                <a:spcPct val="102000"/>
              </a:lnSpc>
              <a:buNone/>
            </a:pPr>
            <a:r>
              <a:rPr lang="en-US" sz="900" b="1" dirty="0">
                <a:solidFill>
                  <a:srgbClr val="FFFFFF"/>
                </a:solidFill>
                <a:latin typeface="Georgia" pitchFamily="34" charset="0"/>
                <a:ea typeface="Georgia" pitchFamily="34" charset="-122"/>
                <a:cs typeface="Georgia" pitchFamily="34" charset="-120"/>
              </a:rPr>
              <a:t>PLAYBOOK</a:t>
            </a:r>
            <a:endParaRPr lang="en-US" sz="900" dirty="0"/>
          </a:p>
        </p:txBody>
      </p:sp>
      <p:sp>
        <p:nvSpPr>
          <p:cNvPr id="16" name="Shape 14"/>
          <p:cNvSpPr/>
          <p:nvPr/>
        </p:nvSpPr>
        <p:spPr>
          <a:xfrm>
            <a:off x="3465576" y="2140915"/>
            <a:ext cx="566928" cy="566928"/>
          </a:xfrm>
          <a:prstGeom prst="ellipse">
            <a:avLst/>
          </a:prstGeom>
          <a:solidFill>
            <a:srgbClr val="14213D"/>
          </a:solidFill>
          <a:ln w="12700">
            <a:solidFill>
              <a:srgbClr val="C9A227"/>
            </a:solidFill>
            <a:prstDash val="solid"/>
          </a:ln>
        </p:spPr>
      </p:sp>
      <p:sp>
        <p:nvSpPr>
          <p:cNvPr id="17" name="Text 15"/>
          <p:cNvSpPr/>
          <p:nvPr/>
        </p:nvSpPr>
        <p:spPr>
          <a:xfrm>
            <a:off x="3465576" y="2140915"/>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01</a:t>
            </a:r>
            <a:endParaRPr lang="en-US" sz="1200" dirty="0"/>
          </a:p>
        </p:txBody>
      </p:sp>
      <p:sp>
        <p:nvSpPr>
          <p:cNvPr id="18" name="Text 16"/>
          <p:cNvSpPr/>
          <p:nvPr/>
        </p:nvSpPr>
        <p:spPr>
          <a:xfrm>
            <a:off x="2962656" y="1816303"/>
            <a:ext cx="1572768" cy="251460"/>
          </a:xfrm>
          <a:prstGeom prst="rect">
            <a:avLst/>
          </a:prstGeom>
          <a:noFill/>
          <a:ln/>
        </p:spPr>
        <p:txBody>
          <a:bodyPr wrap="square" lIns="0" tIns="0" rIns="0" bIns="0" rtlCol="0" anchor="ctr"/>
          <a:lstStyle/>
          <a:p>
            <a:pPr algn="ctr" indent="0" marL="0">
              <a:buNone/>
            </a:pPr>
            <a:r>
              <a:rPr lang="en-US" sz="1000" b="1" spc="120" kern="0" dirty="0">
                <a:solidFill>
                  <a:srgbClr val="E7C766"/>
                </a:solidFill>
                <a:latin typeface="Arial" pitchFamily="34" charset="0"/>
                <a:ea typeface="Arial" pitchFamily="34" charset="-122"/>
                <a:cs typeface="Arial" pitchFamily="34" charset="-120"/>
              </a:rPr>
              <a:t>CONNECT</a:t>
            </a:r>
            <a:endParaRPr lang="en-US" sz="1000" dirty="0"/>
          </a:p>
        </p:txBody>
      </p:sp>
      <p:sp>
        <p:nvSpPr>
          <p:cNvPr id="19" name="Shape 17"/>
          <p:cNvSpPr/>
          <p:nvPr/>
        </p:nvSpPr>
        <p:spPr>
          <a:xfrm>
            <a:off x="4324502" y="2999842"/>
            <a:ext cx="566928" cy="566928"/>
          </a:xfrm>
          <a:prstGeom prst="ellipse">
            <a:avLst/>
          </a:prstGeom>
          <a:solidFill>
            <a:srgbClr val="14213D"/>
          </a:solidFill>
          <a:ln w="12700">
            <a:solidFill>
              <a:srgbClr val="C9A227"/>
            </a:solidFill>
            <a:prstDash val="solid"/>
          </a:ln>
        </p:spPr>
      </p:sp>
      <p:sp>
        <p:nvSpPr>
          <p:cNvPr id="20" name="Text 18"/>
          <p:cNvSpPr/>
          <p:nvPr/>
        </p:nvSpPr>
        <p:spPr>
          <a:xfrm>
            <a:off x="4324502" y="2999842"/>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02</a:t>
            </a:r>
            <a:endParaRPr lang="en-US" sz="1200" dirty="0"/>
          </a:p>
        </p:txBody>
      </p:sp>
      <p:sp>
        <p:nvSpPr>
          <p:cNvPr id="21" name="Text 19"/>
          <p:cNvSpPr/>
          <p:nvPr/>
        </p:nvSpPr>
        <p:spPr>
          <a:xfrm>
            <a:off x="5019446" y="3157576"/>
            <a:ext cx="643128" cy="251460"/>
          </a:xfrm>
          <a:prstGeom prst="rect">
            <a:avLst/>
          </a:prstGeom>
          <a:noFill/>
          <a:ln/>
        </p:spPr>
        <p:txBody>
          <a:bodyPr wrap="square" lIns="0" tIns="0" rIns="0" bIns="0" rtlCol="0" anchor="ctr"/>
          <a:lstStyle/>
          <a:p>
            <a:pPr algn="l" indent="0" marL="0">
              <a:buNone/>
            </a:pPr>
            <a:r>
              <a:rPr lang="en-US" sz="1000" b="1" spc="120" kern="0" dirty="0">
                <a:solidFill>
                  <a:srgbClr val="E7C766"/>
                </a:solidFill>
                <a:latin typeface="Arial" pitchFamily="34" charset="0"/>
                <a:ea typeface="Arial" pitchFamily="34" charset="-122"/>
                <a:cs typeface="Arial" pitchFamily="34" charset="-120"/>
              </a:rPr>
              <a:t>TEACH</a:t>
            </a:r>
            <a:endParaRPr lang="en-US" sz="1000" dirty="0"/>
          </a:p>
        </p:txBody>
      </p:sp>
      <p:sp>
        <p:nvSpPr>
          <p:cNvPr id="22" name="Shape 20"/>
          <p:cNvSpPr/>
          <p:nvPr/>
        </p:nvSpPr>
        <p:spPr>
          <a:xfrm>
            <a:off x="3465576" y="3858768"/>
            <a:ext cx="566928" cy="566928"/>
          </a:xfrm>
          <a:prstGeom prst="ellipse">
            <a:avLst/>
          </a:prstGeom>
          <a:solidFill>
            <a:srgbClr val="14213D"/>
          </a:solidFill>
          <a:ln w="12700">
            <a:solidFill>
              <a:srgbClr val="C9A227"/>
            </a:solidFill>
            <a:prstDash val="solid"/>
          </a:ln>
        </p:spPr>
      </p:sp>
      <p:sp>
        <p:nvSpPr>
          <p:cNvPr id="23" name="Text 21"/>
          <p:cNvSpPr/>
          <p:nvPr/>
        </p:nvSpPr>
        <p:spPr>
          <a:xfrm>
            <a:off x="3465576" y="3858768"/>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03</a:t>
            </a:r>
            <a:endParaRPr lang="en-US" sz="1200" dirty="0"/>
          </a:p>
        </p:txBody>
      </p:sp>
      <p:sp>
        <p:nvSpPr>
          <p:cNvPr id="24" name="Text 22"/>
          <p:cNvSpPr/>
          <p:nvPr/>
        </p:nvSpPr>
        <p:spPr>
          <a:xfrm>
            <a:off x="2962656" y="4498848"/>
            <a:ext cx="1572768" cy="251460"/>
          </a:xfrm>
          <a:prstGeom prst="rect">
            <a:avLst/>
          </a:prstGeom>
          <a:noFill/>
          <a:ln/>
        </p:spPr>
        <p:txBody>
          <a:bodyPr wrap="square" lIns="0" tIns="0" rIns="0" bIns="0" rtlCol="0" anchor="ctr"/>
          <a:lstStyle/>
          <a:p>
            <a:pPr algn="ctr" indent="0" marL="0">
              <a:buNone/>
            </a:pPr>
            <a:r>
              <a:rPr lang="en-US" sz="1000" b="1" spc="120" kern="0" dirty="0">
                <a:solidFill>
                  <a:srgbClr val="E7C766"/>
                </a:solidFill>
                <a:latin typeface="Arial" pitchFamily="34" charset="0"/>
                <a:ea typeface="Arial" pitchFamily="34" charset="-122"/>
                <a:cs typeface="Arial" pitchFamily="34" charset="-120"/>
              </a:rPr>
              <a:t>RUN</a:t>
            </a:r>
            <a:endParaRPr lang="en-US" sz="1000" dirty="0"/>
          </a:p>
        </p:txBody>
      </p:sp>
      <p:sp>
        <p:nvSpPr>
          <p:cNvPr id="25" name="Shape 23"/>
          <p:cNvSpPr/>
          <p:nvPr/>
        </p:nvSpPr>
        <p:spPr>
          <a:xfrm>
            <a:off x="2606650" y="2999842"/>
            <a:ext cx="566928" cy="566928"/>
          </a:xfrm>
          <a:prstGeom prst="ellipse">
            <a:avLst/>
          </a:prstGeom>
          <a:solidFill>
            <a:srgbClr val="14213D"/>
          </a:solidFill>
          <a:ln w="12700">
            <a:solidFill>
              <a:srgbClr val="C9A227"/>
            </a:solidFill>
            <a:prstDash val="solid"/>
          </a:ln>
        </p:spPr>
      </p:sp>
      <p:sp>
        <p:nvSpPr>
          <p:cNvPr id="26" name="Text 24"/>
          <p:cNvSpPr/>
          <p:nvPr/>
        </p:nvSpPr>
        <p:spPr>
          <a:xfrm>
            <a:off x="2606650" y="2999842"/>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04</a:t>
            </a:r>
            <a:endParaRPr lang="en-US" sz="1200" dirty="0"/>
          </a:p>
        </p:txBody>
      </p:sp>
      <p:sp>
        <p:nvSpPr>
          <p:cNvPr id="27" name="Text 25"/>
          <p:cNvSpPr/>
          <p:nvPr/>
        </p:nvSpPr>
        <p:spPr>
          <a:xfrm>
            <a:off x="1622146" y="3157576"/>
            <a:ext cx="856488" cy="251460"/>
          </a:xfrm>
          <a:prstGeom prst="rect">
            <a:avLst/>
          </a:prstGeom>
          <a:noFill/>
          <a:ln/>
        </p:spPr>
        <p:txBody>
          <a:bodyPr wrap="square" lIns="0" tIns="0" rIns="0" bIns="0" rtlCol="0" anchor="ctr"/>
          <a:lstStyle/>
          <a:p>
            <a:pPr algn="r" indent="0" marL="0">
              <a:buNone/>
            </a:pPr>
            <a:r>
              <a:rPr lang="en-US" sz="1000" b="1" spc="120" kern="0" dirty="0">
                <a:solidFill>
                  <a:srgbClr val="E7C766"/>
                </a:solidFill>
                <a:latin typeface="Arial" pitchFamily="34" charset="0"/>
                <a:ea typeface="Arial" pitchFamily="34" charset="-122"/>
                <a:cs typeface="Arial" pitchFamily="34" charset="-120"/>
              </a:rPr>
              <a:t>RETRAIN</a:t>
            </a:r>
            <a:endParaRPr lang="en-US" sz="1000" dirty="0"/>
          </a:p>
        </p:txBody>
      </p:sp>
      <p:sp>
        <p:nvSpPr>
          <p:cNvPr id="28" name="Text 26"/>
          <p:cNvSpPr/>
          <p:nvPr/>
        </p:nvSpPr>
        <p:spPr>
          <a:xfrm>
            <a:off x="6903720" y="1793443"/>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01  </a:t>
            </a:r>
            <a:pPr indent="0" marL="0">
              <a:buNone/>
            </a:pPr>
            <a:r>
              <a:rPr lang="en-US" sz="1300" b="1" spc="100" kern="0" dirty="0">
                <a:solidFill>
                  <a:srgbClr val="F7F3EA"/>
                </a:solidFill>
                <a:latin typeface="Arial" pitchFamily="34" charset="0"/>
                <a:ea typeface="Arial" pitchFamily="34" charset="-122"/>
                <a:cs typeface="Arial" pitchFamily="34" charset="-120"/>
              </a:rPr>
              <a:t>CONNECT</a:t>
            </a:r>
            <a:endParaRPr lang="en-US" sz="1300" dirty="0"/>
          </a:p>
        </p:txBody>
      </p:sp>
      <p:sp>
        <p:nvSpPr>
          <p:cNvPr id="29" name="Text 27"/>
          <p:cNvSpPr/>
          <p:nvPr/>
        </p:nvSpPr>
        <p:spPr>
          <a:xfrm>
            <a:off x="6903720" y="2111197"/>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Connect her to your inbox and calendar.</a:t>
            </a:r>
            <a:endParaRPr lang="en-US" sz="1200" dirty="0"/>
          </a:p>
        </p:txBody>
      </p:sp>
      <p:sp>
        <p:nvSpPr>
          <p:cNvPr id="30" name="Text 28"/>
          <p:cNvSpPr/>
          <p:nvPr/>
        </p:nvSpPr>
        <p:spPr>
          <a:xfrm>
            <a:off x="6903720" y="2540965"/>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02  </a:t>
            </a:r>
            <a:pPr indent="0" marL="0">
              <a:buNone/>
            </a:pPr>
            <a:r>
              <a:rPr lang="en-US" sz="1300" b="1" spc="100" kern="0" dirty="0">
                <a:solidFill>
                  <a:srgbClr val="F7F3EA"/>
                </a:solidFill>
                <a:latin typeface="Arial" pitchFamily="34" charset="0"/>
                <a:ea typeface="Arial" pitchFamily="34" charset="-122"/>
                <a:cs typeface="Arial" pitchFamily="34" charset="-120"/>
              </a:rPr>
              <a:t>TEACH</a:t>
            </a:r>
            <a:endParaRPr lang="en-US" sz="1300" dirty="0"/>
          </a:p>
        </p:txBody>
      </p:sp>
      <p:sp>
        <p:nvSpPr>
          <p:cNvPr id="31" name="Text 29"/>
          <p:cNvSpPr/>
          <p:nvPr/>
        </p:nvSpPr>
        <p:spPr>
          <a:xfrm>
            <a:off x="6903720" y="2858719"/>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Four questions. She writes her own playbook.</a:t>
            </a:r>
            <a:endParaRPr lang="en-US" sz="1200" dirty="0"/>
          </a:p>
        </p:txBody>
      </p:sp>
      <p:sp>
        <p:nvSpPr>
          <p:cNvPr id="32" name="Text 30"/>
          <p:cNvSpPr/>
          <p:nvPr/>
        </p:nvSpPr>
        <p:spPr>
          <a:xfrm>
            <a:off x="6903720" y="3288487"/>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03  </a:t>
            </a:r>
            <a:pPr indent="0" marL="0">
              <a:buNone/>
            </a:pPr>
            <a:r>
              <a:rPr lang="en-US" sz="1300" b="1" spc="100" kern="0" dirty="0">
                <a:solidFill>
                  <a:srgbClr val="F7F3EA"/>
                </a:solidFill>
                <a:latin typeface="Arial" pitchFamily="34" charset="0"/>
                <a:ea typeface="Arial" pitchFamily="34" charset="-122"/>
                <a:cs typeface="Arial" pitchFamily="34" charset="-120"/>
              </a:rPr>
              <a:t>RUN</a:t>
            </a:r>
            <a:endParaRPr lang="en-US" sz="1300" dirty="0"/>
          </a:p>
        </p:txBody>
      </p:sp>
      <p:sp>
        <p:nvSpPr>
          <p:cNvPr id="33" name="Text 31"/>
          <p:cNvSpPr/>
          <p:nvPr/>
        </p:nvSpPr>
        <p:spPr>
          <a:xfrm>
            <a:off x="6903720" y="3606241"/>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She takes the 4:30 shift, every weekday.</a:t>
            </a:r>
            <a:endParaRPr lang="en-US" sz="1200" dirty="0"/>
          </a:p>
        </p:txBody>
      </p:sp>
      <p:sp>
        <p:nvSpPr>
          <p:cNvPr id="34" name="Text 32"/>
          <p:cNvSpPr/>
          <p:nvPr/>
        </p:nvSpPr>
        <p:spPr>
          <a:xfrm>
            <a:off x="6903720" y="4036009"/>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04  </a:t>
            </a:r>
            <a:pPr indent="0" marL="0">
              <a:buNone/>
            </a:pPr>
            <a:r>
              <a:rPr lang="en-US" sz="1300" b="1" spc="100" kern="0" dirty="0">
                <a:solidFill>
                  <a:srgbClr val="F7F3EA"/>
                </a:solidFill>
                <a:latin typeface="Arial" pitchFamily="34" charset="0"/>
                <a:ea typeface="Arial" pitchFamily="34" charset="-122"/>
                <a:cs typeface="Arial" pitchFamily="34" charset="-120"/>
              </a:rPr>
              <a:t>RETRAIN</a:t>
            </a:r>
            <a:endParaRPr lang="en-US" sz="1300" dirty="0"/>
          </a:p>
        </p:txBody>
      </p:sp>
      <p:sp>
        <p:nvSpPr>
          <p:cNvPr id="35" name="Text 33"/>
          <p:cNvSpPr/>
          <p:nvPr/>
        </p:nvSpPr>
        <p:spPr>
          <a:xfrm>
            <a:off x="6903720" y="4353763"/>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Fridays, she reviews her week. You sign it.</a:t>
            </a:r>
            <a:endParaRPr lang="en-US" sz="1200" dirty="0"/>
          </a:p>
        </p:txBody>
      </p:sp>
      <p:sp>
        <p:nvSpPr>
          <p:cNvPr id="36" name="Text 34"/>
          <p:cNvSpPr/>
          <p:nvPr/>
        </p:nvSpPr>
        <p:spPr>
          <a:xfrm>
            <a:off x="813816" y="4937760"/>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E7C766"/>
                </a:solidFill>
                <a:latin typeface="Arial" pitchFamily="34" charset="0"/>
                <a:ea typeface="Arial" pitchFamily="34" charset="-122"/>
                <a:cs typeface="Arial" pitchFamily="34" charset="-120"/>
              </a:rPr>
              <a:t>You are not retraining Claude. You are retraining Donna. And Donna is a document you own.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A31621"/>
        </a:solidFill>
      </p:bgPr>
    </p:bg>
    <p:spTree>
      <p:nvGrpSpPr>
        <p:cNvPr id="1" name=""/>
        <p:cNvGrpSpPr/>
        <p:nvPr/>
      </p:nvGrpSpPr>
      <p:grpSpPr>
        <a:xfrm>
          <a:off x="0" y="0"/>
          <a:ext cx="0" cy="0"/>
          <a:chOff x="0" y="0"/>
          <a:chExt cx="0" cy="0"/>
        </a:xfrm>
      </p:grpSpPr>
      <p:sp>
        <p:nvSpPr>
          <p:cNvPr id="2" name="Shape 0"/>
          <p:cNvSpPr/>
          <p:nvPr/>
        </p:nvSpPr>
        <p:spPr>
          <a:xfrm rot="2700000">
            <a:off x="6050585" y="1920240"/>
            <a:ext cx="109728" cy="109728"/>
          </a:xfrm>
          <a:prstGeom prst="rect">
            <a:avLst/>
          </a:prstGeom>
          <a:solidFill>
            <a:srgbClr val="FFFFFF"/>
          </a:solidFill>
          <a:ln w="3175">
            <a:solidFill>
              <a:srgbClr val="FFFFFF"/>
            </a:solidFill>
            <a:prstDash val="solid"/>
          </a:ln>
        </p:spPr>
      </p:sp>
      <p:sp>
        <p:nvSpPr>
          <p:cNvPr id="3" name="Text 1"/>
          <p:cNvSpPr/>
          <p:nvPr/>
        </p:nvSpPr>
        <p:spPr>
          <a:xfrm>
            <a:off x="1066648" y="2395728"/>
            <a:ext cx="10058400" cy="1107765"/>
          </a:xfrm>
          <a:prstGeom prst="rect">
            <a:avLst/>
          </a:prstGeom>
          <a:noFill/>
          <a:ln/>
        </p:spPr>
        <p:txBody>
          <a:bodyPr wrap="square" lIns="0" tIns="0" rIns="0" bIns="0" rtlCol="0" anchor="t"/>
          <a:lstStyle/>
          <a:p>
            <a:pPr algn="ctr" indent="0" marL="0">
              <a:buNone/>
            </a:pPr>
            <a:r>
              <a:rPr lang="en-US" sz="6200" b="1" dirty="0">
                <a:solidFill>
                  <a:srgbClr val="FFFFFF"/>
                </a:solidFill>
                <a:latin typeface="Georgia" pitchFamily="34" charset="0"/>
                <a:ea typeface="Georgia" pitchFamily="34" charset="-122"/>
                <a:cs typeface="Georgia" pitchFamily="34" charset="-120"/>
              </a:rPr>
              <a:t>She never sends. Ever.</a:t>
            </a:r>
            <a:endParaRPr lang="en-US" sz="6200" dirty="0"/>
          </a:p>
        </p:txBody>
      </p:sp>
      <p:sp>
        <p:nvSpPr>
          <p:cNvPr id="4" name="Text 2"/>
          <p:cNvSpPr/>
          <p:nvPr/>
        </p:nvSpPr>
        <p:spPr>
          <a:xfrm>
            <a:off x="1737360" y="3814389"/>
            <a:ext cx="8714232" cy="640080"/>
          </a:xfrm>
          <a:prstGeom prst="rect">
            <a:avLst/>
          </a:prstGeom>
          <a:noFill/>
          <a:ln/>
        </p:spPr>
        <p:txBody>
          <a:bodyPr wrap="square" lIns="0" tIns="0" rIns="0" bIns="0" rtlCol="0" anchor="t"/>
          <a:lstStyle/>
          <a:p>
            <a:pPr algn="ctr" indent="0" marL="0">
              <a:lnSpc>
                <a:spcPct val="116000"/>
              </a:lnSpc>
              <a:buNone/>
            </a:pPr>
            <a:r>
              <a:rPr lang="en-US" sz="1500" dirty="0">
                <a:solidFill>
                  <a:srgbClr val="FFFFFF"/>
                </a:solidFill>
                <a:latin typeface="Arial" pitchFamily="34" charset="0"/>
                <a:ea typeface="Arial" pitchFamily="34" charset="-122"/>
                <a:cs typeface="Arial" pitchFamily="34" charset="-120"/>
              </a:rPr>
              <a:t>She never deletes. She can read your inbox and your calendar, write drafts, and put events on your calendar. That is her whole job description, and it is written into her playbook.</a:t>
            </a:r>
            <a:endParaRPr lang="en-US" sz="1500" dirty="0"/>
          </a:p>
        </p:txBody>
      </p:sp>
      <p:sp>
        <p:nvSpPr>
          <p:cNvPr id="5" name="Text 3"/>
          <p:cNvSpPr/>
          <p:nvPr/>
        </p:nvSpPr>
        <p:spPr>
          <a:xfrm>
            <a:off x="1737360" y="4600773"/>
            <a:ext cx="8714232" cy="292608"/>
          </a:xfrm>
          <a:prstGeom prst="rect">
            <a:avLst/>
          </a:prstGeom>
          <a:noFill/>
          <a:ln/>
        </p:spPr>
        <p:txBody>
          <a:bodyPr wrap="square" lIns="0" tIns="0" rIns="0" bIns="0" rtlCol="0" anchor="ctr"/>
          <a:lstStyle/>
          <a:p>
            <a:pPr algn="ctr" indent="0" marL="0">
              <a:buNone/>
            </a:pPr>
            <a:r>
              <a:rPr lang="en-US" sz="1300" i="1" dirty="0">
                <a:solidFill>
                  <a:srgbClr val="FFFFFF"/>
                </a:solidFill>
                <a:latin typeface="Arial" pitchFamily="34" charset="0"/>
                <a:ea typeface="Arial" pitchFamily="34" charset="-122"/>
                <a:cs typeface="Arial" pitchFamily="34" charset="-120"/>
              </a:rPr>
              <a:t>Written into the skill itself: “Never send anything. Never delete anything.”</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8</a:t>
            </a:r>
            <a:endParaRPr lang="en-US" sz="900" dirty="0"/>
          </a:p>
        </p:txBody>
      </p:sp>
      <p:sp>
        <p:nvSpPr>
          <p:cNvPr id="7" name="Text 5"/>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HOUSE RULES</a:t>
            </a:r>
            <a:endParaRPr lang="en-US" sz="12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Five of them.</a:t>
            </a:r>
            <a:endParaRPr lang="en-US" sz="4000" dirty="0"/>
          </a:p>
        </p:txBody>
      </p:sp>
      <p:sp>
        <p:nvSpPr>
          <p:cNvPr id="9" name="Text 7"/>
          <p:cNvSpPr/>
          <p:nvPr/>
        </p:nvSpPr>
        <p:spPr>
          <a:xfrm>
            <a:off x="813816" y="1811731"/>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1</a:t>
            </a:r>
            <a:endParaRPr lang="en-US" sz="2600" dirty="0"/>
          </a:p>
        </p:txBody>
      </p:sp>
      <p:sp>
        <p:nvSpPr>
          <p:cNvPr id="10" name="Text 8"/>
          <p:cNvSpPr/>
          <p:nvPr/>
        </p:nvSpPr>
        <p:spPr>
          <a:xfrm>
            <a:off x="1417320" y="1848307"/>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She never sends. Drafts only. You are the send button.</a:t>
            </a:r>
            <a:endParaRPr lang="en-US" sz="1500" dirty="0"/>
          </a:p>
        </p:txBody>
      </p:sp>
      <p:sp>
        <p:nvSpPr>
          <p:cNvPr id="11" name="Text 9"/>
          <p:cNvSpPr/>
          <p:nvPr/>
        </p:nvSpPr>
        <p:spPr>
          <a:xfrm>
            <a:off x="813816" y="2415235"/>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2</a:t>
            </a:r>
            <a:endParaRPr lang="en-US" sz="2600" dirty="0"/>
          </a:p>
        </p:txBody>
      </p:sp>
      <p:sp>
        <p:nvSpPr>
          <p:cNvPr id="12" name="Text 10"/>
          <p:cNvSpPr/>
          <p:nvPr/>
        </p:nvSpPr>
        <p:spPr>
          <a:xfrm>
            <a:off x="1417320" y="2451811"/>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She never deletes. Nothing we do today is destructive.</a:t>
            </a:r>
            <a:endParaRPr lang="en-US" sz="1500" dirty="0"/>
          </a:p>
        </p:txBody>
      </p:sp>
      <p:sp>
        <p:nvSpPr>
          <p:cNvPr id="13" name="Text 11"/>
          <p:cNvSpPr/>
          <p:nvPr/>
        </p:nvSpPr>
        <p:spPr>
          <a:xfrm>
            <a:off x="813816" y="3018739"/>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3</a:t>
            </a:r>
            <a:endParaRPr lang="en-US" sz="2600" dirty="0"/>
          </a:p>
        </p:txBody>
      </p:sp>
      <p:sp>
        <p:nvSpPr>
          <p:cNvPr id="14" name="Text 12"/>
          <p:cNvSpPr/>
          <p:nvPr/>
        </p:nvSpPr>
        <p:spPr>
          <a:xfrm>
            <a:off x="1417320" y="3055315"/>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We move together. Every step ends at a checkpoint: type ✓ in the chat.</a:t>
            </a:r>
            <a:endParaRPr lang="en-US" sz="1500" dirty="0"/>
          </a:p>
        </p:txBody>
      </p:sp>
      <p:sp>
        <p:nvSpPr>
          <p:cNvPr id="15" name="Text 13"/>
          <p:cNvSpPr/>
          <p:nvPr/>
        </p:nvSpPr>
        <p:spPr>
          <a:xfrm>
            <a:off x="813816" y="3622243"/>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417320" y="3658819"/>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Copy buttons everywhere. Nobody types more than a sentence.</a:t>
            </a:r>
            <a:endParaRPr lang="en-US" sz="1500" dirty="0"/>
          </a:p>
        </p:txBody>
      </p:sp>
      <p:sp>
        <p:nvSpPr>
          <p:cNvPr id="17" name="Text 15"/>
          <p:cNvSpPr/>
          <p:nvPr/>
        </p:nvSpPr>
        <p:spPr>
          <a:xfrm>
            <a:off x="813816" y="4225747"/>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5</a:t>
            </a:r>
            <a:endParaRPr lang="en-US" sz="2600" dirty="0"/>
          </a:p>
        </p:txBody>
      </p:sp>
      <p:sp>
        <p:nvSpPr>
          <p:cNvPr id="18" name="Text 16"/>
          <p:cNvSpPr/>
          <p:nvPr/>
        </p:nvSpPr>
        <p:spPr>
          <a:xfrm>
            <a:off x="1417320" y="4262323"/>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No question is too small. Stuck for 60 seconds, type HELP in the chat.</a:t>
            </a:r>
            <a:endParaRPr lang="en-US" sz="1500" dirty="0"/>
          </a:p>
        </p:txBody>
      </p:sp>
      <p:sp>
        <p:nvSpPr>
          <p:cNvPr id="19" name="Text 17"/>
          <p:cNvSpPr/>
          <p:nvPr/>
        </p:nvSpPr>
        <p:spPr>
          <a:xfrm>
            <a:off x="813816" y="5296662"/>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E7C766"/>
                </a:solidFill>
                <a:latin typeface="Arial" pitchFamily="34" charset="0"/>
                <a:ea typeface="Arial" pitchFamily="34" charset="-122"/>
                <a:cs typeface="Arial" pitchFamily="34" charset="-120"/>
              </a:rPr>
              <a:t>If anything I just said did not compute, perfect. You are exactly who this is for.</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9</a:t>
            </a:r>
            <a:endParaRPr lang="en-US" sz="900" dirty="0"/>
          </a:p>
        </p:txBody>
      </p:sp>
      <p:sp>
        <p:nvSpPr>
          <p:cNvPr id="7" name="Text 5"/>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THE PLAN, EASTERN  ·  12:12 CONNECT  ·  12:26 TEACH  ·  12:40 RUN  ·  12:58 RETRAIN  ·  1:13 DONE</a:t>
            </a:r>
            <a:endParaRPr lang="en-US" sz="1200" dirty="0"/>
          </a:p>
        </p:txBody>
      </p:sp>
      <p:sp>
        <p:nvSpPr>
          <p:cNvPr id="8" name="Text 6"/>
          <p:cNvSpPr/>
          <p:nvPr/>
        </p:nvSpPr>
        <p:spPr>
          <a:xfrm>
            <a:off x="813816" y="841248"/>
            <a:ext cx="10570464"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Four steps. By 1:13 she’s working for you.</a:t>
            </a:r>
            <a:endParaRPr lang="en-US" sz="3400" dirty="0"/>
          </a:p>
        </p:txBody>
      </p:sp>
      <p:sp>
        <p:nvSpPr>
          <p:cNvPr id="9" name="Shape 7"/>
          <p:cNvSpPr/>
          <p:nvPr/>
        </p:nvSpPr>
        <p:spPr>
          <a:xfrm>
            <a:off x="813816" y="1787591"/>
            <a:ext cx="2395728" cy="2834640"/>
          </a:xfrm>
          <a:prstGeom prst="rect">
            <a:avLst/>
          </a:prstGeom>
          <a:solidFill>
            <a:srgbClr val="E8E2D2"/>
          </a:solidFill>
          <a:ln/>
        </p:spPr>
      </p:sp>
      <p:sp>
        <p:nvSpPr>
          <p:cNvPr id="10" name="Text 8"/>
          <p:cNvSpPr/>
          <p:nvPr/>
        </p:nvSpPr>
        <p:spPr>
          <a:xfrm>
            <a:off x="1051560" y="1988759"/>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01</a:t>
            </a:r>
            <a:endParaRPr lang="en-US" sz="3600" dirty="0"/>
          </a:p>
        </p:txBody>
      </p:sp>
      <p:sp>
        <p:nvSpPr>
          <p:cNvPr id="11" name="Text 9"/>
          <p:cNvSpPr/>
          <p:nvPr/>
        </p:nvSpPr>
        <p:spPr>
          <a:xfrm>
            <a:off x="1051560" y="2647127"/>
            <a:ext cx="1920240" cy="256032"/>
          </a:xfrm>
          <a:prstGeom prst="rect">
            <a:avLst/>
          </a:prstGeom>
          <a:noFill/>
          <a:ln/>
        </p:spPr>
        <p:txBody>
          <a:bodyPr wrap="square" lIns="0" tIns="0" rIns="0" bIns="0" rtlCol="0" anchor="t"/>
          <a:lstStyle/>
          <a:p>
            <a:pPr indent="0" marL="0">
              <a:buNone/>
            </a:pPr>
            <a:r>
              <a:rPr lang="en-US" sz="1400" b="1" spc="120" kern="0" dirty="0">
                <a:solidFill>
                  <a:srgbClr val="14213D"/>
                </a:solidFill>
                <a:latin typeface="Arial" pitchFamily="34" charset="0"/>
                <a:ea typeface="Arial" pitchFamily="34" charset="-122"/>
                <a:cs typeface="Arial" pitchFamily="34" charset="-120"/>
              </a:rPr>
              <a:t>CONNECT</a:t>
            </a:r>
            <a:endParaRPr lang="en-US" sz="1400" dirty="0"/>
          </a:p>
        </p:txBody>
      </p:sp>
      <p:sp>
        <p:nvSpPr>
          <p:cNvPr id="12" name="Text 10"/>
          <p:cNvSpPr/>
          <p:nvPr/>
        </p:nvSpPr>
        <p:spPr>
          <a:xfrm>
            <a:off x="1051560" y="2976311"/>
            <a:ext cx="1920240" cy="891540"/>
          </a:xfrm>
          <a:prstGeom prst="rect">
            <a:avLst/>
          </a:prstGeom>
          <a:noFill/>
          <a:ln/>
        </p:spPr>
        <p:txBody>
          <a:bodyPr wrap="square" lIns="0" tIns="0" rIns="0" bIns="0" rtlCol="0" anchor="t"/>
          <a:lstStyle/>
          <a:p>
            <a:pPr indent="0" marL="0">
              <a:lnSpc>
                <a:spcPct val="116000"/>
              </a:lnSpc>
              <a:buNone/>
            </a:pPr>
            <a:r>
              <a:rPr lang="en-US" sz="1250" dirty="0">
                <a:solidFill>
                  <a:srgbClr val="14213D"/>
                </a:solidFill>
                <a:latin typeface="Arial" pitchFamily="34" charset="0"/>
                <a:ea typeface="Arial" pitchFamily="34" charset="-122"/>
                <a:cs typeface="Arial" pitchFamily="34" charset="-120"/>
              </a:rPr>
              <a:t>Give her a desk, connect your inbox and calendar, and she drafts her first reply.</a:t>
            </a:r>
            <a:endParaRPr lang="en-US" sz="1250" dirty="0"/>
          </a:p>
        </p:txBody>
      </p:sp>
      <p:sp>
        <p:nvSpPr>
          <p:cNvPr id="13" name="Text 11"/>
          <p:cNvSpPr/>
          <p:nvPr/>
        </p:nvSpPr>
        <p:spPr>
          <a:xfrm>
            <a:off x="1051560" y="4110167"/>
            <a:ext cx="1920240" cy="274320"/>
          </a:xfrm>
          <a:prstGeom prst="rect">
            <a:avLst/>
          </a:prstGeom>
          <a:noFill/>
          <a:ln/>
        </p:spPr>
        <p:txBody>
          <a:bodyPr wrap="square" lIns="0" tIns="0" rIns="0" bIns="0" rtlCol="0" anchor="ctr"/>
          <a:lstStyle/>
          <a:p>
            <a:pPr indent="0" marL="0">
              <a:buNone/>
            </a:pPr>
            <a:r>
              <a:rPr lang="en-US" sz="1800" b="1" dirty="0">
                <a:solidFill>
                  <a:srgbClr val="8A6D14"/>
                </a:solidFill>
                <a:latin typeface="Georgia" pitchFamily="34" charset="0"/>
                <a:ea typeface="Georgia" pitchFamily="34" charset="-122"/>
                <a:cs typeface="Georgia" pitchFamily="34" charset="-120"/>
              </a:rPr>
              <a:t>12:12</a:t>
            </a:r>
            <a:endParaRPr lang="en-US" sz="1800" dirty="0"/>
          </a:p>
        </p:txBody>
      </p:sp>
      <p:sp>
        <p:nvSpPr>
          <p:cNvPr id="14" name="Shape 12"/>
          <p:cNvSpPr/>
          <p:nvPr/>
        </p:nvSpPr>
        <p:spPr>
          <a:xfrm>
            <a:off x="3538728" y="1787591"/>
            <a:ext cx="2395728" cy="2834640"/>
          </a:xfrm>
          <a:prstGeom prst="rect">
            <a:avLst/>
          </a:prstGeom>
          <a:solidFill>
            <a:srgbClr val="E8E2D2"/>
          </a:solidFill>
          <a:ln/>
        </p:spPr>
      </p:sp>
      <p:sp>
        <p:nvSpPr>
          <p:cNvPr id="15" name="Text 13"/>
          <p:cNvSpPr/>
          <p:nvPr/>
        </p:nvSpPr>
        <p:spPr>
          <a:xfrm>
            <a:off x="3776472" y="1988759"/>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02</a:t>
            </a:r>
            <a:endParaRPr lang="en-US" sz="3600" dirty="0"/>
          </a:p>
        </p:txBody>
      </p:sp>
      <p:sp>
        <p:nvSpPr>
          <p:cNvPr id="16" name="Text 14"/>
          <p:cNvSpPr/>
          <p:nvPr/>
        </p:nvSpPr>
        <p:spPr>
          <a:xfrm>
            <a:off x="3776472" y="2647127"/>
            <a:ext cx="1920240" cy="256032"/>
          </a:xfrm>
          <a:prstGeom prst="rect">
            <a:avLst/>
          </a:prstGeom>
          <a:noFill/>
          <a:ln/>
        </p:spPr>
        <p:txBody>
          <a:bodyPr wrap="square" lIns="0" tIns="0" rIns="0" bIns="0" rtlCol="0" anchor="t"/>
          <a:lstStyle/>
          <a:p>
            <a:pPr indent="0" marL="0">
              <a:buNone/>
            </a:pPr>
            <a:r>
              <a:rPr lang="en-US" sz="1400" b="1" spc="120" kern="0" dirty="0">
                <a:solidFill>
                  <a:srgbClr val="14213D"/>
                </a:solidFill>
                <a:latin typeface="Arial" pitchFamily="34" charset="0"/>
                <a:ea typeface="Arial" pitchFamily="34" charset="-122"/>
                <a:cs typeface="Arial" pitchFamily="34" charset="-120"/>
              </a:rPr>
              <a:t>TEACH</a:t>
            </a:r>
            <a:endParaRPr lang="en-US" sz="1400" dirty="0"/>
          </a:p>
        </p:txBody>
      </p:sp>
      <p:sp>
        <p:nvSpPr>
          <p:cNvPr id="17" name="Text 15"/>
          <p:cNvSpPr/>
          <p:nvPr/>
        </p:nvSpPr>
        <p:spPr>
          <a:xfrm>
            <a:off x="3776472" y="2976311"/>
            <a:ext cx="1920240" cy="891540"/>
          </a:xfrm>
          <a:prstGeom prst="rect">
            <a:avLst/>
          </a:prstGeom>
          <a:noFill/>
          <a:ln/>
        </p:spPr>
        <p:txBody>
          <a:bodyPr wrap="square" lIns="0" tIns="0" rIns="0" bIns="0" rtlCol="0" anchor="t"/>
          <a:lstStyle/>
          <a:p>
            <a:pPr indent="0" marL="0">
              <a:lnSpc>
                <a:spcPct val="116000"/>
              </a:lnSpc>
              <a:buNone/>
            </a:pPr>
            <a:r>
              <a:rPr lang="en-US" sz="1250" dirty="0">
                <a:solidFill>
                  <a:srgbClr val="14213D"/>
                </a:solidFill>
                <a:latin typeface="Arial" pitchFamily="34" charset="0"/>
                <a:ea typeface="Arial" pitchFamily="34" charset="-122"/>
                <a:cs typeface="Arial" pitchFamily="34" charset="-120"/>
              </a:rPr>
              <a:t>Four questions, about four minutes. She writes her own playbook.</a:t>
            </a:r>
            <a:endParaRPr lang="en-US" sz="1250" dirty="0"/>
          </a:p>
        </p:txBody>
      </p:sp>
      <p:sp>
        <p:nvSpPr>
          <p:cNvPr id="18" name="Text 16"/>
          <p:cNvSpPr/>
          <p:nvPr/>
        </p:nvSpPr>
        <p:spPr>
          <a:xfrm>
            <a:off x="3776472" y="4110167"/>
            <a:ext cx="1920240" cy="274320"/>
          </a:xfrm>
          <a:prstGeom prst="rect">
            <a:avLst/>
          </a:prstGeom>
          <a:noFill/>
          <a:ln/>
        </p:spPr>
        <p:txBody>
          <a:bodyPr wrap="square" lIns="0" tIns="0" rIns="0" bIns="0" rtlCol="0" anchor="ctr"/>
          <a:lstStyle/>
          <a:p>
            <a:pPr indent="0" marL="0">
              <a:buNone/>
            </a:pPr>
            <a:r>
              <a:rPr lang="en-US" sz="1800" b="1" dirty="0">
                <a:solidFill>
                  <a:srgbClr val="8A6D14"/>
                </a:solidFill>
                <a:latin typeface="Georgia" pitchFamily="34" charset="0"/>
                <a:ea typeface="Georgia" pitchFamily="34" charset="-122"/>
                <a:cs typeface="Georgia" pitchFamily="34" charset="-120"/>
              </a:rPr>
              <a:t>12:26</a:t>
            </a:r>
            <a:endParaRPr lang="en-US" sz="1800" dirty="0"/>
          </a:p>
        </p:txBody>
      </p:sp>
      <p:sp>
        <p:nvSpPr>
          <p:cNvPr id="19" name="Shape 17"/>
          <p:cNvSpPr/>
          <p:nvPr/>
        </p:nvSpPr>
        <p:spPr>
          <a:xfrm>
            <a:off x="6263640" y="1787591"/>
            <a:ext cx="2395728" cy="2834640"/>
          </a:xfrm>
          <a:prstGeom prst="rect">
            <a:avLst/>
          </a:prstGeom>
          <a:solidFill>
            <a:srgbClr val="E8E2D2"/>
          </a:solidFill>
          <a:ln/>
        </p:spPr>
      </p:sp>
      <p:sp>
        <p:nvSpPr>
          <p:cNvPr id="20" name="Text 18"/>
          <p:cNvSpPr/>
          <p:nvPr/>
        </p:nvSpPr>
        <p:spPr>
          <a:xfrm>
            <a:off x="6501384" y="1988759"/>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03</a:t>
            </a:r>
            <a:endParaRPr lang="en-US" sz="3600" dirty="0"/>
          </a:p>
        </p:txBody>
      </p:sp>
      <p:sp>
        <p:nvSpPr>
          <p:cNvPr id="21" name="Text 19"/>
          <p:cNvSpPr/>
          <p:nvPr/>
        </p:nvSpPr>
        <p:spPr>
          <a:xfrm>
            <a:off x="6501384" y="2647127"/>
            <a:ext cx="1920240" cy="256032"/>
          </a:xfrm>
          <a:prstGeom prst="rect">
            <a:avLst/>
          </a:prstGeom>
          <a:noFill/>
          <a:ln/>
        </p:spPr>
        <p:txBody>
          <a:bodyPr wrap="square" lIns="0" tIns="0" rIns="0" bIns="0" rtlCol="0" anchor="t"/>
          <a:lstStyle/>
          <a:p>
            <a:pPr indent="0" marL="0">
              <a:buNone/>
            </a:pPr>
            <a:r>
              <a:rPr lang="en-US" sz="1400" b="1" spc="120" kern="0" dirty="0">
                <a:solidFill>
                  <a:srgbClr val="14213D"/>
                </a:solidFill>
                <a:latin typeface="Arial" pitchFamily="34" charset="0"/>
                <a:ea typeface="Arial" pitchFamily="34" charset="-122"/>
                <a:cs typeface="Arial" pitchFamily="34" charset="-120"/>
              </a:rPr>
              <a:t>RUN</a:t>
            </a:r>
            <a:endParaRPr lang="en-US" sz="1400" dirty="0"/>
          </a:p>
        </p:txBody>
      </p:sp>
      <p:sp>
        <p:nvSpPr>
          <p:cNvPr id="22" name="Text 20"/>
          <p:cNvSpPr/>
          <p:nvPr/>
        </p:nvSpPr>
        <p:spPr>
          <a:xfrm>
            <a:off x="6501384" y="2976311"/>
            <a:ext cx="1920240" cy="891540"/>
          </a:xfrm>
          <a:prstGeom prst="rect">
            <a:avLst/>
          </a:prstGeom>
          <a:noFill/>
          <a:ln/>
        </p:spPr>
        <p:txBody>
          <a:bodyPr wrap="square" lIns="0" tIns="0" rIns="0" bIns="0" rtlCol="0" anchor="t"/>
          <a:lstStyle/>
          <a:p>
            <a:pPr indent="0" marL="0">
              <a:lnSpc>
                <a:spcPct val="116000"/>
              </a:lnSpc>
              <a:buNone/>
            </a:pPr>
            <a:r>
              <a:rPr lang="en-US" sz="1250" dirty="0">
                <a:solidFill>
                  <a:srgbClr val="14213D"/>
                </a:solidFill>
                <a:latin typeface="Arial" pitchFamily="34" charset="0"/>
                <a:ea typeface="Arial" pitchFamily="34" charset="-122"/>
                <a:cs typeface="Arial" pitchFamily="34" charset="-120"/>
              </a:rPr>
              <a:t>Her playbook becomes a skill she keeps, and she takes the 4:30 shift.</a:t>
            </a:r>
            <a:endParaRPr lang="en-US" sz="1250" dirty="0"/>
          </a:p>
        </p:txBody>
      </p:sp>
      <p:sp>
        <p:nvSpPr>
          <p:cNvPr id="23" name="Text 21"/>
          <p:cNvSpPr/>
          <p:nvPr/>
        </p:nvSpPr>
        <p:spPr>
          <a:xfrm>
            <a:off x="6501384" y="4110167"/>
            <a:ext cx="1920240" cy="274320"/>
          </a:xfrm>
          <a:prstGeom prst="rect">
            <a:avLst/>
          </a:prstGeom>
          <a:noFill/>
          <a:ln/>
        </p:spPr>
        <p:txBody>
          <a:bodyPr wrap="square" lIns="0" tIns="0" rIns="0" bIns="0" rtlCol="0" anchor="ctr"/>
          <a:lstStyle/>
          <a:p>
            <a:pPr indent="0" marL="0">
              <a:buNone/>
            </a:pPr>
            <a:r>
              <a:rPr lang="en-US" sz="1800" b="1" dirty="0">
                <a:solidFill>
                  <a:srgbClr val="8A6D14"/>
                </a:solidFill>
                <a:latin typeface="Georgia" pitchFamily="34" charset="0"/>
                <a:ea typeface="Georgia" pitchFamily="34" charset="-122"/>
                <a:cs typeface="Georgia" pitchFamily="34" charset="-120"/>
              </a:rPr>
              <a:t>12:40</a:t>
            </a:r>
            <a:endParaRPr lang="en-US" sz="1800" dirty="0"/>
          </a:p>
        </p:txBody>
      </p:sp>
      <p:sp>
        <p:nvSpPr>
          <p:cNvPr id="24" name="Shape 22"/>
          <p:cNvSpPr/>
          <p:nvPr/>
        </p:nvSpPr>
        <p:spPr>
          <a:xfrm>
            <a:off x="8988552" y="1787591"/>
            <a:ext cx="2395728" cy="2834640"/>
          </a:xfrm>
          <a:prstGeom prst="rect">
            <a:avLst/>
          </a:prstGeom>
          <a:solidFill>
            <a:srgbClr val="E8E2D2"/>
          </a:solidFill>
          <a:ln/>
        </p:spPr>
      </p:sp>
      <p:sp>
        <p:nvSpPr>
          <p:cNvPr id="25" name="Text 23"/>
          <p:cNvSpPr/>
          <p:nvPr/>
        </p:nvSpPr>
        <p:spPr>
          <a:xfrm>
            <a:off x="9226296" y="1988759"/>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04</a:t>
            </a:r>
            <a:endParaRPr lang="en-US" sz="3600" dirty="0"/>
          </a:p>
        </p:txBody>
      </p:sp>
      <p:sp>
        <p:nvSpPr>
          <p:cNvPr id="26" name="Text 24"/>
          <p:cNvSpPr/>
          <p:nvPr/>
        </p:nvSpPr>
        <p:spPr>
          <a:xfrm>
            <a:off x="9226296" y="2647127"/>
            <a:ext cx="1920240" cy="256032"/>
          </a:xfrm>
          <a:prstGeom prst="rect">
            <a:avLst/>
          </a:prstGeom>
          <a:noFill/>
          <a:ln/>
        </p:spPr>
        <p:txBody>
          <a:bodyPr wrap="square" lIns="0" tIns="0" rIns="0" bIns="0" rtlCol="0" anchor="t"/>
          <a:lstStyle/>
          <a:p>
            <a:pPr indent="0" marL="0">
              <a:buNone/>
            </a:pPr>
            <a:r>
              <a:rPr lang="en-US" sz="1400" b="1" spc="120" kern="0" dirty="0">
                <a:solidFill>
                  <a:srgbClr val="14213D"/>
                </a:solidFill>
                <a:latin typeface="Arial" pitchFamily="34" charset="0"/>
                <a:ea typeface="Arial" pitchFamily="34" charset="-122"/>
                <a:cs typeface="Arial" pitchFamily="34" charset="-120"/>
              </a:rPr>
              <a:t>RETRAIN</a:t>
            </a:r>
            <a:endParaRPr lang="en-US" sz="1400" dirty="0"/>
          </a:p>
        </p:txBody>
      </p:sp>
      <p:sp>
        <p:nvSpPr>
          <p:cNvPr id="27" name="Text 25"/>
          <p:cNvSpPr/>
          <p:nvPr/>
        </p:nvSpPr>
        <p:spPr>
          <a:xfrm>
            <a:off x="9226296" y="2976311"/>
            <a:ext cx="1920240" cy="891540"/>
          </a:xfrm>
          <a:prstGeom prst="rect">
            <a:avLst/>
          </a:prstGeom>
          <a:noFill/>
          <a:ln/>
        </p:spPr>
        <p:txBody>
          <a:bodyPr wrap="square" lIns="0" tIns="0" rIns="0" bIns="0" rtlCol="0" anchor="t"/>
          <a:lstStyle/>
          <a:p>
            <a:pPr indent="0" marL="0">
              <a:lnSpc>
                <a:spcPct val="116000"/>
              </a:lnSpc>
              <a:buNone/>
            </a:pPr>
            <a:r>
              <a:rPr lang="en-US" sz="1250" dirty="0">
                <a:solidFill>
                  <a:srgbClr val="14213D"/>
                </a:solidFill>
                <a:latin typeface="Arial" pitchFamily="34" charset="0"/>
                <a:ea typeface="Arial" pitchFamily="34" charset="-122"/>
                <a:cs typeface="Arial" pitchFamily="34" charset="-120"/>
              </a:rPr>
              <a:t>Every Friday she reviews her own week and proposes what to change. You sign it.</a:t>
            </a:r>
            <a:endParaRPr lang="en-US" sz="1250" dirty="0"/>
          </a:p>
        </p:txBody>
      </p:sp>
      <p:sp>
        <p:nvSpPr>
          <p:cNvPr id="28" name="Text 26"/>
          <p:cNvSpPr/>
          <p:nvPr/>
        </p:nvSpPr>
        <p:spPr>
          <a:xfrm>
            <a:off x="9226296" y="4110167"/>
            <a:ext cx="1920240" cy="274320"/>
          </a:xfrm>
          <a:prstGeom prst="rect">
            <a:avLst/>
          </a:prstGeom>
          <a:noFill/>
          <a:ln/>
        </p:spPr>
        <p:txBody>
          <a:bodyPr wrap="square" lIns="0" tIns="0" rIns="0" bIns="0" rtlCol="0" anchor="ctr"/>
          <a:lstStyle/>
          <a:p>
            <a:pPr indent="0" marL="0">
              <a:buNone/>
            </a:pPr>
            <a:r>
              <a:rPr lang="en-US" sz="1800" b="1" dirty="0">
                <a:solidFill>
                  <a:srgbClr val="8A6D14"/>
                </a:solidFill>
                <a:latin typeface="Georgia" pitchFamily="34" charset="0"/>
                <a:ea typeface="Georgia" pitchFamily="34" charset="-122"/>
                <a:cs typeface="Georgia" pitchFamily="34" charset="-120"/>
              </a:rPr>
              <a:t>12:58</a:t>
            </a:r>
            <a:endParaRPr lang="en-US" sz="1800" dirty="0"/>
          </a:p>
        </p:txBody>
      </p:sp>
      <p:sp>
        <p:nvSpPr>
          <p:cNvPr id="29" name="Text 27"/>
          <p:cNvSpPr/>
          <p:nvPr/>
        </p:nvSpPr>
        <p:spPr>
          <a:xfrm>
            <a:off x="813816" y="5074920"/>
            <a:ext cx="10570464" cy="507492"/>
          </a:xfrm>
          <a:prstGeom prst="rect">
            <a:avLst/>
          </a:prstGeom>
          <a:noFill/>
          <a:ln/>
        </p:spPr>
        <p:txBody>
          <a:bodyPr wrap="square" lIns="0" tIns="0" rIns="0" bIns="0" rtlCol="0" anchor="t"/>
          <a:lstStyle/>
          <a:p>
            <a:pPr algn="l" indent="0" marL="0">
              <a:lnSpc>
                <a:spcPct val="116000"/>
              </a:lnSpc>
              <a:buNone/>
            </a:pPr>
            <a:r>
              <a:rPr lang="en-US" sz="1300" i="1" dirty="0">
                <a:solidFill>
                  <a:srgbClr val="5A6379"/>
                </a:solidFill>
                <a:latin typeface="Arial" pitchFamily="34" charset="0"/>
                <a:ea typeface="Arial" pitchFamily="34" charset="-122"/>
                <a:cs typeface="Arial" pitchFamily="34" charset="-120"/>
              </a:rPr>
              <a:t>Nobody types anything longer than one sentence today. Every prompt has a copy button on the site, and the site is open on your phone.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10</a:t>
            </a:r>
            <a:endParaRPr lang="en-US" sz="900" dirty="0"/>
          </a:p>
        </p:txBody>
      </p:sp>
      <p:sp>
        <p:nvSpPr>
          <p:cNvPr id="7" name="Shape 5"/>
          <p:cNvSpPr/>
          <p:nvPr/>
        </p:nvSpPr>
        <p:spPr>
          <a:xfrm>
            <a:off x="10899648" y="475488"/>
            <a:ext cx="402336" cy="402336"/>
          </a:xfrm>
          <a:prstGeom prst="ellipse">
            <a:avLst/>
          </a:prstGeom>
          <a:ln w="9525">
            <a:solidFill>
              <a:srgbClr val="C9A227"/>
            </a:solidFill>
            <a:prstDash val="solid"/>
          </a:ln>
        </p:spPr>
      </p:sp>
      <p:sp>
        <p:nvSpPr>
          <p:cNvPr id="8" name="Shape 6"/>
          <p:cNvSpPr/>
          <p:nvPr/>
        </p:nvSpPr>
        <p:spPr>
          <a:xfrm>
            <a:off x="11043666" y="418338"/>
            <a:ext cx="114300" cy="114300"/>
          </a:xfrm>
          <a:prstGeom prst="ellipse">
            <a:avLst/>
          </a:prstGeom>
          <a:solidFill>
            <a:srgbClr val="C9A227"/>
          </a:solidFill>
          <a:ln w="9525">
            <a:solidFill>
              <a:srgbClr val="C9A227"/>
            </a:solidFill>
            <a:prstDash val="solid"/>
          </a:ln>
        </p:spPr>
      </p:sp>
      <p:sp>
        <p:nvSpPr>
          <p:cNvPr id="9" name="Shape 7"/>
          <p:cNvSpPr/>
          <p:nvPr/>
        </p:nvSpPr>
        <p:spPr>
          <a:xfrm>
            <a:off x="11244834" y="619506"/>
            <a:ext cx="114300" cy="114300"/>
          </a:xfrm>
          <a:prstGeom prst="ellipse">
            <a:avLst/>
          </a:prstGeom>
          <a:solidFill>
            <a:srgbClr val="14213D"/>
          </a:solidFill>
          <a:ln w="9525">
            <a:solidFill>
              <a:srgbClr val="C9A227"/>
            </a:solidFill>
            <a:prstDash val="solid"/>
          </a:ln>
        </p:spPr>
      </p:sp>
      <p:sp>
        <p:nvSpPr>
          <p:cNvPr id="10" name="Shape 8"/>
          <p:cNvSpPr/>
          <p:nvPr/>
        </p:nvSpPr>
        <p:spPr>
          <a:xfrm>
            <a:off x="11043666" y="820674"/>
            <a:ext cx="114300" cy="114300"/>
          </a:xfrm>
          <a:prstGeom prst="ellipse">
            <a:avLst/>
          </a:prstGeom>
          <a:solidFill>
            <a:srgbClr val="14213D"/>
          </a:solidFill>
          <a:ln w="9525">
            <a:solidFill>
              <a:srgbClr val="C9A227"/>
            </a:solidFill>
            <a:prstDash val="solid"/>
          </a:ln>
        </p:spPr>
      </p:sp>
      <p:sp>
        <p:nvSpPr>
          <p:cNvPr id="11" name="Shape 9"/>
          <p:cNvSpPr/>
          <p:nvPr/>
        </p:nvSpPr>
        <p:spPr>
          <a:xfrm>
            <a:off x="10842498" y="619506"/>
            <a:ext cx="114300" cy="114300"/>
          </a:xfrm>
          <a:prstGeom prst="ellipse">
            <a:avLst/>
          </a:prstGeom>
          <a:solidFill>
            <a:srgbClr val="14213D"/>
          </a:solidFill>
          <a:ln w="9525">
            <a:solidFill>
              <a:srgbClr val="C9A227"/>
            </a:solidFill>
            <a:prstDash val="solid"/>
          </a:ln>
        </p:spPr>
      </p:sp>
      <p:sp>
        <p:nvSpPr>
          <p:cNvPr id="12" name="Text 10"/>
          <p:cNvSpPr/>
          <p:nvPr/>
        </p:nvSpPr>
        <p:spPr>
          <a:xfrm>
            <a:off x="10775290" y="932688"/>
            <a:ext cx="60899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CONNECT</a:t>
            </a:r>
            <a:endParaRPr lang="en-US" sz="700" dirty="0"/>
          </a:p>
        </p:txBody>
      </p:sp>
      <p:sp>
        <p:nvSpPr>
          <p:cNvPr id="13" name="Text 11"/>
          <p:cNvSpPr/>
          <p:nvPr/>
        </p:nvSpPr>
        <p:spPr>
          <a:xfrm>
            <a:off x="813816" y="2450592"/>
            <a:ext cx="10570464" cy="274320"/>
          </a:xfrm>
          <a:prstGeom prst="rect">
            <a:avLst/>
          </a:prstGeom>
          <a:noFill/>
          <a:ln/>
        </p:spPr>
        <p:txBody>
          <a:bodyPr wrap="square" lIns="0" tIns="0" rIns="0" bIns="0" rtlCol="0" anchor="ctr"/>
          <a:lstStyle/>
          <a:p>
            <a:pPr algn="ctr" indent="0" marL="0">
              <a:buNone/>
            </a:pPr>
            <a:r>
              <a:rPr lang="en-US" sz="1400" b="1" spc="200" kern="0" dirty="0">
                <a:solidFill>
                  <a:srgbClr val="E7C766"/>
                </a:solidFill>
                <a:latin typeface="Arial" pitchFamily="34" charset="0"/>
                <a:ea typeface="Arial" pitchFamily="34" charset="-122"/>
                <a:cs typeface="Arial" pitchFamily="34" charset="-120"/>
              </a:rPr>
              <a:t>STEP ONE  ·  CONNECT</a:t>
            </a:r>
            <a:endParaRPr lang="en-US" sz="1400" dirty="0"/>
          </a:p>
        </p:txBody>
      </p:sp>
      <p:sp>
        <p:nvSpPr>
          <p:cNvPr id="14" name="Text 12"/>
          <p:cNvSpPr/>
          <p:nvPr/>
        </p:nvSpPr>
        <p:spPr>
          <a:xfrm>
            <a:off x="1432408" y="2834640"/>
            <a:ext cx="932688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First impressions.</a:t>
            </a:r>
            <a:endParaRPr lang="en-US" sz="4800" dirty="0"/>
          </a:p>
        </p:txBody>
      </p:sp>
      <p:sp>
        <p:nvSpPr>
          <p:cNvPr id="15" name="Text 13"/>
          <p:cNvSpPr/>
          <p:nvPr/>
        </p:nvSpPr>
        <p:spPr>
          <a:xfrm>
            <a:off x="813816" y="4026286"/>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Give her a desk, connect your inbox, and watch her read it.</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11</a:t>
            </a:r>
            <a:endParaRPr lang="en-US" sz="900" dirty="0"/>
          </a:p>
        </p:txBody>
      </p:sp>
      <p:sp>
        <p:nvSpPr>
          <p:cNvPr id="7" name="Shape 5"/>
          <p:cNvSpPr/>
          <p:nvPr/>
        </p:nvSpPr>
        <p:spPr>
          <a:xfrm>
            <a:off x="10899648" y="475488"/>
            <a:ext cx="402336" cy="402336"/>
          </a:xfrm>
          <a:prstGeom prst="ellipse">
            <a:avLst/>
          </a:prstGeom>
          <a:ln w="9525">
            <a:solidFill>
              <a:srgbClr val="C9A227"/>
            </a:solidFill>
            <a:prstDash val="solid"/>
          </a:ln>
        </p:spPr>
      </p:sp>
      <p:sp>
        <p:nvSpPr>
          <p:cNvPr id="8" name="Shape 6"/>
          <p:cNvSpPr/>
          <p:nvPr/>
        </p:nvSpPr>
        <p:spPr>
          <a:xfrm>
            <a:off x="11043666" y="418338"/>
            <a:ext cx="114300" cy="114300"/>
          </a:xfrm>
          <a:prstGeom prst="ellipse">
            <a:avLst/>
          </a:prstGeom>
          <a:solidFill>
            <a:srgbClr val="C9A227"/>
          </a:solidFill>
          <a:ln w="9525">
            <a:solidFill>
              <a:srgbClr val="C9A227"/>
            </a:solidFill>
            <a:prstDash val="solid"/>
          </a:ln>
        </p:spPr>
      </p:sp>
      <p:sp>
        <p:nvSpPr>
          <p:cNvPr id="9" name="Shape 7"/>
          <p:cNvSpPr/>
          <p:nvPr/>
        </p:nvSpPr>
        <p:spPr>
          <a:xfrm>
            <a:off x="11244834" y="619506"/>
            <a:ext cx="114300" cy="114300"/>
          </a:xfrm>
          <a:prstGeom prst="ellipse">
            <a:avLst/>
          </a:prstGeom>
          <a:solidFill>
            <a:srgbClr val="F7F3EA"/>
          </a:solidFill>
          <a:ln w="9525">
            <a:solidFill>
              <a:srgbClr val="C9A227"/>
            </a:solidFill>
            <a:prstDash val="solid"/>
          </a:ln>
        </p:spPr>
      </p:sp>
      <p:sp>
        <p:nvSpPr>
          <p:cNvPr id="10" name="Shape 8"/>
          <p:cNvSpPr/>
          <p:nvPr/>
        </p:nvSpPr>
        <p:spPr>
          <a:xfrm>
            <a:off x="11043666" y="820674"/>
            <a:ext cx="114300" cy="114300"/>
          </a:xfrm>
          <a:prstGeom prst="ellipse">
            <a:avLst/>
          </a:prstGeom>
          <a:solidFill>
            <a:srgbClr val="F7F3EA"/>
          </a:solidFill>
          <a:ln w="9525">
            <a:solidFill>
              <a:srgbClr val="C9A227"/>
            </a:solidFill>
            <a:prstDash val="solid"/>
          </a:ln>
        </p:spPr>
      </p:sp>
      <p:sp>
        <p:nvSpPr>
          <p:cNvPr id="11" name="Shape 9"/>
          <p:cNvSpPr/>
          <p:nvPr/>
        </p:nvSpPr>
        <p:spPr>
          <a:xfrm>
            <a:off x="10842498" y="619506"/>
            <a:ext cx="114300" cy="114300"/>
          </a:xfrm>
          <a:prstGeom prst="ellipse">
            <a:avLst/>
          </a:prstGeom>
          <a:solidFill>
            <a:srgbClr val="F7F3EA"/>
          </a:solidFill>
          <a:ln w="9525">
            <a:solidFill>
              <a:srgbClr val="C9A227"/>
            </a:solidFill>
            <a:prstDash val="solid"/>
          </a:ln>
        </p:spPr>
      </p:sp>
      <p:sp>
        <p:nvSpPr>
          <p:cNvPr id="12" name="Text 10"/>
          <p:cNvSpPr/>
          <p:nvPr/>
        </p:nvSpPr>
        <p:spPr>
          <a:xfrm>
            <a:off x="10775290" y="932688"/>
            <a:ext cx="608990" cy="164592"/>
          </a:xfrm>
          <a:prstGeom prst="rect">
            <a:avLst/>
          </a:prstGeom>
          <a:noFill/>
          <a:ln/>
        </p:spPr>
        <p:txBody>
          <a:bodyPr wrap="square" lIns="0" tIns="0" rIns="0" bIns="0" rtlCol="0" anchor="ctr"/>
          <a:lstStyle/>
          <a:p>
            <a:pPr algn="r" indent="0" marL="0">
              <a:buNone/>
            </a:pPr>
            <a:r>
              <a:rPr lang="en-US" sz="700" b="1" spc="90" kern="0" dirty="0">
                <a:solidFill>
                  <a:srgbClr val="8A6D14"/>
                </a:solidFill>
                <a:latin typeface="Arial" pitchFamily="34" charset="0"/>
                <a:ea typeface="Arial" pitchFamily="34" charset="-122"/>
                <a:cs typeface="Arial" pitchFamily="34" charset="-120"/>
              </a:rPr>
              <a:t>CONNECT</a:t>
            </a:r>
            <a:endParaRPr lang="en-US" sz="700" dirty="0"/>
          </a:p>
        </p:txBody>
      </p:sp>
      <p:sp>
        <p:nvSpPr>
          <p:cNvPr id="13" name="Text 11"/>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STEP ONE  ·  FIRST IMPRESSIONS</a:t>
            </a:r>
            <a:endParaRPr lang="en-US" sz="1200" dirty="0"/>
          </a:p>
        </p:txBody>
      </p:sp>
      <p:sp>
        <p:nvSpPr>
          <p:cNvPr id="14" name="Text 12"/>
          <p:cNvSpPr/>
          <p:nvPr/>
        </p:nvSpPr>
        <p:spPr>
          <a:xfrm>
            <a:off x="813816" y="841248"/>
            <a:ext cx="9418320"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Create her project, then connect.</a:t>
            </a:r>
            <a:endParaRPr lang="en-US" sz="3400" dirty="0"/>
          </a:p>
        </p:txBody>
      </p:sp>
      <p:sp>
        <p:nvSpPr>
          <p:cNvPr id="15" name="Shape 13"/>
          <p:cNvSpPr/>
          <p:nvPr/>
        </p:nvSpPr>
        <p:spPr>
          <a:xfrm>
            <a:off x="813816" y="1677863"/>
            <a:ext cx="5687568" cy="2039112"/>
          </a:xfrm>
          <a:prstGeom prst="rect">
            <a:avLst/>
          </a:prstGeom>
          <a:solidFill>
            <a:srgbClr val="E8E2D2"/>
          </a:solidFill>
          <a:ln/>
        </p:spPr>
      </p:sp>
      <p:sp>
        <p:nvSpPr>
          <p:cNvPr id="16" name="Text 14"/>
          <p:cNvSpPr/>
          <p:nvPr/>
        </p:nvSpPr>
        <p:spPr>
          <a:xfrm>
            <a:off x="1051560" y="1915607"/>
            <a:ext cx="5212080" cy="299466"/>
          </a:xfrm>
          <a:prstGeom prst="rect">
            <a:avLst/>
          </a:prstGeom>
          <a:noFill/>
          <a:ln/>
        </p:spPr>
        <p:txBody>
          <a:bodyPr wrap="square" lIns="0" tIns="0" rIns="0" bIns="0" rtlCol="0" anchor="t"/>
          <a:lstStyle/>
          <a:p>
            <a:pPr indent="0" marL="0">
              <a:buNone/>
            </a:pPr>
            <a:r>
              <a:rPr lang="en-US" sz="1300" b="1" spc="160" kern="0" dirty="0">
                <a:solidFill>
                  <a:srgbClr val="8A6D14"/>
                </a:solidFill>
                <a:latin typeface="Arial" pitchFamily="34" charset="0"/>
                <a:ea typeface="Arial" pitchFamily="34" charset="-122"/>
                <a:cs typeface="Arial" pitchFamily="34" charset="-120"/>
              </a:rPr>
              <a:t>THE SETUP</a:t>
            </a:r>
            <a:endParaRPr lang="en-US" sz="1300" dirty="0"/>
          </a:p>
        </p:txBody>
      </p:sp>
      <p:sp>
        <p:nvSpPr>
          <p:cNvPr id="17" name="Shape 15"/>
          <p:cNvSpPr/>
          <p:nvPr/>
        </p:nvSpPr>
        <p:spPr>
          <a:xfrm rot="2700000">
            <a:off x="1051560" y="2402525"/>
            <a:ext cx="100584" cy="100584"/>
          </a:xfrm>
          <a:prstGeom prst="rect">
            <a:avLst/>
          </a:prstGeom>
          <a:solidFill>
            <a:srgbClr val="C9A227"/>
          </a:solidFill>
          <a:ln w="3175">
            <a:solidFill>
              <a:srgbClr val="C9A227"/>
            </a:solidFill>
            <a:prstDash val="solid"/>
          </a:ln>
        </p:spPr>
      </p:sp>
      <p:sp>
        <p:nvSpPr>
          <p:cNvPr id="18" name="Text 16"/>
          <p:cNvSpPr/>
          <p:nvPr/>
        </p:nvSpPr>
        <p:spPr>
          <a:xfrm>
            <a:off x="1362456" y="2324801"/>
            <a:ext cx="4901184"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Projects, then New project. Name it Donna.</a:t>
            </a:r>
            <a:endParaRPr lang="en-US" sz="1300" dirty="0"/>
          </a:p>
        </p:txBody>
      </p:sp>
      <p:sp>
        <p:nvSpPr>
          <p:cNvPr id="19" name="Shape 17"/>
          <p:cNvSpPr/>
          <p:nvPr/>
        </p:nvSpPr>
        <p:spPr>
          <a:xfrm rot="2700000">
            <a:off x="1051560" y="2830007"/>
            <a:ext cx="100584" cy="100584"/>
          </a:xfrm>
          <a:prstGeom prst="rect">
            <a:avLst/>
          </a:prstGeom>
          <a:solidFill>
            <a:srgbClr val="C9A227"/>
          </a:solidFill>
          <a:ln w="3175">
            <a:solidFill>
              <a:srgbClr val="C9A227"/>
            </a:solidFill>
            <a:prstDash val="solid"/>
          </a:ln>
        </p:spPr>
      </p:sp>
      <p:sp>
        <p:nvSpPr>
          <p:cNvPr id="20" name="Text 18"/>
          <p:cNvSpPr/>
          <p:nvPr/>
        </p:nvSpPr>
        <p:spPr>
          <a:xfrm>
            <a:off x="1362456" y="2752283"/>
            <a:ext cx="4901184"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Customize, then Connectors.</a:t>
            </a:r>
            <a:endParaRPr lang="en-US" sz="1300" dirty="0"/>
          </a:p>
        </p:txBody>
      </p:sp>
      <p:sp>
        <p:nvSpPr>
          <p:cNvPr id="21" name="Shape 19"/>
          <p:cNvSpPr/>
          <p:nvPr/>
        </p:nvSpPr>
        <p:spPr>
          <a:xfrm rot="2700000">
            <a:off x="1051560" y="3257489"/>
            <a:ext cx="100584" cy="100584"/>
          </a:xfrm>
          <a:prstGeom prst="rect">
            <a:avLst/>
          </a:prstGeom>
          <a:solidFill>
            <a:srgbClr val="C9A227"/>
          </a:solidFill>
          <a:ln w="3175">
            <a:solidFill>
              <a:srgbClr val="C9A227"/>
            </a:solidFill>
            <a:prstDash val="solid"/>
          </a:ln>
        </p:spPr>
      </p:sp>
      <p:sp>
        <p:nvSpPr>
          <p:cNvPr id="22" name="Text 20"/>
          <p:cNvSpPr/>
          <p:nvPr/>
        </p:nvSpPr>
        <p:spPr>
          <a:xfrm>
            <a:off x="1362456" y="3179765"/>
            <a:ext cx="4901184"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Connect Gmail, Calendar, and Drive. All three, now.</a:t>
            </a:r>
            <a:endParaRPr lang="en-US" sz="1300" dirty="0"/>
          </a:p>
        </p:txBody>
      </p:sp>
      <p:sp>
        <p:nvSpPr>
          <p:cNvPr id="23" name="Shape 21"/>
          <p:cNvSpPr/>
          <p:nvPr/>
        </p:nvSpPr>
        <p:spPr>
          <a:xfrm>
            <a:off x="813816" y="3991295"/>
            <a:ext cx="5687568" cy="1234440"/>
          </a:xfrm>
          <a:prstGeom prst="rect">
            <a:avLst/>
          </a:prstGeom>
          <a:solidFill>
            <a:srgbClr val="E8E2D2"/>
          </a:solidFill>
          <a:ln/>
        </p:spPr>
      </p:sp>
      <p:sp>
        <p:nvSpPr>
          <p:cNvPr id="24" name="Text 22"/>
          <p:cNvSpPr/>
          <p:nvPr/>
        </p:nvSpPr>
        <p:spPr>
          <a:xfrm>
            <a:off x="996696" y="4174175"/>
            <a:ext cx="5321808" cy="283464"/>
          </a:xfrm>
          <a:prstGeom prst="rect">
            <a:avLst/>
          </a:prstGeom>
          <a:noFill/>
          <a:ln/>
        </p:spPr>
        <p:txBody>
          <a:bodyPr wrap="square" lIns="0" tIns="0" rIns="0" bIns="0" rtlCol="0" anchor="t"/>
          <a:lstStyle/>
          <a:p>
            <a:pPr indent="0" marL="0">
              <a:buNone/>
            </a:pPr>
            <a:r>
              <a:rPr lang="en-US" sz="1200" b="1" spc="160" kern="0" dirty="0">
                <a:solidFill>
                  <a:srgbClr val="8A6D14"/>
                </a:solidFill>
                <a:latin typeface="Arial" pitchFamily="34" charset="0"/>
                <a:ea typeface="Arial" pitchFamily="34" charset="-122"/>
                <a:cs typeface="Arial" pitchFamily="34" charset="-120"/>
              </a:rPr>
              <a:t>STUCK CONNECTING?</a:t>
            </a:r>
            <a:endParaRPr lang="en-US" sz="1200" dirty="0"/>
          </a:p>
        </p:txBody>
      </p:sp>
      <p:sp>
        <p:nvSpPr>
          <p:cNvPr id="25" name="Shape 23"/>
          <p:cNvSpPr/>
          <p:nvPr/>
        </p:nvSpPr>
        <p:spPr>
          <a:xfrm rot="2700000">
            <a:off x="996696" y="4645091"/>
            <a:ext cx="100584" cy="100584"/>
          </a:xfrm>
          <a:prstGeom prst="rect">
            <a:avLst/>
          </a:prstGeom>
          <a:solidFill>
            <a:srgbClr val="C9A227"/>
          </a:solidFill>
          <a:ln w="3175">
            <a:solidFill>
              <a:srgbClr val="C9A227"/>
            </a:solidFill>
            <a:prstDash val="solid"/>
          </a:ln>
        </p:spPr>
      </p:sp>
      <p:sp>
        <p:nvSpPr>
          <p:cNvPr id="26" name="Text 24"/>
          <p:cNvSpPr/>
          <p:nvPr/>
        </p:nvSpPr>
        <p:spPr>
          <a:xfrm>
            <a:off x="1307592" y="4567367"/>
            <a:ext cx="5010912" cy="475488"/>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Quit Claude and reopen it. IT blocks it? Use a personal Gmail. Still stuck: the rescue prompt is on the site, Step 1.</a:t>
            </a:r>
            <a:endParaRPr lang="en-US" sz="1200" dirty="0"/>
          </a:p>
        </p:txBody>
      </p:sp>
      <p:sp>
        <p:nvSpPr>
          <p:cNvPr id="27" name="Shape 25"/>
          <p:cNvSpPr/>
          <p:nvPr/>
        </p:nvSpPr>
        <p:spPr>
          <a:xfrm>
            <a:off x="6903720" y="1677863"/>
            <a:ext cx="4480560" cy="1239012"/>
          </a:xfrm>
          <a:prstGeom prst="rect">
            <a:avLst/>
          </a:prstGeom>
          <a:solidFill>
            <a:srgbClr val="14213D"/>
          </a:solidFill>
          <a:ln/>
        </p:spPr>
      </p:sp>
      <p:sp>
        <p:nvSpPr>
          <p:cNvPr id="28" name="Text 26"/>
          <p:cNvSpPr/>
          <p:nvPr/>
        </p:nvSpPr>
        <p:spPr>
          <a:xfrm>
            <a:off x="7159752" y="1851599"/>
            <a:ext cx="396849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PROMPT 1 · THE QUESTION</a:t>
            </a:r>
            <a:endParaRPr lang="en-US" sz="1100" dirty="0"/>
          </a:p>
        </p:txBody>
      </p:sp>
      <p:sp>
        <p:nvSpPr>
          <p:cNvPr id="29" name="Text 27"/>
          <p:cNvSpPr/>
          <p:nvPr/>
        </p:nvSpPr>
        <p:spPr>
          <a:xfrm>
            <a:off x="7159752" y="2135063"/>
            <a:ext cx="3968496" cy="690372"/>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What landed in my inbox in the last 24</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hours that actually needs ME? Top 5, one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line each.</a:t>
            </a:r>
            <a:endParaRPr lang="en-US" sz="1200" dirty="0"/>
          </a:p>
        </p:txBody>
      </p:sp>
      <p:sp>
        <p:nvSpPr>
          <p:cNvPr id="30" name="Shape 28"/>
          <p:cNvSpPr/>
          <p:nvPr/>
        </p:nvSpPr>
        <p:spPr>
          <a:xfrm>
            <a:off x="6903720" y="3136331"/>
            <a:ext cx="4480560" cy="1426464"/>
          </a:xfrm>
          <a:prstGeom prst="rect">
            <a:avLst/>
          </a:prstGeom>
          <a:solidFill>
            <a:srgbClr val="14213D"/>
          </a:solidFill>
          <a:ln/>
        </p:spPr>
      </p:sp>
      <p:sp>
        <p:nvSpPr>
          <p:cNvPr id="31" name="Text 29"/>
          <p:cNvSpPr/>
          <p:nvPr/>
        </p:nvSpPr>
        <p:spPr>
          <a:xfrm>
            <a:off x="7159752" y="3310067"/>
            <a:ext cx="396849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PROMPT 2 · THE FIRST DRAFT</a:t>
            </a:r>
            <a:endParaRPr lang="en-US" sz="1100" dirty="0"/>
          </a:p>
        </p:txBody>
      </p:sp>
      <p:sp>
        <p:nvSpPr>
          <p:cNvPr id="32" name="Text 30"/>
          <p:cNvSpPr/>
          <p:nvPr/>
        </p:nvSpPr>
        <p:spPr>
          <a:xfrm>
            <a:off x="7159752" y="3593531"/>
            <a:ext cx="3968496" cy="877824"/>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Draft a reply to #1. Under 100 words, warm</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but decisive. Save it as a draft in my</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email so I can review it there. Do not</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send it.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12</a:t>
            </a:r>
            <a:endParaRPr lang="en-US" sz="900" dirty="0"/>
          </a:p>
        </p:txBody>
      </p:sp>
      <p:sp>
        <p:nvSpPr>
          <p:cNvPr id="7" name="Shape 5"/>
          <p:cNvSpPr/>
          <p:nvPr/>
        </p:nvSpPr>
        <p:spPr>
          <a:xfrm>
            <a:off x="10899648" y="475488"/>
            <a:ext cx="402336" cy="402336"/>
          </a:xfrm>
          <a:prstGeom prst="ellipse">
            <a:avLst/>
          </a:prstGeom>
          <a:ln w="9525">
            <a:solidFill>
              <a:srgbClr val="C9A227"/>
            </a:solidFill>
            <a:prstDash val="solid"/>
          </a:ln>
        </p:spPr>
      </p:sp>
      <p:sp>
        <p:nvSpPr>
          <p:cNvPr id="8" name="Shape 6"/>
          <p:cNvSpPr/>
          <p:nvPr/>
        </p:nvSpPr>
        <p:spPr>
          <a:xfrm>
            <a:off x="11043666" y="418338"/>
            <a:ext cx="114300" cy="114300"/>
          </a:xfrm>
          <a:prstGeom prst="ellipse">
            <a:avLst/>
          </a:prstGeom>
          <a:solidFill>
            <a:srgbClr val="C9A227"/>
          </a:solidFill>
          <a:ln w="9525">
            <a:solidFill>
              <a:srgbClr val="C9A227"/>
            </a:solidFill>
            <a:prstDash val="solid"/>
          </a:ln>
        </p:spPr>
      </p:sp>
      <p:sp>
        <p:nvSpPr>
          <p:cNvPr id="9" name="Shape 7"/>
          <p:cNvSpPr/>
          <p:nvPr/>
        </p:nvSpPr>
        <p:spPr>
          <a:xfrm>
            <a:off x="11244834" y="619506"/>
            <a:ext cx="114300" cy="114300"/>
          </a:xfrm>
          <a:prstGeom prst="ellipse">
            <a:avLst/>
          </a:prstGeom>
          <a:solidFill>
            <a:srgbClr val="14213D"/>
          </a:solidFill>
          <a:ln w="9525">
            <a:solidFill>
              <a:srgbClr val="C9A227"/>
            </a:solidFill>
            <a:prstDash val="solid"/>
          </a:ln>
        </p:spPr>
      </p:sp>
      <p:sp>
        <p:nvSpPr>
          <p:cNvPr id="10" name="Shape 8"/>
          <p:cNvSpPr/>
          <p:nvPr/>
        </p:nvSpPr>
        <p:spPr>
          <a:xfrm>
            <a:off x="11043666" y="820674"/>
            <a:ext cx="114300" cy="114300"/>
          </a:xfrm>
          <a:prstGeom prst="ellipse">
            <a:avLst/>
          </a:prstGeom>
          <a:solidFill>
            <a:srgbClr val="14213D"/>
          </a:solidFill>
          <a:ln w="9525">
            <a:solidFill>
              <a:srgbClr val="C9A227"/>
            </a:solidFill>
            <a:prstDash val="solid"/>
          </a:ln>
        </p:spPr>
      </p:sp>
      <p:sp>
        <p:nvSpPr>
          <p:cNvPr id="11" name="Shape 9"/>
          <p:cNvSpPr/>
          <p:nvPr/>
        </p:nvSpPr>
        <p:spPr>
          <a:xfrm>
            <a:off x="10842498" y="619506"/>
            <a:ext cx="114300" cy="114300"/>
          </a:xfrm>
          <a:prstGeom prst="ellipse">
            <a:avLst/>
          </a:prstGeom>
          <a:solidFill>
            <a:srgbClr val="14213D"/>
          </a:solidFill>
          <a:ln w="9525">
            <a:solidFill>
              <a:srgbClr val="C9A227"/>
            </a:solidFill>
            <a:prstDash val="solid"/>
          </a:ln>
        </p:spPr>
      </p:sp>
      <p:sp>
        <p:nvSpPr>
          <p:cNvPr id="12" name="Text 10"/>
          <p:cNvSpPr/>
          <p:nvPr/>
        </p:nvSpPr>
        <p:spPr>
          <a:xfrm>
            <a:off x="10775290" y="932688"/>
            <a:ext cx="60899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CONNECT</a:t>
            </a:r>
            <a:endParaRPr lang="en-US" sz="700" dirty="0"/>
          </a:p>
        </p:txBody>
      </p:sp>
      <p:sp>
        <p:nvSpPr>
          <p:cNvPr id="13" name="Text 11"/>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STEP ONE  ·  CHECKPOINT</a:t>
            </a:r>
            <a:endParaRPr lang="en-US" sz="1200" dirty="0"/>
          </a:p>
        </p:txBody>
      </p:sp>
      <p:sp>
        <p:nvSpPr>
          <p:cNvPr id="14" name="Shape 12"/>
          <p:cNvSpPr/>
          <p:nvPr/>
        </p:nvSpPr>
        <p:spPr>
          <a:xfrm rot="2700000">
            <a:off x="6046013" y="2048256"/>
            <a:ext cx="128016" cy="128016"/>
          </a:xfrm>
          <a:prstGeom prst="rect">
            <a:avLst/>
          </a:prstGeom>
          <a:solidFill>
            <a:srgbClr val="C9A227"/>
          </a:solidFill>
          <a:ln w="3175">
            <a:solidFill>
              <a:srgbClr val="C9A227"/>
            </a:solidFill>
            <a:prstDash val="solid"/>
          </a:ln>
        </p:spPr>
      </p:sp>
      <p:sp>
        <p:nvSpPr>
          <p:cNvPr id="15" name="Text 13"/>
          <p:cNvSpPr/>
          <p:nvPr/>
        </p:nvSpPr>
        <p:spPr>
          <a:xfrm>
            <a:off x="1340968" y="2395728"/>
            <a:ext cx="9509760" cy="1399642"/>
          </a:xfrm>
          <a:prstGeom prst="rect">
            <a:avLst/>
          </a:prstGeom>
          <a:noFill/>
          <a:ln/>
        </p:spPr>
        <p:txBody>
          <a:bodyPr wrap="square" lIns="0" tIns="0" rIns="0" bIns="0" rtlCol="0" anchor="t"/>
          <a:lstStyle/>
          <a:p>
            <a:pPr algn="ctr" indent="0" marL="0">
              <a:buNone/>
            </a:pPr>
            <a:r>
              <a:rPr lang="en-US" sz="4000" b="1" dirty="0">
                <a:solidFill>
                  <a:srgbClr val="F7F3EA"/>
                </a:solidFill>
                <a:latin typeface="Georgia" pitchFamily="34" charset="0"/>
                <a:ea typeface="Georgia" pitchFamily="34" charset="-122"/>
                <a:cs typeface="Georgia" pitchFamily="34" charset="-120"/>
              </a:rPr>
              <a:t>A draft you didn’t write is waiting in your drafts folder.</a:t>
            </a:r>
            <a:endParaRPr lang="en-US" sz="4000" dirty="0"/>
          </a:p>
        </p:txBody>
      </p:sp>
      <p:sp>
        <p:nvSpPr>
          <p:cNvPr id="16" name="Text 14"/>
          <p:cNvSpPr/>
          <p:nvPr/>
        </p:nvSpPr>
        <p:spPr>
          <a:xfrm>
            <a:off x="813816" y="4234282"/>
            <a:ext cx="10570464" cy="310896"/>
          </a:xfrm>
          <a:prstGeom prst="rect">
            <a:avLst/>
          </a:prstGeom>
          <a:noFill/>
          <a:ln/>
        </p:spPr>
        <p:txBody>
          <a:bodyPr wrap="square" lIns="0" tIns="0" rIns="0" bIns="0" rtlCol="0" anchor="ctr"/>
          <a:lstStyle/>
          <a:p>
            <a:pPr algn="ctr" indent="0" marL="0">
              <a:buNone/>
            </a:pPr>
            <a:r>
              <a:rPr lang="en-US" sz="1700" b="1" dirty="0">
                <a:solidFill>
                  <a:srgbClr val="E7C766"/>
                </a:solidFill>
                <a:latin typeface="Arial" pitchFamily="34" charset="0"/>
                <a:ea typeface="Arial" pitchFamily="34" charset="-122"/>
                <a:cs typeface="Arial" pitchFamily="34" charset="-120"/>
              </a:rPr>
              <a:t>The interview is over. She’s hired. Now we teach her.</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13</a:t>
            </a:r>
            <a:endParaRPr lang="en-US" sz="900" dirty="0"/>
          </a:p>
        </p:txBody>
      </p:sp>
      <p:sp>
        <p:nvSpPr>
          <p:cNvPr id="7" name="Shape 5"/>
          <p:cNvSpPr/>
          <p:nvPr/>
        </p:nvSpPr>
        <p:spPr>
          <a:xfrm>
            <a:off x="10899648" y="475488"/>
            <a:ext cx="402336" cy="402336"/>
          </a:xfrm>
          <a:prstGeom prst="ellipse">
            <a:avLst/>
          </a:prstGeom>
          <a:ln w="9525">
            <a:solidFill>
              <a:srgbClr val="C9A227"/>
            </a:solidFill>
            <a:prstDash val="solid"/>
          </a:ln>
        </p:spPr>
      </p:sp>
      <p:sp>
        <p:nvSpPr>
          <p:cNvPr id="8" name="Shape 6"/>
          <p:cNvSpPr/>
          <p:nvPr/>
        </p:nvSpPr>
        <p:spPr>
          <a:xfrm>
            <a:off x="11043666" y="418338"/>
            <a:ext cx="114300" cy="114300"/>
          </a:xfrm>
          <a:prstGeom prst="ellipse">
            <a:avLst/>
          </a:prstGeom>
          <a:solidFill>
            <a:srgbClr val="C9A227"/>
          </a:solidFill>
          <a:ln w="9525">
            <a:solidFill>
              <a:srgbClr val="C9A227"/>
            </a:solidFill>
            <a:prstDash val="solid"/>
          </a:ln>
        </p:spPr>
      </p:sp>
      <p:sp>
        <p:nvSpPr>
          <p:cNvPr id="9" name="Shape 7"/>
          <p:cNvSpPr/>
          <p:nvPr/>
        </p:nvSpPr>
        <p:spPr>
          <a:xfrm>
            <a:off x="11244834" y="619506"/>
            <a:ext cx="114300" cy="114300"/>
          </a:xfrm>
          <a:prstGeom prst="ellipse">
            <a:avLst/>
          </a:prstGeom>
          <a:solidFill>
            <a:srgbClr val="C9A227"/>
          </a:solidFill>
          <a:ln w="9525">
            <a:solidFill>
              <a:srgbClr val="C9A227"/>
            </a:solidFill>
            <a:prstDash val="solid"/>
          </a:ln>
        </p:spPr>
      </p:sp>
      <p:sp>
        <p:nvSpPr>
          <p:cNvPr id="10" name="Shape 8"/>
          <p:cNvSpPr/>
          <p:nvPr/>
        </p:nvSpPr>
        <p:spPr>
          <a:xfrm>
            <a:off x="11043666" y="820674"/>
            <a:ext cx="114300" cy="114300"/>
          </a:xfrm>
          <a:prstGeom prst="ellipse">
            <a:avLst/>
          </a:prstGeom>
          <a:solidFill>
            <a:srgbClr val="14213D"/>
          </a:solidFill>
          <a:ln w="9525">
            <a:solidFill>
              <a:srgbClr val="C9A227"/>
            </a:solidFill>
            <a:prstDash val="solid"/>
          </a:ln>
        </p:spPr>
      </p:sp>
      <p:sp>
        <p:nvSpPr>
          <p:cNvPr id="11" name="Shape 9"/>
          <p:cNvSpPr/>
          <p:nvPr/>
        </p:nvSpPr>
        <p:spPr>
          <a:xfrm>
            <a:off x="10842498" y="619506"/>
            <a:ext cx="114300" cy="114300"/>
          </a:xfrm>
          <a:prstGeom prst="ellipse">
            <a:avLst/>
          </a:prstGeom>
          <a:solidFill>
            <a:srgbClr val="14213D"/>
          </a:solidFill>
          <a:ln w="9525">
            <a:solidFill>
              <a:srgbClr val="C9A227"/>
            </a:solidFill>
            <a:prstDash val="solid"/>
          </a:ln>
        </p:spPr>
      </p:sp>
      <p:sp>
        <p:nvSpPr>
          <p:cNvPr id="12" name="Text 10"/>
          <p:cNvSpPr/>
          <p:nvPr/>
        </p:nvSpPr>
        <p:spPr>
          <a:xfrm>
            <a:off x="10204704" y="932688"/>
            <a:ext cx="1179576"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CONNECT · TEACH</a:t>
            </a:r>
            <a:endParaRPr lang="en-US" sz="700" dirty="0"/>
          </a:p>
        </p:txBody>
      </p:sp>
      <p:sp>
        <p:nvSpPr>
          <p:cNvPr id="13" name="Text 11"/>
          <p:cNvSpPr/>
          <p:nvPr/>
        </p:nvSpPr>
        <p:spPr>
          <a:xfrm>
            <a:off x="813816" y="2450592"/>
            <a:ext cx="10570464" cy="274320"/>
          </a:xfrm>
          <a:prstGeom prst="rect">
            <a:avLst/>
          </a:prstGeom>
          <a:noFill/>
          <a:ln/>
        </p:spPr>
        <p:txBody>
          <a:bodyPr wrap="square" lIns="0" tIns="0" rIns="0" bIns="0" rtlCol="0" anchor="ctr"/>
          <a:lstStyle/>
          <a:p>
            <a:pPr algn="ctr" indent="0" marL="0">
              <a:buNone/>
            </a:pPr>
            <a:r>
              <a:rPr lang="en-US" sz="1400" b="1" spc="200" kern="0" dirty="0">
                <a:solidFill>
                  <a:srgbClr val="E7C766"/>
                </a:solidFill>
                <a:latin typeface="Arial" pitchFamily="34" charset="0"/>
                <a:ea typeface="Arial" pitchFamily="34" charset="-122"/>
                <a:cs typeface="Arial" pitchFamily="34" charset="-120"/>
              </a:rPr>
              <a:t>STEP TWO  ·  TEACH</a:t>
            </a:r>
            <a:endParaRPr lang="en-US" sz="1400" dirty="0"/>
          </a:p>
        </p:txBody>
      </p:sp>
      <p:sp>
        <p:nvSpPr>
          <p:cNvPr id="14" name="Text 12"/>
          <p:cNvSpPr/>
          <p:nvPr/>
        </p:nvSpPr>
        <p:spPr>
          <a:xfrm>
            <a:off x="1432408" y="2834640"/>
            <a:ext cx="932688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The triage desk.</a:t>
            </a:r>
            <a:endParaRPr lang="en-US" sz="4800" dirty="0"/>
          </a:p>
        </p:txBody>
      </p:sp>
      <p:sp>
        <p:nvSpPr>
          <p:cNvPr id="15" name="Text 13"/>
          <p:cNvSpPr/>
          <p:nvPr/>
        </p:nvSpPr>
        <p:spPr>
          <a:xfrm>
            <a:off x="813816" y="4026286"/>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Four questions, about four minutes. She writes her own playbook.</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14</a:t>
            </a:r>
            <a:endParaRPr lang="en-US" sz="900" dirty="0"/>
          </a:p>
        </p:txBody>
      </p:sp>
      <p:sp>
        <p:nvSpPr>
          <p:cNvPr id="7" name="Shape 5"/>
          <p:cNvSpPr/>
          <p:nvPr/>
        </p:nvSpPr>
        <p:spPr>
          <a:xfrm>
            <a:off x="10899648" y="475488"/>
            <a:ext cx="402336" cy="402336"/>
          </a:xfrm>
          <a:prstGeom prst="ellipse">
            <a:avLst/>
          </a:prstGeom>
          <a:ln w="9525">
            <a:solidFill>
              <a:srgbClr val="C9A227"/>
            </a:solidFill>
            <a:prstDash val="solid"/>
          </a:ln>
        </p:spPr>
      </p:sp>
      <p:sp>
        <p:nvSpPr>
          <p:cNvPr id="8" name="Shape 6"/>
          <p:cNvSpPr/>
          <p:nvPr/>
        </p:nvSpPr>
        <p:spPr>
          <a:xfrm>
            <a:off x="11043666" y="418338"/>
            <a:ext cx="114300" cy="114300"/>
          </a:xfrm>
          <a:prstGeom prst="ellipse">
            <a:avLst/>
          </a:prstGeom>
          <a:solidFill>
            <a:srgbClr val="C9A227"/>
          </a:solidFill>
          <a:ln w="9525">
            <a:solidFill>
              <a:srgbClr val="C9A227"/>
            </a:solidFill>
            <a:prstDash val="solid"/>
          </a:ln>
        </p:spPr>
      </p:sp>
      <p:sp>
        <p:nvSpPr>
          <p:cNvPr id="9" name="Shape 7"/>
          <p:cNvSpPr/>
          <p:nvPr/>
        </p:nvSpPr>
        <p:spPr>
          <a:xfrm>
            <a:off x="11244834" y="619506"/>
            <a:ext cx="114300" cy="114300"/>
          </a:xfrm>
          <a:prstGeom prst="ellipse">
            <a:avLst/>
          </a:prstGeom>
          <a:solidFill>
            <a:srgbClr val="C9A227"/>
          </a:solidFill>
          <a:ln w="9525">
            <a:solidFill>
              <a:srgbClr val="C9A227"/>
            </a:solidFill>
            <a:prstDash val="solid"/>
          </a:ln>
        </p:spPr>
      </p:sp>
      <p:sp>
        <p:nvSpPr>
          <p:cNvPr id="10" name="Shape 8"/>
          <p:cNvSpPr/>
          <p:nvPr/>
        </p:nvSpPr>
        <p:spPr>
          <a:xfrm>
            <a:off x="11043666" y="820674"/>
            <a:ext cx="114300" cy="114300"/>
          </a:xfrm>
          <a:prstGeom prst="ellipse">
            <a:avLst/>
          </a:prstGeom>
          <a:solidFill>
            <a:srgbClr val="F7F3EA"/>
          </a:solidFill>
          <a:ln w="9525">
            <a:solidFill>
              <a:srgbClr val="C9A227"/>
            </a:solidFill>
            <a:prstDash val="solid"/>
          </a:ln>
        </p:spPr>
      </p:sp>
      <p:sp>
        <p:nvSpPr>
          <p:cNvPr id="11" name="Shape 9"/>
          <p:cNvSpPr/>
          <p:nvPr/>
        </p:nvSpPr>
        <p:spPr>
          <a:xfrm>
            <a:off x="10842498" y="619506"/>
            <a:ext cx="114300" cy="114300"/>
          </a:xfrm>
          <a:prstGeom prst="ellipse">
            <a:avLst/>
          </a:prstGeom>
          <a:solidFill>
            <a:srgbClr val="F7F3EA"/>
          </a:solidFill>
          <a:ln w="9525">
            <a:solidFill>
              <a:srgbClr val="C9A227"/>
            </a:solidFill>
            <a:prstDash val="solid"/>
          </a:ln>
        </p:spPr>
      </p:sp>
      <p:sp>
        <p:nvSpPr>
          <p:cNvPr id="12" name="Text 10"/>
          <p:cNvSpPr/>
          <p:nvPr/>
        </p:nvSpPr>
        <p:spPr>
          <a:xfrm>
            <a:off x="10204704" y="932688"/>
            <a:ext cx="1179576" cy="164592"/>
          </a:xfrm>
          <a:prstGeom prst="rect">
            <a:avLst/>
          </a:prstGeom>
          <a:noFill/>
          <a:ln/>
        </p:spPr>
        <p:txBody>
          <a:bodyPr wrap="square" lIns="0" tIns="0" rIns="0" bIns="0" rtlCol="0" anchor="ctr"/>
          <a:lstStyle/>
          <a:p>
            <a:pPr algn="r" indent="0" marL="0">
              <a:buNone/>
            </a:pPr>
            <a:r>
              <a:rPr lang="en-US" sz="700" b="1" spc="90" kern="0" dirty="0">
                <a:solidFill>
                  <a:srgbClr val="8A6D14"/>
                </a:solidFill>
                <a:latin typeface="Arial" pitchFamily="34" charset="0"/>
                <a:ea typeface="Arial" pitchFamily="34" charset="-122"/>
                <a:cs typeface="Arial" pitchFamily="34" charset="-120"/>
              </a:rPr>
              <a:t>CONNECT · TEACH</a:t>
            </a:r>
            <a:endParaRPr lang="en-US" sz="700" dirty="0"/>
          </a:p>
        </p:txBody>
      </p:sp>
      <p:sp>
        <p:nvSpPr>
          <p:cNvPr id="13" name="Text 11"/>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STEP TWO  ·  THE TRIAGE DESK</a:t>
            </a:r>
            <a:endParaRPr lang="en-US" sz="1200" dirty="0"/>
          </a:p>
        </p:txBody>
      </p:sp>
      <p:sp>
        <p:nvSpPr>
          <p:cNvPr id="14" name="Text 12"/>
          <p:cNvSpPr/>
          <p:nvPr/>
        </p:nvSpPr>
        <p:spPr>
          <a:xfrm>
            <a:off x="813816" y="841248"/>
            <a:ext cx="9418320"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This is the document. She writes it.</a:t>
            </a:r>
            <a:endParaRPr lang="en-US" sz="3400" dirty="0"/>
          </a:p>
        </p:txBody>
      </p:sp>
      <p:sp>
        <p:nvSpPr>
          <p:cNvPr id="15" name="Shape 13"/>
          <p:cNvSpPr/>
          <p:nvPr/>
        </p:nvSpPr>
        <p:spPr>
          <a:xfrm>
            <a:off x="813816" y="1677863"/>
            <a:ext cx="7315200" cy="1988820"/>
          </a:xfrm>
          <a:prstGeom prst="rect">
            <a:avLst/>
          </a:prstGeom>
          <a:solidFill>
            <a:srgbClr val="14213D"/>
          </a:solidFill>
          <a:ln/>
        </p:spPr>
      </p:sp>
      <p:sp>
        <p:nvSpPr>
          <p:cNvPr id="16" name="Text 14"/>
          <p:cNvSpPr/>
          <p:nvPr/>
        </p:nvSpPr>
        <p:spPr>
          <a:xfrm>
            <a:off x="1069848" y="1851599"/>
            <a:ext cx="680313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PASTE INTO A NEW CHAT IN YOUR DONNA PROJECT</a:t>
            </a:r>
            <a:endParaRPr lang="en-US" sz="1100" dirty="0"/>
          </a:p>
        </p:txBody>
      </p:sp>
      <p:sp>
        <p:nvSpPr>
          <p:cNvPr id="17" name="Text 15"/>
          <p:cNvSpPr/>
          <p:nvPr/>
        </p:nvSpPr>
        <p:spPr>
          <a:xfrm>
            <a:off x="1069848" y="2135063"/>
            <a:ext cx="6803136" cy="1440180"/>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Here is my triage playbook template. Read it, then run its Setup</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Interview on me exactly as written: four questions, about four</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minutes, one question at a time. Start now with your greeting and</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Question 1 of 4.</a:t>
            </a:r>
            <a:endParaRPr lang="en-US" sz="1200" dirty="0"/>
          </a:p>
          <a:p>
            <a:pPr indent="0" marL="0">
              <a:lnSpc>
                <a:spcPts val="1480"/>
              </a:lnSpc>
              <a:buNone/>
            </a:pP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[the full template rides along in the same paste.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One copy button on the site, step two.]</a:t>
            </a:r>
            <a:endParaRPr lang="en-US" sz="1200" dirty="0"/>
          </a:p>
        </p:txBody>
      </p:sp>
      <p:sp>
        <p:nvSpPr>
          <p:cNvPr id="18" name="Shape 16"/>
          <p:cNvSpPr/>
          <p:nvPr/>
        </p:nvSpPr>
        <p:spPr>
          <a:xfrm>
            <a:off x="813816" y="3886139"/>
            <a:ext cx="7315200" cy="864108"/>
          </a:xfrm>
          <a:prstGeom prst="rect">
            <a:avLst/>
          </a:prstGeom>
          <a:solidFill>
            <a:srgbClr val="14213D"/>
          </a:solidFill>
          <a:ln/>
        </p:spPr>
      </p:sp>
      <p:sp>
        <p:nvSpPr>
          <p:cNvPr id="19" name="Text 17"/>
          <p:cNvSpPr/>
          <p:nvPr/>
        </p:nvSpPr>
        <p:spPr>
          <a:xfrm>
            <a:off x="1069848" y="4059875"/>
            <a:ext cx="680313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THE ESCAPE HATCH · SHE JUMPS TO THE END</a:t>
            </a:r>
            <a:endParaRPr lang="en-US" sz="1100" dirty="0"/>
          </a:p>
        </p:txBody>
      </p:sp>
      <p:sp>
        <p:nvSpPr>
          <p:cNvPr id="20" name="Text 18"/>
          <p:cNvSpPr/>
          <p:nvPr/>
        </p:nvSpPr>
        <p:spPr>
          <a:xfrm>
            <a:off x="1069848" y="4343339"/>
            <a:ext cx="6803136" cy="315468"/>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final question</a:t>
            </a:r>
            <a:endParaRPr lang="en-US" sz="1200" dirty="0"/>
          </a:p>
        </p:txBody>
      </p:sp>
      <p:sp>
        <p:nvSpPr>
          <p:cNvPr id="21" name="Text 19"/>
          <p:cNvSpPr/>
          <p:nvPr/>
        </p:nvSpPr>
        <p:spPr>
          <a:xfrm>
            <a:off x="8494776" y="1714439"/>
            <a:ext cx="2889504" cy="299466"/>
          </a:xfrm>
          <a:prstGeom prst="rect">
            <a:avLst/>
          </a:prstGeom>
          <a:noFill/>
          <a:ln/>
        </p:spPr>
        <p:txBody>
          <a:bodyPr wrap="square" lIns="0" tIns="0" rIns="0" bIns="0" rtlCol="0" anchor="t"/>
          <a:lstStyle/>
          <a:p>
            <a:pPr algn="l" indent="0" marL="0">
              <a:buNone/>
            </a:pPr>
            <a:r>
              <a:rPr lang="en-US" sz="1300" b="1" spc="160" kern="0" dirty="0">
                <a:solidFill>
                  <a:srgbClr val="8A6D14"/>
                </a:solidFill>
                <a:latin typeface="Arial" pitchFamily="34" charset="0"/>
                <a:ea typeface="Arial" pitchFamily="34" charset="-122"/>
                <a:cs typeface="Arial" pitchFamily="34" charset="-120"/>
              </a:rPr>
              <a:t>THE FOUR QUESTIONS</a:t>
            </a:r>
            <a:endParaRPr lang="en-US" sz="1300" dirty="0"/>
          </a:p>
        </p:txBody>
      </p:sp>
      <p:sp>
        <p:nvSpPr>
          <p:cNvPr id="22" name="Shape 20"/>
          <p:cNvSpPr/>
          <p:nvPr/>
        </p:nvSpPr>
        <p:spPr>
          <a:xfrm rot="2700000">
            <a:off x="8494776" y="2135063"/>
            <a:ext cx="100584" cy="100584"/>
          </a:xfrm>
          <a:prstGeom prst="rect">
            <a:avLst/>
          </a:prstGeom>
          <a:solidFill>
            <a:srgbClr val="C9A227"/>
          </a:solidFill>
          <a:ln w="3175">
            <a:solidFill>
              <a:srgbClr val="C9A227"/>
            </a:solidFill>
            <a:prstDash val="solid"/>
          </a:ln>
        </p:spPr>
      </p:sp>
      <p:sp>
        <p:nvSpPr>
          <p:cNvPr id="23" name="Text 21"/>
          <p:cNvSpPr/>
          <p:nvPr/>
        </p:nvSpPr>
        <p:spPr>
          <a:xfrm>
            <a:off x="8805672" y="2080199"/>
            <a:ext cx="2578608" cy="315468"/>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1 · Reply Now</a:t>
            </a:r>
            <a:endParaRPr lang="en-US" sz="1400" dirty="0"/>
          </a:p>
        </p:txBody>
      </p:sp>
      <p:sp>
        <p:nvSpPr>
          <p:cNvPr id="24" name="Text 22"/>
          <p:cNvSpPr/>
          <p:nvPr/>
        </p:nvSpPr>
        <p:spPr>
          <a:xfrm>
            <a:off x="8805672" y="2395667"/>
            <a:ext cx="2578608" cy="28346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the 3 to 5 people who never wait</a:t>
            </a:r>
            <a:endParaRPr lang="en-US" sz="1200" dirty="0"/>
          </a:p>
        </p:txBody>
      </p:sp>
      <p:sp>
        <p:nvSpPr>
          <p:cNvPr id="25" name="Shape 23"/>
          <p:cNvSpPr/>
          <p:nvPr/>
        </p:nvSpPr>
        <p:spPr>
          <a:xfrm rot="2700000">
            <a:off x="8494776" y="2843723"/>
            <a:ext cx="100584" cy="100584"/>
          </a:xfrm>
          <a:prstGeom prst="rect">
            <a:avLst/>
          </a:prstGeom>
          <a:solidFill>
            <a:srgbClr val="C9A227"/>
          </a:solidFill>
          <a:ln w="3175">
            <a:solidFill>
              <a:srgbClr val="C9A227"/>
            </a:solidFill>
            <a:prstDash val="solid"/>
          </a:ln>
        </p:spPr>
      </p:sp>
      <p:sp>
        <p:nvSpPr>
          <p:cNvPr id="26" name="Text 24"/>
          <p:cNvSpPr/>
          <p:nvPr/>
        </p:nvSpPr>
        <p:spPr>
          <a:xfrm>
            <a:off x="8805672" y="2788859"/>
            <a:ext cx="2578608" cy="315468"/>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2 · By End of Day</a:t>
            </a:r>
            <a:endParaRPr lang="en-US" sz="1400" dirty="0"/>
          </a:p>
        </p:txBody>
      </p:sp>
      <p:sp>
        <p:nvSpPr>
          <p:cNvPr id="27" name="Text 25"/>
          <p:cNvSpPr/>
          <p:nvPr/>
        </p:nvSpPr>
        <p:spPr>
          <a:xfrm>
            <a:off x="8805672" y="3104327"/>
            <a:ext cx="2578608" cy="28346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your team</a:t>
            </a:r>
            <a:endParaRPr lang="en-US" sz="1200" dirty="0"/>
          </a:p>
        </p:txBody>
      </p:sp>
      <p:sp>
        <p:nvSpPr>
          <p:cNvPr id="28" name="Shape 26"/>
          <p:cNvSpPr/>
          <p:nvPr/>
        </p:nvSpPr>
        <p:spPr>
          <a:xfrm rot="2700000">
            <a:off x="8494776" y="3552383"/>
            <a:ext cx="100584" cy="100584"/>
          </a:xfrm>
          <a:prstGeom prst="rect">
            <a:avLst/>
          </a:prstGeom>
          <a:solidFill>
            <a:srgbClr val="C9A227"/>
          </a:solidFill>
          <a:ln w="3175">
            <a:solidFill>
              <a:srgbClr val="C9A227"/>
            </a:solidFill>
            <a:prstDash val="solid"/>
          </a:ln>
        </p:spPr>
      </p:sp>
      <p:sp>
        <p:nvSpPr>
          <p:cNvPr id="29" name="Text 27"/>
          <p:cNvSpPr/>
          <p:nvPr/>
        </p:nvSpPr>
        <p:spPr>
          <a:xfrm>
            <a:off x="8805672" y="3497519"/>
            <a:ext cx="2578608" cy="315468"/>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3 · Your priorities</a:t>
            </a:r>
            <a:endParaRPr lang="en-US" sz="1400" dirty="0"/>
          </a:p>
        </p:txBody>
      </p:sp>
      <p:sp>
        <p:nvSpPr>
          <p:cNvPr id="30" name="Text 28"/>
          <p:cNvSpPr/>
          <p:nvPr/>
        </p:nvSpPr>
        <p:spPr>
          <a:xfrm>
            <a:off x="8805672" y="3812987"/>
            <a:ext cx="2578608" cy="28346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one to three, right now</a:t>
            </a:r>
            <a:endParaRPr lang="en-US" sz="1200" dirty="0"/>
          </a:p>
        </p:txBody>
      </p:sp>
      <p:sp>
        <p:nvSpPr>
          <p:cNvPr id="31" name="Shape 29"/>
          <p:cNvSpPr/>
          <p:nvPr/>
        </p:nvSpPr>
        <p:spPr>
          <a:xfrm rot="2700000">
            <a:off x="8494776" y="4261043"/>
            <a:ext cx="100584" cy="100584"/>
          </a:xfrm>
          <a:prstGeom prst="rect">
            <a:avLst/>
          </a:prstGeom>
          <a:solidFill>
            <a:srgbClr val="C9A227"/>
          </a:solidFill>
          <a:ln w="3175">
            <a:solidFill>
              <a:srgbClr val="C9A227"/>
            </a:solidFill>
            <a:prstDash val="solid"/>
          </a:ln>
        </p:spPr>
      </p:sp>
      <p:sp>
        <p:nvSpPr>
          <p:cNvPr id="32" name="Text 30"/>
          <p:cNvSpPr/>
          <p:nvPr/>
        </p:nvSpPr>
        <p:spPr>
          <a:xfrm>
            <a:off x="8805672" y="4206179"/>
            <a:ext cx="2578608" cy="315468"/>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4 · THE FINAL QUESTION</a:t>
            </a:r>
            <a:endParaRPr lang="en-US" sz="1400" dirty="0"/>
          </a:p>
        </p:txBody>
      </p:sp>
      <p:sp>
        <p:nvSpPr>
          <p:cNvPr id="33" name="Text 31"/>
          <p:cNvSpPr/>
          <p:nvPr/>
        </p:nvSpPr>
        <p:spPr>
          <a:xfrm>
            <a:off x="8805672" y="4521647"/>
            <a:ext cx="2578608" cy="28346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your voice, in 3 words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15</a:t>
            </a:r>
            <a:endParaRPr lang="en-US" sz="900" dirty="0"/>
          </a:p>
        </p:txBody>
      </p:sp>
      <p:sp>
        <p:nvSpPr>
          <p:cNvPr id="7" name="Shape 5"/>
          <p:cNvSpPr/>
          <p:nvPr/>
        </p:nvSpPr>
        <p:spPr>
          <a:xfrm>
            <a:off x="10899648" y="475488"/>
            <a:ext cx="402336" cy="402336"/>
          </a:xfrm>
          <a:prstGeom prst="ellipse">
            <a:avLst/>
          </a:prstGeom>
          <a:ln w="9525">
            <a:solidFill>
              <a:srgbClr val="C9A227"/>
            </a:solidFill>
            <a:prstDash val="solid"/>
          </a:ln>
        </p:spPr>
      </p:sp>
      <p:sp>
        <p:nvSpPr>
          <p:cNvPr id="8" name="Shape 6"/>
          <p:cNvSpPr/>
          <p:nvPr/>
        </p:nvSpPr>
        <p:spPr>
          <a:xfrm>
            <a:off x="11043666" y="418338"/>
            <a:ext cx="114300" cy="114300"/>
          </a:xfrm>
          <a:prstGeom prst="ellipse">
            <a:avLst/>
          </a:prstGeom>
          <a:solidFill>
            <a:srgbClr val="C9A227"/>
          </a:solidFill>
          <a:ln w="9525">
            <a:solidFill>
              <a:srgbClr val="C9A227"/>
            </a:solidFill>
            <a:prstDash val="solid"/>
          </a:ln>
        </p:spPr>
      </p:sp>
      <p:sp>
        <p:nvSpPr>
          <p:cNvPr id="9" name="Shape 7"/>
          <p:cNvSpPr/>
          <p:nvPr/>
        </p:nvSpPr>
        <p:spPr>
          <a:xfrm>
            <a:off x="11244834" y="619506"/>
            <a:ext cx="114300" cy="114300"/>
          </a:xfrm>
          <a:prstGeom prst="ellipse">
            <a:avLst/>
          </a:prstGeom>
          <a:solidFill>
            <a:srgbClr val="C9A227"/>
          </a:solidFill>
          <a:ln w="9525">
            <a:solidFill>
              <a:srgbClr val="C9A227"/>
            </a:solidFill>
            <a:prstDash val="solid"/>
          </a:ln>
        </p:spPr>
      </p:sp>
      <p:sp>
        <p:nvSpPr>
          <p:cNvPr id="10" name="Shape 8"/>
          <p:cNvSpPr/>
          <p:nvPr/>
        </p:nvSpPr>
        <p:spPr>
          <a:xfrm>
            <a:off x="11043666" y="820674"/>
            <a:ext cx="114300" cy="114300"/>
          </a:xfrm>
          <a:prstGeom prst="ellipse">
            <a:avLst/>
          </a:prstGeom>
          <a:solidFill>
            <a:srgbClr val="14213D"/>
          </a:solidFill>
          <a:ln w="9525">
            <a:solidFill>
              <a:srgbClr val="C9A227"/>
            </a:solidFill>
            <a:prstDash val="solid"/>
          </a:ln>
        </p:spPr>
      </p:sp>
      <p:sp>
        <p:nvSpPr>
          <p:cNvPr id="11" name="Shape 9"/>
          <p:cNvSpPr/>
          <p:nvPr/>
        </p:nvSpPr>
        <p:spPr>
          <a:xfrm>
            <a:off x="10842498" y="619506"/>
            <a:ext cx="114300" cy="114300"/>
          </a:xfrm>
          <a:prstGeom prst="ellipse">
            <a:avLst/>
          </a:prstGeom>
          <a:solidFill>
            <a:srgbClr val="14213D"/>
          </a:solidFill>
          <a:ln w="9525">
            <a:solidFill>
              <a:srgbClr val="C9A227"/>
            </a:solidFill>
            <a:prstDash val="solid"/>
          </a:ln>
        </p:spPr>
      </p:sp>
      <p:sp>
        <p:nvSpPr>
          <p:cNvPr id="12" name="Text 10"/>
          <p:cNvSpPr/>
          <p:nvPr/>
        </p:nvSpPr>
        <p:spPr>
          <a:xfrm>
            <a:off x="10204704" y="932688"/>
            <a:ext cx="1179576"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CONNECT · TEACH</a:t>
            </a:r>
            <a:endParaRPr lang="en-US" sz="700" dirty="0"/>
          </a:p>
        </p:txBody>
      </p:sp>
      <p:sp>
        <p:nvSpPr>
          <p:cNvPr id="13" name="Text 11"/>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STEP TWO  ·  CHECKPOINT</a:t>
            </a:r>
            <a:endParaRPr lang="en-US" sz="1200" dirty="0"/>
          </a:p>
        </p:txBody>
      </p:sp>
      <p:sp>
        <p:nvSpPr>
          <p:cNvPr id="14" name="Text 12"/>
          <p:cNvSpPr/>
          <p:nvPr/>
        </p:nvSpPr>
        <p:spPr>
          <a:xfrm>
            <a:off x="1340968" y="1737360"/>
            <a:ext cx="9509760" cy="1399642"/>
          </a:xfrm>
          <a:prstGeom prst="rect">
            <a:avLst/>
          </a:prstGeom>
          <a:noFill/>
          <a:ln/>
        </p:spPr>
        <p:txBody>
          <a:bodyPr wrap="square" lIns="0" tIns="0" rIns="0" bIns="0" rtlCol="0" anchor="t"/>
          <a:lstStyle/>
          <a:p>
            <a:pPr algn="ctr" indent="0" marL="0">
              <a:buNone/>
            </a:pPr>
            <a:r>
              <a:rPr lang="en-US" sz="4000" b="1" dirty="0">
                <a:solidFill>
                  <a:srgbClr val="F7F3EA"/>
                </a:solidFill>
                <a:latin typeface="Georgia" pitchFamily="34" charset="0"/>
                <a:ea typeface="Georgia" pitchFamily="34" charset="-122"/>
                <a:cs typeface="Georgia" pitchFamily="34" charset="-120"/>
              </a:rPr>
              <a:t>You get one table instead of an inbox.</a:t>
            </a:r>
            <a:endParaRPr lang="en-US" sz="4000" dirty="0"/>
          </a:p>
        </p:txBody>
      </p:sp>
      <p:sp>
        <p:nvSpPr>
          <p:cNvPr id="15" name="Shape 13"/>
          <p:cNvSpPr/>
          <p:nvPr/>
        </p:nvSpPr>
        <p:spPr>
          <a:xfrm>
            <a:off x="3352648" y="3813658"/>
            <a:ext cx="5486400" cy="864108"/>
          </a:xfrm>
          <a:prstGeom prst="rect">
            <a:avLst/>
          </a:prstGeom>
          <a:solidFill>
            <a:srgbClr val="1C2333"/>
          </a:solidFill>
          <a:ln/>
        </p:spPr>
      </p:sp>
      <p:sp>
        <p:nvSpPr>
          <p:cNvPr id="16" name="Text 14"/>
          <p:cNvSpPr/>
          <p:nvPr/>
        </p:nvSpPr>
        <p:spPr>
          <a:xfrm>
            <a:off x="3608680" y="3987394"/>
            <a:ext cx="497433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THE ENTIRE DAILY RITUAL, FROM NOW ON</a:t>
            </a:r>
            <a:endParaRPr lang="en-US" sz="1100" dirty="0"/>
          </a:p>
        </p:txBody>
      </p:sp>
      <p:sp>
        <p:nvSpPr>
          <p:cNvPr id="17" name="Text 15"/>
          <p:cNvSpPr/>
          <p:nvPr/>
        </p:nvSpPr>
        <p:spPr>
          <a:xfrm>
            <a:off x="3608680" y="4270858"/>
            <a:ext cx="4974336" cy="315468"/>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Triage my inbox.</a:t>
            </a:r>
            <a:endParaRPr lang="en-US" sz="1200" dirty="0"/>
          </a:p>
        </p:txBody>
      </p:sp>
      <p:sp>
        <p:nvSpPr>
          <p:cNvPr id="18" name="Text 16"/>
          <p:cNvSpPr/>
          <p:nvPr/>
        </p:nvSpPr>
        <p:spPr>
          <a:xfrm>
            <a:off x="813816" y="5061814"/>
            <a:ext cx="10570464" cy="310896"/>
          </a:xfrm>
          <a:prstGeom prst="rect">
            <a:avLst/>
          </a:prstGeom>
          <a:noFill/>
          <a:ln/>
        </p:spPr>
        <p:txBody>
          <a:bodyPr wrap="square" lIns="0" tIns="0" rIns="0" bIns="0" rtlCol="0" anchor="ctr"/>
          <a:lstStyle/>
          <a:p>
            <a:pPr algn="ctr" indent="0" marL="0">
              <a:buNone/>
            </a:pPr>
            <a:r>
              <a:rPr lang="en-US" sz="1700" b="1" dirty="0">
                <a:solidFill>
                  <a:srgbClr val="E7C766"/>
                </a:solidFill>
                <a:latin typeface="Arial" pitchFamily="34" charset="0"/>
                <a:ea typeface="Arial" pitchFamily="34" charset="-122"/>
                <a:cs typeface="Arial" pitchFamily="34" charset="-120"/>
              </a:rPr>
              <a:t>Chat is a conversation. A playbook is a standing arrangement.</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16</a:t>
            </a:r>
            <a:endParaRPr lang="en-US" sz="900" dirty="0"/>
          </a:p>
        </p:txBody>
      </p:sp>
      <p:sp>
        <p:nvSpPr>
          <p:cNvPr id="7" name="Shape 5"/>
          <p:cNvSpPr/>
          <p:nvPr/>
        </p:nvSpPr>
        <p:spPr>
          <a:xfrm>
            <a:off x="10899648" y="475488"/>
            <a:ext cx="402336" cy="402336"/>
          </a:xfrm>
          <a:prstGeom prst="ellipse">
            <a:avLst/>
          </a:prstGeom>
          <a:ln w="9525">
            <a:solidFill>
              <a:srgbClr val="C9A227"/>
            </a:solidFill>
            <a:prstDash val="solid"/>
          </a:ln>
        </p:spPr>
      </p:sp>
      <p:sp>
        <p:nvSpPr>
          <p:cNvPr id="8" name="Shape 6"/>
          <p:cNvSpPr/>
          <p:nvPr/>
        </p:nvSpPr>
        <p:spPr>
          <a:xfrm>
            <a:off x="11043666" y="418338"/>
            <a:ext cx="114300" cy="114300"/>
          </a:xfrm>
          <a:prstGeom prst="ellipse">
            <a:avLst/>
          </a:prstGeom>
          <a:solidFill>
            <a:srgbClr val="C9A227"/>
          </a:solidFill>
          <a:ln w="9525">
            <a:solidFill>
              <a:srgbClr val="C9A227"/>
            </a:solidFill>
            <a:prstDash val="solid"/>
          </a:ln>
        </p:spPr>
      </p:sp>
      <p:sp>
        <p:nvSpPr>
          <p:cNvPr id="9" name="Shape 7"/>
          <p:cNvSpPr/>
          <p:nvPr/>
        </p:nvSpPr>
        <p:spPr>
          <a:xfrm>
            <a:off x="11244834" y="619506"/>
            <a:ext cx="114300" cy="114300"/>
          </a:xfrm>
          <a:prstGeom prst="ellipse">
            <a:avLst/>
          </a:prstGeom>
          <a:solidFill>
            <a:srgbClr val="C9A227"/>
          </a:solidFill>
          <a:ln w="9525">
            <a:solidFill>
              <a:srgbClr val="C9A227"/>
            </a:solidFill>
            <a:prstDash val="solid"/>
          </a:ln>
        </p:spPr>
      </p:sp>
      <p:sp>
        <p:nvSpPr>
          <p:cNvPr id="10" name="Shape 8"/>
          <p:cNvSpPr/>
          <p:nvPr/>
        </p:nvSpPr>
        <p:spPr>
          <a:xfrm>
            <a:off x="11043666" y="820674"/>
            <a:ext cx="114300" cy="114300"/>
          </a:xfrm>
          <a:prstGeom prst="ellipse">
            <a:avLst/>
          </a:prstGeom>
          <a:solidFill>
            <a:srgbClr val="C9A227"/>
          </a:solidFill>
          <a:ln w="9525">
            <a:solidFill>
              <a:srgbClr val="C9A227"/>
            </a:solidFill>
            <a:prstDash val="solid"/>
          </a:ln>
        </p:spPr>
      </p:sp>
      <p:sp>
        <p:nvSpPr>
          <p:cNvPr id="11" name="Shape 9"/>
          <p:cNvSpPr/>
          <p:nvPr/>
        </p:nvSpPr>
        <p:spPr>
          <a:xfrm>
            <a:off x="10842498" y="619506"/>
            <a:ext cx="114300" cy="114300"/>
          </a:xfrm>
          <a:prstGeom prst="ellipse">
            <a:avLst/>
          </a:prstGeom>
          <a:solidFill>
            <a:srgbClr val="14213D"/>
          </a:solidFill>
          <a:ln w="9525">
            <a:solidFill>
              <a:srgbClr val="C9A227"/>
            </a:solidFill>
            <a:prstDash val="solid"/>
          </a:ln>
        </p:spPr>
      </p:sp>
      <p:sp>
        <p:nvSpPr>
          <p:cNvPr id="12" name="Text 10"/>
          <p:cNvSpPr/>
          <p:nvPr/>
        </p:nvSpPr>
        <p:spPr>
          <a:xfrm>
            <a:off x="9776765" y="932688"/>
            <a:ext cx="1607515"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CONNECT · TEACH · RUN</a:t>
            </a:r>
            <a:endParaRPr lang="en-US" sz="700" dirty="0"/>
          </a:p>
        </p:txBody>
      </p:sp>
      <p:sp>
        <p:nvSpPr>
          <p:cNvPr id="13" name="Text 11"/>
          <p:cNvSpPr/>
          <p:nvPr/>
        </p:nvSpPr>
        <p:spPr>
          <a:xfrm>
            <a:off x="813816" y="2450592"/>
            <a:ext cx="10570464" cy="274320"/>
          </a:xfrm>
          <a:prstGeom prst="rect">
            <a:avLst/>
          </a:prstGeom>
          <a:noFill/>
          <a:ln/>
        </p:spPr>
        <p:txBody>
          <a:bodyPr wrap="square" lIns="0" tIns="0" rIns="0" bIns="0" rtlCol="0" anchor="ctr"/>
          <a:lstStyle/>
          <a:p>
            <a:pPr algn="ctr" indent="0" marL="0">
              <a:buNone/>
            </a:pPr>
            <a:r>
              <a:rPr lang="en-US" sz="1400" b="1" spc="200" kern="0" dirty="0">
                <a:solidFill>
                  <a:srgbClr val="E7C766"/>
                </a:solidFill>
                <a:latin typeface="Arial" pitchFamily="34" charset="0"/>
                <a:ea typeface="Arial" pitchFamily="34" charset="-122"/>
                <a:cs typeface="Arial" pitchFamily="34" charset="-120"/>
              </a:rPr>
              <a:t>STEP THREE  ·  RUN</a:t>
            </a:r>
            <a:endParaRPr lang="en-US" sz="1400" dirty="0"/>
          </a:p>
        </p:txBody>
      </p:sp>
      <p:sp>
        <p:nvSpPr>
          <p:cNvPr id="14" name="Text 12"/>
          <p:cNvSpPr/>
          <p:nvPr/>
        </p:nvSpPr>
        <p:spPr>
          <a:xfrm>
            <a:off x="1432408" y="2834640"/>
            <a:ext cx="932688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Donna, full time.</a:t>
            </a:r>
            <a:endParaRPr lang="en-US" sz="4800" dirty="0"/>
          </a:p>
        </p:txBody>
      </p:sp>
      <p:sp>
        <p:nvSpPr>
          <p:cNvPr id="15" name="Text 13"/>
          <p:cNvSpPr/>
          <p:nvPr/>
        </p:nvSpPr>
        <p:spPr>
          <a:xfrm>
            <a:off x="813816" y="4026286"/>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The document leaves your hands and goes on the clock.</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17</a:t>
            </a:r>
            <a:endParaRPr lang="en-US" sz="900" dirty="0"/>
          </a:p>
        </p:txBody>
      </p:sp>
      <p:sp>
        <p:nvSpPr>
          <p:cNvPr id="7" name="Shape 5"/>
          <p:cNvSpPr/>
          <p:nvPr/>
        </p:nvSpPr>
        <p:spPr>
          <a:xfrm>
            <a:off x="10899648" y="475488"/>
            <a:ext cx="402336" cy="402336"/>
          </a:xfrm>
          <a:prstGeom prst="ellipse">
            <a:avLst/>
          </a:prstGeom>
          <a:ln w="9525">
            <a:solidFill>
              <a:srgbClr val="C9A227"/>
            </a:solidFill>
            <a:prstDash val="solid"/>
          </a:ln>
        </p:spPr>
      </p:sp>
      <p:sp>
        <p:nvSpPr>
          <p:cNvPr id="8" name="Shape 6"/>
          <p:cNvSpPr/>
          <p:nvPr/>
        </p:nvSpPr>
        <p:spPr>
          <a:xfrm>
            <a:off x="11043666" y="418338"/>
            <a:ext cx="114300" cy="114300"/>
          </a:xfrm>
          <a:prstGeom prst="ellipse">
            <a:avLst/>
          </a:prstGeom>
          <a:solidFill>
            <a:srgbClr val="C9A227"/>
          </a:solidFill>
          <a:ln w="9525">
            <a:solidFill>
              <a:srgbClr val="C9A227"/>
            </a:solidFill>
            <a:prstDash val="solid"/>
          </a:ln>
        </p:spPr>
      </p:sp>
      <p:sp>
        <p:nvSpPr>
          <p:cNvPr id="9" name="Shape 7"/>
          <p:cNvSpPr/>
          <p:nvPr/>
        </p:nvSpPr>
        <p:spPr>
          <a:xfrm>
            <a:off x="11244834" y="619506"/>
            <a:ext cx="114300" cy="114300"/>
          </a:xfrm>
          <a:prstGeom prst="ellipse">
            <a:avLst/>
          </a:prstGeom>
          <a:solidFill>
            <a:srgbClr val="C9A227"/>
          </a:solidFill>
          <a:ln w="9525">
            <a:solidFill>
              <a:srgbClr val="C9A227"/>
            </a:solidFill>
            <a:prstDash val="solid"/>
          </a:ln>
        </p:spPr>
      </p:sp>
      <p:sp>
        <p:nvSpPr>
          <p:cNvPr id="10" name="Shape 8"/>
          <p:cNvSpPr/>
          <p:nvPr/>
        </p:nvSpPr>
        <p:spPr>
          <a:xfrm>
            <a:off x="11043666" y="820674"/>
            <a:ext cx="114300" cy="114300"/>
          </a:xfrm>
          <a:prstGeom prst="ellipse">
            <a:avLst/>
          </a:prstGeom>
          <a:solidFill>
            <a:srgbClr val="C9A227"/>
          </a:solidFill>
          <a:ln w="9525">
            <a:solidFill>
              <a:srgbClr val="C9A227"/>
            </a:solidFill>
            <a:prstDash val="solid"/>
          </a:ln>
        </p:spPr>
      </p:sp>
      <p:sp>
        <p:nvSpPr>
          <p:cNvPr id="11" name="Shape 9"/>
          <p:cNvSpPr/>
          <p:nvPr/>
        </p:nvSpPr>
        <p:spPr>
          <a:xfrm>
            <a:off x="10842498" y="619506"/>
            <a:ext cx="114300" cy="114300"/>
          </a:xfrm>
          <a:prstGeom prst="ellipse">
            <a:avLst/>
          </a:prstGeom>
          <a:solidFill>
            <a:srgbClr val="F7F3EA"/>
          </a:solidFill>
          <a:ln w="9525">
            <a:solidFill>
              <a:srgbClr val="C9A227"/>
            </a:solidFill>
            <a:prstDash val="solid"/>
          </a:ln>
        </p:spPr>
      </p:sp>
      <p:sp>
        <p:nvSpPr>
          <p:cNvPr id="12" name="Text 10"/>
          <p:cNvSpPr/>
          <p:nvPr/>
        </p:nvSpPr>
        <p:spPr>
          <a:xfrm>
            <a:off x="9776765" y="932688"/>
            <a:ext cx="1607515" cy="164592"/>
          </a:xfrm>
          <a:prstGeom prst="rect">
            <a:avLst/>
          </a:prstGeom>
          <a:noFill/>
          <a:ln/>
        </p:spPr>
        <p:txBody>
          <a:bodyPr wrap="square" lIns="0" tIns="0" rIns="0" bIns="0" rtlCol="0" anchor="ctr"/>
          <a:lstStyle/>
          <a:p>
            <a:pPr algn="r" indent="0" marL="0">
              <a:buNone/>
            </a:pPr>
            <a:r>
              <a:rPr lang="en-US" sz="700" b="1" spc="90" kern="0" dirty="0">
                <a:solidFill>
                  <a:srgbClr val="8A6D14"/>
                </a:solidFill>
                <a:latin typeface="Arial" pitchFamily="34" charset="0"/>
                <a:ea typeface="Arial" pitchFamily="34" charset="-122"/>
                <a:cs typeface="Arial" pitchFamily="34" charset="-120"/>
              </a:rPr>
              <a:t>CONNECT · TEACH · RUN</a:t>
            </a:r>
            <a:endParaRPr lang="en-US" sz="700" dirty="0"/>
          </a:p>
        </p:txBody>
      </p:sp>
      <p:sp>
        <p:nvSpPr>
          <p:cNvPr id="13" name="Text 11"/>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STEP THREE  ·  HER PLAYBOOK</a:t>
            </a:r>
            <a:endParaRPr lang="en-US" sz="1200" dirty="0"/>
          </a:p>
        </p:txBody>
      </p:sp>
      <p:sp>
        <p:nvSpPr>
          <p:cNvPr id="14" name="Text 12"/>
          <p:cNvSpPr/>
          <p:nvPr/>
        </p:nvSpPr>
        <p:spPr>
          <a:xfrm>
            <a:off x="813816" y="841248"/>
            <a:ext cx="9418320"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She writes her own playbook file.</a:t>
            </a:r>
            <a:endParaRPr lang="en-US" sz="3400" dirty="0"/>
          </a:p>
        </p:txBody>
      </p:sp>
      <p:sp>
        <p:nvSpPr>
          <p:cNvPr id="15" name="Shape 13"/>
          <p:cNvSpPr/>
          <p:nvPr/>
        </p:nvSpPr>
        <p:spPr>
          <a:xfrm>
            <a:off x="813816" y="1677863"/>
            <a:ext cx="7315200" cy="2176272"/>
          </a:xfrm>
          <a:prstGeom prst="rect">
            <a:avLst/>
          </a:prstGeom>
          <a:solidFill>
            <a:srgbClr val="14213D"/>
          </a:solidFill>
          <a:ln/>
        </p:spPr>
      </p:sp>
      <p:sp>
        <p:nvSpPr>
          <p:cNvPr id="16" name="Text 14"/>
          <p:cNvSpPr/>
          <p:nvPr/>
        </p:nvSpPr>
        <p:spPr>
          <a:xfrm>
            <a:off x="1069848" y="1851599"/>
            <a:ext cx="680313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PASTE IN THE SAME CHAT, AFTER YOUR FIRST TABLE</a:t>
            </a:r>
            <a:endParaRPr lang="en-US" sz="1100" dirty="0"/>
          </a:p>
        </p:txBody>
      </p:sp>
      <p:sp>
        <p:nvSpPr>
          <p:cNvPr id="17" name="Text 15"/>
          <p:cNvSpPr/>
          <p:nvPr/>
        </p:nvSpPr>
        <p:spPr>
          <a:xfrm>
            <a:off x="1069848" y="2135063"/>
            <a:ext cx="6803136" cy="1627632"/>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Turn this conversation's triage setup into a reusable skill named</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donna-triage. Fill in the template we used with everything you</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learned about me: my people and tiers, my priorities, my voice. Keep</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the daily shift, the Friday retrain, and the Setup Interview sections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so the skill knows how to run on a schedule, how to retrain, and how</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to reconfigure. Keep the hard rules exactly as written: never send,</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never delete. Then give me the finished skill as a downloadable zip</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named donna-triage.zip containing donna-triage/SKILL.md.</a:t>
            </a:r>
            <a:endParaRPr lang="en-US" sz="1200" dirty="0"/>
          </a:p>
        </p:txBody>
      </p:sp>
      <p:sp>
        <p:nvSpPr>
          <p:cNvPr id="18" name="Shape 16"/>
          <p:cNvSpPr/>
          <p:nvPr/>
        </p:nvSpPr>
        <p:spPr>
          <a:xfrm>
            <a:off x="813816" y="4073591"/>
            <a:ext cx="7315200" cy="982980"/>
          </a:xfrm>
          <a:prstGeom prst="rect">
            <a:avLst/>
          </a:prstGeom>
          <a:solidFill>
            <a:srgbClr val="E8E2D2"/>
          </a:solidFill>
          <a:ln/>
        </p:spPr>
      </p:sp>
      <p:sp>
        <p:nvSpPr>
          <p:cNvPr id="19" name="Shape 17"/>
          <p:cNvSpPr/>
          <p:nvPr/>
        </p:nvSpPr>
        <p:spPr>
          <a:xfrm rot="2700000">
            <a:off x="1051560" y="4389059"/>
            <a:ext cx="100584" cy="100584"/>
          </a:xfrm>
          <a:prstGeom prst="rect">
            <a:avLst/>
          </a:prstGeom>
          <a:solidFill>
            <a:srgbClr val="C9A227"/>
          </a:solidFill>
          <a:ln w="3175">
            <a:solidFill>
              <a:srgbClr val="C9A227"/>
            </a:solidFill>
            <a:prstDash val="solid"/>
          </a:ln>
        </p:spPr>
      </p:sp>
      <p:sp>
        <p:nvSpPr>
          <p:cNvPr id="20" name="Text 18"/>
          <p:cNvSpPr/>
          <p:nvPr/>
        </p:nvSpPr>
        <p:spPr>
          <a:xfrm>
            <a:off x="1362456" y="4311335"/>
            <a:ext cx="6528816" cy="507492"/>
          </a:xfrm>
          <a:prstGeom prst="rect">
            <a:avLst/>
          </a:prstGeom>
          <a:noFill/>
          <a:ln/>
        </p:spPr>
        <p:txBody>
          <a:bodyPr wrap="square" lIns="0" tIns="0" rIns="0" bIns="0" rtlCol="0" anchor="t"/>
          <a:lstStyle/>
          <a:p>
            <a:pPr indent="0" marL="0">
              <a:lnSpc>
                <a:spcPct val="116000"/>
              </a:lnSpc>
              <a:buNone/>
            </a:pPr>
            <a:r>
              <a:rPr lang="en-US" sz="1300" b="1" dirty="0">
                <a:solidFill>
                  <a:srgbClr val="8A6D14"/>
                </a:solidFill>
                <a:latin typeface="Arial" pitchFamily="34" charset="0"/>
                <a:ea typeface="Arial" pitchFamily="34" charset="-122"/>
                <a:cs typeface="Arial" pitchFamily="34" charset="-120"/>
              </a:rPr>
              <a:t>You should see donna-triage in your skills list before anyone touches Scheduled.</a:t>
            </a:r>
            <a:endParaRPr lang="en-US" sz="1300" dirty="0"/>
          </a:p>
        </p:txBody>
      </p:sp>
      <p:sp>
        <p:nvSpPr>
          <p:cNvPr id="21" name="Text 19"/>
          <p:cNvSpPr/>
          <p:nvPr/>
        </p:nvSpPr>
        <p:spPr>
          <a:xfrm>
            <a:off x="8494776" y="1714439"/>
            <a:ext cx="2889504" cy="299466"/>
          </a:xfrm>
          <a:prstGeom prst="rect">
            <a:avLst/>
          </a:prstGeom>
          <a:noFill/>
          <a:ln/>
        </p:spPr>
        <p:txBody>
          <a:bodyPr wrap="square" lIns="0" tIns="0" rIns="0" bIns="0" rtlCol="0" anchor="t"/>
          <a:lstStyle/>
          <a:p>
            <a:pPr algn="l" indent="0" marL="0">
              <a:buNone/>
            </a:pPr>
            <a:r>
              <a:rPr lang="en-US" sz="1300" b="1" spc="160" kern="0" dirty="0">
                <a:solidFill>
                  <a:srgbClr val="8A6D14"/>
                </a:solidFill>
                <a:latin typeface="Arial" pitchFamily="34" charset="0"/>
                <a:ea typeface="Arial" pitchFamily="34" charset="-122"/>
                <a:cs typeface="Arial" pitchFamily="34" charset="-120"/>
              </a:rPr>
              <a:t>THEN THE HANDOFF</a:t>
            </a:r>
            <a:endParaRPr lang="en-US" sz="1300" dirty="0"/>
          </a:p>
        </p:txBody>
      </p:sp>
      <p:sp>
        <p:nvSpPr>
          <p:cNvPr id="22" name="Text 20"/>
          <p:cNvSpPr/>
          <p:nvPr/>
        </p:nvSpPr>
        <p:spPr>
          <a:xfrm>
            <a:off x="8494776" y="2144207"/>
            <a:ext cx="365760" cy="347472"/>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1</a:t>
            </a:r>
            <a:endParaRPr lang="en-US" sz="2400" dirty="0"/>
          </a:p>
        </p:txBody>
      </p:sp>
      <p:sp>
        <p:nvSpPr>
          <p:cNvPr id="23" name="Text 21"/>
          <p:cNvSpPr/>
          <p:nvPr/>
        </p:nvSpPr>
        <p:spPr>
          <a:xfrm>
            <a:off x="8951976" y="2171639"/>
            <a:ext cx="2432304" cy="315468"/>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She writes the file.</a:t>
            </a:r>
            <a:endParaRPr lang="en-US" sz="1400" dirty="0"/>
          </a:p>
        </p:txBody>
      </p:sp>
      <p:sp>
        <p:nvSpPr>
          <p:cNvPr id="24" name="Text 22"/>
          <p:cNvSpPr/>
          <p:nvPr/>
        </p:nvSpPr>
        <p:spPr>
          <a:xfrm>
            <a:off x="8494776" y="2802575"/>
            <a:ext cx="365760" cy="347472"/>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2</a:t>
            </a:r>
            <a:endParaRPr lang="en-US" sz="2400" dirty="0"/>
          </a:p>
        </p:txBody>
      </p:sp>
      <p:sp>
        <p:nvSpPr>
          <p:cNvPr id="25" name="Text 23"/>
          <p:cNvSpPr/>
          <p:nvPr/>
        </p:nvSpPr>
        <p:spPr>
          <a:xfrm>
            <a:off x="8951976" y="2830007"/>
            <a:ext cx="2432304" cy="539496"/>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You download it. The file card has a download arrow.</a:t>
            </a:r>
            <a:endParaRPr lang="en-US" sz="1400" dirty="0"/>
          </a:p>
        </p:txBody>
      </p:sp>
      <p:sp>
        <p:nvSpPr>
          <p:cNvPr id="26" name="Text 24"/>
          <p:cNvSpPr/>
          <p:nvPr/>
        </p:nvSpPr>
        <p:spPr>
          <a:xfrm>
            <a:off x="8494776" y="3652967"/>
            <a:ext cx="365760" cy="347472"/>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3</a:t>
            </a:r>
            <a:endParaRPr lang="en-US" sz="2400" dirty="0"/>
          </a:p>
        </p:txBody>
      </p:sp>
      <p:sp>
        <p:nvSpPr>
          <p:cNvPr id="27" name="Text 25"/>
          <p:cNvSpPr/>
          <p:nvPr/>
        </p:nvSpPr>
        <p:spPr>
          <a:xfrm>
            <a:off x="8951976" y="3680399"/>
            <a:ext cx="2432304" cy="987552"/>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Customize, then Skills, then Create skill, then Upload a skill. Pick the zip.</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18</a:t>
            </a:r>
            <a:endParaRPr lang="en-US" sz="900" dirty="0"/>
          </a:p>
        </p:txBody>
      </p:sp>
      <p:sp>
        <p:nvSpPr>
          <p:cNvPr id="7" name="Shape 5"/>
          <p:cNvSpPr/>
          <p:nvPr/>
        </p:nvSpPr>
        <p:spPr>
          <a:xfrm>
            <a:off x="10899648" y="475488"/>
            <a:ext cx="402336" cy="402336"/>
          </a:xfrm>
          <a:prstGeom prst="ellipse">
            <a:avLst/>
          </a:prstGeom>
          <a:ln w="9525">
            <a:solidFill>
              <a:srgbClr val="C9A227"/>
            </a:solidFill>
            <a:prstDash val="solid"/>
          </a:ln>
        </p:spPr>
      </p:sp>
      <p:sp>
        <p:nvSpPr>
          <p:cNvPr id="8" name="Shape 6"/>
          <p:cNvSpPr/>
          <p:nvPr/>
        </p:nvSpPr>
        <p:spPr>
          <a:xfrm>
            <a:off x="11043666" y="418338"/>
            <a:ext cx="114300" cy="114300"/>
          </a:xfrm>
          <a:prstGeom prst="ellipse">
            <a:avLst/>
          </a:prstGeom>
          <a:solidFill>
            <a:srgbClr val="C9A227"/>
          </a:solidFill>
          <a:ln w="9525">
            <a:solidFill>
              <a:srgbClr val="C9A227"/>
            </a:solidFill>
            <a:prstDash val="solid"/>
          </a:ln>
        </p:spPr>
      </p:sp>
      <p:sp>
        <p:nvSpPr>
          <p:cNvPr id="9" name="Shape 7"/>
          <p:cNvSpPr/>
          <p:nvPr/>
        </p:nvSpPr>
        <p:spPr>
          <a:xfrm>
            <a:off x="11244834" y="619506"/>
            <a:ext cx="114300" cy="114300"/>
          </a:xfrm>
          <a:prstGeom prst="ellipse">
            <a:avLst/>
          </a:prstGeom>
          <a:solidFill>
            <a:srgbClr val="C9A227"/>
          </a:solidFill>
          <a:ln w="9525">
            <a:solidFill>
              <a:srgbClr val="C9A227"/>
            </a:solidFill>
            <a:prstDash val="solid"/>
          </a:ln>
        </p:spPr>
      </p:sp>
      <p:sp>
        <p:nvSpPr>
          <p:cNvPr id="10" name="Shape 8"/>
          <p:cNvSpPr/>
          <p:nvPr/>
        </p:nvSpPr>
        <p:spPr>
          <a:xfrm>
            <a:off x="11043666" y="820674"/>
            <a:ext cx="114300" cy="114300"/>
          </a:xfrm>
          <a:prstGeom prst="ellipse">
            <a:avLst/>
          </a:prstGeom>
          <a:solidFill>
            <a:srgbClr val="C9A227"/>
          </a:solidFill>
          <a:ln w="9525">
            <a:solidFill>
              <a:srgbClr val="C9A227"/>
            </a:solidFill>
            <a:prstDash val="solid"/>
          </a:ln>
        </p:spPr>
      </p:sp>
      <p:sp>
        <p:nvSpPr>
          <p:cNvPr id="11" name="Shape 9"/>
          <p:cNvSpPr/>
          <p:nvPr/>
        </p:nvSpPr>
        <p:spPr>
          <a:xfrm>
            <a:off x="10842498" y="619506"/>
            <a:ext cx="114300" cy="114300"/>
          </a:xfrm>
          <a:prstGeom prst="ellipse">
            <a:avLst/>
          </a:prstGeom>
          <a:solidFill>
            <a:srgbClr val="F7F3EA"/>
          </a:solidFill>
          <a:ln w="9525">
            <a:solidFill>
              <a:srgbClr val="C9A227"/>
            </a:solidFill>
            <a:prstDash val="solid"/>
          </a:ln>
        </p:spPr>
      </p:sp>
      <p:sp>
        <p:nvSpPr>
          <p:cNvPr id="12" name="Text 10"/>
          <p:cNvSpPr/>
          <p:nvPr/>
        </p:nvSpPr>
        <p:spPr>
          <a:xfrm>
            <a:off x="9776765" y="932688"/>
            <a:ext cx="1607515" cy="164592"/>
          </a:xfrm>
          <a:prstGeom prst="rect">
            <a:avLst/>
          </a:prstGeom>
          <a:noFill/>
          <a:ln/>
        </p:spPr>
        <p:txBody>
          <a:bodyPr wrap="square" lIns="0" tIns="0" rIns="0" bIns="0" rtlCol="0" anchor="ctr"/>
          <a:lstStyle/>
          <a:p>
            <a:pPr algn="r" indent="0" marL="0">
              <a:buNone/>
            </a:pPr>
            <a:r>
              <a:rPr lang="en-US" sz="700" b="1" spc="90" kern="0" dirty="0">
                <a:solidFill>
                  <a:srgbClr val="8A6D14"/>
                </a:solidFill>
                <a:latin typeface="Arial" pitchFamily="34" charset="0"/>
                <a:ea typeface="Arial" pitchFamily="34" charset="-122"/>
                <a:cs typeface="Arial" pitchFamily="34" charset="-120"/>
              </a:rPr>
              <a:t>CONNECT · TEACH · RUN</a:t>
            </a:r>
            <a:endParaRPr lang="en-US" sz="700" dirty="0"/>
          </a:p>
        </p:txBody>
      </p:sp>
      <p:sp>
        <p:nvSpPr>
          <p:cNvPr id="13" name="Text 11"/>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STEP THREE  ·  THE 4:30 SHIFT</a:t>
            </a:r>
            <a:endParaRPr lang="en-US" sz="1200" dirty="0"/>
          </a:p>
        </p:txBody>
      </p:sp>
      <p:sp>
        <p:nvSpPr>
          <p:cNvPr id="14" name="Text 12"/>
          <p:cNvSpPr/>
          <p:nvPr/>
        </p:nvSpPr>
        <p:spPr>
          <a:xfrm>
            <a:off x="813816" y="841248"/>
            <a:ext cx="9418320"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Give her the 4:30 shift.</a:t>
            </a:r>
            <a:endParaRPr lang="en-US" sz="4000" dirty="0"/>
          </a:p>
        </p:txBody>
      </p:sp>
      <p:sp>
        <p:nvSpPr>
          <p:cNvPr id="15" name="Shape 13"/>
          <p:cNvSpPr/>
          <p:nvPr/>
        </p:nvSpPr>
        <p:spPr>
          <a:xfrm>
            <a:off x="813816" y="1775155"/>
            <a:ext cx="7315200" cy="2363724"/>
          </a:xfrm>
          <a:prstGeom prst="rect">
            <a:avLst/>
          </a:prstGeom>
          <a:solidFill>
            <a:srgbClr val="14213D"/>
          </a:solidFill>
          <a:ln/>
        </p:spPr>
      </p:sp>
      <p:sp>
        <p:nvSpPr>
          <p:cNvPr id="16" name="Text 14"/>
          <p:cNvSpPr/>
          <p:nvPr/>
        </p:nvSpPr>
        <p:spPr>
          <a:xfrm>
            <a:off x="1069848" y="1948891"/>
            <a:ext cx="680313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SCHEDULED · NEW TASK · CREATE WITH CLAUDE</a:t>
            </a:r>
            <a:endParaRPr lang="en-US" sz="1100" dirty="0"/>
          </a:p>
        </p:txBody>
      </p:sp>
      <p:sp>
        <p:nvSpPr>
          <p:cNvPr id="17" name="Text 15"/>
          <p:cNvSpPr/>
          <p:nvPr/>
        </p:nvSpPr>
        <p:spPr>
          <a:xfrm>
            <a:off x="1069848" y="2232355"/>
            <a:ext cx="6803136" cy="1815084"/>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Every weekday at 4:30 PM my local time, use my donna-triage skill:</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1. Triage today's inbox. Save the Reply-Now drafts to my email Drafts.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2. Create a Google Calendar event today, starting 10 minutes after this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task starts and 5 minutes long, titled "Inbox Triage: Donna".</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3. Write the whole triage report INTO the event description.</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Short lines, tier-name headers, one line per thread:</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sender, subject, next move. No tables. Easy to read on a phone.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4. Set an EMAIL reminder on the event, 1 minute before.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Also do a dry run right now so I can watch the first one land.</a:t>
            </a:r>
            <a:endParaRPr lang="en-US" sz="1200" dirty="0"/>
          </a:p>
        </p:txBody>
      </p:sp>
      <p:sp>
        <p:nvSpPr>
          <p:cNvPr id="18" name="Text 16"/>
          <p:cNvSpPr/>
          <p:nvPr/>
        </p:nvSpPr>
        <p:spPr>
          <a:xfrm>
            <a:off x="8494776" y="1848307"/>
            <a:ext cx="1097280" cy="420624"/>
          </a:xfrm>
          <a:prstGeom prst="rect">
            <a:avLst/>
          </a:prstGeom>
          <a:noFill/>
          <a:ln/>
        </p:spPr>
        <p:txBody>
          <a:bodyPr wrap="square" lIns="0" tIns="0" rIns="0" bIns="0" rtlCol="0" anchor="ctr"/>
          <a:lstStyle/>
          <a:p>
            <a:pPr indent="0" marL="0">
              <a:buNone/>
            </a:pPr>
            <a:r>
              <a:rPr lang="en-US" sz="2600" b="1" dirty="0">
                <a:solidFill>
                  <a:srgbClr val="8A6D14"/>
                </a:solidFill>
                <a:latin typeface="Georgia" pitchFamily="34" charset="0"/>
                <a:ea typeface="Georgia" pitchFamily="34" charset="-122"/>
                <a:cs typeface="Georgia" pitchFamily="34" charset="-120"/>
              </a:rPr>
              <a:t>4:30</a:t>
            </a:r>
            <a:endParaRPr lang="en-US" sz="2600" dirty="0"/>
          </a:p>
        </p:txBody>
      </p:sp>
      <p:sp>
        <p:nvSpPr>
          <p:cNvPr id="19" name="Text 17"/>
          <p:cNvSpPr/>
          <p:nvPr/>
        </p:nvSpPr>
        <p:spPr>
          <a:xfrm>
            <a:off x="9646920" y="1848307"/>
            <a:ext cx="1737360" cy="420624"/>
          </a:xfrm>
          <a:prstGeom prst="rect">
            <a:avLst/>
          </a:prstGeom>
          <a:noFill/>
          <a:ln/>
        </p:spPr>
        <p:txBody>
          <a:bodyPr wrap="square" lIns="0" tIns="0" rIns="0" bIns="0" rtlCol="0" anchor="ctr"/>
          <a:lstStyle/>
          <a:p>
            <a:pPr indent="0" marL="0">
              <a:buNone/>
            </a:pPr>
            <a:r>
              <a:rPr lang="en-US" sz="1300" dirty="0">
                <a:solidFill>
                  <a:srgbClr val="14213D"/>
                </a:solidFill>
                <a:latin typeface="Arial" pitchFamily="34" charset="0"/>
                <a:ea typeface="Arial" pitchFamily="34" charset="-122"/>
                <a:cs typeface="Arial" pitchFamily="34" charset="-120"/>
              </a:rPr>
              <a:t>she works</a:t>
            </a:r>
            <a:endParaRPr lang="en-US" sz="1300" dirty="0"/>
          </a:p>
        </p:txBody>
      </p:sp>
      <p:sp>
        <p:nvSpPr>
          <p:cNvPr id="20" name="Text 18"/>
          <p:cNvSpPr/>
          <p:nvPr/>
        </p:nvSpPr>
        <p:spPr>
          <a:xfrm>
            <a:off x="8494776" y="2342083"/>
            <a:ext cx="1097280" cy="420624"/>
          </a:xfrm>
          <a:prstGeom prst="rect">
            <a:avLst/>
          </a:prstGeom>
          <a:noFill/>
          <a:ln/>
        </p:spPr>
        <p:txBody>
          <a:bodyPr wrap="square" lIns="0" tIns="0" rIns="0" bIns="0" rtlCol="0" anchor="ctr"/>
          <a:lstStyle/>
          <a:p>
            <a:pPr indent="0" marL="0">
              <a:buNone/>
            </a:pPr>
            <a:r>
              <a:rPr lang="en-US" sz="2600" b="1" dirty="0">
                <a:solidFill>
                  <a:srgbClr val="8A6D14"/>
                </a:solidFill>
                <a:latin typeface="Georgia" pitchFamily="34" charset="0"/>
                <a:ea typeface="Georgia" pitchFamily="34" charset="-122"/>
                <a:cs typeface="Georgia" pitchFamily="34" charset="-120"/>
              </a:rPr>
              <a:t>4:39</a:t>
            </a:r>
            <a:endParaRPr lang="en-US" sz="2600" dirty="0"/>
          </a:p>
        </p:txBody>
      </p:sp>
      <p:sp>
        <p:nvSpPr>
          <p:cNvPr id="21" name="Text 19"/>
          <p:cNvSpPr/>
          <p:nvPr/>
        </p:nvSpPr>
        <p:spPr>
          <a:xfrm>
            <a:off x="9646920" y="2342083"/>
            <a:ext cx="1737360" cy="420624"/>
          </a:xfrm>
          <a:prstGeom prst="rect">
            <a:avLst/>
          </a:prstGeom>
          <a:noFill/>
          <a:ln/>
        </p:spPr>
        <p:txBody>
          <a:bodyPr wrap="square" lIns="0" tIns="0" rIns="0" bIns="0" rtlCol="0" anchor="ctr"/>
          <a:lstStyle/>
          <a:p>
            <a:pPr indent="0" marL="0">
              <a:buNone/>
            </a:pPr>
            <a:r>
              <a:rPr lang="en-US" sz="1300" dirty="0">
                <a:solidFill>
                  <a:srgbClr val="14213D"/>
                </a:solidFill>
                <a:latin typeface="Arial" pitchFamily="34" charset="0"/>
                <a:ea typeface="Arial" pitchFamily="34" charset="-122"/>
                <a:cs typeface="Arial" pitchFamily="34" charset="-120"/>
              </a:rPr>
              <a:t>the email lands</a:t>
            </a:r>
            <a:endParaRPr lang="en-US" sz="1300" dirty="0"/>
          </a:p>
        </p:txBody>
      </p:sp>
      <p:sp>
        <p:nvSpPr>
          <p:cNvPr id="22" name="Text 20"/>
          <p:cNvSpPr/>
          <p:nvPr/>
        </p:nvSpPr>
        <p:spPr>
          <a:xfrm>
            <a:off x="8494776" y="2835859"/>
            <a:ext cx="1097280" cy="420624"/>
          </a:xfrm>
          <a:prstGeom prst="rect">
            <a:avLst/>
          </a:prstGeom>
          <a:noFill/>
          <a:ln/>
        </p:spPr>
        <p:txBody>
          <a:bodyPr wrap="square" lIns="0" tIns="0" rIns="0" bIns="0" rtlCol="0" anchor="ctr"/>
          <a:lstStyle/>
          <a:p>
            <a:pPr indent="0" marL="0">
              <a:buNone/>
            </a:pPr>
            <a:r>
              <a:rPr lang="en-US" sz="2600" b="1" dirty="0">
                <a:solidFill>
                  <a:srgbClr val="8A6D14"/>
                </a:solidFill>
                <a:latin typeface="Georgia" pitchFamily="34" charset="0"/>
                <a:ea typeface="Georgia" pitchFamily="34" charset="-122"/>
                <a:cs typeface="Georgia" pitchFamily="34" charset="-120"/>
              </a:rPr>
              <a:t>4:40</a:t>
            </a:r>
            <a:endParaRPr lang="en-US" sz="2600" dirty="0"/>
          </a:p>
        </p:txBody>
      </p:sp>
      <p:sp>
        <p:nvSpPr>
          <p:cNvPr id="23" name="Text 21"/>
          <p:cNvSpPr/>
          <p:nvPr/>
        </p:nvSpPr>
        <p:spPr>
          <a:xfrm>
            <a:off x="9646920" y="2835859"/>
            <a:ext cx="1737360" cy="420624"/>
          </a:xfrm>
          <a:prstGeom prst="rect">
            <a:avLst/>
          </a:prstGeom>
          <a:noFill/>
          <a:ln/>
        </p:spPr>
        <p:txBody>
          <a:bodyPr wrap="square" lIns="0" tIns="0" rIns="0" bIns="0" rtlCol="0" anchor="ctr"/>
          <a:lstStyle/>
          <a:p>
            <a:pPr indent="0" marL="0">
              <a:buNone/>
            </a:pPr>
            <a:r>
              <a:rPr lang="en-US" sz="1300" dirty="0">
                <a:solidFill>
                  <a:srgbClr val="14213D"/>
                </a:solidFill>
                <a:latin typeface="Arial" pitchFamily="34" charset="0"/>
                <a:ea typeface="Arial" pitchFamily="34" charset="-122"/>
                <a:cs typeface="Arial" pitchFamily="34" charset="-120"/>
              </a:rPr>
              <a:t>one read, whole inbox</a:t>
            </a:r>
            <a:endParaRPr lang="en-US" sz="1300" dirty="0"/>
          </a:p>
        </p:txBody>
      </p:sp>
      <p:sp>
        <p:nvSpPr>
          <p:cNvPr id="24" name="Shape 22"/>
          <p:cNvSpPr/>
          <p:nvPr/>
        </p:nvSpPr>
        <p:spPr>
          <a:xfrm>
            <a:off x="8494776" y="3457651"/>
            <a:ext cx="2889504" cy="1691640"/>
          </a:xfrm>
          <a:prstGeom prst="rect">
            <a:avLst/>
          </a:prstGeom>
          <a:solidFill>
            <a:srgbClr val="E8E2D2"/>
          </a:solidFill>
          <a:ln/>
        </p:spPr>
      </p:sp>
      <p:sp>
        <p:nvSpPr>
          <p:cNvPr id="25" name="Text 23"/>
          <p:cNvSpPr/>
          <p:nvPr/>
        </p:nvSpPr>
        <p:spPr>
          <a:xfrm>
            <a:off x="8714232" y="3677107"/>
            <a:ext cx="2450592" cy="283464"/>
          </a:xfrm>
          <a:prstGeom prst="rect">
            <a:avLst/>
          </a:prstGeom>
          <a:noFill/>
          <a:ln/>
        </p:spPr>
        <p:txBody>
          <a:bodyPr wrap="square" lIns="0" tIns="0" rIns="0" bIns="0" rtlCol="0" anchor="t"/>
          <a:lstStyle/>
          <a:p>
            <a:pPr indent="0" marL="0">
              <a:buNone/>
            </a:pPr>
            <a:r>
              <a:rPr lang="en-US" sz="1200" b="1" spc="160" kern="0" dirty="0">
                <a:solidFill>
                  <a:srgbClr val="8A6D14"/>
                </a:solidFill>
                <a:latin typeface="Arial" pitchFamily="34" charset="0"/>
                <a:ea typeface="Arial" pitchFamily="34" charset="-122"/>
                <a:cs typeface="Arial" pitchFamily="34" charset="-120"/>
              </a:rPr>
              <a:t>WHERE SHE RUNS</a:t>
            </a:r>
            <a:endParaRPr lang="en-US" sz="1200" dirty="0"/>
          </a:p>
        </p:txBody>
      </p:sp>
      <p:sp>
        <p:nvSpPr>
          <p:cNvPr id="26" name="Shape 24"/>
          <p:cNvSpPr/>
          <p:nvPr/>
        </p:nvSpPr>
        <p:spPr>
          <a:xfrm rot="2700000">
            <a:off x="8714232" y="4148023"/>
            <a:ext cx="100584" cy="100584"/>
          </a:xfrm>
          <a:prstGeom prst="rect">
            <a:avLst/>
          </a:prstGeom>
          <a:solidFill>
            <a:srgbClr val="C9A227"/>
          </a:solidFill>
          <a:ln w="3175">
            <a:solidFill>
              <a:srgbClr val="C9A227"/>
            </a:solidFill>
            <a:prstDash val="solid"/>
          </a:ln>
        </p:spPr>
      </p:sp>
      <p:sp>
        <p:nvSpPr>
          <p:cNvPr id="27" name="Text 25"/>
          <p:cNvSpPr/>
          <p:nvPr/>
        </p:nvSpPr>
        <p:spPr>
          <a:xfrm>
            <a:off x="9025128" y="4070299"/>
            <a:ext cx="2139696" cy="859536"/>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Scheduled tasks run on Claude's side, not on your laptop. Close the laptop; she still works at 4:30.</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19</a:t>
            </a:r>
            <a:endParaRPr lang="en-US" sz="900" dirty="0"/>
          </a:p>
        </p:txBody>
      </p:sp>
      <p:sp>
        <p:nvSpPr>
          <p:cNvPr id="7" name="Shape 5"/>
          <p:cNvSpPr/>
          <p:nvPr/>
        </p:nvSpPr>
        <p:spPr>
          <a:xfrm>
            <a:off x="10899648" y="475488"/>
            <a:ext cx="402336" cy="402336"/>
          </a:xfrm>
          <a:prstGeom prst="ellipse">
            <a:avLst/>
          </a:prstGeom>
          <a:ln w="9525">
            <a:solidFill>
              <a:srgbClr val="C9A227"/>
            </a:solidFill>
            <a:prstDash val="solid"/>
          </a:ln>
        </p:spPr>
      </p:sp>
      <p:sp>
        <p:nvSpPr>
          <p:cNvPr id="8" name="Shape 6"/>
          <p:cNvSpPr/>
          <p:nvPr/>
        </p:nvSpPr>
        <p:spPr>
          <a:xfrm>
            <a:off x="11043666" y="418338"/>
            <a:ext cx="114300" cy="114300"/>
          </a:xfrm>
          <a:prstGeom prst="ellipse">
            <a:avLst/>
          </a:prstGeom>
          <a:solidFill>
            <a:srgbClr val="C9A227"/>
          </a:solidFill>
          <a:ln w="9525">
            <a:solidFill>
              <a:srgbClr val="C9A227"/>
            </a:solidFill>
            <a:prstDash val="solid"/>
          </a:ln>
        </p:spPr>
      </p:sp>
      <p:sp>
        <p:nvSpPr>
          <p:cNvPr id="9" name="Shape 7"/>
          <p:cNvSpPr/>
          <p:nvPr/>
        </p:nvSpPr>
        <p:spPr>
          <a:xfrm>
            <a:off x="11244834" y="619506"/>
            <a:ext cx="114300" cy="114300"/>
          </a:xfrm>
          <a:prstGeom prst="ellipse">
            <a:avLst/>
          </a:prstGeom>
          <a:solidFill>
            <a:srgbClr val="C9A227"/>
          </a:solidFill>
          <a:ln w="9525">
            <a:solidFill>
              <a:srgbClr val="C9A227"/>
            </a:solidFill>
            <a:prstDash val="solid"/>
          </a:ln>
        </p:spPr>
      </p:sp>
      <p:sp>
        <p:nvSpPr>
          <p:cNvPr id="10" name="Shape 8"/>
          <p:cNvSpPr/>
          <p:nvPr/>
        </p:nvSpPr>
        <p:spPr>
          <a:xfrm>
            <a:off x="11043666" y="820674"/>
            <a:ext cx="114300" cy="114300"/>
          </a:xfrm>
          <a:prstGeom prst="ellipse">
            <a:avLst/>
          </a:prstGeom>
          <a:solidFill>
            <a:srgbClr val="C9A227"/>
          </a:solidFill>
          <a:ln w="9525">
            <a:solidFill>
              <a:srgbClr val="C9A227"/>
            </a:solidFill>
            <a:prstDash val="solid"/>
          </a:ln>
        </p:spPr>
      </p:sp>
      <p:sp>
        <p:nvSpPr>
          <p:cNvPr id="11" name="Shape 9"/>
          <p:cNvSpPr/>
          <p:nvPr/>
        </p:nvSpPr>
        <p:spPr>
          <a:xfrm>
            <a:off x="10842498" y="619506"/>
            <a:ext cx="114300" cy="114300"/>
          </a:xfrm>
          <a:prstGeom prst="ellipse">
            <a:avLst/>
          </a:prstGeom>
          <a:solidFill>
            <a:srgbClr val="14213D"/>
          </a:solidFill>
          <a:ln w="9525">
            <a:solidFill>
              <a:srgbClr val="C9A227"/>
            </a:solidFill>
            <a:prstDash val="solid"/>
          </a:ln>
        </p:spPr>
      </p:sp>
      <p:sp>
        <p:nvSpPr>
          <p:cNvPr id="12" name="Text 10"/>
          <p:cNvSpPr/>
          <p:nvPr/>
        </p:nvSpPr>
        <p:spPr>
          <a:xfrm>
            <a:off x="9776765" y="932688"/>
            <a:ext cx="1607515"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CONNECT · TEACH · RUN</a:t>
            </a:r>
            <a:endParaRPr lang="en-US" sz="700" dirty="0"/>
          </a:p>
        </p:txBody>
      </p:sp>
      <p:sp>
        <p:nvSpPr>
          <p:cNvPr id="13" name="Text 11"/>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STEP THREE  ·  CHECKPOINT  ·  EASTERN</a:t>
            </a:r>
            <a:endParaRPr lang="en-US" sz="1200" dirty="0"/>
          </a:p>
        </p:txBody>
      </p:sp>
      <p:sp>
        <p:nvSpPr>
          <p:cNvPr id="14" name="Text 12"/>
          <p:cNvSpPr/>
          <p:nvPr/>
        </p:nvSpPr>
        <p:spPr>
          <a:xfrm>
            <a:off x="813816" y="1664208"/>
            <a:ext cx="10570464" cy="1060704"/>
          </a:xfrm>
          <a:prstGeom prst="rect">
            <a:avLst/>
          </a:prstGeom>
          <a:noFill/>
          <a:ln/>
        </p:spPr>
        <p:txBody>
          <a:bodyPr wrap="square" lIns="0" tIns="0" rIns="0" bIns="0" rtlCol="0" anchor="ctr"/>
          <a:lstStyle/>
          <a:p>
            <a:pPr algn="ctr" indent="0" marL="0">
              <a:buNone/>
            </a:pPr>
            <a:r>
              <a:rPr lang="en-US" sz="7200" b="1" dirty="0">
                <a:solidFill>
                  <a:srgbClr val="E7C766"/>
                </a:solidFill>
                <a:latin typeface="Georgia" pitchFamily="34" charset="0"/>
                <a:ea typeface="Georgia" pitchFamily="34" charset="-122"/>
                <a:cs typeface="Georgia" pitchFamily="34" charset="-120"/>
              </a:rPr>
              <a:t>12:58</a:t>
            </a:r>
            <a:endParaRPr lang="en-US" sz="7200" dirty="0"/>
          </a:p>
        </p:txBody>
      </p:sp>
      <p:sp>
        <p:nvSpPr>
          <p:cNvPr id="15" name="Text 13"/>
          <p:cNvSpPr/>
          <p:nvPr/>
        </p:nvSpPr>
        <p:spPr>
          <a:xfrm>
            <a:off x="1340968" y="2834640"/>
            <a:ext cx="9509760" cy="1140196"/>
          </a:xfrm>
          <a:prstGeom prst="rect">
            <a:avLst/>
          </a:prstGeom>
          <a:noFill/>
          <a:ln/>
        </p:spPr>
        <p:txBody>
          <a:bodyPr wrap="square" lIns="0" tIns="0" rIns="0" bIns="0" rtlCol="0" anchor="t"/>
          <a:lstStyle/>
          <a:p>
            <a:pPr algn="ctr" indent="0" marL="0">
              <a:buNone/>
            </a:pPr>
            <a:r>
              <a:rPr lang="en-US" sz="3200" b="1" dirty="0">
                <a:solidFill>
                  <a:srgbClr val="F7F3EA"/>
                </a:solidFill>
                <a:latin typeface="Georgia" pitchFamily="34" charset="0"/>
                <a:ea typeface="Georgia" pitchFamily="34" charset="-122"/>
                <a:cs typeface="Georgia" pitchFamily="34" charset="-120"/>
              </a:rPr>
              <a:t>Her first shift lands as the last step starts.</a:t>
            </a:r>
            <a:endParaRPr lang="en-US" sz="3200" dirty="0"/>
          </a:p>
        </p:txBody>
      </p:sp>
      <p:sp>
        <p:nvSpPr>
          <p:cNvPr id="16" name="Text 14"/>
          <p:cNvSpPr/>
          <p:nvPr/>
        </p:nvSpPr>
        <p:spPr>
          <a:xfrm>
            <a:off x="1737360" y="4340596"/>
            <a:ext cx="8714232" cy="457200"/>
          </a:xfrm>
          <a:prstGeom prst="rect">
            <a:avLst/>
          </a:prstGeom>
          <a:noFill/>
          <a:ln/>
        </p:spPr>
        <p:txBody>
          <a:bodyPr wrap="square" lIns="0" tIns="0" rIns="0" bIns="0" rtlCol="0" anchor="t"/>
          <a:lstStyle/>
          <a:p>
            <a:pPr algn="ctr" indent="0" marL="0">
              <a:lnSpc>
                <a:spcPct val="116000"/>
              </a:lnSpc>
              <a:buNone/>
            </a:pPr>
            <a:r>
              <a:rPr lang="en-US" sz="1500" dirty="0">
                <a:solidFill>
                  <a:srgbClr val="AFA893"/>
                </a:solidFill>
                <a:latin typeface="Arial" pitchFamily="34" charset="0"/>
                <a:ea typeface="Arial" pitchFamily="34" charset="-122"/>
                <a:cs typeface="Arial" pitchFamily="34" charset="-120"/>
              </a:rPr>
              <a:t>The trick: Claude never emails you. Your calendar does. The triage lands from a sender you already trust.</a:t>
            </a:r>
            <a:endParaRPr lang="en-US" sz="1500" dirty="0"/>
          </a:p>
        </p:txBody>
      </p:sp>
      <p:sp>
        <p:nvSpPr>
          <p:cNvPr id="17" name="Text 15"/>
          <p:cNvSpPr/>
          <p:nvPr/>
        </p:nvSpPr>
        <p:spPr>
          <a:xfrm>
            <a:off x="813816" y="5296662"/>
            <a:ext cx="10570464" cy="299466"/>
          </a:xfrm>
          <a:prstGeom prst="rect">
            <a:avLst/>
          </a:prstGeom>
          <a:noFill/>
          <a:ln/>
        </p:spPr>
        <p:txBody>
          <a:bodyPr wrap="square" lIns="0" tIns="0" rIns="0" bIns="0" rtlCol="0" anchor="t"/>
          <a:lstStyle/>
          <a:p>
            <a:pPr algn="ctr" indent="0" marL="0">
              <a:lnSpc>
                <a:spcPct val="116000"/>
              </a:lnSpc>
              <a:buNone/>
            </a:pPr>
            <a:r>
              <a:rPr lang="en-US" sz="1300" b="1" dirty="0">
                <a:solidFill>
                  <a:srgbClr val="E7C766"/>
                </a:solidFill>
                <a:latin typeface="Arial" pitchFamily="34" charset="0"/>
                <a:ea typeface="Arial" pitchFamily="34" charset="-122"/>
                <a:cs typeface="Arial" pitchFamily="34" charset="-120"/>
              </a:rPr>
              <a:t>Three stations lit. One left, and it is the one that matters.</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20</a:t>
            </a:r>
            <a:endParaRPr lang="en-US" sz="900" dirty="0"/>
          </a:p>
        </p:txBody>
      </p:sp>
      <p:sp>
        <p:nvSpPr>
          <p:cNvPr id="7" name="Shape 5"/>
          <p:cNvSpPr/>
          <p:nvPr/>
        </p:nvSpPr>
        <p:spPr>
          <a:xfrm>
            <a:off x="10899648" y="475488"/>
            <a:ext cx="402336" cy="402336"/>
          </a:xfrm>
          <a:prstGeom prst="ellipse">
            <a:avLst/>
          </a:prstGeom>
          <a:ln w="9525">
            <a:solidFill>
              <a:srgbClr val="C9A227"/>
            </a:solidFill>
            <a:prstDash val="solid"/>
          </a:ln>
        </p:spPr>
      </p:sp>
      <p:sp>
        <p:nvSpPr>
          <p:cNvPr id="8" name="Shape 6"/>
          <p:cNvSpPr/>
          <p:nvPr/>
        </p:nvSpPr>
        <p:spPr>
          <a:xfrm>
            <a:off x="11043666" y="418338"/>
            <a:ext cx="114300" cy="114300"/>
          </a:xfrm>
          <a:prstGeom prst="ellipse">
            <a:avLst/>
          </a:prstGeom>
          <a:solidFill>
            <a:srgbClr val="C9A227"/>
          </a:solidFill>
          <a:ln w="9525">
            <a:solidFill>
              <a:srgbClr val="C9A227"/>
            </a:solidFill>
            <a:prstDash val="solid"/>
          </a:ln>
        </p:spPr>
      </p:sp>
      <p:sp>
        <p:nvSpPr>
          <p:cNvPr id="9" name="Shape 7"/>
          <p:cNvSpPr/>
          <p:nvPr/>
        </p:nvSpPr>
        <p:spPr>
          <a:xfrm>
            <a:off x="11244834" y="619506"/>
            <a:ext cx="114300" cy="114300"/>
          </a:xfrm>
          <a:prstGeom prst="ellipse">
            <a:avLst/>
          </a:prstGeom>
          <a:solidFill>
            <a:srgbClr val="C9A227"/>
          </a:solidFill>
          <a:ln w="9525">
            <a:solidFill>
              <a:srgbClr val="C9A227"/>
            </a:solidFill>
            <a:prstDash val="solid"/>
          </a:ln>
        </p:spPr>
      </p:sp>
      <p:sp>
        <p:nvSpPr>
          <p:cNvPr id="10" name="Shape 8"/>
          <p:cNvSpPr/>
          <p:nvPr/>
        </p:nvSpPr>
        <p:spPr>
          <a:xfrm>
            <a:off x="11043666" y="820674"/>
            <a:ext cx="114300" cy="114300"/>
          </a:xfrm>
          <a:prstGeom prst="ellipse">
            <a:avLst/>
          </a:prstGeom>
          <a:solidFill>
            <a:srgbClr val="C9A227"/>
          </a:solidFill>
          <a:ln w="9525">
            <a:solidFill>
              <a:srgbClr val="C9A227"/>
            </a:solidFill>
            <a:prstDash val="solid"/>
          </a:ln>
        </p:spPr>
      </p:sp>
      <p:sp>
        <p:nvSpPr>
          <p:cNvPr id="11" name="Shape 9"/>
          <p:cNvSpPr/>
          <p:nvPr/>
        </p:nvSpPr>
        <p:spPr>
          <a:xfrm>
            <a:off x="10842498" y="619506"/>
            <a:ext cx="114300" cy="114300"/>
          </a:xfrm>
          <a:prstGeom prst="ellipse">
            <a:avLst/>
          </a:prstGeom>
          <a:solidFill>
            <a:srgbClr val="C9A227"/>
          </a:solidFill>
          <a:ln w="9525">
            <a:solidFill>
              <a:srgbClr val="C9A227"/>
            </a:solidFill>
            <a:prstDash val="solid"/>
          </a:ln>
        </p:spPr>
      </p:sp>
      <p:sp>
        <p:nvSpPr>
          <p:cNvPr id="12" name="Text 10"/>
          <p:cNvSpPr/>
          <p:nvPr/>
        </p:nvSpPr>
        <p:spPr>
          <a:xfrm>
            <a:off x="9063533" y="932688"/>
            <a:ext cx="2320747"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CONNECT · TEACH · RUN · RETRAIN</a:t>
            </a:r>
            <a:endParaRPr lang="en-US" sz="700" dirty="0"/>
          </a:p>
        </p:txBody>
      </p:sp>
      <p:sp>
        <p:nvSpPr>
          <p:cNvPr id="13" name="Text 11"/>
          <p:cNvSpPr/>
          <p:nvPr/>
        </p:nvSpPr>
        <p:spPr>
          <a:xfrm>
            <a:off x="813816" y="2450592"/>
            <a:ext cx="10570464" cy="274320"/>
          </a:xfrm>
          <a:prstGeom prst="rect">
            <a:avLst/>
          </a:prstGeom>
          <a:noFill/>
          <a:ln/>
        </p:spPr>
        <p:txBody>
          <a:bodyPr wrap="square" lIns="0" tIns="0" rIns="0" bIns="0" rtlCol="0" anchor="ctr"/>
          <a:lstStyle/>
          <a:p>
            <a:pPr algn="ctr" indent="0" marL="0">
              <a:buNone/>
            </a:pPr>
            <a:r>
              <a:rPr lang="en-US" sz="1400" b="1" spc="200" kern="0" dirty="0">
                <a:solidFill>
                  <a:srgbClr val="E7C766"/>
                </a:solidFill>
                <a:latin typeface="Arial" pitchFamily="34" charset="0"/>
                <a:ea typeface="Arial" pitchFamily="34" charset="-122"/>
                <a:cs typeface="Arial" pitchFamily="34" charset="-120"/>
              </a:rPr>
              <a:t>STEP FOUR  ·  RETRAIN</a:t>
            </a:r>
            <a:endParaRPr lang="en-US" sz="1400" dirty="0"/>
          </a:p>
        </p:txBody>
      </p:sp>
      <p:sp>
        <p:nvSpPr>
          <p:cNvPr id="14" name="Text 12"/>
          <p:cNvSpPr/>
          <p:nvPr/>
        </p:nvSpPr>
        <p:spPr>
          <a:xfrm>
            <a:off x="1432408" y="2834640"/>
            <a:ext cx="932688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Her performance review.</a:t>
            </a:r>
            <a:endParaRPr lang="en-US" sz="4800" dirty="0"/>
          </a:p>
        </p:txBody>
      </p:sp>
      <p:sp>
        <p:nvSpPr>
          <p:cNvPr id="15" name="Text 13"/>
          <p:cNvSpPr/>
          <p:nvPr/>
        </p:nvSpPr>
        <p:spPr>
          <a:xfrm>
            <a:off x="813816" y="4026286"/>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Every Friday she reviews her own week. You sign it.</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21</a:t>
            </a:r>
            <a:endParaRPr lang="en-US" sz="900" dirty="0"/>
          </a:p>
        </p:txBody>
      </p:sp>
      <p:sp>
        <p:nvSpPr>
          <p:cNvPr id="7" name="Shape 5"/>
          <p:cNvSpPr/>
          <p:nvPr/>
        </p:nvSpPr>
        <p:spPr>
          <a:xfrm>
            <a:off x="10899648" y="475488"/>
            <a:ext cx="402336" cy="402336"/>
          </a:xfrm>
          <a:prstGeom prst="ellipse">
            <a:avLst/>
          </a:prstGeom>
          <a:ln w="9525">
            <a:solidFill>
              <a:srgbClr val="C9A227"/>
            </a:solidFill>
            <a:prstDash val="solid"/>
          </a:ln>
        </p:spPr>
      </p:sp>
      <p:sp>
        <p:nvSpPr>
          <p:cNvPr id="8" name="Shape 6"/>
          <p:cNvSpPr/>
          <p:nvPr/>
        </p:nvSpPr>
        <p:spPr>
          <a:xfrm>
            <a:off x="11043666" y="418338"/>
            <a:ext cx="114300" cy="114300"/>
          </a:xfrm>
          <a:prstGeom prst="ellipse">
            <a:avLst/>
          </a:prstGeom>
          <a:solidFill>
            <a:srgbClr val="C9A227"/>
          </a:solidFill>
          <a:ln w="9525">
            <a:solidFill>
              <a:srgbClr val="C9A227"/>
            </a:solidFill>
            <a:prstDash val="solid"/>
          </a:ln>
        </p:spPr>
      </p:sp>
      <p:sp>
        <p:nvSpPr>
          <p:cNvPr id="9" name="Shape 7"/>
          <p:cNvSpPr/>
          <p:nvPr/>
        </p:nvSpPr>
        <p:spPr>
          <a:xfrm>
            <a:off x="11244834" y="619506"/>
            <a:ext cx="114300" cy="114300"/>
          </a:xfrm>
          <a:prstGeom prst="ellipse">
            <a:avLst/>
          </a:prstGeom>
          <a:solidFill>
            <a:srgbClr val="C9A227"/>
          </a:solidFill>
          <a:ln w="9525">
            <a:solidFill>
              <a:srgbClr val="C9A227"/>
            </a:solidFill>
            <a:prstDash val="solid"/>
          </a:ln>
        </p:spPr>
      </p:sp>
      <p:sp>
        <p:nvSpPr>
          <p:cNvPr id="10" name="Shape 8"/>
          <p:cNvSpPr/>
          <p:nvPr/>
        </p:nvSpPr>
        <p:spPr>
          <a:xfrm>
            <a:off x="11043666" y="820674"/>
            <a:ext cx="114300" cy="114300"/>
          </a:xfrm>
          <a:prstGeom prst="ellipse">
            <a:avLst/>
          </a:prstGeom>
          <a:solidFill>
            <a:srgbClr val="C9A227"/>
          </a:solidFill>
          <a:ln w="9525">
            <a:solidFill>
              <a:srgbClr val="C9A227"/>
            </a:solidFill>
            <a:prstDash val="solid"/>
          </a:ln>
        </p:spPr>
      </p:sp>
      <p:sp>
        <p:nvSpPr>
          <p:cNvPr id="11" name="Shape 9"/>
          <p:cNvSpPr/>
          <p:nvPr/>
        </p:nvSpPr>
        <p:spPr>
          <a:xfrm>
            <a:off x="10842498" y="619506"/>
            <a:ext cx="114300" cy="114300"/>
          </a:xfrm>
          <a:prstGeom prst="ellipse">
            <a:avLst/>
          </a:prstGeom>
          <a:solidFill>
            <a:srgbClr val="C9A227"/>
          </a:solidFill>
          <a:ln w="9525">
            <a:solidFill>
              <a:srgbClr val="C9A227"/>
            </a:solidFill>
            <a:prstDash val="solid"/>
          </a:ln>
        </p:spPr>
      </p:sp>
      <p:sp>
        <p:nvSpPr>
          <p:cNvPr id="12" name="Text 10"/>
          <p:cNvSpPr/>
          <p:nvPr/>
        </p:nvSpPr>
        <p:spPr>
          <a:xfrm>
            <a:off x="9063533" y="932688"/>
            <a:ext cx="2320747" cy="164592"/>
          </a:xfrm>
          <a:prstGeom prst="rect">
            <a:avLst/>
          </a:prstGeom>
          <a:noFill/>
          <a:ln/>
        </p:spPr>
        <p:txBody>
          <a:bodyPr wrap="square" lIns="0" tIns="0" rIns="0" bIns="0" rtlCol="0" anchor="ctr"/>
          <a:lstStyle/>
          <a:p>
            <a:pPr algn="r" indent="0" marL="0">
              <a:buNone/>
            </a:pPr>
            <a:r>
              <a:rPr lang="en-US" sz="700" b="1" spc="90" kern="0" dirty="0">
                <a:solidFill>
                  <a:srgbClr val="8A6D14"/>
                </a:solidFill>
                <a:latin typeface="Arial" pitchFamily="34" charset="0"/>
                <a:ea typeface="Arial" pitchFamily="34" charset="-122"/>
                <a:cs typeface="Arial" pitchFamily="34" charset="-120"/>
              </a:rPr>
              <a:t>CONNECT · TEACH · RUN · RETRAIN</a:t>
            </a:r>
            <a:endParaRPr lang="en-US" sz="700" dirty="0"/>
          </a:p>
        </p:txBody>
      </p:sp>
      <p:sp>
        <p:nvSpPr>
          <p:cNvPr id="13" name="Text 11"/>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STEP FOUR  ·  THE FRIDAY RETRAIN</a:t>
            </a:r>
            <a:endParaRPr lang="en-US" sz="1200" dirty="0"/>
          </a:p>
        </p:txBody>
      </p:sp>
      <p:sp>
        <p:nvSpPr>
          <p:cNvPr id="14" name="Text 12"/>
          <p:cNvSpPr/>
          <p:nvPr/>
        </p:nvSpPr>
        <p:spPr>
          <a:xfrm>
            <a:off x="813816" y="841248"/>
            <a:ext cx="9418320"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Fridays, she reads her week.</a:t>
            </a:r>
            <a:endParaRPr lang="en-US" sz="4000" dirty="0"/>
          </a:p>
        </p:txBody>
      </p:sp>
      <p:sp>
        <p:nvSpPr>
          <p:cNvPr id="15" name="Shape 13"/>
          <p:cNvSpPr/>
          <p:nvPr/>
        </p:nvSpPr>
        <p:spPr>
          <a:xfrm>
            <a:off x="813816" y="1775155"/>
            <a:ext cx="7315200" cy="3675888"/>
          </a:xfrm>
          <a:prstGeom prst="rect">
            <a:avLst/>
          </a:prstGeom>
          <a:solidFill>
            <a:srgbClr val="14213D"/>
          </a:solidFill>
          <a:ln/>
        </p:spPr>
      </p:sp>
      <p:sp>
        <p:nvSpPr>
          <p:cNvPr id="16" name="Text 14"/>
          <p:cNvSpPr/>
          <p:nvPr/>
        </p:nvSpPr>
        <p:spPr>
          <a:xfrm>
            <a:off x="1069848" y="1948891"/>
            <a:ext cx="680313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SCHEDULED · NEW TASK · CREATE WITH CLAUDE</a:t>
            </a:r>
            <a:endParaRPr lang="en-US" sz="1100" dirty="0"/>
          </a:p>
        </p:txBody>
      </p:sp>
      <p:sp>
        <p:nvSpPr>
          <p:cNvPr id="17" name="Text 15"/>
          <p:cNvSpPr/>
          <p:nvPr/>
        </p:nvSpPr>
        <p:spPr>
          <a:xfrm>
            <a:off x="1069848" y="2232355"/>
            <a:ext cx="6803136" cy="3127248"/>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Every Friday at 3:00 PM my local time, use my donna-triage skill to</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retrain:</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1. Read this week: the triage reports you wrote, the drafts you saved,</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and the emails I actually sent.</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2. Compare. Who did I answer fast that is not on my Reply-Now list?</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Which threads did I spend my week on that are not in my priorities?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Where did my sent emails sound different from your drafts?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3. Propose changes to my playbook: people, priorities, voice. Keep the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hard rules exactly as they are: never send, never delete.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4. Write "Donna's Week in Review" into a Google Calendar event, Monday</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8:00 to 8:05 AM, proposed changes at the top, with an EMAIL reminder</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1 minute before.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5. Save the proposed changes as a document called "Donna's Week in</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Review" in a Google Drive folder called "Donna".</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Also do a dry run right now on this week so far, and for the dry run put</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the event on today's calendar 10 minutes from now instead of Monday.</a:t>
            </a:r>
            <a:endParaRPr lang="en-US" sz="1200" dirty="0"/>
          </a:p>
        </p:txBody>
      </p:sp>
      <p:sp>
        <p:nvSpPr>
          <p:cNvPr id="18" name="Shape 16"/>
          <p:cNvSpPr/>
          <p:nvPr/>
        </p:nvSpPr>
        <p:spPr>
          <a:xfrm>
            <a:off x="8494776" y="1775155"/>
            <a:ext cx="2889504" cy="1755648"/>
          </a:xfrm>
          <a:prstGeom prst="rect">
            <a:avLst/>
          </a:prstGeom>
          <a:solidFill>
            <a:srgbClr val="E8E2D2"/>
          </a:solidFill>
          <a:ln/>
        </p:spPr>
      </p:sp>
      <p:sp>
        <p:nvSpPr>
          <p:cNvPr id="19" name="Text 17"/>
          <p:cNvSpPr/>
          <p:nvPr/>
        </p:nvSpPr>
        <p:spPr>
          <a:xfrm>
            <a:off x="8677656" y="1958035"/>
            <a:ext cx="2523744" cy="283464"/>
          </a:xfrm>
          <a:prstGeom prst="rect">
            <a:avLst/>
          </a:prstGeom>
          <a:noFill/>
          <a:ln/>
        </p:spPr>
        <p:txBody>
          <a:bodyPr wrap="square" lIns="0" tIns="0" rIns="0" bIns="0" rtlCol="0" anchor="t"/>
          <a:lstStyle/>
          <a:p>
            <a:pPr indent="0" marL="0">
              <a:buNone/>
            </a:pPr>
            <a:r>
              <a:rPr lang="en-US" sz="1200" b="1" spc="160" kern="0" dirty="0">
                <a:solidFill>
                  <a:srgbClr val="8A6D14"/>
                </a:solidFill>
                <a:latin typeface="Arial" pitchFamily="34" charset="0"/>
                <a:ea typeface="Arial" pitchFamily="34" charset="-122"/>
                <a:cs typeface="Arial" pitchFamily="34" charset="-120"/>
              </a:rPr>
              <a:t>SHE LOOKS AT</a:t>
            </a:r>
            <a:endParaRPr lang="en-US" sz="1200" dirty="0"/>
          </a:p>
        </p:txBody>
      </p:sp>
      <p:sp>
        <p:nvSpPr>
          <p:cNvPr id="20" name="Shape 18"/>
          <p:cNvSpPr/>
          <p:nvPr/>
        </p:nvSpPr>
        <p:spPr>
          <a:xfrm rot="2700000">
            <a:off x="8677656" y="2428951"/>
            <a:ext cx="100584" cy="100584"/>
          </a:xfrm>
          <a:prstGeom prst="rect">
            <a:avLst/>
          </a:prstGeom>
          <a:solidFill>
            <a:srgbClr val="C9A227"/>
          </a:solidFill>
          <a:ln w="3175">
            <a:solidFill>
              <a:srgbClr val="C9A227"/>
            </a:solidFill>
            <a:prstDash val="solid"/>
          </a:ln>
        </p:spPr>
      </p:sp>
      <p:sp>
        <p:nvSpPr>
          <p:cNvPr id="21" name="Text 19"/>
          <p:cNvSpPr/>
          <p:nvPr/>
        </p:nvSpPr>
        <p:spPr>
          <a:xfrm>
            <a:off x="8988552" y="2351227"/>
            <a:ext cx="2212848"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the reports she wrote</a:t>
            </a:r>
            <a:endParaRPr lang="en-US" sz="1200" dirty="0"/>
          </a:p>
        </p:txBody>
      </p:sp>
      <p:sp>
        <p:nvSpPr>
          <p:cNvPr id="22" name="Shape 20"/>
          <p:cNvSpPr/>
          <p:nvPr/>
        </p:nvSpPr>
        <p:spPr>
          <a:xfrm rot="2700000">
            <a:off x="8677656" y="2785567"/>
            <a:ext cx="100584" cy="100584"/>
          </a:xfrm>
          <a:prstGeom prst="rect">
            <a:avLst/>
          </a:prstGeom>
          <a:solidFill>
            <a:srgbClr val="C9A227"/>
          </a:solidFill>
          <a:ln w="3175">
            <a:solidFill>
              <a:srgbClr val="C9A227"/>
            </a:solidFill>
            <a:prstDash val="solid"/>
          </a:ln>
        </p:spPr>
      </p:sp>
      <p:sp>
        <p:nvSpPr>
          <p:cNvPr id="23" name="Text 21"/>
          <p:cNvSpPr/>
          <p:nvPr/>
        </p:nvSpPr>
        <p:spPr>
          <a:xfrm>
            <a:off x="8988552" y="2707843"/>
            <a:ext cx="2212848"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the drafts she saved</a:t>
            </a:r>
            <a:endParaRPr lang="en-US" sz="1200" dirty="0"/>
          </a:p>
        </p:txBody>
      </p:sp>
      <p:sp>
        <p:nvSpPr>
          <p:cNvPr id="24" name="Shape 22"/>
          <p:cNvSpPr/>
          <p:nvPr/>
        </p:nvSpPr>
        <p:spPr>
          <a:xfrm rot="2700000">
            <a:off x="8677656" y="3142183"/>
            <a:ext cx="100584" cy="100584"/>
          </a:xfrm>
          <a:prstGeom prst="rect">
            <a:avLst/>
          </a:prstGeom>
          <a:solidFill>
            <a:srgbClr val="C9A227"/>
          </a:solidFill>
          <a:ln w="3175">
            <a:solidFill>
              <a:srgbClr val="C9A227"/>
            </a:solidFill>
            <a:prstDash val="solid"/>
          </a:ln>
        </p:spPr>
      </p:sp>
      <p:sp>
        <p:nvSpPr>
          <p:cNvPr id="25" name="Text 23"/>
          <p:cNvSpPr/>
          <p:nvPr/>
        </p:nvSpPr>
        <p:spPr>
          <a:xfrm>
            <a:off x="8988552" y="3064459"/>
            <a:ext cx="2212848"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the emails you sent</a:t>
            </a:r>
            <a:endParaRPr lang="en-US" sz="1200" dirty="0"/>
          </a:p>
        </p:txBody>
      </p:sp>
      <p:sp>
        <p:nvSpPr>
          <p:cNvPr id="26" name="Shape 24"/>
          <p:cNvSpPr/>
          <p:nvPr/>
        </p:nvSpPr>
        <p:spPr>
          <a:xfrm>
            <a:off x="8494776" y="3805123"/>
            <a:ext cx="2889504" cy="1755648"/>
          </a:xfrm>
          <a:prstGeom prst="rect">
            <a:avLst/>
          </a:prstGeom>
          <a:solidFill>
            <a:srgbClr val="E8E2D2"/>
          </a:solidFill>
          <a:ln/>
        </p:spPr>
      </p:sp>
      <p:sp>
        <p:nvSpPr>
          <p:cNvPr id="27" name="Text 25"/>
          <p:cNvSpPr/>
          <p:nvPr/>
        </p:nvSpPr>
        <p:spPr>
          <a:xfrm>
            <a:off x="8677656" y="3988003"/>
            <a:ext cx="2523744" cy="283464"/>
          </a:xfrm>
          <a:prstGeom prst="rect">
            <a:avLst/>
          </a:prstGeom>
          <a:noFill/>
          <a:ln/>
        </p:spPr>
        <p:txBody>
          <a:bodyPr wrap="square" lIns="0" tIns="0" rIns="0" bIns="0" rtlCol="0" anchor="t"/>
          <a:lstStyle/>
          <a:p>
            <a:pPr indent="0" marL="0">
              <a:buNone/>
            </a:pPr>
            <a:r>
              <a:rPr lang="en-US" sz="1200" b="1" spc="160" kern="0" dirty="0">
                <a:solidFill>
                  <a:srgbClr val="8A6D14"/>
                </a:solidFill>
                <a:latin typeface="Arial" pitchFamily="34" charset="0"/>
                <a:ea typeface="Arial" pitchFamily="34" charset="-122"/>
                <a:cs typeface="Arial" pitchFamily="34" charset="-120"/>
              </a:rPr>
              <a:t>WHAT COMES BACK</a:t>
            </a:r>
            <a:endParaRPr lang="en-US" sz="1200" dirty="0"/>
          </a:p>
        </p:txBody>
      </p:sp>
      <p:sp>
        <p:nvSpPr>
          <p:cNvPr id="28" name="Shape 26"/>
          <p:cNvSpPr/>
          <p:nvPr/>
        </p:nvSpPr>
        <p:spPr>
          <a:xfrm rot="2700000">
            <a:off x="8677656" y="4458919"/>
            <a:ext cx="100584" cy="100584"/>
          </a:xfrm>
          <a:prstGeom prst="rect">
            <a:avLst/>
          </a:prstGeom>
          <a:solidFill>
            <a:srgbClr val="C9A227"/>
          </a:solidFill>
          <a:ln w="3175">
            <a:solidFill>
              <a:srgbClr val="C9A227"/>
            </a:solidFill>
            <a:prstDash val="solid"/>
          </a:ln>
        </p:spPr>
      </p:sp>
      <p:sp>
        <p:nvSpPr>
          <p:cNvPr id="29" name="Text 27"/>
          <p:cNvSpPr/>
          <p:nvPr/>
        </p:nvSpPr>
        <p:spPr>
          <a:xfrm>
            <a:off x="8988552" y="4381195"/>
            <a:ext cx="2212848"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changes, with a because</a:t>
            </a:r>
            <a:endParaRPr lang="en-US" sz="1200" dirty="0"/>
          </a:p>
        </p:txBody>
      </p:sp>
      <p:sp>
        <p:nvSpPr>
          <p:cNvPr id="30" name="Shape 28"/>
          <p:cNvSpPr/>
          <p:nvPr/>
        </p:nvSpPr>
        <p:spPr>
          <a:xfrm rot="2700000">
            <a:off x="8677656" y="4815535"/>
            <a:ext cx="100584" cy="100584"/>
          </a:xfrm>
          <a:prstGeom prst="rect">
            <a:avLst/>
          </a:prstGeom>
          <a:solidFill>
            <a:srgbClr val="C9A227"/>
          </a:solidFill>
          <a:ln w="3175">
            <a:solidFill>
              <a:srgbClr val="C9A227"/>
            </a:solidFill>
            <a:prstDash val="solid"/>
          </a:ln>
        </p:spPr>
      </p:sp>
      <p:sp>
        <p:nvSpPr>
          <p:cNvPr id="31" name="Text 29"/>
          <p:cNvSpPr/>
          <p:nvPr/>
        </p:nvSpPr>
        <p:spPr>
          <a:xfrm>
            <a:off x="8988552" y="4737811"/>
            <a:ext cx="2212848"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the week in numbers</a:t>
            </a:r>
            <a:endParaRPr lang="en-US" sz="1200" dirty="0"/>
          </a:p>
        </p:txBody>
      </p:sp>
      <p:sp>
        <p:nvSpPr>
          <p:cNvPr id="32" name="Shape 30"/>
          <p:cNvSpPr/>
          <p:nvPr/>
        </p:nvSpPr>
        <p:spPr>
          <a:xfrm rot="2700000">
            <a:off x="8677656" y="5172151"/>
            <a:ext cx="100584" cy="100584"/>
          </a:xfrm>
          <a:prstGeom prst="rect">
            <a:avLst/>
          </a:prstGeom>
          <a:solidFill>
            <a:srgbClr val="C9A227"/>
          </a:solidFill>
          <a:ln w="3175">
            <a:solidFill>
              <a:srgbClr val="C9A227"/>
            </a:solidFill>
            <a:prstDash val="solid"/>
          </a:ln>
        </p:spPr>
      </p:sp>
      <p:sp>
        <p:nvSpPr>
          <p:cNvPr id="33" name="Text 31"/>
          <p:cNvSpPr/>
          <p:nvPr/>
        </p:nvSpPr>
        <p:spPr>
          <a:xfrm>
            <a:off x="8988552" y="5094427"/>
            <a:ext cx="2212848"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nothing until you approve</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22</a:t>
            </a:r>
            <a:endParaRPr lang="en-US" sz="900" dirty="0"/>
          </a:p>
        </p:txBody>
      </p:sp>
      <p:sp>
        <p:nvSpPr>
          <p:cNvPr id="7" name="Shape 5"/>
          <p:cNvSpPr/>
          <p:nvPr/>
        </p:nvSpPr>
        <p:spPr>
          <a:xfrm>
            <a:off x="10899648" y="475488"/>
            <a:ext cx="402336" cy="402336"/>
          </a:xfrm>
          <a:prstGeom prst="ellipse">
            <a:avLst/>
          </a:prstGeom>
          <a:ln w="9525">
            <a:solidFill>
              <a:srgbClr val="C9A227"/>
            </a:solidFill>
            <a:prstDash val="solid"/>
          </a:ln>
        </p:spPr>
      </p:sp>
      <p:sp>
        <p:nvSpPr>
          <p:cNvPr id="8" name="Shape 6"/>
          <p:cNvSpPr/>
          <p:nvPr/>
        </p:nvSpPr>
        <p:spPr>
          <a:xfrm>
            <a:off x="11043666" y="418338"/>
            <a:ext cx="114300" cy="114300"/>
          </a:xfrm>
          <a:prstGeom prst="ellipse">
            <a:avLst/>
          </a:prstGeom>
          <a:solidFill>
            <a:srgbClr val="C9A227"/>
          </a:solidFill>
          <a:ln w="9525">
            <a:solidFill>
              <a:srgbClr val="C9A227"/>
            </a:solidFill>
            <a:prstDash val="solid"/>
          </a:ln>
        </p:spPr>
      </p:sp>
      <p:sp>
        <p:nvSpPr>
          <p:cNvPr id="9" name="Shape 7"/>
          <p:cNvSpPr/>
          <p:nvPr/>
        </p:nvSpPr>
        <p:spPr>
          <a:xfrm>
            <a:off x="11244834" y="619506"/>
            <a:ext cx="114300" cy="114300"/>
          </a:xfrm>
          <a:prstGeom prst="ellipse">
            <a:avLst/>
          </a:prstGeom>
          <a:solidFill>
            <a:srgbClr val="C9A227"/>
          </a:solidFill>
          <a:ln w="9525">
            <a:solidFill>
              <a:srgbClr val="C9A227"/>
            </a:solidFill>
            <a:prstDash val="solid"/>
          </a:ln>
        </p:spPr>
      </p:sp>
      <p:sp>
        <p:nvSpPr>
          <p:cNvPr id="10" name="Shape 8"/>
          <p:cNvSpPr/>
          <p:nvPr/>
        </p:nvSpPr>
        <p:spPr>
          <a:xfrm>
            <a:off x="11043666" y="820674"/>
            <a:ext cx="114300" cy="114300"/>
          </a:xfrm>
          <a:prstGeom prst="ellipse">
            <a:avLst/>
          </a:prstGeom>
          <a:solidFill>
            <a:srgbClr val="C9A227"/>
          </a:solidFill>
          <a:ln w="9525">
            <a:solidFill>
              <a:srgbClr val="C9A227"/>
            </a:solidFill>
            <a:prstDash val="solid"/>
          </a:ln>
        </p:spPr>
      </p:sp>
      <p:sp>
        <p:nvSpPr>
          <p:cNvPr id="11" name="Shape 9"/>
          <p:cNvSpPr/>
          <p:nvPr/>
        </p:nvSpPr>
        <p:spPr>
          <a:xfrm>
            <a:off x="10842498" y="619506"/>
            <a:ext cx="114300" cy="114300"/>
          </a:xfrm>
          <a:prstGeom prst="ellipse">
            <a:avLst/>
          </a:prstGeom>
          <a:solidFill>
            <a:srgbClr val="C9A227"/>
          </a:solidFill>
          <a:ln w="9525">
            <a:solidFill>
              <a:srgbClr val="C9A227"/>
            </a:solidFill>
            <a:prstDash val="solid"/>
          </a:ln>
        </p:spPr>
      </p:sp>
      <p:sp>
        <p:nvSpPr>
          <p:cNvPr id="12" name="Text 10"/>
          <p:cNvSpPr/>
          <p:nvPr/>
        </p:nvSpPr>
        <p:spPr>
          <a:xfrm>
            <a:off x="9990734" y="932688"/>
            <a:ext cx="1393546"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THE LOOP IS CLOSED</a:t>
            </a:r>
            <a:endParaRPr lang="en-US" sz="700" dirty="0"/>
          </a:p>
        </p:txBody>
      </p:sp>
      <p:sp>
        <p:nvSpPr>
          <p:cNvPr id="13" name="Text 11"/>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STEP FOUR  ·  CHECKPOINT  ·  EASTERN</a:t>
            </a:r>
            <a:endParaRPr lang="en-US" sz="1200" dirty="0"/>
          </a:p>
        </p:txBody>
      </p:sp>
      <p:sp>
        <p:nvSpPr>
          <p:cNvPr id="14" name="Text 12"/>
          <p:cNvSpPr/>
          <p:nvPr/>
        </p:nvSpPr>
        <p:spPr>
          <a:xfrm>
            <a:off x="813816" y="1664208"/>
            <a:ext cx="10570464" cy="1060704"/>
          </a:xfrm>
          <a:prstGeom prst="rect">
            <a:avLst/>
          </a:prstGeom>
          <a:noFill/>
          <a:ln/>
        </p:spPr>
        <p:txBody>
          <a:bodyPr wrap="square" lIns="0" tIns="0" rIns="0" bIns="0" rtlCol="0" anchor="ctr"/>
          <a:lstStyle/>
          <a:p>
            <a:pPr algn="ctr" indent="0" marL="0">
              <a:buNone/>
            </a:pPr>
            <a:r>
              <a:rPr lang="en-US" sz="7200" b="1" dirty="0">
                <a:solidFill>
                  <a:srgbClr val="E7C766"/>
                </a:solidFill>
                <a:latin typeface="Georgia" pitchFamily="34" charset="0"/>
                <a:ea typeface="Georgia" pitchFamily="34" charset="-122"/>
                <a:cs typeface="Georgia" pitchFamily="34" charset="-120"/>
              </a:rPr>
              <a:t>1:13</a:t>
            </a:r>
            <a:endParaRPr lang="en-US" sz="7200" dirty="0"/>
          </a:p>
        </p:txBody>
      </p:sp>
      <p:sp>
        <p:nvSpPr>
          <p:cNvPr id="15" name="Text 13"/>
          <p:cNvSpPr/>
          <p:nvPr/>
        </p:nvSpPr>
        <p:spPr>
          <a:xfrm>
            <a:off x="1340968" y="2834640"/>
            <a:ext cx="9509760" cy="1140196"/>
          </a:xfrm>
          <a:prstGeom prst="rect">
            <a:avLst/>
          </a:prstGeom>
          <a:noFill/>
          <a:ln/>
        </p:spPr>
        <p:txBody>
          <a:bodyPr wrap="square" lIns="0" tIns="0" rIns="0" bIns="0" rtlCol="0" anchor="t"/>
          <a:lstStyle/>
          <a:p>
            <a:pPr algn="ctr" indent="0" marL="0">
              <a:buNone/>
            </a:pPr>
            <a:r>
              <a:rPr lang="en-US" sz="3200" b="1" dirty="0">
                <a:solidFill>
                  <a:srgbClr val="F7F3EA"/>
                </a:solidFill>
                <a:latin typeface="Georgia" pitchFamily="34" charset="0"/>
                <a:ea typeface="Georgia" pitchFamily="34" charset="-122"/>
                <a:cs typeface="Georgia" pitchFamily="34" charset="-120"/>
              </a:rPr>
              <a:t>Her first Week in Review is on your calendar.</a:t>
            </a:r>
            <a:endParaRPr lang="en-US" sz="3200" dirty="0"/>
          </a:p>
        </p:txBody>
      </p:sp>
      <p:sp>
        <p:nvSpPr>
          <p:cNvPr id="16" name="Text 14"/>
          <p:cNvSpPr/>
          <p:nvPr/>
        </p:nvSpPr>
        <p:spPr>
          <a:xfrm>
            <a:off x="1737360" y="4340596"/>
            <a:ext cx="8714232" cy="457200"/>
          </a:xfrm>
          <a:prstGeom prst="rect">
            <a:avLst/>
          </a:prstGeom>
          <a:noFill/>
          <a:ln/>
        </p:spPr>
        <p:txBody>
          <a:bodyPr wrap="square" lIns="0" tIns="0" rIns="0" bIns="0" rtlCol="0" anchor="t"/>
          <a:lstStyle/>
          <a:p>
            <a:pPr algn="ctr" indent="0" marL="0">
              <a:lnSpc>
                <a:spcPct val="116000"/>
              </a:lnSpc>
              <a:buNone/>
            </a:pPr>
            <a:r>
              <a:rPr lang="en-US" sz="1500" dirty="0">
                <a:solidFill>
                  <a:srgbClr val="AFA893"/>
                </a:solidFill>
                <a:latin typeface="Arial" pitchFamily="34" charset="0"/>
                <a:ea typeface="Arial" pitchFamily="34" charset="-122"/>
                <a:cs typeface="Arial" pitchFamily="34" charset="-120"/>
              </a:rPr>
              <a:t>Four stations. Connect, teach, run, retrain. That is a learning system, and it is yours.</a:t>
            </a:r>
            <a:endParaRPr lang="en-US" sz="1500" dirty="0"/>
          </a:p>
        </p:txBody>
      </p:sp>
      <p:sp>
        <p:nvSpPr>
          <p:cNvPr id="17" name="Text 15"/>
          <p:cNvSpPr/>
          <p:nvPr/>
        </p:nvSpPr>
        <p:spPr>
          <a:xfrm>
            <a:off x="813816" y="5296662"/>
            <a:ext cx="10570464" cy="299466"/>
          </a:xfrm>
          <a:prstGeom prst="rect">
            <a:avLst/>
          </a:prstGeom>
          <a:noFill/>
          <a:ln/>
        </p:spPr>
        <p:txBody>
          <a:bodyPr wrap="square" lIns="0" tIns="0" rIns="0" bIns="0" rtlCol="0" anchor="t"/>
          <a:lstStyle/>
          <a:p>
            <a:pPr algn="ctr" indent="0" marL="0">
              <a:lnSpc>
                <a:spcPct val="116000"/>
              </a:lnSpc>
              <a:buNone/>
            </a:pPr>
            <a:r>
              <a:rPr lang="en-US" sz="1300" b="1" dirty="0">
                <a:solidFill>
                  <a:srgbClr val="E7C766"/>
                </a:solidFill>
                <a:latin typeface="Arial" pitchFamily="34" charset="0"/>
                <a:ea typeface="Arial" pitchFamily="34" charset="-122"/>
                <a:cs typeface="Arial" pitchFamily="34" charset="-120"/>
              </a:rPr>
              <a:t>The loop is closed.</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23</a:t>
            </a:r>
            <a:endParaRPr lang="en-US" sz="900" dirty="0"/>
          </a:p>
        </p:txBody>
      </p:sp>
      <p:sp>
        <p:nvSpPr>
          <p:cNvPr id="7" name="Text 5"/>
          <p:cNvSpPr/>
          <p:nvPr/>
        </p:nvSpPr>
        <p:spPr>
          <a:xfrm>
            <a:off x="1066648" y="1828800"/>
            <a:ext cx="1005840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This was never about email.</a:t>
            </a:r>
            <a:endParaRPr lang="en-US" sz="4800" dirty="0"/>
          </a:p>
        </p:txBody>
      </p:sp>
      <p:sp>
        <p:nvSpPr>
          <p:cNvPr id="8" name="Text 6"/>
          <p:cNvSpPr/>
          <p:nvPr/>
        </p:nvSpPr>
        <p:spPr>
          <a:xfrm>
            <a:off x="1798168" y="3203326"/>
            <a:ext cx="8595360" cy="571500"/>
          </a:xfrm>
          <a:prstGeom prst="rect">
            <a:avLst/>
          </a:prstGeom>
          <a:noFill/>
          <a:ln/>
        </p:spPr>
        <p:txBody>
          <a:bodyPr wrap="square" lIns="0" tIns="0" rIns="0" bIns="0" rtlCol="0" anchor="t"/>
          <a:lstStyle/>
          <a:p>
            <a:pPr algn="ctr" indent="0" marL="0">
              <a:lnSpc>
                <a:spcPct val="116000"/>
              </a:lnSpc>
              <a:buNone/>
            </a:pPr>
            <a:r>
              <a:rPr lang="en-US" sz="1500" dirty="0">
                <a:solidFill>
                  <a:srgbClr val="F7F3EA"/>
                </a:solidFill>
                <a:latin typeface="Arial" pitchFamily="34" charset="0"/>
                <a:ea typeface="Arial" pitchFamily="34" charset="-122"/>
                <a:cs typeface="Arial" pitchFamily="34" charset="-120"/>
              </a:rPr>
              <a:t>You built a loop today by writing plain English. Rules became a project, the project became a skill, the skill got a schedule, and the schedule got a Friday.</a:t>
            </a:r>
            <a:endParaRPr lang="en-US" sz="1500" dirty="0"/>
          </a:p>
        </p:txBody>
      </p:sp>
      <p:sp>
        <p:nvSpPr>
          <p:cNvPr id="9" name="Text 7"/>
          <p:cNvSpPr/>
          <p:nvPr/>
        </p:nvSpPr>
        <p:spPr>
          <a:xfrm>
            <a:off x="1798168" y="4085722"/>
            <a:ext cx="8595360" cy="457200"/>
          </a:xfrm>
          <a:prstGeom prst="rect">
            <a:avLst/>
          </a:prstGeom>
          <a:noFill/>
          <a:ln/>
        </p:spPr>
        <p:txBody>
          <a:bodyPr wrap="square" lIns="0" tIns="0" rIns="0" bIns="0" rtlCol="0" anchor="ctr"/>
          <a:lstStyle/>
          <a:p>
            <a:pPr algn="ctr" indent="0" marL="0">
              <a:buNone/>
            </a:pPr>
            <a:r>
              <a:rPr lang="en-US" sz="1700" b="1" dirty="0">
                <a:solidFill>
                  <a:srgbClr val="E7C766"/>
                </a:solidFill>
                <a:latin typeface="Arial" pitchFamily="34" charset="0"/>
                <a:ea typeface="Arial" pitchFamily="34" charset="-122"/>
                <a:cs typeface="Arial" pitchFamily="34" charset="-120"/>
              </a:rPr>
              <a:t>Email was the rehearsal. The same loop runs any workflow you can describe in words.</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24</a:t>
            </a:r>
            <a:endParaRPr lang="en-US" sz="900" dirty="0"/>
          </a:p>
        </p:txBody>
      </p:sp>
      <p:sp>
        <p:nvSpPr>
          <p:cNvPr id="7" name="Text 5"/>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THE DISCUSSION</a:t>
            </a:r>
            <a:endParaRPr lang="en-US" sz="12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Where does the loop turn next?</a:t>
            </a:r>
            <a:endParaRPr lang="en-US" sz="4000" dirty="0"/>
          </a:p>
        </p:txBody>
      </p:sp>
      <p:sp>
        <p:nvSpPr>
          <p:cNvPr id="9" name="Shape 7"/>
          <p:cNvSpPr/>
          <p:nvPr/>
        </p:nvSpPr>
        <p:spPr>
          <a:xfrm>
            <a:off x="1884274" y="2415235"/>
            <a:ext cx="2010461" cy="2010461"/>
          </a:xfrm>
          <a:prstGeom prst="ellipse">
            <a:avLst/>
          </a:prstGeom>
          <a:ln w="12700">
            <a:solidFill>
              <a:srgbClr val="C9A227"/>
            </a:solidFill>
            <a:prstDash val="solid"/>
          </a:ln>
        </p:spPr>
      </p:sp>
      <p:sp>
        <p:nvSpPr>
          <p:cNvPr id="10" name="Shape 8"/>
          <p:cNvSpPr/>
          <p:nvPr/>
        </p:nvSpPr>
        <p:spPr>
          <a:xfrm rot="8100000">
            <a:off x="3552760" y="2644281"/>
            <a:ext cx="95098" cy="130759"/>
          </a:xfrm>
          <a:prstGeom prst="triangle">
            <a:avLst/>
          </a:prstGeom>
          <a:solidFill>
            <a:srgbClr val="C9A227"/>
          </a:solidFill>
          <a:ln/>
        </p:spPr>
      </p:sp>
      <p:sp>
        <p:nvSpPr>
          <p:cNvPr id="11" name="Shape 9"/>
          <p:cNvSpPr/>
          <p:nvPr/>
        </p:nvSpPr>
        <p:spPr>
          <a:xfrm rot="13500000">
            <a:off x="3552760" y="4065891"/>
            <a:ext cx="95098" cy="130759"/>
          </a:xfrm>
          <a:prstGeom prst="triangle">
            <a:avLst/>
          </a:prstGeom>
          <a:solidFill>
            <a:srgbClr val="C9A227"/>
          </a:solidFill>
          <a:ln/>
        </p:spPr>
      </p:sp>
      <p:sp>
        <p:nvSpPr>
          <p:cNvPr id="12" name="Shape 10"/>
          <p:cNvSpPr/>
          <p:nvPr/>
        </p:nvSpPr>
        <p:spPr>
          <a:xfrm rot="18900000">
            <a:off x="2131150" y="4065891"/>
            <a:ext cx="95098" cy="130759"/>
          </a:xfrm>
          <a:prstGeom prst="triangle">
            <a:avLst/>
          </a:prstGeom>
          <a:solidFill>
            <a:srgbClr val="C9A227"/>
          </a:solidFill>
          <a:ln/>
        </p:spPr>
      </p:sp>
      <p:sp>
        <p:nvSpPr>
          <p:cNvPr id="13" name="Shape 11"/>
          <p:cNvSpPr/>
          <p:nvPr/>
        </p:nvSpPr>
        <p:spPr>
          <a:xfrm rot="2700000">
            <a:off x="2131150" y="2644281"/>
            <a:ext cx="95098" cy="130759"/>
          </a:xfrm>
          <a:prstGeom prst="triangle">
            <a:avLst/>
          </a:prstGeom>
          <a:solidFill>
            <a:srgbClr val="C9A227"/>
          </a:solidFill>
          <a:ln/>
        </p:spPr>
      </p:sp>
      <p:sp>
        <p:nvSpPr>
          <p:cNvPr id="14" name="Shape 12"/>
          <p:cNvSpPr/>
          <p:nvPr/>
        </p:nvSpPr>
        <p:spPr>
          <a:xfrm>
            <a:off x="2306470" y="2837432"/>
            <a:ext cx="1166067" cy="1166067"/>
          </a:xfrm>
          <a:prstGeom prst="ellipse">
            <a:avLst/>
          </a:prstGeom>
          <a:solidFill>
            <a:srgbClr val="14213D"/>
          </a:solidFill>
          <a:ln/>
        </p:spPr>
      </p:sp>
      <p:sp>
        <p:nvSpPr>
          <p:cNvPr id="15" name="Text 13"/>
          <p:cNvSpPr/>
          <p:nvPr/>
        </p:nvSpPr>
        <p:spPr>
          <a:xfrm>
            <a:off x="2352190" y="3222346"/>
            <a:ext cx="1074627" cy="396240"/>
          </a:xfrm>
          <a:prstGeom prst="rect">
            <a:avLst/>
          </a:prstGeom>
          <a:noFill/>
          <a:ln/>
        </p:spPr>
        <p:txBody>
          <a:bodyPr wrap="square" lIns="0" tIns="0" rIns="0" bIns="0" rtlCol="0" anchor="ctr"/>
          <a:lstStyle/>
          <a:p>
            <a:pPr algn="ctr" indent="0" marL="0">
              <a:lnSpc>
                <a:spcPct val="102000"/>
              </a:lnSpc>
              <a:buNone/>
            </a:pPr>
            <a:r>
              <a:rPr lang="en-US" sz="1200" b="1" dirty="0">
                <a:solidFill>
                  <a:srgbClr val="F7F3EA"/>
                </a:solidFill>
                <a:latin typeface="Georgia" pitchFamily="34" charset="0"/>
                <a:ea typeface="Georgia" pitchFamily="34" charset="-122"/>
                <a:cs typeface="Georgia" pitchFamily="34" charset="-120"/>
              </a:rPr>
              <a:t>THE</a:t>
            </a:r>
            <a:endParaRPr lang="en-US" sz="1200" dirty="0"/>
          </a:p>
          <a:p>
            <a:pPr algn="ctr" indent="0" marL="0">
              <a:lnSpc>
                <a:spcPct val="102000"/>
              </a:lnSpc>
              <a:buNone/>
            </a:pPr>
            <a:r>
              <a:rPr lang="en-US" sz="1200" b="1" dirty="0">
                <a:solidFill>
                  <a:srgbClr val="F7F3EA"/>
                </a:solidFill>
                <a:latin typeface="Georgia" pitchFamily="34" charset="0"/>
                <a:ea typeface="Georgia" pitchFamily="34" charset="-122"/>
                <a:cs typeface="Georgia" pitchFamily="34" charset="-120"/>
              </a:rPr>
              <a:t>WORK</a:t>
            </a:r>
            <a:endParaRPr lang="en-US" sz="1200" dirty="0"/>
          </a:p>
        </p:txBody>
      </p:sp>
      <p:sp>
        <p:nvSpPr>
          <p:cNvPr id="16" name="Shape 14"/>
          <p:cNvSpPr/>
          <p:nvPr/>
        </p:nvSpPr>
        <p:spPr>
          <a:xfrm>
            <a:off x="2670048" y="2195779"/>
            <a:ext cx="438912" cy="438912"/>
          </a:xfrm>
          <a:prstGeom prst="ellipse">
            <a:avLst/>
          </a:prstGeom>
          <a:solidFill>
            <a:srgbClr val="F7F3EA"/>
          </a:solidFill>
          <a:ln w="12700">
            <a:solidFill>
              <a:srgbClr val="C9A227"/>
            </a:solidFill>
            <a:prstDash val="solid"/>
          </a:ln>
        </p:spPr>
      </p:sp>
      <p:sp>
        <p:nvSpPr>
          <p:cNvPr id="17" name="Text 15"/>
          <p:cNvSpPr/>
          <p:nvPr/>
        </p:nvSpPr>
        <p:spPr>
          <a:xfrm>
            <a:off x="2670048" y="2195779"/>
            <a:ext cx="438912" cy="43891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01</a:t>
            </a:r>
            <a:endParaRPr lang="en-US" sz="1200" dirty="0"/>
          </a:p>
        </p:txBody>
      </p:sp>
      <p:sp>
        <p:nvSpPr>
          <p:cNvPr id="18" name="Text 16"/>
          <p:cNvSpPr/>
          <p:nvPr/>
        </p:nvSpPr>
        <p:spPr>
          <a:xfrm>
            <a:off x="2103120" y="1871167"/>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CONNECT</a:t>
            </a:r>
            <a:endParaRPr lang="en-US" sz="1000" dirty="0"/>
          </a:p>
        </p:txBody>
      </p:sp>
      <p:sp>
        <p:nvSpPr>
          <p:cNvPr id="19" name="Shape 17"/>
          <p:cNvSpPr/>
          <p:nvPr/>
        </p:nvSpPr>
        <p:spPr>
          <a:xfrm>
            <a:off x="3675278" y="3201010"/>
            <a:ext cx="438912" cy="438912"/>
          </a:xfrm>
          <a:prstGeom prst="ellipse">
            <a:avLst/>
          </a:prstGeom>
          <a:solidFill>
            <a:srgbClr val="F7F3EA"/>
          </a:solidFill>
          <a:ln w="12700">
            <a:solidFill>
              <a:srgbClr val="C9A227"/>
            </a:solidFill>
            <a:prstDash val="solid"/>
          </a:ln>
        </p:spPr>
      </p:sp>
      <p:sp>
        <p:nvSpPr>
          <p:cNvPr id="20" name="Text 18"/>
          <p:cNvSpPr/>
          <p:nvPr/>
        </p:nvSpPr>
        <p:spPr>
          <a:xfrm>
            <a:off x="3675278" y="3201010"/>
            <a:ext cx="438912" cy="43891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02</a:t>
            </a:r>
            <a:endParaRPr lang="en-US" sz="1200" dirty="0"/>
          </a:p>
        </p:txBody>
      </p:sp>
      <p:sp>
        <p:nvSpPr>
          <p:cNvPr id="21" name="Text 19"/>
          <p:cNvSpPr/>
          <p:nvPr/>
        </p:nvSpPr>
        <p:spPr>
          <a:xfrm>
            <a:off x="4242206" y="3294736"/>
            <a:ext cx="643128" cy="251460"/>
          </a:xfrm>
          <a:prstGeom prst="rect">
            <a:avLst/>
          </a:prstGeom>
          <a:noFill/>
          <a:ln/>
        </p:spPr>
        <p:txBody>
          <a:bodyPr wrap="square" lIns="0" tIns="0" rIns="0" bIns="0" rtlCol="0" anchor="ctr"/>
          <a:lstStyle/>
          <a:p>
            <a:pPr algn="l" indent="0" marL="0">
              <a:buNone/>
            </a:pPr>
            <a:r>
              <a:rPr lang="en-US" sz="1000" b="1" spc="120" kern="0" dirty="0">
                <a:solidFill>
                  <a:srgbClr val="8A6D14"/>
                </a:solidFill>
                <a:latin typeface="Arial" pitchFamily="34" charset="0"/>
                <a:ea typeface="Arial" pitchFamily="34" charset="-122"/>
                <a:cs typeface="Arial" pitchFamily="34" charset="-120"/>
              </a:rPr>
              <a:t>TEACH</a:t>
            </a:r>
            <a:endParaRPr lang="en-US" sz="1000" dirty="0"/>
          </a:p>
        </p:txBody>
      </p:sp>
      <p:sp>
        <p:nvSpPr>
          <p:cNvPr id="22" name="Shape 20"/>
          <p:cNvSpPr/>
          <p:nvPr/>
        </p:nvSpPr>
        <p:spPr>
          <a:xfrm>
            <a:off x="2670048" y="4206240"/>
            <a:ext cx="438912" cy="438912"/>
          </a:xfrm>
          <a:prstGeom prst="ellipse">
            <a:avLst/>
          </a:prstGeom>
          <a:solidFill>
            <a:srgbClr val="F7F3EA"/>
          </a:solidFill>
          <a:ln w="12700">
            <a:solidFill>
              <a:srgbClr val="C9A227"/>
            </a:solidFill>
            <a:prstDash val="solid"/>
          </a:ln>
        </p:spPr>
      </p:sp>
      <p:sp>
        <p:nvSpPr>
          <p:cNvPr id="23" name="Text 21"/>
          <p:cNvSpPr/>
          <p:nvPr/>
        </p:nvSpPr>
        <p:spPr>
          <a:xfrm>
            <a:off x="2670048" y="4206240"/>
            <a:ext cx="438912" cy="43891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03</a:t>
            </a:r>
            <a:endParaRPr lang="en-US" sz="1200" dirty="0"/>
          </a:p>
        </p:txBody>
      </p:sp>
      <p:sp>
        <p:nvSpPr>
          <p:cNvPr id="24" name="Text 22"/>
          <p:cNvSpPr/>
          <p:nvPr/>
        </p:nvSpPr>
        <p:spPr>
          <a:xfrm>
            <a:off x="2103120" y="4718304"/>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RUN</a:t>
            </a:r>
            <a:endParaRPr lang="en-US" sz="1000" dirty="0"/>
          </a:p>
        </p:txBody>
      </p:sp>
      <p:sp>
        <p:nvSpPr>
          <p:cNvPr id="25" name="Shape 23"/>
          <p:cNvSpPr/>
          <p:nvPr/>
        </p:nvSpPr>
        <p:spPr>
          <a:xfrm>
            <a:off x="1664818" y="3201010"/>
            <a:ext cx="438912" cy="438912"/>
          </a:xfrm>
          <a:prstGeom prst="ellipse">
            <a:avLst/>
          </a:prstGeom>
          <a:solidFill>
            <a:srgbClr val="F7F3EA"/>
          </a:solidFill>
          <a:ln w="12700">
            <a:solidFill>
              <a:srgbClr val="C9A227"/>
            </a:solidFill>
            <a:prstDash val="solid"/>
          </a:ln>
        </p:spPr>
      </p:sp>
      <p:sp>
        <p:nvSpPr>
          <p:cNvPr id="26" name="Text 24"/>
          <p:cNvSpPr/>
          <p:nvPr/>
        </p:nvSpPr>
        <p:spPr>
          <a:xfrm>
            <a:off x="1664818" y="3201010"/>
            <a:ext cx="438912" cy="43891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04</a:t>
            </a:r>
            <a:endParaRPr lang="en-US" sz="1200" dirty="0"/>
          </a:p>
        </p:txBody>
      </p:sp>
      <p:sp>
        <p:nvSpPr>
          <p:cNvPr id="27" name="Text 25"/>
          <p:cNvSpPr/>
          <p:nvPr/>
        </p:nvSpPr>
        <p:spPr>
          <a:xfrm>
            <a:off x="680314" y="3294736"/>
            <a:ext cx="856488" cy="251460"/>
          </a:xfrm>
          <a:prstGeom prst="rect">
            <a:avLst/>
          </a:prstGeom>
          <a:noFill/>
          <a:ln/>
        </p:spPr>
        <p:txBody>
          <a:bodyPr wrap="square" lIns="0" tIns="0" rIns="0" bIns="0" rtlCol="0" anchor="ctr"/>
          <a:lstStyle/>
          <a:p>
            <a:pPr algn="r" indent="0" marL="0">
              <a:buNone/>
            </a:pPr>
            <a:r>
              <a:rPr lang="en-US" sz="1000" b="1" spc="120" kern="0" dirty="0">
                <a:solidFill>
                  <a:srgbClr val="8A6D14"/>
                </a:solidFill>
                <a:latin typeface="Arial" pitchFamily="34" charset="0"/>
                <a:ea typeface="Arial" pitchFamily="34" charset="-122"/>
                <a:cs typeface="Arial" pitchFamily="34" charset="-120"/>
              </a:rPr>
              <a:t>RETRAIN</a:t>
            </a:r>
            <a:endParaRPr lang="en-US" sz="1000" dirty="0"/>
          </a:p>
        </p:txBody>
      </p:sp>
      <p:sp>
        <p:nvSpPr>
          <p:cNvPr id="28" name="Shape 26"/>
          <p:cNvSpPr/>
          <p:nvPr/>
        </p:nvSpPr>
        <p:spPr>
          <a:xfrm>
            <a:off x="5577840" y="1775155"/>
            <a:ext cx="5806440" cy="3200400"/>
          </a:xfrm>
          <a:prstGeom prst="rect">
            <a:avLst/>
          </a:prstGeom>
          <a:solidFill>
            <a:srgbClr val="E8E2D2"/>
          </a:solidFill>
          <a:ln/>
        </p:spPr>
      </p:sp>
      <p:sp>
        <p:nvSpPr>
          <p:cNvPr id="29" name="Shape 27"/>
          <p:cNvSpPr/>
          <p:nvPr/>
        </p:nvSpPr>
        <p:spPr>
          <a:xfrm rot="2700000">
            <a:off x="5852160" y="2127199"/>
            <a:ext cx="100584" cy="100584"/>
          </a:xfrm>
          <a:prstGeom prst="rect">
            <a:avLst/>
          </a:prstGeom>
          <a:solidFill>
            <a:srgbClr val="C9A227"/>
          </a:solidFill>
          <a:ln w="3175">
            <a:solidFill>
              <a:srgbClr val="C9A227"/>
            </a:solidFill>
            <a:prstDash val="solid"/>
          </a:ln>
        </p:spPr>
      </p:sp>
      <p:sp>
        <p:nvSpPr>
          <p:cNvPr id="30" name="Text 28"/>
          <p:cNvSpPr/>
          <p:nvPr/>
        </p:nvSpPr>
        <p:spPr>
          <a:xfrm>
            <a:off x="6163056" y="2049475"/>
            <a:ext cx="4946904" cy="539496"/>
          </a:xfrm>
          <a:prstGeom prst="rect">
            <a:avLst/>
          </a:prstGeom>
          <a:noFill/>
          <a:ln/>
        </p:spPr>
        <p:txBody>
          <a:bodyPr wrap="square" lIns="0" tIns="0" rIns="0" bIns="0" rtlCol="0" anchor="t"/>
          <a:lstStyle/>
          <a:p>
            <a:pPr indent="0" marL="0">
              <a:lnSpc>
                <a:spcPct val="116000"/>
              </a:lnSpc>
              <a:buNone/>
            </a:pPr>
            <a:r>
              <a:rPr lang="en-US" sz="1400" b="1" dirty="0">
                <a:solidFill>
                  <a:srgbClr val="8A6D14"/>
                </a:solidFill>
                <a:latin typeface="Arial" pitchFamily="34" charset="0"/>
                <a:ea typeface="Arial" pitchFamily="34" charset="-122"/>
                <a:cs typeface="Arial" pitchFamily="34" charset="-120"/>
              </a:rPr>
              <a:t>CONNECT: </a:t>
            </a:r>
            <a:pPr indent="0" marL="0">
              <a:lnSpc>
                <a:spcPct val="116000"/>
              </a:lnSpc>
              <a:buNone/>
            </a:pPr>
            <a:r>
              <a:rPr lang="en-US" sz="1400" dirty="0">
                <a:solidFill>
                  <a:srgbClr val="14213D"/>
                </a:solidFill>
                <a:latin typeface="Arial" pitchFamily="34" charset="0"/>
                <a:ea typeface="Arial" pitchFamily="34" charset="-122"/>
                <a:cs typeface="Arial" pitchFamily="34" charset="-120"/>
              </a:rPr>
              <a:t>What arrives every day that you read by hand?</a:t>
            </a:r>
            <a:endParaRPr lang="en-US" sz="1400" dirty="0"/>
          </a:p>
        </p:txBody>
      </p:sp>
      <p:sp>
        <p:nvSpPr>
          <p:cNvPr id="31" name="Shape 29"/>
          <p:cNvSpPr/>
          <p:nvPr/>
        </p:nvSpPr>
        <p:spPr>
          <a:xfrm rot="2700000">
            <a:off x="5852160" y="2831287"/>
            <a:ext cx="100584" cy="100584"/>
          </a:xfrm>
          <a:prstGeom prst="rect">
            <a:avLst/>
          </a:prstGeom>
          <a:solidFill>
            <a:srgbClr val="C9A227"/>
          </a:solidFill>
          <a:ln w="3175">
            <a:solidFill>
              <a:srgbClr val="C9A227"/>
            </a:solidFill>
            <a:prstDash val="solid"/>
          </a:ln>
        </p:spPr>
      </p:sp>
      <p:sp>
        <p:nvSpPr>
          <p:cNvPr id="32" name="Text 30"/>
          <p:cNvSpPr/>
          <p:nvPr/>
        </p:nvSpPr>
        <p:spPr>
          <a:xfrm>
            <a:off x="6163056" y="2753563"/>
            <a:ext cx="4946904" cy="539496"/>
          </a:xfrm>
          <a:prstGeom prst="rect">
            <a:avLst/>
          </a:prstGeom>
          <a:noFill/>
          <a:ln/>
        </p:spPr>
        <p:txBody>
          <a:bodyPr wrap="square" lIns="0" tIns="0" rIns="0" bIns="0" rtlCol="0" anchor="t"/>
          <a:lstStyle/>
          <a:p>
            <a:pPr indent="0" marL="0">
              <a:lnSpc>
                <a:spcPct val="116000"/>
              </a:lnSpc>
              <a:buNone/>
            </a:pPr>
            <a:r>
              <a:rPr lang="en-US" sz="1400" b="1" dirty="0">
                <a:solidFill>
                  <a:srgbClr val="8A6D14"/>
                </a:solidFill>
                <a:latin typeface="Arial" pitchFamily="34" charset="0"/>
                <a:ea typeface="Arial" pitchFamily="34" charset="-122"/>
                <a:cs typeface="Arial" pitchFamily="34" charset="-120"/>
              </a:rPr>
              <a:t>TEACH: </a:t>
            </a:r>
            <a:pPr indent="0" marL="0">
              <a:lnSpc>
                <a:spcPct val="116000"/>
              </a:lnSpc>
              <a:buNone/>
            </a:pPr>
            <a:r>
              <a:rPr lang="en-US" sz="1400" dirty="0">
                <a:solidFill>
                  <a:srgbClr val="14213D"/>
                </a:solidFill>
                <a:latin typeface="Arial" pitchFamily="34" charset="0"/>
                <a:ea typeface="Arial" pitchFamily="34" charset="-122"/>
                <a:cs typeface="Arial" pitchFamily="34" charset="-120"/>
              </a:rPr>
              <a:t>What do you re-explain to somebody every single week?</a:t>
            </a:r>
            <a:endParaRPr lang="en-US" sz="1400" dirty="0"/>
          </a:p>
        </p:txBody>
      </p:sp>
      <p:sp>
        <p:nvSpPr>
          <p:cNvPr id="33" name="Shape 31"/>
          <p:cNvSpPr/>
          <p:nvPr/>
        </p:nvSpPr>
        <p:spPr>
          <a:xfrm rot="2700000">
            <a:off x="5852160" y="3535375"/>
            <a:ext cx="100584" cy="100584"/>
          </a:xfrm>
          <a:prstGeom prst="rect">
            <a:avLst/>
          </a:prstGeom>
          <a:solidFill>
            <a:srgbClr val="C9A227"/>
          </a:solidFill>
          <a:ln w="3175">
            <a:solidFill>
              <a:srgbClr val="C9A227"/>
            </a:solidFill>
            <a:prstDash val="solid"/>
          </a:ln>
        </p:spPr>
      </p:sp>
      <p:sp>
        <p:nvSpPr>
          <p:cNvPr id="34" name="Text 32"/>
          <p:cNvSpPr/>
          <p:nvPr/>
        </p:nvSpPr>
        <p:spPr>
          <a:xfrm>
            <a:off x="6163056" y="3457651"/>
            <a:ext cx="4946904" cy="539496"/>
          </a:xfrm>
          <a:prstGeom prst="rect">
            <a:avLst/>
          </a:prstGeom>
          <a:noFill/>
          <a:ln/>
        </p:spPr>
        <p:txBody>
          <a:bodyPr wrap="square" lIns="0" tIns="0" rIns="0" bIns="0" rtlCol="0" anchor="t"/>
          <a:lstStyle/>
          <a:p>
            <a:pPr indent="0" marL="0">
              <a:lnSpc>
                <a:spcPct val="116000"/>
              </a:lnSpc>
              <a:buNone/>
            </a:pPr>
            <a:r>
              <a:rPr lang="en-US" sz="1400" b="1" dirty="0">
                <a:solidFill>
                  <a:srgbClr val="8A6D14"/>
                </a:solidFill>
                <a:latin typeface="Arial" pitchFamily="34" charset="0"/>
                <a:ea typeface="Arial" pitchFamily="34" charset="-122"/>
                <a:cs typeface="Arial" pitchFamily="34" charset="-120"/>
              </a:rPr>
              <a:t>RUN: </a:t>
            </a:r>
            <a:pPr indent="0" marL="0">
              <a:lnSpc>
                <a:spcPct val="116000"/>
              </a:lnSpc>
              <a:buNone/>
            </a:pPr>
            <a:r>
              <a:rPr lang="en-US" sz="1400" dirty="0">
                <a:solidFill>
                  <a:srgbClr val="14213D"/>
                </a:solidFill>
                <a:latin typeface="Arial" pitchFamily="34" charset="0"/>
                <a:ea typeface="Arial" pitchFamily="34" charset="-122"/>
                <a:cs typeface="Arial" pitchFamily="34" charset="-120"/>
              </a:rPr>
              <a:t>What would you want running at 4:30 tomorrow without you?</a:t>
            </a:r>
            <a:endParaRPr lang="en-US" sz="1400" dirty="0"/>
          </a:p>
        </p:txBody>
      </p:sp>
      <p:sp>
        <p:nvSpPr>
          <p:cNvPr id="35" name="Shape 33"/>
          <p:cNvSpPr/>
          <p:nvPr/>
        </p:nvSpPr>
        <p:spPr>
          <a:xfrm rot="2700000">
            <a:off x="5852160" y="4239463"/>
            <a:ext cx="100584" cy="100584"/>
          </a:xfrm>
          <a:prstGeom prst="rect">
            <a:avLst/>
          </a:prstGeom>
          <a:solidFill>
            <a:srgbClr val="C9A227"/>
          </a:solidFill>
          <a:ln w="3175">
            <a:solidFill>
              <a:srgbClr val="C9A227"/>
            </a:solidFill>
            <a:prstDash val="solid"/>
          </a:ln>
        </p:spPr>
      </p:sp>
      <p:sp>
        <p:nvSpPr>
          <p:cNvPr id="36" name="Text 34"/>
          <p:cNvSpPr/>
          <p:nvPr/>
        </p:nvSpPr>
        <p:spPr>
          <a:xfrm>
            <a:off x="6163056" y="4161739"/>
            <a:ext cx="4946904" cy="539496"/>
          </a:xfrm>
          <a:prstGeom prst="rect">
            <a:avLst/>
          </a:prstGeom>
          <a:noFill/>
          <a:ln/>
        </p:spPr>
        <p:txBody>
          <a:bodyPr wrap="square" lIns="0" tIns="0" rIns="0" bIns="0" rtlCol="0" anchor="t"/>
          <a:lstStyle/>
          <a:p>
            <a:pPr indent="0" marL="0">
              <a:lnSpc>
                <a:spcPct val="116000"/>
              </a:lnSpc>
              <a:buNone/>
            </a:pPr>
            <a:r>
              <a:rPr lang="en-US" sz="1400" b="1" dirty="0">
                <a:solidFill>
                  <a:srgbClr val="8A6D14"/>
                </a:solidFill>
                <a:latin typeface="Arial" pitchFamily="34" charset="0"/>
                <a:ea typeface="Arial" pitchFamily="34" charset="-122"/>
                <a:cs typeface="Arial" pitchFamily="34" charset="-120"/>
              </a:rPr>
              <a:t>RETRAIN: </a:t>
            </a:r>
            <a:pPr indent="0" marL="0">
              <a:lnSpc>
                <a:spcPct val="116000"/>
              </a:lnSpc>
              <a:buNone/>
            </a:pPr>
            <a:r>
              <a:rPr lang="en-US" sz="1400" dirty="0">
                <a:solidFill>
                  <a:srgbClr val="14213D"/>
                </a:solidFill>
                <a:latin typeface="Arial" pitchFamily="34" charset="0"/>
                <a:ea typeface="Arial" pitchFamily="34" charset="-122"/>
                <a:cs typeface="Arial" pitchFamily="34" charset="-120"/>
              </a:rPr>
              <a:t>What did you learn last month that nobody wrote down?</a:t>
            </a:r>
            <a:endParaRPr lang="en-US" sz="1400" dirty="0"/>
          </a:p>
        </p:txBody>
      </p:sp>
      <p:sp>
        <p:nvSpPr>
          <p:cNvPr id="37" name="Text 35"/>
          <p:cNvSpPr/>
          <p:nvPr/>
        </p:nvSpPr>
        <p:spPr>
          <a:xfrm>
            <a:off x="813816" y="5296662"/>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8A6D14"/>
                </a:solidFill>
                <a:latin typeface="Arial" pitchFamily="34" charset="0"/>
                <a:ea typeface="Arial" pitchFamily="34" charset="-122"/>
                <a:cs typeface="Arial" pitchFamily="34" charset="-120"/>
              </a:rPr>
              <a:t>Answer any one of these out loud and you have just specified your next agent.</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25</a:t>
            </a:r>
            <a:endParaRPr lang="en-US" sz="900" dirty="0"/>
          </a:p>
        </p:txBody>
      </p:sp>
      <p:sp>
        <p:nvSpPr>
          <p:cNvPr id="7" name="Text 5"/>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WHAT HAPPENS NEXT</a:t>
            </a:r>
            <a:endParaRPr lang="en-US" sz="12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Your first Friday.</a:t>
            </a:r>
            <a:endParaRPr lang="en-US" sz="4000" dirty="0"/>
          </a:p>
        </p:txBody>
      </p:sp>
      <p:sp>
        <p:nvSpPr>
          <p:cNvPr id="9" name="Shape 7"/>
          <p:cNvSpPr/>
          <p:nvPr/>
        </p:nvSpPr>
        <p:spPr>
          <a:xfrm>
            <a:off x="813816" y="3017520"/>
            <a:ext cx="10570464" cy="0"/>
          </a:xfrm>
          <a:prstGeom prst="line">
            <a:avLst/>
          </a:prstGeom>
          <a:noFill/>
          <a:ln w="9525">
            <a:solidFill>
              <a:srgbClr val="C9A227">
                <a:alpha val="45000"/>
              </a:srgbClr>
            </a:solidFill>
            <a:prstDash val="solid"/>
          </a:ln>
        </p:spPr>
      </p:sp>
      <p:sp>
        <p:nvSpPr>
          <p:cNvPr id="10" name="Shape 8"/>
          <p:cNvSpPr/>
          <p:nvPr/>
        </p:nvSpPr>
        <p:spPr>
          <a:xfrm>
            <a:off x="2057400" y="2939796"/>
            <a:ext cx="155448" cy="155448"/>
          </a:xfrm>
          <a:prstGeom prst="ellipse">
            <a:avLst/>
          </a:prstGeom>
          <a:solidFill>
            <a:srgbClr val="14213D"/>
          </a:solidFill>
          <a:ln/>
        </p:spPr>
      </p:sp>
      <p:sp>
        <p:nvSpPr>
          <p:cNvPr id="11" name="Text 9"/>
          <p:cNvSpPr/>
          <p:nvPr/>
        </p:nvSpPr>
        <p:spPr>
          <a:xfrm>
            <a:off x="1083564" y="2331720"/>
            <a:ext cx="2103120" cy="201168"/>
          </a:xfrm>
          <a:prstGeom prst="rect">
            <a:avLst/>
          </a:prstGeom>
          <a:noFill/>
          <a:ln/>
        </p:spPr>
        <p:txBody>
          <a:bodyPr wrap="square" lIns="0" tIns="0" rIns="0" bIns="0" rtlCol="0" anchor="ctr"/>
          <a:lstStyle/>
          <a:p>
            <a:pPr algn="ctr" indent="0" marL="0">
              <a:buNone/>
            </a:pPr>
            <a:r>
              <a:rPr lang="en-US" sz="1300" b="1" dirty="0">
                <a:solidFill>
                  <a:srgbClr val="14213D"/>
                </a:solidFill>
                <a:latin typeface="Arial" pitchFamily="34" charset="0"/>
                <a:ea typeface="Arial" pitchFamily="34" charset="-122"/>
                <a:cs typeface="Arial" pitchFamily="34" charset="-120"/>
              </a:rPr>
              <a:t>Thu 4:30</a:t>
            </a:r>
            <a:endParaRPr lang="en-US" sz="1300" dirty="0"/>
          </a:p>
        </p:txBody>
      </p:sp>
      <p:sp>
        <p:nvSpPr>
          <p:cNvPr id="12" name="Text 10"/>
          <p:cNvSpPr/>
          <p:nvPr/>
        </p:nvSpPr>
        <p:spPr>
          <a:xfrm>
            <a:off x="1083564" y="2532888"/>
            <a:ext cx="2103120" cy="267462"/>
          </a:xfrm>
          <a:prstGeom prst="rect">
            <a:avLst/>
          </a:prstGeom>
          <a:noFill/>
          <a:ln/>
        </p:spPr>
        <p:txBody>
          <a:bodyPr wrap="square" lIns="0" tIns="0" rIns="0" bIns="0" rtlCol="0" anchor="t"/>
          <a:lstStyle/>
          <a:p>
            <a:pPr algn="ctr" indent="0" marL="0">
              <a:lnSpc>
                <a:spcPct val="110000"/>
              </a:lnSpc>
              <a:buNone/>
            </a:pPr>
            <a:r>
              <a:rPr lang="en-US" sz="1100" dirty="0">
                <a:solidFill>
                  <a:srgbClr val="5A6379"/>
                </a:solidFill>
                <a:latin typeface="Arial" pitchFamily="34" charset="0"/>
                <a:ea typeface="Arial" pitchFamily="34" charset="-122"/>
                <a:cs typeface="Arial" pitchFamily="34" charset="-120"/>
              </a:rPr>
              <a:t>her first real shift</a:t>
            </a:r>
            <a:endParaRPr lang="en-US" sz="1100" dirty="0"/>
          </a:p>
        </p:txBody>
      </p:sp>
      <p:sp>
        <p:nvSpPr>
          <p:cNvPr id="13" name="Shape 11"/>
          <p:cNvSpPr/>
          <p:nvPr/>
        </p:nvSpPr>
        <p:spPr>
          <a:xfrm>
            <a:off x="4700016" y="2939796"/>
            <a:ext cx="155448" cy="155448"/>
          </a:xfrm>
          <a:prstGeom prst="ellipse">
            <a:avLst/>
          </a:prstGeom>
          <a:solidFill>
            <a:srgbClr val="14213D"/>
          </a:solidFill>
          <a:ln/>
        </p:spPr>
      </p:sp>
      <p:sp>
        <p:nvSpPr>
          <p:cNvPr id="14" name="Text 12"/>
          <p:cNvSpPr/>
          <p:nvPr/>
        </p:nvSpPr>
        <p:spPr>
          <a:xfrm>
            <a:off x="3726180" y="3209544"/>
            <a:ext cx="2103120" cy="201168"/>
          </a:xfrm>
          <a:prstGeom prst="rect">
            <a:avLst/>
          </a:prstGeom>
          <a:noFill/>
          <a:ln/>
        </p:spPr>
        <p:txBody>
          <a:bodyPr wrap="square" lIns="0" tIns="0" rIns="0" bIns="0" rtlCol="0" anchor="ctr"/>
          <a:lstStyle/>
          <a:p>
            <a:pPr algn="ctr" indent="0" marL="0">
              <a:buNone/>
            </a:pPr>
            <a:r>
              <a:rPr lang="en-US" sz="1300" b="1" dirty="0">
                <a:solidFill>
                  <a:srgbClr val="14213D"/>
                </a:solidFill>
                <a:latin typeface="Arial" pitchFamily="34" charset="0"/>
                <a:ea typeface="Arial" pitchFamily="34" charset="-122"/>
                <a:cs typeface="Arial" pitchFamily="34" charset="-120"/>
              </a:rPr>
              <a:t>Fri 3:00</a:t>
            </a:r>
            <a:endParaRPr lang="en-US" sz="1300" dirty="0"/>
          </a:p>
        </p:txBody>
      </p:sp>
      <p:sp>
        <p:nvSpPr>
          <p:cNvPr id="15" name="Text 13"/>
          <p:cNvSpPr/>
          <p:nvPr/>
        </p:nvSpPr>
        <p:spPr>
          <a:xfrm>
            <a:off x="3726180" y="3410712"/>
            <a:ext cx="2103120" cy="267462"/>
          </a:xfrm>
          <a:prstGeom prst="rect">
            <a:avLst/>
          </a:prstGeom>
          <a:noFill/>
          <a:ln/>
        </p:spPr>
        <p:txBody>
          <a:bodyPr wrap="square" lIns="0" tIns="0" rIns="0" bIns="0" rtlCol="0" anchor="t"/>
          <a:lstStyle/>
          <a:p>
            <a:pPr algn="ctr" indent="0" marL="0">
              <a:lnSpc>
                <a:spcPct val="110000"/>
              </a:lnSpc>
              <a:buNone/>
            </a:pPr>
            <a:r>
              <a:rPr lang="en-US" sz="1100" dirty="0">
                <a:solidFill>
                  <a:srgbClr val="5A6379"/>
                </a:solidFill>
                <a:latin typeface="Arial" pitchFamily="34" charset="0"/>
                <a:ea typeface="Arial" pitchFamily="34" charset="-122"/>
                <a:cs typeface="Arial" pitchFamily="34" charset="-120"/>
              </a:rPr>
              <a:t>her first real retrain</a:t>
            </a:r>
            <a:endParaRPr lang="en-US" sz="1100" dirty="0"/>
          </a:p>
        </p:txBody>
      </p:sp>
      <p:sp>
        <p:nvSpPr>
          <p:cNvPr id="16" name="Shape 14"/>
          <p:cNvSpPr/>
          <p:nvPr/>
        </p:nvSpPr>
        <p:spPr>
          <a:xfrm>
            <a:off x="7342632" y="2939796"/>
            <a:ext cx="155448" cy="155448"/>
          </a:xfrm>
          <a:prstGeom prst="ellipse">
            <a:avLst/>
          </a:prstGeom>
          <a:solidFill>
            <a:srgbClr val="C9A227"/>
          </a:solidFill>
          <a:ln/>
        </p:spPr>
      </p:sp>
      <p:sp>
        <p:nvSpPr>
          <p:cNvPr id="17" name="Text 15"/>
          <p:cNvSpPr/>
          <p:nvPr/>
        </p:nvSpPr>
        <p:spPr>
          <a:xfrm>
            <a:off x="6368796" y="2331720"/>
            <a:ext cx="2103120" cy="201168"/>
          </a:xfrm>
          <a:prstGeom prst="rect">
            <a:avLst/>
          </a:prstGeom>
          <a:noFill/>
          <a:ln/>
        </p:spPr>
        <p:txBody>
          <a:bodyPr wrap="square" lIns="0" tIns="0" rIns="0" bIns="0" rtlCol="0" anchor="ctr"/>
          <a:lstStyle/>
          <a:p>
            <a:pPr algn="ctr" indent="0" marL="0">
              <a:buNone/>
            </a:pPr>
            <a:r>
              <a:rPr lang="en-US" sz="1300" b="1" dirty="0">
                <a:solidFill>
                  <a:srgbClr val="8A6D14"/>
                </a:solidFill>
                <a:latin typeface="Arial" pitchFamily="34" charset="0"/>
                <a:ea typeface="Arial" pitchFamily="34" charset="-122"/>
                <a:cs typeface="Arial" pitchFamily="34" charset="-120"/>
              </a:rPr>
              <a:t>Mon 8:00</a:t>
            </a:r>
            <a:endParaRPr lang="en-US" sz="1300" dirty="0"/>
          </a:p>
        </p:txBody>
      </p:sp>
      <p:sp>
        <p:nvSpPr>
          <p:cNvPr id="18" name="Text 16"/>
          <p:cNvSpPr/>
          <p:nvPr/>
        </p:nvSpPr>
        <p:spPr>
          <a:xfrm>
            <a:off x="6368796" y="2532888"/>
            <a:ext cx="2103120" cy="443484"/>
          </a:xfrm>
          <a:prstGeom prst="rect">
            <a:avLst/>
          </a:prstGeom>
          <a:noFill/>
          <a:ln/>
        </p:spPr>
        <p:txBody>
          <a:bodyPr wrap="square" lIns="0" tIns="0" rIns="0" bIns="0" rtlCol="0" anchor="t"/>
          <a:lstStyle/>
          <a:p>
            <a:pPr algn="ctr" indent="0" marL="0">
              <a:lnSpc>
                <a:spcPct val="110000"/>
              </a:lnSpc>
              <a:buNone/>
            </a:pPr>
            <a:r>
              <a:rPr lang="en-US" sz="1100" dirty="0">
                <a:solidFill>
                  <a:srgbClr val="8A6D14"/>
                </a:solidFill>
                <a:latin typeface="Arial" pitchFamily="34" charset="0"/>
                <a:ea typeface="Arial" pitchFamily="34" charset="-122"/>
                <a:cs typeface="Arial" pitchFamily="34" charset="-120"/>
              </a:rPr>
              <a:t>her Week in Review, on your calendar</a:t>
            </a:r>
            <a:endParaRPr lang="en-US" sz="1100" dirty="0"/>
          </a:p>
        </p:txBody>
      </p:sp>
      <p:sp>
        <p:nvSpPr>
          <p:cNvPr id="19" name="Shape 17"/>
          <p:cNvSpPr/>
          <p:nvPr/>
        </p:nvSpPr>
        <p:spPr>
          <a:xfrm>
            <a:off x="9985248" y="2939796"/>
            <a:ext cx="155448" cy="155448"/>
          </a:xfrm>
          <a:prstGeom prst="ellipse">
            <a:avLst/>
          </a:prstGeom>
          <a:solidFill>
            <a:srgbClr val="14213D"/>
          </a:solidFill>
          <a:ln/>
        </p:spPr>
      </p:sp>
      <p:sp>
        <p:nvSpPr>
          <p:cNvPr id="20" name="Text 18"/>
          <p:cNvSpPr/>
          <p:nvPr/>
        </p:nvSpPr>
        <p:spPr>
          <a:xfrm>
            <a:off x="9011412" y="3209544"/>
            <a:ext cx="2103120" cy="201168"/>
          </a:xfrm>
          <a:prstGeom prst="rect">
            <a:avLst/>
          </a:prstGeom>
          <a:noFill/>
          <a:ln/>
        </p:spPr>
        <p:txBody>
          <a:bodyPr wrap="square" lIns="0" tIns="0" rIns="0" bIns="0" rtlCol="0" anchor="ctr"/>
          <a:lstStyle/>
          <a:p>
            <a:pPr algn="ctr" indent="0" marL="0">
              <a:buNone/>
            </a:pPr>
            <a:r>
              <a:rPr lang="en-US" sz="1300" b="1" dirty="0">
                <a:solidFill>
                  <a:srgbClr val="14213D"/>
                </a:solidFill>
                <a:latin typeface="Arial" pitchFamily="34" charset="0"/>
                <a:ea typeface="Arial" pitchFamily="34" charset="-122"/>
                <a:cs typeface="Arial" pitchFamily="34" charset="-120"/>
              </a:rPr>
              <a:t>Mon, you sign it</a:t>
            </a:r>
            <a:endParaRPr lang="en-US" sz="1300" dirty="0"/>
          </a:p>
        </p:txBody>
      </p:sp>
      <p:sp>
        <p:nvSpPr>
          <p:cNvPr id="21" name="Text 19"/>
          <p:cNvSpPr/>
          <p:nvPr/>
        </p:nvSpPr>
        <p:spPr>
          <a:xfrm>
            <a:off x="9011412" y="3410712"/>
            <a:ext cx="2103120" cy="267462"/>
          </a:xfrm>
          <a:prstGeom prst="rect">
            <a:avLst/>
          </a:prstGeom>
          <a:noFill/>
          <a:ln/>
        </p:spPr>
        <p:txBody>
          <a:bodyPr wrap="square" lIns="0" tIns="0" rIns="0" bIns="0" rtlCol="0" anchor="t"/>
          <a:lstStyle/>
          <a:p>
            <a:pPr algn="ctr" indent="0" marL="0">
              <a:lnSpc>
                <a:spcPct val="110000"/>
              </a:lnSpc>
              <a:buNone/>
            </a:pPr>
            <a:r>
              <a:rPr lang="en-US" sz="1100" dirty="0">
                <a:solidFill>
                  <a:srgbClr val="5A6379"/>
                </a:solidFill>
                <a:latin typeface="Arial" pitchFamily="34" charset="0"/>
                <a:ea typeface="Arial" pitchFamily="34" charset="-122"/>
                <a:cs typeface="Arial" pitchFamily="34" charset="-120"/>
              </a:rPr>
              <a:t>one paste, one upload</a:t>
            </a:r>
            <a:endParaRPr lang="en-US" sz="1100" dirty="0"/>
          </a:p>
        </p:txBody>
      </p:sp>
      <p:sp>
        <p:nvSpPr>
          <p:cNvPr id="22" name="Shape 20"/>
          <p:cNvSpPr/>
          <p:nvPr/>
        </p:nvSpPr>
        <p:spPr>
          <a:xfrm>
            <a:off x="813816" y="4041648"/>
            <a:ext cx="10570464" cy="843534"/>
          </a:xfrm>
          <a:prstGeom prst="rect">
            <a:avLst/>
          </a:prstGeom>
          <a:solidFill>
            <a:srgbClr val="E8E2D2"/>
          </a:solidFill>
          <a:ln/>
        </p:spPr>
      </p:sp>
      <p:sp>
        <p:nvSpPr>
          <p:cNvPr id="23" name="Shape 21"/>
          <p:cNvSpPr/>
          <p:nvPr/>
        </p:nvSpPr>
        <p:spPr>
          <a:xfrm rot="2700000">
            <a:off x="1069848" y="4375404"/>
            <a:ext cx="100584" cy="100584"/>
          </a:xfrm>
          <a:prstGeom prst="rect">
            <a:avLst/>
          </a:prstGeom>
          <a:solidFill>
            <a:srgbClr val="C9A227"/>
          </a:solidFill>
          <a:ln w="3175">
            <a:solidFill>
              <a:srgbClr val="C9A227"/>
            </a:solidFill>
            <a:prstDash val="solid"/>
          </a:ln>
        </p:spPr>
      </p:sp>
      <p:sp>
        <p:nvSpPr>
          <p:cNvPr id="24" name="Text 22"/>
          <p:cNvSpPr/>
          <p:nvPr/>
        </p:nvSpPr>
        <p:spPr>
          <a:xfrm>
            <a:off x="1380744" y="4297680"/>
            <a:ext cx="9747504" cy="331470"/>
          </a:xfrm>
          <a:prstGeom prst="rect">
            <a:avLst/>
          </a:prstGeom>
          <a:noFill/>
          <a:ln/>
        </p:spPr>
        <p:txBody>
          <a:bodyPr wrap="square" lIns="0" tIns="0" rIns="0" bIns="0" rtlCol="0" anchor="t"/>
          <a:lstStyle/>
          <a:p>
            <a:pPr indent="0" marL="0">
              <a:lnSpc>
                <a:spcPct val="116000"/>
              </a:lnSpc>
              <a:buNone/>
            </a:pPr>
            <a:r>
              <a:rPr lang="en-US" sz="1500" b="1" dirty="0">
                <a:solidFill>
                  <a:srgbClr val="8A6D14"/>
                </a:solidFill>
                <a:latin typeface="Arial" pitchFamily="34" charset="0"/>
                <a:ea typeface="Arial" pitchFamily="34" charset="-122"/>
                <a:cs typeface="Arial" pitchFamily="34" charset="-120"/>
              </a:rPr>
              <a:t>If she gets it wrong, you do not need a better prompt. You need a Friday.</a:t>
            </a:r>
            <a:endParaRPr lang="en-US" sz="1500" dirty="0"/>
          </a:p>
        </p:txBody>
      </p:sp>
      <p:sp>
        <p:nvSpPr>
          <p:cNvPr id="25" name="Text 23"/>
          <p:cNvSpPr/>
          <p:nvPr/>
        </p:nvSpPr>
        <p:spPr>
          <a:xfrm>
            <a:off x="813816" y="5138928"/>
            <a:ext cx="10570464" cy="274320"/>
          </a:xfrm>
          <a:prstGeom prst="rect">
            <a:avLst/>
          </a:prstGeom>
          <a:noFill/>
          <a:ln/>
        </p:spPr>
        <p:txBody>
          <a:bodyPr wrap="square" lIns="0" tIns="0" rIns="0" bIns="0" rtlCol="0" anchor="ctr"/>
          <a:lstStyle/>
          <a:p>
            <a:pPr algn="ctr" indent="0" marL="0">
              <a:buNone/>
            </a:pPr>
            <a:r>
              <a:rPr lang="en-US" sz="1300" dirty="0">
                <a:solidFill>
                  <a:srgbClr val="5A6379"/>
                </a:solidFill>
                <a:latin typeface="Arial" pitchFamily="34" charset="0"/>
                <a:ea typeface="Arial" pitchFamily="34" charset="-122"/>
                <a:cs typeface="Arial" pitchFamily="34" charset="-120"/>
              </a:rPr>
              <a:t>denisekgosnell.github.io/Donna   ·   denise@denisegosnell.ai</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5392217" y="722376"/>
            <a:ext cx="1408176" cy="1408176"/>
          </a:xfrm>
          <a:prstGeom prst="ellipse">
            <a:avLst/>
          </a:prstGeom>
          <a:ln w="12700">
            <a:solidFill>
              <a:srgbClr val="C9A227"/>
            </a:solidFill>
            <a:prstDash val="solid"/>
          </a:ln>
        </p:spPr>
      </p:sp>
      <p:sp>
        <p:nvSpPr>
          <p:cNvPr id="3" name="Shape 1"/>
          <p:cNvSpPr/>
          <p:nvPr/>
        </p:nvSpPr>
        <p:spPr>
          <a:xfrm>
            <a:off x="5496422" y="826581"/>
            <a:ext cx="1199766" cy="1199766"/>
          </a:xfrm>
          <a:prstGeom prst="ellipse">
            <a:avLst/>
          </a:prstGeom>
          <a:ln w="12700">
            <a:solidFill>
              <a:srgbClr val="C9A227"/>
            </a:solidFill>
            <a:prstDash val="solid"/>
          </a:ln>
        </p:spPr>
      </p:sp>
      <p:sp>
        <p:nvSpPr>
          <p:cNvPr id="4" name="Shape 2"/>
          <p:cNvSpPr/>
          <p:nvPr/>
        </p:nvSpPr>
        <p:spPr>
          <a:xfrm>
            <a:off x="6096305" y="687172"/>
            <a:ext cx="0" cy="70409"/>
          </a:xfrm>
          <a:prstGeom prst="line">
            <a:avLst/>
          </a:prstGeom>
          <a:noFill/>
          <a:ln w="12700">
            <a:solidFill>
              <a:srgbClr val="C9A227"/>
            </a:solidFill>
            <a:prstDash val="solid"/>
          </a:ln>
        </p:spPr>
      </p:sp>
      <p:sp>
        <p:nvSpPr>
          <p:cNvPr id="5" name="Shape 3"/>
          <p:cNvSpPr/>
          <p:nvPr/>
        </p:nvSpPr>
        <p:spPr>
          <a:xfrm>
            <a:off x="6096305" y="2095348"/>
            <a:ext cx="0" cy="70409"/>
          </a:xfrm>
          <a:prstGeom prst="line">
            <a:avLst/>
          </a:prstGeom>
          <a:noFill/>
          <a:ln w="12700">
            <a:solidFill>
              <a:srgbClr val="C9A227"/>
            </a:solidFill>
            <a:prstDash val="solid"/>
          </a:ln>
        </p:spPr>
      </p:sp>
      <p:sp>
        <p:nvSpPr>
          <p:cNvPr id="6" name="Shape 4"/>
          <p:cNvSpPr/>
          <p:nvPr/>
        </p:nvSpPr>
        <p:spPr>
          <a:xfrm>
            <a:off x="5357012" y="1426464"/>
            <a:ext cx="70409" cy="0"/>
          </a:xfrm>
          <a:prstGeom prst="line">
            <a:avLst/>
          </a:prstGeom>
          <a:noFill/>
          <a:ln w="12700">
            <a:solidFill>
              <a:srgbClr val="C9A227"/>
            </a:solidFill>
            <a:prstDash val="solid"/>
          </a:ln>
        </p:spPr>
      </p:sp>
      <p:sp>
        <p:nvSpPr>
          <p:cNvPr id="7" name="Shape 5"/>
          <p:cNvSpPr/>
          <p:nvPr/>
        </p:nvSpPr>
        <p:spPr>
          <a:xfrm>
            <a:off x="6765188" y="1426464"/>
            <a:ext cx="70409" cy="0"/>
          </a:xfrm>
          <a:prstGeom prst="line">
            <a:avLst/>
          </a:prstGeom>
          <a:noFill/>
          <a:ln w="12700">
            <a:solidFill>
              <a:srgbClr val="C9A227"/>
            </a:solidFill>
            <a:prstDash val="solid"/>
          </a:ln>
        </p:spPr>
      </p:sp>
      <p:sp>
        <p:nvSpPr>
          <p:cNvPr id="8" name="Text 6"/>
          <p:cNvSpPr/>
          <p:nvPr/>
        </p:nvSpPr>
        <p:spPr>
          <a:xfrm>
            <a:off x="5496422" y="826581"/>
            <a:ext cx="1199766" cy="1199766"/>
          </a:xfrm>
          <a:prstGeom prst="rect">
            <a:avLst/>
          </a:prstGeom>
          <a:noFill/>
          <a:ln/>
        </p:spPr>
        <p:txBody>
          <a:bodyPr wrap="square" lIns="0" tIns="0" rIns="0" bIns="0" rtlCol="0" anchor="ctr"/>
          <a:lstStyle/>
          <a:p>
            <a:pPr algn="ctr" indent="0" marL="0">
              <a:buNone/>
            </a:pPr>
            <a:r>
              <a:rPr lang="en-US" sz="5500" b="1" dirty="0">
                <a:solidFill>
                  <a:srgbClr val="A31621"/>
                </a:solidFill>
                <a:latin typeface="Georgia" pitchFamily="34" charset="0"/>
                <a:ea typeface="Georgia" pitchFamily="34" charset="-122"/>
                <a:cs typeface="Georgia" pitchFamily="34" charset="-120"/>
              </a:rPr>
              <a:t>D</a:t>
            </a:r>
            <a:endParaRPr lang="en-US" sz="5500" dirty="0"/>
          </a:p>
        </p:txBody>
      </p:sp>
      <p:sp>
        <p:nvSpPr>
          <p:cNvPr id="9" name="Shape 7"/>
          <p:cNvSpPr/>
          <p:nvPr/>
        </p:nvSpPr>
        <p:spPr>
          <a:xfrm>
            <a:off x="1706728" y="2304288"/>
            <a:ext cx="8778240" cy="1667134"/>
          </a:xfrm>
          <a:prstGeom prst="rect">
            <a:avLst/>
          </a:prstGeom>
          <a:solidFill>
            <a:srgbClr val="E8E2D2"/>
          </a:solidFill>
          <a:ln/>
        </p:spPr>
      </p:sp>
      <p:sp>
        <p:nvSpPr>
          <p:cNvPr id="10" name="Text 8"/>
          <p:cNvSpPr/>
          <p:nvPr/>
        </p:nvSpPr>
        <p:spPr>
          <a:xfrm>
            <a:off x="2163928" y="2560320"/>
            <a:ext cx="7863840" cy="880750"/>
          </a:xfrm>
          <a:prstGeom prst="rect">
            <a:avLst/>
          </a:prstGeom>
          <a:noFill/>
          <a:ln/>
        </p:spPr>
        <p:txBody>
          <a:bodyPr wrap="square" lIns="0" tIns="0" rIns="0" bIns="0" rtlCol="0" anchor="ctr"/>
          <a:lstStyle/>
          <a:p>
            <a:pPr algn="ctr" indent="0" marL="0">
              <a:buNone/>
            </a:pPr>
            <a:r>
              <a:rPr lang="en-US" sz="2400" b="1" i="1" dirty="0">
                <a:solidFill>
                  <a:srgbClr val="A31621"/>
                </a:solidFill>
                <a:latin typeface="Georgia" pitchFamily="34" charset="0"/>
                <a:ea typeface="Georgia" pitchFamily="34" charset="-122"/>
                <a:cs typeface="Georgia" pitchFamily="34" charset="-120"/>
              </a:rPr>
              <a:t>“If you were ever lucky enough to have me, you wouldn’t want to share.”</a:t>
            </a:r>
            <a:endParaRPr lang="en-US" sz="2400" dirty="0"/>
          </a:p>
        </p:txBody>
      </p:sp>
      <p:sp>
        <p:nvSpPr>
          <p:cNvPr id="11" name="Text 9"/>
          <p:cNvSpPr/>
          <p:nvPr/>
        </p:nvSpPr>
        <p:spPr>
          <a:xfrm>
            <a:off x="2163928" y="3569086"/>
            <a:ext cx="7863840" cy="219456"/>
          </a:xfrm>
          <a:prstGeom prst="rect">
            <a:avLst/>
          </a:prstGeom>
          <a:noFill/>
          <a:ln/>
        </p:spPr>
        <p:txBody>
          <a:bodyPr wrap="square" lIns="0" tIns="0" rIns="0" bIns="0" rtlCol="0" anchor="ctr"/>
          <a:lstStyle/>
          <a:p>
            <a:pPr algn="ctr" indent="0" marL="0">
              <a:buNone/>
            </a:pPr>
            <a:r>
              <a:rPr lang="en-US" sz="1100" b="1" spc="160" kern="0" dirty="0">
                <a:solidFill>
                  <a:srgbClr val="14213D"/>
                </a:solidFill>
                <a:latin typeface="Arial" pitchFamily="34" charset="0"/>
                <a:ea typeface="Arial" pitchFamily="34" charset="-122"/>
                <a:cs typeface="Arial" pitchFamily="34" charset="-120"/>
              </a:rPr>
              <a:t>— DONNA PAULSEN, SUITS</a:t>
            </a:r>
            <a:endParaRPr lang="en-US" sz="1100" dirty="0"/>
          </a:p>
        </p:txBody>
      </p:sp>
      <p:sp>
        <p:nvSpPr>
          <p:cNvPr id="12" name="Text 10"/>
          <p:cNvSpPr/>
          <p:nvPr/>
        </p:nvSpPr>
        <p:spPr>
          <a:xfrm>
            <a:off x="813816" y="4282318"/>
            <a:ext cx="10570464" cy="658368"/>
          </a:xfrm>
          <a:prstGeom prst="rect">
            <a:avLst/>
          </a:prstGeom>
          <a:noFill/>
          <a:ln/>
        </p:spPr>
        <p:txBody>
          <a:bodyPr wrap="square" lIns="0" tIns="0" rIns="0" bIns="0" rtlCol="0" anchor="ctr"/>
          <a:lstStyle/>
          <a:p>
            <a:pPr algn="ctr" indent="0" marL="0">
              <a:buNone/>
            </a:pPr>
            <a:r>
              <a:rPr lang="en-US" sz="4000" b="1" dirty="0">
                <a:solidFill>
                  <a:srgbClr val="F7F3EA"/>
                </a:solidFill>
                <a:latin typeface="Georgia" pitchFamily="34" charset="0"/>
                <a:ea typeface="Georgia" pitchFamily="34" charset="-122"/>
                <a:cs typeface="Georgia" pitchFamily="34" charset="-120"/>
              </a:rPr>
              <a:t>Yours starts tomorrow at 4:30.</a:t>
            </a:r>
            <a:endParaRPr lang="en-US" sz="4000" dirty="0"/>
          </a:p>
        </p:txBody>
      </p:sp>
      <p:sp>
        <p:nvSpPr>
          <p:cNvPr id="13" name="Text 11"/>
          <p:cNvSpPr/>
          <p:nvPr/>
        </p:nvSpPr>
        <p:spPr>
          <a:xfrm>
            <a:off x="813816" y="5032126"/>
            <a:ext cx="10570464" cy="256032"/>
          </a:xfrm>
          <a:prstGeom prst="rect">
            <a:avLst/>
          </a:prstGeom>
          <a:noFill/>
          <a:ln/>
        </p:spPr>
        <p:txBody>
          <a:bodyPr wrap="square" lIns="0" tIns="0" rIns="0" bIns="0" rtlCol="0" anchor="ctr"/>
          <a:lstStyle/>
          <a:p>
            <a:pPr algn="ctr" indent="0" marL="0">
              <a:buNone/>
            </a:pPr>
            <a:r>
              <a:rPr lang="en-US" sz="1200" dirty="0">
                <a:solidFill>
                  <a:srgbClr val="AFA893"/>
                </a:solidFill>
                <a:latin typeface="Arial" pitchFamily="34" charset="0"/>
                <a:ea typeface="Arial" pitchFamily="34" charset="-122"/>
                <a:cs typeface="Arial" pitchFamily="34" charset="-120"/>
              </a:rPr>
              <a:t>denisekgosnell.github.io/Donna   ·   denise@denisegosnell.ai</a:t>
            </a:r>
            <a:endParaRPr lang="en-US" sz="1200" dirty="0"/>
          </a:p>
        </p:txBody>
      </p:sp>
      <p:sp>
        <p:nvSpPr>
          <p:cNvPr id="14" name="Shape 12"/>
          <p:cNvSpPr/>
          <p:nvPr/>
        </p:nvSpPr>
        <p:spPr>
          <a:xfrm>
            <a:off x="2438248" y="6492240"/>
            <a:ext cx="7315200" cy="0"/>
          </a:xfrm>
          <a:prstGeom prst="line">
            <a:avLst/>
          </a:prstGeom>
          <a:noFill/>
          <a:ln w="9525">
            <a:solidFill>
              <a:srgbClr val="C9A227">
                <a:alpha val="50000"/>
              </a:srgbClr>
            </a:solidFill>
            <a:prstDash val="solid"/>
          </a:ln>
        </p:spPr>
      </p:sp>
      <p:sp>
        <p:nvSpPr>
          <p:cNvPr id="15" name="Shape 13"/>
          <p:cNvSpPr/>
          <p:nvPr/>
        </p:nvSpPr>
        <p:spPr>
          <a:xfrm>
            <a:off x="2438248" y="6378854"/>
            <a:ext cx="0" cy="113386"/>
          </a:xfrm>
          <a:prstGeom prst="line">
            <a:avLst/>
          </a:prstGeom>
          <a:noFill/>
          <a:ln w="9525">
            <a:solidFill>
              <a:srgbClr val="C9A227">
                <a:alpha val="50000"/>
              </a:srgbClr>
            </a:solidFill>
            <a:prstDash val="solid"/>
          </a:ln>
        </p:spPr>
      </p:sp>
      <p:sp>
        <p:nvSpPr>
          <p:cNvPr id="16" name="Shape 14"/>
          <p:cNvSpPr/>
          <p:nvPr/>
        </p:nvSpPr>
        <p:spPr>
          <a:xfrm>
            <a:off x="2438248" y="6378854"/>
            <a:ext cx="347472" cy="0"/>
          </a:xfrm>
          <a:prstGeom prst="line">
            <a:avLst/>
          </a:prstGeom>
          <a:noFill/>
          <a:ln w="9525">
            <a:solidFill>
              <a:srgbClr val="C9A227">
                <a:alpha val="50000"/>
              </a:srgbClr>
            </a:solidFill>
            <a:prstDash val="solid"/>
          </a:ln>
        </p:spPr>
      </p:sp>
      <p:sp>
        <p:nvSpPr>
          <p:cNvPr id="17" name="Shape 15"/>
          <p:cNvSpPr/>
          <p:nvPr/>
        </p:nvSpPr>
        <p:spPr>
          <a:xfrm>
            <a:off x="2785720" y="6378854"/>
            <a:ext cx="0" cy="113386"/>
          </a:xfrm>
          <a:prstGeom prst="line">
            <a:avLst/>
          </a:prstGeom>
          <a:noFill/>
          <a:ln w="9525">
            <a:solidFill>
              <a:srgbClr val="C9A227">
                <a:alpha val="50000"/>
              </a:srgbClr>
            </a:solidFill>
            <a:prstDash val="solid"/>
          </a:ln>
        </p:spPr>
      </p:sp>
      <p:sp>
        <p:nvSpPr>
          <p:cNvPr id="18" name="Shape 16"/>
          <p:cNvSpPr/>
          <p:nvPr/>
        </p:nvSpPr>
        <p:spPr>
          <a:xfrm>
            <a:off x="2822296" y="6299484"/>
            <a:ext cx="0" cy="192756"/>
          </a:xfrm>
          <a:prstGeom prst="line">
            <a:avLst/>
          </a:prstGeom>
          <a:noFill/>
          <a:ln w="9525">
            <a:solidFill>
              <a:srgbClr val="C9A227">
                <a:alpha val="50000"/>
              </a:srgbClr>
            </a:solidFill>
            <a:prstDash val="solid"/>
          </a:ln>
        </p:spPr>
      </p:sp>
      <p:sp>
        <p:nvSpPr>
          <p:cNvPr id="19" name="Shape 17"/>
          <p:cNvSpPr/>
          <p:nvPr/>
        </p:nvSpPr>
        <p:spPr>
          <a:xfrm>
            <a:off x="2822296" y="6299484"/>
            <a:ext cx="292608" cy="0"/>
          </a:xfrm>
          <a:prstGeom prst="line">
            <a:avLst/>
          </a:prstGeom>
          <a:noFill/>
          <a:ln w="9525">
            <a:solidFill>
              <a:srgbClr val="C9A227">
                <a:alpha val="50000"/>
              </a:srgbClr>
            </a:solidFill>
            <a:prstDash val="solid"/>
          </a:ln>
        </p:spPr>
      </p:sp>
      <p:sp>
        <p:nvSpPr>
          <p:cNvPr id="20" name="Shape 18"/>
          <p:cNvSpPr/>
          <p:nvPr/>
        </p:nvSpPr>
        <p:spPr>
          <a:xfrm>
            <a:off x="3114904" y="6299484"/>
            <a:ext cx="0" cy="192756"/>
          </a:xfrm>
          <a:prstGeom prst="line">
            <a:avLst/>
          </a:prstGeom>
          <a:noFill/>
          <a:ln w="9525">
            <a:solidFill>
              <a:srgbClr val="C9A227">
                <a:alpha val="50000"/>
              </a:srgbClr>
            </a:solidFill>
            <a:prstDash val="solid"/>
          </a:ln>
        </p:spPr>
      </p:sp>
      <p:sp>
        <p:nvSpPr>
          <p:cNvPr id="21" name="Shape 19"/>
          <p:cNvSpPr/>
          <p:nvPr/>
        </p:nvSpPr>
        <p:spPr>
          <a:xfrm>
            <a:off x="3151480" y="6401532"/>
            <a:ext cx="0" cy="90708"/>
          </a:xfrm>
          <a:prstGeom prst="line">
            <a:avLst/>
          </a:prstGeom>
          <a:noFill/>
          <a:ln w="9525">
            <a:solidFill>
              <a:srgbClr val="C9A227">
                <a:alpha val="50000"/>
              </a:srgbClr>
            </a:solidFill>
            <a:prstDash val="solid"/>
          </a:ln>
        </p:spPr>
      </p:sp>
      <p:sp>
        <p:nvSpPr>
          <p:cNvPr id="22" name="Shape 20"/>
          <p:cNvSpPr/>
          <p:nvPr/>
        </p:nvSpPr>
        <p:spPr>
          <a:xfrm>
            <a:off x="3151480" y="6401532"/>
            <a:ext cx="182880" cy="0"/>
          </a:xfrm>
          <a:prstGeom prst="line">
            <a:avLst/>
          </a:prstGeom>
          <a:noFill/>
          <a:ln w="9525">
            <a:solidFill>
              <a:srgbClr val="C9A227">
                <a:alpha val="50000"/>
              </a:srgbClr>
            </a:solidFill>
            <a:prstDash val="solid"/>
          </a:ln>
        </p:spPr>
      </p:sp>
      <p:sp>
        <p:nvSpPr>
          <p:cNvPr id="23" name="Shape 21"/>
          <p:cNvSpPr/>
          <p:nvPr/>
        </p:nvSpPr>
        <p:spPr>
          <a:xfrm>
            <a:off x="3334360" y="6401532"/>
            <a:ext cx="0" cy="90708"/>
          </a:xfrm>
          <a:prstGeom prst="line">
            <a:avLst/>
          </a:prstGeom>
          <a:noFill/>
          <a:ln w="9525">
            <a:solidFill>
              <a:srgbClr val="C9A227">
                <a:alpha val="50000"/>
              </a:srgbClr>
            </a:solidFill>
            <a:prstDash val="solid"/>
          </a:ln>
        </p:spPr>
      </p:sp>
      <p:sp>
        <p:nvSpPr>
          <p:cNvPr id="24" name="Shape 22"/>
          <p:cNvSpPr/>
          <p:nvPr/>
        </p:nvSpPr>
        <p:spPr>
          <a:xfrm>
            <a:off x="3370936" y="6231453"/>
            <a:ext cx="0" cy="260787"/>
          </a:xfrm>
          <a:prstGeom prst="line">
            <a:avLst/>
          </a:prstGeom>
          <a:noFill/>
          <a:ln w="9525">
            <a:solidFill>
              <a:srgbClr val="C9A227">
                <a:alpha val="50000"/>
              </a:srgbClr>
            </a:solidFill>
            <a:prstDash val="solid"/>
          </a:ln>
        </p:spPr>
      </p:sp>
      <p:sp>
        <p:nvSpPr>
          <p:cNvPr id="25" name="Shape 23"/>
          <p:cNvSpPr/>
          <p:nvPr/>
        </p:nvSpPr>
        <p:spPr>
          <a:xfrm>
            <a:off x="3370936" y="6231453"/>
            <a:ext cx="347472" cy="0"/>
          </a:xfrm>
          <a:prstGeom prst="line">
            <a:avLst/>
          </a:prstGeom>
          <a:noFill/>
          <a:ln w="9525">
            <a:solidFill>
              <a:srgbClr val="C9A227">
                <a:alpha val="50000"/>
              </a:srgbClr>
            </a:solidFill>
            <a:prstDash val="solid"/>
          </a:ln>
        </p:spPr>
      </p:sp>
      <p:sp>
        <p:nvSpPr>
          <p:cNvPr id="26" name="Shape 24"/>
          <p:cNvSpPr/>
          <p:nvPr/>
        </p:nvSpPr>
        <p:spPr>
          <a:xfrm>
            <a:off x="3718408" y="6231453"/>
            <a:ext cx="0" cy="260787"/>
          </a:xfrm>
          <a:prstGeom prst="line">
            <a:avLst/>
          </a:prstGeom>
          <a:noFill/>
          <a:ln w="9525">
            <a:solidFill>
              <a:srgbClr val="C9A227">
                <a:alpha val="50000"/>
              </a:srgbClr>
            </a:solidFill>
            <a:prstDash val="solid"/>
          </a:ln>
        </p:spPr>
      </p:sp>
      <p:sp>
        <p:nvSpPr>
          <p:cNvPr id="27" name="Shape 25"/>
          <p:cNvSpPr/>
          <p:nvPr/>
        </p:nvSpPr>
        <p:spPr>
          <a:xfrm>
            <a:off x="3754984" y="6344839"/>
            <a:ext cx="0" cy="147401"/>
          </a:xfrm>
          <a:prstGeom prst="line">
            <a:avLst/>
          </a:prstGeom>
          <a:noFill/>
          <a:ln w="9525">
            <a:solidFill>
              <a:srgbClr val="C9A227">
                <a:alpha val="50000"/>
              </a:srgbClr>
            </a:solidFill>
            <a:prstDash val="solid"/>
          </a:ln>
        </p:spPr>
      </p:sp>
      <p:sp>
        <p:nvSpPr>
          <p:cNvPr id="28" name="Shape 26"/>
          <p:cNvSpPr/>
          <p:nvPr/>
        </p:nvSpPr>
        <p:spPr>
          <a:xfrm>
            <a:off x="3754984" y="6344839"/>
            <a:ext cx="237744" cy="0"/>
          </a:xfrm>
          <a:prstGeom prst="line">
            <a:avLst/>
          </a:prstGeom>
          <a:noFill/>
          <a:ln w="9525">
            <a:solidFill>
              <a:srgbClr val="C9A227">
                <a:alpha val="50000"/>
              </a:srgbClr>
            </a:solidFill>
            <a:prstDash val="solid"/>
          </a:ln>
        </p:spPr>
      </p:sp>
      <p:sp>
        <p:nvSpPr>
          <p:cNvPr id="29" name="Shape 27"/>
          <p:cNvSpPr/>
          <p:nvPr/>
        </p:nvSpPr>
        <p:spPr>
          <a:xfrm>
            <a:off x="3992728" y="6344839"/>
            <a:ext cx="0" cy="147401"/>
          </a:xfrm>
          <a:prstGeom prst="line">
            <a:avLst/>
          </a:prstGeom>
          <a:noFill/>
          <a:ln w="9525">
            <a:solidFill>
              <a:srgbClr val="C9A227">
                <a:alpha val="50000"/>
              </a:srgbClr>
            </a:solidFill>
            <a:prstDash val="solid"/>
          </a:ln>
        </p:spPr>
      </p:sp>
      <p:sp>
        <p:nvSpPr>
          <p:cNvPr id="30" name="Shape 28"/>
          <p:cNvSpPr/>
          <p:nvPr/>
        </p:nvSpPr>
        <p:spPr>
          <a:xfrm>
            <a:off x="4029304" y="6140745"/>
            <a:ext cx="0" cy="351495"/>
          </a:xfrm>
          <a:prstGeom prst="line">
            <a:avLst/>
          </a:prstGeom>
          <a:noFill/>
          <a:ln w="9525">
            <a:solidFill>
              <a:srgbClr val="C9A227">
                <a:alpha val="50000"/>
              </a:srgbClr>
            </a:solidFill>
            <a:prstDash val="solid"/>
          </a:ln>
        </p:spPr>
      </p:sp>
      <p:sp>
        <p:nvSpPr>
          <p:cNvPr id="31" name="Shape 29"/>
          <p:cNvSpPr/>
          <p:nvPr/>
        </p:nvSpPr>
        <p:spPr>
          <a:xfrm>
            <a:off x="4029304" y="6140745"/>
            <a:ext cx="292608" cy="0"/>
          </a:xfrm>
          <a:prstGeom prst="line">
            <a:avLst/>
          </a:prstGeom>
          <a:noFill/>
          <a:ln w="9525">
            <a:solidFill>
              <a:srgbClr val="C9A227">
                <a:alpha val="50000"/>
              </a:srgbClr>
            </a:solidFill>
            <a:prstDash val="solid"/>
          </a:ln>
        </p:spPr>
      </p:sp>
      <p:sp>
        <p:nvSpPr>
          <p:cNvPr id="32" name="Shape 30"/>
          <p:cNvSpPr/>
          <p:nvPr/>
        </p:nvSpPr>
        <p:spPr>
          <a:xfrm>
            <a:off x="4321912" y="6140745"/>
            <a:ext cx="0" cy="351495"/>
          </a:xfrm>
          <a:prstGeom prst="line">
            <a:avLst/>
          </a:prstGeom>
          <a:noFill/>
          <a:ln w="9525">
            <a:solidFill>
              <a:srgbClr val="C9A227">
                <a:alpha val="50000"/>
              </a:srgbClr>
            </a:solidFill>
            <a:prstDash val="solid"/>
          </a:ln>
        </p:spPr>
      </p:sp>
      <p:sp>
        <p:nvSpPr>
          <p:cNvPr id="33" name="Shape 31"/>
          <p:cNvSpPr/>
          <p:nvPr/>
        </p:nvSpPr>
        <p:spPr>
          <a:xfrm>
            <a:off x="4358488" y="6322162"/>
            <a:ext cx="0" cy="170078"/>
          </a:xfrm>
          <a:prstGeom prst="line">
            <a:avLst/>
          </a:prstGeom>
          <a:noFill/>
          <a:ln w="9525">
            <a:solidFill>
              <a:srgbClr val="C9A227">
                <a:alpha val="50000"/>
              </a:srgbClr>
            </a:solidFill>
            <a:prstDash val="solid"/>
          </a:ln>
        </p:spPr>
      </p:sp>
      <p:sp>
        <p:nvSpPr>
          <p:cNvPr id="34" name="Shape 32"/>
          <p:cNvSpPr/>
          <p:nvPr/>
        </p:nvSpPr>
        <p:spPr>
          <a:xfrm>
            <a:off x="4358488" y="6322162"/>
            <a:ext cx="274320" cy="0"/>
          </a:xfrm>
          <a:prstGeom prst="line">
            <a:avLst/>
          </a:prstGeom>
          <a:noFill/>
          <a:ln w="9525">
            <a:solidFill>
              <a:srgbClr val="C9A227">
                <a:alpha val="50000"/>
              </a:srgbClr>
            </a:solidFill>
            <a:prstDash val="solid"/>
          </a:ln>
        </p:spPr>
      </p:sp>
      <p:sp>
        <p:nvSpPr>
          <p:cNvPr id="35" name="Shape 33"/>
          <p:cNvSpPr/>
          <p:nvPr/>
        </p:nvSpPr>
        <p:spPr>
          <a:xfrm>
            <a:off x="4632808" y="6322162"/>
            <a:ext cx="0" cy="170078"/>
          </a:xfrm>
          <a:prstGeom prst="line">
            <a:avLst/>
          </a:prstGeom>
          <a:noFill/>
          <a:ln w="9525">
            <a:solidFill>
              <a:srgbClr val="C9A227">
                <a:alpha val="50000"/>
              </a:srgbClr>
            </a:solidFill>
            <a:prstDash val="solid"/>
          </a:ln>
        </p:spPr>
      </p:sp>
      <p:sp>
        <p:nvSpPr>
          <p:cNvPr id="36" name="Shape 34"/>
          <p:cNvSpPr/>
          <p:nvPr/>
        </p:nvSpPr>
        <p:spPr>
          <a:xfrm>
            <a:off x="4669384" y="6378854"/>
            <a:ext cx="0" cy="113386"/>
          </a:xfrm>
          <a:prstGeom prst="line">
            <a:avLst/>
          </a:prstGeom>
          <a:noFill/>
          <a:ln w="9525">
            <a:solidFill>
              <a:srgbClr val="C9A227">
                <a:alpha val="50000"/>
              </a:srgbClr>
            </a:solidFill>
            <a:prstDash val="solid"/>
          </a:ln>
        </p:spPr>
      </p:sp>
      <p:sp>
        <p:nvSpPr>
          <p:cNvPr id="37" name="Shape 35"/>
          <p:cNvSpPr/>
          <p:nvPr/>
        </p:nvSpPr>
        <p:spPr>
          <a:xfrm>
            <a:off x="4669384" y="6378854"/>
            <a:ext cx="219456" cy="0"/>
          </a:xfrm>
          <a:prstGeom prst="line">
            <a:avLst/>
          </a:prstGeom>
          <a:noFill/>
          <a:ln w="9525">
            <a:solidFill>
              <a:srgbClr val="C9A227">
                <a:alpha val="50000"/>
              </a:srgbClr>
            </a:solidFill>
            <a:prstDash val="solid"/>
          </a:ln>
        </p:spPr>
      </p:sp>
      <p:sp>
        <p:nvSpPr>
          <p:cNvPr id="38" name="Shape 36"/>
          <p:cNvSpPr/>
          <p:nvPr/>
        </p:nvSpPr>
        <p:spPr>
          <a:xfrm>
            <a:off x="4888840" y="6378854"/>
            <a:ext cx="0" cy="113386"/>
          </a:xfrm>
          <a:prstGeom prst="line">
            <a:avLst/>
          </a:prstGeom>
          <a:noFill/>
          <a:ln w="9525">
            <a:solidFill>
              <a:srgbClr val="C9A227">
                <a:alpha val="50000"/>
              </a:srgbClr>
            </a:solidFill>
            <a:prstDash val="solid"/>
          </a:ln>
        </p:spPr>
      </p:sp>
      <p:sp>
        <p:nvSpPr>
          <p:cNvPr id="39" name="Shape 37"/>
          <p:cNvSpPr/>
          <p:nvPr/>
        </p:nvSpPr>
        <p:spPr>
          <a:xfrm>
            <a:off x="4925416" y="6208776"/>
            <a:ext cx="0" cy="283464"/>
          </a:xfrm>
          <a:prstGeom prst="line">
            <a:avLst/>
          </a:prstGeom>
          <a:noFill/>
          <a:ln w="9525">
            <a:solidFill>
              <a:srgbClr val="C9A227">
                <a:alpha val="50000"/>
              </a:srgbClr>
            </a:solidFill>
            <a:prstDash val="solid"/>
          </a:ln>
        </p:spPr>
      </p:sp>
      <p:sp>
        <p:nvSpPr>
          <p:cNvPr id="40" name="Shape 38"/>
          <p:cNvSpPr/>
          <p:nvPr/>
        </p:nvSpPr>
        <p:spPr>
          <a:xfrm>
            <a:off x="4925416" y="6208776"/>
            <a:ext cx="365760" cy="0"/>
          </a:xfrm>
          <a:prstGeom prst="line">
            <a:avLst/>
          </a:prstGeom>
          <a:noFill/>
          <a:ln w="9525">
            <a:solidFill>
              <a:srgbClr val="C9A227">
                <a:alpha val="50000"/>
              </a:srgbClr>
            </a:solidFill>
            <a:prstDash val="solid"/>
          </a:ln>
        </p:spPr>
      </p:sp>
      <p:sp>
        <p:nvSpPr>
          <p:cNvPr id="41" name="Shape 39"/>
          <p:cNvSpPr/>
          <p:nvPr/>
        </p:nvSpPr>
        <p:spPr>
          <a:xfrm>
            <a:off x="5291176" y="6208776"/>
            <a:ext cx="0" cy="283464"/>
          </a:xfrm>
          <a:prstGeom prst="line">
            <a:avLst/>
          </a:prstGeom>
          <a:noFill/>
          <a:ln w="9525">
            <a:solidFill>
              <a:srgbClr val="C9A227">
                <a:alpha val="50000"/>
              </a:srgbClr>
            </a:solidFill>
            <a:prstDash val="solid"/>
          </a:ln>
        </p:spPr>
      </p:sp>
      <p:sp>
        <p:nvSpPr>
          <p:cNvPr id="42" name="Shape 40"/>
          <p:cNvSpPr/>
          <p:nvPr/>
        </p:nvSpPr>
        <p:spPr>
          <a:xfrm>
            <a:off x="5327752" y="6288146"/>
            <a:ext cx="0" cy="204094"/>
          </a:xfrm>
          <a:prstGeom prst="line">
            <a:avLst/>
          </a:prstGeom>
          <a:noFill/>
          <a:ln w="9525">
            <a:solidFill>
              <a:srgbClr val="C9A227">
                <a:alpha val="50000"/>
              </a:srgbClr>
            </a:solidFill>
            <a:prstDash val="solid"/>
          </a:ln>
        </p:spPr>
      </p:sp>
      <p:sp>
        <p:nvSpPr>
          <p:cNvPr id="43" name="Shape 41"/>
          <p:cNvSpPr/>
          <p:nvPr/>
        </p:nvSpPr>
        <p:spPr>
          <a:xfrm>
            <a:off x="5327752" y="6288146"/>
            <a:ext cx="274320" cy="0"/>
          </a:xfrm>
          <a:prstGeom prst="line">
            <a:avLst/>
          </a:prstGeom>
          <a:noFill/>
          <a:ln w="9525">
            <a:solidFill>
              <a:srgbClr val="C9A227">
                <a:alpha val="50000"/>
              </a:srgbClr>
            </a:solidFill>
            <a:prstDash val="solid"/>
          </a:ln>
        </p:spPr>
      </p:sp>
      <p:sp>
        <p:nvSpPr>
          <p:cNvPr id="44" name="Shape 42"/>
          <p:cNvSpPr/>
          <p:nvPr/>
        </p:nvSpPr>
        <p:spPr>
          <a:xfrm>
            <a:off x="5602072" y="6288146"/>
            <a:ext cx="0" cy="204094"/>
          </a:xfrm>
          <a:prstGeom prst="line">
            <a:avLst/>
          </a:prstGeom>
          <a:noFill/>
          <a:ln w="9525">
            <a:solidFill>
              <a:srgbClr val="C9A227">
                <a:alpha val="50000"/>
              </a:srgbClr>
            </a:solidFill>
            <a:prstDash val="solid"/>
          </a:ln>
        </p:spPr>
      </p:sp>
      <p:sp>
        <p:nvSpPr>
          <p:cNvPr id="45" name="Shape 43"/>
          <p:cNvSpPr/>
          <p:nvPr/>
        </p:nvSpPr>
        <p:spPr>
          <a:xfrm>
            <a:off x="5638648" y="6367516"/>
            <a:ext cx="0" cy="124724"/>
          </a:xfrm>
          <a:prstGeom prst="line">
            <a:avLst/>
          </a:prstGeom>
          <a:noFill/>
          <a:ln w="9525">
            <a:solidFill>
              <a:srgbClr val="C9A227">
                <a:alpha val="50000"/>
              </a:srgbClr>
            </a:solidFill>
            <a:prstDash val="solid"/>
          </a:ln>
        </p:spPr>
      </p:sp>
      <p:sp>
        <p:nvSpPr>
          <p:cNvPr id="46" name="Shape 44"/>
          <p:cNvSpPr/>
          <p:nvPr/>
        </p:nvSpPr>
        <p:spPr>
          <a:xfrm>
            <a:off x="5638648" y="6367516"/>
            <a:ext cx="219456" cy="0"/>
          </a:xfrm>
          <a:prstGeom prst="line">
            <a:avLst/>
          </a:prstGeom>
          <a:noFill/>
          <a:ln w="9525">
            <a:solidFill>
              <a:srgbClr val="C9A227">
                <a:alpha val="50000"/>
              </a:srgbClr>
            </a:solidFill>
            <a:prstDash val="solid"/>
          </a:ln>
        </p:spPr>
      </p:sp>
      <p:sp>
        <p:nvSpPr>
          <p:cNvPr id="47" name="Shape 45"/>
          <p:cNvSpPr/>
          <p:nvPr/>
        </p:nvSpPr>
        <p:spPr>
          <a:xfrm>
            <a:off x="5858104" y="6367516"/>
            <a:ext cx="0" cy="124724"/>
          </a:xfrm>
          <a:prstGeom prst="line">
            <a:avLst/>
          </a:prstGeom>
          <a:noFill/>
          <a:ln w="9525">
            <a:solidFill>
              <a:srgbClr val="C9A227">
                <a:alpha val="50000"/>
              </a:srgbClr>
            </a:solidFill>
            <a:prstDash val="solid"/>
          </a:ln>
        </p:spPr>
      </p:sp>
      <p:sp>
        <p:nvSpPr>
          <p:cNvPr id="48" name="Shape 46"/>
          <p:cNvSpPr/>
          <p:nvPr/>
        </p:nvSpPr>
        <p:spPr>
          <a:xfrm>
            <a:off x="5894680" y="6163422"/>
            <a:ext cx="0" cy="328818"/>
          </a:xfrm>
          <a:prstGeom prst="line">
            <a:avLst/>
          </a:prstGeom>
          <a:noFill/>
          <a:ln w="9525">
            <a:solidFill>
              <a:srgbClr val="C9A227">
                <a:alpha val="50000"/>
              </a:srgbClr>
            </a:solidFill>
            <a:prstDash val="solid"/>
          </a:ln>
        </p:spPr>
      </p:sp>
      <p:sp>
        <p:nvSpPr>
          <p:cNvPr id="49" name="Shape 47"/>
          <p:cNvSpPr/>
          <p:nvPr/>
        </p:nvSpPr>
        <p:spPr>
          <a:xfrm>
            <a:off x="5894680" y="6163422"/>
            <a:ext cx="329184" cy="0"/>
          </a:xfrm>
          <a:prstGeom prst="line">
            <a:avLst/>
          </a:prstGeom>
          <a:noFill/>
          <a:ln w="9525">
            <a:solidFill>
              <a:srgbClr val="C9A227">
                <a:alpha val="50000"/>
              </a:srgbClr>
            </a:solidFill>
            <a:prstDash val="solid"/>
          </a:ln>
        </p:spPr>
      </p:sp>
      <p:sp>
        <p:nvSpPr>
          <p:cNvPr id="50" name="Shape 48"/>
          <p:cNvSpPr/>
          <p:nvPr/>
        </p:nvSpPr>
        <p:spPr>
          <a:xfrm>
            <a:off x="6223864" y="6163422"/>
            <a:ext cx="0" cy="328818"/>
          </a:xfrm>
          <a:prstGeom prst="line">
            <a:avLst/>
          </a:prstGeom>
          <a:noFill/>
          <a:ln w="9525">
            <a:solidFill>
              <a:srgbClr val="C9A227">
                <a:alpha val="50000"/>
              </a:srgbClr>
            </a:solidFill>
            <a:prstDash val="solid"/>
          </a:ln>
        </p:spPr>
      </p:sp>
      <p:sp>
        <p:nvSpPr>
          <p:cNvPr id="51" name="Shape 49"/>
          <p:cNvSpPr/>
          <p:nvPr/>
        </p:nvSpPr>
        <p:spPr>
          <a:xfrm>
            <a:off x="6260440" y="6322162"/>
            <a:ext cx="0" cy="170078"/>
          </a:xfrm>
          <a:prstGeom prst="line">
            <a:avLst/>
          </a:prstGeom>
          <a:noFill/>
          <a:ln w="9525">
            <a:solidFill>
              <a:srgbClr val="C9A227">
                <a:alpha val="50000"/>
              </a:srgbClr>
            </a:solidFill>
            <a:prstDash val="solid"/>
          </a:ln>
        </p:spPr>
      </p:sp>
      <p:sp>
        <p:nvSpPr>
          <p:cNvPr id="52" name="Shape 50"/>
          <p:cNvSpPr/>
          <p:nvPr/>
        </p:nvSpPr>
        <p:spPr>
          <a:xfrm>
            <a:off x="6260440" y="6322162"/>
            <a:ext cx="256032" cy="0"/>
          </a:xfrm>
          <a:prstGeom prst="line">
            <a:avLst/>
          </a:prstGeom>
          <a:noFill/>
          <a:ln w="9525">
            <a:solidFill>
              <a:srgbClr val="C9A227">
                <a:alpha val="50000"/>
              </a:srgbClr>
            </a:solidFill>
            <a:prstDash val="solid"/>
          </a:ln>
        </p:spPr>
      </p:sp>
      <p:sp>
        <p:nvSpPr>
          <p:cNvPr id="53" name="Shape 51"/>
          <p:cNvSpPr/>
          <p:nvPr/>
        </p:nvSpPr>
        <p:spPr>
          <a:xfrm>
            <a:off x="6516472" y="6322162"/>
            <a:ext cx="0" cy="170078"/>
          </a:xfrm>
          <a:prstGeom prst="line">
            <a:avLst/>
          </a:prstGeom>
          <a:noFill/>
          <a:ln w="9525">
            <a:solidFill>
              <a:srgbClr val="C9A227">
                <a:alpha val="50000"/>
              </a:srgbClr>
            </a:solidFill>
            <a:prstDash val="solid"/>
          </a:ln>
        </p:spPr>
      </p:sp>
      <p:sp>
        <p:nvSpPr>
          <p:cNvPr id="54" name="Shape 52"/>
          <p:cNvSpPr/>
          <p:nvPr/>
        </p:nvSpPr>
        <p:spPr>
          <a:xfrm>
            <a:off x="6553048" y="6254130"/>
            <a:ext cx="0" cy="238110"/>
          </a:xfrm>
          <a:prstGeom prst="line">
            <a:avLst/>
          </a:prstGeom>
          <a:noFill/>
          <a:ln w="9525">
            <a:solidFill>
              <a:srgbClr val="C9A227">
                <a:alpha val="50000"/>
              </a:srgbClr>
            </a:solidFill>
            <a:prstDash val="solid"/>
          </a:ln>
        </p:spPr>
      </p:sp>
      <p:sp>
        <p:nvSpPr>
          <p:cNvPr id="55" name="Shape 53"/>
          <p:cNvSpPr/>
          <p:nvPr/>
        </p:nvSpPr>
        <p:spPr>
          <a:xfrm>
            <a:off x="6553048" y="6254130"/>
            <a:ext cx="347472" cy="0"/>
          </a:xfrm>
          <a:prstGeom prst="line">
            <a:avLst/>
          </a:prstGeom>
          <a:noFill/>
          <a:ln w="9525">
            <a:solidFill>
              <a:srgbClr val="C9A227">
                <a:alpha val="50000"/>
              </a:srgbClr>
            </a:solidFill>
            <a:prstDash val="solid"/>
          </a:ln>
        </p:spPr>
      </p:sp>
      <p:sp>
        <p:nvSpPr>
          <p:cNvPr id="56" name="Shape 54"/>
          <p:cNvSpPr/>
          <p:nvPr/>
        </p:nvSpPr>
        <p:spPr>
          <a:xfrm>
            <a:off x="6900520" y="6254130"/>
            <a:ext cx="0" cy="238110"/>
          </a:xfrm>
          <a:prstGeom prst="line">
            <a:avLst/>
          </a:prstGeom>
          <a:noFill/>
          <a:ln w="9525">
            <a:solidFill>
              <a:srgbClr val="C9A227">
                <a:alpha val="50000"/>
              </a:srgbClr>
            </a:solidFill>
            <a:prstDash val="solid"/>
          </a:ln>
        </p:spPr>
      </p:sp>
      <p:sp>
        <p:nvSpPr>
          <p:cNvPr id="57" name="Shape 55"/>
          <p:cNvSpPr/>
          <p:nvPr/>
        </p:nvSpPr>
        <p:spPr>
          <a:xfrm>
            <a:off x="6937096" y="6378854"/>
            <a:ext cx="0" cy="113386"/>
          </a:xfrm>
          <a:prstGeom prst="line">
            <a:avLst/>
          </a:prstGeom>
          <a:noFill/>
          <a:ln w="9525">
            <a:solidFill>
              <a:srgbClr val="C9A227">
                <a:alpha val="50000"/>
              </a:srgbClr>
            </a:solidFill>
            <a:prstDash val="solid"/>
          </a:ln>
        </p:spPr>
      </p:sp>
      <p:sp>
        <p:nvSpPr>
          <p:cNvPr id="58" name="Shape 56"/>
          <p:cNvSpPr/>
          <p:nvPr/>
        </p:nvSpPr>
        <p:spPr>
          <a:xfrm>
            <a:off x="6937096" y="6378854"/>
            <a:ext cx="219456" cy="0"/>
          </a:xfrm>
          <a:prstGeom prst="line">
            <a:avLst/>
          </a:prstGeom>
          <a:noFill/>
          <a:ln w="9525">
            <a:solidFill>
              <a:srgbClr val="C9A227">
                <a:alpha val="50000"/>
              </a:srgbClr>
            </a:solidFill>
            <a:prstDash val="solid"/>
          </a:ln>
        </p:spPr>
      </p:sp>
      <p:sp>
        <p:nvSpPr>
          <p:cNvPr id="59" name="Shape 57"/>
          <p:cNvSpPr/>
          <p:nvPr/>
        </p:nvSpPr>
        <p:spPr>
          <a:xfrm>
            <a:off x="7156552" y="6378854"/>
            <a:ext cx="0" cy="113386"/>
          </a:xfrm>
          <a:prstGeom prst="line">
            <a:avLst/>
          </a:prstGeom>
          <a:noFill/>
          <a:ln w="9525">
            <a:solidFill>
              <a:srgbClr val="C9A227">
                <a:alpha val="50000"/>
              </a:srgbClr>
            </a:solidFill>
            <a:prstDash val="solid"/>
          </a:ln>
        </p:spPr>
      </p:sp>
      <p:sp>
        <p:nvSpPr>
          <p:cNvPr id="60" name="Shape 58"/>
          <p:cNvSpPr/>
          <p:nvPr/>
        </p:nvSpPr>
        <p:spPr>
          <a:xfrm>
            <a:off x="7193128" y="6186099"/>
            <a:ext cx="0" cy="306141"/>
          </a:xfrm>
          <a:prstGeom prst="line">
            <a:avLst/>
          </a:prstGeom>
          <a:noFill/>
          <a:ln w="9525">
            <a:solidFill>
              <a:srgbClr val="C9A227">
                <a:alpha val="50000"/>
              </a:srgbClr>
            </a:solidFill>
            <a:prstDash val="solid"/>
          </a:ln>
        </p:spPr>
      </p:sp>
      <p:sp>
        <p:nvSpPr>
          <p:cNvPr id="61" name="Shape 59"/>
          <p:cNvSpPr/>
          <p:nvPr/>
        </p:nvSpPr>
        <p:spPr>
          <a:xfrm>
            <a:off x="7193128" y="6186099"/>
            <a:ext cx="347472" cy="0"/>
          </a:xfrm>
          <a:prstGeom prst="line">
            <a:avLst/>
          </a:prstGeom>
          <a:noFill/>
          <a:ln w="9525">
            <a:solidFill>
              <a:srgbClr val="C9A227">
                <a:alpha val="50000"/>
              </a:srgbClr>
            </a:solidFill>
            <a:prstDash val="solid"/>
          </a:ln>
        </p:spPr>
      </p:sp>
      <p:sp>
        <p:nvSpPr>
          <p:cNvPr id="62" name="Shape 60"/>
          <p:cNvSpPr/>
          <p:nvPr/>
        </p:nvSpPr>
        <p:spPr>
          <a:xfrm>
            <a:off x="7540600" y="6186099"/>
            <a:ext cx="0" cy="306141"/>
          </a:xfrm>
          <a:prstGeom prst="line">
            <a:avLst/>
          </a:prstGeom>
          <a:noFill/>
          <a:ln w="9525">
            <a:solidFill>
              <a:srgbClr val="C9A227">
                <a:alpha val="50000"/>
              </a:srgbClr>
            </a:solidFill>
            <a:prstDash val="solid"/>
          </a:ln>
        </p:spPr>
      </p:sp>
      <p:sp>
        <p:nvSpPr>
          <p:cNvPr id="63" name="Shape 61"/>
          <p:cNvSpPr/>
          <p:nvPr/>
        </p:nvSpPr>
        <p:spPr>
          <a:xfrm>
            <a:off x="7577176" y="6310823"/>
            <a:ext cx="0" cy="181417"/>
          </a:xfrm>
          <a:prstGeom prst="line">
            <a:avLst/>
          </a:prstGeom>
          <a:noFill/>
          <a:ln w="9525">
            <a:solidFill>
              <a:srgbClr val="C9A227">
                <a:alpha val="50000"/>
              </a:srgbClr>
            </a:solidFill>
            <a:prstDash val="solid"/>
          </a:ln>
        </p:spPr>
      </p:sp>
      <p:sp>
        <p:nvSpPr>
          <p:cNvPr id="64" name="Shape 62"/>
          <p:cNvSpPr/>
          <p:nvPr/>
        </p:nvSpPr>
        <p:spPr>
          <a:xfrm>
            <a:off x="7577176" y="6310823"/>
            <a:ext cx="274320" cy="0"/>
          </a:xfrm>
          <a:prstGeom prst="line">
            <a:avLst/>
          </a:prstGeom>
          <a:noFill/>
          <a:ln w="9525">
            <a:solidFill>
              <a:srgbClr val="C9A227">
                <a:alpha val="50000"/>
              </a:srgbClr>
            </a:solidFill>
            <a:prstDash val="solid"/>
          </a:ln>
        </p:spPr>
      </p:sp>
      <p:sp>
        <p:nvSpPr>
          <p:cNvPr id="65" name="Shape 63"/>
          <p:cNvSpPr/>
          <p:nvPr/>
        </p:nvSpPr>
        <p:spPr>
          <a:xfrm>
            <a:off x="7851496" y="6310823"/>
            <a:ext cx="0" cy="181417"/>
          </a:xfrm>
          <a:prstGeom prst="line">
            <a:avLst/>
          </a:prstGeom>
          <a:noFill/>
          <a:ln w="9525">
            <a:solidFill>
              <a:srgbClr val="C9A227">
                <a:alpha val="50000"/>
              </a:srgbClr>
            </a:solidFill>
            <a:prstDash val="solid"/>
          </a:ln>
        </p:spPr>
      </p:sp>
      <p:sp>
        <p:nvSpPr>
          <p:cNvPr id="66" name="Shape 64"/>
          <p:cNvSpPr/>
          <p:nvPr/>
        </p:nvSpPr>
        <p:spPr>
          <a:xfrm>
            <a:off x="7888072" y="6356177"/>
            <a:ext cx="0" cy="136063"/>
          </a:xfrm>
          <a:prstGeom prst="line">
            <a:avLst/>
          </a:prstGeom>
          <a:noFill/>
          <a:ln w="9525">
            <a:solidFill>
              <a:srgbClr val="C9A227">
                <a:alpha val="50000"/>
              </a:srgbClr>
            </a:solidFill>
            <a:prstDash val="solid"/>
          </a:ln>
        </p:spPr>
      </p:sp>
      <p:sp>
        <p:nvSpPr>
          <p:cNvPr id="67" name="Shape 65"/>
          <p:cNvSpPr/>
          <p:nvPr/>
        </p:nvSpPr>
        <p:spPr>
          <a:xfrm>
            <a:off x="7888072" y="6356177"/>
            <a:ext cx="219456" cy="0"/>
          </a:xfrm>
          <a:prstGeom prst="line">
            <a:avLst/>
          </a:prstGeom>
          <a:noFill/>
          <a:ln w="9525">
            <a:solidFill>
              <a:srgbClr val="C9A227">
                <a:alpha val="50000"/>
              </a:srgbClr>
            </a:solidFill>
            <a:prstDash val="solid"/>
          </a:ln>
        </p:spPr>
      </p:sp>
      <p:sp>
        <p:nvSpPr>
          <p:cNvPr id="68" name="Shape 66"/>
          <p:cNvSpPr/>
          <p:nvPr/>
        </p:nvSpPr>
        <p:spPr>
          <a:xfrm>
            <a:off x="8107528" y="6356177"/>
            <a:ext cx="0" cy="136063"/>
          </a:xfrm>
          <a:prstGeom prst="line">
            <a:avLst/>
          </a:prstGeom>
          <a:noFill/>
          <a:ln w="9525">
            <a:solidFill>
              <a:srgbClr val="C9A227">
                <a:alpha val="50000"/>
              </a:srgbClr>
            </a:solidFill>
            <a:prstDash val="solid"/>
          </a:ln>
        </p:spPr>
      </p:sp>
      <p:sp>
        <p:nvSpPr>
          <p:cNvPr id="69" name="Shape 67"/>
          <p:cNvSpPr/>
          <p:nvPr/>
        </p:nvSpPr>
        <p:spPr>
          <a:xfrm>
            <a:off x="8144104" y="6242792"/>
            <a:ext cx="0" cy="249448"/>
          </a:xfrm>
          <a:prstGeom prst="line">
            <a:avLst/>
          </a:prstGeom>
          <a:noFill/>
          <a:ln w="9525">
            <a:solidFill>
              <a:srgbClr val="C9A227">
                <a:alpha val="50000"/>
              </a:srgbClr>
            </a:solidFill>
            <a:prstDash val="solid"/>
          </a:ln>
        </p:spPr>
      </p:sp>
      <p:sp>
        <p:nvSpPr>
          <p:cNvPr id="70" name="Shape 68"/>
          <p:cNvSpPr/>
          <p:nvPr/>
        </p:nvSpPr>
        <p:spPr>
          <a:xfrm>
            <a:off x="8144104" y="6242792"/>
            <a:ext cx="347472" cy="0"/>
          </a:xfrm>
          <a:prstGeom prst="line">
            <a:avLst/>
          </a:prstGeom>
          <a:noFill/>
          <a:ln w="9525">
            <a:solidFill>
              <a:srgbClr val="C9A227">
                <a:alpha val="50000"/>
              </a:srgbClr>
            </a:solidFill>
            <a:prstDash val="solid"/>
          </a:ln>
        </p:spPr>
      </p:sp>
      <p:sp>
        <p:nvSpPr>
          <p:cNvPr id="71" name="Shape 69"/>
          <p:cNvSpPr/>
          <p:nvPr/>
        </p:nvSpPr>
        <p:spPr>
          <a:xfrm>
            <a:off x="8491576" y="6242792"/>
            <a:ext cx="0" cy="249448"/>
          </a:xfrm>
          <a:prstGeom prst="line">
            <a:avLst/>
          </a:prstGeom>
          <a:noFill/>
          <a:ln w="9525">
            <a:solidFill>
              <a:srgbClr val="C9A227">
                <a:alpha val="50000"/>
              </a:srgbClr>
            </a:solidFill>
            <a:prstDash val="solid"/>
          </a:ln>
        </p:spPr>
      </p:sp>
      <p:sp>
        <p:nvSpPr>
          <p:cNvPr id="72" name="Shape 70"/>
          <p:cNvSpPr/>
          <p:nvPr/>
        </p:nvSpPr>
        <p:spPr>
          <a:xfrm>
            <a:off x="8528152" y="6322162"/>
            <a:ext cx="0" cy="170078"/>
          </a:xfrm>
          <a:prstGeom prst="line">
            <a:avLst/>
          </a:prstGeom>
          <a:noFill/>
          <a:ln w="9525">
            <a:solidFill>
              <a:srgbClr val="C9A227">
                <a:alpha val="50000"/>
              </a:srgbClr>
            </a:solidFill>
            <a:prstDash val="solid"/>
          </a:ln>
        </p:spPr>
      </p:sp>
      <p:sp>
        <p:nvSpPr>
          <p:cNvPr id="73" name="Shape 71"/>
          <p:cNvSpPr/>
          <p:nvPr/>
        </p:nvSpPr>
        <p:spPr>
          <a:xfrm>
            <a:off x="8528152" y="6322162"/>
            <a:ext cx="274320" cy="0"/>
          </a:xfrm>
          <a:prstGeom prst="line">
            <a:avLst/>
          </a:prstGeom>
          <a:noFill/>
          <a:ln w="9525">
            <a:solidFill>
              <a:srgbClr val="C9A227">
                <a:alpha val="50000"/>
              </a:srgbClr>
            </a:solidFill>
            <a:prstDash val="solid"/>
          </a:ln>
        </p:spPr>
      </p:sp>
      <p:sp>
        <p:nvSpPr>
          <p:cNvPr id="74" name="Shape 72"/>
          <p:cNvSpPr/>
          <p:nvPr/>
        </p:nvSpPr>
        <p:spPr>
          <a:xfrm>
            <a:off x="8802472" y="6322162"/>
            <a:ext cx="0" cy="170078"/>
          </a:xfrm>
          <a:prstGeom prst="line">
            <a:avLst/>
          </a:prstGeom>
          <a:noFill/>
          <a:ln w="9525">
            <a:solidFill>
              <a:srgbClr val="C9A227">
                <a:alpha val="50000"/>
              </a:srgbClr>
            </a:solidFill>
            <a:prstDash val="solid"/>
          </a:ln>
        </p:spPr>
      </p:sp>
      <p:sp>
        <p:nvSpPr>
          <p:cNvPr id="75" name="Shape 73"/>
          <p:cNvSpPr/>
          <p:nvPr/>
        </p:nvSpPr>
        <p:spPr>
          <a:xfrm>
            <a:off x="8839048" y="6208776"/>
            <a:ext cx="0" cy="283464"/>
          </a:xfrm>
          <a:prstGeom prst="line">
            <a:avLst/>
          </a:prstGeom>
          <a:noFill/>
          <a:ln w="9525">
            <a:solidFill>
              <a:srgbClr val="C9A227">
                <a:alpha val="50000"/>
              </a:srgbClr>
            </a:solidFill>
            <a:prstDash val="solid"/>
          </a:ln>
        </p:spPr>
      </p:sp>
      <p:sp>
        <p:nvSpPr>
          <p:cNvPr id="76" name="Shape 74"/>
          <p:cNvSpPr/>
          <p:nvPr/>
        </p:nvSpPr>
        <p:spPr>
          <a:xfrm>
            <a:off x="8839048" y="6208776"/>
            <a:ext cx="347472" cy="0"/>
          </a:xfrm>
          <a:prstGeom prst="line">
            <a:avLst/>
          </a:prstGeom>
          <a:noFill/>
          <a:ln w="9525">
            <a:solidFill>
              <a:srgbClr val="C9A227">
                <a:alpha val="50000"/>
              </a:srgbClr>
            </a:solidFill>
            <a:prstDash val="solid"/>
          </a:ln>
        </p:spPr>
      </p:sp>
      <p:sp>
        <p:nvSpPr>
          <p:cNvPr id="77" name="Shape 75"/>
          <p:cNvSpPr/>
          <p:nvPr/>
        </p:nvSpPr>
        <p:spPr>
          <a:xfrm>
            <a:off x="9186520" y="6208776"/>
            <a:ext cx="0" cy="283464"/>
          </a:xfrm>
          <a:prstGeom prst="line">
            <a:avLst/>
          </a:prstGeom>
          <a:noFill/>
          <a:ln w="9525">
            <a:solidFill>
              <a:srgbClr val="C9A227">
                <a:alpha val="50000"/>
              </a:srgbClr>
            </a:solidFill>
            <a:prstDash val="solid"/>
          </a:ln>
        </p:spPr>
      </p:sp>
      <p:sp>
        <p:nvSpPr>
          <p:cNvPr id="78" name="Shape 76"/>
          <p:cNvSpPr/>
          <p:nvPr/>
        </p:nvSpPr>
        <p:spPr>
          <a:xfrm>
            <a:off x="9223096" y="6367516"/>
            <a:ext cx="0" cy="124724"/>
          </a:xfrm>
          <a:prstGeom prst="line">
            <a:avLst/>
          </a:prstGeom>
          <a:noFill/>
          <a:ln w="9525">
            <a:solidFill>
              <a:srgbClr val="C9A227">
                <a:alpha val="50000"/>
              </a:srgbClr>
            </a:solidFill>
            <a:prstDash val="solid"/>
          </a:ln>
        </p:spPr>
      </p:sp>
      <p:sp>
        <p:nvSpPr>
          <p:cNvPr id="79" name="Shape 77"/>
          <p:cNvSpPr/>
          <p:nvPr/>
        </p:nvSpPr>
        <p:spPr>
          <a:xfrm>
            <a:off x="9223096" y="6367516"/>
            <a:ext cx="219456" cy="0"/>
          </a:xfrm>
          <a:prstGeom prst="line">
            <a:avLst/>
          </a:prstGeom>
          <a:noFill/>
          <a:ln w="9525">
            <a:solidFill>
              <a:srgbClr val="C9A227">
                <a:alpha val="50000"/>
              </a:srgbClr>
            </a:solidFill>
            <a:prstDash val="solid"/>
          </a:ln>
        </p:spPr>
      </p:sp>
      <p:sp>
        <p:nvSpPr>
          <p:cNvPr id="80" name="Shape 78"/>
          <p:cNvSpPr/>
          <p:nvPr/>
        </p:nvSpPr>
        <p:spPr>
          <a:xfrm>
            <a:off x="9442552" y="6367516"/>
            <a:ext cx="0" cy="124724"/>
          </a:xfrm>
          <a:prstGeom prst="line">
            <a:avLst/>
          </a:prstGeom>
          <a:noFill/>
          <a:ln w="9525">
            <a:solidFill>
              <a:srgbClr val="C9A227">
                <a:alpha val="50000"/>
              </a:srgbClr>
            </a:solidFill>
            <a:prstDash val="solid"/>
          </a:ln>
        </p:spPr>
      </p:sp>
      <p:sp>
        <p:nvSpPr>
          <p:cNvPr id="81" name="Shape 79"/>
          <p:cNvSpPr/>
          <p:nvPr/>
        </p:nvSpPr>
        <p:spPr>
          <a:xfrm>
            <a:off x="9479128" y="6322162"/>
            <a:ext cx="0" cy="170078"/>
          </a:xfrm>
          <a:prstGeom prst="line">
            <a:avLst/>
          </a:prstGeom>
          <a:noFill/>
          <a:ln w="9525">
            <a:solidFill>
              <a:srgbClr val="C9A227">
                <a:alpha val="50000"/>
              </a:srgbClr>
            </a:solidFill>
            <a:prstDash val="solid"/>
          </a:ln>
        </p:spPr>
      </p:sp>
      <p:sp>
        <p:nvSpPr>
          <p:cNvPr id="82" name="Shape 80"/>
          <p:cNvSpPr/>
          <p:nvPr/>
        </p:nvSpPr>
        <p:spPr>
          <a:xfrm>
            <a:off x="9479128" y="6322162"/>
            <a:ext cx="237744" cy="0"/>
          </a:xfrm>
          <a:prstGeom prst="line">
            <a:avLst/>
          </a:prstGeom>
          <a:noFill/>
          <a:ln w="9525">
            <a:solidFill>
              <a:srgbClr val="C9A227">
                <a:alpha val="50000"/>
              </a:srgbClr>
            </a:solidFill>
            <a:prstDash val="solid"/>
          </a:ln>
        </p:spPr>
      </p:sp>
      <p:sp>
        <p:nvSpPr>
          <p:cNvPr id="83" name="Shape 81"/>
          <p:cNvSpPr/>
          <p:nvPr/>
        </p:nvSpPr>
        <p:spPr>
          <a:xfrm>
            <a:off x="9716872" y="6322162"/>
            <a:ext cx="0" cy="170078"/>
          </a:xfrm>
          <a:prstGeom prst="line">
            <a:avLst/>
          </a:prstGeom>
          <a:noFill/>
          <a:ln w="9525">
            <a:solidFill>
              <a:srgbClr val="C9A227">
                <a:alpha val="50000"/>
              </a:srgbClr>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Denise Gosnell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Your Own Donna</dc:title>
  <dc:subject>PptxGenJS Presentation</dc:subject>
  <dc:creator>Denise Gosnell</dc:creator>
  <cp:lastModifiedBy>Denise Gosnell</cp:lastModifiedBy>
  <cp:revision>1</cp:revision>
  <dcterms:created xsi:type="dcterms:W3CDTF">2026-10-19T21:10:26Z</dcterms:created>
  <dcterms:modified xsi:type="dcterms:W3CDTF">2026-10-19T21:10:26Z</dcterms:modified>
</cp:coreProperties>
</file>