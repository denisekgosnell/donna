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She ran the best closer in New York City. Today she comes to work for you. By 4:10 every one of you owns a working Donna. Not a demo. Yours, on your own inbox.
[DO] Housekeeping in one breath: laptops out, Claude desktop open, workspace invite accepted. Anyone missing a piece, flag me now and we fix it while we talk. Read the venue wifi network and password out loud; they are deliberately not on the slide.
[WATCH] Do not start until every laptop is open. The people who fall behind fall behind here, not later.
[NEXT] One slide to connect this to the hour you just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One hour ago we drew the strategy flywheel: bookings make data, data makes personalization, personalization makes bookings. Here is the other side of that same coin. Strategy tells you the heading. Execution is the crew, the watch schedule, and the log book. You need both, and only one of them gets taught.
[DO] Point at the left wheel, then the right. Say the word 'execution' out loud, because that is the whole ninety minutes.
[WATCH] Do not re-teach the left wheel. One sentence and move.
[NEXT] And here is why execution suddenly matters more than it did two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AI does not make your company smarter. It makes your company faster at whatever it already does. If the process is clear, you get ten times the alignment. If it is not, you get ten times the confusion, and you get it at machine speed.
[DO] Use the doubles metaphor with your hands. The room recognises it immediately.
[WATCH] Tie back to the last session in one line: reading the instrument panel together is a fundamental, and this hour is about closing the work threads that fill it.
[NEXT] So where did the fundamentals of execution get worked out? Somewhere you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This is the spine of the workshop.
[SAY] Four stops. Somebody writes down what they know. The room tests it. It gets revised. Then teams operate from it. This is not culture, it is a mechanism, and its entire purpose is converting one person's judgment into something an organization can execute without that person in the room.
[DO] Walk all four stations once so the room has the vocabulary. Speak from the inside: you watched this run at nine-figure scale.
[WATCH] Nonaka called this tacit-to-explicit conversion in 1995. It is still the only way anyone scales. Then set up the turn: the flywheel never changed, only the artifact did.
[NEXT] And here is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This is the payoff, and the sentence people repeat afterward.
[SAY] Same wheel. New hub. You are not learning a chatbot today, you are managing a document.
[DO] Overlay it literally: point at the previous slide's wheel, then this one. Then map the afternoon onto it. Step 1 is DOCUMENT and TEST. Step 2 is REVISE. Step 3 is OPERATE.
[WATCH] Say plainly: the skill you are actually learning today is document management, and it is the same skill that ran AWS.
[NEXT] One warning before we write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This is the slide to quote back during the discussion.
[SAY] An unclear process used to cost you a bad meeting. Now you have hired something that executes that unclear process perfectly and tirelessly, all day long.
[DO] Let the red land. Do not rush off it.
[WATCH] This is why the unglamorous middle of this workshop, writing the rules down, is the part that actually matters.
[NEXT] So before we write anything, you should know what kind of executive is holding the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Research from the early 1960s, and still the most useful map of an executive there is. You will recognise yourself in two of these. Most of us are one on a calm day and another on a hard one.
[DO] Take hands per quadrant. It wakes the room and it tells you who you are teaching for the next hour.
[WATCH] Do not let this become a personality test. It is a setup for the next slide.
[NEXT] Whichever quadrant you sit in, the flywheel is identical. What differs is what you should optimize for in the next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This is the permission slide.
[SAY] Read the 'your job today' line for each quadrant. They are the most useful sentences on the slide and they preempt the four ways this hour goes sideways.
[DO] TIME, closed and tell: you are plotting how you will invest in and delegate this workflow to be built for your company. Some of you should not be building this yourself, and that is a legitimate answer. Deliver that offer verbally, here, on the TIME quadrant.
[DO] ACCURACY, closed and ask: your job is to help the TIME executive minimize scaling errors, because that is how businesses get dragged down. We slow down significantly the moment we start sharing collective knowledge that is incorrect. Look for where we need governance and extra testing so we are building repeatability instead of chaos.
[DO] TRUST, open and ask: 'AI' now means humans write natural language to describe a product, and that innovation line is doing wonderful things for the speed of operations. But our secret sauce as a cooperative is that we know the power of human relationships. Your role is to understand deeply where you want to hold the line for human relationships being served by technology rather than replaced by it. You are the executive who holds the line on empowering humans, so we flourish in this business instead of being fried by the speed of it.
[DO] VISION, open and tell: you are the tech visionaries. You see not just how email plus natural-language delegation helps you architect a new digital headquarters, but how it opens a whole palace of innovation. Use the physical analogy: open-and-tell people can see how a building should be shaped around how people will work and play and be human in it. In this era we are building an INVISIBLE digital headquarters for how you run, direct, and operate your business. You write English sentences describing the future you want, and a probabilistic neural network makes that workflow real.
[WATCH] Nobody has to become a builder today. Whoever runs it, somebody has to write the document, and that somebody has to be the person whose judgment it encodes. That is why you are in this room and not your assistant.
[NEXT] Five house rules, then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Read all five slowly. This slide buys calm for the next hour.
[DO] Rules 1 and 2 kill the unspoken fear: nothing sends, nothing deletes. Rule 3 sets pacing so the fast people help instead of racing ahead.
[WATCH] After rule 5, say the last line out loud. It is the one that keeps people from hiding.
[NEXT] Three steps, forty-five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Three steps, one per stretch of the flywheel you just saw. Context until 3:00, build until 3:45, discussion until 4:10.
[DO] Say the arc out loud, then point at the station line on each card so the mapping is explicit.
[WATCH] Nobody types anything longer than one sentence today. Say that; it lowers the temperature.
[NEXT] Step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one. The desk before the mail: we make her project first, then we connect the accounts.
[DO] Watch the pip in the top right. Two of four stations lit. By the end of the hour all four are.
[NEXT] Setup, then two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[SAY] Project first, then connectors. The desk before the mail.
[DO] Walk the room during connections. Give prompt 1 a beat: the room goes quiet when Claude answers from their real inbox.
[WATCH] The classic failure is signing into the personal Google account instead of work. If a connector reads Connected but Claude cannot see mail, quit Claude fully and reopen. Fixes it nine times out of ten.
[NEXT] Hold at the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of working time lands here.
[SAY] Nothing until every laptop is there.
[DO] Run it live on your own screen first, then hold until every laptop shows five lines and a draft. Nobody moves on.
[WATCH] If a connector is stuck: disconnect, reconnect, confirm the account. If the network is stuck, keep the energy up and pair people.
[NEXT] Step two, and this is the one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two is the document. Everything else today is plumbing.
[DO] Pip moves to REVISE.
[NEXT] Five questions, and she does the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min.
[SAY] You do not write the document any more. You answer five questions and she writes it. Question 1 is the quadrant from earlier: closed or open, tell or ask. Answer it out loud, together; it is the confirmation everyone is in the right place.
[DO] Everyone pastes the template from the site. Watch every screen show QUESTION 1 OF 5, then let them run. She adapts to their corner: fast for TIME, confirmed-back for ACCURACY, people-first for TRUST, loop-closing for VISION.
[WATCH] She reaches THE FINAL QUESTION by minute six on her own. When I call time, anyone not there types: final question. Someone will paste OUTSIDE the Donna project and get generic results; get them inside the project.
[NEXT] The checkpoint, and the ritual.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You will never re-explain your rules again. That is the difference between a chat and a project.
[DO] Gate first: is THE FINAL QUESTION on your screen? Anyone who is not there types: final question. After the OPEN FOR BUSINESS banner, everyone runs the one-sentence ritual inside the project. Hold until every screen shows a table.
[WATCH] Reply-Now drafts are already sitting in their email Drafts folder. Have them check; that is the gasp.
[NEXT] Step three. The document leaves your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Step three is where it stops being a conversation and becomes an employee.
[DO] Pip moves to OPERATE.
[NEXT] She writes her own playbook.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[SAY] A skill written in chat does not exist in Cowork until you upload it. This is the step the pilot group missed, so go slow and demo it on screen.
[DO] Three beats. She writes it. You DOWNLOAD it. You UPLOAD it into Cowork skills. Wait until every screen shows donna-triage in the list.
[WATCH] Stay in the SAME chat as step two; a fresh chat has not met them yet and writes a blank template. The interview answers live in that conversation.
[NEXT] Before we schedule it, the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[SAY] Say it twice, verbatim: she never sends. Ever.
[DO] Slow down here. This is the trust slide, and it answers the fear nobody has said out loud yet: what if it emails a client?
[WATCH] It cannot. Drafting and sending are different permissions, and this skill only ever drafts. You are the send button.
[NEXT] Now give her the evening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[SAY] The last line of that prompt is the finale: a dry run, right now, with today's event ten minutes out so the email lands while we are all still in the room.
[DO] Grab the prompt from the site rather than retyping. If someone cannot find scheduled tasks, ask Claude where they are; the area moved in a recent update.
[WATCH] Gmail attaches a true EMAIL reminder. Outlook gets a calendar notification instead, because Microsoft Graph cannot set email reminders on events. Verified. Say it plainly rather than promising something Outlook cannot do.
[NEXT] Everybody watch their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Nothing. Let the laptops ping.
[DO] The closing moment of the build: everyone watches the dry run land. Event on today's calendar with the whole triage in its description, drafts waiting, the email minutes out. Hold the silence.
[WATCH] Point at the pip: all four stations are lit for the first time. They just ran the Amazon execution flywheel on their own inbox. That is the payoff of the whole device.
[NEXT] Then the reframe: this was never about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Recap the flywheel with THEIR artifacts: the document they wrote, the skill file they own, the schedule it now runs on. They did not learn a tool today. They ran the same mechanism that ran AWS, on their own inbox.
[DO] Pause here, then open the floor.
[NEXT] Two topics for discussion, and the first one is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
[SAY] Take the quadrants in turn. Each one saw a different hour, and the four readings together are more useful than any single one.
[DO] Facilitate, do not lecture. Three or four answers per quadrant.
[WATCH] The VISION answers are your pipeline for the next workshop. Write them down.
[NEXT] Second topic: where the flywheel turns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[SAY] Same four stations, pointed at the rest of your business. Every one of these questions is a workflow somebody in this room is doing by hand.
[DO] Map each answer onto the flywheel out loud, so people hear their own use case become buildable.
[WATCH] Give one personal story: the two-calendar morning shift is your own daily driver, so say so.
[NEXT] What each of you does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[SAY] Four assignments, and they are deliberately different. Read the one for your quadrant.
[DO] Land the band at the bottom hard. Each of these four executives creates tension for the other three, and that tension is not dysfunction. It is the requirement set, the governance, and the strategic direction of the organization.
[WATCH] If the room is all one quadrant, name the missing ones out loud. A company with no TRUST executive scales fast and breaks relationships. A company with no TIME executive never ships.
[NEXT] Send-off.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[SAY] Tomorrow at 4:54 the triage arrives on its own for the first time. When it does, that is Donna saying she has got it from here.
[DO] Questions any time: denise@denisegosnell.ai.
[WATCH] The workshop site is public: denisekgosnell.github.io/Donna. Every prompt on it has a copy button; point people there instead of retyping anything.
[NEXT] Done. You're weird. We'll be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392217" y="777240"/>
            <a:ext cx="1408176" cy="1408176"/>
          </a:xfrm>
          <a:prstGeom prst="ellipse">
            <a:avLst/>
          </a:prstGeom>
          <a:ln w="12700">
            <a:solidFill>
              <a:srgbClr val="C9A227"/>
            </a:solidFill>
            <a:prstDash val="solid"/>
          </a:ln>
        </p:spPr>
      </p:sp>
      <p:sp>
        <p:nvSpPr>
          <p:cNvPr id="3" name="Shape 1"/>
          <p:cNvSpPr/>
          <p:nvPr/>
        </p:nvSpPr>
        <p:spPr>
          <a:xfrm>
            <a:off x="5496422" y="881445"/>
            <a:ext cx="1199766" cy="1199766"/>
          </a:xfrm>
          <a:prstGeom prst="ellipse">
            <a:avLst/>
          </a:prstGeom>
          <a:ln w="12700">
            <a:solidFill>
              <a:srgbClr val="C9A227"/>
            </a:solidFill>
            <a:prstDash val="solid"/>
          </a:ln>
        </p:spPr>
      </p:sp>
      <p:sp>
        <p:nvSpPr>
          <p:cNvPr id="4" name="Shape 2"/>
          <p:cNvSpPr/>
          <p:nvPr/>
        </p:nvSpPr>
        <p:spPr>
          <a:xfrm>
            <a:off x="6096305" y="742036"/>
            <a:ext cx="0" cy="70409"/>
          </a:xfrm>
          <a:prstGeom prst="line">
            <a:avLst/>
          </a:prstGeom>
          <a:noFill/>
          <a:ln w="12700">
            <a:solidFill>
              <a:srgbClr val="C9A227"/>
            </a:solidFill>
            <a:prstDash val="solid"/>
          </a:ln>
        </p:spPr>
      </p:sp>
      <p:sp>
        <p:nvSpPr>
          <p:cNvPr id="5" name="Shape 3"/>
          <p:cNvSpPr/>
          <p:nvPr/>
        </p:nvSpPr>
        <p:spPr>
          <a:xfrm>
            <a:off x="6096305" y="2150212"/>
            <a:ext cx="0" cy="70409"/>
          </a:xfrm>
          <a:prstGeom prst="line">
            <a:avLst/>
          </a:prstGeom>
          <a:noFill/>
          <a:ln w="12700">
            <a:solidFill>
              <a:srgbClr val="C9A227"/>
            </a:solidFill>
            <a:prstDash val="solid"/>
          </a:ln>
        </p:spPr>
      </p:sp>
      <p:sp>
        <p:nvSpPr>
          <p:cNvPr id="6" name="Shape 4"/>
          <p:cNvSpPr/>
          <p:nvPr/>
        </p:nvSpPr>
        <p:spPr>
          <a:xfrm>
            <a:off x="5357012" y="1481328"/>
            <a:ext cx="70409" cy="0"/>
          </a:xfrm>
          <a:prstGeom prst="line">
            <a:avLst/>
          </a:prstGeom>
          <a:noFill/>
          <a:ln w="12700">
            <a:solidFill>
              <a:srgbClr val="C9A227"/>
            </a:solidFill>
            <a:prstDash val="solid"/>
          </a:ln>
        </p:spPr>
      </p:sp>
      <p:sp>
        <p:nvSpPr>
          <p:cNvPr id="7" name="Shape 5"/>
          <p:cNvSpPr/>
          <p:nvPr/>
        </p:nvSpPr>
        <p:spPr>
          <a:xfrm>
            <a:off x="6765188" y="1481328"/>
            <a:ext cx="70409" cy="0"/>
          </a:xfrm>
          <a:prstGeom prst="line">
            <a:avLst/>
          </a:prstGeom>
          <a:noFill/>
          <a:ln w="12700">
            <a:solidFill>
              <a:srgbClr val="C9A227"/>
            </a:solidFill>
            <a:prstDash val="solid"/>
          </a:ln>
        </p:spPr>
      </p:sp>
      <p:sp>
        <p:nvSpPr>
          <p:cNvPr id="8" name="Text 6"/>
          <p:cNvSpPr/>
          <p:nvPr/>
        </p:nvSpPr>
        <p:spPr>
          <a:xfrm>
            <a:off x="5496422" y="881445"/>
            <a:ext cx="1199766" cy="1199766"/>
          </a:xfrm>
          <a:prstGeom prst="rect">
            <a:avLst/>
          </a:prstGeom>
          <a:noFill/>
          <a:ln/>
        </p:spPr>
        <p:txBody>
          <a:bodyPr wrap="square" lIns="0" tIns="0" rIns="0" bIns="0" rtlCol="0" anchor="ctr"/>
          <a:lstStyle/>
          <a:p>
            <a:pPr algn="ctr" indent="0" marL="0">
              <a:buNone/>
            </a:pPr>
            <a:r>
              <a:rPr lang="en-US" sz="5500" b="1" dirty="0">
                <a:solidFill>
                  <a:srgbClr val="A31621"/>
                </a:solidFill>
                <a:latin typeface="Georgia" pitchFamily="34" charset="0"/>
                <a:ea typeface="Georgia" pitchFamily="34" charset="-122"/>
                <a:cs typeface="Georgia" pitchFamily="34" charset="-120"/>
              </a:rPr>
              <a:t>D</a:t>
            </a:r>
            <a:endParaRPr lang="en-US" sz="5500" dirty="0"/>
          </a:p>
        </p:txBody>
      </p:sp>
      <p:sp>
        <p:nvSpPr>
          <p:cNvPr id="9" name="Shape 7"/>
          <p:cNvSpPr/>
          <p:nvPr/>
        </p:nvSpPr>
        <p:spPr>
          <a:xfrm>
            <a:off x="2026768" y="2468880"/>
            <a:ext cx="8138160" cy="1342827"/>
          </a:xfrm>
          <a:prstGeom prst="rect">
            <a:avLst/>
          </a:prstGeom>
          <a:solidFill>
            <a:srgbClr val="E8E2D2"/>
          </a:solidFill>
          <a:ln/>
        </p:spPr>
      </p:sp>
      <p:sp>
        <p:nvSpPr>
          <p:cNvPr id="10" name="Text 8"/>
          <p:cNvSpPr/>
          <p:nvPr/>
        </p:nvSpPr>
        <p:spPr>
          <a:xfrm>
            <a:off x="2483968" y="2724912"/>
            <a:ext cx="7223760" cy="556443"/>
          </a:xfrm>
          <a:prstGeom prst="rect">
            <a:avLst/>
          </a:prstGeom>
          <a:noFill/>
          <a:ln/>
        </p:spPr>
        <p:txBody>
          <a:bodyPr wrap="square" lIns="0" tIns="0" rIns="0" bIns="0" rtlCol="0" anchor="ctr"/>
          <a:lstStyle/>
          <a:p>
            <a:pPr algn="ctr" indent="0" marL="0">
              <a:buNone/>
            </a:pPr>
            <a:r>
              <a:rPr lang="en-US" sz="2800" b="1" i="1" dirty="0">
                <a:solidFill>
                  <a:srgbClr val="A31621"/>
                </a:solidFill>
                <a:latin typeface="Georgia" pitchFamily="34" charset="0"/>
                <a:ea typeface="Georgia" pitchFamily="34" charset="-122"/>
                <a:cs typeface="Georgia" pitchFamily="34" charset="-120"/>
              </a:rPr>
              <a:t>“I’m Donna. I know everything.”</a:t>
            </a:r>
            <a:endParaRPr lang="en-US" sz="2800" dirty="0"/>
          </a:p>
        </p:txBody>
      </p:sp>
      <p:sp>
        <p:nvSpPr>
          <p:cNvPr id="11" name="Text 9"/>
          <p:cNvSpPr/>
          <p:nvPr/>
        </p:nvSpPr>
        <p:spPr>
          <a:xfrm>
            <a:off x="2483968" y="3409371"/>
            <a:ext cx="7223760" cy="219456"/>
          </a:xfrm>
          <a:prstGeom prst="rect">
            <a:avLst/>
          </a:prstGeom>
          <a:noFill/>
          <a:ln/>
        </p:spPr>
        <p:txBody>
          <a:bodyPr wrap="square" lIns="0" tIns="0" rIns="0" bIns="0" rtlCol="0" anchor="ctr"/>
          <a:lstStyle/>
          <a:p>
            <a:pPr algn="ctr" indent="0" marL="0">
              <a:buNone/>
            </a:pPr>
            <a:r>
              <a:rPr lang="en-US" sz="1100" b="1" spc="160" kern="0" dirty="0">
                <a:solidFill>
                  <a:srgbClr val="14213D"/>
                </a:solidFill>
                <a:latin typeface="Arial" pitchFamily="34" charset="0"/>
                <a:ea typeface="Arial" pitchFamily="34" charset="-122"/>
                <a:cs typeface="Arial" pitchFamily="34" charset="-120"/>
              </a:rPr>
              <a:t>— DONNA PAULSEN, SUITS</a:t>
            </a:r>
            <a:endParaRPr lang="en-US" sz="1100" dirty="0"/>
          </a:p>
        </p:txBody>
      </p:sp>
      <p:sp>
        <p:nvSpPr>
          <p:cNvPr id="12" name="Text 10"/>
          <p:cNvSpPr/>
          <p:nvPr/>
        </p:nvSpPr>
        <p:spPr>
          <a:xfrm>
            <a:off x="813816" y="4049451"/>
            <a:ext cx="10570464" cy="566928"/>
          </a:xfrm>
          <a:prstGeom prst="rect">
            <a:avLst/>
          </a:prstGeom>
          <a:noFill/>
          <a:ln/>
        </p:spPr>
        <p:txBody>
          <a:bodyPr wrap="square" lIns="0" tIns="0" rIns="0" bIns="0" rtlCol="0" anchor="ctr"/>
          <a:lstStyle/>
          <a:p>
            <a:pPr algn="ctr" indent="0" marL="0">
              <a:buNone/>
            </a:pPr>
            <a:r>
              <a:rPr lang="en-US" sz="3400" b="1" spc="200" kern="0" dirty="0">
                <a:solidFill>
                  <a:srgbClr val="F7F3EA"/>
                </a:solidFill>
                <a:latin typeface="Arial" pitchFamily="34" charset="0"/>
                <a:ea typeface="Arial" pitchFamily="34" charset="-122"/>
                <a:cs typeface="Arial" pitchFamily="34" charset="-120"/>
              </a:rPr>
              <a:t>BUILD YOUR OWN DONNA</a:t>
            </a:r>
            <a:endParaRPr lang="en-US" sz="3400" dirty="0"/>
          </a:p>
        </p:txBody>
      </p:sp>
      <p:sp>
        <p:nvSpPr>
          <p:cNvPr id="13" name="Text 11"/>
          <p:cNvSpPr/>
          <p:nvPr/>
        </p:nvSpPr>
        <p:spPr>
          <a:xfrm>
            <a:off x="813816" y="4634667"/>
            <a:ext cx="10570464" cy="274320"/>
          </a:xfrm>
          <a:prstGeom prst="rect">
            <a:avLst/>
          </a:prstGeom>
          <a:noFill/>
          <a:ln/>
        </p:spPr>
        <p:txBody>
          <a:bodyPr wrap="square" lIns="0" tIns="0" rIns="0" bIns="0" rtlCol="0" anchor="ctr"/>
          <a:lstStyle/>
          <a:p>
            <a:pPr algn="ctr" indent="0" marL="0">
              <a:buNone/>
            </a:pPr>
            <a:r>
              <a:rPr lang="en-US" sz="1500" dirty="0">
                <a:solidFill>
                  <a:srgbClr val="AFA893"/>
                </a:solidFill>
                <a:latin typeface="Arial" pitchFamily="34" charset="0"/>
                <a:ea typeface="Arial" pitchFamily="34" charset="-122"/>
                <a:cs typeface="Arial" pitchFamily="34" charset="-120"/>
              </a:rPr>
              <a:t>A 90 minute workshop for executives who are done reading email.</a:t>
            </a:r>
            <a:endParaRPr lang="en-US" sz="1500" dirty="0"/>
          </a:p>
        </p:txBody>
      </p:sp>
      <p:sp>
        <p:nvSpPr>
          <p:cNvPr id="14" name="Text 12"/>
          <p:cNvSpPr/>
          <p:nvPr/>
        </p:nvSpPr>
        <p:spPr>
          <a:xfrm>
            <a:off x="813816" y="5000427"/>
            <a:ext cx="10570464" cy="219456"/>
          </a:xfrm>
          <a:prstGeom prst="rect">
            <a:avLst/>
          </a:prstGeom>
          <a:noFill/>
          <a:ln/>
        </p:spPr>
        <p:txBody>
          <a:bodyPr wrap="square" lIns="0" tIns="0" rIns="0" bIns="0" rtlCol="0" anchor="ctr"/>
          <a:lstStyle/>
          <a:p>
            <a:pPr algn="ctr" indent="0" marL="0">
              <a:buNone/>
            </a:pPr>
            <a:r>
              <a:rPr lang="en-US" sz="1000" spc="160" kern="0" dirty="0">
                <a:solidFill>
                  <a:srgbClr val="AFA893"/>
                </a:solidFill>
                <a:latin typeface="Arial" pitchFamily="34" charset="0"/>
                <a:ea typeface="Arial" pitchFamily="34" charset="-122"/>
                <a:cs typeface="Arial" pitchFamily="34" charset="-120"/>
              </a:rPr>
              <a:t>DENISE GOSNELL, PH.D.   ·   2:40 TO 4:10</a:t>
            </a:r>
            <a:endParaRPr lang="en-US" sz="1000" dirty="0"/>
          </a:p>
        </p:txBody>
      </p:sp>
      <p:sp>
        <p:nvSpPr>
          <p:cNvPr id="15" name="Shape 13"/>
          <p:cNvSpPr/>
          <p:nvPr/>
        </p:nvSpPr>
        <p:spPr>
          <a:xfrm>
            <a:off x="2438248" y="6492240"/>
            <a:ext cx="7315200" cy="0"/>
          </a:xfrm>
          <a:prstGeom prst="line">
            <a:avLst/>
          </a:prstGeom>
          <a:noFill/>
          <a:ln w="9525">
            <a:solidFill>
              <a:srgbClr val="C9A227">
                <a:alpha val="50000"/>
              </a:srgbClr>
            </a:solidFill>
            <a:prstDash val="solid"/>
          </a:ln>
        </p:spPr>
      </p:sp>
      <p:sp>
        <p:nvSpPr>
          <p:cNvPr id="16" name="Shape 14"/>
          <p:cNvSpPr/>
          <p:nvPr/>
        </p:nvSpPr>
        <p:spPr>
          <a:xfrm>
            <a:off x="2438248" y="6378854"/>
            <a:ext cx="0" cy="113386"/>
          </a:xfrm>
          <a:prstGeom prst="line">
            <a:avLst/>
          </a:prstGeom>
          <a:noFill/>
          <a:ln w="9525">
            <a:solidFill>
              <a:srgbClr val="C9A227">
                <a:alpha val="50000"/>
              </a:srgbClr>
            </a:solidFill>
            <a:prstDash val="solid"/>
          </a:ln>
        </p:spPr>
      </p:sp>
      <p:sp>
        <p:nvSpPr>
          <p:cNvPr id="17" name="Shape 15"/>
          <p:cNvSpPr/>
          <p:nvPr/>
        </p:nvSpPr>
        <p:spPr>
          <a:xfrm>
            <a:off x="2438248" y="6378854"/>
            <a:ext cx="347472" cy="0"/>
          </a:xfrm>
          <a:prstGeom prst="line">
            <a:avLst/>
          </a:prstGeom>
          <a:noFill/>
          <a:ln w="9525">
            <a:solidFill>
              <a:srgbClr val="C9A227">
                <a:alpha val="50000"/>
              </a:srgbClr>
            </a:solidFill>
            <a:prstDash val="solid"/>
          </a:ln>
        </p:spPr>
      </p:sp>
      <p:sp>
        <p:nvSpPr>
          <p:cNvPr id="18" name="Shape 16"/>
          <p:cNvSpPr/>
          <p:nvPr/>
        </p:nvSpPr>
        <p:spPr>
          <a:xfrm>
            <a:off x="2785720" y="6378854"/>
            <a:ext cx="0" cy="113386"/>
          </a:xfrm>
          <a:prstGeom prst="line">
            <a:avLst/>
          </a:prstGeom>
          <a:noFill/>
          <a:ln w="9525">
            <a:solidFill>
              <a:srgbClr val="C9A227">
                <a:alpha val="50000"/>
              </a:srgbClr>
            </a:solidFill>
            <a:prstDash val="solid"/>
          </a:ln>
        </p:spPr>
      </p:sp>
      <p:sp>
        <p:nvSpPr>
          <p:cNvPr id="19" name="Shape 17"/>
          <p:cNvSpPr/>
          <p:nvPr/>
        </p:nvSpPr>
        <p:spPr>
          <a:xfrm>
            <a:off x="2822296" y="6299484"/>
            <a:ext cx="0" cy="192756"/>
          </a:xfrm>
          <a:prstGeom prst="line">
            <a:avLst/>
          </a:prstGeom>
          <a:noFill/>
          <a:ln w="9525">
            <a:solidFill>
              <a:srgbClr val="C9A227">
                <a:alpha val="50000"/>
              </a:srgbClr>
            </a:solidFill>
            <a:prstDash val="solid"/>
          </a:ln>
        </p:spPr>
      </p:sp>
      <p:sp>
        <p:nvSpPr>
          <p:cNvPr id="20" name="Shape 18"/>
          <p:cNvSpPr/>
          <p:nvPr/>
        </p:nvSpPr>
        <p:spPr>
          <a:xfrm>
            <a:off x="2822296" y="6299484"/>
            <a:ext cx="292608" cy="0"/>
          </a:xfrm>
          <a:prstGeom prst="line">
            <a:avLst/>
          </a:prstGeom>
          <a:noFill/>
          <a:ln w="9525">
            <a:solidFill>
              <a:srgbClr val="C9A227">
                <a:alpha val="50000"/>
              </a:srgbClr>
            </a:solidFill>
            <a:prstDash val="solid"/>
          </a:ln>
        </p:spPr>
      </p:sp>
      <p:sp>
        <p:nvSpPr>
          <p:cNvPr id="21" name="Shape 19"/>
          <p:cNvSpPr/>
          <p:nvPr/>
        </p:nvSpPr>
        <p:spPr>
          <a:xfrm>
            <a:off x="3114904" y="6299484"/>
            <a:ext cx="0" cy="192756"/>
          </a:xfrm>
          <a:prstGeom prst="line">
            <a:avLst/>
          </a:prstGeom>
          <a:noFill/>
          <a:ln w="9525">
            <a:solidFill>
              <a:srgbClr val="C9A227">
                <a:alpha val="50000"/>
              </a:srgbClr>
            </a:solidFill>
            <a:prstDash val="solid"/>
          </a:ln>
        </p:spPr>
      </p:sp>
      <p:sp>
        <p:nvSpPr>
          <p:cNvPr id="22" name="Shape 20"/>
          <p:cNvSpPr/>
          <p:nvPr/>
        </p:nvSpPr>
        <p:spPr>
          <a:xfrm>
            <a:off x="3151480" y="6401532"/>
            <a:ext cx="0" cy="90708"/>
          </a:xfrm>
          <a:prstGeom prst="line">
            <a:avLst/>
          </a:prstGeom>
          <a:noFill/>
          <a:ln w="9525">
            <a:solidFill>
              <a:srgbClr val="C9A227">
                <a:alpha val="50000"/>
              </a:srgbClr>
            </a:solidFill>
            <a:prstDash val="solid"/>
          </a:ln>
        </p:spPr>
      </p:sp>
      <p:sp>
        <p:nvSpPr>
          <p:cNvPr id="23" name="Shape 21"/>
          <p:cNvSpPr/>
          <p:nvPr/>
        </p:nvSpPr>
        <p:spPr>
          <a:xfrm>
            <a:off x="3151480" y="6401532"/>
            <a:ext cx="182880" cy="0"/>
          </a:xfrm>
          <a:prstGeom prst="line">
            <a:avLst/>
          </a:prstGeom>
          <a:noFill/>
          <a:ln w="9525">
            <a:solidFill>
              <a:srgbClr val="C9A227">
                <a:alpha val="50000"/>
              </a:srgbClr>
            </a:solidFill>
            <a:prstDash val="solid"/>
          </a:ln>
        </p:spPr>
      </p:sp>
      <p:sp>
        <p:nvSpPr>
          <p:cNvPr id="24" name="Shape 22"/>
          <p:cNvSpPr/>
          <p:nvPr/>
        </p:nvSpPr>
        <p:spPr>
          <a:xfrm>
            <a:off x="3334360" y="6401532"/>
            <a:ext cx="0" cy="90708"/>
          </a:xfrm>
          <a:prstGeom prst="line">
            <a:avLst/>
          </a:prstGeom>
          <a:noFill/>
          <a:ln w="9525">
            <a:solidFill>
              <a:srgbClr val="C9A227">
                <a:alpha val="50000"/>
              </a:srgbClr>
            </a:solidFill>
            <a:prstDash val="solid"/>
          </a:ln>
        </p:spPr>
      </p:sp>
      <p:sp>
        <p:nvSpPr>
          <p:cNvPr id="25" name="Shape 23"/>
          <p:cNvSpPr/>
          <p:nvPr/>
        </p:nvSpPr>
        <p:spPr>
          <a:xfrm>
            <a:off x="3370936" y="6231453"/>
            <a:ext cx="0" cy="260787"/>
          </a:xfrm>
          <a:prstGeom prst="line">
            <a:avLst/>
          </a:prstGeom>
          <a:noFill/>
          <a:ln w="9525">
            <a:solidFill>
              <a:srgbClr val="C9A227">
                <a:alpha val="50000"/>
              </a:srgbClr>
            </a:solidFill>
            <a:prstDash val="solid"/>
          </a:ln>
        </p:spPr>
      </p:sp>
      <p:sp>
        <p:nvSpPr>
          <p:cNvPr id="26" name="Shape 24"/>
          <p:cNvSpPr/>
          <p:nvPr/>
        </p:nvSpPr>
        <p:spPr>
          <a:xfrm>
            <a:off x="3370936" y="6231453"/>
            <a:ext cx="347472" cy="0"/>
          </a:xfrm>
          <a:prstGeom prst="line">
            <a:avLst/>
          </a:prstGeom>
          <a:noFill/>
          <a:ln w="9525">
            <a:solidFill>
              <a:srgbClr val="C9A227">
                <a:alpha val="50000"/>
              </a:srgbClr>
            </a:solidFill>
            <a:prstDash val="solid"/>
          </a:ln>
        </p:spPr>
      </p:sp>
      <p:sp>
        <p:nvSpPr>
          <p:cNvPr id="27" name="Shape 25"/>
          <p:cNvSpPr/>
          <p:nvPr/>
        </p:nvSpPr>
        <p:spPr>
          <a:xfrm>
            <a:off x="3718408" y="6231453"/>
            <a:ext cx="0" cy="260787"/>
          </a:xfrm>
          <a:prstGeom prst="line">
            <a:avLst/>
          </a:prstGeom>
          <a:noFill/>
          <a:ln w="9525">
            <a:solidFill>
              <a:srgbClr val="C9A227">
                <a:alpha val="50000"/>
              </a:srgbClr>
            </a:solidFill>
            <a:prstDash val="solid"/>
          </a:ln>
        </p:spPr>
      </p:sp>
      <p:sp>
        <p:nvSpPr>
          <p:cNvPr id="28" name="Shape 26"/>
          <p:cNvSpPr/>
          <p:nvPr/>
        </p:nvSpPr>
        <p:spPr>
          <a:xfrm>
            <a:off x="3754984" y="6344839"/>
            <a:ext cx="0" cy="147401"/>
          </a:xfrm>
          <a:prstGeom prst="line">
            <a:avLst/>
          </a:prstGeom>
          <a:noFill/>
          <a:ln w="9525">
            <a:solidFill>
              <a:srgbClr val="C9A227">
                <a:alpha val="50000"/>
              </a:srgbClr>
            </a:solidFill>
            <a:prstDash val="solid"/>
          </a:ln>
        </p:spPr>
      </p:sp>
      <p:sp>
        <p:nvSpPr>
          <p:cNvPr id="29" name="Shape 27"/>
          <p:cNvSpPr/>
          <p:nvPr/>
        </p:nvSpPr>
        <p:spPr>
          <a:xfrm>
            <a:off x="3754984" y="6344839"/>
            <a:ext cx="237744" cy="0"/>
          </a:xfrm>
          <a:prstGeom prst="line">
            <a:avLst/>
          </a:prstGeom>
          <a:noFill/>
          <a:ln w="9525">
            <a:solidFill>
              <a:srgbClr val="C9A227">
                <a:alpha val="50000"/>
              </a:srgbClr>
            </a:solidFill>
            <a:prstDash val="solid"/>
          </a:ln>
        </p:spPr>
      </p:sp>
      <p:sp>
        <p:nvSpPr>
          <p:cNvPr id="30" name="Shape 28"/>
          <p:cNvSpPr/>
          <p:nvPr/>
        </p:nvSpPr>
        <p:spPr>
          <a:xfrm>
            <a:off x="3992728" y="6344839"/>
            <a:ext cx="0" cy="147401"/>
          </a:xfrm>
          <a:prstGeom prst="line">
            <a:avLst/>
          </a:prstGeom>
          <a:noFill/>
          <a:ln w="9525">
            <a:solidFill>
              <a:srgbClr val="C9A227">
                <a:alpha val="50000"/>
              </a:srgbClr>
            </a:solidFill>
            <a:prstDash val="solid"/>
          </a:ln>
        </p:spPr>
      </p:sp>
      <p:sp>
        <p:nvSpPr>
          <p:cNvPr id="31" name="Shape 29"/>
          <p:cNvSpPr/>
          <p:nvPr/>
        </p:nvSpPr>
        <p:spPr>
          <a:xfrm>
            <a:off x="4029304" y="6140745"/>
            <a:ext cx="0" cy="351495"/>
          </a:xfrm>
          <a:prstGeom prst="line">
            <a:avLst/>
          </a:prstGeom>
          <a:noFill/>
          <a:ln w="9525">
            <a:solidFill>
              <a:srgbClr val="C9A227">
                <a:alpha val="50000"/>
              </a:srgbClr>
            </a:solidFill>
            <a:prstDash val="solid"/>
          </a:ln>
        </p:spPr>
      </p:sp>
      <p:sp>
        <p:nvSpPr>
          <p:cNvPr id="32" name="Shape 30"/>
          <p:cNvSpPr/>
          <p:nvPr/>
        </p:nvSpPr>
        <p:spPr>
          <a:xfrm>
            <a:off x="4029304" y="6140745"/>
            <a:ext cx="292608" cy="0"/>
          </a:xfrm>
          <a:prstGeom prst="line">
            <a:avLst/>
          </a:prstGeom>
          <a:noFill/>
          <a:ln w="9525">
            <a:solidFill>
              <a:srgbClr val="C9A227">
                <a:alpha val="50000"/>
              </a:srgbClr>
            </a:solidFill>
            <a:prstDash val="solid"/>
          </a:ln>
        </p:spPr>
      </p:sp>
      <p:sp>
        <p:nvSpPr>
          <p:cNvPr id="33" name="Shape 31"/>
          <p:cNvSpPr/>
          <p:nvPr/>
        </p:nvSpPr>
        <p:spPr>
          <a:xfrm>
            <a:off x="4321912" y="6140745"/>
            <a:ext cx="0" cy="351495"/>
          </a:xfrm>
          <a:prstGeom prst="line">
            <a:avLst/>
          </a:prstGeom>
          <a:noFill/>
          <a:ln w="9525">
            <a:solidFill>
              <a:srgbClr val="C9A227">
                <a:alpha val="50000"/>
              </a:srgbClr>
            </a:solidFill>
            <a:prstDash val="solid"/>
          </a:ln>
        </p:spPr>
      </p:sp>
      <p:sp>
        <p:nvSpPr>
          <p:cNvPr id="34" name="Shape 32"/>
          <p:cNvSpPr/>
          <p:nvPr/>
        </p:nvSpPr>
        <p:spPr>
          <a:xfrm>
            <a:off x="4358488" y="6322162"/>
            <a:ext cx="0" cy="170078"/>
          </a:xfrm>
          <a:prstGeom prst="line">
            <a:avLst/>
          </a:prstGeom>
          <a:noFill/>
          <a:ln w="9525">
            <a:solidFill>
              <a:srgbClr val="C9A227">
                <a:alpha val="50000"/>
              </a:srgbClr>
            </a:solidFill>
            <a:prstDash val="solid"/>
          </a:ln>
        </p:spPr>
      </p:sp>
      <p:sp>
        <p:nvSpPr>
          <p:cNvPr id="35" name="Shape 33"/>
          <p:cNvSpPr/>
          <p:nvPr/>
        </p:nvSpPr>
        <p:spPr>
          <a:xfrm>
            <a:off x="4358488" y="6322162"/>
            <a:ext cx="274320" cy="0"/>
          </a:xfrm>
          <a:prstGeom prst="line">
            <a:avLst/>
          </a:prstGeom>
          <a:noFill/>
          <a:ln w="9525">
            <a:solidFill>
              <a:srgbClr val="C9A227">
                <a:alpha val="50000"/>
              </a:srgbClr>
            </a:solidFill>
            <a:prstDash val="solid"/>
          </a:ln>
        </p:spPr>
      </p:sp>
      <p:sp>
        <p:nvSpPr>
          <p:cNvPr id="36" name="Shape 34"/>
          <p:cNvSpPr/>
          <p:nvPr/>
        </p:nvSpPr>
        <p:spPr>
          <a:xfrm>
            <a:off x="4632808" y="6322162"/>
            <a:ext cx="0" cy="170078"/>
          </a:xfrm>
          <a:prstGeom prst="line">
            <a:avLst/>
          </a:prstGeom>
          <a:noFill/>
          <a:ln w="9525">
            <a:solidFill>
              <a:srgbClr val="C9A227">
                <a:alpha val="50000"/>
              </a:srgbClr>
            </a:solidFill>
            <a:prstDash val="solid"/>
          </a:ln>
        </p:spPr>
      </p:sp>
      <p:sp>
        <p:nvSpPr>
          <p:cNvPr id="37" name="Shape 35"/>
          <p:cNvSpPr/>
          <p:nvPr/>
        </p:nvSpPr>
        <p:spPr>
          <a:xfrm>
            <a:off x="4669384" y="6378854"/>
            <a:ext cx="0" cy="113386"/>
          </a:xfrm>
          <a:prstGeom prst="line">
            <a:avLst/>
          </a:prstGeom>
          <a:noFill/>
          <a:ln w="9525">
            <a:solidFill>
              <a:srgbClr val="C9A227">
                <a:alpha val="50000"/>
              </a:srgbClr>
            </a:solidFill>
            <a:prstDash val="solid"/>
          </a:ln>
        </p:spPr>
      </p:sp>
      <p:sp>
        <p:nvSpPr>
          <p:cNvPr id="38" name="Shape 36"/>
          <p:cNvSpPr/>
          <p:nvPr/>
        </p:nvSpPr>
        <p:spPr>
          <a:xfrm>
            <a:off x="4669384" y="6378854"/>
            <a:ext cx="219456" cy="0"/>
          </a:xfrm>
          <a:prstGeom prst="line">
            <a:avLst/>
          </a:prstGeom>
          <a:noFill/>
          <a:ln w="9525">
            <a:solidFill>
              <a:srgbClr val="C9A227">
                <a:alpha val="50000"/>
              </a:srgbClr>
            </a:solidFill>
            <a:prstDash val="solid"/>
          </a:ln>
        </p:spPr>
      </p:sp>
      <p:sp>
        <p:nvSpPr>
          <p:cNvPr id="39" name="Shape 37"/>
          <p:cNvSpPr/>
          <p:nvPr/>
        </p:nvSpPr>
        <p:spPr>
          <a:xfrm>
            <a:off x="4888840" y="6378854"/>
            <a:ext cx="0" cy="113386"/>
          </a:xfrm>
          <a:prstGeom prst="line">
            <a:avLst/>
          </a:prstGeom>
          <a:noFill/>
          <a:ln w="9525">
            <a:solidFill>
              <a:srgbClr val="C9A227">
                <a:alpha val="50000"/>
              </a:srgbClr>
            </a:solidFill>
            <a:prstDash val="solid"/>
          </a:ln>
        </p:spPr>
      </p:sp>
      <p:sp>
        <p:nvSpPr>
          <p:cNvPr id="40" name="Shape 38"/>
          <p:cNvSpPr/>
          <p:nvPr/>
        </p:nvSpPr>
        <p:spPr>
          <a:xfrm>
            <a:off x="4925416" y="6208776"/>
            <a:ext cx="0" cy="283464"/>
          </a:xfrm>
          <a:prstGeom prst="line">
            <a:avLst/>
          </a:prstGeom>
          <a:noFill/>
          <a:ln w="9525">
            <a:solidFill>
              <a:srgbClr val="C9A227">
                <a:alpha val="50000"/>
              </a:srgbClr>
            </a:solidFill>
            <a:prstDash val="solid"/>
          </a:ln>
        </p:spPr>
      </p:sp>
      <p:sp>
        <p:nvSpPr>
          <p:cNvPr id="41" name="Shape 39"/>
          <p:cNvSpPr/>
          <p:nvPr/>
        </p:nvSpPr>
        <p:spPr>
          <a:xfrm>
            <a:off x="4925416" y="6208776"/>
            <a:ext cx="365760" cy="0"/>
          </a:xfrm>
          <a:prstGeom prst="line">
            <a:avLst/>
          </a:prstGeom>
          <a:noFill/>
          <a:ln w="9525">
            <a:solidFill>
              <a:srgbClr val="C9A227">
                <a:alpha val="50000"/>
              </a:srgbClr>
            </a:solidFill>
            <a:prstDash val="solid"/>
          </a:ln>
        </p:spPr>
      </p:sp>
      <p:sp>
        <p:nvSpPr>
          <p:cNvPr id="42" name="Shape 40"/>
          <p:cNvSpPr/>
          <p:nvPr/>
        </p:nvSpPr>
        <p:spPr>
          <a:xfrm>
            <a:off x="5291176" y="6208776"/>
            <a:ext cx="0" cy="283464"/>
          </a:xfrm>
          <a:prstGeom prst="line">
            <a:avLst/>
          </a:prstGeom>
          <a:noFill/>
          <a:ln w="9525">
            <a:solidFill>
              <a:srgbClr val="C9A227">
                <a:alpha val="50000"/>
              </a:srgbClr>
            </a:solidFill>
            <a:prstDash val="solid"/>
          </a:ln>
        </p:spPr>
      </p:sp>
      <p:sp>
        <p:nvSpPr>
          <p:cNvPr id="43" name="Shape 41"/>
          <p:cNvSpPr/>
          <p:nvPr/>
        </p:nvSpPr>
        <p:spPr>
          <a:xfrm>
            <a:off x="5327752" y="6288146"/>
            <a:ext cx="0" cy="204094"/>
          </a:xfrm>
          <a:prstGeom prst="line">
            <a:avLst/>
          </a:prstGeom>
          <a:noFill/>
          <a:ln w="9525">
            <a:solidFill>
              <a:srgbClr val="C9A227">
                <a:alpha val="50000"/>
              </a:srgbClr>
            </a:solidFill>
            <a:prstDash val="solid"/>
          </a:ln>
        </p:spPr>
      </p:sp>
      <p:sp>
        <p:nvSpPr>
          <p:cNvPr id="44" name="Shape 42"/>
          <p:cNvSpPr/>
          <p:nvPr/>
        </p:nvSpPr>
        <p:spPr>
          <a:xfrm>
            <a:off x="5327752" y="6288146"/>
            <a:ext cx="274320" cy="0"/>
          </a:xfrm>
          <a:prstGeom prst="line">
            <a:avLst/>
          </a:prstGeom>
          <a:noFill/>
          <a:ln w="9525">
            <a:solidFill>
              <a:srgbClr val="C9A227">
                <a:alpha val="50000"/>
              </a:srgbClr>
            </a:solidFill>
            <a:prstDash val="solid"/>
          </a:ln>
        </p:spPr>
      </p:sp>
      <p:sp>
        <p:nvSpPr>
          <p:cNvPr id="45" name="Shape 43"/>
          <p:cNvSpPr/>
          <p:nvPr/>
        </p:nvSpPr>
        <p:spPr>
          <a:xfrm>
            <a:off x="5602072" y="6288146"/>
            <a:ext cx="0" cy="204094"/>
          </a:xfrm>
          <a:prstGeom prst="line">
            <a:avLst/>
          </a:prstGeom>
          <a:noFill/>
          <a:ln w="9525">
            <a:solidFill>
              <a:srgbClr val="C9A227">
                <a:alpha val="50000"/>
              </a:srgbClr>
            </a:solidFill>
            <a:prstDash val="solid"/>
          </a:ln>
        </p:spPr>
      </p:sp>
      <p:sp>
        <p:nvSpPr>
          <p:cNvPr id="46" name="Shape 44"/>
          <p:cNvSpPr/>
          <p:nvPr/>
        </p:nvSpPr>
        <p:spPr>
          <a:xfrm>
            <a:off x="5638648" y="6367516"/>
            <a:ext cx="0" cy="124724"/>
          </a:xfrm>
          <a:prstGeom prst="line">
            <a:avLst/>
          </a:prstGeom>
          <a:noFill/>
          <a:ln w="9525">
            <a:solidFill>
              <a:srgbClr val="C9A227">
                <a:alpha val="50000"/>
              </a:srgbClr>
            </a:solidFill>
            <a:prstDash val="solid"/>
          </a:ln>
        </p:spPr>
      </p:sp>
      <p:sp>
        <p:nvSpPr>
          <p:cNvPr id="47" name="Shape 45"/>
          <p:cNvSpPr/>
          <p:nvPr/>
        </p:nvSpPr>
        <p:spPr>
          <a:xfrm>
            <a:off x="5638648" y="6367516"/>
            <a:ext cx="219456" cy="0"/>
          </a:xfrm>
          <a:prstGeom prst="line">
            <a:avLst/>
          </a:prstGeom>
          <a:noFill/>
          <a:ln w="9525">
            <a:solidFill>
              <a:srgbClr val="C9A227">
                <a:alpha val="50000"/>
              </a:srgbClr>
            </a:solidFill>
            <a:prstDash val="solid"/>
          </a:ln>
        </p:spPr>
      </p:sp>
      <p:sp>
        <p:nvSpPr>
          <p:cNvPr id="48" name="Shape 46"/>
          <p:cNvSpPr/>
          <p:nvPr/>
        </p:nvSpPr>
        <p:spPr>
          <a:xfrm>
            <a:off x="5858104" y="6367516"/>
            <a:ext cx="0" cy="124724"/>
          </a:xfrm>
          <a:prstGeom prst="line">
            <a:avLst/>
          </a:prstGeom>
          <a:noFill/>
          <a:ln w="9525">
            <a:solidFill>
              <a:srgbClr val="C9A227">
                <a:alpha val="50000"/>
              </a:srgbClr>
            </a:solidFill>
            <a:prstDash val="solid"/>
          </a:ln>
        </p:spPr>
      </p:sp>
      <p:sp>
        <p:nvSpPr>
          <p:cNvPr id="49" name="Shape 47"/>
          <p:cNvSpPr/>
          <p:nvPr/>
        </p:nvSpPr>
        <p:spPr>
          <a:xfrm>
            <a:off x="5894680" y="6163422"/>
            <a:ext cx="0" cy="328818"/>
          </a:xfrm>
          <a:prstGeom prst="line">
            <a:avLst/>
          </a:prstGeom>
          <a:noFill/>
          <a:ln w="9525">
            <a:solidFill>
              <a:srgbClr val="C9A227">
                <a:alpha val="50000"/>
              </a:srgbClr>
            </a:solidFill>
            <a:prstDash val="solid"/>
          </a:ln>
        </p:spPr>
      </p:sp>
      <p:sp>
        <p:nvSpPr>
          <p:cNvPr id="50" name="Shape 48"/>
          <p:cNvSpPr/>
          <p:nvPr/>
        </p:nvSpPr>
        <p:spPr>
          <a:xfrm>
            <a:off x="5894680" y="6163422"/>
            <a:ext cx="329184" cy="0"/>
          </a:xfrm>
          <a:prstGeom prst="line">
            <a:avLst/>
          </a:prstGeom>
          <a:noFill/>
          <a:ln w="9525">
            <a:solidFill>
              <a:srgbClr val="C9A227">
                <a:alpha val="50000"/>
              </a:srgbClr>
            </a:solidFill>
            <a:prstDash val="solid"/>
          </a:ln>
        </p:spPr>
      </p:sp>
      <p:sp>
        <p:nvSpPr>
          <p:cNvPr id="51" name="Shape 49"/>
          <p:cNvSpPr/>
          <p:nvPr/>
        </p:nvSpPr>
        <p:spPr>
          <a:xfrm>
            <a:off x="6223864" y="6163422"/>
            <a:ext cx="0" cy="328818"/>
          </a:xfrm>
          <a:prstGeom prst="line">
            <a:avLst/>
          </a:prstGeom>
          <a:noFill/>
          <a:ln w="9525">
            <a:solidFill>
              <a:srgbClr val="C9A227">
                <a:alpha val="50000"/>
              </a:srgbClr>
            </a:solidFill>
            <a:prstDash val="solid"/>
          </a:ln>
        </p:spPr>
      </p:sp>
      <p:sp>
        <p:nvSpPr>
          <p:cNvPr id="52" name="Shape 50"/>
          <p:cNvSpPr/>
          <p:nvPr/>
        </p:nvSpPr>
        <p:spPr>
          <a:xfrm>
            <a:off x="6260440" y="6322162"/>
            <a:ext cx="0" cy="170078"/>
          </a:xfrm>
          <a:prstGeom prst="line">
            <a:avLst/>
          </a:prstGeom>
          <a:noFill/>
          <a:ln w="9525">
            <a:solidFill>
              <a:srgbClr val="C9A227">
                <a:alpha val="50000"/>
              </a:srgbClr>
            </a:solidFill>
            <a:prstDash val="solid"/>
          </a:ln>
        </p:spPr>
      </p:sp>
      <p:sp>
        <p:nvSpPr>
          <p:cNvPr id="53" name="Shape 51"/>
          <p:cNvSpPr/>
          <p:nvPr/>
        </p:nvSpPr>
        <p:spPr>
          <a:xfrm>
            <a:off x="6260440" y="6322162"/>
            <a:ext cx="256032" cy="0"/>
          </a:xfrm>
          <a:prstGeom prst="line">
            <a:avLst/>
          </a:prstGeom>
          <a:noFill/>
          <a:ln w="9525">
            <a:solidFill>
              <a:srgbClr val="C9A227">
                <a:alpha val="50000"/>
              </a:srgbClr>
            </a:solidFill>
            <a:prstDash val="solid"/>
          </a:ln>
        </p:spPr>
      </p:sp>
      <p:sp>
        <p:nvSpPr>
          <p:cNvPr id="54" name="Shape 52"/>
          <p:cNvSpPr/>
          <p:nvPr/>
        </p:nvSpPr>
        <p:spPr>
          <a:xfrm>
            <a:off x="6516472" y="6322162"/>
            <a:ext cx="0" cy="170078"/>
          </a:xfrm>
          <a:prstGeom prst="line">
            <a:avLst/>
          </a:prstGeom>
          <a:noFill/>
          <a:ln w="9525">
            <a:solidFill>
              <a:srgbClr val="C9A227">
                <a:alpha val="50000"/>
              </a:srgbClr>
            </a:solidFill>
            <a:prstDash val="solid"/>
          </a:ln>
        </p:spPr>
      </p:sp>
      <p:sp>
        <p:nvSpPr>
          <p:cNvPr id="55" name="Shape 53"/>
          <p:cNvSpPr/>
          <p:nvPr/>
        </p:nvSpPr>
        <p:spPr>
          <a:xfrm>
            <a:off x="6553048" y="6254130"/>
            <a:ext cx="0" cy="238110"/>
          </a:xfrm>
          <a:prstGeom prst="line">
            <a:avLst/>
          </a:prstGeom>
          <a:noFill/>
          <a:ln w="9525">
            <a:solidFill>
              <a:srgbClr val="C9A227">
                <a:alpha val="50000"/>
              </a:srgbClr>
            </a:solidFill>
            <a:prstDash val="solid"/>
          </a:ln>
        </p:spPr>
      </p:sp>
      <p:sp>
        <p:nvSpPr>
          <p:cNvPr id="56" name="Shape 54"/>
          <p:cNvSpPr/>
          <p:nvPr/>
        </p:nvSpPr>
        <p:spPr>
          <a:xfrm>
            <a:off x="6553048" y="6254130"/>
            <a:ext cx="347472" cy="0"/>
          </a:xfrm>
          <a:prstGeom prst="line">
            <a:avLst/>
          </a:prstGeom>
          <a:noFill/>
          <a:ln w="9525">
            <a:solidFill>
              <a:srgbClr val="C9A227">
                <a:alpha val="50000"/>
              </a:srgbClr>
            </a:solidFill>
            <a:prstDash val="solid"/>
          </a:ln>
        </p:spPr>
      </p:sp>
      <p:sp>
        <p:nvSpPr>
          <p:cNvPr id="57" name="Shape 55"/>
          <p:cNvSpPr/>
          <p:nvPr/>
        </p:nvSpPr>
        <p:spPr>
          <a:xfrm>
            <a:off x="6900520" y="6254130"/>
            <a:ext cx="0" cy="238110"/>
          </a:xfrm>
          <a:prstGeom prst="line">
            <a:avLst/>
          </a:prstGeom>
          <a:noFill/>
          <a:ln w="9525">
            <a:solidFill>
              <a:srgbClr val="C9A227">
                <a:alpha val="50000"/>
              </a:srgbClr>
            </a:solidFill>
            <a:prstDash val="solid"/>
          </a:ln>
        </p:spPr>
      </p:sp>
      <p:sp>
        <p:nvSpPr>
          <p:cNvPr id="58" name="Shape 56"/>
          <p:cNvSpPr/>
          <p:nvPr/>
        </p:nvSpPr>
        <p:spPr>
          <a:xfrm>
            <a:off x="6937096" y="6378854"/>
            <a:ext cx="0" cy="113386"/>
          </a:xfrm>
          <a:prstGeom prst="line">
            <a:avLst/>
          </a:prstGeom>
          <a:noFill/>
          <a:ln w="9525">
            <a:solidFill>
              <a:srgbClr val="C9A227">
                <a:alpha val="50000"/>
              </a:srgbClr>
            </a:solidFill>
            <a:prstDash val="solid"/>
          </a:ln>
        </p:spPr>
      </p:sp>
      <p:sp>
        <p:nvSpPr>
          <p:cNvPr id="59" name="Shape 57"/>
          <p:cNvSpPr/>
          <p:nvPr/>
        </p:nvSpPr>
        <p:spPr>
          <a:xfrm>
            <a:off x="6937096" y="6378854"/>
            <a:ext cx="219456" cy="0"/>
          </a:xfrm>
          <a:prstGeom prst="line">
            <a:avLst/>
          </a:prstGeom>
          <a:noFill/>
          <a:ln w="9525">
            <a:solidFill>
              <a:srgbClr val="C9A227">
                <a:alpha val="50000"/>
              </a:srgbClr>
            </a:solidFill>
            <a:prstDash val="solid"/>
          </a:ln>
        </p:spPr>
      </p:sp>
      <p:sp>
        <p:nvSpPr>
          <p:cNvPr id="60" name="Shape 58"/>
          <p:cNvSpPr/>
          <p:nvPr/>
        </p:nvSpPr>
        <p:spPr>
          <a:xfrm>
            <a:off x="7156552" y="6378854"/>
            <a:ext cx="0" cy="113386"/>
          </a:xfrm>
          <a:prstGeom prst="line">
            <a:avLst/>
          </a:prstGeom>
          <a:noFill/>
          <a:ln w="9525">
            <a:solidFill>
              <a:srgbClr val="C9A227">
                <a:alpha val="50000"/>
              </a:srgbClr>
            </a:solidFill>
            <a:prstDash val="solid"/>
          </a:ln>
        </p:spPr>
      </p:sp>
      <p:sp>
        <p:nvSpPr>
          <p:cNvPr id="61" name="Shape 59"/>
          <p:cNvSpPr/>
          <p:nvPr/>
        </p:nvSpPr>
        <p:spPr>
          <a:xfrm>
            <a:off x="7193128" y="6186099"/>
            <a:ext cx="0" cy="306141"/>
          </a:xfrm>
          <a:prstGeom prst="line">
            <a:avLst/>
          </a:prstGeom>
          <a:noFill/>
          <a:ln w="9525">
            <a:solidFill>
              <a:srgbClr val="C9A227">
                <a:alpha val="50000"/>
              </a:srgbClr>
            </a:solidFill>
            <a:prstDash val="solid"/>
          </a:ln>
        </p:spPr>
      </p:sp>
      <p:sp>
        <p:nvSpPr>
          <p:cNvPr id="62" name="Shape 60"/>
          <p:cNvSpPr/>
          <p:nvPr/>
        </p:nvSpPr>
        <p:spPr>
          <a:xfrm>
            <a:off x="7193128" y="6186099"/>
            <a:ext cx="347472" cy="0"/>
          </a:xfrm>
          <a:prstGeom prst="line">
            <a:avLst/>
          </a:prstGeom>
          <a:noFill/>
          <a:ln w="9525">
            <a:solidFill>
              <a:srgbClr val="C9A227">
                <a:alpha val="50000"/>
              </a:srgbClr>
            </a:solidFill>
            <a:prstDash val="solid"/>
          </a:ln>
        </p:spPr>
      </p:sp>
      <p:sp>
        <p:nvSpPr>
          <p:cNvPr id="63" name="Shape 61"/>
          <p:cNvSpPr/>
          <p:nvPr/>
        </p:nvSpPr>
        <p:spPr>
          <a:xfrm>
            <a:off x="7540600" y="6186099"/>
            <a:ext cx="0" cy="306141"/>
          </a:xfrm>
          <a:prstGeom prst="line">
            <a:avLst/>
          </a:prstGeom>
          <a:noFill/>
          <a:ln w="9525">
            <a:solidFill>
              <a:srgbClr val="C9A227">
                <a:alpha val="50000"/>
              </a:srgbClr>
            </a:solidFill>
            <a:prstDash val="solid"/>
          </a:ln>
        </p:spPr>
      </p:sp>
      <p:sp>
        <p:nvSpPr>
          <p:cNvPr id="64" name="Shape 62"/>
          <p:cNvSpPr/>
          <p:nvPr/>
        </p:nvSpPr>
        <p:spPr>
          <a:xfrm>
            <a:off x="7577176" y="6310823"/>
            <a:ext cx="0" cy="181417"/>
          </a:xfrm>
          <a:prstGeom prst="line">
            <a:avLst/>
          </a:prstGeom>
          <a:noFill/>
          <a:ln w="9525">
            <a:solidFill>
              <a:srgbClr val="C9A227">
                <a:alpha val="50000"/>
              </a:srgbClr>
            </a:solidFill>
            <a:prstDash val="solid"/>
          </a:ln>
        </p:spPr>
      </p:sp>
      <p:sp>
        <p:nvSpPr>
          <p:cNvPr id="65" name="Shape 63"/>
          <p:cNvSpPr/>
          <p:nvPr/>
        </p:nvSpPr>
        <p:spPr>
          <a:xfrm>
            <a:off x="7577176" y="6310823"/>
            <a:ext cx="274320" cy="0"/>
          </a:xfrm>
          <a:prstGeom prst="line">
            <a:avLst/>
          </a:prstGeom>
          <a:noFill/>
          <a:ln w="9525">
            <a:solidFill>
              <a:srgbClr val="C9A227">
                <a:alpha val="50000"/>
              </a:srgbClr>
            </a:solidFill>
            <a:prstDash val="solid"/>
          </a:ln>
        </p:spPr>
      </p:sp>
      <p:sp>
        <p:nvSpPr>
          <p:cNvPr id="66" name="Shape 64"/>
          <p:cNvSpPr/>
          <p:nvPr/>
        </p:nvSpPr>
        <p:spPr>
          <a:xfrm>
            <a:off x="7851496" y="6310823"/>
            <a:ext cx="0" cy="181417"/>
          </a:xfrm>
          <a:prstGeom prst="line">
            <a:avLst/>
          </a:prstGeom>
          <a:noFill/>
          <a:ln w="9525">
            <a:solidFill>
              <a:srgbClr val="C9A227">
                <a:alpha val="50000"/>
              </a:srgbClr>
            </a:solidFill>
            <a:prstDash val="solid"/>
          </a:ln>
        </p:spPr>
      </p:sp>
      <p:sp>
        <p:nvSpPr>
          <p:cNvPr id="67" name="Shape 65"/>
          <p:cNvSpPr/>
          <p:nvPr/>
        </p:nvSpPr>
        <p:spPr>
          <a:xfrm>
            <a:off x="7888072" y="6356177"/>
            <a:ext cx="0" cy="136063"/>
          </a:xfrm>
          <a:prstGeom prst="line">
            <a:avLst/>
          </a:prstGeom>
          <a:noFill/>
          <a:ln w="9525">
            <a:solidFill>
              <a:srgbClr val="C9A227">
                <a:alpha val="50000"/>
              </a:srgbClr>
            </a:solidFill>
            <a:prstDash val="solid"/>
          </a:ln>
        </p:spPr>
      </p:sp>
      <p:sp>
        <p:nvSpPr>
          <p:cNvPr id="68" name="Shape 66"/>
          <p:cNvSpPr/>
          <p:nvPr/>
        </p:nvSpPr>
        <p:spPr>
          <a:xfrm>
            <a:off x="7888072" y="6356177"/>
            <a:ext cx="219456" cy="0"/>
          </a:xfrm>
          <a:prstGeom prst="line">
            <a:avLst/>
          </a:prstGeom>
          <a:noFill/>
          <a:ln w="9525">
            <a:solidFill>
              <a:srgbClr val="C9A227">
                <a:alpha val="50000"/>
              </a:srgbClr>
            </a:solidFill>
            <a:prstDash val="solid"/>
          </a:ln>
        </p:spPr>
      </p:sp>
      <p:sp>
        <p:nvSpPr>
          <p:cNvPr id="69" name="Shape 67"/>
          <p:cNvSpPr/>
          <p:nvPr/>
        </p:nvSpPr>
        <p:spPr>
          <a:xfrm>
            <a:off x="8107528" y="6356177"/>
            <a:ext cx="0" cy="136063"/>
          </a:xfrm>
          <a:prstGeom prst="line">
            <a:avLst/>
          </a:prstGeom>
          <a:noFill/>
          <a:ln w="9525">
            <a:solidFill>
              <a:srgbClr val="C9A227">
                <a:alpha val="50000"/>
              </a:srgbClr>
            </a:solidFill>
            <a:prstDash val="solid"/>
          </a:ln>
        </p:spPr>
      </p:sp>
      <p:sp>
        <p:nvSpPr>
          <p:cNvPr id="70" name="Shape 68"/>
          <p:cNvSpPr/>
          <p:nvPr/>
        </p:nvSpPr>
        <p:spPr>
          <a:xfrm>
            <a:off x="8144104" y="6242792"/>
            <a:ext cx="0" cy="249448"/>
          </a:xfrm>
          <a:prstGeom prst="line">
            <a:avLst/>
          </a:prstGeom>
          <a:noFill/>
          <a:ln w="9525">
            <a:solidFill>
              <a:srgbClr val="C9A227">
                <a:alpha val="50000"/>
              </a:srgbClr>
            </a:solidFill>
            <a:prstDash val="solid"/>
          </a:ln>
        </p:spPr>
      </p:sp>
      <p:sp>
        <p:nvSpPr>
          <p:cNvPr id="71" name="Shape 69"/>
          <p:cNvSpPr/>
          <p:nvPr/>
        </p:nvSpPr>
        <p:spPr>
          <a:xfrm>
            <a:off x="8144104" y="6242792"/>
            <a:ext cx="347472" cy="0"/>
          </a:xfrm>
          <a:prstGeom prst="line">
            <a:avLst/>
          </a:prstGeom>
          <a:noFill/>
          <a:ln w="9525">
            <a:solidFill>
              <a:srgbClr val="C9A227">
                <a:alpha val="50000"/>
              </a:srgbClr>
            </a:solidFill>
            <a:prstDash val="solid"/>
          </a:ln>
        </p:spPr>
      </p:sp>
      <p:sp>
        <p:nvSpPr>
          <p:cNvPr id="72" name="Shape 70"/>
          <p:cNvSpPr/>
          <p:nvPr/>
        </p:nvSpPr>
        <p:spPr>
          <a:xfrm>
            <a:off x="8491576" y="6242792"/>
            <a:ext cx="0" cy="249448"/>
          </a:xfrm>
          <a:prstGeom prst="line">
            <a:avLst/>
          </a:prstGeom>
          <a:noFill/>
          <a:ln w="9525">
            <a:solidFill>
              <a:srgbClr val="C9A227">
                <a:alpha val="50000"/>
              </a:srgbClr>
            </a:solidFill>
            <a:prstDash val="solid"/>
          </a:ln>
        </p:spPr>
      </p:sp>
      <p:sp>
        <p:nvSpPr>
          <p:cNvPr id="73" name="Shape 71"/>
          <p:cNvSpPr/>
          <p:nvPr/>
        </p:nvSpPr>
        <p:spPr>
          <a:xfrm>
            <a:off x="8528152" y="6322162"/>
            <a:ext cx="0" cy="170078"/>
          </a:xfrm>
          <a:prstGeom prst="line">
            <a:avLst/>
          </a:prstGeom>
          <a:noFill/>
          <a:ln w="9525">
            <a:solidFill>
              <a:srgbClr val="C9A227">
                <a:alpha val="50000"/>
              </a:srgbClr>
            </a:solidFill>
            <a:prstDash val="solid"/>
          </a:ln>
        </p:spPr>
      </p:sp>
      <p:sp>
        <p:nvSpPr>
          <p:cNvPr id="74" name="Shape 72"/>
          <p:cNvSpPr/>
          <p:nvPr/>
        </p:nvSpPr>
        <p:spPr>
          <a:xfrm>
            <a:off x="8528152" y="6322162"/>
            <a:ext cx="274320" cy="0"/>
          </a:xfrm>
          <a:prstGeom prst="line">
            <a:avLst/>
          </a:prstGeom>
          <a:noFill/>
          <a:ln w="9525">
            <a:solidFill>
              <a:srgbClr val="C9A227">
                <a:alpha val="50000"/>
              </a:srgbClr>
            </a:solidFill>
            <a:prstDash val="solid"/>
          </a:ln>
        </p:spPr>
      </p:sp>
      <p:sp>
        <p:nvSpPr>
          <p:cNvPr id="75" name="Shape 73"/>
          <p:cNvSpPr/>
          <p:nvPr/>
        </p:nvSpPr>
        <p:spPr>
          <a:xfrm>
            <a:off x="8802472" y="6322162"/>
            <a:ext cx="0" cy="170078"/>
          </a:xfrm>
          <a:prstGeom prst="line">
            <a:avLst/>
          </a:prstGeom>
          <a:noFill/>
          <a:ln w="9525">
            <a:solidFill>
              <a:srgbClr val="C9A227">
                <a:alpha val="50000"/>
              </a:srgbClr>
            </a:solidFill>
            <a:prstDash val="solid"/>
          </a:ln>
        </p:spPr>
      </p:sp>
      <p:sp>
        <p:nvSpPr>
          <p:cNvPr id="76" name="Shape 74"/>
          <p:cNvSpPr/>
          <p:nvPr/>
        </p:nvSpPr>
        <p:spPr>
          <a:xfrm>
            <a:off x="8839048" y="6208776"/>
            <a:ext cx="0" cy="283464"/>
          </a:xfrm>
          <a:prstGeom prst="line">
            <a:avLst/>
          </a:prstGeom>
          <a:noFill/>
          <a:ln w="9525">
            <a:solidFill>
              <a:srgbClr val="C9A227">
                <a:alpha val="50000"/>
              </a:srgbClr>
            </a:solidFill>
            <a:prstDash val="solid"/>
          </a:ln>
        </p:spPr>
      </p:sp>
      <p:sp>
        <p:nvSpPr>
          <p:cNvPr id="77" name="Shape 75"/>
          <p:cNvSpPr/>
          <p:nvPr/>
        </p:nvSpPr>
        <p:spPr>
          <a:xfrm>
            <a:off x="8839048" y="6208776"/>
            <a:ext cx="347472" cy="0"/>
          </a:xfrm>
          <a:prstGeom prst="line">
            <a:avLst/>
          </a:prstGeom>
          <a:noFill/>
          <a:ln w="9525">
            <a:solidFill>
              <a:srgbClr val="C9A227">
                <a:alpha val="50000"/>
              </a:srgbClr>
            </a:solidFill>
            <a:prstDash val="solid"/>
          </a:ln>
        </p:spPr>
      </p:sp>
      <p:sp>
        <p:nvSpPr>
          <p:cNvPr id="78" name="Shape 76"/>
          <p:cNvSpPr/>
          <p:nvPr/>
        </p:nvSpPr>
        <p:spPr>
          <a:xfrm>
            <a:off x="9186520" y="6208776"/>
            <a:ext cx="0" cy="283464"/>
          </a:xfrm>
          <a:prstGeom prst="line">
            <a:avLst/>
          </a:prstGeom>
          <a:noFill/>
          <a:ln w="9525">
            <a:solidFill>
              <a:srgbClr val="C9A227">
                <a:alpha val="50000"/>
              </a:srgbClr>
            </a:solidFill>
            <a:prstDash val="solid"/>
          </a:ln>
        </p:spPr>
      </p:sp>
      <p:sp>
        <p:nvSpPr>
          <p:cNvPr id="79" name="Shape 77"/>
          <p:cNvSpPr/>
          <p:nvPr/>
        </p:nvSpPr>
        <p:spPr>
          <a:xfrm>
            <a:off x="9223096" y="6367516"/>
            <a:ext cx="0" cy="124724"/>
          </a:xfrm>
          <a:prstGeom prst="line">
            <a:avLst/>
          </a:prstGeom>
          <a:noFill/>
          <a:ln w="9525">
            <a:solidFill>
              <a:srgbClr val="C9A227">
                <a:alpha val="50000"/>
              </a:srgbClr>
            </a:solidFill>
            <a:prstDash val="solid"/>
          </a:ln>
        </p:spPr>
      </p:sp>
      <p:sp>
        <p:nvSpPr>
          <p:cNvPr id="80" name="Shape 78"/>
          <p:cNvSpPr/>
          <p:nvPr/>
        </p:nvSpPr>
        <p:spPr>
          <a:xfrm>
            <a:off x="9223096" y="6367516"/>
            <a:ext cx="219456" cy="0"/>
          </a:xfrm>
          <a:prstGeom prst="line">
            <a:avLst/>
          </a:prstGeom>
          <a:noFill/>
          <a:ln w="9525">
            <a:solidFill>
              <a:srgbClr val="C9A227">
                <a:alpha val="50000"/>
              </a:srgbClr>
            </a:solidFill>
            <a:prstDash val="solid"/>
          </a:ln>
        </p:spPr>
      </p:sp>
      <p:sp>
        <p:nvSpPr>
          <p:cNvPr id="81" name="Shape 79"/>
          <p:cNvSpPr/>
          <p:nvPr/>
        </p:nvSpPr>
        <p:spPr>
          <a:xfrm>
            <a:off x="9442552" y="6367516"/>
            <a:ext cx="0" cy="124724"/>
          </a:xfrm>
          <a:prstGeom prst="line">
            <a:avLst/>
          </a:prstGeom>
          <a:noFill/>
          <a:ln w="9525">
            <a:solidFill>
              <a:srgbClr val="C9A227">
                <a:alpha val="50000"/>
              </a:srgbClr>
            </a:solidFill>
            <a:prstDash val="solid"/>
          </a:ln>
        </p:spPr>
      </p:sp>
      <p:sp>
        <p:nvSpPr>
          <p:cNvPr id="82" name="Shape 80"/>
          <p:cNvSpPr/>
          <p:nvPr/>
        </p:nvSpPr>
        <p:spPr>
          <a:xfrm>
            <a:off x="9479128" y="6322162"/>
            <a:ext cx="0" cy="170078"/>
          </a:xfrm>
          <a:prstGeom prst="line">
            <a:avLst/>
          </a:prstGeom>
          <a:noFill/>
          <a:ln w="9525">
            <a:solidFill>
              <a:srgbClr val="C9A227">
                <a:alpha val="50000"/>
              </a:srgbClr>
            </a:solidFill>
            <a:prstDash val="solid"/>
          </a:ln>
        </p:spPr>
      </p:sp>
      <p:sp>
        <p:nvSpPr>
          <p:cNvPr id="83" name="Shape 81"/>
          <p:cNvSpPr/>
          <p:nvPr/>
        </p:nvSpPr>
        <p:spPr>
          <a:xfrm>
            <a:off x="9479128" y="6322162"/>
            <a:ext cx="237744" cy="0"/>
          </a:xfrm>
          <a:prstGeom prst="line">
            <a:avLst/>
          </a:prstGeom>
          <a:noFill/>
          <a:ln w="9525">
            <a:solidFill>
              <a:srgbClr val="C9A227">
                <a:alpha val="50000"/>
              </a:srgbClr>
            </a:solidFill>
            <a:prstDash val="solid"/>
          </a:ln>
        </p:spPr>
      </p:sp>
      <p:sp>
        <p:nvSpPr>
          <p:cNvPr id="84" name="Shape 82"/>
          <p:cNvSpPr/>
          <p:nvPr/>
        </p:nvSpPr>
        <p:spPr>
          <a:xfrm>
            <a:off x="9716872" y="6322162"/>
            <a:ext cx="0" cy="170078"/>
          </a:xfrm>
          <a:prstGeom prst="line">
            <a:avLst/>
          </a:prstGeom>
          <a:noFill/>
          <a:ln w="9525">
            <a:solidFill>
              <a:srgbClr val="C9A227">
                <a:alpha val="5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WHERE WE JUST WERE, AND WHERE WE ARE GOING</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Same coin. You just saw one side.</a:t>
            </a:r>
            <a:endParaRPr lang="en-US" sz="4000" dirty="0"/>
          </a:p>
        </p:txBody>
      </p:sp>
      <p:sp>
        <p:nvSpPr>
          <p:cNvPr id="11" name="Shape 9"/>
          <p:cNvSpPr/>
          <p:nvPr/>
        </p:nvSpPr>
        <p:spPr>
          <a:xfrm>
            <a:off x="2378050" y="2662123"/>
            <a:ext cx="1352093" cy="1352093"/>
          </a:xfrm>
          <a:prstGeom prst="ellipse">
            <a:avLst/>
          </a:prstGeom>
          <a:ln w="12700">
            <a:solidFill>
              <a:srgbClr val="C9A227"/>
            </a:solidFill>
            <a:prstDash val="solid"/>
          </a:ln>
        </p:spPr>
      </p:sp>
      <p:sp>
        <p:nvSpPr>
          <p:cNvPr id="12" name="Shape 10"/>
          <p:cNvSpPr/>
          <p:nvPr/>
        </p:nvSpPr>
        <p:spPr>
          <a:xfrm rot="2700000">
            <a:off x="3472697" y="2800697"/>
            <a:ext cx="118872" cy="118872"/>
          </a:xfrm>
          <a:prstGeom prst="triangle">
            <a:avLst/>
          </a:prstGeom>
          <a:solidFill>
            <a:srgbClr val="C9A227"/>
          </a:solidFill>
          <a:ln/>
        </p:spPr>
      </p:sp>
      <p:sp>
        <p:nvSpPr>
          <p:cNvPr id="13" name="Shape 11"/>
          <p:cNvSpPr/>
          <p:nvPr/>
        </p:nvSpPr>
        <p:spPr>
          <a:xfrm rot="8100000">
            <a:off x="3472697" y="3756771"/>
            <a:ext cx="118872" cy="118872"/>
          </a:xfrm>
          <a:prstGeom prst="triangle">
            <a:avLst/>
          </a:prstGeom>
          <a:solidFill>
            <a:srgbClr val="C9A227"/>
          </a:solidFill>
          <a:ln/>
        </p:spPr>
      </p:sp>
      <p:sp>
        <p:nvSpPr>
          <p:cNvPr id="14" name="Shape 12"/>
          <p:cNvSpPr/>
          <p:nvPr/>
        </p:nvSpPr>
        <p:spPr>
          <a:xfrm rot="13500000">
            <a:off x="2516623" y="3756771"/>
            <a:ext cx="118872" cy="118872"/>
          </a:xfrm>
          <a:prstGeom prst="triangle">
            <a:avLst/>
          </a:prstGeom>
          <a:solidFill>
            <a:srgbClr val="C9A227"/>
          </a:solidFill>
          <a:ln/>
        </p:spPr>
      </p:sp>
      <p:sp>
        <p:nvSpPr>
          <p:cNvPr id="15" name="Shape 13"/>
          <p:cNvSpPr/>
          <p:nvPr/>
        </p:nvSpPr>
        <p:spPr>
          <a:xfrm rot="18900000">
            <a:off x="2516623" y="2800697"/>
            <a:ext cx="118872" cy="118872"/>
          </a:xfrm>
          <a:prstGeom prst="triangle">
            <a:avLst/>
          </a:prstGeom>
          <a:solidFill>
            <a:srgbClr val="C9A227"/>
          </a:solidFill>
          <a:ln/>
        </p:spPr>
      </p:sp>
      <p:sp>
        <p:nvSpPr>
          <p:cNvPr id="16" name="Shape 14"/>
          <p:cNvSpPr/>
          <p:nvPr/>
        </p:nvSpPr>
        <p:spPr>
          <a:xfrm>
            <a:off x="2661989" y="2946063"/>
            <a:ext cx="784214" cy="784214"/>
          </a:xfrm>
          <a:prstGeom prst="ellipse">
            <a:avLst/>
          </a:prstGeom>
          <a:solidFill>
            <a:srgbClr val="1E808F"/>
          </a:solidFill>
          <a:ln/>
        </p:spPr>
      </p:sp>
      <p:sp>
        <p:nvSpPr>
          <p:cNvPr id="17" name="Text 15"/>
          <p:cNvSpPr/>
          <p:nvPr/>
        </p:nvSpPr>
        <p:spPr>
          <a:xfrm>
            <a:off x="2707709" y="3206090"/>
            <a:ext cx="692774" cy="264160"/>
          </a:xfrm>
          <a:prstGeom prst="rect">
            <a:avLst/>
          </a:prstGeom>
          <a:noFill/>
          <a:ln/>
        </p:spPr>
        <p:txBody>
          <a:bodyPr wrap="square" lIns="0" tIns="0" rIns="0" bIns="0" rtlCol="0" anchor="ctr"/>
          <a:lstStyle/>
          <a:p>
            <a:pPr algn="ctr" indent="0" marL="0">
              <a:lnSpc>
                <a:spcPct val="102000"/>
              </a:lnSpc>
              <a:buNone/>
            </a:pPr>
            <a:r>
              <a:rPr lang="en-US" sz="800" b="1" dirty="0">
                <a:solidFill>
                  <a:srgbClr val="FFFFFF"/>
                </a:solidFill>
                <a:latin typeface="Georgia" pitchFamily="34" charset="0"/>
                <a:ea typeface="Georgia" pitchFamily="34" charset="-122"/>
                <a:cs typeface="Georgia" pitchFamily="34" charset="-120"/>
              </a:rPr>
              <a:t>REVENUE</a:t>
            </a:r>
            <a:endParaRPr lang="en-US" sz="800" dirty="0"/>
          </a:p>
          <a:p>
            <a:pPr algn="ctr" indent="0" marL="0">
              <a:lnSpc>
                <a:spcPct val="102000"/>
              </a:lnSpc>
              <a:buNone/>
            </a:pPr>
            <a:r>
              <a:rPr lang="en-US" sz="800" b="1" dirty="0">
                <a:solidFill>
                  <a:srgbClr val="FFFFFF"/>
                </a:solidFill>
                <a:latin typeface="Georgia" pitchFamily="34" charset="0"/>
                <a:ea typeface="Georgia" pitchFamily="34" charset="-122"/>
                <a:cs typeface="Georgia" pitchFamily="34" charset="-120"/>
              </a:rPr>
              <a:t>GROWTH</a:t>
            </a:r>
            <a:endParaRPr lang="en-US" sz="800" dirty="0"/>
          </a:p>
        </p:txBody>
      </p:sp>
      <p:sp>
        <p:nvSpPr>
          <p:cNvPr id="18" name="Shape 16"/>
          <p:cNvSpPr/>
          <p:nvPr/>
        </p:nvSpPr>
        <p:spPr>
          <a:xfrm>
            <a:off x="2862072" y="2470099"/>
            <a:ext cx="384048" cy="384048"/>
          </a:xfrm>
          <a:prstGeom prst="ellipse">
            <a:avLst/>
          </a:prstGeom>
          <a:solidFill>
            <a:srgbClr val="F7F3EA"/>
          </a:solidFill>
          <a:ln w="12700">
            <a:solidFill>
              <a:srgbClr val="C9A227"/>
            </a:solidFill>
            <a:prstDash val="solid"/>
          </a:ln>
        </p:spPr>
      </p:sp>
      <p:sp>
        <p:nvSpPr>
          <p:cNvPr id="19" name="Text 17"/>
          <p:cNvSpPr/>
          <p:nvPr/>
        </p:nvSpPr>
        <p:spPr>
          <a:xfrm>
            <a:off x="2862072" y="2470099"/>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01</a:t>
            </a:r>
            <a:endParaRPr lang="en-US" sz="1200" dirty="0"/>
          </a:p>
        </p:txBody>
      </p:sp>
      <p:sp>
        <p:nvSpPr>
          <p:cNvPr id="20" name="Shape 18"/>
          <p:cNvSpPr/>
          <p:nvPr/>
        </p:nvSpPr>
        <p:spPr>
          <a:xfrm>
            <a:off x="3538118" y="3146146"/>
            <a:ext cx="384048" cy="384048"/>
          </a:xfrm>
          <a:prstGeom prst="ellipse">
            <a:avLst/>
          </a:prstGeom>
          <a:solidFill>
            <a:srgbClr val="F7F3EA"/>
          </a:solidFill>
          <a:ln w="12700">
            <a:solidFill>
              <a:srgbClr val="C9A227"/>
            </a:solidFill>
            <a:prstDash val="solid"/>
          </a:ln>
        </p:spPr>
      </p:sp>
      <p:sp>
        <p:nvSpPr>
          <p:cNvPr id="21" name="Text 19"/>
          <p:cNvSpPr/>
          <p:nvPr/>
        </p:nvSpPr>
        <p:spPr>
          <a:xfrm>
            <a:off x="3538118" y="3146146"/>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02</a:t>
            </a:r>
            <a:endParaRPr lang="en-US" sz="1200" dirty="0"/>
          </a:p>
        </p:txBody>
      </p:sp>
      <p:sp>
        <p:nvSpPr>
          <p:cNvPr id="22" name="Shape 20"/>
          <p:cNvSpPr/>
          <p:nvPr/>
        </p:nvSpPr>
        <p:spPr>
          <a:xfrm>
            <a:off x="2862072" y="3822192"/>
            <a:ext cx="384048" cy="384048"/>
          </a:xfrm>
          <a:prstGeom prst="ellipse">
            <a:avLst/>
          </a:prstGeom>
          <a:solidFill>
            <a:srgbClr val="F7F3EA"/>
          </a:solidFill>
          <a:ln w="12700">
            <a:solidFill>
              <a:srgbClr val="C9A227"/>
            </a:solidFill>
            <a:prstDash val="solid"/>
          </a:ln>
        </p:spPr>
      </p:sp>
      <p:sp>
        <p:nvSpPr>
          <p:cNvPr id="23" name="Text 21"/>
          <p:cNvSpPr/>
          <p:nvPr/>
        </p:nvSpPr>
        <p:spPr>
          <a:xfrm>
            <a:off x="2862072" y="3822192"/>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03</a:t>
            </a:r>
            <a:endParaRPr lang="en-US" sz="1200" dirty="0"/>
          </a:p>
        </p:txBody>
      </p:sp>
      <p:sp>
        <p:nvSpPr>
          <p:cNvPr id="24" name="Shape 22"/>
          <p:cNvSpPr/>
          <p:nvPr/>
        </p:nvSpPr>
        <p:spPr>
          <a:xfrm>
            <a:off x="2186026" y="3146146"/>
            <a:ext cx="384048" cy="384048"/>
          </a:xfrm>
          <a:prstGeom prst="ellipse">
            <a:avLst/>
          </a:prstGeom>
          <a:solidFill>
            <a:srgbClr val="F7F3EA"/>
          </a:solidFill>
          <a:ln w="12700">
            <a:solidFill>
              <a:srgbClr val="C9A227"/>
            </a:solidFill>
            <a:prstDash val="solid"/>
          </a:ln>
        </p:spPr>
      </p:sp>
      <p:sp>
        <p:nvSpPr>
          <p:cNvPr id="25" name="Text 23"/>
          <p:cNvSpPr/>
          <p:nvPr/>
        </p:nvSpPr>
        <p:spPr>
          <a:xfrm>
            <a:off x="2186026" y="3146146"/>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04</a:t>
            </a:r>
            <a:endParaRPr lang="en-US" sz="1200" dirty="0"/>
          </a:p>
        </p:txBody>
      </p:sp>
      <p:sp>
        <p:nvSpPr>
          <p:cNvPr id="26" name="Text 24"/>
          <p:cNvSpPr/>
          <p:nvPr/>
        </p:nvSpPr>
        <p:spPr>
          <a:xfrm>
            <a:off x="585216" y="4718304"/>
            <a:ext cx="4937760" cy="219456"/>
          </a:xfrm>
          <a:prstGeom prst="rect">
            <a:avLst/>
          </a:prstGeom>
          <a:noFill/>
          <a:ln/>
        </p:spPr>
        <p:txBody>
          <a:bodyPr wrap="square" lIns="0" tIns="0" rIns="0" bIns="0" rtlCol="0" anchor="ctr"/>
          <a:lstStyle/>
          <a:p>
            <a:pPr algn="ctr" indent="0" marL="0">
              <a:buNone/>
            </a:pPr>
            <a:r>
              <a:rPr lang="en-US" sz="900" b="1" spc="60" kern="0" dirty="0">
                <a:solidFill>
                  <a:srgbClr val="5A6379"/>
                </a:solidFill>
                <a:latin typeface="Arial" pitchFamily="34" charset="0"/>
                <a:ea typeface="Arial" pitchFamily="34" charset="-122"/>
                <a:cs typeface="Arial" pitchFamily="34" charset="-120"/>
              </a:rPr>
              <a:t>BOOKINGS · DATA · PERSONAL TRIPS · BOOKINGS</a:t>
            </a:r>
            <a:endParaRPr lang="en-US" sz="900" dirty="0"/>
          </a:p>
        </p:txBody>
      </p:sp>
      <p:sp>
        <p:nvSpPr>
          <p:cNvPr id="27" name="Text 25"/>
          <p:cNvSpPr/>
          <p:nvPr/>
        </p:nvSpPr>
        <p:spPr>
          <a:xfrm>
            <a:off x="6675120" y="4718304"/>
            <a:ext cx="4937760" cy="219456"/>
          </a:xfrm>
          <a:prstGeom prst="rect">
            <a:avLst/>
          </a:prstGeom>
          <a:noFill/>
          <a:ln/>
        </p:spPr>
        <p:txBody>
          <a:bodyPr wrap="square" lIns="0" tIns="0" rIns="0" bIns="0" rtlCol="0" anchor="ctr"/>
          <a:lstStyle/>
          <a:p>
            <a:pPr algn="ctr" indent="0" marL="0">
              <a:buNone/>
            </a:pPr>
            <a:r>
              <a:rPr lang="en-US" sz="900" b="1" spc="60" kern="0" dirty="0">
                <a:solidFill>
                  <a:srgbClr val="5A6379"/>
                </a:solidFill>
                <a:latin typeface="Arial" pitchFamily="34" charset="0"/>
                <a:ea typeface="Arial" pitchFamily="34" charset="-122"/>
                <a:cs typeface="Arial" pitchFamily="34" charset="-120"/>
              </a:rPr>
              <a:t>DOCUMENT · TEST · REVISE · OPERATE</a:t>
            </a:r>
            <a:endParaRPr lang="en-US" sz="900" dirty="0"/>
          </a:p>
        </p:txBody>
      </p:sp>
      <p:sp>
        <p:nvSpPr>
          <p:cNvPr id="28" name="Text 26"/>
          <p:cNvSpPr/>
          <p:nvPr/>
        </p:nvSpPr>
        <p:spPr>
          <a:xfrm>
            <a:off x="813816" y="1775155"/>
            <a:ext cx="4480560" cy="256032"/>
          </a:xfrm>
          <a:prstGeom prst="rect">
            <a:avLst/>
          </a:prstGeom>
          <a:noFill/>
          <a:ln/>
        </p:spPr>
        <p:txBody>
          <a:bodyPr wrap="square" lIns="0" tIns="0" rIns="0" bIns="0" rtlCol="0" anchor="ctr"/>
          <a:lstStyle/>
          <a:p>
            <a:pPr algn="ctr" indent="0" marL="0">
              <a:buNone/>
            </a:pPr>
            <a:r>
              <a:rPr lang="en-US" sz="1200" b="1" spc="160" kern="0" dirty="0">
                <a:solidFill>
                  <a:srgbClr val="8A6D14"/>
                </a:solidFill>
                <a:latin typeface="Arial" pitchFamily="34" charset="0"/>
                <a:ea typeface="Arial" pitchFamily="34" charset="-122"/>
                <a:cs typeface="Arial" pitchFamily="34" charset="-120"/>
              </a:rPr>
              <a:t>1:30   ·   THE STRATEGY FLYWHEEL</a:t>
            </a:r>
            <a:endParaRPr lang="en-US" sz="1200" dirty="0"/>
          </a:p>
        </p:txBody>
      </p:sp>
      <p:sp>
        <p:nvSpPr>
          <p:cNvPr id="29" name="Shape 27"/>
          <p:cNvSpPr/>
          <p:nvPr/>
        </p:nvSpPr>
        <p:spPr>
          <a:xfrm>
            <a:off x="8467954" y="2662123"/>
            <a:ext cx="1352093" cy="1352093"/>
          </a:xfrm>
          <a:prstGeom prst="ellipse">
            <a:avLst/>
          </a:prstGeom>
          <a:ln w="12700">
            <a:solidFill>
              <a:srgbClr val="C9A227"/>
            </a:solidFill>
            <a:prstDash val="solid"/>
          </a:ln>
        </p:spPr>
      </p:sp>
      <p:sp>
        <p:nvSpPr>
          <p:cNvPr id="30" name="Shape 28"/>
          <p:cNvSpPr/>
          <p:nvPr/>
        </p:nvSpPr>
        <p:spPr>
          <a:xfrm rot="2700000">
            <a:off x="9562601" y="2800697"/>
            <a:ext cx="118872" cy="118872"/>
          </a:xfrm>
          <a:prstGeom prst="triangle">
            <a:avLst/>
          </a:prstGeom>
          <a:solidFill>
            <a:srgbClr val="C9A227"/>
          </a:solidFill>
          <a:ln/>
        </p:spPr>
      </p:sp>
      <p:sp>
        <p:nvSpPr>
          <p:cNvPr id="31" name="Shape 29"/>
          <p:cNvSpPr/>
          <p:nvPr/>
        </p:nvSpPr>
        <p:spPr>
          <a:xfrm rot="8100000">
            <a:off x="9562601" y="3756771"/>
            <a:ext cx="118872" cy="118872"/>
          </a:xfrm>
          <a:prstGeom prst="triangle">
            <a:avLst/>
          </a:prstGeom>
          <a:solidFill>
            <a:srgbClr val="C9A227"/>
          </a:solidFill>
          <a:ln/>
        </p:spPr>
      </p:sp>
      <p:sp>
        <p:nvSpPr>
          <p:cNvPr id="32" name="Shape 30"/>
          <p:cNvSpPr/>
          <p:nvPr/>
        </p:nvSpPr>
        <p:spPr>
          <a:xfrm rot="13500000">
            <a:off x="8606527" y="3756771"/>
            <a:ext cx="118872" cy="118872"/>
          </a:xfrm>
          <a:prstGeom prst="triangle">
            <a:avLst/>
          </a:prstGeom>
          <a:solidFill>
            <a:srgbClr val="C9A227"/>
          </a:solidFill>
          <a:ln/>
        </p:spPr>
      </p:sp>
      <p:sp>
        <p:nvSpPr>
          <p:cNvPr id="33" name="Shape 31"/>
          <p:cNvSpPr/>
          <p:nvPr/>
        </p:nvSpPr>
        <p:spPr>
          <a:xfrm rot="18900000">
            <a:off x="8606527" y="2800697"/>
            <a:ext cx="118872" cy="118872"/>
          </a:xfrm>
          <a:prstGeom prst="triangle">
            <a:avLst/>
          </a:prstGeom>
          <a:solidFill>
            <a:srgbClr val="C9A227"/>
          </a:solidFill>
          <a:ln/>
        </p:spPr>
      </p:sp>
      <p:sp>
        <p:nvSpPr>
          <p:cNvPr id="34" name="Shape 32"/>
          <p:cNvSpPr/>
          <p:nvPr/>
        </p:nvSpPr>
        <p:spPr>
          <a:xfrm>
            <a:off x="8751893" y="2946063"/>
            <a:ext cx="784214" cy="784214"/>
          </a:xfrm>
          <a:prstGeom prst="ellipse">
            <a:avLst/>
          </a:prstGeom>
          <a:solidFill>
            <a:srgbClr val="A31621"/>
          </a:solidFill>
          <a:ln/>
        </p:spPr>
      </p:sp>
      <p:sp>
        <p:nvSpPr>
          <p:cNvPr id="35" name="Text 33"/>
          <p:cNvSpPr/>
          <p:nvPr/>
        </p:nvSpPr>
        <p:spPr>
          <a:xfrm>
            <a:off x="8797613" y="3206090"/>
            <a:ext cx="692774" cy="264160"/>
          </a:xfrm>
          <a:prstGeom prst="rect">
            <a:avLst/>
          </a:prstGeom>
          <a:noFill/>
          <a:ln/>
        </p:spPr>
        <p:txBody>
          <a:bodyPr wrap="square" lIns="0" tIns="0" rIns="0" bIns="0" rtlCol="0" anchor="ctr"/>
          <a:lstStyle/>
          <a:p>
            <a:pPr algn="ctr" indent="0" marL="0">
              <a:lnSpc>
                <a:spcPct val="102000"/>
              </a:lnSpc>
              <a:buNone/>
            </a:pPr>
            <a:r>
              <a:rPr lang="en-US" sz="800" b="1" dirty="0">
                <a:solidFill>
                  <a:srgbClr val="FFFFFF"/>
                </a:solidFill>
                <a:latin typeface="Georgia" pitchFamily="34" charset="0"/>
                <a:ea typeface="Georgia" pitchFamily="34" charset="-122"/>
                <a:cs typeface="Georgia" pitchFamily="34" charset="-120"/>
              </a:rPr>
              <a:t>THE</a:t>
            </a:r>
            <a:endParaRPr lang="en-US" sz="800" dirty="0"/>
          </a:p>
          <a:p>
            <a:pPr algn="ctr" indent="0" marL="0">
              <a:lnSpc>
                <a:spcPct val="102000"/>
              </a:lnSpc>
              <a:buNone/>
            </a:pPr>
            <a:r>
              <a:rPr lang="en-US" sz="800" b="1" dirty="0">
                <a:solidFill>
                  <a:srgbClr val="FFFFFF"/>
                </a:solidFill>
                <a:latin typeface="Georgia" pitchFamily="34" charset="0"/>
                <a:ea typeface="Georgia" pitchFamily="34" charset="-122"/>
                <a:cs typeface="Georgia" pitchFamily="34" charset="-120"/>
              </a:rPr>
              <a:t>DOCUMENT</a:t>
            </a:r>
            <a:endParaRPr lang="en-US" sz="800" dirty="0"/>
          </a:p>
        </p:txBody>
      </p:sp>
      <p:sp>
        <p:nvSpPr>
          <p:cNvPr id="36" name="Shape 34"/>
          <p:cNvSpPr/>
          <p:nvPr/>
        </p:nvSpPr>
        <p:spPr>
          <a:xfrm>
            <a:off x="8951976" y="2470099"/>
            <a:ext cx="384048" cy="384048"/>
          </a:xfrm>
          <a:prstGeom prst="ellipse">
            <a:avLst/>
          </a:prstGeom>
          <a:solidFill>
            <a:srgbClr val="F7F3EA"/>
          </a:solidFill>
          <a:ln w="12700">
            <a:solidFill>
              <a:srgbClr val="C9A227"/>
            </a:solidFill>
            <a:prstDash val="solid"/>
          </a:ln>
        </p:spPr>
      </p:sp>
      <p:sp>
        <p:nvSpPr>
          <p:cNvPr id="37" name="Text 35"/>
          <p:cNvSpPr/>
          <p:nvPr/>
        </p:nvSpPr>
        <p:spPr>
          <a:xfrm>
            <a:off x="8951976" y="2470099"/>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01</a:t>
            </a:r>
            <a:endParaRPr lang="en-US" sz="1200" dirty="0"/>
          </a:p>
        </p:txBody>
      </p:sp>
      <p:sp>
        <p:nvSpPr>
          <p:cNvPr id="38" name="Shape 36"/>
          <p:cNvSpPr/>
          <p:nvPr/>
        </p:nvSpPr>
        <p:spPr>
          <a:xfrm>
            <a:off x="9628022" y="3146146"/>
            <a:ext cx="384048" cy="384048"/>
          </a:xfrm>
          <a:prstGeom prst="ellipse">
            <a:avLst/>
          </a:prstGeom>
          <a:solidFill>
            <a:srgbClr val="F7F3EA"/>
          </a:solidFill>
          <a:ln w="12700">
            <a:solidFill>
              <a:srgbClr val="C9A227"/>
            </a:solidFill>
            <a:prstDash val="solid"/>
          </a:ln>
        </p:spPr>
      </p:sp>
      <p:sp>
        <p:nvSpPr>
          <p:cNvPr id="39" name="Text 37"/>
          <p:cNvSpPr/>
          <p:nvPr/>
        </p:nvSpPr>
        <p:spPr>
          <a:xfrm>
            <a:off x="9628022" y="3146146"/>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02</a:t>
            </a:r>
            <a:endParaRPr lang="en-US" sz="1200" dirty="0"/>
          </a:p>
        </p:txBody>
      </p:sp>
      <p:sp>
        <p:nvSpPr>
          <p:cNvPr id="40" name="Shape 38"/>
          <p:cNvSpPr/>
          <p:nvPr/>
        </p:nvSpPr>
        <p:spPr>
          <a:xfrm>
            <a:off x="8951976" y="3822192"/>
            <a:ext cx="384048" cy="384048"/>
          </a:xfrm>
          <a:prstGeom prst="ellipse">
            <a:avLst/>
          </a:prstGeom>
          <a:solidFill>
            <a:srgbClr val="F7F3EA"/>
          </a:solidFill>
          <a:ln w="12700">
            <a:solidFill>
              <a:srgbClr val="C9A227"/>
            </a:solidFill>
            <a:prstDash val="solid"/>
          </a:ln>
        </p:spPr>
      </p:sp>
      <p:sp>
        <p:nvSpPr>
          <p:cNvPr id="41" name="Text 39"/>
          <p:cNvSpPr/>
          <p:nvPr/>
        </p:nvSpPr>
        <p:spPr>
          <a:xfrm>
            <a:off x="8951976" y="3822192"/>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03</a:t>
            </a:r>
            <a:endParaRPr lang="en-US" sz="1200" dirty="0"/>
          </a:p>
        </p:txBody>
      </p:sp>
      <p:sp>
        <p:nvSpPr>
          <p:cNvPr id="42" name="Shape 40"/>
          <p:cNvSpPr/>
          <p:nvPr/>
        </p:nvSpPr>
        <p:spPr>
          <a:xfrm>
            <a:off x="8275930" y="3146146"/>
            <a:ext cx="384048" cy="384048"/>
          </a:xfrm>
          <a:prstGeom prst="ellipse">
            <a:avLst/>
          </a:prstGeom>
          <a:solidFill>
            <a:srgbClr val="F7F3EA"/>
          </a:solidFill>
          <a:ln w="12700">
            <a:solidFill>
              <a:srgbClr val="C9A227"/>
            </a:solidFill>
            <a:prstDash val="solid"/>
          </a:ln>
        </p:spPr>
      </p:sp>
      <p:sp>
        <p:nvSpPr>
          <p:cNvPr id="43" name="Text 41"/>
          <p:cNvSpPr/>
          <p:nvPr/>
        </p:nvSpPr>
        <p:spPr>
          <a:xfrm>
            <a:off x="8275930" y="3146146"/>
            <a:ext cx="384048" cy="38404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04</a:t>
            </a:r>
            <a:endParaRPr lang="en-US" sz="1200" dirty="0"/>
          </a:p>
        </p:txBody>
      </p:sp>
      <p:sp>
        <p:nvSpPr>
          <p:cNvPr id="44" name="Text 42"/>
          <p:cNvSpPr/>
          <p:nvPr/>
        </p:nvSpPr>
        <p:spPr>
          <a:xfrm>
            <a:off x="6903720" y="1775155"/>
            <a:ext cx="4480560" cy="256032"/>
          </a:xfrm>
          <a:prstGeom prst="rect">
            <a:avLst/>
          </a:prstGeom>
          <a:noFill/>
          <a:ln/>
        </p:spPr>
        <p:txBody>
          <a:bodyPr wrap="square" lIns="0" tIns="0" rIns="0" bIns="0" rtlCol="0" anchor="ctr"/>
          <a:lstStyle/>
          <a:p>
            <a:pPr algn="ctr" indent="0" marL="0">
              <a:buNone/>
            </a:pPr>
            <a:r>
              <a:rPr lang="en-US" sz="1200" b="1" spc="160" kern="0" dirty="0">
                <a:solidFill>
                  <a:srgbClr val="8A6D14"/>
                </a:solidFill>
                <a:latin typeface="Arial" pitchFamily="34" charset="0"/>
                <a:ea typeface="Arial" pitchFamily="34" charset="-122"/>
                <a:cs typeface="Arial" pitchFamily="34" charset="-120"/>
              </a:rPr>
              <a:t>2:40   ·   THE EXECUTION FLYWHEEL</a:t>
            </a:r>
            <a:endParaRPr lang="en-US" sz="1200" dirty="0"/>
          </a:p>
        </p:txBody>
      </p:sp>
      <p:sp>
        <p:nvSpPr>
          <p:cNvPr id="45" name="Shape 43"/>
          <p:cNvSpPr/>
          <p:nvPr/>
        </p:nvSpPr>
        <p:spPr>
          <a:xfrm rot="2700000">
            <a:off x="6046013" y="3008986"/>
            <a:ext cx="118872" cy="118872"/>
          </a:xfrm>
          <a:prstGeom prst="rect">
            <a:avLst/>
          </a:prstGeom>
          <a:solidFill>
            <a:srgbClr val="C9A227"/>
          </a:solidFill>
          <a:ln w="3175">
            <a:solidFill>
              <a:srgbClr val="C9A227"/>
            </a:solidFill>
            <a:prstDash val="solid"/>
          </a:ln>
        </p:spPr>
      </p:sp>
      <p:sp>
        <p:nvSpPr>
          <p:cNvPr id="46" name="Text 44"/>
          <p:cNvSpPr/>
          <p:nvPr/>
        </p:nvSpPr>
        <p:spPr>
          <a:xfrm>
            <a:off x="5367528" y="3283306"/>
            <a:ext cx="1463040" cy="256032"/>
          </a:xfrm>
          <a:prstGeom prst="rect">
            <a:avLst/>
          </a:prstGeom>
          <a:noFill/>
          <a:ln/>
        </p:spPr>
        <p:txBody>
          <a:bodyPr wrap="square" lIns="0" tIns="0" rIns="0" bIns="0" rtlCol="0" anchor="ctr"/>
          <a:lstStyle/>
          <a:p>
            <a:pPr algn="ctr" indent="0" marL="0">
              <a:buNone/>
            </a:pPr>
            <a:r>
              <a:rPr lang="en-US" sz="1400" b="1" spc="160" kern="0" dirty="0">
                <a:solidFill>
                  <a:srgbClr val="8A6D14"/>
                </a:solidFill>
                <a:latin typeface="Arial" pitchFamily="34" charset="0"/>
                <a:ea typeface="Arial" pitchFamily="34" charset="-122"/>
                <a:cs typeface="Arial" pitchFamily="34" charset="-120"/>
              </a:rPr>
              <a:t>ONE COIN</a:t>
            </a:r>
            <a:endParaRPr lang="en-US" sz="1400" dirty="0"/>
          </a:p>
        </p:txBody>
      </p:sp>
      <p:sp>
        <p:nvSpPr>
          <p:cNvPr id="47" name="Text 45"/>
          <p:cNvSpPr/>
          <p:nvPr/>
        </p:nvSpPr>
        <p:spPr>
          <a:xfrm>
            <a:off x="813816" y="5029200"/>
            <a:ext cx="10570464" cy="507492"/>
          </a:xfrm>
          <a:prstGeom prst="rect">
            <a:avLst/>
          </a:prstGeom>
          <a:noFill/>
          <a:ln/>
        </p:spPr>
        <p:txBody>
          <a:bodyPr wrap="square" lIns="0" tIns="0" rIns="0" bIns="0" rtlCol="0" anchor="t"/>
          <a:lstStyle/>
          <a:p>
            <a:pPr algn="ctr" indent="0" marL="0">
              <a:lnSpc>
                <a:spcPct val="116000"/>
              </a:lnSpc>
              <a:buNone/>
            </a:pPr>
            <a:r>
              <a:rPr lang="en-US" sz="1300" i="1" dirty="0">
                <a:solidFill>
                  <a:srgbClr val="5A6379"/>
                </a:solidFill>
                <a:latin typeface="Arial" pitchFamily="34" charset="0"/>
                <a:ea typeface="Arial" pitchFamily="34" charset="-122"/>
                <a:cs typeface="Arial" pitchFamily="34" charset="-120"/>
              </a:rPr>
              <a:t>SigCompass showed you where we are driving. This hour asks the same question a second time: how does knowledge move across a business? And it answers the promise we left open at 2:20, something that runs without anyone remembering to run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3</a:t>
            </a:r>
            <a:endParaRPr lang="en-US" sz="900" dirty="0"/>
          </a:p>
        </p:txBody>
      </p:sp>
      <p:sp>
        <p:nvSpPr>
          <p:cNvPr id="9" name="Text 7"/>
          <p:cNvSpPr/>
          <p:nvPr/>
        </p:nvSpPr>
        <p:spPr>
          <a:xfrm>
            <a:off x="1066648" y="1024128"/>
            <a:ext cx="10058400" cy="1464503"/>
          </a:xfrm>
          <a:prstGeom prst="rect">
            <a:avLst/>
          </a:prstGeom>
          <a:noFill/>
          <a:ln/>
        </p:spPr>
        <p:txBody>
          <a:bodyPr wrap="square" lIns="0" tIns="0" rIns="0" bIns="0" rtlCol="0" anchor="t"/>
          <a:lstStyle/>
          <a:p>
            <a:pPr algn="ctr" indent="0" marL="0">
              <a:buNone/>
            </a:pPr>
            <a:r>
              <a:rPr lang="en-US" sz="4200" b="1" dirty="0">
                <a:solidFill>
                  <a:srgbClr val="F7F3EA"/>
                </a:solidFill>
                <a:latin typeface="Georgia" pitchFamily="34" charset="0"/>
                <a:ea typeface="Georgia" pitchFamily="34" charset="-122"/>
                <a:cs typeface="Georgia" pitchFamily="34" charset="-120"/>
              </a:rPr>
              <a:t>AI only speeds up your current processes by 10x.</a:t>
            </a:r>
            <a:endParaRPr lang="en-US" sz="4200" dirty="0"/>
          </a:p>
        </p:txBody>
      </p:sp>
      <p:sp>
        <p:nvSpPr>
          <p:cNvPr id="10" name="Shape 8"/>
          <p:cNvSpPr/>
          <p:nvPr/>
        </p:nvSpPr>
        <p:spPr>
          <a:xfrm>
            <a:off x="2346808" y="2762951"/>
            <a:ext cx="7498080" cy="1060704"/>
          </a:xfrm>
          <a:prstGeom prst="rect">
            <a:avLst/>
          </a:prstGeom>
          <a:solidFill>
            <a:srgbClr val="2A3244"/>
          </a:solidFill>
          <a:ln/>
        </p:spPr>
      </p:sp>
      <p:sp>
        <p:nvSpPr>
          <p:cNvPr id="11" name="Text 9"/>
          <p:cNvSpPr/>
          <p:nvPr/>
        </p:nvSpPr>
        <p:spPr>
          <a:xfrm>
            <a:off x="2621128" y="2890967"/>
            <a:ext cx="3291840" cy="402336"/>
          </a:xfrm>
          <a:prstGeom prst="rect">
            <a:avLst/>
          </a:prstGeom>
          <a:noFill/>
          <a:ln/>
        </p:spPr>
        <p:txBody>
          <a:bodyPr wrap="square" lIns="0" tIns="0" rIns="0" bIns="0" rtlCol="0" anchor="ctr"/>
          <a:lstStyle/>
          <a:p>
            <a:pPr algn="r" indent="0" marL="0">
              <a:buNone/>
            </a:pPr>
            <a:r>
              <a:rPr lang="en-US" sz="2400" b="1" dirty="0">
                <a:solidFill>
                  <a:srgbClr val="AFA893"/>
                </a:solidFill>
                <a:latin typeface="Georgia" pitchFamily="34" charset="0"/>
                <a:ea typeface="Georgia" pitchFamily="34" charset="-122"/>
                <a:cs typeface="Georgia" pitchFamily="34" charset="-120"/>
              </a:rPr>
              <a:t>10x more confusion.</a:t>
            </a:r>
            <a:endParaRPr lang="en-US" sz="2400" dirty="0"/>
          </a:p>
        </p:txBody>
      </p:sp>
      <p:sp>
        <p:nvSpPr>
          <p:cNvPr id="12" name="Shape 10"/>
          <p:cNvSpPr/>
          <p:nvPr/>
        </p:nvSpPr>
        <p:spPr>
          <a:xfrm rot="2700000">
            <a:off x="6036412" y="3037271"/>
            <a:ext cx="118872" cy="118872"/>
          </a:xfrm>
          <a:prstGeom prst="rect">
            <a:avLst/>
          </a:prstGeom>
          <a:solidFill>
            <a:srgbClr val="C9A227"/>
          </a:solidFill>
          <a:ln w="3175">
            <a:solidFill>
              <a:srgbClr val="C9A227"/>
            </a:solidFill>
            <a:prstDash val="solid"/>
          </a:ln>
        </p:spPr>
      </p:sp>
      <p:sp>
        <p:nvSpPr>
          <p:cNvPr id="13" name="Text 11"/>
          <p:cNvSpPr/>
          <p:nvPr/>
        </p:nvSpPr>
        <p:spPr>
          <a:xfrm>
            <a:off x="6278728" y="2890967"/>
            <a:ext cx="3291840" cy="402336"/>
          </a:xfrm>
          <a:prstGeom prst="rect">
            <a:avLst/>
          </a:prstGeom>
          <a:noFill/>
          <a:ln/>
        </p:spPr>
        <p:txBody>
          <a:bodyPr wrap="square" lIns="0" tIns="0" rIns="0" bIns="0" rtlCol="0" anchor="ctr"/>
          <a:lstStyle/>
          <a:p>
            <a:pPr algn="l" indent="0" marL="0">
              <a:buNone/>
            </a:pPr>
            <a:r>
              <a:rPr lang="en-US" sz="2400" b="1" dirty="0">
                <a:solidFill>
                  <a:srgbClr val="E7C766"/>
                </a:solidFill>
                <a:latin typeface="Georgia" pitchFamily="34" charset="0"/>
                <a:ea typeface="Georgia" pitchFamily="34" charset="-122"/>
                <a:cs typeface="Georgia" pitchFamily="34" charset="-120"/>
              </a:rPr>
              <a:t>10x more alignment.</a:t>
            </a:r>
            <a:endParaRPr lang="en-US" sz="2400" dirty="0"/>
          </a:p>
        </p:txBody>
      </p:sp>
      <p:sp>
        <p:nvSpPr>
          <p:cNvPr id="14" name="Text 12"/>
          <p:cNvSpPr/>
          <p:nvPr/>
        </p:nvSpPr>
        <p:spPr>
          <a:xfrm>
            <a:off x="2621128" y="3348167"/>
            <a:ext cx="6949440" cy="310896"/>
          </a:xfrm>
          <a:prstGeom prst="rect">
            <a:avLst/>
          </a:prstGeom>
          <a:noFill/>
          <a:ln/>
        </p:spPr>
        <p:txBody>
          <a:bodyPr wrap="square" lIns="0" tIns="0" rIns="0" bIns="0" rtlCol="0" anchor="ctr"/>
          <a:lstStyle/>
          <a:p>
            <a:pPr algn="ctr" indent="0" marL="0">
              <a:buNone/>
            </a:pPr>
            <a:r>
              <a:rPr lang="en-US" sz="1300" i="1" dirty="0">
                <a:solidFill>
                  <a:srgbClr val="AFA893"/>
                </a:solidFill>
                <a:latin typeface="Arial" pitchFamily="34" charset="0"/>
                <a:ea typeface="Arial" pitchFamily="34" charset="-122"/>
                <a:cs typeface="Arial" pitchFamily="34" charset="-120"/>
              </a:rPr>
              <a:t>Today is an argument for the second one.</a:t>
            </a:r>
            <a:endParaRPr lang="en-US" sz="1300" dirty="0"/>
          </a:p>
        </p:txBody>
      </p:sp>
      <p:sp>
        <p:nvSpPr>
          <p:cNvPr id="15" name="Text 13"/>
          <p:cNvSpPr/>
          <p:nvPr/>
        </p:nvSpPr>
        <p:spPr>
          <a:xfrm>
            <a:off x="1432408" y="4024823"/>
            <a:ext cx="9326880" cy="811530"/>
          </a:xfrm>
          <a:prstGeom prst="rect">
            <a:avLst/>
          </a:prstGeom>
          <a:noFill/>
          <a:ln/>
        </p:spPr>
        <p:txBody>
          <a:bodyPr wrap="square" lIns="0" tIns="0" rIns="0" bIns="0" rtlCol="0" anchor="t"/>
          <a:lstStyle/>
          <a:p>
            <a:pPr algn="ctr" indent="0" marL="0">
              <a:lnSpc>
                <a:spcPct val="116000"/>
              </a:lnSpc>
              <a:buNone/>
            </a:pPr>
            <a:r>
              <a:rPr lang="en-US" sz="1500" dirty="0">
                <a:solidFill>
                  <a:srgbClr val="F7F3EA"/>
                </a:solidFill>
                <a:latin typeface="Arial" pitchFamily="34" charset="0"/>
                <a:ea typeface="Arial" pitchFamily="34" charset="-122"/>
                <a:cs typeface="Arial" pitchFamily="34" charset="-120"/>
              </a:rPr>
              <a:t>We are all learning to play doubles, and the balls just started coming a lot faster. The answer is not more creative plays. It is more basic ones. Emails. Numbers. Percentages. Knowing the same simple things at the same time, and acting on them together.</a:t>
            </a:r>
            <a:endParaRPr lang="en-US" sz="1500" dirty="0"/>
          </a:p>
        </p:txBody>
      </p:sp>
      <p:sp>
        <p:nvSpPr>
          <p:cNvPr id="16" name="Text 14"/>
          <p:cNvSpPr/>
          <p:nvPr/>
        </p:nvSpPr>
        <p:spPr>
          <a:xfrm>
            <a:off x="813816" y="5296662"/>
            <a:ext cx="10570464" cy="299466"/>
          </a:xfrm>
          <a:prstGeom prst="rect">
            <a:avLst/>
          </a:prstGeom>
          <a:noFill/>
          <a:ln/>
        </p:spPr>
        <p:txBody>
          <a:bodyPr wrap="square" lIns="0" tIns="0" rIns="0" bIns="0" rtlCol="0" anchor="t"/>
          <a:lstStyle/>
          <a:p>
            <a:pPr algn="ctr" indent="0" marL="0">
              <a:lnSpc>
                <a:spcPct val="116000"/>
              </a:lnSpc>
              <a:buNone/>
            </a:pPr>
            <a:r>
              <a:rPr lang="en-US" sz="1300" b="1" dirty="0">
                <a:solidFill>
                  <a:srgbClr val="E7C766"/>
                </a:solidFill>
                <a:latin typeface="Arial" pitchFamily="34" charset="0"/>
                <a:ea typeface="Arial" pitchFamily="34" charset="-122"/>
                <a:cs typeface="Arial" pitchFamily="34" charset="-120"/>
              </a:rPr>
              <a:t>Reading the cockpit together is a fundamental. Bounce pass. Score. Then we get fancy.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4</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HOW A NINE-FIGURE BUSINESS LINE ACTUALLY RUNS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Amazon won on documents.</a:t>
            </a:r>
            <a:endParaRPr lang="en-US" sz="4000" dirty="0"/>
          </a:p>
        </p:txBody>
      </p:sp>
      <p:sp>
        <p:nvSpPr>
          <p:cNvPr id="11" name="Shape 9"/>
          <p:cNvSpPr/>
          <p:nvPr/>
        </p:nvSpPr>
        <p:spPr>
          <a:xfrm>
            <a:off x="2844394" y="2424379"/>
            <a:ext cx="1809293" cy="1809293"/>
          </a:xfrm>
          <a:prstGeom prst="ellipse">
            <a:avLst/>
          </a:prstGeom>
          <a:ln w="12700">
            <a:solidFill>
              <a:srgbClr val="C9A227"/>
            </a:solidFill>
            <a:prstDash val="solid"/>
          </a:ln>
        </p:spPr>
      </p:sp>
      <p:sp>
        <p:nvSpPr>
          <p:cNvPr id="12" name="Shape 10"/>
          <p:cNvSpPr/>
          <p:nvPr/>
        </p:nvSpPr>
        <p:spPr>
          <a:xfrm rot="2700000">
            <a:off x="4329286" y="2629908"/>
            <a:ext cx="118872" cy="118872"/>
          </a:xfrm>
          <a:prstGeom prst="triangle">
            <a:avLst/>
          </a:prstGeom>
          <a:solidFill>
            <a:srgbClr val="C9A227"/>
          </a:solidFill>
          <a:ln/>
        </p:spPr>
      </p:sp>
      <p:sp>
        <p:nvSpPr>
          <p:cNvPr id="13" name="Shape 11"/>
          <p:cNvSpPr/>
          <p:nvPr/>
        </p:nvSpPr>
        <p:spPr>
          <a:xfrm rot="8100000">
            <a:off x="4329286" y="3909271"/>
            <a:ext cx="118872" cy="118872"/>
          </a:xfrm>
          <a:prstGeom prst="triangle">
            <a:avLst/>
          </a:prstGeom>
          <a:solidFill>
            <a:srgbClr val="C9A227"/>
          </a:solidFill>
          <a:ln/>
        </p:spPr>
      </p:sp>
      <p:sp>
        <p:nvSpPr>
          <p:cNvPr id="14" name="Shape 12"/>
          <p:cNvSpPr/>
          <p:nvPr/>
        </p:nvSpPr>
        <p:spPr>
          <a:xfrm rot="13500000">
            <a:off x="3049922" y="3909271"/>
            <a:ext cx="118872" cy="118872"/>
          </a:xfrm>
          <a:prstGeom prst="triangle">
            <a:avLst/>
          </a:prstGeom>
          <a:solidFill>
            <a:srgbClr val="C9A227"/>
          </a:solidFill>
          <a:ln/>
        </p:spPr>
      </p:sp>
      <p:sp>
        <p:nvSpPr>
          <p:cNvPr id="15" name="Shape 13"/>
          <p:cNvSpPr/>
          <p:nvPr/>
        </p:nvSpPr>
        <p:spPr>
          <a:xfrm rot="18900000">
            <a:off x="3049922" y="2629908"/>
            <a:ext cx="118872" cy="118872"/>
          </a:xfrm>
          <a:prstGeom prst="triangle">
            <a:avLst/>
          </a:prstGeom>
          <a:solidFill>
            <a:srgbClr val="C9A227"/>
          </a:solidFill>
          <a:ln/>
        </p:spPr>
      </p:sp>
      <p:sp>
        <p:nvSpPr>
          <p:cNvPr id="16" name="Shape 14"/>
          <p:cNvSpPr/>
          <p:nvPr/>
        </p:nvSpPr>
        <p:spPr>
          <a:xfrm>
            <a:off x="3224345" y="2804331"/>
            <a:ext cx="1049390" cy="1049390"/>
          </a:xfrm>
          <a:prstGeom prst="ellipse">
            <a:avLst/>
          </a:prstGeom>
          <a:solidFill>
            <a:srgbClr val="F7F3EA"/>
          </a:solidFill>
          <a:ln/>
        </p:spPr>
      </p:sp>
      <p:sp>
        <p:nvSpPr>
          <p:cNvPr id="17" name="Text 15"/>
          <p:cNvSpPr/>
          <p:nvPr/>
        </p:nvSpPr>
        <p:spPr>
          <a:xfrm>
            <a:off x="3270065" y="3163926"/>
            <a:ext cx="957950" cy="330200"/>
          </a:xfrm>
          <a:prstGeom prst="rect">
            <a:avLst/>
          </a:prstGeom>
          <a:noFill/>
          <a:ln/>
        </p:spPr>
        <p:txBody>
          <a:bodyPr wrap="square" lIns="0" tIns="0" rIns="0" bIns="0" rtlCol="0" anchor="ctr"/>
          <a:lstStyle/>
          <a:p>
            <a:pPr algn="ctr" indent="0" marL="0">
              <a:lnSpc>
                <a:spcPct val="102000"/>
              </a:lnSpc>
              <a:buNone/>
            </a:pPr>
            <a:r>
              <a:rPr lang="en-US" sz="1000" b="1" dirty="0">
                <a:solidFill>
                  <a:srgbClr val="14213D"/>
                </a:solidFill>
                <a:latin typeface="Georgia" pitchFamily="34" charset="0"/>
                <a:ea typeface="Georgia" pitchFamily="34" charset="-122"/>
                <a:cs typeface="Georgia" pitchFamily="34" charset="-120"/>
              </a:rPr>
              <a:t>THE</a:t>
            </a:r>
            <a:endParaRPr lang="en-US" sz="1000" dirty="0"/>
          </a:p>
          <a:p>
            <a:pPr algn="ctr" indent="0" marL="0">
              <a:lnSpc>
                <a:spcPct val="102000"/>
              </a:lnSpc>
              <a:buNone/>
            </a:pPr>
            <a:r>
              <a:rPr lang="en-US" sz="1000" b="1" dirty="0">
                <a:solidFill>
                  <a:srgbClr val="14213D"/>
                </a:solidFill>
                <a:latin typeface="Georgia" pitchFamily="34" charset="0"/>
                <a:ea typeface="Georgia" pitchFamily="34" charset="-122"/>
                <a:cs typeface="Georgia" pitchFamily="34" charset="-120"/>
              </a:rPr>
              <a:t>DOCUMENT</a:t>
            </a:r>
            <a:endParaRPr lang="en-US" sz="1000" dirty="0"/>
          </a:p>
        </p:txBody>
      </p:sp>
      <p:sp>
        <p:nvSpPr>
          <p:cNvPr id="18" name="Shape 16"/>
          <p:cNvSpPr/>
          <p:nvPr/>
        </p:nvSpPr>
        <p:spPr>
          <a:xfrm>
            <a:off x="3465576" y="2140915"/>
            <a:ext cx="566928" cy="566928"/>
          </a:xfrm>
          <a:prstGeom prst="ellipse">
            <a:avLst/>
          </a:prstGeom>
          <a:solidFill>
            <a:srgbClr val="14213D"/>
          </a:solidFill>
          <a:ln w="12700">
            <a:solidFill>
              <a:srgbClr val="C9A227"/>
            </a:solidFill>
            <a:prstDash val="solid"/>
          </a:ln>
        </p:spPr>
      </p:sp>
      <p:sp>
        <p:nvSpPr>
          <p:cNvPr id="19" name="Text 17"/>
          <p:cNvSpPr/>
          <p:nvPr/>
        </p:nvSpPr>
        <p:spPr>
          <a:xfrm>
            <a:off x="3465576" y="2140915"/>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01</a:t>
            </a:r>
            <a:endParaRPr lang="en-US" sz="1200" dirty="0"/>
          </a:p>
        </p:txBody>
      </p:sp>
      <p:sp>
        <p:nvSpPr>
          <p:cNvPr id="20" name="Text 18"/>
          <p:cNvSpPr/>
          <p:nvPr/>
        </p:nvSpPr>
        <p:spPr>
          <a:xfrm>
            <a:off x="2962656" y="1816303"/>
            <a:ext cx="1572768" cy="251460"/>
          </a:xfrm>
          <a:prstGeom prst="rect">
            <a:avLst/>
          </a:prstGeom>
          <a:noFill/>
          <a:ln/>
        </p:spPr>
        <p:txBody>
          <a:bodyPr wrap="square" lIns="0" tIns="0" rIns="0" bIns="0" rtlCol="0" anchor="ctr"/>
          <a:lstStyle/>
          <a:p>
            <a:pPr algn="ctr" indent="0" marL="0">
              <a:buNone/>
            </a:pPr>
            <a:r>
              <a:rPr lang="en-US" sz="1000" b="1" spc="120" kern="0" dirty="0">
                <a:solidFill>
                  <a:srgbClr val="E7C766"/>
                </a:solidFill>
                <a:latin typeface="Arial" pitchFamily="34" charset="0"/>
                <a:ea typeface="Arial" pitchFamily="34" charset="-122"/>
                <a:cs typeface="Arial" pitchFamily="34" charset="-120"/>
              </a:rPr>
              <a:t>DOCUMENT</a:t>
            </a:r>
            <a:endParaRPr lang="en-US" sz="1000" dirty="0"/>
          </a:p>
        </p:txBody>
      </p:sp>
      <p:sp>
        <p:nvSpPr>
          <p:cNvPr id="21" name="Shape 19"/>
          <p:cNvSpPr/>
          <p:nvPr/>
        </p:nvSpPr>
        <p:spPr>
          <a:xfrm>
            <a:off x="4370222" y="3045562"/>
            <a:ext cx="566928" cy="566928"/>
          </a:xfrm>
          <a:prstGeom prst="ellipse">
            <a:avLst/>
          </a:prstGeom>
          <a:solidFill>
            <a:srgbClr val="14213D"/>
          </a:solidFill>
          <a:ln w="12700">
            <a:solidFill>
              <a:srgbClr val="C9A227"/>
            </a:solidFill>
            <a:prstDash val="solid"/>
          </a:ln>
        </p:spPr>
      </p:sp>
      <p:sp>
        <p:nvSpPr>
          <p:cNvPr id="22" name="Text 20"/>
          <p:cNvSpPr/>
          <p:nvPr/>
        </p:nvSpPr>
        <p:spPr>
          <a:xfrm>
            <a:off x="4370222" y="3045562"/>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02</a:t>
            </a:r>
            <a:endParaRPr lang="en-US" sz="1200" dirty="0"/>
          </a:p>
        </p:txBody>
      </p:sp>
      <p:sp>
        <p:nvSpPr>
          <p:cNvPr id="23" name="Text 21"/>
          <p:cNvSpPr/>
          <p:nvPr/>
        </p:nvSpPr>
        <p:spPr>
          <a:xfrm>
            <a:off x="5065166" y="3203296"/>
            <a:ext cx="640080" cy="251460"/>
          </a:xfrm>
          <a:prstGeom prst="rect">
            <a:avLst/>
          </a:prstGeom>
          <a:noFill/>
          <a:ln/>
        </p:spPr>
        <p:txBody>
          <a:bodyPr wrap="square" lIns="0" tIns="0" rIns="0" bIns="0" rtlCol="0" anchor="ctr"/>
          <a:lstStyle/>
          <a:p>
            <a:pPr algn="l" indent="0" marL="0">
              <a:buNone/>
            </a:pPr>
            <a:r>
              <a:rPr lang="en-US" sz="1000" b="1" spc="120" kern="0" dirty="0">
                <a:solidFill>
                  <a:srgbClr val="E7C766"/>
                </a:solidFill>
                <a:latin typeface="Arial" pitchFamily="34" charset="0"/>
                <a:ea typeface="Arial" pitchFamily="34" charset="-122"/>
                <a:cs typeface="Arial" pitchFamily="34" charset="-120"/>
              </a:rPr>
              <a:t>TEST</a:t>
            </a:r>
            <a:endParaRPr lang="en-US" sz="1000" dirty="0"/>
          </a:p>
        </p:txBody>
      </p:sp>
      <p:sp>
        <p:nvSpPr>
          <p:cNvPr id="24" name="Shape 22"/>
          <p:cNvSpPr/>
          <p:nvPr/>
        </p:nvSpPr>
        <p:spPr>
          <a:xfrm>
            <a:off x="3465576" y="3950208"/>
            <a:ext cx="566928" cy="566928"/>
          </a:xfrm>
          <a:prstGeom prst="ellipse">
            <a:avLst/>
          </a:prstGeom>
          <a:solidFill>
            <a:srgbClr val="14213D"/>
          </a:solidFill>
          <a:ln w="12700">
            <a:solidFill>
              <a:srgbClr val="C9A227"/>
            </a:solidFill>
            <a:prstDash val="solid"/>
          </a:ln>
        </p:spPr>
      </p:sp>
      <p:sp>
        <p:nvSpPr>
          <p:cNvPr id="25" name="Text 23"/>
          <p:cNvSpPr/>
          <p:nvPr/>
        </p:nvSpPr>
        <p:spPr>
          <a:xfrm>
            <a:off x="3465576" y="3950208"/>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03</a:t>
            </a:r>
            <a:endParaRPr lang="en-US" sz="1200" dirty="0"/>
          </a:p>
        </p:txBody>
      </p:sp>
      <p:sp>
        <p:nvSpPr>
          <p:cNvPr id="26" name="Text 24"/>
          <p:cNvSpPr/>
          <p:nvPr/>
        </p:nvSpPr>
        <p:spPr>
          <a:xfrm>
            <a:off x="2962656" y="4590288"/>
            <a:ext cx="1572768" cy="251460"/>
          </a:xfrm>
          <a:prstGeom prst="rect">
            <a:avLst/>
          </a:prstGeom>
          <a:noFill/>
          <a:ln/>
        </p:spPr>
        <p:txBody>
          <a:bodyPr wrap="square" lIns="0" tIns="0" rIns="0" bIns="0" rtlCol="0" anchor="ctr"/>
          <a:lstStyle/>
          <a:p>
            <a:pPr algn="ctr" indent="0" marL="0">
              <a:buNone/>
            </a:pPr>
            <a:r>
              <a:rPr lang="en-US" sz="1000" b="1" spc="120" kern="0" dirty="0">
                <a:solidFill>
                  <a:srgbClr val="E7C766"/>
                </a:solidFill>
                <a:latin typeface="Arial" pitchFamily="34" charset="0"/>
                <a:ea typeface="Arial" pitchFamily="34" charset="-122"/>
                <a:cs typeface="Arial" pitchFamily="34" charset="-120"/>
              </a:rPr>
              <a:t>REVISE</a:t>
            </a:r>
            <a:endParaRPr lang="en-US" sz="1000" dirty="0"/>
          </a:p>
        </p:txBody>
      </p:sp>
      <p:sp>
        <p:nvSpPr>
          <p:cNvPr id="27" name="Shape 25"/>
          <p:cNvSpPr/>
          <p:nvPr/>
        </p:nvSpPr>
        <p:spPr>
          <a:xfrm>
            <a:off x="2560930" y="3045562"/>
            <a:ext cx="566928" cy="566928"/>
          </a:xfrm>
          <a:prstGeom prst="ellipse">
            <a:avLst/>
          </a:prstGeom>
          <a:solidFill>
            <a:srgbClr val="14213D"/>
          </a:solidFill>
          <a:ln w="12700">
            <a:solidFill>
              <a:srgbClr val="C9A227"/>
            </a:solidFill>
            <a:prstDash val="solid"/>
          </a:ln>
        </p:spPr>
      </p:sp>
      <p:sp>
        <p:nvSpPr>
          <p:cNvPr id="28" name="Text 26"/>
          <p:cNvSpPr/>
          <p:nvPr/>
        </p:nvSpPr>
        <p:spPr>
          <a:xfrm>
            <a:off x="2560930" y="3045562"/>
            <a:ext cx="566928" cy="566928"/>
          </a:xfrm>
          <a:prstGeom prst="rect">
            <a:avLst/>
          </a:prstGeom>
          <a:noFill/>
          <a:ln/>
        </p:spPr>
        <p:txBody>
          <a:bodyPr wrap="square" lIns="0" tIns="0" rIns="0" bIns="0" rtlCol="0" anchor="ctr"/>
          <a:lstStyle/>
          <a:p>
            <a:pPr algn="ctr" indent="0" marL="0">
              <a:buNone/>
            </a:pPr>
            <a:r>
              <a:rPr lang="en-US" sz="1200" b="1" dirty="0">
                <a:solidFill>
                  <a:srgbClr val="E7C766"/>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1576426" y="3203296"/>
            <a:ext cx="856488" cy="251460"/>
          </a:xfrm>
          <a:prstGeom prst="rect">
            <a:avLst/>
          </a:prstGeom>
          <a:noFill/>
          <a:ln/>
        </p:spPr>
        <p:txBody>
          <a:bodyPr wrap="square" lIns="0" tIns="0" rIns="0" bIns="0" rtlCol="0" anchor="ctr"/>
          <a:lstStyle/>
          <a:p>
            <a:pPr algn="r" indent="0" marL="0">
              <a:buNone/>
            </a:pPr>
            <a:r>
              <a:rPr lang="en-US" sz="1000" b="1" spc="120" kern="0" dirty="0">
                <a:solidFill>
                  <a:srgbClr val="E7C766"/>
                </a:solidFill>
                <a:latin typeface="Arial" pitchFamily="34" charset="0"/>
                <a:ea typeface="Arial" pitchFamily="34" charset="-122"/>
                <a:cs typeface="Arial" pitchFamily="34" charset="-120"/>
              </a:rPr>
              <a:t>OPERATE</a:t>
            </a:r>
            <a:endParaRPr lang="en-US" sz="1000" dirty="0"/>
          </a:p>
        </p:txBody>
      </p:sp>
      <p:sp>
        <p:nvSpPr>
          <p:cNvPr id="30" name="Text 28"/>
          <p:cNvSpPr/>
          <p:nvPr/>
        </p:nvSpPr>
        <p:spPr>
          <a:xfrm>
            <a:off x="6903720" y="1793443"/>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01  </a:t>
            </a:r>
            <a:pPr indent="0" marL="0">
              <a:buNone/>
            </a:pPr>
            <a:r>
              <a:rPr lang="en-US" sz="1300" b="1" spc="100" kern="0" dirty="0">
                <a:solidFill>
                  <a:srgbClr val="F7F3EA"/>
                </a:solidFill>
                <a:latin typeface="Arial" pitchFamily="34" charset="0"/>
                <a:ea typeface="Arial" pitchFamily="34" charset="-122"/>
                <a:cs typeface="Arial" pitchFamily="34" charset="-120"/>
              </a:rPr>
              <a:t>DOCUMENT</a:t>
            </a:r>
            <a:endParaRPr lang="en-US" sz="1300" dirty="0"/>
          </a:p>
        </p:txBody>
      </p:sp>
      <p:sp>
        <p:nvSpPr>
          <p:cNvPr id="31" name="Text 29"/>
          <p:cNvSpPr/>
          <p:nvPr/>
        </p:nvSpPr>
        <p:spPr>
          <a:xfrm>
            <a:off x="6903720" y="2111197"/>
            <a:ext cx="4480560" cy="475488"/>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One person writes down what they know. Prose, not slides.</a:t>
            </a:r>
            <a:endParaRPr lang="en-US" sz="1200" dirty="0"/>
          </a:p>
        </p:txBody>
      </p:sp>
      <p:sp>
        <p:nvSpPr>
          <p:cNvPr id="32" name="Text 30"/>
          <p:cNvSpPr/>
          <p:nvPr/>
        </p:nvSpPr>
        <p:spPr>
          <a:xfrm>
            <a:off x="6903720" y="2732989"/>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02  </a:t>
            </a:r>
            <a:pPr indent="0" marL="0">
              <a:buNone/>
            </a:pPr>
            <a:r>
              <a:rPr lang="en-US" sz="1300" b="1" spc="100" kern="0" dirty="0">
                <a:solidFill>
                  <a:srgbClr val="F7F3EA"/>
                </a:solidFill>
                <a:latin typeface="Arial" pitchFamily="34" charset="0"/>
                <a:ea typeface="Arial" pitchFamily="34" charset="-122"/>
                <a:cs typeface="Arial" pitchFamily="34" charset="-120"/>
              </a:rPr>
              <a:t>TEST</a:t>
            </a:r>
            <a:endParaRPr lang="en-US" sz="1300" dirty="0"/>
          </a:p>
        </p:txBody>
      </p:sp>
      <p:sp>
        <p:nvSpPr>
          <p:cNvPr id="33" name="Text 31"/>
          <p:cNvSpPr/>
          <p:nvPr/>
        </p:nvSpPr>
        <p:spPr>
          <a:xfrm>
            <a:off x="6903720" y="3050743"/>
            <a:ext cx="4480560" cy="475488"/>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The room reads in silence and attacks the document, not the person.</a:t>
            </a:r>
            <a:endParaRPr lang="en-US" sz="1200" dirty="0"/>
          </a:p>
        </p:txBody>
      </p:sp>
      <p:sp>
        <p:nvSpPr>
          <p:cNvPr id="34" name="Text 32"/>
          <p:cNvSpPr/>
          <p:nvPr/>
        </p:nvSpPr>
        <p:spPr>
          <a:xfrm>
            <a:off x="6903720" y="3672535"/>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03  </a:t>
            </a:r>
            <a:pPr indent="0" marL="0">
              <a:buNone/>
            </a:pPr>
            <a:r>
              <a:rPr lang="en-US" sz="1300" b="1" spc="100" kern="0" dirty="0">
                <a:solidFill>
                  <a:srgbClr val="F7F3EA"/>
                </a:solidFill>
                <a:latin typeface="Arial" pitchFamily="34" charset="0"/>
                <a:ea typeface="Arial" pitchFamily="34" charset="-122"/>
                <a:cs typeface="Arial" pitchFamily="34" charset="-120"/>
              </a:rPr>
              <a:t>REVISE</a:t>
            </a:r>
            <a:endParaRPr lang="en-US" sz="1300" dirty="0"/>
          </a:p>
        </p:txBody>
      </p:sp>
      <p:sp>
        <p:nvSpPr>
          <p:cNvPr id="35" name="Text 33"/>
          <p:cNvSpPr/>
          <p:nvPr/>
        </p:nvSpPr>
        <p:spPr>
          <a:xfrm>
            <a:off x="6903720" y="3990289"/>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It absorbs the debate. The writing is the thinking.</a:t>
            </a:r>
            <a:endParaRPr lang="en-US" sz="1200" dirty="0"/>
          </a:p>
        </p:txBody>
      </p:sp>
      <p:sp>
        <p:nvSpPr>
          <p:cNvPr id="36" name="Text 34"/>
          <p:cNvSpPr/>
          <p:nvPr/>
        </p:nvSpPr>
        <p:spPr>
          <a:xfrm>
            <a:off x="6903720" y="4420057"/>
            <a:ext cx="4480560" cy="299466"/>
          </a:xfrm>
          <a:prstGeom prst="rect">
            <a:avLst/>
          </a:prstGeom>
          <a:noFill/>
          <a:ln/>
        </p:spPr>
        <p:txBody>
          <a:bodyPr wrap="square" lIns="0" tIns="0" rIns="0" bIns="0" rtlCol="0" anchor="t"/>
          <a:lstStyle/>
          <a:p>
            <a:pPr indent="0" marL="0">
              <a:buNone/>
            </a:pPr>
            <a:r>
              <a:rPr lang="en-US" sz="1300" b="1" dirty="0">
                <a:solidFill>
                  <a:srgbClr val="E7C766"/>
                </a:solidFill>
                <a:latin typeface="Arial" pitchFamily="34" charset="0"/>
                <a:ea typeface="Arial" pitchFamily="34" charset="-122"/>
                <a:cs typeface="Arial" pitchFamily="34" charset="-120"/>
              </a:rPr>
              <a:t>04  </a:t>
            </a:r>
            <a:pPr indent="0" marL="0">
              <a:buNone/>
            </a:pPr>
            <a:r>
              <a:rPr lang="en-US" sz="1300" b="1" spc="100" kern="0" dirty="0">
                <a:solidFill>
                  <a:srgbClr val="F7F3EA"/>
                </a:solidFill>
                <a:latin typeface="Arial" pitchFamily="34" charset="0"/>
                <a:ea typeface="Arial" pitchFamily="34" charset="-122"/>
                <a:cs typeface="Arial" pitchFamily="34" charset="-120"/>
              </a:rPr>
              <a:t>OPERATE</a:t>
            </a:r>
            <a:endParaRPr lang="en-US" sz="1300" dirty="0"/>
          </a:p>
        </p:txBody>
      </p:sp>
      <p:sp>
        <p:nvSpPr>
          <p:cNvPr id="37" name="Text 35"/>
          <p:cNvSpPr/>
          <p:nvPr/>
        </p:nvSpPr>
        <p:spPr>
          <a:xfrm>
            <a:off x="6903720" y="4737811"/>
            <a:ext cx="4480560" cy="475488"/>
          </a:xfrm>
          <a:prstGeom prst="rect">
            <a:avLst/>
          </a:prstGeom>
          <a:noFill/>
          <a:ln/>
        </p:spPr>
        <p:txBody>
          <a:bodyPr wrap="square" lIns="0" tIns="0" rIns="0" bIns="0" rtlCol="0" anchor="t"/>
          <a:lstStyle/>
          <a:p>
            <a:pPr indent="0" marL="0">
              <a:lnSpc>
                <a:spcPct val="116000"/>
              </a:lnSpc>
              <a:buNone/>
            </a:pPr>
            <a:r>
              <a:rPr lang="en-US" sz="1200" dirty="0">
                <a:solidFill>
                  <a:srgbClr val="F7F3EA"/>
                </a:solidFill>
                <a:latin typeface="Arial" pitchFamily="34" charset="0"/>
                <a:ea typeface="Arial" pitchFamily="34" charset="-122"/>
                <a:cs typeface="Arial" pitchFamily="34" charset="-120"/>
              </a:rPr>
              <a:t>Teams work backwards from it. Every metric has a named owner.</a:t>
            </a:r>
            <a:endParaRPr lang="en-US" sz="1200" dirty="0"/>
          </a:p>
        </p:txBody>
      </p:sp>
      <p:sp>
        <p:nvSpPr>
          <p:cNvPr id="38" name="Text 36"/>
          <p:cNvSpPr/>
          <p:nvPr/>
        </p:nvSpPr>
        <p:spPr>
          <a:xfrm>
            <a:off x="813816" y="5029200"/>
            <a:ext cx="10570464" cy="507492"/>
          </a:xfrm>
          <a:prstGeom prst="rect">
            <a:avLst/>
          </a:prstGeom>
          <a:noFill/>
          <a:ln/>
        </p:spPr>
        <p:txBody>
          <a:bodyPr wrap="square" lIns="0" tIns="0" rIns="0" bIns="0" rtlCol="0" anchor="t"/>
          <a:lstStyle/>
          <a:p>
            <a:pPr algn="l" indent="0" marL="0">
              <a:lnSpc>
                <a:spcPct val="116000"/>
              </a:lnSpc>
              <a:buNone/>
            </a:pPr>
            <a:r>
              <a:rPr lang="en-US" sz="1300" b="1" dirty="0">
                <a:solidFill>
                  <a:srgbClr val="E7C766"/>
                </a:solidFill>
                <a:latin typeface="Arial" pitchFamily="34" charset="0"/>
                <a:ea typeface="Arial" pitchFamily="34" charset="-122"/>
                <a:cs typeface="Arial" pitchFamily="34" charset="-120"/>
              </a:rPr>
              <a:t>Bezos took PowerPoint out of the S-Team room. What replaced it was not a better meeting. It was an artifact that outlives the meeting.</a:t>
            </a:r>
            <a:endParaRPr lang="en-US" sz="1300" dirty="0"/>
          </a:p>
        </p:txBody>
      </p:sp>
      <p:sp>
        <p:nvSpPr>
          <p:cNvPr id="39" name="Text 37"/>
          <p:cNvSpPr/>
          <p:nvPr/>
        </p:nvSpPr>
        <p:spPr>
          <a:xfrm>
            <a:off x="813816" y="5486400"/>
            <a:ext cx="10570464" cy="164592"/>
          </a:xfrm>
          <a:prstGeom prst="rect">
            <a:avLst/>
          </a:prstGeom>
          <a:noFill/>
          <a:ln/>
        </p:spPr>
        <p:txBody>
          <a:bodyPr wrap="square" lIns="0" tIns="0" rIns="0" bIns="0" rtlCol="0" anchor="ctr"/>
          <a:lstStyle/>
          <a:p>
            <a:pPr algn="r" indent="0" marL="0">
              <a:buNone/>
            </a:pPr>
            <a:r>
              <a:rPr lang="en-US" sz="900" i="1" dirty="0">
                <a:solidFill>
                  <a:srgbClr val="AFA893"/>
                </a:solidFill>
                <a:latin typeface="Arial" pitchFamily="34" charset="0"/>
                <a:ea typeface="Arial" pitchFamily="34" charset="-122"/>
                <a:cs typeface="Arial" pitchFamily="34" charset="-120"/>
              </a:rPr>
              <a:t>Bryar &amp; Carr, Working Backwards (2021). Nonaka &amp; Takeuchi, The Knowledge-Creating Company (1995).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5</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WHAT CHANGED</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The artifact is now a skill file.</a:t>
            </a:r>
            <a:endParaRPr lang="en-US" sz="4000" dirty="0"/>
          </a:p>
        </p:txBody>
      </p:sp>
      <p:sp>
        <p:nvSpPr>
          <p:cNvPr id="11" name="Shape 9"/>
          <p:cNvSpPr/>
          <p:nvPr/>
        </p:nvSpPr>
        <p:spPr>
          <a:xfrm>
            <a:off x="2844394" y="2424379"/>
            <a:ext cx="1809293" cy="1809293"/>
          </a:xfrm>
          <a:prstGeom prst="ellipse">
            <a:avLst/>
          </a:prstGeom>
          <a:ln w="12700">
            <a:solidFill>
              <a:srgbClr val="C9A227"/>
            </a:solidFill>
            <a:prstDash val="solid"/>
          </a:ln>
        </p:spPr>
      </p:sp>
      <p:sp>
        <p:nvSpPr>
          <p:cNvPr id="12" name="Shape 10"/>
          <p:cNvSpPr/>
          <p:nvPr/>
        </p:nvSpPr>
        <p:spPr>
          <a:xfrm rot="2700000">
            <a:off x="4329286" y="2629908"/>
            <a:ext cx="118872" cy="118872"/>
          </a:xfrm>
          <a:prstGeom prst="triangle">
            <a:avLst/>
          </a:prstGeom>
          <a:solidFill>
            <a:srgbClr val="C9A227"/>
          </a:solidFill>
          <a:ln/>
        </p:spPr>
      </p:sp>
      <p:sp>
        <p:nvSpPr>
          <p:cNvPr id="13" name="Shape 11"/>
          <p:cNvSpPr/>
          <p:nvPr/>
        </p:nvSpPr>
        <p:spPr>
          <a:xfrm rot="8100000">
            <a:off x="4329286" y="3909271"/>
            <a:ext cx="118872" cy="118872"/>
          </a:xfrm>
          <a:prstGeom prst="triangle">
            <a:avLst/>
          </a:prstGeom>
          <a:solidFill>
            <a:srgbClr val="C9A227"/>
          </a:solidFill>
          <a:ln/>
        </p:spPr>
      </p:sp>
      <p:sp>
        <p:nvSpPr>
          <p:cNvPr id="14" name="Shape 12"/>
          <p:cNvSpPr/>
          <p:nvPr/>
        </p:nvSpPr>
        <p:spPr>
          <a:xfrm rot="13500000">
            <a:off x="3049922" y="3909271"/>
            <a:ext cx="118872" cy="118872"/>
          </a:xfrm>
          <a:prstGeom prst="triangle">
            <a:avLst/>
          </a:prstGeom>
          <a:solidFill>
            <a:srgbClr val="C9A227"/>
          </a:solidFill>
          <a:ln/>
        </p:spPr>
      </p:sp>
      <p:sp>
        <p:nvSpPr>
          <p:cNvPr id="15" name="Shape 13"/>
          <p:cNvSpPr/>
          <p:nvPr/>
        </p:nvSpPr>
        <p:spPr>
          <a:xfrm rot="18900000">
            <a:off x="3049922" y="2629908"/>
            <a:ext cx="118872" cy="118872"/>
          </a:xfrm>
          <a:prstGeom prst="triangle">
            <a:avLst/>
          </a:prstGeom>
          <a:solidFill>
            <a:srgbClr val="C9A227"/>
          </a:solidFill>
          <a:ln/>
        </p:spPr>
      </p:sp>
      <p:sp>
        <p:nvSpPr>
          <p:cNvPr id="16" name="Shape 14"/>
          <p:cNvSpPr/>
          <p:nvPr/>
        </p:nvSpPr>
        <p:spPr>
          <a:xfrm>
            <a:off x="3224345" y="2804331"/>
            <a:ext cx="1049390" cy="1049390"/>
          </a:xfrm>
          <a:prstGeom prst="ellipse">
            <a:avLst/>
          </a:prstGeom>
          <a:solidFill>
            <a:srgbClr val="A31621"/>
          </a:solidFill>
          <a:ln/>
        </p:spPr>
      </p:sp>
      <p:sp>
        <p:nvSpPr>
          <p:cNvPr id="17" name="Text 15"/>
          <p:cNvSpPr/>
          <p:nvPr/>
        </p:nvSpPr>
        <p:spPr>
          <a:xfrm>
            <a:off x="3270065" y="3130906"/>
            <a:ext cx="957950" cy="396240"/>
          </a:xfrm>
          <a:prstGeom prst="rect">
            <a:avLst/>
          </a:prstGeom>
          <a:noFill/>
          <a:ln/>
        </p:spPr>
        <p:txBody>
          <a:bodyPr wrap="square" lIns="0" tIns="0" rIns="0" bIns="0" rtlCol="0" anchor="ctr"/>
          <a:lstStyle/>
          <a:p>
            <a:pPr algn="ctr" indent="0" marL="0">
              <a:lnSpc>
                <a:spcPct val="102000"/>
              </a:lnSpc>
              <a:buNone/>
            </a:pPr>
            <a:r>
              <a:rPr lang="en-US" sz="1200" b="1" dirty="0">
                <a:solidFill>
                  <a:srgbClr val="FFFFFF"/>
                </a:solidFill>
                <a:latin typeface="Georgia" pitchFamily="34" charset="0"/>
                <a:ea typeface="Georgia" pitchFamily="34" charset="-122"/>
                <a:cs typeface="Georgia" pitchFamily="34" charset="-120"/>
              </a:rPr>
              <a:t>SKILL</a:t>
            </a:r>
            <a:endParaRPr lang="en-US" sz="1200" dirty="0"/>
          </a:p>
          <a:p>
            <a:pPr algn="ctr" indent="0" marL="0">
              <a:lnSpc>
                <a:spcPct val="102000"/>
              </a:lnSpc>
              <a:buNone/>
            </a:pPr>
            <a:r>
              <a:rPr lang="en-US" sz="1200" b="1" dirty="0">
                <a:solidFill>
                  <a:srgbClr val="FFFFFF"/>
                </a:solidFill>
                <a:latin typeface="Georgia" pitchFamily="34" charset="0"/>
                <a:ea typeface="Georgia" pitchFamily="34" charset="-122"/>
                <a:cs typeface="Georgia" pitchFamily="34" charset="-120"/>
              </a:rPr>
              <a:t>FILE</a:t>
            </a:r>
            <a:endParaRPr lang="en-US" sz="1200" dirty="0"/>
          </a:p>
        </p:txBody>
      </p:sp>
      <p:sp>
        <p:nvSpPr>
          <p:cNvPr id="18" name="Shape 16"/>
          <p:cNvSpPr/>
          <p:nvPr/>
        </p:nvSpPr>
        <p:spPr>
          <a:xfrm>
            <a:off x="3465576" y="2140915"/>
            <a:ext cx="566928" cy="566928"/>
          </a:xfrm>
          <a:prstGeom prst="ellipse">
            <a:avLst/>
          </a:prstGeom>
          <a:solidFill>
            <a:srgbClr val="F7F3EA"/>
          </a:solidFill>
          <a:ln w="12700">
            <a:solidFill>
              <a:srgbClr val="C9A227"/>
            </a:solidFill>
            <a:prstDash val="solid"/>
          </a:ln>
        </p:spPr>
      </p:sp>
      <p:sp>
        <p:nvSpPr>
          <p:cNvPr id="19" name="Text 17"/>
          <p:cNvSpPr/>
          <p:nvPr/>
        </p:nvSpPr>
        <p:spPr>
          <a:xfrm>
            <a:off x="3465576" y="2140915"/>
            <a:ext cx="566928" cy="56692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01</a:t>
            </a:r>
            <a:endParaRPr lang="en-US" sz="1200" dirty="0"/>
          </a:p>
        </p:txBody>
      </p:sp>
      <p:sp>
        <p:nvSpPr>
          <p:cNvPr id="20" name="Text 18"/>
          <p:cNvSpPr/>
          <p:nvPr/>
        </p:nvSpPr>
        <p:spPr>
          <a:xfrm>
            <a:off x="2962656" y="1816303"/>
            <a:ext cx="157276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DOCUMENT</a:t>
            </a:r>
            <a:endParaRPr lang="en-US" sz="1000" dirty="0"/>
          </a:p>
        </p:txBody>
      </p:sp>
      <p:sp>
        <p:nvSpPr>
          <p:cNvPr id="21" name="Shape 19"/>
          <p:cNvSpPr/>
          <p:nvPr/>
        </p:nvSpPr>
        <p:spPr>
          <a:xfrm>
            <a:off x="4370222" y="3045562"/>
            <a:ext cx="566928" cy="566928"/>
          </a:xfrm>
          <a:prstGeom prst="ellipse">
            <a:avLst/>
          </a:prstGeom>
          <a:solidFill>
            <a:srgbClr val="F7F3EA"/>
          </a:solidFill>
          <a:ln w="12700">
            <a:solidFill>
              <a:srgbClr val="C9A227"/>
            </a:solidFill>
            <a:prstDash val="solid"/>
          </a:ln>
        </p:spPr>
      </p:sp>
      <p:sp>
        <p:nvSpPr>
          <p:cNvPr id="22" name="Text 20"/>
          <p:cNvSpPr/>
          <p:nvPr/>
        </p:nvSpPr>
        <p:spPr>
          <a:xfrm>
            <a:off x="4370222" y="3045562"/>
            <a:ext cx="566928" cy="56692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02</a:t>
            </a:r>
            <a:endParaRPr lang="en-US" sz="1200" dirty="0"/>
          </a:p>
        </p:txBody>
      </p:sp>
      <p:sp>
        <p:nvSpPr>
          <p:cNvPr id="23" name="Text 21"/>
          <p:cNvSpPr/>
          <p:nvPr/>
        </p:nvSpPr>
        <p:spPr>
          <a:xfrm>
            <a:off x="5065166" y="3203296"/>
            <a:ext cx="640080" cy="251460"/>
          </a:xfrm>
          <a:prstGeom prst="rect">
            <a:avLst/>
          </a:prstGeom>
          <a:noFill/>
          <a:ln/>
        </p:spPr>
        <p:txBody>
          <a:bodyPr wrap="square" lIns="0" tIns="0" rIns="0" bIns="0" rtlCol="0" anchor="ctr"/>
          <a:lstStyle/>
          <a:p>
            <a:pPr algn="l" indent="0" marL="0">
              <a:buNone/>
            </a:pPr>
            <a:r>
              <a:rPr lang="en-US" sz="1000" b="1" spc="120" kern="0" dirty="0">
                <a:solidFill>
                  <a:srgbClr val="8A6D14"/>
                </a:solidFill>
                <a:latin typeface="Arial" pitchFamily="34" charset="0"/>
                <a:ea typeface="Arial" pitchFamily="34" charset="-122"/>
                <a:cs typeface="Arial" pitchFamily="34" charset="-120"/>
              </a:rPr>
              <a:t>TEST</a:t>
            </a:r>
            <a:endParaRPr lang="en-US" sz="1000" dirty="0"/>
          </a:p>
        </p:txBody>
      </p:sp>
      <p:sp>
        <p:nvSpPr>
          <p:cNvPr id="24" name="Shape 22"/>
          <p:cNvSpPr/>
          <p:nvPr/>
        </p:nvSpPr>
        <p:spPr>
          <a:xfrm>
            <a:off x="3465576" y="3950208"/>
            <a:ext cx="566928" cy="566928"/>
          </a:xfrm>
          <a:prstGeom prst="ellipse">
            <a:avLst/>
          </a:prstGeom>
          <a:solidFill>
            <a:srgbClr val="F7F3EA"/>
          </a:solidFill>
          <a:ln w="12700">
            <a:solidFill>
              <a:srgbClr val="C9A227"/>
            </a:solidFill>
            <a:prstDash val="solid"/>
          </a:ln>
        </p:spPr>
      </p:sp>
      <p:sp>
        <p:nvSpPr>
          <p:cNvPr id="25" name="Text 23"/>
          <p:cNvSpPr/>
          <p:nvPr/>
        </p:nvSpPr>
        <p:spPr>
          <a:xfrm>
            <a:off x="3465576" y="3950208"/>
            <a:ext cx="566928" cy="56692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03</a:t>
            </a:r>
            <a:endParaRPr lang="en-US" sz="1200" dirty="0"/>
          </a:p>
        </p:txBody>
      </p:sp>
      <p:sp>
        <p:nvSpPr>
          <p:cNvPr id="26" name="Text 24"/>
          <p:cNvSpPr/>
          <p:nvPr/>
        </p:nvSpPr>
        <p:spPr>
          <a:xfrm>
            <a:off x="2962656" y="4590288"/>
            <a:ext cx="157276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REVISE</a:t>
            </a:r>
            <a:endParaRPr lang="en-US" sz="1000" dirty="0"/>
          </a:p>
        </p:txBody>
      </p:sp>
      <p:sp>
        <p:nvSpPr>
          <p:cNvPr id="27" name="Shape 25"/>
          <p:cNvSpPr/>
          <p:nvPr/>
        </p:nvSpPr>
        <p:spPr>
          <a:xfrm>
            <a:off x="2560930" y="3045562"/>
            <a:ext cx="566928" cy="566928"/>
          </a:xfrm>
          <a:prstGeom prst="ellipse">
            <a:avLst/>
          </a:prstGeom>
          <a:solidFill>
            <a:srgbClr val="F7F3EA"/>
          </a:solidFill>
          <a:ln w="12700">
            <a:solidFill>
              <a:srgbClr val="C9A227"/>
            </a:solidFill>
            <a:prstDash val="solid"/>
          </a:ln>
        </p:spPr>
      </p:sp>
      <p:sp>
        <p:nvSpPr>
          <p:cNvPr id="28" name="Text 26"/>
          <p:cNvSpPr/>
          <p:nvPr/>
        </p:nvSpPr>
        <p:spPr>
          <a:xfrm>
            <a:off x="2560930" y="3045562"/>
            <a:ext cx="566928" cy="566928"/>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1576426" y="3203296"/>
            <a:ext cx="856488" cy="251460"/>
          </a:xfrm>
          <a:prstGeom prst="rect">
            <a:avLst/>
          </a:prstGeom>
          <a:noFill/>
          <a:ln/>
        </p:spPr>
        <p:txBody>
          <a:bodyPr wrap="square" lIns="0" tIns="0" rIns="0" bIns="0" rtlCol="0" anchor="ctr"/>
          <a:lstStyle/>
          <a:p>
            <a:pPr algn="r" indent="0" marL="0">
              <a:buNone/>
            </a:pPr>
            <a:r>
              <a:rPr lang="en-US" sz="1000" b="1" spc="120" kern="0" dirty="0">
                <a:solidFill>
                  <a:srgbClr val="8A6D14"/>
                </a:solidFill>
                <a:latin typeface="Arial" pitchFamily="34" charset="0"/>
                <a:ea typeface="Arial" pitchFamily="34" charset="-122"/>
                <a:cs typeface="Arial" pitchFamily="34" charset="-120"/>
              </a:rPr>
              <a:t>OPERATE</a:t>
            </a:r>
            <a:endParaRPr lang="en-US" sz="1000" dirty="0"/>
          </a:p>
        </p:txBody>
      </p:sp>
      <p:sp>
        <p:nvSpPr>
          <p:cNvPr id="30" name="Text 28"/>
          <p:cNvSpPr/>
          <p:nvPr/>
        </p:nvSpPr>
        <p:spPr>
          <a:xfrm>
            <a:off x="6903720" y="1793443"/>
            <a:ext cx="4480560" cy="299466"/>
          </a:xfrm>
          <a:prstGeom prst="rect">
            <a:avLst/>
          </a:prstGeom>
          <a:noFill/>
          <a:ln/>
        </p:spPr>
        <p:txBody>
          <a:bodyPr wrap="square" lIns="0" tIns="0" rIns="0" bIns="0" rtlCol="0" anchor="t"/>
          <a:lstStyle/>
          <a:p>
            <a:pPr indent="0" marL="0">
              <a:buNone/>
            </a:pPr>
            <a:r>
              <a:rPr lang="en-US" sz="1300" b="1" dirty="0">
                <a:solidFill>
                  <a:srgbClr val="8A6D14"/>
                </a:solidFill>
                <a:latin typeface="Arial" pitchFamily="34" charset="0"/>
                <a:ea typeface="Arial" pitchFamily="34" charset="-122"/>
                <a:cs typeface="Arial" pitchFamily="34" charset="-120"/>
              </a:rPr>
              <a:t>01  </a:t>
            </a:r>
            <a:pPr indent="0" marL="0">
              <a:buNone/>
            </a:pPr>
            <a:r>
              <a:rPr lang="en-US" sz="1300" b="1" spc="100" kern="0" dirty="0">
                <a:solidFill>
                  <a:srgbClr val="14213D"/>
                </a:solidFill>
                <a:latin typeface="Arial" pitchFamily="34" charset="0"/>
                <a:ea typeface="Arial" pitchFamily="34" charset="-122"/>
                <a:cs typeface="Arial" pitchFamily="34" charset="-120"/>
              </a:rPr>
              <a:t>DOCUMENT</a:t>
            </a:r>
            <a:endParaRPr lang="en-US" sz="1300" dirty="0"/>
          </a:p>
        </p:txBody>
      </p:sp>
      <p:sp>
        <p:nvSpPr>
          <p:cNvPr id="31" name="Text 29"/>
          <p:cNvSpPr/>
          <p:nvPr/>
        </p:nvSpPr>
        <p:spPr>
          <a:xfrm>
            <a:off x="6903720" y="2111197"/>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You write the file. Your people, your rules, your voice.</a:t>
            </a:r>
            <a:endParaRPr lang="en-US" sz="1200" dirty="0"/>
          </a:p>
        </p:txBody>
      </p:sp>
      <p:sp>
        <p:nvSpPr>
          <p:cNvPr id="32" name="Text 30"/>
          <p:cNvSpPr/>
          <p:nvPr/>
        </p:nvSpPr>
        <p:spPr>
          <a:xfrm>
            <a:off x="6903720" y="2540965"/>
            <a:ext cx="4480560" cy="299466"/>
          </a:xfrm>
          <a:prstGeom prst="rect">
            <a:avLst/>
          </a:prstGeom>
          <a:noFill/>
          <a:ln/>
        </p:spPr>
        <p:txBody>
          <a:bodyPr wrap="square" lIns="0" tIns="0" rIns="0" bIns="0" rtlCol="0" anchor="t"/>
          <a:lstStyle/>
          <a:p>
            <a:pPr indent="0" marL="0">
              <a:buNone/>
            </a:pPr>
            <a:r>
              <a:rPr lang="en-US" sz="1300" b="1" dirty="0">
                <a:solidFill>
                  <a:srgbClr val="8A6D14"/>
                </a:solidFill>
                <a:latin typeface="Arial" pitchFamily="34" charset="0"/>
                <a:ea typeface="Arial" pitchFamily="34" charset="-122"/>
                <a:cs typeface="Arial" pitchFamily="34" charset="-120"/>
              </a:rPr>
              <a:t>02  </a:t>
            </a:r>
            <a:pPr indent="0" marL="0">
              <a:buNone/>
            </a:pPr>
            <a:r>
              <a:rPr lang="en-US" sz="1300" b="1" spc="100" kern="0" dirty="0">
                <a:solidFill>
                  <a:srgbClr val="14213D"/>
                </a:solidFill>
                <a:latin typeface="Arial" pitchFamily="34" charset="0"/>
                <a:ea typeface="Arial" pitchFamily="34" charset="-122"/>
                <a:cs typeface="Arial" pitchFamily="34" charset="-120"/>
              </a:rPr>
              <a:t>TEST</a:t>
            </a:r>
            <a:endParaRPr lang="en-US" sz="1300" dirty="0"/>
          </a:p>
        </p:txBody>
      </p:sp>
      <p:sp>
        <p:nvSpPr>
          <p:cNvPr id="33" name="Text 31"/>
          <p:cNvSpPr/>
          <p:nvPr/>
        </p:nvSpPr>
        <p:spPr>
          <a:xfrm>
            <a:off x="6903720" y="2858719"/>
            <a:ext cx="4480560" cy="475488"/>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The agent reads it. It cannot be charmed and it does not skim.</a:t>
            </a:r>
            <a:endParaRPr lang="en-US" sz="1200" dirty="0"/>
          </a:p>
        </p:txBody>
      </p:sp>
      <p:sp>
        <p:nvSpPr>
          <p:cNvPr id="34" name="Text 32"/>
          <p:cNvSpPr/>
          <p:nvPr/>
        </p:nvSpPr>
        <p:spPr>
          <a:xfrm>
            <a:off x="6903720" y="3480511"/>
            <a:ext cx="4480560" cy="299466"/>
          </a:xfrm>
          <a:prstGeom prst="rect">
            <a:avLst/>
          </a:prstGeom>
          <a:noFill/>
          <a:ln/>
        </p:spPr>
        <p:txBody>
          <a:bodyPr wrap="square" lIns="0" tIns="0" rIns="0" bIns="0" rtlCol="0" anchor="t"/>
          <a:lstStyle/>
          <a:p>
            <a:pPr indent="0" marL="0">
              <a:buNone/>
            </a:pPr>
            <a:r>
              <a:rPr lang="en-US" sz="1300" b="1" dirty="0">
                <a:solidFill>
                  <a:srgbClr val="8A6D14"/>
                </a:solidFill>
                <a:latin typeface="Arial" pitchFamily="34" charset="0"/>
                <a:ea typeface="Arial" pitchFamily="34" charset="-122"/>
                <a:cs typeface="Arial" pitchFamily="34" charset="-120"/>
              </a:rPr>
              <a:t>03  </a:t>
            </a:r>
            <a:pPr indent="0" marL="0">
              <a:buNone/>
            </a:pPr>
            <a:r>
              <a:rPr lang="en-US" sz="1300" b="1" spc="100" kern="0" dirty="0">
                <a:solidFill>
                  <a:srgbClr val="14213D"/>
                </a:solidFill>
                <a:latin typeface="Arial" pitchFamily="34" charset="0"/>
                <a:ea typeface="Arial" pitchFamily="34" charset="-122"/>
                <a:cs typeface="Arial" pitchFamily="34" charset="-120"/>
              </a:rPr>
              <a:t>REVISE</a:t>
            </a:r>
            <a:endParaRPr lang="en-US" sz="1300" dirty="0"/>
          </a:p>
        </p:txBody>
      </p:sp>
      <p:sp>
        <p:nvSpPr>
          <p:cNvPr id="35" name="Text 33"/>
          <p:cNvSpPr/>
          <p:nvPr/>
        </p:nvSpPr>
        <p:spPr>
          <a:xfrm>
            <a:off x="6903720" y="3798265"/>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You edit the file. Not the model. The file.</a:t>
            </a:r>
            <a:endParaRPr lang="en-US" sz="1200" dirty="0"/>
          </a:p>
        </p:txBody>
      </p:sp>
      <p:sp>
        <p:nvSpPr>
          <p:cNvPr id="36" name="Text 34"/>
          <p:cNvSpPr/>
          <p:nvPr/>
        </p:nvSpPr>
        <p:spPr>
          <a:xfrm>
            <a:off x="6903720" y="4228033"/>
            <a:ext cx="4480560" cy="299466"/>
          </a:xfrm>
          <a:prstGeom prst="rect">
            <a:avLst/>
          </a:prstGeom>
          <a:noFill/>
          <a:ln/>
        </p:spPr>
        <p:txBody>
          <a:bodyPr wrap="square" lIns="0" tIns="0" rIns="0" bIns="0" rtlCol="0" anchor="t"/>
          <a:lstStyle/>
          <a:p>
            <a:pPr indent="0" marL="0">
              <a:buNone/>
            </a:pPr>
            <a:r>
              <a:rPr lang="en-US" sz="1300" b="1" dirty="0">
                <a:solidFill>
                  <a:srgbClr val="8A6D14"/>
                </a:solidFill>
                <a:latin typeface="Arial" pitchFamily="34" charset="0"/>
                <a:ea typeface="Arial" pitchFamily="34" charset="-122"/>
                <a:cs typeface="Arial" pitchFamily="34" charset="-120"/>
              </a:rPr>
              <a:t>04  </a:t>
            </a:r>
            <a:pPr indent="0" marL="0">
              <a:buNone/>
            </a:pPr>
            <a:r>
              <a:rPr lang="en-US" sz="1300" b="1" spc="100" kern="0" dirty="0">
                <a:solidFill>
                  <a:srgbClr val="14213D"/>
                </a:solidFill>
                <a:latin typeface="Arial" pitchFamily="34" charset="0"/>
                <a:ea typeface="Arial" pitchFamily="34" charset="-122"/>
                <a:cs typeface="Arial" pitchFamily="34" charset="-120"/>
              </a:rPr>
              <a:t>OPERATE</a:t>
            </a:r>
            <a:endParaRPr lang="en-US" sz="1300" dirty="0"/>
          </a:p>
        </p:txBody>
      </p:sp>
      <p:sp>
        <p:nvSpPr>
          <p:cNvPr id="37" name="Text 35"/>
          <p:cNvSpPr/>
          <p:nvPr/>
        </p:nvSpPr>
        <p:spPr>
          <a:xfrm>
            <a:off x="6903720" y="4545787"/>
            <a:ext cx="4480560" cy="283464"/>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You put it on a schedule. It runs at 4:30 without you.</a:t>
            </a:r>
            <a:endParaRPr lang="en-US" sz="1200" dirty="0"/>
          </a:p>
        </p:txBody>
      </p:sp>
      <p:sp>
        <p:nvSpPr>
          <p:cNvPr id="38" name="Text 36"/>
          <p:cNvSpPr/>
          <p:nvPr/>
        </p:nvSpPr>
        <p:spPr>
          <a:xfrm>
            <a:off x="813816" y="5029200"/>
            <a:ext cx="10570464" cy="507492"/>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Same four steps. The reader used to be a room. Now it is an agent. That is the entire difference, and it is the whole workshop.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31621"/>
        </a:solidFill>
      </p:bgPr>
    </p:bg>
    <p:spTree>
      <p:nvGrpSpPr>
        <p:cNvPr id="1" name=""/>
        <p:cNvGrpSpPr/>
        <p:nvPr/>
      </p:nvGrpSpPr>
      <p:grpSpPr>
        <a:xfrm>
          <a:off x="0" y="0"/>
          <a:ext cx="0" cy="0"/>
          <a:chOff x="0" y="0"/>
          <a:chExt cx="0" cy="0"/>
        </a:xfrm>
      </p:grpSpPr>
      <p:sp>
        <p:nvSpPr>
          <p:cNvPr id="2" name="Text 0"/>
          <p:cNvSpPr/>
          <p:nvPr/>
        </p:nvSpPr>
        <p:spPr>
          <a:xfrm>
            <a:off x="1066648" y="1170432"/>
            <a:ext cx="10058400" cy="1529364"/>
          </a:xfrm>
          <a:prstGeom prst="rect">
            <a:avLst/>
          </a:prstGeom>
          <a:noFill/>
          <a:ln/>
        </p:spPr>
        <p:txBody>
          <a:bodyPr wrap="square" lIns="0" tIns="0" rIns="0" bIns="0" rtlCol="0" anchor="t"/>
          <a:lstStyle/>
          <a:p>
            <a:pPr algn="ctr" indent="0" marL="0">
              <a:buNone/>
            </a:pPr>
            <a:r>
              <a:rPr lang="en-US" sz="4400" b="1" dirty="0">
                <a:solidFill>
                  <a:srgbClr val="FFFFFF"/>
                </a:solidFill>
                <a:latin typeface="Georgia" pitchFamily="34" charset="0"/>
                <a:ea typeface="Georgia" pitchFamily="34" charset="-122"/>
                <a:cs typeface="Georgia" pitchFamily="34" charset="-120"/>
              </a:rPr>
              <a:t>AI does not fix a broken process. It runs it faster.</a:t>
            </a:r>
            <a:endParaRPr lang="en-US" sz="4400" dirty="0"/>
          </a:p>
        </p:txBody>
      </p:sp>
      <p:sp>
        <p:nvSpPr>
          <p:cNvPr id="3" name="Text 1"/>
          <p:cNvSpPr/>
          <p:nvPr/>
        </p:nvSpPr>
        <p:spPr>
          <a:xfrm>
            <a:off x="813816" y="3138708"/>
            <a:ext cx="3255264" cy="566928"/>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88%</a:t>
            </a:r>
            <a:endParaRPr lang="en-US" sz="4000" dirty="0"/>
          </a:p>
        </p:txBody>
      </p:sp>
      <p:sp>
        <p:nvSpPr>
          <p:cNvPr id="4" name="Text 2"/>
          <p:cNvSpPr/>
          <p:nvPr/>
        </p:nvSpPr>
        <p:spPr>
          <a:xfrm>
            <a:off x="813816" y="3742212"/>
            <a:ext cx="3255264" cy="402336"/>
          </a:xfrm>
          <a:prstGeom prst="rect">
            <a:avLst/>
          </a:prstGeom>
          <a:noFill/>
          <a:ln/>
        </p:spPr>
        <p:txBody>
          <a:bodyPr wrap="square" lIns="0" tIns="0" rIns="0" bIns="0" rtlCol="0" anchor="t"/>
          <a:lstStyle/>
          <a:p>
            <a:pPr algn="ctr" indent="0" marL="0">
              <a:lnSpc>
                <a:spcPct val="116000"/>
              </a:lnSpc>
              <a:buNone/>
            </a:pPr>
            <a:r>
              <a:rPr lang="en-US" sz="1300" dirty="0">
                <a:solidFill>
                  <a:srgbClr val="FFFFFF"/>
                </a:solidFill>
                <a:latin typeface="Arial" pitchFamily="34" charset="0"/>
                <a:ea typeface="Arial" pitchFamily="34" charset="-122"/>
                <a:cs typeface="Arial" pitchFamily="34" charset="-120"/>
              </a:rPr>
              <a:t>of organizations use AI somewhere.</a:t>
            </a:r>
            <a:endParaRPr lang="en-US" sz="1300" dirty="0"/>
          </a:p>
        </p:txBody>
      </p:sp>
      <p:sp>
        <p:nvSpPr>
          <p:cNvPr id="5" name="Text 3"/>
          <p:cNvSpPr/>
          <p:nvPr/>
        </p:nvSpPr>
        <p:spPr>
          <a:xfrm>
            <a:off x="4471416" y="3138708"/>
            <a:ext cx="3255264" cy="566928"/>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~6%</a:t>
            </a:r>
            <a:endParaRPr lang="en-US" sz="4000" dirty="0"/>
          </a:p>
        </p:txBody>
      </p:sp>
      <p:sp>
        <p:nvSpPr>
          <p:cNvPr id="6" name="Text 4"/>
          <p:cNvSpPr/>
          <p:nvPr/>
        </p:nvSpPr>
        <p:spPr>
          <a:xfrm>
            <a:off x="4471416" y="3742212"/>
            <a:ext cx="3255264" cy="402336"/>
          </a:xfrm>
          <a:prstGeom prst="rect">
            <a:avLst/>
          </a:prstGeom>
          <a:noFill/>
          <a:ln/>
        </p:spPr>
        <p:txBody>
          <a:bodyPr wrap="square" lIns="0" tIns="0" rIns="0" bIns="0" rtlCol="0" anchor="t"/>
          <a:lstStyle/>
          <a:p>
            <a:pPr algn="ctr" indent="0" marL="0">
              <a:lnSpc>
                <a:spcPct val="116000"/>
              </a:lnSpc>
              <a:buNone/>
            </a:pPr>
            <a:r>
              <a:rPr lang="en-US" sz="1300" dirty="0">
                <a:solidFill>
                  <a:srgbClr val="FFFFFF"/>
                </a:solidFill>
                <a:latin typeface="Arial" pitchFamily="34" charset="0"/>
                <a:ea typeface="Arial" pitchFamily="34" charset="-122"/>
                <a:cs typeface="Arial" pitchFamily="34" charset="-120"/>
              </a:rPr>
              <a:t>see real profit impact from it.</a:t>
            </a:r>
            <a:endParaRPr lang="en-US" sz="1300" dirty="0"/>
          </a:p>
        </p:txBody>
      </p:sp>
      <p:sp>
        <p:nvSpPr>
          <p:cNvPr id="7" name="Text 5"/>
          <p:cNvSpPr/>
          <p:nvPr/>
        </p:nvSpPr>
        <p:spPr>
          <a:xfrm>
            <a:off x="8129016" y="3138708"/>
            <a:ext cx="3255264" cy="566928"/>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21%</a:t>
            </a:r>
            <a:endParaRPr lang="en-US" sz="4000" dirty="0"/>
          </a:p>
        </p:txBody>
      </p:sp>
      <p:sp>
        <p:nvSpPr>
          <p:cNvPr id="8" name="Text 6"/>
          <p:cNvSpPr/>
          <p:nvPr/>
        </p:nvSpPr>
        <p:spPr>
          <a:xfrm>
            <a:off x="8129016" y="3742212"/>
            <a:ext cx="3255264" cy="402336"/>
          </a:xfrm>
          <a:prstGeom prst="rect">
            <a:avLst/>
          </a:prstGeom>
          <a:noFill/>
          <a:ln/>
        </p:spPr>
        <p:txBody>
          <a:bodyPr wrap="square" lIns="0" tIns="0" rIns="0" bIns="0" rtlCol="0" anchor="t"/>
          <a:lstStyle/>
          <a:p>
            <a:pPr algn="ctr" indent="0" marL="0">
              <a:lnSpc>
                <a:spcPct val="116000"/>
              </a:lnSpc>
              <a:buNone/>
            </a:pPr>
            <a:r>
              <a:rPr lang="en-US" sz="1300" dirty="0">
                <a:solidFill>
                  <a:srgbClr val="FFFFFF"/>
                </a:solidFill>
                <a:latin typeface="Arial" pitchFamily="34" charset="0"/>
                <a:ea typeface="Arial" pitchFamily="34" charset="-122"/>
                <a:cs typeface="Arial" pitchFamily="34" charset="-120"/>
              </a:rPr>
              <a:t>have redesigned a single workflow.</a:t>
            </a:r>
            <a:endParaRPr lang="en-US" sz="1300" dirty="0"/>
          </a:p>
        </p:txBody>
      </p:sp>
      <p:sp>
        <p:nvSpPr>
          <p:cNvPr id="9" name="Text 7"/>
          <p:cNvSpPr/>
          <p:nvPr/>
        </p:nvSpPr>
        <p:spPr>
          <a:xfrm>
            <a:off x="1249528" y="4235988"/>
            <a:ext cx="9692640" cy="512064"/>
          </a:xfrm>
          <a:prstGeom prst="rect">
            <a:avLst/>
          </a:prstGeom>
          <a:noFill/>
          <a:ln/>
        </p:spPr>
        <p:txBody>
          <a:bodyPr wrap="square" lIns="0" tIns="0" rIns="0" bIns="0" rtlCol="0" anchor="t"/>
          <a:lstStyle/>
          <a:p>
            <a:pPr algn="ctr" indent="0" marL="0">
              <a:lnSpc>
                <a:spcPct val="116000"/>
              </a:lnSpc>
              <a:buNone/>
            </a:pPr>
            <a:r>
              <a:rPr lang="en-US" sz="1500" b="1" dirty="0">
                <a:solidFill>
                  <a:srgbClr val="FFFFFF"/>
                </a:solidFill>
                <a:latin typeface="Arial" pitchFamily="34" charset="0"/>
                <a:ea typeface="Arial" pitchFamily="34" charset="-122"/>
                <a:cs typeface="Arial" pitchFamily="34" charset="-120"/>
              </a:rPr>
              <a:t>Of roughly 25 things McKinsey tested, one predicts profit impact above all others: fundamentally redesigning the workflow.</a:t>
            </a:r>
            <a:endParaRPr lang="en-US" sz="1500" dirty="0"/>
          </a:p>
        </p:txBody>
      </p:sp>
      <p:sp>
        <p:nvSpPr>
          <p:cNvPr id="10" name="Text 8"/>
          <p:cNvSpPr/>
          <p:nvPr/>
        </p:nvSpPr>
        <p:spPr>
          <a:xfrm>
            <a:off x="1249528" y="4949220"/>
            <a:ext cx="9692640" cy="310896"/>
          </a:xfrm>
          <a:prstGeom prst="rect">
            <a:avLst/>
          </a:prstGeom>
          <a:noFill/>
          <a:ln/>
        </p:spPr>
        <p:txBody>
          <a:bodyPr wrap="square" lIns="0" tIns="0" rIns="0" bIns="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A vague document used to waste a meeting. A vague document now runs ten thousand times a day.</a:t>
            </a:r>
            <a:endParaRPr lang="en-US" sz="1400" dirty="0"/>
          </a:p>
        </p:txBody>
      </p:sp>
      <p:sp>
        <p:nvSpPr>
          <p:cNvPr id="11" name="Text 9"/>
          <p:cNvSpPr/>
          <p:nvPr/>
        </p:nvSpPr>
        <p:spPr>
          <a:xfrm>
            <a:off x="813816" y="5705856"/>
            <a:ext cx="10570464" cy="182880"/>
          </a:xfrm>
          <a:prstGeom prst="rect">
            <a:avLst/>
          </a:prstGeom>
          <a:noFill/>
          <a:ln/>
        </p:spPr>
        <p:txBody>
          <a:bodyPr wrap="square" lIns="0" tIns="0" rIns="0" bIns="0" rtlCol="0" anchor="ctr"/>
          <a:lstStyle/>
          <a:p>
            <a:pPr algn="ctr" indent="0" marL="0">
              <a:buNone/>
            </a:pPr>
            <a:r>
              <a:rPr lang="en-US" sz="900" i="1" dirty="0">
                <a:solidFill>
                  <a:srgbClr val="FFFFFF"/>
                </a:solidFill>
                <a:latin typeface="Arial" pitchFamily="34" charset="0"/>
                <a:ea typeface="Arial" pitchFamily="34" charset="-122"/>
                <a:cs typeface="Arial" pitchFamily="34" charset="-120"/>
              </a:rPr>
              <a:t>McKinsey, The State of AI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7</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BEFORE YOU WRITE ANYTHING, KNOW WHO IS HOLDING THE PEN</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Four kinds of executive.</a:t>
            </a:r>
            <a:endParaRPr lang="en-US" sz="4000" dirty="0"/>
          </a:p>
        </p:txBody>
      </p:sp>
      <p:sp>
        <p:nvSpPr>
          <p:cNvPr id="11" name="Shape 9"/>
          <p:cNvSpPr/>
          <p:nvPr/>
        </p:nvSpPr>
        <p:spPr>
          <a:xfrm>
            <a:off x="6099048" y="1883664"/>
            <a:ext cx="0" cy="3255264"/>
          </a:xfrm>
          <a:prstGeom prst="line">
            <a:avLst/>
          </a:prstGeom>
          <a:noFill/>
          <a:ln w="15875">
            <a:solidFill>
              <a:srgbClr val="C9A227"/>
            </a:solidFill>
            <a:prstDash val="solid"/>
            <a:headEnd type="triangle"/>
            <a:tailEnd type="triangle"/>
          </a:ln>
        </p:spPr>
      </p:sp>
      <p:sp>
        <p:nvSpPr>
          <p:cNvPr id="12" name="Shape 10"/>
          <p:cNvSpPr/>
          <p:nvPr/>
        </p:nvSpPr>
        <p:spPr>
          <a:xfrm>
            <a:off x="2331720" y="3493008"/>
            <a:ext cx="7534656" cy="0"/>
          </a:xfrm>
          <a:prstGeom prst="line">
            <a:avLst/>
          </a:prstGeom>
          <a:noFill/>
          <a:ln w="15875">
            <a:solidFill>
              <a:srgbClr val="C9A227"/>
            </a:solidFill>
            <a:prstDash val="solid"/>
            <a:headEnd type="triangle"/>
            <a:tailEnd type="triangle"/>
          </a:ln>
        </p:spPr>
      </p:sp>
      <p:sp>
        <p:nvSpPr>
          <p:cNvPr id="13" name="Text 11"/>
          <p:cNvSpPr/>
          <p:nvPr/>
        </p:nvSpPr>
        <p:spPr>
          <a:xfrm>
            <a:off x="4636008" y="1463040"/>
            <a:ext cx="2926080" cy="201168"/>
          </a:xfrm>
          <a:prstGeom prst="rect">
            <a:avLst/>
          </a:prstGeom>
          <a:noFill/>
          <a:ln/>
        </p:spPr>
        <p:txBody>
          <a:bodyPr wrap="square" lIns="0" tIns="0" rIns="0" bIns="0" rtlCol="0" anchor="ctr"/>
          <a:lstStyle/>
          <a:p>
            <a:pPr algn="ctr" indent="0" marL="0">
              <a:buNone/>
            </a:pPr>
            <a:r>
              <a:rPr lang="en-US" sz="1300" b="1" spc="160" kern="0" dirty="0">
                <a:solidFill>
                  <a:srgbClr val="8A6D14"/>
                </a:solidFill>
                <a:latin typeface="Arial" pitchFamily="34" charset="0"/>
                <a:ea typeface="Arial" pitchFamily="34" charset="-122"/>
                <a:cs typeface="Arial" pitchFamily="34" charset="-120"/>
              </a:rPr>
              <a:t>CLOSED</a:t>
            </a:r>
            <a:endParaRPr lang="en-US" sz="1300" dirty="0"/>
          </a:p>
        </p:txBody>
      </p:sp>
      <p:sp>
        <p:nvSpPr>
          <p:cNvPr id="14" name="Text 12"/>
          <p:cNvSpPr/>
          <p:nvPr/>
        </p:nvSpPr>
        <p:spPr>
          <a:xfrm>
            <a:off x="4636008" y="1664208"/>
            <a:ext cx="2926080" cy="182880"/>
          </a:xfrm>
          <a:prstGeom prst="rect">
            <a:avLst/>
          </a:prstGeom>
          <a:noFill/>
          <a:ln/>
        </p:spPr>
        <p:txBody>
          <a:bodyPr wrap="square" lIns="0" tIns="0" rIns="0" bIns="0" rtlCol="0" anchor="ctr"/>
          <a:lstStyle/>
          <a:p>
            <a:pPr algn="ctr" indent="0" marL="0">
              <a:buNone/>
            </a:pPr>
            <a:r>
              <a:rPr lang="en-US" sz="1000" i="1" dirty="0">
                <a:solidFill>
                  <a:srgbClr val="5A6379"/>
                </a:solidFill>
                <a:latin typeface="Arial" pitchFamily="34" charset="0"/>
                <a:ea typeface="Arial" pitchFamily="34" charset="-122"/>
                <a:cs typeface="Arial" pitchFamily="34" charset="-120"/>
              </a:rPr>
              <a:t>you control what you show</a:t>
            </a:r>
            <a:endParaRPr lang="en-US" sz="1000" dirty="0"/>
          </a:p>
        </p:txBody>
      </p:sp>
      <p:sp>
        <p:nvSpPr>
          <p:cNvPr id="15" name="Text 13"/>
          <p:cNvSpPr/>
          <p:nvPr/>
        </p:nvSpPr>
        <p:spPr>
          <a:xfrm>
            <a:off x="4636008" y="5212080"/>
            <a:ext cx="2926080" cy="201168"/>
          </a:xfrm>
          <a:prstGeom prst="rect">
            <a:avLst/>
          </a:prstGeom>
          <a:noFill/>
          <a:ln/>
        </p:spPr>
        <p:txBody>
          <a:bodyPr wrap="square" lIns="0" tIns="0" rIns="0" bIns="0" rtlCol="0" anchor="ctr"/>
          <a:lstStyle/>
          <a:p>
            <a:pPr algn="ctr" indent="0" marL="0">
              <a:buNone/>
            </a:pPr>
            <a:r>
              <a:rPr lang="en-US" sz="1300" b="1" spc="160" kern="0" dirty="0">
                <a:solidFill>
                  <a:srgbClr val="8A6D14"/>
                </a:solidFill>
                <a:latin typeface="Arial" pitchFamily="34" charset="0"/>
                <a:ea typeface="Arial" pitchFamily="34" charset="-122"/>
                <a:cs typeface="Arial" pitchFamily="34" charset="-120"/>
              </a:rPr>
              <a:t>OPEN</a:t>
            </a:r>
            <a:endParaRPr lang="en-US" sz="1300" dirty="0"/>
          </a:p>
        </p:txBody>
      </p:sp>
      <p:sp>
        <p:nvSpPr>
          <p:cNvPr id="16" name="Text 14"/>
          <p:cNvSpPr/>
          <p:nvPr/>
        </p:nvSpPr>
        <p:spPr>
          <a:xfrm>
            <a:off x="4636008" y="5413248"/>
            <a:ext cx="2926080" cy="182880"/>
          </a:xfrm>
          <a:prstGeom prst="rect">
            <a:avLst/>
          </a:prstGeom>
          <a:noFill/>
          <a:ln/>
        </p:spPr>
        <p:txBody>
          <a:bodyPr wrap="square" lIns="0" tIns="0" rIns="0" bIns="0" rtlCol="0" anchor="ctr"/>
          <a:lstStyle/>
          <a:p>
            <a:pPr algn="ctr" indent="0" marL="0">
              <a:buNone/>
            </a:pPr>
            <a:r>
              <a:rPr lang="en-US" sz="1000" i="1" dirty="0">
                <a:solidFill>
                  <a:srgbClr val="5A6379"/>
                </a:solidFill>
                <a:latin typeface="Arial" pitchFamily="34" charset="0"/>
                <a:ea typeface="Arial" pitchFamily="34" charset="-122"/>
                <a:cs typeface="Arial" pitchFamily="34" charset="-120"/>
              </a:rPr>
              <a:t>you show what you feel</a:t>
            </a:r>
            <a:endParaRPr lang="en-US" sz="1000" dirty="0"/>
          </a:p>
        </p:txBody>
      </p:sp>
      <p:sp>
        <p:nvSpPr>
          <p:cNvPr id="17" name="Text 15"/>
          <p:cNvSpPr/>
          <p:nvPr/>
        </p:nvSpPr>
        <p:spPr>
          <a:xfrm>
            <a:off x="813816" y="3218688"/>
            <a:ext cx="1426464" cy="201168"/>
          </a:xfrm>
          <a:prstGeom prst="rect">
            <a:avLst/>
          </a:prstGeom>
          <a:noFill/>
          <a:ln/>
        </p:spPr>
        <p:txBody>
          <a:bodyPr wrap="square" lIns="0" tIns="0" rIns="0" bIns="0" rtlCol="0" anchor="ctr"/>
          <a:lstStyle/>
          <a:p>
            <a:pPr algn="r" indent="0" marL="0">
              <a:buNone/>
            </a:pPr>
            <a:r>
              <a:rPr lang="en-US" sz="1300" b="1" spc="160" kern="0" dirty="0">
                <a:solidFill>
                  <a:srgbClr val="8A6D14"/>
                </a:solidFill>
                <a:latin typeface="Arial" pitchFamily="34" charset="0"/>
                <a:ea typeface="Arial" pitchFamily="34" charset="-122"/>
                <a:cs typeface="Arial" pitchFamily="34" charset="-120"/>
              </a:rPr>
              <a:t>ASK</a:t>
            </a:r>
            <a:endParaRPr lang="en-US" sz="1300" dirty="0"/>
          </a:p>
        </p:txBody>
      </p:sp>
      <p:sp>
        <p:nvSpPr>
          <p:cNvPr id="18" name="Text 16"/>
          <p:cNvSpPr/>
          <p:nvPr/>
        </p:nvSpPr>
        <p:spPr>
          <a:xfrm>
            <a:off x="813816" y="3419856"/>
            <a:ext cx="1426464" cy="182880"/>
          </a:xfrm>
          <a:prstGeom prst="rect">
            <a:avLst/>
          </a:prstGeom>
          <a:noFill/>
          <a:ln/>
        </p:spPr>
        <p:txBody>
          <a:bodyPr wrap="square" lIns="0" tIns="0" rIns="0" bIns="0" rtlCol="0" anchor="ctr"/>
          <a:lstStyle/>
          <a:p>
            <a:pPr algn="r" indent="0" marL="0">
              <a:buNone/>
            </a:pPr>
            <a:r>
              <a:rPr lang="en-US" sz="1000" i="1" dirty="0">
                <a:solidFill>
                  <a:srgbClr val="5A6379"/>
                </a:solidFill>
                <a:latin typeface="Arial" pitchFamily="34" charset="0"/>
                <a:ea typeface="Arial" pitchFamily="34" charset="-122"/>
                <a:cs typeface="Arial" pitchFamily="34" charset="-120"/>
              </a:rPr>
              <a:t>you gather, then move</a:t>
            </a:r>
            <a:endParaRPr lang="en-US" sz="1000" dirty="0"/>
          </a:p>
        </p:txBody>
      </p:sp>
      <p:sp>
        <p:nvSpPr>
          <p:cNvPr id="19" name="Text 17"/>
          <p:cNvSpPr/>
          <p:nvPr/>
        </p:nvSpPr>
        <p:spPr>
          <a:xfrm>
            <a:off x="9957816" y="3218688"/>
            <a:ext cx="1426464" cy="201168"/>
          </a:xfrm>
          <a:prstGeom prst="rect">
            <a:avLst/>
          </a:prstGeom>
          <a:noFill/>
          <a:ln/>
        </p:spPr>
        <p:txBody>
          <a:bodyPr wrap="square" lIns="0" tIns="0" rIns="0" bIns="0" rtlCol="0" anchor="ctr"/>
          <a:lstStyle/>
          <a:p>
            <a:pPr algn="l" indent="0" marL="0">
              <a:buNone/>
            </a:pPr>
            <a:r>
              <a:rPr lang="en-US" sz="1300" b="1" spc="160" kern="0" dirty="0">
                <a:solidFill>
                  <a:srgbClr val="8A6D14"/>
                </a:solidFill>
                <a:latin typeface="Arial" pitchFamily="34" charset="0"/>
                <a:ea typeface="Arial" pitchFamily="34" charset="-122"/>
                <a:cs typeface="Arial" pitchFamily="34" charset="-120"/>
              </a:rPr>
              <a:t>TELL</a:t>
            </a:r>
            <a:endParaRPr lang="en-US" sz="1300" dirty="0"/>
          </a:p>
        </p:txBody>
      </p:sp>
      <p:sp>
        <p:nvSpPr>
          <p:cNvPr id="20" name="Text 18"/>
          <p:cNvSpPr/>
          <p:nvPr/>
        </p:nvSpPr>
        <p:spPr>
          <a:xfrm>
            <a:off x="9957816" y="3419856"/>
            <a:ext cx="1426464" cy="182880"/>
          </a:xfrm>
          <a:prstGeom prst="rect">
            <a:avLst/>
          </a:prstGeom>
          <a:noFill/>
          <a:ln/>
        </p:spPr>
        <p:txBody>
          <a:bodyPr wrap="square" lIns="0" tIns="0" rIns="0" bIns="0" rtlCol="0" anchor="ctr"/>
          <a:lstStyle/>
          <a:p>
            <a:pPr algn="l" indent="0" marL="0">
              <a:buNone/>
            </a:pPr>
            <a:r>
              <a:rPr lang="en-US" sz="1000" i="1" dirty="0">
                <a:solidFill>
                  <a:srgbClr val="5A6379"/>
                </a:solidFill>
                <a:latin typeface="Arial" pitchFamily="34" charset="0"/>
                <a:ea typeface="Arial" pitchFamily="34" charset="-122"/>
                <a:cs typeface="Arial" pitchFamily="34" charset="-120"/>
              </a:rPr>
              <a:t>you move, then gather</a:t>
            </a:r>
            <a:endParaRPr lang="en-US" sz="1000" dirty="0"/>
          </a:p>
        </p:txBody>
      </p:sp>
      <p:sp>
        <p:nvSpPr>
          <p:cNvPr id="21" name="Text 19"/>
          <p:cNvSpPr/>
          <p:nvPr/>
        </p:nvSpPr>
        <p:spPr>
          <a:xfrm>
            <a:off x="960120" y="1993392"/>
            <a:ext cx="4846320" cy="653735"/>
          </a:xfrm>
          <a:prstGeom prst="rect">
            <a:avLst/>
          </a:prstGeom>
          <a:noFill/>
          <a:ln/>
        </p:spPr>
        <p:txBody>
          <a:bodyPr wrap="square" lIns="0" tIns="0" rIns="0" bIns="0" rtlCol="0" anchor="t"/>
          <a:lstStyle/>
          <a:p>
            <a:pPr algn="ctr" indent="0" marL="0">
              <a:buNone/>
            </a:pPr>
            <a:r>
              <a:rPr lang="en-US" sz="3400" b="1" dirty="0">
                <a:solidFill>
                  <a:srgbClr val="8A6D14"/>
                </a:solidFill>
                <a:latin typeface="Georgia" pitchFamily="34" charset="0"/>
                <a:ea typeface="Georgia" pitchFamily="34" charset="-122"/>
                <a:cs typeface="Georgia" pitchFamily="34" charset="-120"/>
              </a:rPr>
              <a:t>ACCURACY</a:t>
            </a:r>
            <a:endParaRPr lang="en-US" sz="3400" dirty="0"/>
          </a:p>
        </p:txBody>
      </p:sp>
      <p:sp>
        <p:nvSpPr>
          <p:cNvPr id="22" name="Text 20"/>
          <p:cNvSpPr/>
          <p:nvPr/>
        </p:nvSpPr>
        <p:spPr>
          <a:xfrm>
            <a:off x="1508760" y="2701991"/>
            <a:ext cx="3749040" cy="507492"/>
          </a:xfrm>
          <a:prstGeom prst="rect">
            <a:avLst/>
          </a:prstGeom>
          <a:noFill/>
          <a:ln/>
        </p:spPr>
        <p:txBody>
          <a:bodyPr wrap="square" lIns="0" tIns="0" rIns="0" bIns="0" rtlCol="0" anchor="t"/>
          <a:lstStyle/>
          <a:p>
            <a:pPr algn="ctr" indent="0" marL="0">
              <a:buNone/>
            </a:pPr>
            <a:r>
              <a:rPr lang="en-US" sz="1300" dirty="0">
                <a:solidFill>
                  <a:srgbClr val="14213D"/>
                </a:solidFill>
                <a:latin typeface="Arial" pitchFamily="34" charset="0"/>
                <a:ea typeface="Arial" pitchFamily="34" charset="-122"/>
                <a:cs typeface="Arial" pitchFamily="34" charset="-120"/>
              </a:rPr>
              <a:t>Show me the reasoning before the recommendation.</a:t>
            </a:r>
            <a:endParaRPr lang="en-US" sz="1300" dirty="0"/>
          </a:p>
        </p:txBody>
      </p:sp>
      <p:sp>
        <p:nvSpPr>
          <p:cNvPr id="23" name="Text 21"/>
          <p:cNvSpPr/>
          <p:nvPr/>
        </p:nvSpPr>
        <p:spPr>
          <a:xfrm>
            <a:off x="6400800" y="1993392"/>
            <a:ext cx="4846320" cy="653735"/>
          </a:xfrm>
          <a:prstGeom prst="rect">
            <a:avLst/>
          </a:prstGeom>
          <a:noFill/>
          <a:ln/>
        </p:spPr>
        <p:txBody>
          <a:bodyPr wrap="square" lIns="0" tIns="0" rIns="0" bIns="0" rtlCol="0" anchor="t"/>
          <a:lstStyle/>
          <a:p>
            <a:pPr algn="ctr" indent="0" marL="0">
              <a:buNone/>
            </a:pPr>
            <a:r>
              <a:rPr lang="en-US" sz="3400" b="1" dirty="0">
                <a:solidFill>
                  <a:srgbClr val="8A6D14"/>
                </a:solidFill>
                <a:latin typeface="Georgia" pitchFamily="34" charset="0"/>
                <a:ea typeface="Georgia" pitchFamily="34" charset="-122"/>
                <a:cs typeface="Georgia" pitchFamily="34" charset="-120"/>
              </a:rPr>
              <a:t>TIME</a:t>
            </a:r>
            <a:endParaRPr lang="en-US" sz="3400" dirty="0"/>
          </a:p>
        </p:txBody>
      </p:sp>
      <p:sp>
        <p:nvSpPr>
          <p:cNvPr id="24" name="Text 22"/>
          <p:cNvSpPr/>
          <p:nvPr/>
        </p:nvSpPr>
        <p:spPr>
          <a:xfrm>
            <a:off x="6949440" y="2701991"/>
            <a:ext cx="3749040" cy="299466"/>
          </a:xfrm>
          <a:prstGeom prst="rect">
            <a:avLst/>
          </a:prstGeom>
          <a:noFill/>
          <a:ln/>
        </p:spPr>
        <p:txBody>
          <a:bodyPr wrap="square" lIns="0" tIns="0" rIns="0" bIns="0" rtlCol="0" anchor="t"/>
          <a:lstStyle/>
          <a:p>
            <a:pPr algn="ctr" indent="0" marL="0">
              <a:buNone/>
            </a:pPr>
            <a:r>
              <a:rPr lang="en-US" sz="1300" dirty="0">
                <a:solidFill>
                  <a:srgbClr val="14213D"/>
                </a:solidFill>
                <a:latin typeface="Arial" pitchFamily="34" charset="0"/>
                <a:ea typeface="Arial" pitchFamily="34" charset="-122"/>
                <a:cs typeface="Arial" pitchFamily="34" charset="-120"/>
              </a:rPr>
              <a:t>Do not explain it. Close it.</a:t>
            </a:r>
            <a:endParaRPr lang="en-US" sz="1300" dirty="0"/>
          </a:p>
        </p:txBody>
      </p:sp>
      <p:sp>
        <p:nvSpPr>
          <p:cNvPr id="25" name="Text 23"/>
          <p:cNvSpPr/>
          <p:nvPr/>
        </p:nvSpPr>
        <p:spPr>
          <a:xfrm>
            <a:off x="960120" y="3730752"/>
            <a:ext cx="4846320" cy="653735"/>
          </a:xfrm>
          <a:prstGeom prst="rect">
            <a:avLst/>
          </a:prstGeom>
          <a:noFill/>
          <a:ln/>
        </p:spPr>
        <p:txBody>
          <a:bodyPr wrap="square" lIns="0" tIns="0" rIns="0" bIns="0" rtlCol="0" anchor="t"/>
          <a:lstStyle/>
          <a:p>
            <a:pPr algn="ctr" indent="0" marL="0">
              <a:buNone/>
            </a:pPr>
            <a:r>
              <a:rPr lang="en-US" sz="3400" b="1" dirty="0">
                <a:solidFill>
                  <a:srgbClr val="8A6D14"/>
                </a:solidFill>
                <a:latin typeface="Georgia" pitchFamily="34" charset="0"/>
                <a:ea typeface="Georgia" pitchFamily="34" charset="-122"/>
                <a:cs typeface="Georgia" pitchFamily="34" charset="-120"/>
              </a:rPr>
              <a:t>TRUST</a:t>
            </a:r>
            <a:endParaRPr lang="en-US" sz="3400" dirty="0"/>
          </a:p>
        </p:txBody>
      </p:sp>
      <p:sp>
        <p:nvSpPr>
          <p:cNvPr id="26" name="Text 24"/>
          <p:cNvSpPr/>
          <p:nvPr/>
        </p:nvSpPr>
        <p:spPr>
          <a:xfrm>
            <a:off x="1508760" y="4439351"/>
            <a:ext cx="3749040" cy="299466"/>
          </a:xfrm>
          <a:prstGeom prst="rect">
            <a:avLst/>
          </a:prstGeom>
          <a:noFill/>
          <a:ln/>
        </p:spPr>
        <p:txBody>
          <a:bodyPr wrap="square" lIns="0" tIns="0" rIns="0" bIns="0" rtlCol="0" anchor="t"/>
          <a:lstStyle/>
          <a:p>
            <a:pPr algn="ctr" indent="0" marL="0">
              <a:buNone/>
            </a:pPr>
            <a:r>
              <a:rPr lang="en-US" sz="1300" dirty="0">
                <a:solidFill>
                  <a:srgbClr val="14213D"/>
                </a:solidFill>
                <a:latin typeface="Arial" pitchFamily="34" charset="0"/>
                <a:ea typeface="Arial" pitchFamily="34" charset="-122"/>
                <a:cs typeface="Arial" pitchFamily="34" charset="-120"/>
              </a:rPr>
              <a:t>Who does this touch, and do they know yet?</a:t>
            </a:r>
            <a:endParaRPr lang="en-US" sz="1300" dirty="0"/>
          </a:p>
        </p:txBody>
      </p:sp>
      <p:sp>
        <p:nvSpPr>
          <p:cNvPr id="27" name="Text 25"/>
          <p:cNvSpPr/>
          <p:nvPr/>
        </p:nvSpPr>
        <p:spPr>
          <a:xfrm>
            <a:off x="6400800" y="3730752"/>
            <a:ext cx="4846320" cy="653735"/>
          </a:xfrm>
          <a:prstGeom prst="rect">
            <a:avLst/>
          </a:prstGeom>
          <a:noFill/>
          <a:ln/>
        </p:spPr>
        <p:txBody>
          <a:bodyPr wrap="square" lIns="0" tIns="0" rIns="0" bIns="0" rtlCol="0" anchor="t"/>
          <a:lstStyle/>
          <a:p>
            <a:pPr algn="ctr" indent="0" marL="0">
              <a:buNone/>
            </a:pPr>
            <a:r>
              <a:rPr lang="en-US" sz="3400" b="1" dirty="0">
                <a:solidFill>
                  <a:srgbClr val="8A6D14"/>
                </a:solidFill>
                <a:latin typeface="Georgia" pitchFamily="34" charset="0"/>
                <a:ea typeface="Georgia" pitchFamily="34" charset="-122"/>
                <a:cs typeface="Georgia" pitchFamily="34" charset="-120"/>
              </a:rPr>
              <a:t>VISION</a:t>
            </a:r>
            <a:endParaRPr lang="en-US" sz="3400" dirty="0"/>
          </a:p>
        </p:txBody>
      </p:sp>
      <p:sp>
        <p:nvSpPr>
          <p:cNvPr id="28" name="Text 26"/>
          <p:cNvSpPr/>
          <p:nvPr/>
        </p:nvSpPr>
        <p:spPr>
          <a:xfrm>
            <a:off x="6949440" y="4439351"/>
            <a:ext cx="3749040" cy="299466"/>
          </a:xfrm>
          <a:prstGeom prst="rect">
            <a:avLst/>
          </a:prstGeom>
          <a:noFill/>
          <a:ln/>
        </p:spPr>
        <p:txBody>
          <a:bodyPr wrap="square" lIns="0" tIns="0" rIns="0" bIns="0" rtlCol="0" anchor="t"/>
          <a:lstStyle/>
          <a:p>
            <a:pPr algn="ctr" indent="0" marL="0">
              <a:buNone/>
            </a:pPr>
            <a:r>
              <a:rPr lang="en-US" sz="1300" dirty="0">
                <a:solidFill>
                  <a:srgbClr val="14213D"/>
                </a:solidFill>
                <a:latin typeface="Arial" pitchFamily="34" charset="0"/>
                <a:ea typeface="Arial" pitchFamily="34" charset="-122"/>
                <a:cs typeface="Arial" pitchFamily="34" charset="-120"/>
              </a:rPr>
              <a:t>Where else could this go?</a:t>
            </a:r>
            <a:endParaRPr lang="en-US" sz="1300" dirty="0"/>
          </a:p>
        </p:txBody>
      </p:sp>
      <p:sp>
        <p:nvSpPr>
          <p:cNvPr id="29" name="Text 27"/>
          <p:cNvSpPr/>
          <p:nvPr/>
        </p:nvSpPr>
        <p:spPr>
          <a:xfrm>
            <a:off x="813816" y="5486400"/>
            <a:ext cx="10570464" cy="164592"/>
          </a:xfrm>
          <a:prstGeom prst="rect">
            <a:avLst/>
          </a:prstGeom>
          <a:noFill/>
          <a:ln/>
        </p:spPr>
        <p:txBody>
          <a:bodyPr wrap="square" lIns="0" tIns="0" rIns="0" bIns="0" rtlCol="0" anchor="ctr"/>
          <a:lstStyle/>
          <a:p>
            <a:pPr algn="r" indent="0" marL="0">
              <a:buNone/>
            </a:pPr>
            <a:r>
              <a:rPr lang="en-US" sz="900" i="1" dirty="0">
                <a:solidFill>
                  <a:srgbClr val="5A6379"/>
                </a:solidFill>
                <a:latin typeface="Arial" pitchFamily="34" charset="0"/>
                <a:ea typeface="Arial" pitchFamily="34" charset="-122"/>
                <a:cs typeface="Arial" pitchFamily="34" charset="-120"/>
              </a:rPr>
              <a:t>Merrill &amp; Reid, Personal Styles and Effective Performance (1981).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8</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SO HERE IS YOUR ASSIGNMENT</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Four ways to spend the next hour.</a:t>
            </a:r>
            <a:endParaRPr lang="en-US" sz="4000" dirty="0"/>
          </a:p>
        </p:txBody>
      </p:sp>
      <p:sp>
        <p:nvSpPr>
          <p:cNvPr id="11" name="Shape 9"/>
          <p:cNvSpPr/>
          <p:nvPr/>
        </p:nvSpPr>
        <p:spPr>
          <a:xfrm>
            <a:off x="6099048" y="1883664"/>
            <a:ext cx="0" cy="3255264"/>
          </a:xfrm>
          <a:prstGeom prst="line">
            <a:avLst/>
          </a:prstGeom>
          <a:noFill/>
          <a:ln w="9525">
            <a:solidFill>
              <a:srgbClr val="C9A227">
                <a:alpha val="45000"/>
              </a:srgbClr>
            </a:solidFill>
            <a:prstDash val="solid"/>
            <a:headEnd type="triangle"/>
            <a:tailEnd type="triangle"/>
          </a:ln>
        </p:spPr>
      </p:sp>
      <p:sp>
        <p:nvSpPr>
          <p:cNvPr id="12" name="Shape 10"/>
          <p:cNvSpPr/>
          <p:nvPr/>
        </p:nvSpPr>
        <p:spPr>
          <a:xfrm>
            <a:off x="2331720" y="3493008"/>
            <a:ext cx="7534656" cy="0"/>
          </a:xfrm>
          <a:prstGeom prst="line">
            <a:avLst/>
          </a:prstGeom>
          <a:noFill/>
          <a:ln w="9525">
            <a:solidFill>
              <a:srgbClr val="C9A227">
                <a:alpha val="45000"/>
              </a:srgbClr>
            </a:solidFill>
            <a:prstDash val="solid"/>
            <a:headEnd type="triangle"/>
            <a:tailEnd type="triangle"/>
          </a:ln>
        </p:spPr>
      </p:sp>
      <p:sp>
        <p:nvSpPr>
          <p:cNvPr id="13" name="Text 11"/>
          <p:cNvSpPr/>
          <p:nvPr/>
        </p:nvSpPr>
        <p:spPr>
          <a:xfrm>
            <a:off x="4636008" y="1463040"/>
            <a:ext cx="2926080" cy="201168"/>
          </a:xfrm>
          <a:prstGeom prst="rect">
            <a:avLst/>
          </a:prstGeom>
          <a:noFill/>
          <a:ln/>
        </p:spPr>
        <p:txBody>
          <a:bodyPr wrap="square" lIns="0" tIns="0" rIns="0" bIns="0" rtlCol="0" anchor="ctr"/>
          <a:lstStyle/>
          <a:p>
            <a:pPr algn="ctr" indent="0" marL="0">
              <a:buNone/>
            </a:pPr>
            <a:r>
              <a:rPr lang="en-US" sz="1200" b="1" spc="160" kern="0" dirty="0">
                <a:solidFill>
                  <a:srgbClr val="8A6D14"/>
                </a:solidFill>
                <a:latin typeface="Arial" pitchFamily="34" charset="0"/>
                <a:ea typeface="Arial" pitchFamily="34" charset="-122"/>
                <a:cs typeface="Arial" pitchFamily="34" charset="-120"/>
              </a:rPr>
              <a:t>CLOSED</a:t>
            </a:r>
            <a:endParaRPr lang="en-US" sz="1200" dirty="0"/>
          </a:p>
        </p:txBody>
      </p:sp>
      <p:sp>
        <p:nvSpPr>
          <p:cNvPr id="14" name="Text 12"/>
          <p:cNvSpPr/>
          <p:nvPr/>
        </p:nvSpPr>
        <p:spPr>
          <a:xfrm>
            <a:off x="4636008" y="5212080"/>
            <a:ext cx="2926080" cy="201168"/>
          </a:xfrm>
          <a:prstGeom prst="rect">
            <a:avLst/>
          </a:prstGeom>
          <a:noFill/>
          <a:ln/>
        </p:spPr>
        <p:txBody>
          <a:bodyPr wrap="square" lIns="0" tIns="0" rIns="0" bIns="0" rtlCol="0" anchor="ctr"/>
          <a:lstStyle/>
          <a:p>
            <a:pPr algn="ctr" indent="0" marL="0">
              <a:buNone/>
            </a:pPr>
            <a:r>
              <a:rPr lang="en-US" sz="1200" b="1" spc="160" kern="0" dirty="0">
                <a:solidFill>
                  <a:srgbClr val="8A6D14"/>
                </a:solidFill>
                <a:latin typeface="Arial" pitchFamily="34" charset="0"/>
                <a:ea typeface="Arial" pitchFamily="34" charset="-122"/>
                <a:cs typeface="Arial" pitchFamily="34" charset="-120"/>
              </a:rPr>
              <a:t>OPEN</a:t>
            </a:r>
            <a:endParaRPr lang="en-US" sz="1200" dirty="0"/>
          </a:p>
        </p:txBody>
      </p:sp>
      <p:sp>
        <p:nvSpPr>
          <p:cNvPr id="15" name="Text 13"/>
          <p:cNvSpPr/>
          <p:nvPr/>
        </p:nvSpPr>
        <p:spPr>
          <a:xfrm>
            <a:off x="813816" y="3392424"/>
            <a:ext cx="1426464" cy="201168"/>
          </a:xfrm>
          <a:prstGeom prst="rect">
            <a:avLst/>
          </a:prstGeom>
          <a:noFill/>
          <a:ln/>
        </p:spPr>
        <p:txBody>
          <a:bodyPr wrap="square" lIns="0" tIns="0" rIns="0" bIns="0" rtlCol="0" anchor="ctr"/>
          <a:lstStyle/>
          <a:p>
            <a:pPr algn="r" indent="0" marL="0">
              <a:buNone/>
            </a:pPr>
            <a:r>
              <a:rPr lang="en-US" sz="1200" b="1" spc="160" kern="0" dirty="0">
                <a:solidFill>
                  <a:srgbClr val="8A6D14"/>
                </a:solidFill>
                <a:latin typeface="Arial" pitchFamily="34" charset="0"/>
                <a:ea typeface="Arial" pitchFamily="34" charset="-122"/>
                <a:cs typeface="Arial" pitchFamily="34" charset="-120"/>
              </a:rPr>
              <a:t>ASK</a:t>
            </a:r>
            <a:endParaRPr lang="en-US" sz="1200" dirty="0"/>
          </a:p>
        </p:txBody>
      </p:sp>
      <p:sp>
        <p:nvSpPr>
          <p:cNvPr id="16" name="Text 14"/>
          <p:cNvSpPr/>
          <p:nvPr/>
        </p:nvSpPr>
        <p:spPr>
          <a:xfrm>
            <a:off x="9957816" y="3392424"/>
            <a:ext cx="1426464" cy="201168"/>
          </a:xfrm>
          <a:prstGeom prst="rect">
            <a:avLst/>
          </a:prstGeom>
          <a:noFill/>
          <a:ln/>
        </p:spPr>
        <p:txBody>
          <a:bodyPr wrap="square" lIns="0" tIns="0" rIns="0" bIns="0" rtlCol="0" anchor="ctr"/>
          <a:lstStyle/>
          <a:p>
            <a:pPr algn="l" indent="0" marL="0">
              <a:buNone/>
            </a:pPr>
            <a:r>
              <a:rPr lang="en-US" sz="1200" b="1" spc="160" kern="0" dirty="0">
                <a:solidFill>
                  <a:srgbClr val="8A6D14"/>
                </a:solidFill>
                <a:latin typeface="Arial" pitchFamily="34" charset="0"/>
                <a:ea typeface="Arial" pitchFamily="34" charset="-122"/>
                <a:cs typeface="Arial" pitchFamily="34" charset="-120"/>
              </a:rPr>
              <a:t>TELL</a:t>
            </a:r>
            <a:endParaRPr lang="en-US" sz="1200" dirty="0"/>
          </a:p>
        </p:txBody>
      </p:sp>
      <p:sp>
        <p:nvSpPr>
          <p:cNvPr id="17" name="Text 15"/>
          <p:cNvSpPr/>
          <p:nvPr/>
        </p:nvSpPr>
        <p:spPr>
          <a:xfrm>
            <a:off x="960120" y="1901952"/>
            <a:ext cx="4846320" cy="363474"/>
          </a:xfrm>
          <a:prstGeom prst="rect">
            <a:avLst/>
          </a:prstGeom>
          <a:noFill/>
          <a:ln/>
        </p:spPr>
        <p:txBody>
          <a:bodyPr wrap="square" lIns="0" tIns="0" rIns="0" bIns="0" rtlCol="0" anchor="t"/>
          <a:lstStyle/>
          <a:p>
            <a:pPr indent="0" marL="0">
              <a:buNone/>
            </a:pPr>
            <a:r>
              <a:rPr lang="en-US" sz="1700" b="1" spc="120" kern="0" dirty="0">
                <a:solidFill>
                  <a:srgbClr val="8A6D14"/>
                </a:solidFill>
                <a:latin typeface="Arial" pitchFamily="34" charset="0"/>
                <a:ea typeface="Arial" pitchFamily="34" charset="-122"/>
                <a:cs typeface="Arial" pitchFamily="34" charset="-120"/>
              </a:rPr>
              <a:t>ACCURACY</a:t>
            </a:r>
            <a:endParaRPr lang="en-US" sz="1700" dirty="0"/>
          </a:p>
        </p:txBody>
      </p:sp>
      <p:sp>
        <p:nvSpPr>
          <p:cNvPr id="18" name="Text 16"/>
          <p:cNvSpPr/>
          <p:nvPr/>
        </p:nvSpPr>
        <p:spPr>
          <a:xfrm>
            <a:off x="960120" y="2302002"/>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lens: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Show me the reasoning before the recommendation.</a:t>
            </a:r>
            <a:endParaRPr lang="en-US" sz="1200" dirty="0"/>
          </a:p>
        </p:txBody>
      </p:sp>
      <p:sp>
        <p:nvSpPr>
          <p:cNvPr id="19" name="Text 17"/>
          <p:cNvSpPr/>
          <p:nvPr/>
        </p:nvSpPr>
        <p:spPr>
          <a:xfrm>
            <a:off x="960120" y="2631186"/>
            <a:ext cx="4846320" cy="475488"/>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job today: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Hunt the non-determinism. Scaled wrong knowledge is what slows a business down.</a:t>
            </a:r>
            <a:endParaRPr lang="en-US" sz="1200" dirty="0"/>
          </a:p>
        </p:txBody>
      </p:sp>
      <p:sp>
        <p:nvSpPr>
          <p:cNvPr id="20" name="Text 18"/>
          <p:cNvSpPr/>
          <p:nvPr/>
        </p:nvSpPr>
        <p:spPr>
          <a:xfrm>
            <a:off x="960120" y="3152394"/>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 leave with: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Governance that builds repeatability.</a:t>
            </a:r>
            <a:endParaRPr lang="en-US" sz="1200" dirty="0"/>
          </a:p>
        </p:txBody>
      </p:sp>
      <p:sp>
        <p:nvSpPr>
          <p:cNvPr id="21" name="Text 19"/>
          <p:cNvSpPr/>
          <p:nvPr/>
        </p:nvSpPr>
        <p:spPr>
          <a:xfrm>
            <a:off x="6400800" y="1901952"/>
            <a:ext cx="4846320" cy="363474"/>
          </a:xfrm>
          <a:prstGeom prst="rect">
            <a:avLst/>
          </a:prstGeom>
          <a:noFill/>
          <a:ln/>
        </p:spPr>
        <p:txBody>
          <a:bodyPr wrap="square" lIns="0" tIns="0" rIns="0" bIns="0" rtlCol="0" anchor="t"/>
          <a:lstStyle/>
          <a:p>
            <a:pPr indent="0" marL="0">
              <a:buNone/>
            </a:pPr>
            <a:r>
              <a:rPr lang="en-US" sz="1700" b="1" spc="120" kern="0" dirty="0">
                <a:solidFill>
                  <a:srgbClr val="8A6D14"/>
                </a:solidFill>
                <a:latin typeface="Arial" pitchFamily="34" charset="0"/>
                <a:ea typeface="Arial" pitchFamily="34" charset="-122"/>
                <a:cs typeface="Arial" pitchFamily="34" charset="-120"/>
              </a:rPr>
              <a:t>TIME</a:t>
            </a:r>
            <a:endParaRPr lang="en-US" sz="1700" dirty="0"/>
          </a:p>
        </p:txBody>
      </p:sp>
      <p:sp>
        <p:nvSpPr>
          <p:cNvPr id="22" name="Text 20"/>
          <p:cNvSpPr/>
          <p:nvPr/>
        </p:nvSpPr>
        <p:spPr>
          <a:xfrm>
            <a:off x="6400800" y="2302002"/>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lens: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You want it running before I finish the sentence.</a:t>
            </a:r>
            <a:endParaRPr lang="en-US" sz="1200" dirty="0"/>
          </a:p>
        </p:txBody>
      </p:sp>
      <p:sp>
        <p:nvSpPr>
          <p:cNvPr id="23" name="Text 21"/>
          <p:cNvSpPr/>
          <p:nvPr/>
        </p:nvSpPr>
        <p:spPr>
          <a:xfrm>
            <a:off x="6400800" y="2631186"/>
            <a:ext cx="4846320" cy="475488"/>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job today: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Experience this as the job description you are about to hire for.</a:t>
            </a:r>
            <a:endParaRPr lang="en-US" sz="1200" dirty="0"/>
          </a:p>
        </p:txBody>
      </p:sp>
      <p:sp>
        <p:nvSpPr>
          <p:cNvPr id="24" name="Text 22"/>
          <p:cNvSpPr/>
          <p:nvPr/>
        </p:nvSpPr>
        <p:spPr>
          <a:xfrm>
            <a:off x="6400800" y="3152394"/>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 leave with: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How you delegate and invest in this workflow.</a:t>
            </a:r>
            <a:endParaRPr lang="en-US" sz="1200" dirty="0"/>
          </a:p>
        </p:txBody>
      </p:sp>
      <p:sp>
        <p:nvSpPr>
          <p:cNvPr id="25" name="Text 23"/>
          <p:cNvSpPr/>
          <p:nvPr/>
        </p:nvSpPr>
        <p:spPr>
          <a:xfrm>
            <a:off x="960120" y="3639312"/>
            <a:ext cx="4846320" cy="363474"/>
          </a:xfrm>
          <a:prstGeom prst="rect">
            <a:avLst/>
          </a:prstGeom>
          <a:noFill/>
          <a:ln/>
        </p:spPr>
        <p:txBody>
          <a:bodyPr wrap="square" lIns="0" tIns="0" rIns="0" bIns="0" rtlCol="0" anchor="t"/>
          <a:lstStyle/>
          <a:p>
            <a:pPr indent="0" marL="0">
              <a:buNone/>
            </a:pPr>
            <a:r>
              <a:rPr lang="en-US" sz="1700" b="1" spc="120" kern="0" dirty="0">
                <a:solidFill>
                  <a:srgbClr val="8A6D14"/>
                </a:solidFill>
                <a:latin typeface="Arial" pitchFamily="34" charset="0"/>
                <a:ea typeface="Arial" pitchFamily="34" charset="-122"/>
                <a:cs typeface="Arial" pitchFamily="34" charset="-120"/>
              </a:rPr>
              <a:t>TRUST</a:t>
            </a:r>
            <a:endParaRPr lang="en-US" sz="1700" dirty="0"/>
          </a:p>
        </p:txBody>
      </p:sp>
      <p:sp>
        <p:nvSpPr>
          <p:cNvPr id="26" name="Text 24"/>
          <p:cNvSpPr/>
          <p:nvPr/>
        </p:nvSpPr>
        <p:spPr>
          <a:xfrm>
            <a:off x="960120" y="4039362"/>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lens: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Who does this touch, and do they know yet?</a:t>
            </a:r>
            <a:endParaRPr lang="en-US" sz="1200" dirty="0"/>
          </a:p>
        </p:txBody>
      </p:sp>
      <p:sp>
        <p:nvSpPr>
          <p:cNvPr id="27" name="Text 25"/>
          <p:cNvSpPr/>
          <p:nvPr/>
        </p:nvSpPr>
        <p:spPr>
          <a:xfrm>
            <a:off x="960120" y="4368546"/>
            <a:ext cx="4846320" cy="475488"/>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job today: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Decide where human relationships are best served by technology, not replaced by it.</a:t>
            </a:r>
            <a:endParaRPr lang="en-US" sz="1200" dirty="0"/>
          </a:p>
        </p:txBody>
      </p:sp>
      <p:sp>
        <p:nvSpPr>
          <p:cNvPr id="28" name="Text 26"/>
          <p:cNvSpPr/>
          <p:nvPr/>
        </p:nvSpPr>
        <p:spPr>
          <a:xfrm>
            <a:off x="960120" y="4889754"/>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 leave with: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Where AI helps people flourish, not fry them.</a:t>
            </a:r>
            <a:endParaRPr lang="en-US" sz="1200" dirty="0"/>
          </a:p>
        </p:txBody>
      </p:sp>
      <p:sp>
        <p:nvSpPr>
          <p:cNvPr id="29" name="Text 27"/>
          <p:cNvSpPr/>
          <p:nvPr/>
        </p:nvSpPr>
        <p:spPr>
          <a:xfrm>
            <a:off x="6400800" y="3639312"/>
            <a:ext cx="4846320" cy="363474"/>
          </a:xfrm>
          <a:prstGeom prst="rect">
            <a:avLst/>
          </a:prstGeom>
          <a:noFill/>
          <a:ln/>
        </p:spPr>
        <p:txBody>
          <a:bodyPr wrap="square" lIns="0" tIns="0" rIns="0" bIns="0" rtlCol="0" anchor="t"/>
          <a:lstStyle/>
          <a:p>
            <a:pPr indent="0" marL="0">
              <a:buNone/>
            </a:pPr>
            <a:r>
              <a:rPr lang="en-US" sz="1700" b="1" spc="120" kern="0" dirty="0">
                <a:solidFill>
                  <a:srgbClr val="8A6D14"/>
                </a:solidFill>
                <a:latin typeface="Arial" pitchFamily="34" charset="0"/>
                <a:ea typeface="Arial" pitchFamily="34" charset="-122"/>
                <a:cs typeface="Arial" pitchFamily="34" charset="-120"/>
              </a:rPr>
              <a:t>VISION</a:t>
            </a:r>
            <a:endParaRPr lang="en-US" sz="1700" dirty="0"/>
          </a:p>
        </p:txBody>
      </p:sp>
      <p:sp>
        <p:nvSpPr>
          <p:cNvPr id="30" name="Text 28"/>
          <p:cNvSpPr/>
          <p:nvPr/>
        </p:nvSpPr>
        <p:spPr>
          <a:xfrm>
            <a:off x="6400800" y="4039362"/>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lens: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Where else could this go?</a:t>
            </a:r>
            <a:endParaRPr lang="en-US" sz="1200" dirty="0"/>
          </a:p>
        </p:txBody>
      </p:sp>
      <p:sp>
        <p:nvSpPr>
          <p:cNvPr id="31" name="Text 29"/>
          <p:cNvSpPr/>
          <p:nvPr/>
        </p:nvSpPr>
        <p:spPr>
          <a:xfrm>
            <a:off x="6400800" y="4368546"/>
            <a:ext cx="4846320" cy="475488"/>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Your job today: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Today is email plus plain English. See the invisible digital headquarters behind it.</a:t>
            </a:r>
            <a:endParaRPr lang="en-US" sz="1200" dirty="0"/>
          </a:p>
        </p:txBody>
      </p:sp>
      <p:sp>
        <p:nvSpPr>
          <p:cNvPr id="32" name="Text 30"/>
          <p:cNvSpPr/>
          <p:nvPr/>
        </p:nvSpPr>
        <p:spPr>
          <a:xfrm>
            <a:off x="6400800" y="4889754"/>
            <a:ext cx="4846320" cy="283464"/>
          </a:xfrm>
          <a:prstGeom prst="rect">
            <a:avLst/>
          </a:prstGeom>
          <a:noFill/>
          <a:ln/>
        </p:spPr>
        <p:txBody>
          <a:bodyPr wrap="square" lIns="0" tIns="0" rIns="0" bIns="0" rtlCol="0" anchor="t"/>
          <a:lstStyle/>
          <a:p>
            <a:pPr indent="0" marL="0">
              <a:lnSpc>
                <a:spcPct val="114000"/>
              </a:lnSpc>
              <a:buNone/>
            </a:pPr>
            <a:r>
              <a:rPr lang="en-US" sz="1200" b="1" dirty="0">
                <a:solidFill>
                  <a:srgbClr val="8A6D14"/>
                </a:solidFill>
                <a:latin typeface="Arial" pitchFamily="34" charset="0"/>
                <a:ea typeface="Arial" pitchFamily="34" charset="-122"/>
                <a:cs typeface="Arial" pitchFamily="34" charset="-120"/>
              </a:rPr>
              <a:t>You leave with: </a:t>
            </a:r>
            <a:pPr indent="0" marL="0">
              <a:lnSpc>
                <a:spcPct val="114000"/>
              </a:lnSpc>
              <a:buNone/>
            </a:pPr>
            <a:r>
              <a:rPr lang="en-US" sz="1200" dirty="0">
                <a:solidFill>
                  <a:srgbClr val="14213D"/>
                </a:solidFill>
                <a:latin typeface="Arial" pitchFamily="34" charset="0"/>
                <a:ea typeface="Arial" pitchFamily="34" charset="-122"/>
                <a:cs typeface="Arial" pitchFamily="34" charset="-120"/>
              </a:rPr>
              <a:t>The first worlds you can build from here.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9</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HOUSE RULES</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F7F3EA"/>
                </a:solidFill>
                <a:latin typeface="Georgia" pitchFamily="34" charset="0"/>
                <a:ea typeface="Georgia" pitchFamily="34" charset="-122"/>
                <a:cs typeface="Georgia" pitchFamily="34" charset="-120"/>
              </a:rPr>
              <a:t>Five of them.</a:t>
            </a:r>
            <a:endParaRPr lang="en-US" sz="4000" dirty="0"/>
          </a:p>
        </p:txBody>
      </p:sp>
      <p:sp>
        <p:nvSpPr>
          <p:cNvPr id="11" name="Text 9"/>
          <p:cNvSpPr/>
          <p:nvPr/>
        </p:nvSpPr>
        <p:spPr>
          <a:xfrm>
            <a:off x="813816" y="1811731"/>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1</a:t>
            </a:r>
            <a:endParaRPr lang="en-US" sz="2600" dirty="0"/>
          </a:p>
        </p:txBody>
      </p:sp>
      <p:sp>
        <p:nvSpPr>
          <p:cNvPr id="12" name="Text 10"/>
          <p:cNvSpPr/>
          <p:nvPr/>
        </p:nvSpPr>
        <p:spPr>
          <a:xfrm>
            <a:off x="1417320" y="1848307"/>
            <a:ext cx="9966960" cy="331470"/>
          </a:xfrm>
          <a:prstGeom prst="rect">
            <a:avLst/>
          </a:prstGeom>
          <a:noFill/>
          <a:ln/>
        </p:spPr>
        <p:txBody>
          <a:bodyPr wrap="square" lIns="0" tIns="0" rIns="0" bIns="0" rtlCol="0" anchor="ctr"/>
          <a:lstStyle/>
          <a:p>
            <a:pPr indent="0" marL="0">
              <a:buNone/>
            </a:pPr>
            <a:r>
              <a:rPr lang="en-US" sz="1500" dirty="0">
                <a:solidFill>
                  <a:srgbClr val="F7F3EA"/>
                </a:solidFill>
                <a:latin typeface="Arial" pitchFamily="34" charset="0"/>
                <a:ea typeface="Arial" pitchFamily="34" charset="-122"/>
                <a:cs typeface="Arial" pitchFamily="34" charset="-120"/>
              </a:rPr>
              <a:t>She never sends. Drafts only. You are the send button.</a:t>
            </a:r>
            <a:endParaRPr lang="en-US" sz="1500" dirty="0"/>
          </a:p>
        </p:txBody>
      </p:sp>
      <p:sp>
        <p:nvSpPr>
          <p:cNvPr id="13" name="Text 11"/>
          <p:cNvSpPr/>
          <p:nvPr/>
        </p:nvSpPr>
        <p:spPr>
          <a:xfrm>
            <a:off x="813816" y="2415235"/>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1417320" y="2451811"/>
            <a:ext cx="9966960" cy="331470"/>
          </a:xfrm>
          <a:prstGeom prst="rect">
            <a:avLst/>
          </a:prstGeom>
          <a:noFill/>
          <a:ln/>
        </p:spPr>
        <p:txBody>
          <a:bodyPr wrap="square" lIns="0" tIns="0" rIns="0" bIns="0" rtlCol="0" anchor="ctr"/>
          <a:lstStyle/>
          <a:p>
            <a:pPr indent="0" marL="0">
              <a:buNone/>
            </a:pPr>
            <a:r>
              <a:rPr lang="en-US" sz="1500" dirty="0">
                <a:solidFill>
                  <a:srgbClr val="F7F3EA"/>
                </a:solidFill>
                <a:latin typeface="Arial" pitchFamily="34" charset="0"/>
                <a:ea typeface="Arial" pitchFamily="34" charset="-122"/>
                <a:cs typeface="Arial" pitchFamily="34" charset="-120"/>
              </a:rPr>
              <a:t>She never deletes. Nothing we do today is destructive.</a:t>
            </a:r>
            <a:endParaRPr lang="en-US" sz="1500" dirty="0"/>
          </a:p>
        </p:txBody>
      </p:sp>
      <p:sp>
        <p:nvSpPr>
          <p:cNvPr id="15" name="Text 13"/>
          <p:cNvSpPr/>
          <p:nvPr/>
        </p:nvSpPr>
        <p:spPr>
          <a:xfrm>
            <a:off x="813816" y="3018739"/>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3</a:t>
            </a:r>
            <a:endParaRPr lang="en-US" sz="2600" dirty="0"/>
          </a:p>
        </p:txBody>
      </p:sp>
      <p:sp>
        <p:nvSpPr>
          <p:cNvPr id="16" name="Text 14"/>
          <p:cNvSpPr/>
          <p:nvPr/>
        </p:nvSpPr>
        <p:spPr>
          <a:xfrm>
            <a:off x="1417320" y="3055315"/>
            <a:ext cx="9966960" cy="331470"/>
          </a:xfrm>
          <a:prstGeom prst="rect">
            <a:avLst/>
          </a:prstGeom>
          <a:noFill/>
          <a:ln/>
        </p:spPr>
        <p:txBody>
          <a:bodyPr wrap="square" lIns="0" tIns="0" rIns="0" bIns="0" rtlCol="0" anchor="ctr"/>
          <a:lstStyle/>
          <a:p>
            <a:pPr indent="0" marL="0">
              <a:buNone/>
            </a:pPr>
            <a:r>
              <a:rPr lang="en-US" sz="1500" dirty="0">
                <a:solidFill>
                  <a:srgbClr val="F7F3EA"/>
                </a:solidFill>
                <a:latin typeface="Arial" pitchFamily="34" charset="0"/>
                <a:ea typeface="Arial" pitchFamily="34" charset="-122"/>
                <a:cs typeface="Arial" pitchFamily="34" charset="-120"/>
              </a:rPr>
              <a:t>We move together. Every step ends at a checkpoint.</a:t>
            </a:r>
            <a:endParaRPr lang="en-US" sz="1500" dirty="0"/>
          </a:p>
        </p:txBody>
      </p:sp>
      <p:sp>
        <p:nvSpPr>
          <p:cNvPr id="17" name="Text 15"/>
          <p:cNvSpPr/>
          <p:nvPr/>
        </p:nvSpPr>
        <p:spPr>
          <a:xfrm>
            <a:off x="813816" y="3622243"/>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4</a:t>
            </a:r>
            <a:endParaRPr lang="en-US" sz="2600" dirty="0"/>
          </a:p>
        </p:txBody>
      </p:sp>
      <p:sp>
        <p:nvSpPr>
          <p:cNvPr id="18" name="Text 16"/>
          <p:cNvSpPr/>
          <p:nvPr/>
        </p:nvSpPr>
        <p:spPr>
          <a:xfrm>
            <a:off x="1417320" y="3658819"/>
            <a:ext cx="9966960" cy="331470"/>
          </a:xfrm>
          <a:prstGeom prst="rect">
            <a:avLst/>
          </a:prstGeom>
          <a:noFill/>
          <a:ln/>
        </p:spPr>
        <p:txBody>
          <a:bodyPr wrap="square" lIns="0" tIns="0" rIns="0" bIns="0" rtlCol="0" anchor="ctr"/>
          <a:lstStyle/>
          <a:p>
            <a:pPr indent="0" marL="0">
              <a:buNone/>
            </a:pPr>
            <a:r>
              <a:rPr lang="en-US" sz="1500" dirty="0">
                <a:solidFill>
                  <a:srgbClr val="F7F3EA"/>
                </a:solidFill>
                <a:latin typeface="Arial" pitchFamily="34" charset="0"/>
                <a:ea typeface="Arial" pitchFamily="34" charset="-122"/>
                <a:cs typeface="Arial" pitchFamily="34" charset="-120"/>
              </a:rPr>
              <a:t>Copy buttons everywhere. Nobody types more than a sentence.</a:t>
            </a:r>
            <a:endParaRPr lang="en-US" sz="1500" dirty="0"/>
          </a:p>
        </p:txBody>
      </p:sp>
      <p:sp>
        <p:nvSpPr>
          <p:cNvPr id="19" name="Text 17"/>
          <p:cNvSpPr/>
          <p:nvPr/>
        </p:nvSpPr>
        <p:spPr>
          <a:xfrm>
            <a:off x="813816" y="4225747"/>
            <a:ext cx="457200" cy="420624"/>
          </a:xfrm>
          <a:prstGeom prst="rect">
            <a:avLst/>
          </a:prstGeom>
          <a:noFill/>
          <a:ln/>
        </p:spPr>
        <p:txBody>
          <a:bodyPr wrap="square" lIns="0" tIns="0" rIns="0" bIns="0" rtlCol="0" anchor="ctr"/>
          <a:lstStyle/>
          <a:p>
            <a:pPr indent="0" marL="0">
              <a:buNone/>
            </a:pPr>
            <a:r>
              <a:rPr lang="en-US" sz="2600" b="1" dirty="0">
                <a:solidFill>
                  <a:srgbClr val="E7C766"/>
                </a:solidFill>
                <a:latin typeface="Georgia" pitchFamily="34" charset="0"/>
                <a:ea typeface="Georgia" pitchFamily="34" charset="-122"/>
                <a:cs typeface="Georgia" pitchFamily="34" charset="-120"/>
              </a:rPr>
              <a:t>5</a:t>
            </a:r>
            <a:endParaRPr lang="en-US" sz="2600" dirty="0"/>
          </a:p>
        </p:txBody>
      </p:sp>
      <p:sp>
        <p:nvSpPr>
          <p:cNvPr id="20" name="Text 18"/>
          <p:cNvSpPr/>
          <p:nvPr/>
        </p:nvSpPr>
        <p:spPr>
          <a:xfrm>
            <a:off x="1417320" y="4262323"/>
            <a:ext cx="9966960" cy="331470"/>
          </a:xfrm>
          <a:prstGeom prst="rect">
            <a:avLst/>
          </a:prstGeom>
          <a:noFill/>
          <a:ln/>
        </p:spPr>
        <p:txBody>
          <a:bodyPr wrap="square" lIns="0" tIns="0" rIns="0" bIns="0" rtlCol="0" anchor="ctr"/>
          <a:lstStyle/>
          <a:p>
            <a:pPr indent="0" marL="0">
              <a:buNone/>
            </a:pPr>
            <a:r>
              <a:rPr lang="en-US" sz="1500" dirty="0">
                <a:solidFill>
                  <a:srgbClr val="F7F3EA"/>
                </a:solidFill>
                <a:latin typeface="Arial" pitchFamily="34" charset="0"/>
                <a:ea typeface="Arial" pitchFamily="34" charset="-122"/>
                <a:cs typeface="Arial" pitchFamily="34" charset="-120"/>
              </a:rPr>
              <a:t>No question is too small. Stuck for 60 seconds, hand up.</a:t>
            </a:r>
            <a:endParaRPr lang="en-US" sz="1500" dirty="0"/>
          </a:p>
        </p:txBody>
      </p:sp>
      <p:sp>
        <p:nvSpPr>
          <p:cNvPr id="21" name="Text 19"/>
          <p:cNvSpPr/>
          <p:nvPr/>
        </p:nvSpPr>
        <p:spPr>
          <a:xfrm>
            <a:off x="813816" y="5296662"/>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E7C766"/>
                </a:solidFill>
                <a:latin typeface="Arial" pitchFamily="34" charset="0"/>
                <a:ea typeface="Arial" pitchFamily="34" charset="-122"/>
                <a:cs typeface="Arial" pitchFamily="34" charset="-120"/>
              </a:rPr>
              <a:t>If anything I just said did not compute, perfect. You are exactly who this is for.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10</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PLAN  ·  2:40 CONTEXT  ·  3:00 BUILD  ·  3:45 DISCUSSION  ·  4:10 DONE</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Three steps. Forty-five minutes.</a:t>
            </a:r>
            <a:endParaRPr lang="en-US" sz="4000" dirty="0"/>
          </a:p>
        </p:txBody>
      </p:sp>
      <p:sp>
        <p:nvSpPr>
          <p:cNvPr id="11" name="Shape 9"/>
          <p:cNvSpPr/>
          <p:nvPr/>
        </p:nvSpPr>
        <p:spPr>
          <a:xfrm>
            <a:off x="813816" y="1903171"/>
            <a:ext cx="3255264" cy="2615184"/>
          </a:xfrm>
          <a:prstGeom prst="rect">
            <a:avLst/>
          </a:prstGeom>
          <a:solidFill>
            <a:srgbClr val="E8E2D2"/>
          </a:solidFill>
          <a:ln/>
        </p:spPr>
      </p:sp>
      <p:sp>
        <p:nvSpPr>
          <p:cNvPr id="12" name="Text 10"/>
          <p:cNvSpPr/>
          <p:nvPr/>
        </p:nvSpPr>
        <p:spPr>
          <a:xfrm>
            <a:off x="1088136" y="2122627"/>
            <a:ext cx="2706624" cy="658368"/>
          </a:xfrm>
          <a:prstGeom prst="rect">
            <a:avLst/>
          </a:prstGeom>
          <a:noFill/>
          <a:ln/>
        </p:spPr>
        <p:txBody>
          <a:bodyPr wrap="square" lIns="0" tIns="0" rIns="0" bIns="0" rtlCol="0" anchor="t"/>
          <a:lstStyle/>
          <a:p>
            <a:pPr indent="0" marL="0">
              <a:buNone/>
            </a:pPr>
            <a:r>
              <a:rPr lang="en-US" sz="4000" b="1" dirty="0">
                <a:solidFill>
                  <a:srgbClr val="8A6D14"/>
                </a:solidFill>
                <a:latin typeface="Georgia" pitchFamily="34" charset="0"/>
                <a:ea typeface="Georgia" pitchFamily="34" charset="-122"/>
                <a:cs typeface="Georgia" pitchFamily="34" charset="-120"/>
              </a:rPr>
              <a:t>01</a:t>
            </a:r>
            <a:endParaRPr lang="en-US" sz="4000" dirty="0"/>
          </a:p>
        </p:txBody>
      </p:sp>
      <p:sp>
        <p:nvSpPr>
          <p:cNvPr id="13" name="Text 11"/>
          <p:cNvSpPr/>
          <p:nvPr/>
        </p:nvSpPr>
        <p:spPr>
          <a:xfrm>
            <a:off x="1088136" y="2817571"/>
            <a:ext cx="2706624" cy="274320"/>
          </a:xfrm>
          <a:prstGeom prst="rect">
            <a:avLst/>
          </a:prstGeom>
          <a:noFill/>
          <a:ln/>
        </p:spPr>
        <p:txBody>
          <a:bodyPr wrap="square" lIns="0" tIns="0" rIns="0" bIns="0" rtlCol="0" anchor="t"/>
          <a:lstStyle/>
          <a:p>
            <a:pPr indent="0" marL="0">
              <a:buNone/>
            </a:pPr>
            <a:r>
              <a:rPr lang="en-US" sz="1500" b="1" spc="80" kern="0" dirty="0">
                <a:solidFill>
                  <a:srgbClr val="14213D"/>
                </a:solidFill>
                <a:latin typeface="Arial" pitchFamily="34" charset="0"/>
                <a:ea typeface="Arial" pitchFamily="34" charset="-122"/>
                <a:cs typeface="Arial" pitchFamily="34" charset="-120"/>
              </a:rPr>
              <a:t>FIRST IMPRESSIONS</a:t>
            </a:r>
            <a:endParaRPr lang="en-US" sz="1500" dirty="0"/>
          </a:p>
        </p:txBody>
      </p:sp>
      <p:sp>
        <p:nvSpPr>
          <p:cNvPr id="14" name="Text 12"/>
          <p:cNvSpPr/>
          <p:nvPr/>
        </p:nvSpPr>
        <p:spPr>
          <a:xfrm>
            <a:off x="1088136" y="3165043"/>
            <a:ext cx="2706624" cy="85953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One desk for everything. Connect your email and calendar, and she drafts her first reply.</a:t>
            </a:r>
            <a:endParaRPr lang="en-US" sz="1300" dirty="0"/>
          </a:p>
        </p:txBody>
      </p:sp>
      <p:sp>
        <p:nvSpPr>
          <p:cNvPr id="15" name="Text 13"/>
          <p:cNvSpPr/>
          <p:nvPr/>
        </p:nvSpPr>
        <p:spPr>
          <a:xfrm>
            <a:off x="1088136" y="4061155"/>
            <a:ext cx="2706624" cy="256032"/>
          </a:xfrm>
          <a:prstGeom prst="rect">
            <a:avLst/>
          </a:prstGeom>
          <a:noFill/>
          <a:ln/>
        </p:spPr>
        <p:txBody>
          <a:bodyPr wrap="square" lIns="0" tIns="0" rIns="0" bIns="0" rtlCol="0" anchor="ctr"/>
          <a:lstStyle/>
          <a:p>
            <a:pPr indent="0" marL="0">
              <a:buNone/>
            </a:pPr>
            <a:r>
              <a:rPr lang="en-US" sz="1200" b="1" spc="140" kern="0" dirty="0">
                <a:solidFill>
                  <a:srgbClr val="8A6D14"/>
                </a:solidFill>
                <a:latin typeface="Arial" pitchFamily="34" charset="0"/>
                <a:ea typeface="Arial" pitchFamily="34" charset="-122"/>
                <a:cs typeface="Arial" pitchFamily="34" charset="-120"/>
              </a:rPr>
              <a:t>DOCUMENT  ·  TEST</a:t>
            </a:r>
            <a:endParaRPr lang="en-US" sz="1200" dirty="0"/>
          </a:p>
        </p:txBody>
      </p:sp>
      <p:sp>
        <p:nvSpPr>
          <p:cNvPr id="16" name="Shape 14"/>
          <p:cNvSpPr/>
          <p:nvPr/>
        </p:nvSpPr>
        <p:spPr>
          <a:xfrm>
            <a:off x="4471416" y="1903171"/>
            <a:ext cx="3255264" cy="2615184"/>
          </a:xfrm>
          <a:prstGeom prst="rect">
            <a:avLst/>
          </a:prstGeom>
          <a:solidFill>
            <a:srgbClr val="E8E2D2"/>
          </a:solidFill>
          <a:ln/>
        </p:spPr>
      </p:sp>
      <p:sp>
        <p:nvSpPr>
          <p:cNvPr id="17" name="Text 15"/>
          <p:cNvSpPr/>
          <p:nvPr/>
        </p:nvSpPr>
        <p:spPr>
          <a:xfrm>
            <a:off x="4745736" y="2122627"/>
            <a:ext cx="2706624" cy="658368"/>
          </a:xfrm>
          <a:prstGeom prst="rect">
            <a:avLst/>
          </a:prstGeom>
          <a:noFill/>
          <a:ln/>
        </p:spPr>
        <p:txBody>
          <a:bodyPr wrap="square" lIns="0" tIns="0" rIns="0" bIns="0" rtlCol="0" anchor="t"/>
          <a:lstStyle/>
          <a:p>
            <a:pPr indent="0" marL="0">
              <a:buNone/>
            </a:pPr>
            <a:r>
              <a:rPr lang="en-US" sz="4000" b="1" dirty="0">
                <a:solidFill>
                  <a:srgbClr val="8A6D14"/>
                </a:solidFill>
                <a:latin typeface="Georgia" pitchFamily="34" charset="0"/>
                <a:ea typeface="Georgia" pitchFamily="34" charset="-122"/>
                <a:cs typeface="Georgia" pitchFamily="34" charset="-120"/>
              </a:rPr>
              <a:t>02</a:t>
            </a:r>
            <a:endParaRPr lang="en-US" sz="4000" dirty="0"/>
          </a:p>
        </p:txBody>
      </p:sp>
      <p:sp>
        <p:nvSpPr>
          <p:cNvPr id="18" name="Text 16"/>
          <p:cNvSpPr/>
          <p:nvPr/>
        </p:nvSpPr>
        <p:spPr>
          <a:xfrm>
            <a:off x="4745736" y="2817571"/>
            <a:ext cx="2706624" cy="274320"/>
          </a:xfrm>
          <a:prstGeom prst="rect">
            <a:avLst/>
          </a:prstGeom>
          <a:noFill/>
          <a:ln/>
        </p:spPr>
        <p:txBody>
          <a:bodyPr wrap="square" lIns="0" tIns="0" rIns="0" bIns="0" rtlCol="0" anchor="t"/>
          <a:lstStyle/>
          <a:p>
            <a:pPr indent="0" marL="0">
              <a:buNone/>
            </a:pPr>
            <a:r>
              <a:rPr lang="en-US" sz="1500" b="1" spc="80" kern="0" dirty="0">
                <a:solidFill>
                  <a:srgbClr val="14213D"/>
                </a:solidFill>
                <a:latin typeface="Arial" pitchFamily="34" charset="0"/>
                <a:ea typeface="Arial" pitchFamily="34" charset="-122"/>
                <a:cs typeface="Arial" pitchFamily="34" charset="-120"/>
              </a:rPr>
              <a:t>THE TRIAGE DESK</a:t>
            </a:r>
            <a:endParaRPr lang="en-US" sz="1500" dirty="0"/>
          </a:p>
        </p:txBody>
      </p:sp>
      <p:sp>
        <p:nvSpPr>
          <p:cNvPr id="19" name="Text 17"/>
          <p:cNvSpPr/>
          <p:nvPr/>
        </p:nvSpPr>
        <p:spPr>
          <a:xfrm>
            <a:off x="4745736" y="3165043"/>
            <a:ext cx="2706624" cy="85953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She asks five questions, learns which executive you are, and writes your rules herself.</a:t>
            </a:r>
            <a:endParaRPr lang="en-US" sz="1300" dirty="0"/>
          </a:p>
        </p:txBody>
      </p:sp>
      <p:sp>
        <p:nvSpPr>
          <p:cNvPr id="20" name="Text 18"/>
          <p:cNvSpPr/>
          <p:nvPr/>
        </p:nvSpPr>
        <p:spPr>
          <a:xfrm>
            <a:off x="4745736" y="4061155"/>
            <a:ext cx="2706624" cy="256032"/>
          </a:xfrm>
          <a:prstGeom prst="rect">
            <a:avLst/>
          </a:prstGeom>
          <a:noFill/>
          <a:ln/>
        </p:spPr>
        <p:txBody>
          <a:bodyPr wrap="square" lIns="0" tIns="0" rIns="0" bIns="0" rtlCol="0" anchor="ctr"/>
          <a:lstStyle/>
          <a:p>
            <a:pPr indent="0" marL="0">
              <a:buNone/>
            </a:pPr>
            <a:r>
              <a:rPr lang="en-US" sz="1200" b="1" spc="140" kern="0" dirty="0">
                <a:solidFill>
                  <a:srgbClr val="8A6D14"/>
                </a:solidFill>
                <a:latin typeface="Arial" pitchFamily="34" charset="0"/>
                <a:ea typeface="Arial" pitchFamily="34" charset="-122"/>
                <a:cs typeface="Arial" pitchFamily="34" charset="-120"/>
              </a:rPr>
              <a:t>REVISE</a:t>
            </a:r>
            <a:endParaRPr lang="en-US" sz="1200" dirty="0"/>
          </a:p>
        </p:txBody>
      </p:sp>
      <p:sp>
        <p:nvSpPr>
          <p:cNvPr id="21" name="Shape 19"/>
          <p:cNvSpPr/>
          <p:nvPr/>
        </p:nvSpPr>
        <p:spPr>
          <a:xfrm>
            <a:off x="8129016" y="1903171"/>
            <a:ext cx="3255264" cy="2615184"/>
          </a:xfrm>
          <a:prstGeom prst="rect">
            <a:avLst/>
          </a:prstGeom>
          <a:solidFill>
            <a:srgbClr val="E8E2D2"/>
          </a:solidFill>
          <a:ln/>
        </p:spPr>
      </p:sp>
      <p:sp>
        <p:nvSpPr>
          <p:cNvPr id="22" name="Text 20"/>
          <p:cNvSpPr/>
          <p:nvPr/>
        </p:nvSpPr>
        <p:spPr>
          <a:xfrm>
            <a:off x="8403336" y="2122627"/>
            <a:ext cx="2706624" cy="658368"/>
          </a:xfrm>
          <a:prstGeom prst="rect">
            <a:avLst/>
          </a:prstGeom>
          <a:noFill/>
          <a:ln/>
        </p:spPr>
        <p:txBody>
          <a:bodyPr wrap="square" lIns="0" tIns="0" rIns="0" bIns="0" rtlCol="0" anchor="t"/>
          <a:lstStyle/>
          <a:p>
            <a:pPr indent="0" marL="0">
              <a:buNone/>
            </a:pPr>
            <a:r>
              <a:rPr lang="en-US" sz="4000" b="1" dirty="0">
                <a:solidFill>
                  <a:srgbClr val="8A6D14"/>
                </a:solidFill>
                <a:latin typeface="Georgia" pitchFamily="34" charset="0"/>
                <a:ea typeface="Georgia" pitchFamily="34" charset="-122"/>
                <a:cs typeface="Georgia" pitchFamily="34" charset="-120"/>
              </a:rPr>
              <a:t>03</a:t>
            </a:r>
            <a:endParaRPr lang="en-US" sz="4000" dirty="0"/>
          </a:p>
        </p:txBody>
      </p:sp>
      <p:sp>
        <p:nvSpPr>
          <p:cNvPr id="23" name="Text 21"/>
          <p:cNvSpPr/>
          <p:nvPr/>
        </p:nvSpPr>
        <p:spPr>
          <a:xfrm>
            <a:off x="8403336" y="2817571"/>
            <a:ext cx="2706624" cy="274320"/>
          </a:xfrm>
          <a:prstGeom prst="rect">
            <a:avLst/>
          </a:prstGeom>
          <a:noFill/>
          <a:ln/>
        </p:spPr>
        <p:txBody>
          <a:bodyPr wrap="square" lIns="0" tIns="0" rIns="0" bIns="0" rtlCol="0" anchor="t"/>
          <a:lstStyle/>
          <a:p>
            <a:pPr indent="0" marL="0">
              <a:buNone/>
            </a:pPr>
            <a:r>
              <a:rPr lang="en-US" sz="1500" b="1" spc="80" kern="0" dirty="0">
                <a:solidFill>
                  <a:srgbClr val="14213D"/>
                </a:solidFill>
                <a:latin typeface="Arial" pitchFamily="34" charset="0"/>
                <a:ea typeface="Arial" pitchFamily="34" charset="-122"/>
                <a:cs typeface="Arial" pitchFamily="34" charset="-120"/>
              </a:rPr>
              <a:t>DONNA, FULL TIME</a:t>
            </a:r>
            <a:endParaRPr lang="en-US" sz="1500" dirty="0"/>
          </a:p>
        </p:txBody>
      </p:sp>
      <p:sp>
        <p:nvSpPr>
          <p:cNvPr id="24" name="Text 22"/>
          <p:cNvSpPr/>
          <p:nvPr/>
        </p:nvSpPr>
        <p:spPr>
          <a:xfrm>
            <a:off x="8403336" y="3165043"/>
            <a:ext cx="2706624" cy="85953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Her playbook becomes a skill she keeps, and she takes the 4:30 evening shift.</a:t>
            </a:r>
            <a:endParaRPr lang="en-US" sz="1300" dirty="0"/>
          </a:p>
        </p:txBody>
      </p:sp>
      <p:sp>
        <p:nvSpPr>
          <p:cNvPr id="25" name="Text 23"/>
          <p:cNvSpPr/>
          <p:nvPr/>
        </p:nvSpPr>
        <p:spPr>
          <a:xfrm>
            <a:off x="8403336" y="4061155"/>
            <a:ext cx="2706624" cy="256032"/>
          </a:xfrm>
          <a:prstGeom prst="rect">
            <a:avLst/>
          </a:prstGeom>
          <a:noFill/>
          <a:ln/>
        </p:spPr>
        <p:txBody>
          <a:bodyPr wrap="square" lIns="0" tIns="0" rIns="0" bIns="0" rtlCol="0" anchor="ctr"/>
          <a:lstStyle/>
          <a:p>
            <a:pPr indent="0" marL="0">
              <a:buNone/>
            </a:pPr>
            <a:r>
              <a:rPr lang="en-US" sz="1200" b="1" spc="140" kern="0" dirty="0">
                <a:solidFill>
                  <a:srgbClr val="8A6D14"/>
                </a:solidFill>
                <a:latin typeface="Arial" pitchFamily="34" charset="0"/>
                <a:ea typeface="Arial" pitchFamily="34" charset="-122"/>
                <a:cs typeface="Arial" pitchFamily="34" charset="-120"/>
              </a:rPr>
              <a:t>OPERATE</a:t>
            </a:r>
            <a:endParaRPr lang="en-US" sz="1200" dirty="0"/>
          </a:p>
        </p:txBody>
      </p:sp>
      <p:sp>
        <p:nvSpPr>
          <p:cNvPr id="26" name="Text 24"/>
          <p:cNvSpPr/>
          <p:nvPr/>
        </p:nvSpPr>
        <p:spPr>
          <a:xfrm>
            <a:off x="813816" y="4846320"/>
            <a:ext cx="10570464" cy="299466"/>
          </a:xfrm>
          <a:prstGeom prst="rect">
            <a:avLst/>
          </a:prstGeom>
          <a:noFill/>
          <a:ln/>
        </p:spPr>
        <p:txBody>
          <a:bodyPr wrap="square" lIns="0" tIns="0" rIns="0" bIns="0" rtlCol="0" anchor="t"/>
          <a:lstStyle/>
          <a:p>
            <a:pPr algn="l" indent="0" marL="0">
              <a:lnSpc>
                <a:spcPct val="116000"/>
              </a:lnSpc>
              <a:buNone/>
            </a:pPr>
            <a:r>
              <a:rPr lang="en-US" sz="1300" i="1" dirty="0">
                <a:solidFill>
                  <a:srgbClr val="5A6379"/>
                </a:solidFill>
                <a:latin typeface="Arial" pitchFamily="34" charset="0"/>
                <a:ea typeface="Arial" pitchFamily="34" charset="-122"/>
                <a:cs typeface="Arial" pitchFamily="34" charset="-120"/>
              </a:rPr>
              <a:t>Every step is one station of the flywheel. You write a document, you test it, and you put it on the clock.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11</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C9A227"/>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C9A227"/>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14213D"/>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14213D"/>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E7C766"/>
                </a:solidFill>
                <a:latin typeface="Arial" pitchFamily="34" charset="0"/>
                <a:ea typeface="Arial" pitchFamily="34" charset="-122"/>
                <a:cs typeface="Arial" pitchFamily="34" charset="-120"/>
              </a:rPr>
              <a:t>DOCUMENT · TEST</a:t>
            </a:r>
            <a:endParaRPr lang="en-US" sz="700" dirty="0"/>
          </a:p>
        </p:txBody>
      </p:sp>
      <p:sp>
        <p:nvSpPr>
          <p:cNvPr id="15" name="Text 13"/>
          <p:cNvSpPr/>
          <p:nvPr/>
        </p:nvSpPr>
        <p:spPr>
          <a:xfrm>
            <a:off x="813816" y="2450592"/>
            <a:ext cx="10570464" cy="274320"/>
          </a:xfrm>
          <a:prstGeom prst="rect">
            <a:avLst/>
          </a:prstGeom>
          <a:noFill/>
          <a:ln/>
        </p:spPr>
        <p:txBody>
          <a:bodyPr wrap="square" lIns="0" tIns="0" rIns="0" bIns="0" rtlCol="0" anchor="ctr"/>
          <a:lstStyle/>
          <a:p>
            <a:pPr algn="ctr" indent="0" marL="0">
              <a:buNone/>
            </a:pPr>
            <a:r>
              <a:rPr lang="en-US" sz="1400" b="1" spc="200" kern="0" dirty="0">
                <a:solidFill>
                  <a:srgbClr val="E7C766"/>
                </a:solidFill>
                <a:latin typeface="Arial" pitchFamily="34" charset="0"/>
                <a:ea typeface="Arial" pitchFamily="34" charset="-122"/>
                <a:cs typeface="Arial" pitchFamily="34" charset="-120"/>
              </a:rPr>
              <a:t>STEP ONE</a:t>
            </a:r>
            <a:endParaRPr lang="en-US" sz="1400" dirty="0"/>
          </a:p>
        </p:txBody>
      </p:sp>
      <p:sp>
        <p:nvSpPr>
          <p:cNvPr id="16" name="Text 14"/>
          <p:cNvSpPr/>
          <p:nvPr/>
        </p:nvSpPr>
        <p:spPr>
          <a:xfrm>
            <a:off x="1432408" y="2834640"/>
            <a:ext cx="9326880" cy="880750"/>
          </a:xfrm>
          <a:prstGeom prst="rect">
            <a:avLst/>
          </a:prstGeom>
          <a:noFill/>
          <a:ln/>
        </p:spPr>
        <p:txBody>
          <a:bodyPr wrap="square" lIns="0" tIns="0" rIns="0" bIns="0" rtlCol="0" anchor="t"/>
          <a:lstStyle/>
          <a:p>
            <a:pPr algn="ctr" indent="0" marL="0">
              <a:buNone/>
            </a:pPr>
            <a:r>
              <a:rPr lang="en-US" sz="4800" b="1" dirty="0">
                <a:solidFill>
                  <a:srgbClr val="F7F3EA"/>
                </a:solidFill>
                <a:latin typeface="Georgia" pitchFamily="34" charset="0"/>
                <a:ea typeface="Georgia" pitchFamily="34" charset="-122"/>
                <a:cs typeface="Georgia" pitchFamily="34" charset="-120"/>
              </a:rPr>
              <a:t>First impressions.</a:t>
            </a:r>
            <a:endParaRPr lang="en-US" sz="4800" dirty="0"/>
          </a:p>
        </p:txBody>
      </p:sp>
      <p:sp>
        <p:nvSpPr>
          <p:cNvPr id="17" name="Text 15"/>
          <p:cNvSpPr/>
          <p:nvPr/>
        </p:nvSpPr>
        <p:spPr>
          <a:xfrm>
            <a:off x="813816" y="4026286"/>
            <a:ext cx="10570464" cy="274320"/>
          </a:xfrm>
          <a:prstGeom prst="rect">
            <a:avLst/>
          </a:prstGeom>
          <a:noFill/>
          <a:ln/>
        </p:spPr>
        <p:txBody>
          <a:bodyPr wrap="square" lIns="0" tIns="0" rIns="0" bIns="0" rtlCol="0" anchor="ctr"/>
          <a:lstStyle/>
          <a:p>
            <a:pPr algn="ctr" indent="0" marL="0">
              <a:buNone/>
            </a:pPr>
            <a:r>
              <a:rPr lang="en-US" sz="1500" dirty="0">
                <a:solidFill>
                  <a:srgbClr val="AFA893"/>
                </a:solidFill>
                <a:latin typeface="Arial" pitchFamily="34" charset="0"/>
                <a:ea typeface="Arial" pitchFamily="34" charset="-122"/>
                <a:cs typeface="Arial" pitchFamily="34" charset="-120"/>
              </a:rPr>
              <a:t>Give her a desk, connect your inbox, and watch her read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12</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C9A227"/>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C9A227"/>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F7F3EA"/>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F7F3EA"/>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8A6D14"/>
                </a:solidFill>
                <a:latin typeface="Arial" pitchFamily="34" charset="0"/>
                <a:ea typeface="Arial" pitchFamily="34" charset="-122"/>
                <a:cs typeface="Arial" pitchFamily="34" charset="-120"/>
              </a:rPr>
              <a:t>DOCUMENT · TEST</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STEP ONE  ·  FIRST IMPRESSIONS</a:t>
            </a:r>
            <a:endParaRPr lang="en-US" sz="1200" dirty="0"/>
          </a:p>
        </p:txBody>
      </p:sp>
      <p:sp>
        <p:nvSpPr>
          <p:cNvPr id="16" name="Text 14"/>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Create her project, then connect.</a:t>
            </a:r>
            <a:endParaRPr lang="en-US" sz="4000" dirty="0"/>
          </a:p>
        </p:txBody>
      </p:sp>
      <p:sp>
        <p:nvSpPr>
          <p:cNvPr id="17" name="Shape 15"/>
          <p:cNvSpPr/>
          <p:nvPr/>
        </p:nvSpPr>
        <p:spPr>
          <a:xfrm>
            <a:off x="813816" y="1775155"/>
            <a:ext cx="5687568" cy="2039112"/>
          </a:xfrm>
          <a:prstGeom prst="rect">
            <a:avLst/>
          </a:prstGeom>
          <a:solidFill>
            <a:srgbClr val="E8E2D2"/>
          </a:solidFill>
          <a:ln/>
        </p:spPr>
      </p:sp>
      <p:sp>
        <p:nvSpPr>
          <p:cNvPr id="18" name="Text 16"/>
          <p:cNvSpPr/>
          <p:nvPr/>
        </p:nvSpPr>
        <p:spPr>
          <a:xfrm>
            <a:off x="1051560" y="2012899"/>
            <a:ext cx="5212080" cy="299466"/>
          </a:xfrm>
          <a:prstGeom prst="rect">
            <a:avLst/>
          </a:prstGeom>
          <a:noFill/>
          <a:ln/>
        </p:spPr>
        <p:txBody>
          <a:bodyPr wrap="square" lIns="0" tIns="0" rIns="0" bIns="0" rtlCol="0" anchor="t"/>
          <a:lstStyle/>
          <a:p>
            <a:pPr indent="0" marL="0">
              <a:buNone/>
            </a:pPr>
            <a:r>
              <a:rPr lang="en-US" sz="1300" b="1" spc="160" kern="0" dirty="0">
                <a:solidFill>
                  <a:srgbClr val="8A6D14"/>
                </a:solidFill>
                <a:latin typeface="Arial" pitchFamily="34" charset="0"/>
                <a:ea typeface="Arial" pitchFamily="34" charset="-122"/>
                <a:cs typeface="Arial" pitchFamily="34" charset="-120"/>
              </a:rPr>
              <a:t>THE SETUP</a:t>
            </a:r>
            <a:endParaRPr lang="en-US" sz="1300" dirty="0"/>
          </a:p>
        </p:txBody>
      </p:sp>
      <p:sp>
        <p:nvSpPr>
          <p:cNvPr id="19" name="Shape 17"/>
          <p:cNvSpPr/>
          <p:nvPr/>
        </p:nvSpPr>
        <p:spPr>
          <a:xfrm rot="2700000">
            <a:off x="1051560" y="2499817"/>
            <a:ext cx="100584" cy="100584"/>
          </a:xfrm>
          <a:prstGeom prst="rect">
            <a:avLst/>
          </a:prstGeom>
          <a:solidFill>
            <a:srgbClr val="C9A227"/>
          </a:solidFill>
          <a:ln w="3175">
            <a:solidFill>
              <a:srgbClr val="C9A227"/>
            </a:solidFill>
            <a:prstDash val="solid"/>
          </a:ln>
        </p:spPr>
      </p:sp>
      <p:sp>
        <p:nvSpPr>
          <p:cNvPr id="20" name="Text 18"/>
          <p:cNvSpPr/>
          <p:nvPr/>
        </p:nvSpPr>
        <p:spPr>
          <a:xfrm>
            <a:off x="1362456" y="2422093"/>
            <a:ext cx="4901184"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Projects, then New project. Name it Donna.</a:t>
            </a:r>
            <a:endParaRPr lang="en-US" sz="1300" dirty="0"/>
          </a:p>
        </p:txBody>
      </p:sp>
      <p:sp>
        <p:nvSpPr>
          <p:cNvPr id="21" name="Shape 19"/>
          <p:cNvSpPr/>
          <p:nvPr/>
        </p:nvSpPr>
        <p:spPr>
          <a:xfrm rot="2700000">
            <a:off x="1051560" y="2927299"/>
            <a:ext cx="100584" cy="100584"/>
          </a:xfrm>
          <a:prstGeom prst="rect">
            <a:avLst/>
          </a:prstGeom>
          <a:solidFill>
            <a:srgbClr val="C9A227"/>
          </a:solidFill>
          <a:ln w="3175">
            <a:solidFill>
              <a:srgbClr val="C9A227"/>
            </a:solidFill>
            <a:prstDash val="solid"/>
          </a:ln>
        </p:spPr>
      </p:sp>
      <p:sp>
        <p:nvSpPr>
          <p:cNvPr id="22" name="Text 20"/>
          <p:cNvSpPr/>
          <p:nvPr/>
        </p:nvSpPr>
        <p:spPr>
          <a:xfrm>
            <a:off x="1362456" y="2849575"/>
            <a:ext cx="4901184"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Settings, then Connectors.</a:t>
            </a:r>
            <a:endParaRPr lang="en-US" sz="1300" dirty="0"/>
          </a:p>
        </p:txBody>
      </p:sp>
      <p:sp>
        <p:nvSpPr>
          <p:cNvPr id="23" name="Shape 21"/>
          <p:cNvSpPr/>
          <p:nvPr/>
        </p:nvSpPr>
        <p:spPr>
          <a:xfrm rot="2700000">
            <a:off x="1051560" y="3354781"/>
            <a:ext cx="100584" cy="100584"/>
          </a:xfrm>
          <a:prstGeom prst="rect">
            <a:avLst/>
          </a:prstGeom>
          <a:solidFill>
            <a:srgbClr val="C9A227"/>
          </a:solidFill>
          <a:ln w="3175">
            <a:solidFill>
              <a:srgbClr val="C9A227"/>
            </a:solidFill>
            <a:prstDash val="solid"/>
          </a:ln>
        </p:spPr>
      </p:sp>
      <p:sp>
        <p:nvSpPr>
          <p:cNvPr id="24" name="Text 22"/>
          <p:cNvSpPr/>
          <p:nvPr/>
        </p:nvSpPr>
        <p:spPr>
          <a:xfrm>
            <a:off x="1362456" y="3277057"/>
            <a:ext cx="4901184" cy="299466"/>
          </a:xfrm>
          <a:prstGeom prst="rect">
            <a:avLst/>
          </a:prstGeom>
          <a:noFill/>
          <a:ln/>
        </p:spPr>
        <p:txBody>
          <a:bodyPr wrap="square" lIns="0" tIns="0" rIns="0" bIns="0" rtlCol="0" anchor="t"/>
          <a:lstStyle/>
          <a:p>
            <a:pPr indent="0" marL="0">
              <a:lnSpc>
                <a:spcPct val="116000"/>
              </a:lnSpc>
              <a:buNone/>
            </a:pPr>
            <a:r>
              <a:rPr lang="en-US" sz="1300" dirty="0">
                <a:solidFill>
                  <a:srgbClr val="14213D"/>
                </a:solidFill>
                <a:latin typeface="Arial" pitchFamily="34" charset="0"/>
                <a:ea typeface="Arial" pitchFamily="34" charset="-122"/>
                <a:cs typeface="Arial" pitchFamily="34" charset="-120"/>
              </a:rPr>
              <a:t>Connect Gmail, Calendar, and Drive. All three, now.</a:t>
            </a:r>
            <a:endParaRPr lang="en-US" sz="1300" dirty="0"/>
          </a:p>
        </p:txBody>
      </p:sp>
      <p:sp>
        <p:nvSpPr>
          <p:cNvPr id="25" name="Text 23"/>
          <p:cNvSpPr/>
          <p:nvPr/>
        </p:nvSpPr>
        <p:spPr>
          <a:xfrm>
            <a:off x="813816" y="3942283"/>
            <a:ext cx="5687568" cy="237744"/>
          </a:xfrm>
          <a:prstGeom prst="rect">
            <a:avLst/>
          </a:prstGeom>
          <a:noFill/>
          <a:ln/>
        </p:spPr>
        <p:txBody>
          <a:bodyPr wrap="square" lIns="0" tIns="0" rIns="0" bIns="0" rtlCol="0" anchor="t"/>
          <a:lstStyle/>
          <a:p>
            <a:pPr indent="0" marL="0">
              <a:buNone/>
            </a:pPr>
            <a:r>
              <a:rPr lang="en-US" sz="1200" i="1" dirty="0">
                <a:solidFill>
                  <a:srgbClr val="5A6379"/>
                </a:solidFill>
                <a:latin typeface="Arial" pitchFamily="34" charset="0"/>
                <a:ea typeface="Arial" pitchFamily="34" charset="-122"/>
                <a:cs typeface="Arial" pitchFamily="34" charset="-120"/>
              </a:rPr>
              <a:t>Outlook: Microsoft 365 covers mail, calendar, and files in one.</a:t>
            </a:r>
            <a:endParaRPr lang="en-US" sz="1200" dirty="0"/>
          </a:p>
        </p:txBody>
      </p:sp>
      <p:sp>
        <p:nvSpPr>
          <p:cNvPr id="26" name="Shape 24"/>
          <p:cNvSpPr/>
          <p:nvPr/>
        </p:nvSpPr>
        <p:spPr>
          <a:xfrm>
            <a:off x="813816" y="4326331"/>
            <a:ext cx="5687568" cy="1239012"/>
          </a:xfrm>
          <a:prstGeom prst="rect">
            <a:avLst/>
          </a:prstGeom>
          <a:solidFill>
            <a:srgbClr val="14213D"/>
          </a:solidFill>
          <a:ln/>
        </p:spPr>
      </p:sp>
      <p:sp>
        <p:nvSpPr>
          <p:cNvPr id="27" name="Text 25"/>
          <p:cNvSpPr/>
          <p:nvPr/>
        </p:nvSpPr>
        <p:spPr>
          <a:xfrm>
            <a:off x="1069848" y="4500067"/>
            <a:ext cx="5175504"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STUCK CONNECTING? PASTE THIS</a:t>
            </a:r>
            <a:endParaRPr lang="en-US" sz="1100" dirty="0"/>
          </a:p>
        </p:txBody>
      </p:sp>
      <p:sp>
        <p:nvSpPr>
          <p:cNvPr id="28" name="Text 26"/>
          <p:cNvSpPr/>
          <p:nvPr/>
        </p:nvSpPr>
        <p:spPr>
          <a:xfrm>
            <a:off x="1069848" y="4783531"/>
            <a:ext cx="5175504" cy="690372"/>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Walk me through connecting my work email and calendar</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to Claude, step by step, naming the exact buttons on my</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screen.</a:t>
            </a:r>
            <a:endParaRPr lang="en-US" sz="1200" dirty="0"/>
          </a:p>
        </p:txBody>
      </p:sp>
      <p:sp>
        <p:nvSpPr>
          <p:cNvPr id="29" name="Shape 27"/>
          <p:cNvSpPr/>
          <p:nvPr/>
        </p:nvSpPr>
        <p:spPr>
          <a:xfrm>
            <a:off x="6903720" y="1775155"/>
            <a:ext cx="4480560" cy="1239012"/>
          </a:xfrm>
          <a:prstGeom prst="rect">
            <a:avLst/>
          </a:prstGeom>
          <a:solidFill>
            <a:srgbClr val="14213D"/>
          </a:solidFill>
          <a:ln/>
        </p:spPr>
      </p:sp>
      <p:sp>
        <p:nvSpPr>
          <p:cNvPr id="30" name="Text 28"/>
          <p:cNvSpPr/>
          <p:nvPr/>
        </p:nvSpPr>
        <p:spPr>
          <a:xfrm>
            <a:off x="7159752" y="1948891"/>
            <a:ext cx="396849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PROMPT 1 · THE QUESTION</a:t>
            </a:r>
            <a:endParaRPr lang="en-US" sz="1100" dirty="0"/>
          </a:p>
        </p:txBody>
      </p:sp>
      <p:sp>
        <p:nvSpPr>
          <p:cNvPr id="31" name="Text 29"/>
          <p:cNvSpPr/>
          <p:nvPr/>
        </p:nvSpPr>
        <p:spPr>
          <a:xfrm>
            <a:off x="7159752" y="2232355"/>
            <a:ext cx="3968496" cy="690372"/>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What landed in my inbox in the last 24</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hours that actually needs ME? Top 5, one</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line each.</a:t>
            </a:r>
            <a:endParaRPr lang="en-US" sz="1200" dirty="0"/>
          </a:p>
        </p:txBody>
      </p:sp>
      <p:sp>
        <p:nvSpPr>
          <p:cNvPr id="32" name="Shape 30"/>
          <p:cNvSpPr/>
          <p:nvPr/>
        </p:nvSpPr>
        <p:spPr>
          <a:xfrm>
            <a:off x="6903720" y="3233623"/>
            <a:ext cx="4480560" cy="1426464"/>
          </a:xfrm>
          <a:prstGeom prst="rect">
            <a:avLst/>
          </a:prstGeom>
          <a:solidFill>
            <a:srgbClr val="14213D"/>
          </a:solidFill>
          <a:ln/>
        </p:spPr>
      </p:sp>
      <p:sp>
        <p:nvSpPr>
          <p:cNvPr id="33" name="Text 31"/>
          <p:cNvSpPr/>
          <p:nvPr/>
        </p:nvSpPr>
        <p:spPr>
          <a:xfrm>
            <a:off x="7159752" y="3407359"/>
            <a:ext cx="396849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PROMPT 2 · THE FIRST DRAFT</a:t>
            </a:r>
            <a:endParaRPr lang="en-US" sz="1100" dirty="0"/>
          </a:p>
        </p:txBody>
      </p:sp>
      <p:sp>
        <p:nvSpPr>
          <p:cNvPr id="34" name="Text 32"/>
          <p:cNvSpPr/>
          <p:nvPr/>
        </p:nvSpPr>
        <p:spPr>
          <a:xfrm>
            <a:off x="7159752" y="3690823"/>
            <a:ext cx="3968496" cy="877824"/>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Draft a reply to #1. Under 100 words, warm</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but decisive. Save it as a draft in my</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email so I can review it there. Do not</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send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13</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C9A227"/>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C9A227"/>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14213D"/>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14213D"/>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E7C766"/>
                </a:solidFill>
                <a:latin typeface="Arial" pitchFamily="34" charset="0"/>
                <a:ea typeface="Arial" pitchFamily="34" charset="-122"/>
                <a:cs typeface="Arial" pitchFamily="34" charset="-120"/>
              </a:rPr>
              <a:t>DOCUMENT · TEST</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STEP ONE  ·  CHECKPOINT</a:t>
            </a:r>
            <a:endParaRPr lang="en-US" sz="1200" dirty="0"/>
          </a:p>
        </p:txBody>
      </p:sp>
      <p:sp>
        <p:nvSpPr>
          <p:cNvPr id="16" name="Shape 14"/>
          <p:cNvSpPr/>
          <p:nvPr/>
        </p:nvSpPr>
        <p:spPr>
          <a:xfrm rot="2700000">
            <a:off x="6046013" y="2048256"/>
            <a:ext cx="128016" cy="128016"/>
          </a:xfrm>
          <a:prstGeom prst="rect">
            <a:avLst/>
          </a:prstGeom>
          <a:solidFill>
            <a:srgbClr val="C9A227"/>
          </a:solidFill>
          <a:ln w="3175">
            <a:solidFill>
              <a:srgbClr val="C9A227"/>
            </a:solidFill>
            <a:prstDash val="solid"/>
          </a:ln>
        </p:spPr>
      </p:sp>
      <p:sp>
        <p:nvSpPr>
          <p:cNvPr id="17" name="Text 15"/>
          <p:cNvSpPr/>
          <p:nvPr/>
        </p:nvSpPr>
        <p:spPr>
          <a:xfrm>
            <a:off x="1340968" y="2395728"/>
            <a:ext cx="9509760" cy="1399642"/>
          </a:xfrm>
          <a:prstGeom prst="rect">
            <a:avLst/>
          </a:prstGeom>
          <a:noFill/>
          <a:ln/>
        </p:spPr>
        <p:txBody>
          <a:bodyPr wrap="square" lIns="0" tIns="0" rIns="0" bIns="0" rtlCol="0" anchor="t"/>
          <a:lstStyle/>
          <a:p>
            <a:pPr algn="ctr" indent="0" marL="0">
              <a:buNone/>
            </a:pPr>
            <a:r>
              <a:rPr lang="en-US" sz="4000" b="1" dirty="0">
                <a:solidFill>
                  <a:srgbClr val="F7F3EA"/>
                </a:solidFill>
                <a:latin typeface="Georgia" pitchFamily="34" charset="0"/>
                <a:ea typeface="Georgia" pitchFamily="34" charset="-122"/>
                <a:cs typeface="Georgia" pitchFamily="34" charset="-120"/>
              </a:rPr>
              <a:t>A draft you didn’t write is waiting in your drafts folder.</a:t>
            </a:r>
            <a:endParaRPr lang="en-US" sz="4000" dirty="0"/>
          </a:p>
        </p:txBody>
      </p:sp>
      <p:sp>
        <p:nvSpPr>
          <p:cNvPr id="18" name="Text 16"/>
          <p:cNvSpPr/>
          <p:nvPr/>
        </p:nvSpPr>
        <p:spPr>
          <a:xfrm>
            <a:off x="813816" y="4234282"/>
            <a:ext cx="10570464" cy="310896"/>
          </a:xfrm>
          <a:prstGeom prst="rect">
            <a:avLst/>
          </a:prstGeom>
          <a:noFill/>
          <a:ln/>
        </p:spPr>
        <p:txBody>
          <a:bodyPr wrap="square" lIns="0" tIns="0" rIns="0" bIns="0" rtlCol="0" anchor="ctr"/>
          <a:lstStyle/>
          <a:p>
            <a:pPr algn="ctr" indent="0" marL="0">
              <a:buNone/>
            </a:pPr>
            <a:r>
              <a:rPr lang="en-US" sz="1700" b="1" dirty="0">
                <a:solidFill>
                  <a:srgbClr val="E7C766"/>
                </a:solidFill>
                <a:latin typeface="Arial" pitchFamily="34" charset="0"/>
                <a:ea typeface="Arial" pitchFamily="34" charset="-122"/>
                <a:cs typeface="Arial" pitchFamily="34" charset="-120"/>
              </a:rPr>
              <a:t>The interview is over. She’s hired. Now we train her.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14</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14213D"/>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14213D"/>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C9A227"/>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14213D"/>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E7C766"/>
                </a:solidFill>
                <a:latin typeface="Arial" pitchFamily="34" charset="0"/>
                <a:ea typeface="Arial" pitchFamily="34" charset="-122"/>
                <a:cs typeface="Arial" pitchFamily="34" charset="-120"/>
              </a:rPr>
              <a:t>REVISE</a:t>
            </a:r>
            <a:endParaRPr lang="en-US" sz="700" dirty="0"/>
          </a:p>
        </p:txBody>
      </p:sp>
      <p:sp>
        <p:nvSpPr>
          <p:cNvPr id="15" name="Text 13"/>
          <p:cNvSpPr/>
          <p:nvPr/>
        </p:nvSpPr>
        <p:spPr>
          <a:xfrm>
            <a:off x="813816" y="2450592"/>
            <a:ext cx="10570464" cy="274320"/>
          </a:xfrm>
          <a:prstGeom prst="rect">
            <a:avLst/>
          </a:prstGeom>
          <a:noFill/>
          <a:ln/>
        </p:spPr>
        <p:txBody>
          <a:bodyPr wrap="square" lIns="0" tIns="0" rIns="0" bIns="0" rtlCol="0" anchor="ctr"/>
          <a:lstStyle/>
          <a:p>
            <a:pPr algn="ctr" indent="0" marL="0">
              <a:buNone/>
            </a:pPr>
            <a:r>
              <a:rPr lang="en-US" sz="1400" b="1" spc="200" kern="0" dirty="0">
                <a:solidFill>
                  <a:srgbClr val="E7C766"/>
                </a:solidFill>
                <a:latin typeface="Arial" pitchFamily="34" charset="0"/>
                <a:ea typeface="Arial" pitchFamily="34" charset="-122"/>
                <a:cs typeface="Arial" pitchFamily="34" charset="-120"/>
              </a:rPr>
              <a:t>STEP TWO</a:t>
            </a:r>
            <a:endParaRPr lang="en-US" sz="1400" dirty="0"/>
          </a:p>
        </p:txBody>
      </p:sp>
      <p:sp>
        <p:nvSpPr>
          <p:cNvPr id="16" name="Text 14"/>
          <p:cNvSpPr/>
          <p:nvPr/>
        </p:nvSpPr>
        <p:spPr>
          <a:xfrm>
            <a:off x="1432408" y="2834640"/>
            <a:ext cx="9326880" cy="880750"/>
          </a:xfrm>
          <a:prstGeom prst="rect">
            <a:avLst/>
          </a:prstGeom>
          <a:noFill/>
          <a:ln/>
        </p:spPr>
        <p:txBody>
          <a:bodyPr wrap="square" lIns="0" tIns="0" rIns="0" bIns="0" rtlCol="0" anchor="t"/>
          <a:lstStyle/>
          <a:p>
            <a:pPr algn="ctr" indent="0" marL="0">
              <a:buNone/>
            </a:pPr>
            <a:r>
              <a:rPr lang="en-US" sz="4800" b="1" dirty="0">
                <a:solidFill>
                  <a:srgbClr val="F7F3EA"/>
                </a:solidFill>
                <a:latin typeface="Georgia" pitchFamily="34" charset="0"/>
                <a:ea typeface="Georgia" pitchFamily="34" charset="-122"/>
                <a:cs typeface="Georgia" pitchFamily="34" charset="-120"/>
              </a:rPr>
              <a:t>The triage desk.</a:t>
            </a:r>
            <a:endParaRPr lang="en-US" sz="4800" dirty="0"/>
          </a:p>
        </p:txBody>
      </p:sp>
      <p:sp>
        <p:nvSpPr>
          <p:cNvPr id="17" name="Text 15"/>
          <p:cNvSpPr/>
          <p:nvPr/>
        </p:nvSpPr>
        <p:spPr>
          <a:xfrm>
            <a:off x="813816" y="4026286"/>
            <a:ext cx="10570464" cy="274320"/>
          </a:xfrm>
          <a:prstGeom prst="rect">
            <a:avLst/>
          </a:prstGeom>
          <a:noFill/>
          <a:ln/>
        </p:spPr>
        <p:txBody>
          <a:bodyPr wrap="square" lIns="0" tIns="0" rIns="0" bIns="0" rtlCol="0" anchor="ctr"/>
          <a:lstStyle/>
          <a:p>
            <a:pPr algn="ctr" indent="0" marL="0">
              <a:buNone/>
            </a:pPr>
            <a:r>
              <a:rPr lang="en-US" sz="1500" dirty="0">
                <a:solidFill>
                  <a:srgbClr val="AFA893"/>
                </a:solidFill>
                <a:latin typeface="Arial" pitchFamily="34" charset="0"/>
                <a:ea typeface="Arial" pitchFamily="34" charset="-122"/>
                <a:cs typeface="Arial" pitchFamily="34" charset="-120"/>
              </a:rPr>
              <a:t>Teach her your rules once, and never explain them again.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15</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F7F3EA"/>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F7F3EA"/>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C9A227"/>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F7F3EA"/>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8A6D14"/>
                </a:solidFill>
                <a:latin typeface="Arial" pitchFamily="34" charset="0"/>
                <a:ea typeface="Arial" pitchFamily="34" charset="-122"/>
                <a:cs typeface="Arial" pitchFamily="34" charset="-120"/>
              </a:rPr>
              <a:t>REVISE</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STEP TWO  ·  THE TRIAGE DESK</a:t>
            </a:r>
            <a:endParaRPr lang="en-US" sz="1200" dirty="0"/>
          </a:p>
        </p:txBody>
      </p:sp>
      <p:sp>
        <p:nvSpPr>
          <p:cNvPr id="16" name="Text 14"/>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This is the document.</a:t>
            </a:r>
            <a:endParaRPr lang="en-US" sz="4000" dirty="0"/>
          </a:p>
        </p:txBody>
      </p:sp>
      <p:sp>
        <p:nvSpPr>
          <p:cNvPr id="17" name="Shape 15"/>
          <p:cNvSpPr/>
          <p:nvPr/>
        </p:nvSpPr>
        <p:spPr>
          <a:xfrm>
            <a:off x="813816" y="1775155"/>
            <a:ext cx="6675120" cy="2176272"/>
          </a:xfrm>
          <a:prstGeom prst="rect">
            <a:avLst/>
          </a:prstGeom>
          <a:solidFill>
            <a:srgbClr val="14213D"/>
          </a:solidFill>
          <a:ln/>
        </p:spPr>
      </p:sp>
      <p:sp>
        <p:nvSpPr>
          <p:cNvPr id="18" name="Text 16"/>
          <p:cNvSpPr/>
          <p:nvPr/>
        </p:nvSpPr>
        <p:spPr>
          <a:xfrm>
            <a:off x="1069848" y="1948891"/>
            <a:ext cx="616305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PASTE INTO A NEW CHAT IN YOUR DONNA PROJECT</a:t>
            </a:r>
            <a:endParaRPr lang="en-US" sz="1100" dirty="0"/>
          </a:p>
        </p:txBody>
      </p:sp>
      <p:sp>
        <p:nvSpPr>
          <p:cNvPr id="19" name="Text 17"/>
          <p:cNvSpPr/>
          <p:nvPr/>
        </p:nvSpPr>
        <p:spPr>
          <a:xfrm>
            <a:off x="1069848" y="2232355"/>
            <a:ext cx="6163056" cy="1627632"/>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Here is my triage playbook template. Read it,</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then run its Setup Interview on me exactly as</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written: five questions, about six minutes, one</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question at a time. Start now with your greeting</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and Question 1 of 5.</a:t>
            </a:r>
            <a:endParaRPr lang="en-US" sz="1200" dirty="0"/>
          </a:p>
          <a:p>
            <a:pPr indent="0" marL="0">
              <a:lnSpc>
                <a:spcPts val="1480"/>
              </a:lnSpc>
              <a:buNone/>
            </a:pP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[the full template rides along in the same paste.</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 One copy button on the site, step two.]</a:t>
            </a:r>
            <a:endParaRPr lang="en-US" sz="1200" dirty="0"/>
          </a:p>
        </p:txBody>
      </p:sp>
      <p:sp>
        <p:nvSpPr>
          <p:cNvPr id="20" name="Shape 18"/>
          <p:cNvSpPr/>
          <p:nvPr/>
        </p:nvSpPr>
        <p:spPr>
          <a:xfrm>
            <a:off x="813816" y="4170883"/>
            <a:ext cx="6675120" cy="864108"/>
          </a:xfrm>
          <a:prstGeom prst="rect">
            <a:avLst/>
          </a:prstGeom>
          <a:solidFill>
            <a:srgbClr val="14213D"/>
          </a:solidFill>
          <a:ln/>
        </p:spPr>
      </p:sp>
      <p:sp>
        <p:nvSpPr>
          <p:cNvPr id="21" name="Text 19"/>
          <p:cNvSpPr/>
          <p:nvPr/>
        </p:nvSpPr>
        <p:spPr>
          <a:xfrm>
            <a:off x="1069848" y="4344619"/>
            <a:ext cx="616305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IF TIME IS CALLED · SHE JUMPS TO THE END</a:t>
            </a:r>
            <a:endParaRPr lang="en-US" sz="1100" dirty="0"/>
          </a:p>
        </p:txBody>
      </p:sp>
      <p:sp>
        <p:nvSpPr>
          <p:cNvPr id="22" name="Text 20"/>
          <p:cNvSpPr/>
          <p:nvPr/>
        </p:nvSpPr>
        <p:spPr>
          <a:xfrm>
            <a:off x="1069848" y="4628083"/>
            <a:ext cx="6163056" cy="315468"/>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final question</a:t>
            </a:r>
            <a:endParaRPr lang="en-US" sz="1200" dirty="0"/>
          </a:p>
        </p:txBody>
      </p:sp>
      <p:sp>
        <p:nvSpPr>
          <p:cNvPr id="23" name="Text 21"/>
          <p:cNvSpPr/>
          <p:nvPr/>
        </p:nvSpPr>
        <p:spPr>
          <a:xfrm>
            <a:off x="7854696" y="1811731"/>
            <a:ext cx="3529584" cy="299466"/>
          </a:xfrm>
          <a:prstGeom prst="rect">
            <a:avLst/>
          </a:prstGeom>
          <a:noFill/>
          <a:ln/>
        </p:spPr>
        <p:txBody>
          <a:bodyPr wrap="square" lIns="0" tIns="0" rIns="0" bIns="0" rtlCol="0" anchor="t"/>
          <a:lstStyle/>
          <a:p>
            <a:pPr algn="l" indent="0" marL="0">
              <a:buNone/>
            </a:pPr>
            <a:r>
              <a:rPr lang="en-US" sz="1300" b="1" spc="160" kern="0" dirty="0">
                <a:solidFill>
                  <a:srgbClr val="8A6D14"/>
                </a:solidFill>
                <a:latin typeface="Arial" pitchFamily="34" charset="0"/>
                <a:ea typeface="Arial" pitchFamily="34" charset="-122"/>
                <a:cs typeface="Arial" pitchFamily="34" charset="-120"/>
              </a:rPr>
              <a:t>THE FIVE QUESTIONS</a:t>
            </a:r>
            <a:endParaRPr lang="en-US" sz="1300" dirty="0"/>
          </a:p>
        </p:txBody>
      </p:sp>
      <p:sp>
        <p:nvSpPr>
          <p:cNvPr id="24" name="Shape 22"/>
          <p:cNvSpPr/>
          <p:nvPr/>
        </p:nvSpPr>
        <p:spPr>
          <a:xfrm rot="2700000">
            <a:off x="7854696" y="2195779"/>
            <a:ext cx="100584" cy="100584"/>
          </a:xfrm>
          <a:prstGeom prst="rect">
            <a:avLst/>
          </a:prstGeom>
          <a:solidFill>
            <a:srgbClr val="C9A227"/>
          </a:solidFill>
          <a:ln w="3175">
            <a:solidFill>
              <a:srgbClr val="C9A227"/>
            </a:solidFill>
            <a:prstDash val="solid"/>
          </a:ln>
        </p:spPr>
      </p:sp>
      <p:sp>
        <p:nvSpPr>
          <p:cNvPr id="25" name="Text 23"/>
          <p:cNvSpPr/>
          <p:nvPr/>
        </p:nvSpPr>
        <p:spPr>
          <a:xfrm>
            <a:off x="8165592" y="2140915"/>
            <a:ext cx="3218688" cy="315468"/>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1 · Which executive are you?</a:t>
            </a:r>
            <a:endParaRPr lang="en-US" sz="1400" dirty="0"/>
          </a:p>
        </p:txBody>
      </p:sp>
      <p:sp>
        <p:nvSpPr>
          <p:cNvPr id="26" name="Text 24"/>
          <p:cNvSpPr/>
          <p:nvPr/>
        </p:nvSpPr>
        <p:spPr>
          <a:xfrm>
            <a:off x="8165592" y="2456383"/>
            <a:ext cx="3218688" cy="283464"/>
          </a:xfrm>
          <a:prstGeom prst="rect">
            <a:avLst/>
          </a:prstGeom>
          <a:noFill/>
          <a:ln/>
        </p:spPr>
        <p:txBody>
          <a:bodyPr wrap="square" lIns="0" tIns="0" rIns="0" bIns="0" rtlCol="0" anchor="t"/>
          <a:lstStyle/>
          <a:p>
            <a:pPr indent="0" marL="0">
              <a:buNone/>
            </a:pPr>
            <a:r>
              <a:rPr lang="en-US" sz="1200" i="1" dirty="0">
                <a:solidFill>
                  <a:srgbClr val="5A6379"/>
                </a:solidFill>
                <a:latin typeface="Arial" pitchFamily="34" charset="0"/>
                <a:ea typeface="Arial" pitchFamily="34" charset="-122"/>
                <a:cs typeface="Arial" pitchFamily="34" charset="-120"/>
              </a:rPr>
              <a:t>closed or open, tell first or ask first</a:t>
            </a:r>
            <a:endParaRPr lang="en-US" sz="1200" dirty="0"/>
          </a:p>
        </p:txBody>
      </p:sp>
      <p:sp>
        <p:nvSpPr>
          <p:cNvPr id="27" name="Shape 25"/>
          <p:cNvSpPr/>
          <p:nvPr/>
        </p:nvSpPr>
        <p:spPr>
          <a:xfrm rot="2700000">
            <a:off x="7854696" y="2886151"/>
            <a:ext cx="100584" cy="100584"/>
          </a:xfrm>
          <a:prstGeom prst="rect">
            <a:avLst/>
          </a:prstGeom>
          <a:solidFill>
            <a:srgbClr val="C9A227"/>
          </a:solidFill>
          <a:ln w="3175">
            <a:solidFill>
              <a:srgbClr val="C9A227"/>
            </a:solidFill>
            <a:prstDash val="solid"/>
          </a:ln>
        </p:spPr>
      </p:sp>
      <p:sp>
        <p:nvSpPr>
          <p:cNvPr id="28" name="Text 26"/>
          <p:cNvSpPr/>
          <p:nvPr/>
        </p:nvSpPr>
        <p:spPr>
          <a:xfrm>
            <a:off x="8165592" y="2831287"/>
            <a:ext cx="3218688" cy="315468"/>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2 · Reply Now</a:t>
            </a:r>
            <a:endParaRPr lang="en-US" sz="1400" dirty="0"/>
          </a:p>
        </p:txBody>
      </p:sp>
      <p:sp>
        <p:nvSpPr>
          <p:cNvPr id="29" name="Text 27"/>
          <p:cNvSpPr/>
          <p:nvPr/>
        </p:nvSpPr>
        <p:spPr>
          <a:xfrm>
            <a:off x="8165592" y="3146755"/>
            <a:ext cx="3218688" cy="283464"/>
          </a:xfrm>
          <a:prstGeom prst="rect">
            <a:avLst/>
          </a:prstGeom>
          <a:noFill/>
          <a:ln/>
        </p:spPr>
        <p:txBody>
          <a:bodyPr wrap="square" lIns="0" tIns="0" rIns="0" bIns="0" rtlCol="0" anchor="t"/>
          <a:lstStyle/>
          <a:p>
            <a:pPr indent="0" marL="0">
              <a:buNone/>
            </a:pPr>
            <a:r>
              <a:rPr lang="en-US" sz="1200" i="1" dirty="0">
                <a:solidFill>
                  <a:srgbClr val="5A6379"/>
                </a:solidFill>
                <a:latin typeface="Arial" pitchFamily="34" charset="0"/>
                <a:ea typeface="Arial" pitchFamily="34" charset="-122"/>
                <a:cs typeface="Arial" pitchFamily="34" charset="-120"/>
              </a:rPr>
              <a:t>the 3 to 5 people who never wait</a:t>
            </a:r>
            <a:endParaRPr lang="en-US" sz="1200" dirty="0"/>
          </a:p>
        </p:txBody>
      </p:sp>
      <p:sp>
        <p:nvSpPr>
          <p:cNvPr id="30" name="Shape 28"/>
          <p:cNvSpPr/>
          <p:nvPr/>
        </p:nvSpPr>
        <p:spPr>
          <a:xfrm rot="2700000">
            <a:off x="7854696" y="3576523"/>
            <a:ext cx="100584" cy="100584"/>
          </a:xfrm>
          <a:prstGeom prst="rect">
            <a:avLst/>
          </a:prstGeom>
          <a:solidFill>
            <a:srgbClr val="C9A227"/>
          </a:solidFill>
          <a:ln w="3175">
            <a:solidFill>
              <a:srgbClr val="C9A227"/>
            </a:solidFill>
            <a:prstDash val="solid"/>
          </a:ln>
        </p:spPr>
      </p:sp>
      <p:sp>
        <p:nvSpPr>
          <p:cNvPr id="31" name="Text 29"/>
          <p:cNvSpPr/>
          <p:nvPr/>
        </p:nvSpPr>
        <p:spPr>
          <a:xfrm>
            <a:off x="8165592" y="3521659"/>
            <a:ext cx="3218688" cy="315468"/>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3 · By End of Day</a:t>
            </a:r>
            <a:endParaRPr lang="en-US" sz="1400" dirty="0"/>
          </a:p>
        </p:txBody>
      </p:sp>
      <p:sp>
        <p:nvSpPr>
          <p:cNvPr id="32" name="Text 30"/>
          <p:cNvSpPr/>
          <p:nvPr/>
        </p:nvSpPr>
        <p:spPr>
          <a:xfrm>
            <a:off x="8165592" y="3837127"/>
            <a:ext cx="3218688" cy="283464"/>
          </a:xfrm>
          <a:prstGeom prst="rect">
            <a:avLst/>
          </a:prstGeom>
          <a:noFill/>
          <a:ln/>
        </p:spPr>
        <p:txBody>
          <a:bodyPr wrap="square" lIns="0" tIns="0" rIns="0" bIns="0" rtlCol="0" anchor="t"/>
          <a:lstStyle/>
          <a:p>
            <a:pPr indent="0" marL="0">
              <a:buNone/>
            </a:pPr>
            <a:r>
              <a:rPr lang="en-US" sz="1200" i="1" dirty="0">
                <a:solidFill>
                  <a:srgbClr val="5A6379"/>
                </a:solidFill>
                <a:latin typeface="Arial" pitchFamily="34" charset="0"/>
                <a:ea typeface="Arial" pitchFamily="34" charset="-122"/>
                <a:cs typeface="Arial" pitchFamily="34" charset="-120"/>
              </a:rPr>
              <a:t>your leadership team</a:t>
            </a:r>
            <a:endParaRPr lang="en-US" sz="1200" dirty="0"/>
          </a:p>
        </p:txBody>
      </p:sp>
      <p:sp>
        <p:nvSpPr>
          <p:cNvPr id="33" name="Shape 31"/>
          <p:cNvSpPr/>
          <p:nvPr/>
        </p:nvSpPr>
        <p:spPr>
          <a:xfrm rot="2700000">
            <a:off x="7854696" y="4266895"/>
            <a:ext cx="100584" cy="100584"/>
          </a:xfrm>
          <a:prstGeom prst="rect">
            <a:avLst/>
          </a:prstGeom>
          <a:solidFill>
            <a:srgbClr val="C9A227"/>
          </a:solidFill>
          <a:ln w="3175">
            <a:solidFill>
              <a:srgbClr val="C9A227"/>
            </a:solidFill>
            <a:prstDash val="solid"/>
          </a:ln>
        </p:spPr>
      </p:sp>
      <p:sp>
        <p:nvSpPr>
          <p:cNvPr id="34" name="Text 32"/>
          <p:cNvSpPr/>
          <p:nvPr/>
        </p:nvSpPr>
        <p:spPr>
          <a:xfrm>
            <a:off x="8165592" y="4212031"/>
            <a:ext cx="3218688" cy="315468"/>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4 · Your voice, in 3 words</a:t>
            </a:r>
            <a:endParaRPr lang="en-US" sz="1400" dirty="0"/>
          </a:p>
        </p:txBody>
      </p:sp>
      <p:sp>
        <p:nvSpPr>
          <p:cNvPr id="35" name="Text 33"/>
          <p:cNvSpPr/>
          <p:nvPr/>
        </p:nvSpPr>
        <p:spPr>
          <a:xfrm>
            <a:off x="8165592" y="4527499"/>
            <a:ext cx="3218688" cy="283464"/>
          </a:xfrm>
          <a:prstGeom prst="rect">
            <a:avLst/>
          </a:prstGeom>
          <a:noFill/>
          <a:ln/>
        </p:spPr>
        <p:txBody>
          <a:bodyPr wrap="square" lIns="0" tIns="0" rIns="0" bIns="0" rtlCol="0" anchor="t"/>
          <a:lstStyle/>
          <a:p>
            <a:pPr indent="0" marL="0">
              <a:buNone/>
            </a:pPr>
            <a:r>
              <a:rPr lang="en-US" sz="1200" i="1" dirty="0">
                <a:solidFill>
                  <a:srgbClr val="5A6379"/>
                </a:solidFill>
                <a:latin typeface="Arial" pitchFamily="34" charset="0"/>
                <a:ea typeface="Arial" pitchFamily="34" charset="-122"/>
                <a:cs typeface="Arial" pitchFamily="34" charset="-120"/>
              </a:rPr>
              <a:t>warm, brief, decisive is a fine start</a:t>
            </a:r>
            <a:endParaRPr lang="en-US" sz="1200" dirty="0"/>
          </a:p>
        </p:txBody>
      </p:sp>
      <p:sp>
        <p:nvSpPr>
          <p:cNvPr id="36" name="Shape 34"/>
          <p:cNvSpPr/>
          <p:nvPr/>
        </p:nvSpPr>
        <p:spPr>
          <a:xfrm rot="2700000">
            <a:off x="7854696" y="4957267"/>
            <a:ext cx="100584" cy="100584"/>
          </a:xfrm>
          <a:prstGeom prst="rect">
            <a:avLst/>
          </a:prstGeom>
          <a:solidFill>
            <a:srgbClr val="C9A227"/>
          </a:solidFill>
          <a:ln w="3175">
            <a:solidFill>
              <a:srgbClr val="C9A227"/>
            </a:solidFill>
            <a:prstDash val="solid"/>
          </a:ln>
        </p:spPr>
      </p:sp>
      <p:sp>
        <p:nvSpPr>
          <p:cNvPr id="37" name="Text 35"/>
          <p:cNvSpPr/>
          <p:nvPr/>
        </p:nvSpPr>
        <p:spPr>
          <a:xfrm>
            <a:off x="8165592" y="4902403"/>
            <a:ext cx="3218688" cy="315468"/>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5 · THE FINAL QUESTION</a:t>
            </a:r>
            <a:endParaRPr lang="en-US" sz="1400" dirty="0"/>
          </a:p>
        </p:txBody>
      </p:sp>
      <p:sp>
        <p:nvSpPr>
          <p:cNvPr id="38" name="Text 36"/>
          <p:cNvSpPr/>
          <p:nvPr/>
        </p:nvSpPr>
        <p:spPr>
          <a:xfrm>
            <a:off x="8165592" y="5217871"/>
            <a:ext cx="3218688" cy="283464"/>
          </a:xfrm>
          <a:prstGeom prst="rect">
            <a:avLst/>
          </a:prstGeom>
          <a:noFill/>
          <a:ln/>
        </p:spPr>
        <p:txBody>
          <a:bodyPr wrap="square" lIns="0" tIns="0" rIns="0" bIns="0" rtlCol="0" anchor="t"/>
          <a:lstStyle/>
          <a:p>
            <a:pPr indent="0" marL="0">
              <a:buNone/>
            </a:pPr>
            <a:r>
              <a:rPr lang="en-US" sz="1200" i="1" dirty="0">
                <a:solidFill>
                  <a:srgbClr val="5A6379"/>
                </a:solidFill>
                <a:latin typeface="Arial" pitchFamily="34" charset="0"/>
                <a:ea typeface="Arial" pitchFamily="34" charset="-122"/>
                <a:cs typeface="Arial" pitchFamily="34" charset="-120"/>
              </a:rPr>
              <a:t>your blind spot, made a standing rule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16</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14213D"/>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14213D"/>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C9A227"/>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14213D"/>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E7C766"/>
                </a:solidFill>
                <a:latin typeface="Arial" pitchFamily="34" charset="0"/>
                <a:ea typeface="Arial" pitchFamily="34" charset="-122"/>
                <a:cs typeface="Arial" pitchFamily="34" charset="-120"/>
              </a:rPr>
              <a:t>REVISE</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STEP TWO  ·  CHECKPOINT</a:t>
            </a:r>
            <a:endParaRPr lang="en-US" sz="1200" dirty="0"/>
          </a:p>
        </p:txBody>
      </p:sp>
      <p:sp>
        <p:nvSpPr>
          <p:cNvPr id="16" name="Text 14"/>
          <p:cNvSpPr/>
          <p:nvPr/>
        </p:nvSpPr>
        <p:spPr>
          <a:xfrm>
            <a:off x="1340968" y="1737360"/>
            <a:ext cx="9509760" cy="1399642"/>
          </a:xfrm>
          <a:prstGeom prst="rect">
            <a:avLst/>
          </a:prstGeom>
          <a:noFill/>
          <a:ln/>
        </p:spPr>
        <p:txBody>
          <a:bodyPr wrap="square" lIns="0" tIns="0" rIns="0" bIns="0" rtlCol="0" anchor="t"/>
          <a:lstStyle/>
          <a:p>
            <a:pPr algn="ctr" indent="0" marL="0">
              <a:buNone/>
            </a:pPr>
            <a:r>
              <a:rPr lang="en-US" sz="4000" b="1" dirty="0">
                <a:solidFill>
                  <a:srgbClr val="F7F3EA"/>
                </a:solidFill>
                <a:latin typeface="Georgia" pitchFamily="34" charset="0"/>
                <a:ea typeface="Georgia" pitchFamily="34" charset="-122"/>
                <a:cs typeface="Georgia" pitchFamily="34" charset="-120"/>
              </a:rPr>
              <a:t>You get one table instead of an inbox.</a:t>
            </a:r>
            <a:endParaRPr lang="en-US" sz="4000" dirty="0"/>
          </a:p>
        </p:txBody>
      </p:sp>
      <p:sp>
        <p:nvSpPr>
          <p:cNvPr id="17" name="Shape 15"/>
          <p:cNvSpPr/>
          <p:nvPr/>
        </p:nvSpPr>
        <p:spPr>
          <a:xfrm>
            <a:off x="3352648" y="3813658"/>
            <a:ext cx="5486400" cy="864108"/>
          </a:xfrm>
          <a:prstGeom prst="rect">
            <a:avLst/>
          </a:prstGeom>
          <a:solidFill>
            <a:srgbClr val="1C2333"/>
          </a:solidFill>
          <a:ln/>
        </p:spPr>
      </p:sp>
      <p:sp>
        <p:nvSpPr>
          <p:cNvPr id="18" name="Text 16"/>
          <p:cNvSpPr/>
          <p:nvPr/>
        </p:nvSpPr>
        <p:spPr>
          <a:xfrm>
            <a:off x="3608680" y="3987394"/>
            <a:ext cx="497433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THE ENTIRE DAILY RITUAL, FROM NOW ON</a:t>
            </a:r>
            <a:endParaRPr lang="en-US" sz="1100" dirty="0"/>
          </a:p>
        </p:txBody>
      </p:sp>
      <p:sp>
        <p:nvSpPr>
          <p:cNvPr id="19" name="Text 17"/>
          <p:cNvSpPr/>
          <p:nvPr/>
        </p:nvSpPr>
        <p:spPr>
          <a:xfrm>
            <a:off x="3608680" y="4270858"/>
            <a:ext cx="4974336" cy="315468"/>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Triage my inbox.</a:t>
            </a:r>
            <a:endParaRPr lang="en-US" sz="1200" dirty="0"/>
          </a:p>
        </p:txBody>
      </p:sp>
      <p:sp>
        <p:nvSpPr>
          <p:cNvPr id="20" name="Text 18"/>
          <p:cNvSpPr/>
          <p:nvPr/>
        </p:nvSpPr>
        <p:spPr>
          <a:xfrm>
            <a:off x="813816" y="5061814"/>
            <a:ext cx="10570464" cy="310896"/>
          </a:xfrm>
          <a:prstGeom prst="rect">
            <a:avLst/>
          </a:prstGeom>
          <a:noFill/>
          <a:ln/>
        </p:spPr>
        <p:txBody>
          <a:bodyPr wrap="square" lIns="0" tIns="0" rIns="0" bIns="0" rtlCol="0" anchor="ctr"/>
          <a:lstStyle/>
          <a:p>
            <a:pPr algn="ctr" indent="0" marL="0">
              <a:buNone/>
            </a:pPr>
            <a:r>
              <a:rPr lang="en-US" sz="1700" b="1" dirty="0">
                <a:solidFill>
                  <a:srgbClr val="E7C766"/>
                </a:solidFill>
                <a:latin typeface="Arial" pitchFamily="34" charset="0"/>
                <a:ea typeface="Arial" pitchFamily="34" charset="-122"/>
                <a:cs typeface="Arial" pitchFamily="34" charset="-120"/>
              </a:rPr>
              <a:t>Chat is a conversation. A project is a standing arrangement.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17</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14213D"/>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14213D"/>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14213D"/>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C9A227"/>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E7C766"/>
                </a:solidFill>
                <a:latin typeface="Arial" pitchFamily="34" charset="0"/>
                <a:ea typeface="Arial" pitchFamily="34" charset="-122"/>
                <a:cs typeface="Arial" pitchFamily="34" charset="-120"/>
              </a:rPr>
              <a:t>OPERATE</a:t>
            </a:r>
            <a:endParaRPr lang="en-US" sz="700" dirty="0"/>
          </a:p>
        </p:txBody>
      </p:sp>
      <p:sp>
        <p:nvSpPr>
          <p:cNvPr id="15" name="Text 13"/>
          <p:cNvSpPr/>
          <p:nvPr/>
        </p:nvSpPr>
        <p:spPr>
          <a:xfrm>
            <a:off x="813816" y="2450592"/>
            <a:ext cx="10570464" cy="274320"/>
          </a:xfrm>
          <a:prstGeom prst="rect">
            <a:avLst/>
          </a:prstGeom>
          <a:noFill/>
          <a:ln/>
        </p:spPr>
        <p:txBody>
          <a:bodyPr wrap="square" lIns="0" tIns="0" rIns="0" bIns="0" rtlCol="0" anchor="ctr"/>
          <a:lstStyle/>
          <a:p>
            <a:pPr algn="ctr" indent="0" marL="0">
              <a:buNone/>
            </a:pPr>
            <a:r>
              <a:rPr lang="en-US" sz="1400" b="1" spc="200" kern="0" dirty="0">
                <a:solidFill>
                  <a:srgbClr val="E7C766"/>
                </a:solidFill>
                <a:latin typeface="Arial" pitchFamily="34" charset="0"/>
                <a:ea typeface="Arial" pitchFamily="34" charset="-122"/>
                <a:cs typeface="Arial" pitchFamily="34" charset="-120"/>
              </a:rPr>
              <a:t>STEP THREE</a:t>
            </a:r>
            <a:endParaRPr lang="en-US" sz="1400" dirty="0"/>
          </a:p>
        </p:txBody>
      </p:sp>
      <p:sp>
        <p:nvSpPr>
          <p:cNvPr id="16" name="Text 14"/>
          <p:cNvSpPr/>
          <p:nvPr/>
        </p:nvSpPr>
        <p:spPr>
          <a:xfrm>
            <a:off x="1432408" y="2834640"/>
            <a:ext cx="9326880" cy="880750"/>
          </a:xfrm>
          <a:prstGeom prst="rect">
            <a:avLst/>
          </a:prstGeom>
          <a:noFill/>
          <a:ln/>
        </p:spPr>
        <p:txBody>
          <a:bodyPr wrap="square" lIns="0" tIns="0" rIns="0" bIns="0" rtlCol="0" anchor="t"/>
          <a:lstStyle/>
          <a:p>
            <a:pPr algn="ctr" indent="0" marL="0">
              <a:buNone/>
            </a:pPr>
            <a:r>
              <a:rPr lang="en-US" sz="4800" b="1" dirty="0">
                <a:solidFill>
                  <a:srgbClr val="F7F3EA"/>
                </a:solidFill>
                <a:latin typeface="Georgia" pitchFamily="34" charset="0"/>
                <a:ea typeface="Georgia" pitchFamily="34" charset="-122"/>
                <a:cs typeface="Georgia" pitchFamily="34" charset="-120"/>
              </a:rPr>
              <a:t>Donna, full time.</a:t>
            </a:r>
            <a:endParaRPr lang="en-US" sz="4800" dirty="0"/>
          </a:p>
        </p:txBody>
      </p:sp>
      <p:sp>
        <p:nvSpPr>
          <p:cNvPr id="17" name="Text 15"/>
          <p:cNvSpPr/>
          <p:nvPr/>
        </p:nvSpPr>
        <p:spPr>
          <a:xfrm>
            <a:off x="813816" y="4026286"/>
            <a:ext cx="10570464" cy="274320"/>
          </a:xfrm>
          <a:prstGeom prst="rect">
            <a:avLst/>
          </a:prstGeom>
          <a:noFill/>
          <a:ln/>
        </p:spPr>
        <p:txBody>
          <a:bodyPr wrap="square" lIns="0" tIns="0" rIns="0" bIns="0" rtlCol="0" anchor="ctr"/>
          <a:lstStyle/>
          <a:p>
            <a:pPr algn="ctr" indent="0" marL="0">
              <a:buNone/>
            </a:pPr>
            <a:r>
              <a:rPr lang="en-US" sz="1500" dirty="0">
                <a:solidFill>
                  <a:srgbClr val="AFA893"/>
                </a:solidFill>
                <a:latin typeface="Arial" pitchFamily="34" charset="0"/>
                <a:ea typeface="Arial" pitchFamily="34" charset="-122"/>
                <a:cs typeface="Arial" pitchFamily="34" charset="-120"/>
              </a:rPr>
              <a:t>The document leaves your hands and goes on the clock.</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18</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F7F3EA"/>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F7F3EA"/>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F7F3EA"/>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C9A227"/>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8A6D14"/>
                </a:solidFill>
                <a:latin typeface="Arial" pitchFamily="34" charset="0"/>
                <a:ea typeface="Arial" pitchFamily="34" charset="-122"/>
                <a:cs typeface="Arial" pitchFamily="34" charset="-120"/>
              </a:rPr>
              <a:t>OPERATE</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STEP THREE  ·  HER PLAYBOOK</a:t>
            </a:r>
            <a:endParaRPr lang="en-US" sz="1200" dirty="0"/>
          </a:p>
        </p:txBody>
      </p:sp>
      <p:sp>
        <p:nvSpPr>
          <p:cNvPr id="16" name="Text 14"/>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She writes her own playbook.</a:t>
            </a:r>
            <a:endParaRPr lang="en-US" sz="4000" dirty="0"/>
          </a:p>
        </p:txBody>
      </p:sp>
      <p:sp>
        <p:nvSpPr>
          <p:cNvPr id="17" name="Shape 15"/>
          <p:cNvSpPr/>
          <p:nvPr/>
        </p:nvSpPr>
        <p:spPr>
          <a:xfrm>
            <a:off x="813816" y="1775155"/>
            <a:ext cx="6675120" cy="1801368"/>
          </a:xfrm>
          <a:prstGeom prst="rect">
            <a:avLst/>
          </a:prstGeom>
          <a:solidFill>
            <a:srgbClr val="14213D"/>
          </a:solidFill>
          <a:ln/>
        </p:spPr>
      </p:sp>
      <p:sp>
        <p:nvSpPr>
          <p:cNvPr id="18" name="Text 16"/>
          <p:cNvSpPr/>
          <p:nvPr/>
        </p:nvSpPr>
        <p:spPr>
          <a:xfrm>
            <a:off x="1069848" y="1948891"/>
            <a:ext cx="616305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PASTE INTO THE SAME CHAT, AFTER YOUR FIRST TABLE</a:t>
            </a:r>
            <a:endParaRPr lang="en-US" sz="1100" dirty="0"/>
          </a:p>
        </p:txBody>
      </p:sp>
      <p:sp>
        <p:nvSpPr>
          <p:cNvPr id="19" name="Text 17"/>
          <p:cNvSpPr/>
          <p:nvPr/>
        </p:nvSpPr>
        <p:spPr>
          <a:xfrm>
            <a:off x="1069848" y="2232355"/>
            <a:ext cx="6163056" cy="1252728"/>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Turn this conversation's triage setup into a reusable skill file</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named donna-triage. Fill in the template with everything you</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learned: my executive type, my tiers, my voice, my final-question</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guardrail. Keep the Setup Interview and scheduled-task sections.</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Include the line "Never send. Never delete. No exceptions." Then</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give me the finished SKILL.md as a file I can download.</a:t>
            </a:r>
            <a:endParaRPr lang="en-US" sz="1200" dirty="0"/>
          </a:p>
        </p:txBody>
      </p:sp>
      <p:sp>
        <p:nvSpPr>
          <p:cNvPr id="20" name="Text 18"/>
          <p:cNvSpPr/>
          <p:nvPr/>
        </p:nvSpPr>
        <p:spPr>
          <a:xfrm>
            <a:off x="7854696" y="1811731"/>
            <a:ext cx="3529584" cy="299466"/>
          </a:xfrm>
          <a:prstGeom prst="rect">
            <a:avLst/>
          </a:prstGeom>
          <a:noFill/>
          <a:ln/>
        </p:spPr>
        <p:txBody>
          <a:bodyPr wrap="square" lIns="0" tIns="0" rIns="0" bIns="0" rtlCol="0" anchor="t"/>
          <a:lstStyle/>
          <a:p>
            <a:pPr algn="l" indent="0" marL="0">
              <a:buNone/>
            </a:pPr>
            <a:r>
              <a:rPr lang="en-US" sz="1300" b="1" spc="160" kern="0" dirty="0">
                <a:solidFill>
                  <a:srgbClr val="8A6D14"/>
                </a:solidFill>
                <a:latin typeface="Arial" pitchFamily="34" charset="0"/>
                <a:ea typeface="Arial" pitchFamily="34" charset="-122"/>
                <a:cs typeface="Arial" pitchFamily="34" charset="-120"/>
              </a:rPr>
              <a:t>THEN THE HANDOFF</a:t>
            </a:r>
            <a:endParaRPr lang="en-US" sz="1300" dirty="0"/>
          </a:p>
        </p:txBody>
      </p:sp>
      <p:sp>
        <p:nvSpPr>
          <p:cNvPr id="21" name="Text 19"/>
          <p:cNvSpPr/>
          <p:nvPr/>
        </p:nvSpPr>
        <p:spPr>
          <a:xfrm>
            <a:off x="7854696" y="2241499"/>
            <a:ext cx="365760" cy="347472"/>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1</a:t>
            </a:r>
            <a:endParaRPr lang="en-US" sz="2400" dirty="0"/>
          </a:p>
        </p:txBody>
      </p:sp>
      <p:sp>
        <p:nvSpPr>
          <p:cNvPr id="22" name="Text 20"/>
          <p:cNvSpPr/>
          <p:nvPr/>
        </p:nvSpPr>
        <p:spPr>
          <a:xfrm>
            <a:off x="8311896" y="2268931"/>
            <a:ext cx="3072384" cy="33147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She writes the file.</a:t>
            </a:r>
            <a:endParaRPr lang="en-US" sz="1500" dirty="0"/>
          </a:p>
        </p:txBody>
      </p:sp>
      <p:sp>
        <p:nvSpPr>
          <p:cNvPr id="23" name="Text 21"/>
          <p:cNvSpPr/>
          <p:nvPr/>
        </p:nvSpPr>
        <p:spPr>
          <a:xfrm>
            <a:off x="7854696" y="2936443"/>
            <a:ext cx="365760" cy="347472"/>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2</a:t>
            </a:r>
            <a:endParaRPr lang="en-US" sz="2400" dirty="0"/>
          </a:p>
        </p:txBody>
      </p:sp>
      <p:sp>
        <p:nvSpPr>
          <p:cNvPr id="24" name="Text 22"/>
          <p:cNvSpPr/>
          <p:nvPr/>
        </p:nvSpPr>
        <p:spPr>
          <a:xfrm>
            <a:off x="8311896" y="2963875"/>
            <a:ext cx="3072384" cy="57150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You download it. The file card has a download arrow.</a:t>
            </a:r>
            <a:endParaRPr lang="en-US" sz="1500" dirty="0"/>
          </a:p>
        </p:txBody>
      </p:sp>
      <p:sp>
        <p:nvSpPr>
          <p:cNvPr id="25" name="Text 23"/>
          <p:cNvSpPr/>
          <p:nvPr/>
        </p:nvSpPr>
        <p:spPr>
          <a:xfrm>
            <a:off x="7854696" y="3855415"/>
            <a:ext cx="365760" cy="347472"/>
          </a:xfrm>
          <a:prstGeom prst="rect">
            <a:avLst/>
          </a:prstGeom>
          <a:noFill/>
          <a:ln/>
        </p:spPr>
        <p:txBody>
          <a:bodyPr wrap="square" lIns="0" tIns="0" rIns="0" bIns="0" rtlCol="0" anchor="ctr"/>
          <a:lstStyle/>
          <a:p>
            <a:pPr indent="0" marL="0">
              <a:buNone/>
            </a:pPr>
            <a:r>
              <a:rPr lang="en-US" sz="2400" b="1" dirty="0">
                <a:solidFill>
                  <a:srgbClr val="8A6D14"/>
                </a:solidFill>
                <a:latin typeface="Georgia" pitchFamily="34" charset="0"/>
                <a:ea typeface="Georgia" pitchFamily="34" charset="-122"/>
                <a:cs typeface="Georgia" pitchFamily="34" charset="-120"/>
              </a:rPr>
              <a:t>3</a:t>
            </a:r>
            <a:endParaRPr lang="en-US" sz="2400" dirty="0"/>
          </a:p>
        </p:txBody>
      </p:sp>
      <p:sp>
        <p:nvSpPr>
          <p:cNvPr id="26" name="Text 24"/>
          <p:cNvSpPr/>
          <p:nvPr/>
        </p:nvSpPr>
        <p:spPr>
          <a:xfrm>
            <a:off x="8311896" y="3882847"/>
            <a:ext cx="3072384" cy="571500"/>
          </a:xfrm>
          <a:prstGeom prst="rect">
            <a:avLst/>
          </a:prstGeom>
          <a:noFill/>
          <a:ln/>
        </p:spPr>
        <p:txBody>
          <a:bodyPr wrap="square" lIns="0" tIns="0" rIns="0" bIns="0" rtlCol="0" anchor="t"/>
          <a:lstStyle/>
          <a:p>
            <a:pPr indent="0" marL="0">
              <a:lnSpc>
                <a:spcPct val="116000"/>
              </a:lnSpc>
              <a:buNone/>
            </a:pPr>
            <a:r>
              <a:rPr lang="en-US" sz="1500" dirty="0">
                <a:solidFill>
                  <a:srgbClr val="14213D"/>
                </a:solidFill>
                <a:latin typeface="Arial" pitchFamily="34" charset="0"/>
                <a:ea typeface="Arial" pitchFamily="34" charset="-122"/>
                <a:cs typeface="Arial" pitchFamily="34" charset="-120"/>
              </a:rPr>
              <a:t>Cowork, then Skills, then Add skill, then upload it.</a:t>
            </a:r>
            <a:endParaRPr lang="en-US" sz="1500" dirty="0"/>
          </a:p>
        </p:txBody>
      </p:sp>
      <p:sp>
        <p:nvSpPr>
          <p:cNvPr id="27" name="Shape 25"/>
          <p:cNvSpPr/>
          <p:nvPr/>
        </p:nvSpPr>
        <p:spPr>
          <a:xfrm>
            <a:off x="813816" y="4443984"/>
            <a:ext cx="6675120" cy="982980"/>
          </a:xfrm>
          <a:prstGeom prst="rect">
            <a:avLst/>
          </a:prstGeom>
          <a:solidFill>
            <a:srgbClr val="E8E2D2"/>
          </a:solidFill>
          <a:ln/>
        </p:spPr>
      </p:sp>
      <p:sp>
        <p:nvSpPr>
          <p:cNvPr id="28" name="Shape 26"/>
          <p:cNvSpPr/>
          <p:nvPr/>
        </p:nvSpPr>
        <p:spPr>
          <a:xfrm rot="2700000">
            <a:off x="1051560" y="4759452"/>
            <a:ext cx="100584" cy="100584"/>
          </a:xfrm>
          <a:prstGeom prst="rect">
            <a:avLst/>
          </a:prstGeom>
          <a:solidFill>
            <a:srgbClr val="C9A227"/>
          </a:solidFill>
          <a:ln w="3175">
            <a:solidFill>
              <a:srgbClr val="C9A227"/>
            </a:solidFill>
            <a:prstDash val="solid"/>
          </a:ln>
        </p:spPr>
      </p:sp>
      <p:sp>
        <p:nvSpPr>
          <p:cNvPr id="29" name="Text 27"/>
          <p:cNvSpPr/>
          <p:nvPr/>
        </p:nvSpPr>
        <p:spPr>
          <a:xfrm>
            <a:off x="1362456" y="4681728"/>
            <a:ext cx="5888736" cy="507492"/>
          </a:xfrm>
          <a:prstGeom prst="rect">
            <a:avLst/>
          </a:prstGeom>
          <a:noFill/>
          <a:ln/>
        </p:spPr>
        <p:txBody>
          <a:bodyPr wrap="square" lIns="0" tIns="0" rIns="0" bIns="0" rtlCol="0" anchor="t"/>
          <a:lstStyle/>
          <a:p>
            <a:pPr indent="0" marL="0">
              <a:lnSpc>
                <a:spcPct val="116000"/>
              </a:lnSpc>
              <a:buNone/>
            </a:pPr>
            <a:r>
              <a:rPr lang="en-US" sz="1300" b="1" dirty="0">
                <a:solidFill>
                  <a:srgbClr val="8A6D14"/>
                </a:solidFill>
                <a:latin typeface="Arial" pitchFamily="34" charset="0"/>
                <a:ea typeface="Arial" pitchFamily="34" charset="-122"/>
                <a:cs typeface="Arial" pitchFamily="34" charset="-120"/>
              </a:rPr>
              <a:t>You should see donna-triage in your Cowork skills list before anyone touches scheduled tasks.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31621"/>
        </a:solidFill>
      </p:bgPr>
    </p:bg>
    <p:spTree>
      <p:nvGrpSpPr>
        <p:cNvPr id="1" name=""/>
        <p:cNvGrpSpPr/>
        <p:nvPr/>
      </p:nvGrpSpPr>
      <p:grpSpPr>
        <a:xfrm>
          <a:off x="0" y="0"/>
          <a:ext cx="0" cy="0"/>
          <a:chOff x="0" y="0"/>
          <a:chExt cx="0" cy="0"/>
        </a:xfrm>
      </p:grpSpPr>
      <p:sp>
        <p:nvSpPr>
          <p:cNvPr id="2" name="Shape 0"/>
          <p:cNvSpPr/>
          <p:nvPr/>
        </p:nvSpPr>
        <p:spPr>
          <a:xfrm>
            <a:off x="10954512" y="402336"/>
            <a:ext cx="402336" cy="402336"/>
          </a:xfrm>
          <a:prstGeom prst="ellipse">
            <a:avLst/>
          </a:prstGeom>
          <a:ln w="9525">
            <a:solidFill>
              <a:srgbClr val="FFFFFF"/>
            </a:solidFill>
            <a:prstDash val="solid"/>
          </a:ln>
        </p:spPr>
      </p:sp>
      <p:sp>
        <p:nvSpPr>
          <p:cNvPr id="3" name="Shape 1"/>
          <p:cNvSpPr/>
          <p:nvPr/>
        </p:nvSpPr>
        <p:spPr>
          <a:xfrm>
            <a:off x="11098530" y="345186"/>
            <a:ext cx="114300" cy="114300"/>
          </a:xfrm>
          <a:prstGeom prst="ellipse">
            <a:avLst/>
          </a:prstGeom>
          <a:solidFill>
            <a:srgbClr val="A31621"/>
          </a:solidFill>
          <a:ln w="9525">
            <a:solidFill>
              <a:srgbClr val="FFFFFF"/>
            </a:solidFill>
            <a:prstDash val="solid"/>
          </a:ln>
        </p:spPr>
      </p:sp>
      <p:sp>
        <p:nvSpPr>
          <p:cNvPr id="4" name="Shape 2"/>
          <p:cNvSpPr/>
          <p:nvPr/>
        </p:nvSpPr>
        <p:spPr>
          <a:xfrm>
            <a:off x="11299698" y="546354"/>
            <a:ext cx="114300" cy="114300"/>
          </a:xfrm>
          <a:prstGeom prst="ellipse">
            <a:avLst/>
          </a:prstGeom>
          <a:solidFill>
            <a:srgbClr val="A31621"/>
          </a:solidFill>
          <a:ln w="9525">
            <a:solidFill>
              <a:srgbClr val="FFFFFF"/>
            </a:solidFill>
            <a:prstDash val="solid"/>
          </a:ln>
        </p:spPr>
      </p:sp>
      <p:sp>
        <p:nvSpPr>
          <p:cNvPr id="5" name="Shape 3"/>
          <p:cNvSpPr/>
          <p:nvPr/>
        </p:nvSpPr>
        <p:spPr>
          <a:xfrm>
            <a:off x="11098530" y="747522"/>
            <a:ext cx="114300" cy="114300"/>
          </a:xfrm>
          <a:prstGeom prst="ellipse">
            <a:avLst/>
          </a:prstGeom>
          <a:solidFill>
            <a:srgbClr val="A31621"/>
          </a:solidFill>
          <a:ln w="9525">
            <a:solidFill>
              <a:srgbClr val="FFFFFF"/>
            </a:solidFill>
            <a:prstDash val="solid"/>
          </a:ln>
        </p:spPr>
      </p:sp>
      <p:sp>
        <p:nvSpPr>
          <p:cNvPr id="6" name="Shape 4"/>
          <p:cNvSpPr/>
          <p:nvPr/>
        </p:nvSpPr>
        <p:spPr>
          <a:xfrm>
            <a:off x="10897362" y="546354"/>
            <a:ext cx="114300" cy="114300"/>
          </a:xfrm>
          <a:prstGeom prst="ellipse">
            <a:avLst/>
          </a:prstGeom>
          <a:solidFill>
            <a:srgbClr val="FFFFFF"/>
          </a:solidFill>
          <a:ln w="9525">
            <a:solidFill>
              <a:srgbClr val="FFFFFF"/>
            </a:solidFill>
            <a:prstDash val="solid"/>
          </a:ln>
        </p:spPr>
      </p:sp>
      <p:sp>
        <p:nvSpPr>
          <p:cNvPr id="7" name="Text 5"/>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FFFFFF"/>
                </a:solidFill>
                <a:latin typeface="Arial" pitchFamily="34" charset="0"/>
                <a:ea typeface="Arial" pitchFamily="34" charset="-122"/>
                <a:cs typeface="Arial" pitchFamily="34" charset="-120"/>
              </a:rPr>
              <a:t>OPERATE</a:t>
            </a:r>
            <a:endParaRPr lang="en-US" sz="700" dirty="0"/>
          </a:p>
        </p:txBody>
      </p:sp>
      <p:sp>
        <p:nvSpPr>
          <p:cNvPr id="8" name="Shape 6"/>
          <p:cNvSpPr/>
          <p:nvPr/>
        </p:nvSpPr>
        <p:spPr>
          <a:xfrm rot="2700000">
            <a:off x="6050585" y="2157984"/>
            <a:ext cx="109728" cy="109728"/>
          </a:xfrm>
          <a:prstGeom prst="rect">
            <a:avLst/>
          </a:prstGeom>
          <a:solidFill>
            <a:srgbClr val="FFFFFF"/>
          </a:solidFill>
          <a:ln w="3175">
            <a:solidFill>
              <a:srgbClr val="FFFFFF"/>
            </a:solidFill>
            <a:prstDash val="solid"/>
          </a:ln>
        </p:spPr>
      </p:sp>
      <p:sp>
        <p:nvSpPr>
          <p:cNvPr id="9" name="Text 7"/>
          <p:cNvSpPr/>
          <p:nvPr/>
        </p:nvSpPr>
        <p:spPr>
          <a:xfrm>
            <a:off x="1066648" y="2688336"/>
            <a:ext cx="10058400" cy="1107765"/>
          </a:xfrm>
          <a:prstGeom prst="rect">
            <a:avLst/>
          </a:prstGeom>
          <a:noFill/>
          <a:ln/>
        </p:spPr>
        <p:txBody>
          <a:bodyPr wrap="square" lIns="0" tIns="0" rIns="0" bIns="0" rtlCol="0" anchor="t"/>
          <a:lstStyle/>
          <a:p>
            <a:pPr algn="ctr" indent="0" marL="0">
              <a:buNone/>
            </a:pPr>
            <a:r>
              <a:rPr lang="en-US" sz="6200" b="1" dirty="0">
                <a:solidFill>
                  <a:srgbClr val="FFFFFF"/>
                </a:solidFill>
                <a:latin typeface="Georgia" pitchFamily="34" charset="0"/>
                <a:ea typeface="Georgia" pitchFamily="34" charset="-122"/>
                <a:cs typeface="Georgia" pitchFamily="34" charset="-120"/>
              </a:rPr>
              <a:t>She never sends. Ever.</a:t>
            </a:r>
            <a:endParaRPr lang="en-US" sz="6200" dirty="0"/>
          </a:p>
        </p:txBody>
      </p:sp>
      <p:sp>
        <p:nvSpPr>
          <p:cNvPr id="10" name="Text 8"/>
          <p:cNvSpPr/>
          <p:nvPr/>
        </p:nvSpPr>
        <p:spPr>
          <a:xfrm>
            <a:off x="1737360" y="4106997"/>
            <a:ext cx="8714232" cy="457200"/>
          </a:xfrm>
          <a:prstGeom prst="rect">
            <a:avLst/>
          </a:prstGeom>
          <a:noFill/>
          <a:ln/>
        </p:spPr>
        <p:txBody>
          <a:bodyPr wrap="square" lIns="0" tIns="0" rIns="0" bIns="0" rtlCol="0" anchor="t"/>
          <a:lstStyle/>
          <a:p>
            <a:pPr algn="ctr" indent="0" marL="0">
              <a:lnSpc>
                <a:spcPct val="116000"/>
              </a:lnSpc>
              <a:buNone/>
            </a:pPr>
            <a:r>
              <a:rPr lang="en-US" sz="1500" dirty="0">
                <a:solidFill>
                  <a:srgbClr val="FFFFFF"/>
                </a:solidFill>
                <a:latin typeface="Arial" pitchFamily="34" charset="0"/>
                <a:ea typeface="Arial" pitchFamily="34" charset="-122"/>
                <a:cs typeface="Arial" pitchFamily="34" charset="-120"/>
              </a:rPr>
              <a:t>Every reply and every handoff note lands in your drafts and waits for your say-so. She never deletes anything either.</a:t>
            </a:r>
            <a:endParaRPr lang="en-US" sz="1500" dirty="0"/>
          </a:p>
        </p:txBody>
      </p:sp>
      <p:sp>
        <p:nvSpPr>
          <p:cNvPr id="11" name="Text 9"/>
          <p:cNvSpPr/>
          <p:nvPr/>
        </p:nvSpPr>
        <p:spPr>
          <a:xfrm>
            <a:off x="1737360" y="4692213"/>
            <a:ext cx="8714232" cy="292608"/>
          </a:xfrm>
          <a:prstGeom prst="rect">
            <a:avLst/>
          </a:prstGeom>
          <a:noFill/>
          <a:ln/>
        </p:spPr>
        <p:txBody>
          <a:bodyPr wrap="square" lIns="0" tIns="0" rIns="0" bIns="0" rtlCol="0" anchor="ctr"/>
          <a:lstStyle/>
          <a:p>
            <a:pPr algn="ctr" indent="0" marL="0">
              <a:buNone/>
            </a:pPr>
            <a:r>
              <a:rPr lang="en-US" sz="1300" i="1" dirty="0">
                <a:solidFill>
                  <a:srgbClr val="FFFFFF"/>
                </a:solidFill>
                <a:latin typeface="Arial" pitchFamily="34" charset="0"/>
                <a:ea typeface="Arial" pitchFamily="34" charset="-122"/>
                <a:cs typeface="Arial" pitchFamily="34" charset="-120"/>
              </a:rPr>
              <a:t>Written into the skill itself: “Never send. Never delete. No exceptions.”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20</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F7F3EA"/>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F7F3EA"/>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F7F3EA"/>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C9A227"/>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8A6D14"/>
                </a:solidFill>
                <a:latin typeface="Arial" pitchFamily="34" charset="0"/>
                <a:ea typeface="Arial" pitchFamily="34" charset="-122"/>
                <a:cs typeface="Arial" pitchFamily="34" charset="-120"/>
              </a:rPr>
              <a:t>OPERATE</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STEP THREE  ·  THE EVENING SHIFT</a:t>
            </a:r>
            <a:endParaRPr lang="en-US" sz="1200" dirty="0"/>
          </a:p>
        </p:txBody>
      </p:sp>
      <p:sp>
        <p:nvSpPr>
          <p:cNvPr id="16" name="Text 14"/>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Give her the 4:30 shift.</a:t>
            </a:r>
            <a:endParaRPr lang="en-US" sz="4000" dirty="0"/>
          </a:p>
        </p:txBody>
      </p:sp>
      <p:sp>
        <p:nvSpPr>
          <p:cNvPr id="17" name="Shape 15"/>
          <p:cNvSpPr/>
          <p:nvPr/>
        </p:nvSpPr>
        <p:spPr>
          <a:xfrm>
            <a:off x="813816" y="1775155"/>
            <a:ext cx="6675120" cy="2926080"/>
          </a:xfrm>
          <a:prstGeom prst="rect">
            <a:avLst/>
          </a:prstGeom>
          <a:solidFill>
            <a:srgbClr val="14213D"/>
          </a:solidFill>
          <a:ln/>
        </p:spPr>
      </p:sp>
      <p:sp>
        <p:nvSpPr>
          <p:cNvPr id="18" name="Text 16"/>
          <p:cNvSpPr/>
          <p:nvPr/>
        </p:nvSpPr>
        <p:spPr>
          <a:xfrm>
            <a:off x="1069848" y="1948891"/>
            <a:ext cx="6163056" cy="201168"/>
          </a:xfrm>
          <a:prstGeom prst="rect">
            <a:avLst/>
          </a:prstGeom>
          <a:noFill/>
          <a:ln/>
        </p:spPr>
        <p:txBody>
          <a:bodyPr wrap="square" lIns="0" tIns="0" rIns="0" bIns="0" rtlCol="0" anchor="ctr"/>
          <a:lstStyle/>
          <a:p>
            <a:pPr indent="0" marL="0">
              <a:buNone/>
            </a:pPr>
            <a:r>
              <a:rPr lang="en-US" sz="1100" b="1" spc="160" kern="0" dirty="0">
                <a:solidFill>
                  <a:srgbClr val="E7C766"/>
                </a:solidFill>
                <a:latin typeface="Arial" pitchFamily="34" charset="0"/>
                <a:ea typeface="Arial" pitchFamily="34" charset="-122"/>
                <a:cs typeface="Arial" pitchFamily="34" charset="-120"/>
              </a:rPr>
              <a:t>COWORK · SCHEDULED TASKS · NEW TASK</a:t>
            </a:r>
            <a:endParaRPr lang="en-US" sz="1100" dirty="0"/>
          </a:p>
        </p:txBody>
      </p:sp>
      <p:sp>
        <p:nvSpPr>
          <p:cNvPr id="19" name="Text 17"/>
          <p:cNvSpPr/>
          <p:nvPr/>
        </p:nvSpPr>
        <p:spPr>
          <a:xfrm>
            <a:off x="1069848" y="2232355"/>
            <a:ext cx="6163056" cy="2377440"/>
          </a:xfrm>
          <a:prstGeom prst="rect">
            <a:avLst/>
          </a:prstGeom>
          <a:noFill/>
          <a:ln/>
        </p:spPr>
        <p:txBody>
          <a:bodyPr wrap="square" lIns="0" tIns="0" rIns="0" bIns="0" rtlCol="0" anchor="t"/>
          <a:lstStyle/>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Every weekday at 4:30 PM, use my donna-triage skill:</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1. Triage today's inbox. Save the Reply-Now drafts</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   to my email Drafts.</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2. Create a calendar event today, 4:55-5:00 PM,</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   titled "Inbox Triage: Donna".</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3. Write the whole triage report INTO the event</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   description. Short lines, one per thread:</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   sender, subject, next move. No tables.</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4. Set an EMAIL reminder on the event, 1 minute</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   before.</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Also: dry run RIGHT NOW. Make today's event start</a:t>
            </a:r>
            <a:endParaRPr lang="en-US" sz="1200" dirty="0"/>
          </a:p>
          <a:p>
            <a:pPr indent="0" marL="0">
              <a:lnSpc>
                <a:spcPts val="1480"/>
              </a:lnSpc>
              <a:buNone/>
            </a:pPr>
            <a:r>
              <a:rPr lang="en-US" sz="1200" dirty="0">
                <a:solidFill>
                  <a:srgbClr val="F7F3EA"/>
                </a:solidFill>
                <a:latin typeface="Courier New" pitchFamily="34" charset="0"/>
                <a:ea typeface="Courier New" pitchFamily="34" charset="-122"/>
                <a:cs typeface="Courier New" pitchFamily="34" charset="-120"/>
              </a:rPr>
              <a:t>10 minutes from now, so I watch the email arrive.</a:t>
            </a:r>
            <a:endParaRPr lang="en-US" sz="1200" dirty="0"/>
          </a:p>
        </p:txBody>
      </p:sp>
      <p:sp>
        <p:nvSpPr>
          <p:cNvPr id="20" name="Text 18"/>
          <p:cNvSpPr/>
          <p:nvPr/>
        </p:nvSpPr>
        <p:spPr>
          <a:xfrm>
            <a:off x="7854696" y="1848307"/>
            <a:ext cx="1207008" cy="420624"/>
          </a:xfrm>
          <a:prstGeom prst="rect">
            <a:avLst/>
          </a:prstGeom>
          <a:noFill/>
          <a:ln/>
        </p:spPr>
        <p:txBody>
          <a:bodyPr wrap="square" lIns="0" tIns="0" rIns="0" bIns="0" rtlCol="0" anchor="ctr"/>
          <a:lstStyle/>
          <a:p>
            <a:pPr indent="0" marL="0">
              <a:buNone/>
            </a:pPr>
            <a:r>
              <a:rPr lang="en-US" sz="2800" b="1" dirty="0">
                <a:solidFill>
                  <a:srgbClr val="8A6D14"/>
                </a:solidFill>
                <a:latin typeface="Georgia" pitchFamily="34" charset="0"/>
                <a:ea typeface="Georgia" pitchFamily="34" charset="-122"/>
                <a:cs typeface="Georgia" pitchFamily="34" charset="-120"/>
              </a:rPr>
              <a:t>4:30</a:t>
            </a:r>
            <a:endParaRPr lang="en-US" sz="2800" dirty="0"/>
          </a:p>
        </p:txBody>
      </p:sp>
      <p:sp>
        <p:nvSpPr>
          <p:cNvPr id="21" name="Text 19"/>
          <p:cNvSpPr/>
          <p:nvPr/>
        </p:nvSpPr>
        <p:spPr>
          <a:xfrm>
            <a:off x="9134856" y="1848307"/>
            <a:ext cx="2249424" cy="420624"/>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she works</a:t>
            </a:r>
            <a:endParaRPr lang="en-US" sz="1300" dirty="0"/>
          </a:p>
        </p:txBody>
      </p:sp>
      <p:sp>
        <p:nvSpPr>
          <p:cNvPr id="22" name="Text 20"/>
          <p:cNvSpPr/>
          <p:nvPr/>
        </p:nvSpPr>
        <p:spPr>
          <a:xfrm>
            <a:off x="7854696" y="2360371"/>
            <a:ext cx="1207008" cy="420624"/>
          </a:xfrm>
          <a:prstGeom prst="rect">
            <a:avLst/>
          </a:prstGeom>
          <a:noFill/>
          <a:ln/>
        </p:spPr>
        <p:txBody>
          <a:bodyPr wrap="square" lIns="0" tIns="0" rIns="0" bIns="0" rtlCol="0" anchor="ctr"/>
          <a:lstStyle/>
          <a:p>
            <a:pPr indent="0" marL="0">
              <a:buNone/>
            </a:pPr>
            <a:r>
              <a:rPr lang="en-US" sz="2800" b="1" dirty="0">
                <a:solidFill>
                  <a:srgbClr val="8A6D14"/>
                </a:solidFill>
                <a:latin typeface="Georgia" pitchFamily="34" charset="0"/>
                <a:ea typeface="Georgia" pitchFamily="34" charset="-122"/>
                <a:cs typeface="Georgia" pitchFamily="34" charset="-120"/>
              </a:rPr>
              <a:t>4:54</a:t>
            </a:r>
            <a:endParaRPr lang="en-US" sz="2800" dirty="0"/>
          </a:p>
        </p:txBody>
      </p:sp>
      <p:sp>
        <p:nvSpPr>
          <p:cNvPr id="23" name="Text 21"/>
          <p:cNvSpPr/>
          <p:nvPr/>
        </p:nvSpPr>
        <p:spPr>
          <a:xfrm>
            <a:off x="9134856" y="2360371"/>
            <a:ext cx="2249424" cy="420624"/>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the email lands</a:t>
            </a:r>
            <a:endParaRPr lang="en-US" sz="1300" dirty="0"/>
          </a:p>
        </p:txBody>
      </p:sp>
      <p:sp>
        <p:nvSpPr>
          <p:cNvPr id="24" name="Text 22"/>
          <p:cNvSpPr/>
          <p:nvPr/>
        </p:nvSpPr>
        <p:spPr>
          <a:xfrm>
            <a:off x="7854696" y="2872435"/>
            <a:ext cx="1207008" cy="420624"/>
          </a:xfrm>
          <a:prstGeom prst="rect">
            <a:avLst/>
          </a:prstGeom>
          <a:noFill/>
          <a:ln/>
        </p:spPr>
        <p:txBody>
          <a:bodyPr wrap="square" lIns="0" tIns="0" rIns="0" bIns="0" rtlCol="0" anchor="ctr"/>
          <a:lstStyle/>
          <a:p>
            <a:pPr indent="0" marL="0">
              <a:buNone/>
            </a:pPr>
            <a:r>
              <a:rPr lang="en-US" sz="2800" b="1" dirty="0">
                <a:solidFill>
                  <a:srgbClr val="8A6D14"/>
                </a:solidFill>
                <a:latin typeface="Georgia" pitchFamily="34" charset="0"/>
                <a:ea typeface="Georgia" pitchFamily="34" charset="-122"/>
                <a:cs typeface="Georgia" pitchFamily="34" charset="-120"/>
              </a:rPr>
              <a:t>4:55</a:t>
            </a:r>
            <a:endParaRPr lang="en-US" sz="2800" dirty="0"/>
          </a:p>
        </p:txBody>
      </p:sp>
      <p:sp>
        <p:nvSpPr>
          <p:cNvPr id="25" name="Text 23"/>
          <p:cNvSpPr/>
          <p:nvPr/>
        </p:nvSpPr>
        <p:spPr>
          <a:xfrm>
            <a:off x="9134856" y="2872435"/>
            <a:ext cx="2249424" cy="420624"/>
          </a:xfrm>
          <a:prstGeom prst="rect">
            <a:avLst/>
          </a:prstGeom>
          <a:noFill/>
          <a:ln/>
        </p:spPr>
        <p:txBody>
          <a:bodyPr wrap="square" lIns="0" tIns="0" rIns="0" bIns="0" rtlCol="0" anchor="ctr"/>
          <a:lstStyle/>
          <a:p>
            <a:pPr indent="0" marL="0">
              <a:buNone/>
            </a:pPr>
            <a:r>
              <a:rPr lang="en-US" sz="1300" dirty="0">
                <a:solidFill>
                  <a:srgbClr val="14213D"/>
                </a:solidFill>
                <a:latin typeface="Arial" pitchFamily="34" charset="0"/>
                <a:ea typeface="Arial" pitchFamily="34" charset="-122"/>
                <a:cs typeface="Arial" pitchFamily="34" charset="-120"/>
              </a:rPr>
              <a:t>one read, whole inbox</a:t>
            </a:r>
            <a:endParaRPr lang="en-US" sz="1300" dirty="0"/>
          </a:p>
        </p:txBody>
      </p:sp>
      <p:sp>
        <p:nvSpPr>
          <p:cNvPr id="26" name="Shape 24"/>
          <p:cNvSpPr/>
          <p:nvPr/>
        </p:nvSpPr>
        <p:spPr>
          <a:xfrm>
            <a:off x="7854696" y="3512515"/>
            <a:ext cx="3529584" cy="2084832"/>
          </a:xfrm>
          <a:prstGeom prst="rect">
            <a:avLst/>
          </a:prstGeom>
          <a:solidFill>
            <a:srgbClr val="E8E2D2"/>
          </a:solidFill>
          <a:ln/>
        </p:spPr>
      </p:sp>
      <p:sp>
        <p:nvSpPr>
          <p:cNvPr id="27" name="Text 25"/>
          <p:cNvSpPr/>
          <p:nvPr/>
        </p:nvSpPr>
        <p:spPr>
          <a:xfrm>
            <a:off x="8074152" y="3731971"/>
            <a:ext cx="3090672" cy="283464"/>
          </a:xfrm>
          <a:prstGeom prst="rect">
            <a:avLst/>
          </a:prstGeom>
          <a:noFill/>
          <a:ln/>
        </p:spPr>
        <p:txBody>
          <a:bodyPr wrap="square" lIns="0" tIns="0" rIns="0" bIns="0" rtlCol="0" anchor="t"/>
          <a:lstStyle/>
          <a:p>
            <a:pPr indent="0" marL="0">
              <a:buNone/>
            </a:pPr>
            <a:r>
              <a:rPr lang="en-US" sz="1200" b="1" spc="160" kern="0" dirty="0">
                <a:solidFill>
                  <a:srgbClr val="8A6D14"/>
                </a:solidFill>
                <a:latin typeface="Arial" pitchFamily="34" charset="0"/>
                <a:ea typeface="Arial" pitchFamily="34" charset="-122"/>
                <a:cs typeface="Arial" pitchFamily="34" charset="-120"/>
              </a:rPr>
              <a:t>GMAIL VS OUTLOOK</a:t>
            </a:r>
            <a:endParaRPr lang="en-US" sz="1200" dirty="0"/>
          </a:p>
        </p:txBody>
      </p:sp>
      <p:sp>
        <p:nvSpPr>
          <p:cNvPr id="28" name="Shape 26"/>
          <p:cNvSpPr/>
          <p:nvPr/>
        </p:nvSpPr>
        <p:spPr>
          <a:xfrm rot="2700000">
            <a:off x="8074152" y="4202887"/>
            <a:ext cx="100584" cy="100584"/>
          </a:xfrm>
          <a:prstGeom prst="rect">
            <a:avLst/>
          </a:prstGeom>
          <a:solidFill>
            <a:srgbClr val="C9A227"/>
          </a:solidFill>
          <a:ln w="3175">
            <a:solidFill>
              <a:srgbClr val="C9A227"/>
            </a:solidFill>
            <a:prstDash val="solid"/>
          </a:ln>
        </p:spPr>
      </p:sp>
      <p:sp>
        <p:nvSpPr>
          <p:cNvPr id="29" name="Text 27"/>
          <p:cNvSpPr/>
          <p:nvPr/>
        </p:nvSpPr>
        <p:spPr>
          <a:xfrm>
            <a:off x="8385048" y="4125163"/>
            <a:ext cx="2779776" cy="475488"/>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Google Calendar sends a true email reminder one minute before.</a:t>
            </a:r>
            <a:endParaRPr lang="en-US" sz="1200" dirty="0"/>
          </a:p>
        </p:txBody>
      </p:sp>
      <p:sp>
        <p:nvSpPr>
          <p:cNvPr id="30" name="Shape 28"/>
          <p:cNvSpPr/>
          <p:nvPr/>
        </p:nvSpPr>
        <p:spPr>
          <a:xfrm rot="2700000">
            <a:off x="8074152" y="4788103"/>
            <a:ext cx="100584" cy="100584"/>
          </a:xfrm>
          <a:prstGeom prst="rect">
            <a:avLst/>
          </a:prstGeom>
          <a:solidFill>
            <a:srgbClr val="C9A227"/>
          </a:solidFill>
          <a:ln w="3175">
            <a:solidFill>
              <a:srgbClr val="C9A227"/>
            </a:solidFill>
            <a:prstDash val="solid"/>
          </a:ln>
        </p:spPr>
      </p:sp>
      <p:sp>
        <p:nvSpPr>
          <p:cNvPr id="31" name="Text 29"/>
          <p:cNvSpPr/>
          <p:nvPr/>
        </p:nvSpPr>
        <p:spPr>
          <a:xfrm>
            <a:off x="8385048" y="4710379"/>
            <a:ext cx="2779776" cy="667512"/>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Microsoft 365 sends a calendar notification. Both get the 4:54 nudge.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21</a:t>
            </a:r>
            <a:endParaRPr lang="en-US" sz="900" dirty="0"/>
          </a:p>
        </p:txBody>
      </p:sp>
      <p:sp>
        <p:nvSpPr>
          <p:cNvPr id="9" name="Shape 7"/>
          <p:cNvSpPr/>
          <p:nvPr/>
        </p:nvSpPr>
        <p:spPr>
          <a:xfrm>
            <a:off x="10954512" y="402336"/>
            <a:ext cx="402336" cy="402336"/>
          </a:xfrm>
          <a:prstGeom prst="ellipse">
            <a:avLst/>
          </a:prstGeom>
          <a:ln w="9525">
            <a:solidFill>
              <a:srgbClr val="C9A227"/>
            </a:solidFill>
            <a:prstDash val="solid"/>
          </a:ln>
        </p:spPr>
      </p:sp>
      <p:sp>
        <p:nvSpPr>
          <p:cNvPr id="10" name="Shape 8"/>
          <p:cNvSpPr/>
          <p:nvPr/>
        </p:nvSpPr>
        <p:spPr>
          <a:xfrm>
            <a:off x="11098530" y="345186"/>
            <a:ext cx="114300" cy="114300"/>
          </a:xfrm>
          <a:prstGeom prst="ellipse">
            <a:avLst/>
          </a:prstGeom>
          <a:solidFill>
            <a:srgbClr val="C9A227"/>
          </a:solidFill>
          <a:ln w="9525">
            <a:solidFill>
              <a:srgbClr val="C9A227"/>
            </a:solidFill>
            <a:prstDash val="solid"/>
          </a:ln>
        </p:spPr>
      </p:sp>
      <p:sp>
        <p:nvSpPr>
          <p:cNvPr id="11" name="Shape 9"/>
          <p:cNvSpPr/>
          <p:nvPr/>
        </p:nvSpPr>
        <p:spPr>
          <a:xfrm>
            <a:off x="11299698" y="546354"/>
            <a:ext cx="114300" cy="114300"/>
          </a:xfrm>
          <a:prstGeom prst="ellipse">
            <a:avLst/>
          </a:prstGeom>
          <a:solidFill>
            <a:srgbClr val="C9A227"/>
          </a:solidFill>
          <a:ln w="9525">
            <a:solidFill>
              <a:srgbClr val="C9A227"/>
            </a:solidFill>
            <a:prstDash val="solid"/>
          </a:ln>
        </p:spPr>
      </p:sp>
      <p:sp>
        <p:nvSpPr>
          <p:cNvPr id="12" name="Shape 10"/>
          <p:cNvSpPr/>
          <p:nvPr/>
        </p:nvSpPr>
        <p:spPr>
          <a:xfrm>
            <a:off x="11098530" y="747522"/>
            <a:ext cx="114300" cy="114300"/>
          </a:xfrm>
          <a:prstGeom prst="ellipse">
            <a:avLst/>
          </a:prstGeom>
          <a:solidFill>
            <a:srgbClr val="C9A227"/>
          </a:solidFill>
          <a:ln w="9525">
            <a:solidFill>
              <a:srgbClr val="C9A227"/>
            </a:solidFill>
            <a:prstDash val="solid"/>
          </a:ln>
        </p:spPr>
      </p:sp>
      <p:sp>
        <p:nvSpPr>
          <p:cNvPr id="13" name="Shape 11"/>
          <p:cNvSpPr/>
          <p:nvPr/>
        </p:nvSpPr>
        <p:spPr>
          <a:xfrm>
            <a:off x="10897362" y="546354"/>
            <a:ext cx="114300" cy="114300"/>
          </a:xfrm>
          <a:prstGeom prst="ellipse">
            <a:avLst/>
          </a:prstGeom>
          <a:solidFill>
            <a:srgbClr val="C9A227"/>
          </a:solidFill>
          <a:ln w="9525">
            <a:solidFill>
              <a:srgbClr val="C9A227"/>
            </a:solidFill>
            <a:prstDash val="solid"/>
          </a:ln>
        </p:spPr>
      </p:sp>
      <p:sp>
        <p:nvSpPr>
          <p:cNvPr id="14" name="Text 12"/>
          <p:cNvSpPr/>
          <p:nvPr/>
        </p:nvSpPr>
        <p:spPr>
          <a:xfrm>
            <a:off x="9189720" y="841248"/>
            <a:ext cx="2194560" cy="164592"/>
          </a:xfrm>
          <a:prstGeom prst="rect">
            <a:avLst/>
          </a:prstGeom>
          <a:noFill/>
          <a:ln/>
        </p:spPr>
        <p:txBody>
          <a:bodyPr wrap="square" lIns="0" tIns="0" rIns="0" bIns="0" rtlCol="0" anchor="ctr"/>
          <a:lstStyle/>
          <a:p>
            <a:pPr algn="r" indent="0" marL="0">
              <a:buNone/>
            </a:pPr>
            <a:r>
              <a:rPr lang="en-US" sz="700" b="1" spc="90" kern="0" dirty="0">
                <a:solidFill>
                  <a:srgbClr val="E7C766"/>
                </a:solidFill>
                <a:latin typeface="Arial" pitchFamily="34" charset="0"/>
                <a:ea typeface="Arial" pitchFamily="34" charset="-122"/>
                <a:cs typeface="Arial" pitchFamily="34" charset="-120"/>
              </a:rPr>
              <a:t>THE LOOP IS CLOSED</a:t>
            </a:r>
            <a:endParaRPr lang="en-US" sz="700" dirty="0"/>
          </a:p>
        </p:txBody>
      </p:sp>
      <p:sp>
        <p:nvSpPr>
          <p:cNvPr id="15" name="Text 13"/>
          <p:cNvSpPr/>
          <p:nvPr/>
        </p:nvSpPr>
        <p:spPr>
          <a:xfrm>
            <a:off x="813816" y="502920"/>
            <a:ext cx="9875520" cy="256032"/>
          </a:xfrm>
          <a:prstGeom prst="rect">
            <a:avLst/>
          </a:prstGeom>
          <a:noFill/>
          <a:ln/>
        </p:spPr>
        <p:txBody>
          <a:bodyPr wrap="square" lIns="0" tIns="0" rIns="0" bIns="0" rtlCol="0" anchor="ctr"/>
          <a:lstStyle/>
          <a:p>
            <a:pPr indent="0" marL="0">
              <a:buNone/>
            </a:pPr>
            <a:r>
              <a:rPr lang="en-US" sz="1200" b="1" spc="220" kern="0" dirty="0">
                <a:solidFill>
                  <a:srgbClr val="E7C766"/>
                </a:solidFill>
                <a:latin typeface="Arial" pitchFamily="34" charset="0"/>
                <a:ea typeface="Arial" pitchFamily="34" charset="-122"/>
                <a:cs typeface="Arial" pitchFamily="34" charset="-120"/>
              </a:rPr>
              <a:t>STEP THREE  ·  THE DRY RUN</a:t>
            </a:r>
            <a:endParaRPr lang="en-US" sz="1200" dirty="0"/>
          </a:p>
        </p:txBody>
      </p:sp>
      <p:sp>
        <p:nvSpPr>
          <p:cNvPr id="16" name="Text 14"/>
          <p:cNvSpPr/>
          <p:nvPr/>
        </p:nvSpPr>
        <p:spPr>
          <a:xfrm>
            <a:off x="813816" y="1664208"/>
            <a:ext cx="10570464" cy="1060704"/>
          </a:xfrm>
          <a:prstGeom prst="rect">
            <a:avLst/>
          </a:prstGeom>
          <a:noFill/>
          <a:ln/>
        </p:spPr>
        <p:txBody>
          <a:bodyPr wrap="square" lIns="0" tIns="0" rIns="0" bIns="0" rtlCol="0" anchor="ctr"/>
          <a:lstStyle/>
          <a:p>
            <a:pPr algn="ctr" indent="0" marL="0">
              <a:buNone/>
            </a:pPr>
            <a:r>
              <a:rPr lang="en-US" sz="7200" b="1" dirty="0">
                <a:solidFill>
                  <a:srgbClr val="E7C766"/>
                </a:solidFill>
                <a:latin typeface="Georgia" pitchFamily="34" charset="0"/>
                <a:ea typeface="Georgia" pitchFamily="34" charset="-122"/>
                <a:cs typeface="Georgia" pitchFamily="34" charset="-120"/>
              </a:rPr>
              <a:t>4:54 PM</a:t>
            </a:r>
            <a:endParaRPr lang="en-US" sz="7200" dirty="0"/>
          </a:p>
        </p:txBody>
      </p:sp>
      <p:sp>
        <p:nvSpPr>
          <p:cNvPr id="17" name="Text 15"/>
          <p:cNvSpPr/>
          <p:nvPr/>
        </p:nvSpPr>
        <p:spPr>
          <a:xfrm>
            <a:off x="1340968" y="2834640"/>
            <a:ext cx="9509760" cy="1140196"/>
          </a:xfrm>
          <a:prstGeom prst="rect">
            <a:avLst/>
          </a:prstGeom>
          <a:noFill/>
          <a:ln/>
        </p:spPr>
        <p:txBody>
          <a:bodyPr wrap="square" lIns="0" tIns="0" rIns="0" bIns="0" rtlCol="0" anchor="t"/>
          <a:lstStyle/>
          <a:p>
            <a:pPr algn="ctr" indent="0" marL="0">
              <a:buNone/>
            </a:pPr>
            <a:r>
              <a:rPr lang="en-US" sz="3200" b="1" dirty="0">
                <a:solidFill>
                  <a:srgbClr val="F7F3EA"/>
                </a:solidFill>
                <a:latin typeface="Georgia" pitchFamily="34" charset="0"/>
                <a:ea typeface="Georgia" pitchFamily="34" charset="-122"/>
                <a:cs typeface="Georgia" pitchFamily="34" charset="-120"/>
              </a:rPr>
              <a:t>Her first triage arrives before you leave the room.</a:t>
            </a:r>
            <a:endParaRPr lang="en-US" sz="3200" dirty="0"/>
          </a:p>
        </p:txBody>
      </p:sp>
      <p:sp>
        <p:nvSpPr>
          <p:cNvPr id="18" name="Text 16"/>
          <p:cNvSpPr/>
          <p:nvPr/>
        </p:nvSpPr>
        <p:spPr>
          <a:xfrm>
            <a:off x="1737360" y="4340596"/>
            <a:ext cx="8714232" cy="457200"/>
          </a:xfrm>
          <a:prstGeom prst="rect">
            <a:avLst/>
          </a:prstGeom>
          <a:noFill/>
          <a:ln/>
        </p:spPr>
        <p:txBody>
          <a:bodyPr wrap="square" lIns="0" tIns="0" rIns="0" bIns="0" rtlCol="0" anchor="t"/>
          <a:lstStyle/>
          <a:p>
            <a:pPr algn="ctr" indent="0" marL="0">
              <a:lnSpc>
                <a:spcPct val="116000"/>
              </a:lnSpc>
              <a:buNone/>
            </a:pPr>
            <a:r>
              <a:rPr lang="en-US" sz="1500" dirty="0">
                <a:solidFill>
                  <a:srgbClr val="AFA893"/>
                </a:solidFill>
                <a:latin typeface="Arial" pitchFamily="34" charset="0"/>
                <a:ea typeface="Arial" pitchFamily="34" charset="-122"/>
                <a:cs typeface="Arial" pitchFamily="34" charset="-120"/>
              </a:rPr>
              <a:t>The trick: Claude never emails you. Your calendar does. The triage lands from a sender you already trust.</a:t>
            </a:r>
            <a:endParaRPr lang="en-US" sz="1500" dirty="0"/>
          </a:p>
        </p:txBody>
      </p:sp>
      <p:sp>
        <p:nvSpPr>
          <p:cNvPr id="19" name="Text 17"/>
          <p:cNvSpPr/>
          <p:nvPr/>
        </p:nvSpPr>
        <p:spPr>
          <a:xfrm>
            <a:off x="813816" y="5296662"/>
            <a:ext cx="10570464" cy="299466"/>
          </a:xfrm>
          <a:prstGeom prst="rect">
            <a:avLst/>
          </a:prstGeom>
          <a:noFill/>
          <a:ln/>
        </p:spPr>
        <p:txBody>
          <a:bodyPr wrap="square" lIns="0" tIns="0" rIns="0" bIns="0" rtlCol="0" anchor="t"/>
          <a:lstStyle/>
          <a:p>
            <a:pPr algn="ctr" indent="0" marL="0">
              <a:lnSpc>
                <a:spcPct val="116000"/>
              </a:lnSpc>
              <a:buNone/>
            </a:pPr>
            <a:r>
              <a:rPr lang="en-US" sz="1300" b="1" dirty="0">
                <a:solidFill>
                  <a:srgbClr val="E7C766"/>
                </a:solidFill>
                <a:latin typeface="Arial" pitchFamily="34" charset="0"/>
                <a:ea typeface="Arial" pitchFamily="34" charset="-122"/>
                <a:cs typeface="Arial" pitchFamily="34" charset="-120"/>
              </a:rPr>
              <a:t>Four stations lit. That is the flywheel, running on your inbox.</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AFA893"/>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AFA893"/>
                </a:solidFill>
                <a:latin typeface="Arial" pitchFamily="34" charset="0"/>
                <a:ea typeface="Arial" pitchFamily="34" charset="-122"/>
                <a:cs typeface="Arial" pitchFamily="34" charset="-120"/>
              </a:rPr>
              <a:t>22</a:t>
            </a:r>
            <a:endParaRPr lang="en-US" sz="900" dirty="0"/>
          </a:p>
        </p:txBody>
      </p:sp>
      <p:sp>
        <p:nvSpPr>
          <p:cNvPr id="9" name="Text 7"/>
          <p:cNvSpPr/>
          <p:nvPr/>
        </p:nvSpPr>
        <p:spPr>
          <a:xfrm>
            <a:off x="1066648" y="1828800"/>
            <a:ext cx="10058400" cy="880750"/>
          </a:xfrm>
          <a:prstGeom prst="rect">
            <a:avLst/>
          </a:prstGeom>
          <a:noFill/>
          <a:ln/>
        </p:spPr>
        <p:txBody>
          <a:bodyPr wrap="square" lIns="0" tIns="0" rIns="0" bIns="0" rtlCol="0" anchor="t"/>
          <a:lstStyle/>
          <a:p>
            <a:pPr algn="ctr" indent="0" marL="0">
              <a:buNone/>
            </a:pPr>
            <a:r>
              <a:rPr lang="en-US" sz="4800" b="1" dirty="0">
                <a:solidFill>
                  <a:srgbClr val="F7F3EA"/>
                </a:solidFill>
                <a:latin typeface="Georgia" pitchFamily="34" charset="0"/>
                <a:ea typeface="Georgia" pitchFamily="34" charset="-122"/>
                <a:cs typeface="Georgia" pitchFamily="34" charset="-120"/>
              </a:rPr>
              <a:t>This was never about email.</a:t>
            </a:r>
            <a:endParaRPr lang="en-US" sz="4800" dirty="0"/>
          </a:p>
        </p:txBody>
      </p:sp>
      <p:sp>
        <p:nvSpPr>
          <p:cNvPr id="10" name="Text 8"/>
          <p:cNvSpPr/>
          <p:nvPr/>
        </p:nvSpPr>
        <p:spPr>
          <a:xfrm>
            <a:off x="1798168" y="3203326"/>
            <a:ext cx="8595360" cy="571500"/>
          </a:xfrm>
          <a:prstGeom prst="rect">
            <a:avLst/>
          </a:prstGeom>
          <a:noFill/>
          <a:ln/>
        </p:spPr>
        <p:txBody>
          <a:bodyPr wrap="square" lIns="0" tIns="0" rIns="0" bIns="0" rtlCol="0" anchor="t"/>
          <a:lstStyle/>
          <a:p>
            <a:pPr algn="ctr" indent="0" marL="0">
              <a:lnSpc>
                <a:spcPct val="116000"/>
              </a:lnSpc>
              <a:buNone/>
            </a:pPr>
            <a:r>
              <a:rPr lang="en-US" sz="1500" dirty="0">
                <a:solidFill>
                  <a:srgbClr val="F7F3EA"/>
                </a:solidFill>
                <a:latin typeface="Arial" pitchFamily="34" charset="0"/>
                <a:ea typeface="Arial" pitchFamily="34" charset="-122"/>
                <a:cs typeface="Arial" pitchFamily="34" charset="-120"/>
              </a:rPr>
              <a:t>You automated a workflow today by writing plain English. Rules became a project, the project became a skill, and the skill got a schedule.</a:t>
            </a:r>
            <a:endParaRPr lang="en-US" sz="1500" dirty="0"/>
          </a:p>
        </p:txBody>
      </p:sp>
      <p:sp>
        <p:nvSpPr>
          <p:cNvPr id="11" name="Text 9"/>
          <p:cNvSpPr/>
          <p:nvPr/>
        </p:nvSpPr>
        <p:spPr>
          <a:xfrm>
            <a:off x="1798168" y="4085722"/>
            <a:ext cx="8595360" cy="457200"/>
          </a:xfrm>
          <a:prstGeom prst="rect">
            <a:avLst/>
          </a:prstGeom>
          <a:noFill/>
          <a:ln/>
        </p:spPr>
        <p:txBody>
          <a:bodyPr wrap="square" lIns="0" tIns="0" rIns="0" bIns="0" rtlCol="0" anchor="ctr"/>
          <a:lstStyle/>
          <a:p>
            <a:pPr algn="ctr" indent="0" marL="0">
              <a:buNone/>
            </a:pPr>
            <a:r>
              <a:rPr lang="en-US" sz="1700" b="1" dirty="0">
                <a:solidFill>
                  <a:srgbClr val="E7C766"/>
                </a:solidFill>
                <a:latin typeface="Arial" pitchFamily="34" charset="0"/>
                <a:ea typeface="Arial" pitchFamily="34" charset="-122"/>
                <a:cs typeface="Arial" pitchFamily="34" charset="-120"/>
              </a:rPr>
              <a:t>Email was the rehearsal. The same flywheel runs any workflow you can describe in words.</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23</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DISCUSSION  ·  TOPIC ONE</a:t>
            </a:r>
            <a:endParaRPr lang="en-US" sz="1200" dirty="0"/>
          </a:p>
        </p:txBody>
      </p:sp>
      <p:sp>
        <p:nvSpPr>
          <p:cNvPr id="10" name="Text 8"/>
          <p:cNvSpPr/>
          <p:nvPr/>
        </p:nvSpPr>
        <p:spPr>
          <a:xfrm>
            <a:off x="813816" y="841248"/>
            <a:ext cx="10570464" cy="653735"/>
          </a:xfrm>
          <a:prstGeom prst="rect">
            <a:avLst/>
          </a:prstGeom>
          <a:noFill/>
          <a:ln/>
        </p:spPr>
        <p:txBody>
          <a:bodyPr wrap="square" lIns="0" tIns="0" rIns="0" bIns="0" rtlCol="0" anchor="t"/>
          <a:lstStyle/>
          <a:p>
            <a:pPr indent="0" marL="0">
              <a:lnSpc>
                <a:spcPct val="94000"/>
              </a:lnSpc>
              <a:buNone/>
            </a:pPr>
            <a:r>
              <a:rPr lang="en-US" sz="3400" b="1" dirty="0">
                <a:solidFill>
                  <a:srgbClr val="14213D"/>
                </a:solidFill>
                <a:latin typeface="Georgia" pitchFamily="34" charset="0"/>
                <a:ea typeface="Georgia" pitchFamily="34" charset="-122"/>
                <a:cs typeface="Georgia" pitchFamily="34" charset="-120"/>
              </a:rPr>
              <a:t>How did your quadrant experience that?</a:t>
            </a:r>
            <a:endParaRPr lang="en-US" sz="3400" dirty="0"/>
          </a:p>
        </p:txBody>
      </p:sp>
      <p:sp>
        <p:nvSpPr>
          <p:cNvPr id="11" name="Shape 9"/>
          <p:cNvSpPr/>
          <p:nvPr/>
        </p:nvSpPr>
        <p:spPr>
          <a:xfrm>
            <a:off x="813816" y="1751015"/>
            <a:ext cx="5102352" cy="1371600"/>
          </a:xfrm>
          <a:prstGeom prst="rect">
            <a:avLst/>
          </a:prstGeom>
          <a:solidFill>
            <a:srgbClr val="E8E2D2"/>
          </a:solidFill>
          <a:ln/>
        </p:spPr>
      </p:sp>
      <p:sp>
        <p:nvSpPr>
          <p:cNvPr id="12" name="Text 10"/>
          <p:cNvSpPr/>
          <p:nvPr/>
        </p:nvSpPr>
        <p:spPr>
          <a:xfrm>
            <a:off x="1088136" y="1970471"/>
            <a:ext cx="4553712" cy="274320"/>
          </a:xfrm>
          <a:prstGeom prst="rect">
            <a:avLst/>
          </a:prstGeom>
          <a:noFill/>
          <a:ln/>
        </p:spPr>
        <p:txBody>
          <a:bodyPr wrap="square" lIns="0" tIns="0" rIns="0" bIns="0" rtlCol="0" anchor="t"/>
          <a:lstStyle/>
          <a:p>
            <a:pPr indent="0" marL="0">
              <a:buNone/>
            </a:pPr>
            <a:r>
              <a:rPr lang="en-US" sz="1500" b="1" spc="140" kern="0" dirty="0">
                <a:solidFill>
                  <a:srgbClr val="8A6D14"/>
                </a:solidFill>
                <a:latin typeface="Arial" pitchFamily="34" charset="0"/>
                <a:ea typeface="Arial" pitchFamily="34" charset="-122"/>
                <a:cs typeface="Arial" pitchFamily="34" charset="-120"/>
              </a:rPr>
              <a:t>ACCURACY</a:t>
            </a:r>
            <a:endParaRPr lang="en-US" sz="1500" dirty="0"/>
          </a:p>
        </p:txBody>
      </p:sp>
      <p:sp>
        <p:nvSpPr>
          <p:cNvPr id="13" name="Text 11"/>
          <p:cNvSpPr/>
          <p:nvPr/>
        </p:nvSpPr>
        <p:spPr>
          <a:xfrm>
            <a:off x="1088136" y="2317943"/>
            <a:ext cx="4553712" cy="539496"/>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Where did you find the non-determinism, and what would you make it prove before you trusted it?</a:t>
            </a:r>
            <a:endParaRPr lang="en-US" sz="1400" dirty="0"/>
          </a:p>
        </p:txBody>
      </p:sp>
      <p:sp>
        <p:nvSpPr>
          <p:cNvPr id="14" name="Shape 12"/>
          <p:cNvSpPr/>
          <p:nvPr/>
        </p:nvSpPr>
        <p:spPr>
          <a:xfrm>
            <a:off x="6281928" y="1751015"/>
            <a:ext cx="5102352" cy="1371600"/>
          </a:xfrm>
          <a:prstGeom prst="rect">
            <a:avLst/>
          </a:prstGeom>
          <a:solidFill>
            <a:srgbClr val="E8E2D2"/>
          </a:solidFill>
          <a:ln/>
        </p:spPr>
      </p:sp>
      <p:sp>
        <p:nvSpPr>
          <p:cNvPr id="15" name="Text 13"/>
          <p:cNvSpPr/>
          <p:nvPr/>
        </p:nvSpPr>
        <p:spPr>
          <a:xfrm>
            <a:off x="6556248" y="1970471"/>
            <a:ext cx="4553712" cy="274320"/>
          </a:xfrm>
          <a:prstGeom prst="rect">
            <a:avLst/>
          </a:prstGeom>
          <a:noFill/>
          <a:ln/>
        </p:spPr>
        <p:txBody>
          <a:bodyPr wrap="square" lIns="0" tIns="0" rIns="0" bIns="0" rtlCol="0" anchor="t"/>
          <a:lstStyle/>
          <a:p>
            <a:pPr indent="0" marL="0">
              <a:buNone/>
            </a:pPr>
            <a:r>
              <a:rPr lang="en-US" sz="1500" b="1" spc="140" kern="0" dirty="0">
                <a:solidFill>
                  <a:srgbClr val="8A6D14"/>
                </a:solidFill>
                <a:latin typeface="Arial" pitchFamily="34" charset="0"/>
                <a:ea typeface="Arial" pitchFamily="34" charset="-122"/>
                <a:cs typeface="Arial" pitchFamily="34" charset="-120"/>
              </a:rPr>
              <a:t>TIME</a:t>
            </a:r>
            <a:endParaRPr lang="en-US" sz="1500" dirty="0"/>
          </a:p>
        </p:txBody>
      </p:sp>
      <p:sp>
        <p:nvSpPr>
          <p:cNvPr id="16" name="Text 14"/>
          <p:cNvSpPr/>
          <p:nvPr/>
        </p:nvSpPr>
        <p:spPr>
          <a:xfrm>
            <a:off x="6556248" y="2317943"/>
            <a:ext cx="4553712" cy="539496"/>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What is the job description you just watched someone need, and who is it?</a:t>
            </a:r>
            <a:endParaRPr lang="en-US" sz="1400" dirty="0"/>
          </a:p>
        </p:txBody>
      </p:sp>
      <p:sp>
        <p:nvSpPr>
          <p:cNvPr id="17" name="Shape 15"/>
          <p:cNvSpPr/>
          <p:nvPr/>
        </p:nvSpPr>
        <p:spPr>
          <a:xfrm>
            <a:off x="813816" y="3396935"/>
            <a:ext cx="5102352" cy="1371600"/>
          </a:xfrm>
          <a:prstGeom prst="rect">
            <a:avLst/>
          </a:prstGeom>
          <a:solidFill>
            <a:srgbClr val="E8E2D2"/>
          </a:solidFill>
          <a:ln/>
        </p:spPr>
      </p:sp>
      <p:sp>
        <p:nvSpPr>
          <p:cNvPr id="18" name="Text 16"/>
          <p:cNvSpPr/>
          <p:nvPr/>
        </p:nvSpPr>
        <p:spPr>
          <a:xfrm>
            <a:off x="1088136" y="3616391"/>
            <a:ext cx="4553712" cy="274320"/>
          </a:xfrm>
          <a:prstGeom prst="rect">
            <a:avLst/>
          </a:prstGeom>
          <a:noFill/>
          <a:ln/>
        </p:spPr>
        <p:txBody>
          <a:bodyPr wrap="square" lIns="0" tIns="0" rIns="0" bIns="0" rtlCol="0" anchor="t"/>
          <a:lstStyle/>
          <a:p>
            <a:pPr indent="0" marL="0">
              <a:buNone/>
            </a:pPr>
            <a:r>
              <a:rPr lang="en-US" sz="1500" b="1" spc="140" kern="0" dirty="0">
                <a:solidFill>
                  <a:srgbClr val="8A6D14"/>
                </a:solidFill>
                <a:latin typeface="Arial" pitchFamily="34" charset="0"/>
                <a:ea typeface="Arial" pitchFamily="34" charset="-122"/>
                <a:cs typeface="Arial" pitchFamily="34" charset="-120"/>
              </a:rPr>
              <a:t>TRUST</a:t>
            </a:r>
            <a:endParaRPr lang="en-US" sz="1500" dirty="0"/>
          </a:p>
        </p:txBody>
      </p:sp>
      <p:sp>
        <p:nvSpPr>
          <p:cNvPr id="19" name="Text 17"/>
          <p:cNvSpPr/>
          <p:nvPr/>
        </p:nvSpPr>
        <p:spPr>
          <a:xfrm>
            <a:off x="1088136" y="3963863"/>
            <a:ext cx="4553712" cy="539496"/>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Where did this get close to a relationship you would not hand over?</a:t>
            </a:r>
            <a:endParaRPr lang="en-US" sz="1400" dirty="0"/>
          </a:p>
        </p:txBody>
      </p:sp>
      <p:sp>
        <p:nvSpPr>
          <p:cNvPr id="20" name="Shape 18"/>
          <p:cNvSpPr/>
          <p:nvPr/>
        </p:nvSpPr>
        <p:spPr>
          <a:xfrm>
            <a:off x="6281928" y="3396935"/>
            <a:ext cx="5102352" cy="1371600"/>
          </a:xfrm>
          <a:prstGeom prst="rect">
            <a:avLst/>
          </a:prstGeom>
          <a:solidFill>
            <a:srgbClr val="E8E2D2"/>
          </a:solidFill>
          <a:ln/>
        </p:spPr>
      </p:sp>
      <p:sp>
        <p:nvSpPr>
          <p:cNvPr id="21" name="Text 19"/>
          <p:cNvSpPr/>
          <p:nvPr/>
        </p:nvSpPr>
        <p:spPr>
          <a:xfrm>
            <a:off x="6556248" y="3616391"/>
            <a:ext cx="4553712" cy="274320"/>
          </a:xfrm>
          <a:prstGeom prst="rect">
            <a:avLst/>
          </a:prstGeom>
          <a:noFill/>
          <a:ln/>
        </p:spPr>
        <p:txBody>
          <a:bodyPr wrap="square" lIns="0" tIns="0" rIns="0" bIns="0" rtlCol="0" anchor="t"/>
          <a:lstStyle/>
          <a:p>
            <a:pPr indent="0" marL="0">
              <a:buNone/>
            </a:pPr>
            <a:r>
              <a:rPr lang="en-US" sz="1500" b="1" spc="140" kern="0" dirty="0">
                <a:solidFill>
                  <a:srgbClr val="8A6D14"/>
                </a:solidFill>
                <a:latin typeface="Arial" pitchFamily="34" charset="0"/>
                <a:ea typeface="Arial" pitchFamily="34" charset="-122"/>
                <a:cs typeface="Arial" pitchFamily="34" charset="-120"/>
              </a:rPr>
              <a:t>VISION</a:t>
            </a:r>
            <a:endParaRPr lang="en-US" sz="1500" dirty="0"/>
          </a:p>
        </p:txBody>
      </p:sp>
      <p:sp>
        <p:nvSpPr>
          <p:cNvPr id="22" name="Text 20"/>
          <p:cNvSpPr/>
          <p:nvPr/>
        </p:nvSpPr>
        <p:spPr>
          <a:xfrm>
            <a:off x="6556248" y="3963863"/>
            <a:ext cx="4553712" cy="539496"/>
          </a:xfrm>
          <a:prstGeom prst="rect">
            <a:avLst/>
          </a:prstGeom>
          <a:noFill/>
          <a:ln/>
        </p:spPr>
        <p:txBody>
          <a:bodyPr wrap="square" lIns="0" tIns="0" rIns="0" bIns="0" rtlCol="0" anchor="t"/>
          <a:lstStyle/>
          <a:p>
            <a:pPr indent="0" marL="0">
              <a:lnSpc>
                <a:spcPct val="116000"/>
              </a:lnSpc>
              <a:buNone/>
            </a:pPr>
            <a:r>
              <a:rPr lang="en-US" sz="1400" dirty="0">
                <a:solidFill>
                  <a:srgbClr val="14213D"/>
                </a:solidFill>
                <a:latin typeface="Arial" pitchFamily="34" charset="0"/>
                <a:ea typeface="Arial" pitchFamily="34" charset="-122"/>
                <a:cs typeface="Arial" pitchFamily="34" charset="-120"/>
              </a:rPr>
              <a:t>What was the second thing on your list before I finished the first step?</a:t>
            </a:r>
            <a:endParaRPr lang="en-US" sz="1400" dirty="0"/>
          </a:p>
        </p:txBody>
      </p:sp>
      <p:sp>
        <p:nvSpPr>
          <p:cNvPr id="23" name="Text 21"/>
          <p:cNvSpPr/>
          <p:nvPr/>
        </p:nvSpPr>
        <p:spPr>
          <a:xfrm>
            <a:off x="813816" y="5296662"/>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Every one of you sat through a different workshop. That is the point.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24</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THE DISCUSSION  ·  TOPIC TWO</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Where does this flywheel turn next?</a:t>
            </a:r>
            <a:endParaRPr lang="en-US" sz="4000" dirty="0"/>
          </a:p>
        </p:txBody>
      </p:sp>
      <p:sp>
        <p:nvSpPr>
          <p:cNvPr id="11" name="Shape 9"/>
          <p:cNvSpPr/>
          <p:nvPr/>
        </p:nvSpPr>
        <p:spPr>
          <a:xfrm>
            <a:off x="1884274" y="2415235"/>
            <a:ext cx="2010461" cy="2010461"/>
          </a:xfrm>
          <a:prstGeom prst="ellipse">
            <a:avLst/>
          </a:prstGeom>
          <a:ln w="12700">
            <a:solidFill>
              <a:srgbClr val="C9A227"/>
            </a:solidFill>
            <a:prstDash val="solid"/>
          </a:ln>
        </p:spPr>
      </p:sp>
      <p:sp>
        <p:nvSpPr>
          <p:cNvPr id="12" name="Shape 10"/>
          <p:cNvSpPr/>
          <p:nvPr/>
        </p:nvSpPr>
        <p:spPr>
          <a:xfrm rot="2700000">
            <a:off x="3540873" y="2650224"/>
            <a:ext cx="118872" cy="118872"/>
          </a:xfrm>
          <a:prstGeom prst="triangle">
            <a:avLst/>
          </a:prstGeom>
          <a:solidFill>
            <a:srgbClr val="C9A227"/>
          </a:solidFill>
          <a:ln/>
        </p:spPr>
      </p:sp>
      <p:sp>
        <p:nvSpPr>
          <p:cNvPr id="13" name="Shape 11"/>
          <p:cNvSpPr/>
          <p:nvPr/>
        </p:nvSpPr>
        <p:spPr>
          <a:xfrm rot="8100000">
            <a:off x="3540873" y="4071835"/>
            <a:ext cx="118872" cy="118872"/>
          </a:xfrm>
          <a:prstGeom prst="triangle">
            <a:avLst/>
          </a:prstGeom>
          <a:solidFill>
            <a:srgbClr val="C9A227"/>
          </a:solidFill>
          <a:ln/>
        </p:spPr>
      </p:sp>
      <p:sp>
        <p:nvSpPr>
          <p:cNvPr id="14" name="Shape 12"/>
          <p:cNvSpPr/>
          <p:nvPr/>
        </p:nvSpPr>
        <p:spPr>
          <a:xfrm rot="13500000">
            <a:off x="2119263" y="4071835"/>
            <a:ext cx="118872" cy="118872"/>
          </a:xfrm>
          <a:prstGeom prst="triangle">
            <a:avLst/>
          </a:prstGeom>
          <a:solidFill>
            <a:srgbClr val="C9A227"/>
          </a:solidFill>
          <a:ln/>
        </p:spPr>
      </p:sp>
      <p:sp>
        <p:nvSpPr>
          <p:cNvPr id="15" name="Shape 13"/>
          <p:cNvSpPr/>
          <p:nvPr/>
        </p:nvSpPr>
        <p:spPr>
          <a:xfrm rot="18900000">
            <a:off x="2119263" y="2650224"/>
            <a:ext cx="118872" cy="118872"/>
          </a:xfrm>
          <a:prstGeom prst="triangle">
            <a:avLst/>
          </a:prstGeom>
          <a:solidFill>
            <a:srgbClr val="C9A227"/>
          </a:solidFill>
          <a:ln/>
        </p:spPr>
      </p:sp>
      <p:sp>
        <p:nvSpPr>
          <p:cNvPr id="16" name="Shape 14"/>
          <p:cNvSpPr/>
          <p:nvPr/>
        </p:nvSpPr>
        <p:spPr>
          <a:xfrm>
            <a:off x="2306470" y="2837432"/>
            <a:ext cx="1166067" cy="1166067"/>
          </a:xfrm>
          <a:prstGeom prst="ellipse">
            <a:avLst/>
          </a:prstGeom>
          <a:solidFill>
            <a:srgbClr val="A31621"/>
          </a:solidFill>
          <a:ln/>
        </p:spPr>
      </p:sp>
      <p:sp>
        <p:nvSpPr>
          <p:cNvPr id="17" name="Text 15"/>
          <p:cNvSpPr/>
          <p:nvPr/>
        </p:nvSpPr>
        <p:spPr>
          <a:xfrm>
            <a:off x="2352190" y="3238856"/>
            <a:ext cx="1074627" cy="363220"/>
          </a:xfrm>
          <a:prstGeom prst="rect">
            <a:avLst/>
          </a:prstGeom>
          <a:noFill/>
          <a:ln/>
        </p:spPr>
        <p:txBody>
          <a:bodyPr wrap="square" lIns="0" tIns="0" rIns="0" bIns="0" rtlCol="0" anchor="ctr"/>
          <a:lstStyle/>
          <a:p>
            <a:pPr algn="ctr" indent="0" marL="0">
              <a:lnSpc>
                <a:spcPct val="102000"/>
              </a:lnSpc>
              <a:buNone/>
            </a:pPr>
            <a:r>
              <a:rPr lang="en-US" sz="1100" b="1" dirty="0">
                <a:solidFill>
                  <a:srgbClr val="FFFFFF"/>
                </a:solidFill>
                <a:latin typeface="Georgia" pitchFamily="34" charset="0"/>
                <a:ea typeface="Georgia" pitchFamily="34" charset="-122"/>
                <a:cs typeface="Georgia" pitchFamily="34" charset="-120"/>
              </a:rPr>
              <a:t>THE</a:t>
            </a:r>
            <a:endParaRPr lang="en-US" sz="1100" dirty="0"/>
          </a:p>
          <a:p>
            <a:pPr algn="ctr" indent="0" marL="0">
              <a:lnSpc>
                <a:spcPct val="102000"/>
              </a:lnSpc>
              <a:buNone/>
            </a:pPr>
            <a:r>
              <a:rPr lang="en-US" sz="1100" b="1" dirty="0">
                <a:solidFill>
                  <a:srgbClr val="FFFFFF"/>
                </a:solidFill>
                <a:latin typeface="Georgia" pitchFamily="34" charset="0"/>
                <a:ea typeface="Georgia" pitchFamily="34" charset="-122"/>
                <a:cs typeface="Georgia" pitchFamily="34" charset="-120"/>
              </a:rPr>
              <a:t>DOCUMENT</a:t>
            </a:r>
            <a:endParaRPr lang="en-US" sz="1100" dirty="0"/>
          </a:p>
        </p:txBody>
      </p:sp>
      <p:sp>
        <p:nvSpPr>
          <p:cNvPr id="18" name="Shape 16"/>
          <p:cNvSpPr/>
          <p:nvPr/>
        </p:nvSpPr>
        <p:spPr>
          <a:xfrm>
            <a:off x="2670048" y="2195779"/>
            <a:ext cx="438912" cy="438912"/>
          </a:xfrm>
          <a:prstGeom prst="ellipse">
            <a:avLst/>
          </a:prstGeom>
          <a:solidFill>
            <a:srgbClr val="F7F3EA"/>
          </a:solidFill>
          <a:ln w="12700">
            <a:solidFill>
              <a:srgbClr val="C9A227"/>
            </a:solidFill>
            <a:prstDash val="solid"/>
          </a:ln>
        </p:spPr>
      </p:sp>
      <p:sp>
        <p:nvSpPr>
          <p:cNvPr id="19" name="Text 17"/>
          <p:cNvSpPr/>
          <p:nvPr/>
        </p:nvSpPr>
        <p:spPr>
          <a:xfrm>
            <a:off x="2670048" y="2195779"/>
            <a:ext cx="438912" cy="438912"/>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01</a:t>
            </a:r>
            <a:endParaRPr lang="en-US" sz="1200" dirty="0"/>
          </a:p>
        </p:txBody>
      </p:sp>
      <p:sp>
        <p:nvSpPr>
          <p:cNvPr id="20" name="Text 18"/>
          <p:cNvSpPr/>
          <p:nvPr/>
        </p:nvSpPr>
        <p:spPr>
          <a:xfrm>
            <a:off x="2103120" y="1871167"/>
            <a:ext cx="157276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DOCUMENT</a:t>
            </a:r>
            <a:endParaRPr lang="en-US" sz="1000" dirty="0"/>
          </a:p>
        </p:txBody>
      </p:sp>
      <p:sp>
        <p:nvSpPr>
          <p:cNvPr id="21" name="Shape 19"/>
          <p:cNvSpPr/>
          <p:nvPr/>
        </p:nvSpPr>
        <p:spPr>
          <a:xfrm>
            <a:off x="3675278" y="3201010"/>
            <a:ext cx="438912" cy="438912"/>
          </a:xfrm>
          <a:prstGeom prst="ellipse">
            <a:avLst/>
          </a:prstGeom>
          <a:solidFill>
            <a:srgbClr val="F7F3EA"/>
          </a:solidFill>
          <a:ln w="12700">
            <a:solidFill>
              <a:srgbClr val="C9A227"/>
            </a:solidFill>
            <a:prstDash val="solid"/>
          </a:ln>
        </p:spPr>
      </p:sp>
      <p:sp>
        <p:nvSpPr>
          <p:cNvPr id="22" name="Text 20"/>
          <p:cNvSpPr/>
          <p:nvPr/>
        </p:nvSpPr>
        <p:spPr>
          <a:xfrm>
            <a:off x="3675278" y="3201010"/>
            <a:ext cx="438912" cy="438912"/>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02</a:t>
            </a:r>
            <a:endParaRPr lang="en-US" sz="1200" dirty="0"/>
          </a:p>
        </p:txBody>
      </p:sp>
      <p:sp>
        <p:nvSpPr>
          <p:cNvPr id="23" name="Text 21"/>
          <p:cNvSpPr/>
          <p:nvPr/>
        </p:nvSpPr>
        <p:spPr>
          <a:xfrm>
            <a:off x="4242206" y="3294736"/>
            <a:ext cx="640080" cy="251460"/>
          </a:xfrm>
          <a:prstGeom prst="rect">
            <a:avLst/>
          </a:prstGeom>
          <a:noFill/>
          <a:ln/>
        </p:spPr>
        <p:txBody>
          <a:bodyPr wrap="square" lIns="0" tIns="0" rIns="0" bIns="0" rtlCol="0" anchor="ctr"/>
          <a:lstStyle/>
          <a:p>
            <a:pPr algn="l" indent="0" marL="0">
              <a:buNone/>
            </a:pPr>
            <a:r>
              <a:rPr lang="en-US" sz="1000" b="1" spc="120" kern="0" dirty="0">
                <a:solidFill>
                  <a:srgbClr val="8A6D14"/>
                </a:solidFill>
                <a:latin typeface="Arial" pitchFamily="34" charset="0"/>
                <a:ea typeface="Arial" pitchFamily="34" charset="-122"/>
                <a:cs typeface="Arial" pitchFamily="34" charset="-120"/>
              </a:rPr>
              <a:t>TEST</a:t>
            </a:r>
            <a:endParaRPr lang="en-US" sz="1000" dirty="0"/>
          </a:p>
        </p:txBody>
      </p:sp>
      <p:sp>
        <p:nvSpPr>
          <p:cNvPr id="24" name="Shape 22"/>
          <p:cNvSpPr/>
          <p:nvPr/>
        </p:nvSpPr>
        <p:spPr>
          <a:xfrm>
            <a:off x="2670048" y="4206240"/>
            <a:ext cx="438912" cy="438912"/>
          </a:xfrm>
          <a:prstGeom prst="ellipse">
            <a:avLst/>
          </a:prstGeom>
          <a:solidFill>
            <a:srgbClr val="F7F3EA"/>
          </a:solidFill>
          <a:ln w="12700">
            <a:solidFill>
              <a:srgbClr val="C9A227"/>
            </a:solidFill>
            <a:prstDash val="solid"/>
          </a:ln>
        </p:spPr>
      </p:sp>
      <p:sp>
        <p:nvSpPr>
          <p:cNvPr id="25" name="Text 23"/>
          <p:cNvSpPr/>
          <p:nvPr/>
        </p:nvSpPr>
        <p:spPr>
          <a:xfrm>
            <a:off x="2670048" y="4206240"/>
            <a:ext cx="438912" cy="438912"/>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03</a:t>
            </a:r>
            <a:endParaRPr lang="en-US" sz="1200" dirty="0"/>
          </a:p>
        </p:txBody>
      </p:sp>
      <p:sp>
        <p:nvSpPr>
          <p:cNvPr id="26" name="Text 24"/>
          <p:cNvSpPr/>
          <p:nvPr/>
        </p:nvSpPr>
        <p:spPr>
          <a:xfrm>
            <a:off x="2103120" y="4718304"/>
            <a:ext cx="1572768" cy="251460"/>
          </a:xfrm>
          <a:prstGeom prst="rect">
            <a:avLst/>
          </a:prstGeom>
          <a:noFill/>
          <a:ln/>
        </p:spPr>
        <p:txBody>
          <a:bodyPr wrap="square" lIns="0" tIns="0" rIns="0" bIns="0" rtlCol="0" anchor="ctr"/>
          <a:lstStyle/>
          <a:p>
            <a:pPr algn="ctr" indent="0" marL="0">
              <a:buNone/>
            </a:pPr>
            <a:r>
              <a:rPr lang="en-US" sz="1000" b="1" spc="120" kern="0" dirty="0">
                <a:solidFill>
                  <a:srgbClr val="8A6D14"/>
                </a:solidFill>
                <a:latin typeface="Arial" pitchFamily="34" charset="0"/>
                <a:ea typeface="Arial" pitchFamily="34" charset="-122"/>
                <a:cs typeface="Arial" pitchFamily="34" charset="-120"/>
              </a:rPr>
              <a:t>REVISE</a:t>
            </a:r>
            <a:endParaRPr lang="en-US" sz="1000" dirty="0"/>
          </a:p>
        </p:txBody>
      </p:sp>
      <p:sp>
        <p:nvSpPr>
          <p:cNvPr id="27" name="Shape 25"/>
          <p:cNvSpPr/>
          <p:nvPr/>
        </p:nvSpPr>
        <p:spPr>
          <a:xfrm>
            <a:off x="1664818" y="3201010"/>
            <a:ext cx="438912" cy="438912"/>
          </a:xfrm>
          <a:prstGeom prst="ellipse">
            <a:avLst/>
          </a:prstGeom>
          <a:solidFill>
            <a:srgbClr val="F7F3EA"/>
          </a:solidFill>
          <a:ln w="12700">
            <a:solidFill>
              <a:srgbClr val="C9A227"/>
            </a:solidFill>
            <a:prstDash val="solid"/>
          </a:ln>
        </p:spPr>
      </p:sp>
      <p:sp>
        <p:nvSpPr>
          <p:cNvPr id="28" name="Text 26"/>
          <p:cNvSpPr/>
          <p:nvPr/>
        </p:nvSpPr>
        <p:spPr>
          <a:xfrm>
            <a:off x="1664818" y="3201010"/>
            <a:ext cx="438912" cy="438912"/>
          </a:xfrm>
          <a:prstGeom prst="rect">
            <a:avLst/>
          </a:prstGeom>
          <a:noFill/>
          <a:ln/>
        </p:spPr>
        <p:txBody>
          <a:bodyPr wrap="square" lIns="0" tIns="0" rIns="0" bIns="0" rtlCol="0" anchor="ctr"/>
          <a:lstStyle/>
          <a:p>
            <a:pPr algn="ctr" indent="0" marL="0">
              <a:buNone/>
            </a:pPr>
            <a:r>
              <a:rPr lang="en-US" sz="1200" b="1" dirty="0">
                <a:solidFill>
                  <a:srgbClr val="8A6D14"/>
                </a:solidFill>
                <a:latin typeface="Georgia" pitchFamily="34" charset="0"/>
                <a:ea typeface="Georgia" pitchFamily="34" charset="-122"/>
                <a:cs typeface="Georgia" pitchFamily="34" charset="-120"/>
              </a:rPr>
              <a:t>04</a:t>
            </a:r>
            <a:endParaRPr lang="en-US" sz="1200" dirty="0"/>
          </a:p>
        </p:txBody>
      </p:sp>
      <p:sp>
        <p:nvSpPr>
          <p:cNvPr id="29" name="Text 27"/>
          <p:cNvSpPr/>
          <p:nvPr/>
        </p:nvSpPr>
        <p:spPr>
          <a:xfrm>
            <a:off x="680314" y="3294736"/>
            <a:ext cx="856488" cy="251460"/>
          </a:xfrm>
          <a:prstGeom prst="rect">
            <a:avLst/>
          </a:prstGeom>
          <a:noFill/>
          <a:ln/>
        </p:spPr>
        <p:txBody>
          <a:bodyPr wrap="square" lIns="0" tIns="0" rIns="0" bIns="0" rtlCol="0" anchor="ctr"/>
          <a:lstStyle/>
          <a:p>
            <a:pPr algn="r" indent="0" marL="0">
              <a:buNone/>
            </a:pPr>
            <a:r>
              <a:rPr lang="en-US" sz="1000" b="1" spc="120" kern="0" dirty="0">
                <a:solidFill>
                  <a:srgbClr val="8A6D14"/>
                </a:solidFill>
                <a:latin typeface="Arial" pitchFamily="34" charset="0"/>
                <a:ea typeface="Arial" pitchFamily="34" charset="-122"/>
                <a:cs typeface="Arial" pitchFamily="34" charset="-120"/>
              </a:rPr>
              <a:t>OPERATE</a:t>
            </a:r>
            <a:endParaRPr lang="en-US" sz="1000" dirty="0"/>
          </a:p>
        </p:txBody>
      </p:sp>
      <p:sp>
        <p:nvSpPr>
          <p:cNvPr id="30" name="Shape 28"/>
          <p:cNvSpPr/>
          <p:nvPr/>
        </p:nvSpPr>
        <p:spPr>
          <a:xfrm>
            <a:off x="5577840" y="1775155"/>
            <a:ext cx="5806440" cy="3200400"/>
          </a:xfrm>
          <a:prstGeom prst="rect">
            <a:avLst/>
          </a:prstGeom>
          <a:solidFill>
            <a:srgbClr val="E8E2D2"/>
          </a:solidFill>
          <a:ln/>
        </p:spPr>
      </p:sp>
      <p:sp>
        <p:nvSpPr>
          <p:cNvPr id="31" name="Shape 29"/>
          <p:cNvSpPr/>
          <p:nvPr/>
        </p:nvSpPr>
        <p:spPr>
          <a:xfrm rot="2700000">
            <a:off x="5852160" y="2127199"/>
            <a:ext cx="100584" cy="100584"/>
          </a:xfrm>
          <a:prstGeom prst="rect">
            <a:avLst/>
          </a:prstGeom>
          <a:solidFill>
            <a:srgbClr val="C9A227"/>
          </a:solidFill>
          <a:ln w="3175">
            <a:solidFill>
              <a:srgbClr val="C9A227"/>
            </a:solidFill>
            <a:prstDash val="solid"/>
          </a:ln>
        </p:spPr>
      </p:sp>
      <p:sp>
        <p:nvSpPr>
          <p:cNvPr id="32" name="Text 30"/>
          <p:cNvSpPr/>
          <p:nvPr/>
        </p:nvSpPr>
        <p:spPr>
          <a:xfrm>
            <a:off x="6163056" y="2049475"/>
            <a:ext cx="4946904" cy="539496"/>
          </a:xfrm>
          <a:prstGeom prst="rect">
            <a:avLst/>
          </a:prstGeom>
          <a:noFill/>
          <a:ln/>
        </p:spPr>
        <p:txBody>
          <a:bodyPr wrap="square" lIns="0" tIns="0" rIns="0" bIns="0" rtlCol="0" anchor="t"/>
          <a:lstStyle/>
          <a:p>
            <a:pPr indent="0" marL="0">
              <a:lnSpc>
                <a:spcPct val="116000"/>
              </a:lnSpc>
              <a:buNone/>
            </a:pPr>
            <a:r>
              <a:rPr lang="en-US" sz="1400" b="1" dirty="0">
                <a:solidFill>
                  <a:srgbClr val="8A6D14"/>
                </a:solidFill>
                <a:latin typeface="Arial" pitchFamily="34" charset="0"/>
                <a:ea typeface="Arial" pitchFamily="34" charset="-122"/>
                <a:cs typeface="Arial" pitchFamily="34" charset="-120"/>
              </a:rPr>
              <a:t>DOCUMENT: </a:t>
            </a:r>
            <a:pPr indent="0" marL="0">
              <a:lnSpc>
                <a:spcPct val="116000"/>
              </a:lnSpc>
              <a:buNone/>
            </a:pPr>
            <a:r>
              <a:rPr lang="en-US" sz="1400" dirty="0">
                <a:solidFill>
                  <a:srgbClr val="14213D"/>
                </a:solidFill>
                <a:latin typeface="Arial" pitchFamily="34" charset="0"/>
                <a:ea typeface="Arial" pitchFamily="34" charset="-122"/>
                <a:cs typeface="Arial" pitchFamily="34" charset="-120"/>
              </a:rPr>
              <a:t>What do you re-explain to somebody every single week?</a:t>
            </a:r>
            <a:endParaRPr lang="en-US" sz="1400" dirty="0"/>
          </a:p>
        </p:txBody>
      </p:sp>
      <p:sp>
        <p:nvSpPr>
          <p:cNvPr id="33" name="Shape 31"/>
          <p:cNvSpPr/>
          <p:nvPr/>
        </p:nvSpPr>
        <p:spPr>
          <a:xfrm rot="2700000">
            <a:off x="5852160" y="2831287"/>
            <a:ext cx="100584" cy="100584"/>
          </a:xfrm>
          <a:prstGeom prst="rect">
            <a:avLst/>
          </a:prstGeom>
          <a:solidFill>
            <a:srgbClr val="C9A227"/>
          </a:solidFill>
          <a:ln w="3175">
            <a:solidFill>
              <a:srgbClr val="C9A227"/>
            </a:solidFill>
            <a:prstDash val="solid"/>
          </a:ln>
        </p:spPr>
      </p:sp>
      <p:sp>
        <p:nvSpPr>
          <p:cNvPr id="34" name="Text 32"/>
          <p:cNvSpPr/>
          <p:nvPr/>
        </p:nvSpPr>
        <p:spPr>
          <a:xfrm>
            <a:off x="6163056" y="2753563"/>
            <a:ext cx="4946904" cy="539496"/>
          </a:xfrm>
          <a:prstGeom prst="rect">
            <a:avLst/>
          </a:prstGeom>
          <a:noFill/>
          <a:ln/>
        </p:spPr>
        <p:txBody>
          <a:bodyPr wrap="square" lIns="0" tIns="0" rIns="0" bIns="0" rtlCol="0" anchor="t"/>
          <a:lstStyle/>
          <a:p>
            <a:pPr indent="0" marL="0">
              <a:lnSpc>
                <a:spcPct val="116000"/>
              </a:lnSpc>
              <a:buNone/>
            </a:pPr>
            <a:r>
              <a:rPr lang="en-US" sz="1400" b="1" dirty="0">
                <a:solidFill>
                  <a:srgbClr val="8A6D14"/>
                </a:solidFill>
                <a:latin typeface="Arial" pitchFamily="34" charset="0"/>
                <a:ea typeface="Arial" pitchFamily="34" charset="-122"/>
                <a:cs typeface="Arial" pitchFamily="34" charset="-120"/>
              </a:rPr>
              <a:t>TEST: </a:t>
            </a:r>
            <a:pPr indent="0" marL="0">
              <a:lnSpc>
                <a:spcPct val="116000"/>
              </a:lnSpc>
              <a:buNone/>
            </a:pPr>
            <a:r>
              <a:rPr lang="en-US" sz="1400" dirty="0">
                <a:solidFill>
                  <a:srgbClr val="14213D"/>
                </a:solidFill>
                <a:latin typeface="Arial" pitchFamily="34" charset="0"/>
                <a:ea typeface="Arial" pitchFamily="34" charset="-122"/>
                <a:cs typeface="Arial" pitchFamily="34" charset="-120"/>
              </a:rPr>
              <a:t>What arrives daily that somebody else summarizes for you?</a:t>
            </a:r>
            <a:endParaRPr lang="en-US" sz="1400" dirty="0"/>
          </a:p>
        </p:txBody>
      </p:sp>
      <p:sp>
        <p:nvSpPr>
          <p:cNvPr id="35" name="Shape 33"/>
          <p:cNvSpPr/>
          <p:nvPr/>
        </p:nvSpPr>
        <p:spPr>
          <a:xfrm rot="2700000">
            <a:off x="5852160" y="3535375"/>
            <a:ext cx="100584" cy="100584"/>
          </a:xfrm>
          <a:prstGeom prst="rect">
            <a:avLst/>
          </a:prstGeom>
          <a:solidFill>
            <a:srgbClr val="C9A227"/>
          </a:solidFill>
          <a:ln w="3175">
            <a:solidFill>
              <a:srgbClr val="C9A227"/>
            </a:solidFill>
            <a:prstDash val="solid"/>
          </a:ln>
        </p:spPr>
      </p:sp>
      <p:sp>
        <p:nvSpPr>
          <p:cNvPr id="36" name="Text 34"/>
          <p:cNvSpPr/>
          <p:nvPr/>
        </p:nvSpPr>
        <p:spPr>
          <a:xfrm>
            <a:off x="6163056" y="3457651"/>
            <a:ext cx="4946904" cy="539496"/>
          </a:xfrm>
          <a:prstGeom prst="rect">
            <a:avLst/>
          </a:prstGeom>
          <a:noFill/>
          <a:ln/>
        </p:spPr>
        <p:txBody>
          <a:bodyPr wrap="square" lIns="0" tIns="0" rIns="0" bIns="0" rtlCol="0" anchor="t"/>
          <a:lstStyle/>
          <a:p>
            <a:pPr indent="0" marL="0">
              <a:lnSpc>
                <a:spcPct val="116000"/>
              </a:lnSpc>
              <a:buNone/>
            </a:pPr>
            <a:r>
              <a:rPr lang="en-US" sz="1400" b="1" dirty="0">
                <a:solidFill>
                  <a:srgbClr val="8A6D14"/>
                </a:solidFill>
                <a:latin typeface="Arial" pitchFamily="34" charset="0"/>
                <a:ea typeface="Arial" pitchFamily="34" charset="-122"/>
                <a:cs typeface="Arial" pitchFamily="34" charset="-120"/>
              </a:rPr>
              <a:t>REVISE: </a:t>
            </a:r>
            <a:pPr indent="0" marL="0">
              <a:lnSpc>
                <a:spcPct val="116000"/>
              </a:lnSpc>
              <a:buNone/>
            </a:pPr>
            <a:r>
              <a:rPr lang="en-US" sz="1400" dirty="0">
                <a:solidFill>
                  <a:srgbClr val="14213D"/>
                </a:solidFill>
                <a:latin typeface="Arial" pitchFamily="34" charset="0"/>
                <a:ea typeface="Arial" pitchFamily="34" charset="-122"/>
                <a:cs typeface="Arial" pitchFamily="34" charset="-120"/>
              </a:rPr>
              <a:t>Which decision waits on you only because the information is scattered?</a:t>
            </a:r>
            <a:endParaRPr lang="en-US" sz="1400" dirty="0"/>
          </a:p>
        </p:txBody>
      </p:sp>
      <p:sp>
        <p:nvSpPr>
          <p:cNvPr id="37" name="Shape 35"/>
          <p:cNvSpPr/>
          <p:nvPr/>
        </p:nvSpPr>
        <p:spPr>
          <a:xfrm rot="2700000">
            <a:off x="5852160" y="4239463"/>
            <a:ext cx="100584" cy="100584"/>
          </a:xfrm>
          <a:prstGeom prst="rect">
            <a:avLst/>
          </a:prstGeom>
          <a:solidFill>
            <a:srgbClr val="C9A227"/>
          </a:solidFill>
          <a:ln w="3175">
            <a:solidFill>
              <a:srgbClr val="C9A227"/>
            </a:solidFill>
            <a:prstDash val="solid"/>
          </a:ln>
        </p:spPr>
      </p:sp>
      <p:sp>
        <p:nvSpPr>
          <p:cNvPr id="38" name="Text 36"/>
          <p:cNvSpPr/>
          <p:nvPr/>
        </p:nvSpPr>
        <p:spPr>
          <a:xfrm>
            <a:off x="6163056" y="4161739"/>
            <a:ext cx="4946904" cy="539496"/>
          </a:xfrm>
          <a:prstGeom prst="rect">
            <a:avLst/>
          </a:prstGeom>
          <a:noFill/>
          <a:ln/>
        </p:spPr>
        <p:txBody>
          <a:bodyPr wrap="square" lIns="0" tIns="0" rIns="0" bIns="0" rtlCol="0" anchor="t"/>
          <a:lstStyle/>
          <a:p>
            <a:pPr indent="0" marL="0">
              <a:lnSpc>
                <a:spcPct val="116000"/>
              </a:lnSpc>
              <a:buNone/>
            </a:pPr>
            <a:r>
              <a:rPr lang="en-US" sz="1400" b="1" dirty="0">
                <a:solidFill>
                  <a:srgbClr val="8A6D14"/>
                </a:solidFill>
                <a:latin typeface="Arial" pitchFamily="34" charset="0"/>
                <a:ea typeface="Arial" pitchFamily="34" charset="-122"/>
                <a:cs typeface="Arial" pitchFamily="34" charset="-120"/>
              </a:rPr>
              <a:t>OPERATE: </a:t>
            </a:r>
            <a:pPr indent="0" marL="0">
              <a:lnSpc>
                <a:spcPct val="116000"/>
              </a:lnSpc>
              <a:buNone/>
            </a:pPr>
            <a:r>
              <a:rPr lang="en-US" sz="1400" dirty="0">
                <a:solidFill>
                  <a:srgbClr val="14213D"/>
                </a:solidFill>
                <a:latin typeface="Arial" pitchFamily="34" charset="0"/>
                <a:ea typeface="Arial" pitchFamily="34" charset="-122"/>
                <a:cs typeface="Arial" pitchFamily="34" charset="-120"/>
              </a:rPr>
              <a:t>What would you want running at 4:30 tomorrow without you?</a:t>
            </a:r>
            <a:endParaRPr lang="en-US" sz="1400" dirty="0"/>
          </a:p>
        </p:txBody>
      </p:sp>
      <p:sp>
        <p:nvSpPr>
          <p:cNvPr id="39" name="Text 37"/>
          <p:cNvSpPr/>
          <p:nvPr/>
        </p:nvSpPr>
        <p:spPr>
          <a:xfrm>
            <a:off x="813816" y="5296662"/>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Answer any one of these out loud and you have just specified your next agent.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1005840"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SIGNATURE</a:t>
            </a:r>
            <a:endParaRPr lang="en-US" sz="900" dirty="0"/>
          </a:p>
        </p:txBody>
      </p:sp>
      <p:sp>
        <p:nvSpPr>
          <p:cNvPr id="4" name="Shape 2"/>
          <p:cNvSpPr/>
          <p:nvPr/>
        </p:nvSpPr>
        <p:spPr>
          <a:xfrm rot="2700000">
            <a:off x="1874520" y="6003036"/>
            <a:ext cx="64008" cy="64008"/>
          </a:xfrm>
          <a:prstGeom prst="rect">
            <a:avLst/>
          </a:prstGeom>
          <a:solidFill>
            <a:srgbClr val="C9A227"/>
          </a:solidFill>
          <a:ln w="3175">
            <a:solidFill>
              <a:srgbClr val="C9A227"/>
            </a:solidFill>
            <a:prstDash val="solid"/>
          </a:ln>
        </p:spPr>
      </p:sp>
      <p:sp>
        <p:nvSpPr>
          <p:cNvPr id="5" name="Text 3"/>
          <p:cNvSpPr/>
          <p:nvPr/>
        </p:nvSpPr>
        <p:spPr>
          <a:xfrm>
            <a:off x="2057400"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6" name="Shape 4"/>
          <p:cNvSpPr/>
          <p:nvPr/>
        </p:nvSpPr>
        <p:spPr>
          <a:xfrm rot="2700000">
            <a:off x="4191000" y="6003036"/>
            <a:ext cx="64008" cy="64008"/>
          </a:xfrm>
          <a:prstGeom prst="rect">
            <a:avLst/>
          </a:prstGeom>
          <a:solidFill>
            <a:srgbClr val="C9A227"/>
          </a:solidFill>
          <a:ln w="3175">
            <a:solidFill>
              <a:srgbClr val="C9A227"/>
            </a:solidFill>
            <a:prstDash val="solid"/>
          </a:ln>
        </p:spPr>
      </p:sp>
      <p:sp>
        <p:nvSpPr>
          <p:cNvPr id="7" name="Text 5"/>
          <p:cNvSpPr/>
          <p:nvPr/>
        </p:nvSpPr>
        <p:spPr>
          <a:xfrm>
            <a:off x="4373880" y="5943600"/>
            <a:ext cx="120091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AUGUST 2026</a:t>
            </a:r>
            <a:endParaRPr lang="en-US" sz="900" dirty="0"/>
          </a:p>
        </p:txBody>
      </p:sp>
      <p:sp>
        <p:nvSpPr>
          <p:cNvPr id="8" name="Text 6"/>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25</a:t>
            </a:r>
            <a:endParaRPr lang="en-US" sz="900" dirty="0"/>
          </a:p>
        </p:txBody>
      </p:sp>
      <p:sp>
        <p:nvSpPr>
          <p:cNvPr id="9" name="Text 7"/>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WHAT TO DO MONDAY</a:t>
            </a:r>
            <a:endParaRPr lang="en-US" sz="1200" dirty="0"/>
          </a:p>
        </p:txBody>
      </p:sp>
      <p:sp>
        <p:nvSpPr>
          <p:cNvPr id="10" name="Text 8"/>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Four assignments. One per quadrant.</a:t>
            </a:r>
            <a:endParaRPr lang="en-US" sz="4000" dirty="0"/>
          </a:p>
        </p:txBody>
      </p:sp>
      <p:sp>
        <p:nvSpPr>
          <p:cNvPr id="11" name="Shape 9"/>
          <p:cNvSpPr/>
          <p:nvPr/>
        </p:nvSpPr>
        <p:spPr>
          <a:xfrm>
            <a:off x="813816" y="1793443"/>
            <a:ext cx="5102352" cy="1371600"/>
          </a:xfrm>
          <a:prstGeom prst="rect">
            <a:avLst/>
          </a:prstGeom>
          <a:solidFill>
            <a:srgbClr val="E8E2D2"/>
          </a:solidFill>
          <a:ln/>
        </p:spPr>
      </p:sp>
      <p:sp>
        <p:nvSpPr>
          <p:cNvPr id="12" name="Text 10"/>
          <p:cNvSpPr/>
          <p:nvPr/>
        </p:nvSpPr>
        <p:spPr>
          <a:xfrm>
            <a:off x="1069848" y="1976323"/>
            <a:ext cx="4590288" cy="237744"/>
          </a:xfrm>
          <a:prstGeom prst="rect">
            <a:avLst/>
          </a:prstGeom>
          <a:noFill/>
          <a:ln/>
        </p:spPr>
        <p:txBody>
          <a:bodyPr wrap="square" lIns="0" tIns="0" rIns="0" bIns="0" rtlCol="0" anchor="ctr"/>
          <a:lstStyle/>
          <a:p>
            <a:pPr indent="0" marL="0">
              <a:buNone/>
            </a:pPr>
            <a:r>
              <a:rPr lang="en-US" sz="1400" b="1" spc="140" kern="0" dirty="0">
                <a:solidFill>
                  <a:srgbClr val="8A6D14"/>
                </a:solidFill>
                <a:latin typeface="Arial" pitchFamily="34" charset="0"/>
                <a:ea typeface="Arial" pitchFamily="34" charset="-122"/>
                <a:cs typeface="Arial" pitchFamily="34" charset="-120"/>
              </a:rPr>
              <a:t>TIME  </a:t>
            </a:r>
            <a:pPr indent="0" marL="0">
              <a:buNone/>
            </a:pPr>
            <a:r>
              <a:rPr lang="en-US" sz="1100" i="1" dirty="0">
                <a:solidFill>
                  <a:srgbClr val="5A6379"/>
                </a:solidFill>
                <a:latin typeface="Arial" pitchFamily="34" charset="0"/>
                <a:ea typeface="Arial" pitchFamily="34" charset="-122"/>
                <a:cs typeface="Arial" pitchFamily="34" charset="-120"/>
              </a:rPr>
              <a:t>closed · tell</a:t>
            </a:r>
            <a:endParaRPr lang="en-US" sz="1400" dirty="0"/>
          </a:p>
        </p:txBody>
      </p:sp>
      <p:sp>
        <p:nvSpPr>
          <p:cNvPr id="13" name="Text 11"/>
          <p:cNvSpPr/>
          <p:nvPr/>
        </p:nvSpPr>
        <p:spPr>
          <a:xfrm>
            <a:off x="1069848" y="2250643"/>
            <a:ext cx="4590288" cy="256032"/>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Own the delegation.</a:t>
            </a:r>
            <a:endParaRPr lang="en-US" sz="1400" dirty="0"/>
          </a:p>
        </p:txBody>
      </p:sp>
      <p:sp>
        <p:nvSpPr>
          <p:cNvPr id="14" name="Text 12"/>
          <p:cNvSpPr/>
          <p:nvPr/>
        </p:nvSpPr>
        <p:spPr>
          <a:xfrm>
            <a:off x="1069848" y="2543251"/>
            <a:ext cx="4590288" cy="475488"/>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What priority is AI workflow for you, your S-team, and your company? Appoint a lead. Set a timeline.</a:t>
            </a:r>
            <a:endParaRPr lang="en-US" sz="1200" dirty="0"/>
          </a:p>
        </p:txBody>
      </p:sp>
      <p:sp>
        <p:nvSpPr>
          <p:cNvPr id="15" name="Shape 13"/>
          <p:cNvSpPr/>
          <p:nvPr/>
        </p:nvSpPr>
        <p:spPr>
          <a:xfrm>
            <a:off x="6281928" y="1793443"/>
            <a:ext cx="5102352" cy="1371600"/>
          </a:xfrm>
          <a:prstGeom prst="rect">
            <a:avLst/>
          </a:prstGeom>
          <a:solidFill>
            <a:srgbClr val="E8E2D2"/>
          </a:solidFill>
          <a:ln/>
        </p:spPr>
      </p:sp>
      <p:sp>
        <p:nvSpPr>
          <p:cNvPr id="16" name="Text 14"/>
          <p:cNvSpPr/>
          <p:nvPr/>
        </p:nvSpPr>
        <p:spPr>
          <a:xfrm>
            <a:off x="6537960" y="1976323"/>
            <a:ext cx="4590288" cy="237744"/>
          </a:xfrm>
          <a:prstGeom prst="rect">
            <a:avLst/>
          </a:prstGeom>
          <a:noFill/>
          <a:ln/>
        </p:spPr>
        <p:txBody>
          <a:bodyPr wrap="square" lIns="0" tIns="0" rIns="0" bIns="0" rtlCol="0" anchor="ctr"/>
          <a:lstStyle/>
          <a:p>
            <a:pPr indent="0" marL="0">
              <a:buNone/>
            </a:pPr>
            <a:r>
              <a:rPr lang="en-US" sz="1400" b="1" spc="140" kern="0" dirty="0">
                <a:solidFill>
                  <a:srgbClr val="8A6D14"/>
                </a:solidFill>
                <a:latin typeface="Arial" pitchFamily="34" charset="0"/>
                <a:ea typeface="Arial" pitchFamily="34" charset="-122"/>
                <a:cs typeface="Arial" pitchFamily="34" charset="-120"/>
              </a:rPr>
              <a:t>ACCURACY  </a:t>
            </a:r>
            <a:pPr indent="0" marL="0">
              <a:buNone/>
            </a:pPr>
            <a:r>
              <a:rPr lang="en-US" sz="1100" i="1" dirty="0">
                <a:solidFill>
                  <a:srgbClr val="5A6379"/>
                </a:solidFill>
                <a:latin typeface="Arial" pitchFamily="34" charset="0"/>
                <a:ea typeface="Arial" pitchFamily="34" charset="-122"/>
                <a:cs typeface="Arial" pitchFamily="34" charset="-120"/>
              </a:rPr>
              <a:t>closed · ask</a:t>
            </a:r>
            <a:endParaRPr lang="en-US" sz="1400" dirty="0"/>
          </a:p>
        </p:txBody>
      </p:sp>
      <p:sp>
        <p:nvSpPr>
          <p:cNvPr id="17" name="Text 15"/>
          <p:cNvSpPr/>
          <p:nvPr/>
        </p:nvSpPr>
        <p:spPr>
          <a:xfrm>
            <a:off x="6537960" y="2250643"/>
            <a:ext cx="4590288" cy="256032"/>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Harden the ground.</a:t>
            </a:r>
            <a:endParaRPr lang="en-US" sz="1400" dirty="0"/>
          </a:p>
        </p:txBody>
      </p:sp>
      <p:sp>
        <p:nvSpPr>
          <p:cNvPr id="18" name="Text 16"/>
          <p:cNvSpPr/>
          <p:nvPr/>
        </p:nvSpPr>
        <p:spPr>
          <a:xfrm>
            <a:off x="6537960" y="2543251"/>
            <a:ext cx="4590288" cy="475488"/>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Name the data, systems, and processes that must be trustworthy before we scale decisions on top of them.</a:t>
            </a:r>
            <a:endParaRPr lang="en-US" sz="1200" dirty="0"/>
          </a:p>
        </p:txBody>
      </p:sp>
      <p:sp>
        <p:nvSpPr>
          <p:cNvPr id="19" name="Shape 17"/>
          <p:cNvSpPr/>
          <p:nvPr/>
        </p:nvSpPr>
        <p:spPr>
          <a:xfrm>
            <a:off x="813816" y="3366211"/>
            <a:ext cx="5102352" cy="1371600"/>
          </a:xfrm>
          <a:prstGeom prst="rect">
            <a:avLst/>
          </a:prstGeom>
          <a:solidFill>
            <a:srgbClr val="E8E2D2"/>
          </a:solidFill>
          <a:ln/>
        </p:spPr>
      </p:sp>
      <p:sp>
        <p:nvSpPr>
          <p:cNvPr id="20" name="Text 18"/>
          <p:cNvSpPr/>
          <p:nvPr/>
        </p:nvSpPr>
        <p:spPr>
          <a:xfrm>
            <a:off x="1069848" y="3549091"/>
            <a:ext cx="4590288" cy="237744"/>
          </a:xfrm>
          <a:prstGeom prst="rect">
            <a:avLst/>
          </a:prstGeom>
          <a:noFill/>
          <a:ln/>
        </p:spPr>
        <p:txBody>
          <a:bodyPr wrap="square" lIns="0" tIns="0" rIns="0" bIns="0" rtlCol="0" anchor="ctr"/>
          <a:lstStyle/>
          <a:p>
            <a:pPr indent="0" marL="0">
              <a:buNone/>
            </a:pPr>
            <a:r>
              <a:rPr lang="en-US" sz="1400" b="1" spc="140" kern="0" dirty="0">
                <a:solidFill>
                  <a:srgbClr val="8A6D14"/>
                </a:solidFill>
                <a:latin typeface="Arial" pitchFamily="34" charset="0"/>
                <a:ea typeface="Arial" pitchFamily="34" charset="-122"/>
                <a:cs typeface="Arial" pitchFamily="34" charset="-120"/>
              </a:rPr>
              <a:t>TRUST  </a:t>
            </a:r>
            <a:pPr indent="0" marL="0">
              <a:buNone/>
            </a:pPr>
            <a:r>
              <a:rPr lang="en-US" sz="1100" i="1" dirty="0">
                <a:solidFill>
                  <a:srgbClr val="5A6379"/>
                </a:solidFill>
                <a:latin typeface="Arial" pitchFamily="34" charset="0"/>
                <a:ea typeface="Arial" pitchFamily="34" charset="-122"/>
                <a:cs typeface="Arial" pitchFamily="34" charset="-120"/>
              </a:rPr>
              <a:t>open · ask</a:t>
            </a:r>
            <a:endParaRPr lang="en-US" sz="1400" dirty="0"/>
          </a:p>
        </p:txBody>
      </p:sp>
      <p:sp>
        <p:nvSpPr>
          <p:cNvPr id="21" name="Text 19"/>
          <p:cNvSpPr/>
          <p:nvPr/>
        </p:nvSpPr>
        <p:spPr>
          <a:xfrm>
            <a:off x="1069848" y="3823411"/>
            <a:ext cx="4590288" cy="256032"/>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Write the design principles.</a:t>
            </a:r>
            <a:endParaRPr lang="en-US" sz="1400" dirty="0"/>
          </a:p>
        </p:txBody>
      </p:sp>
      <p:sp>
        <p:nvSpPr>
          <p:cNvPr id="22" name="Text 20"/>
          <p:cNvSpPr/>
          <p:nvPr/>
        </p:nvSpPr>
        <p:spPr>
          <a:xfrm>
            <a:off x="1069848" y="4116019"/>
            <a:ext cx="4590288" cy="667512"/>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How does this help you, your leadership team, and your people flourish as human beings? You hold the adoption criteria.</a:t>
            </a:r>
            <a:endParaRPr lang="en-US" sz="1200" dirty="0"/>
          </a:p>
        </p:txBody>
      </p:sp>
      <p:sp>
        <p:nvSpPr>
          <p:cNvPr id="23" name="Shape 21"/>
          <p:cNvSpPr/>
          <p:nvPr/>
        </p:nvSpPr>
        <p:spPr>
          <a:xfrm>
            <a:off x="6281928" y="3366211"/>
            <a:ext cx="5102352" cy="1371600"/>
          </a:xfrm>
          <a:prstGeom prst="rect">
            <a:avLst/>
          </a:prstGeom>
          <a:solidFill>
            <a:srgbClr val="E8E2D2"/>
          </a:solidFill>
          <a:ln/>
        </p:spPr>
      </p:sp>
      <p:sp>
        <p:nvSpPr>
          <p:cNvPr id="24" name="Text 22"/>
          <p:cNvSpPr/>
          <p:nvPr/>
        </p:nvSpPr>
        <p:spPr>
          <a:xfrm>
            <a:off x="6537960" y="3549091"/>
            <a:ext cx="4590288" cy="237744"/>
          </a:xfrm>
          <a:prstGeom prst="rect">
            <a:avLst/>
          </a:prstGeom>
          <a:noFill/>
          <a:ln/>
        </p:spPr>
        <p:txBody>
          <a:bodyPr wrap="square" lIns="0" tIns="0" rIns="0" bIns="0" rtlCol="0" anchor="ctr"/>
          <a:lstStyle/>
          <a:p>
            <a:pPr indent="0" marL="0">
              <a:buNone/>
            </a:pPr>
            <a:r>
              <a:rPr lang="en-US" sz="1400" b="1" spc="140" kern="0" dirty="0">
                <a:solidFill>
                  <a:srgbClr val="8A6D14"/>
                </a:solidFill>
                <a:latin typeface="Arial" pitchFamily="34" charset="0"/>
                <a:ea typeface="Arial" pitchFamily="34" charset="-122"/>
                <a:cs typeface="Arial" pitchFamily="34" charset="-120"/>
              </a:rPr>
              <a:t>VISION  </a:t>
            </a:r>
            <a:pPr indent="0" marL="0">
              <a:buNone/>
            </a:pPr>
            <a:r>
              <a:rPr lang="en-US" sz="1100" i="1" dirty="0">
                <a:solidFill>
                  <a:srgbClr val="5A6379"/>
                </a:solidFill>
                <a:latin typeface="Arial" pitchFamily="34" charset="0"/>
                <a:ea typeface="Arial" pitchFamily="34" charset="-122"/>
                <a:cs typeface="Arial" pitchFamily="34" charset="-120"/>
              </a:rPr>
              <a:t>open · tell</a:t>
            </a:r>
            <a:endParaRPr lang="en-US" sz="1400" dirty="0"/>
          </a:p>
        </p:txBody>
      </p:sp>
      <p:sp>
        <p:nvSpPr>
          <p:cNvPr id="25" name="Text 23"/>
          <p:cNvSpPr/>
          <p:nvPr/>
        </p:nvSpPr>
        <p:spPr>
          <a:xfrm>
            <a:off x="6537960" y="3823411"/>
            <a:ext cx="4590288" cy="256032"/>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Draw the flywheels.</a:t>
            </a:r>
            <a:endParaRPr lang="en-US" sz="1400" dirty="0"/>
          </a:p>
        </p:txBody>
      </p:sp>
      <p:sp>
        <p:nvSpPr>
          <p:cNvPr id="26" name="Text 24"/>
          <p:cNvSpPr/>
          <p:nvPr/>
        </p:nvSpPr>
        <p:spPr>
          <a:xfrm>
            <a:off x="6537960" y="4116019"/>
            <a:ext cx="4590288" cy="667512"/>
          </a:xfrm>
          <a:prstGeom prst="rect">
            <a:avLst/>
          </a:prstGeom>
          <a:noFill/>
          <a:ln/>
        </p:spPr>
        <p:txBody>
          <a:bodyPr wrap="square" lIns="0" tIns="0" rIns="0" bIns="0" rtlCol="0" anchor="t"/>
          <a:lstStyle/>
          <a:p>
            <a:pPr indent="0" marL="0">
              <a:lnSpc>
                <a:spcPct val="116000"/>
              </a:lnSpc>
              <a:buNone/>
            </a:pPr>
            <a:r>
              <a:rPr lang="en-US" sz="1200" dirty="0">
                <a:solidFill>
                  <a:srgbClr val="14213D"/>
                </a:solidFill>
                <a:latin typeface="Arial" pitchFamily="34" charset="0"/>
                <a:ea typeface="Arial" pitchFamily="34" charset="-122"/>
                <a:cs typeface="Arial" pitchFamily="34" charset="-120"/>
              </a:rPr>
              <a:t>Three to five years out: how is the business run, what is automated, what reaches the S-team, the O-team, directors, managers?</a:t>
            </a:r>
            <a:endParaRPr lang="en-US" sz="1200" dirty="0"/>
          </a:p>
        </p:txBody>
      </p:sp>
      <p:sp>
        <p:nvSpPr>
          <p:cNvPr id="27" name="Shape 25"/>
          <p:cNvSpPr/>
          <p:nvPr/>
        </p:nvSpPr>
        <p:spPr>
          <a:xfrm>
            <a:off x="813816" y="5029200"/>
            <a:ext cx="10570464" cy="548640"/>
          </a:xfrm>
          <a:prstGeom prst="rect">
            <a:avLst/>
          </a:prstGeom>
          <a:solidFill>
            <a:srgbClr val="14213D"/>
          </a:solidFill>
          <a:ln/>
        </p:spPr>
      </p:sp>
      <p:sp>
        <p:nvSpPr>
          <p:cNvPr id="28" name="Text 26"/>
          <p:cNvSpPr/>
          <p:nvPr/>
        </p:nvSpPr>
        <p:spPr>
          <a:xfrm>
            <a:off x="1106424" y="5029200"/>
            <a:ext cx="9985248" cy="548640"/>
          </a:xfrm>
          <a:prstGeom prst="rect">
            <a:avLst/>
          </a:prstGeom>
          <a:noFill/>
          <a:ln/>
        </p:spPr>
        <p:txBody>
          <a:bodyPr wrap="square" lIns="0" tIns="0" rIns="0" bIns="0" rtlCol="0" anchor="ctr"/>
          <a:lstStyle/>
          <a:p>
            <a:pPr indent="0" marL="0">
              <a:buNone/>
            </a:pPr>
            <a:r>
              <a:rPr lang="en-US" sz="1200" b="1" spc="100" kern="0" dirty="0">
                <a:solidFill>
                  <a:srgbClr val="E7C766"/>
                </a:solidFill>
                <a:latin typeface="Arial" pitchFamily="34" charset="0"/>
                <a:ea typeface="Arial" pitchFamily="34" charset="-122"/>
                <a:cs typeface="Arial" pitchFamily="34" charset="-120"/>
              </a:rPr>
              <a:t>AND HERE IS THE USEFUL PART:  </a:t>
            </a:r>
            <a:pPr indent="0" marL="0">
              <a:buNone/>
            </a:pPr>
            <a:r>
              <a:rPr lang="en-US" sz="1200" dirty="0">
                <a:solidFill>
                  <a:srgbClr val="F7F3EA"/>
                </a:solidFill>
                <a:latin typeface="Arial" pitchFamily="34" charset="0"/>
                <a:ea typeface="Arial" pitchFamily="34" charset="-122"/>
                <a:cs typeface="Arial" pitchFamily="34" charset="-120"/>
              </a:rPr>
              <a:t>each of these four creates tension for the other three. That tension is your requirement set, your governance, and your strategic direction. You need all four in the room.</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392217" y="722376"/>
            <a:ext cx="1408176" cy="1408176"/>
          </a:xfrm>
          <a:prstGeom prst="ellipse">
            <a:avLst/>
          </a:prstGeom>
          <a:ln w="12700">
            <a:solidFill>
              <a:srgbClr val="C9A227"/>
            </a:solidFill>
            <a:prstDash val="solid"/>
          </a:ln>
        </p:spPr>
      </p:sp>
      <p:sp>
        <p:nvSpPr>
          <p:cNvPr id="3" name="Shape 1"/>
          <p:cNvSpPr/>
          <p:nvPr/>
        </p:nvSpPr>
        <p:spPr>
          <a:xfrm>
            <a:off x="5496422" y="826581"/>
            <a:ext cx="1199766" cy="1199766"/>
          </a:xfrm>
          <a:prstGeom prst="ellipse">
            <a:avLst/>
          </a:prstGeom>
          <a:ln w="12700">
            <a:solidFill>
              <a:srgbClr val="C9A227"/>
            </a:solidFill>
            <a:prstDash val="solid"/>
          </a:ln>
        </p:spPr>
      </p:sp>
      <p:sp>
        <p:nvSpPr>
          <p:cNvPr id="4" name="Shape 2"/>
          <p:cNvSpPr/>
          <p:nvPr/>
        </p:nvSpPr>
        <p:spPr>
          <a:xfrm>
            <a:off x="6096305" y="687172"/>
            <a:ext cx="0" cy="70409"/>
          </a:xfrm>
          <a:prstGeom prst="line">
            <a:avLst/>
          </a:prstGeom>
          <a:noFill/>
          <a:ln w="12700">
            <a:solidFill>
              <a:srgbClr val="C9A227"/>
            </a:solidFill>
            <a:prstDash val="solid"/>
          </a:ln>
        </p:spPr>
      </p:sp>
      <p:sp>
        <p:nvSpPr>
          <p:cNvPr id="5" name="Shape 3"/>
          <p:cNvSpPr/>
          <p:nvPr/>
        </p:nvSpPr>
        <p:spPr>
          <a:xfrm>
            <a:off x="6096305" y="2095348"/>
            <a:ext cx="0" cy="70409"/>
          </a:xfrm>
          <a:prstGeom prst="line">
            <a:avLst/>
          </a:prstGeom>
          <a:noFill/>
          <a:ln w="12700">
            <a:solidFill>
              <a:srgbClr val="C9A227"/>
            </a:solidFill>
            <a:prstDash val="solid"/>
          </a:ln>
        </p:spPr>
      </p:sp>
      <p:sp>
        <p:nvSpPr>
          <p:cNvPr id="6" name="Shape 4"/>
          <p:cNvSpPr/>
          <p:nvPr/>
        </p:nvSpPr>
        <p:spPr>
          <a:xfrm>
            <a:off x="5357012" y="1426464"/>
            <a:ext cx="70409" cy="0"/>
          </a:xfrm>
          <a:prstGeom prst="line">
            <a:avLst/>
          </a:prstGeom>
          <a:noFill/>
          <a:ln w="12700">
            <a:solidFill>
              <a:srgbClr val="C9A227"/>
            </a:solidFill>
            <a:prstDash val="solid"/>
          </a:ln>
        </p:spPr>
      </p:sp>
      <p:sp>
        <p:nvSpPr>
          <p:cNvPr id="7" name="Shape 5"/>
          <p:cNvSpPr/>
          <p:nvPr/>
        </p:nvSpPr>
        <p:spPr>
          <a:xfrm>
            <a:off x="6765188" y="1426464"/>
            <a:ext cx="70409" cy="0"/>
          </a:xfrm>
          <a:prstGeom prst="line">
            <a:avLst/>
          </a:prstGeom>
          <a:noFill/>
          <a:ln w="12700">
            <a:solidFill>
              <a:srgbClr val="C9A227"/>
            </a:solidFill>
            <a:prstDash val="solid"/>
          </a:ln>
        </p:spPr>
      </p:sp>
      <p:sp>
        <p:nvSpPr>
          <p:cNvPr id="8" name="Text 6"/>
          <p:cNvSpPr/>
          <p:nvPr/>
        </p:nvSpPr>
        <p:spPr>
          <a:xfrm>
            <a:off x="5496422" y="826581"/>
            <a:ext cx="1199766" cy="1199766"/>
          </a:xfrm>
          <a:prstGeom prst="rect">
            <a:avLst/>
          </a:prstGeom>
          <a:noFill/>
          <a:ln/>
        </p:spPr>
        <p:txBody>
          <a:bodyPr wrap="square" lIns="0" tIns="0" rIns="0" bIns="0" rtlCol="0" anchor="ctr"/>
          <a:lstStyle/>
          <a:p>
            <a:pPr algn="ctr" indent="0" marL="0">
              <a:buNone/>
            </a:pPr>
            <a:r>
              <a:rPr lang="en-US" sz="5500" b="1" dirty="0">
                <a:solidFill>
                  <a:srgbClr val="A31621"/>
                </a:solidFill>
                <a:latin typeface="Georgia" pitchFamily="34" charset="0"/>
                <a:ea typeface="Georgia" pitchFamily="34" charset="-122"/>
                <a:cs typeface="Georgia" pitchFamily="34" charset="-120"/>
              </a:rPr>
              <a:t>D</a:t>
            </a:r>
            <a:endParaRPr lang="en-US" sz="5500" dirty="0"/>
          </a:p>
        </p:txBody>
      </p:sp>
      <p:sp>
        <p:nvSpPr>
          <p:cNvPr id="9" name="Shape 7"/>
          <p:cNvSpPr/>
          <p:nvPr/>
        </p:nvSpPr>
        <p:spPr>
          <a:xfrm>
            <a:off x="1706728" y="2304288"/>
            <a:ext cx="8778240" cy="1667134"/>
          </a:xfrm>
          <a:prstGeom prst="rect">
            <a:avLst/>
          </a:prstGeom>
          <a:solidFill>
            <a:srgbClr val="E8E2D2"/>
          </a:solidFill>
          <a:ln/>
        </p:spPr>
      </p:sp>
      <p:sp>
        <p:nvSpPr>
          <p:cNvPr id="10" name="Text 8"/>
          <p:cNvSpPr/>
          <p:nvPr/>
        </p:nvSpPr>
        <p:spPr>
          <a:xfrm>
            <a:off x="2163928" y="2560320"/>
            <a:ext cx="7863840" cy="880750"/>
          </a:xfrm>
          <a:prstGeom prst="rect">
            <a:avLst/>
          </a:prstGeom>
          <a:noFill/>
          <a:ln/>
        </p:spPr>
        <p:txBody>
          <a:bodyPr wrap="square" lIns="0" tIns="0" rIns="0" bIns="0" rtlCol="0" anchor="ctr"/>
          <a:lstStyle/>
          <a:p>
            <a:pPr algn="ctr" indent="0" marL="0">
              <a:buNone/>
            </a:pPr>
            <a:r>
              <a:rPr lang="en-US" sz="2400" b="1" i="1" dirty="0">
                <a:solidFill>
                  <a:srgbClr val="A31621"/>
                </a:solidFill>
                <a:latin typeface="Georgia" pitchFamily="34" charset="0"/>
                <a:ea typeface="Georgia" pitchFamily="34" charset="-122"/>
                <a:cs typeface="Georgia" pitchFamily="34" charset="-120"/>
              </a:rPr>
              <a:t>“If you were ever lucky enough to have me, you wouldn’t want to share.”</a:t>
            </a:r>
            <a:endParaRPr lang="en-US" sz="2400" dirty="0"/>
          </a:p>
        </p:txBody>
      </p:sp>
      <p:sp>
        <p:nvSpPr>
          <p:cNvPr id="11" name="Text 9"/>
          <p:cNvSpPr/>
          <p:nvPr/>
        </p:nvSpPr>
        <p:spPr>
          <a:xfrm>
            <a:off x="2163928" y="3569086"/>
            <a:ext cx="7863840" cy="219456"/>
          </a:xfrm>
          <a:prstGeom prst="rect">
            <a:avLst/>
          </a:prstGeom>
          <a:noFill/>
          <a:ln/>
        </p:spPr>
        <p:txBody>
          <a:bodyPr wrap="square" lIns="0" tIns="0" rIns="0" bIns="0" rtlCol="0" anchor="ctr"/>
          <a:lstStyle/>
          <a:p>
            <a:pPr algn="ctr" indent="0" marL="0">
              <a:buNone/>
            </a:pPr>
            <a:r>
              <a:rPr lang="en-US" sz="1100" b="1" spc="160" kern="0" dirty="0">
                <a:solidFill>
                  <a:srgbClr val="14213D"/>
                </a:solidFill>
                <a:latin typeface="Arial" pitchFamily="34" charset="0"/>
                <a:ea typeface="Arial" pitchFamily="34" charset="-122"/>
                <a:cs typeface="Arial" pitchFamily="34" charset="-120"/>
              </a:rPr>
              <a:t>— DONNA PAULSEN, SUITS</a:t>
            </a:r>
            <a:endParaRPr lang="en-US" sz="1100" dirty="0"/>
          </a:p>
        </p:txBody>
      </p:sp>
      <p:sp>
        <p:nvSpPr>
          <p:cNvPr id="12" name="Text 10"/>
          <p:cNvSpPr/>
          <p:nvPr/>
        </p:nvSpPr>
        <p:spPr>
          <a:xfrm>
            <a:off x="813816" y="4282318"/>
            <a:ext cx="10570464" cy="658368"/>
          </a:xfrm>
          <a:prstGeom prst="rect">
            <a:avLst/>
          </a:prstGeom>
          <a:noFill/>
          <a:ln/>
        </p:spPr>
        <p:txBody>
          <a:bodyPr wrap="square" lIns="0" tIns="0" rIns="0" bIns="0" rtlCol="0" anchor="ctr"/>
          <a:lstStyle/>
          <a:p>
            <a:pPr algn="ctr" indent="0" marL="0">
              <a:buNone/>
            </a:pPr>
            <a:r>
              <a:rPr lang="en-US" sz="4000" b="1" dirty="0">
                <a:solidFill>
                  <a:srgbClr val="F7F3EA"/>
                </a:solidFill>
                <a:latin typeface="Georgia" pitchFamily="34" charset="0"/>
                <a:ea typeface="Georgia" pitchFamily="34" charset="-122"/>
                <a:cs typeface="Georgia" pitchFamily="34" charset="-120"/>
              </a:rPr>
              <a:t>Yours starts tomorrow at 4:54.</a:t>
            </a:r>
            <a:endParaRPr lang="en-US" sz="4000" dirty="0"/>
          </a:p>
        </p:txBody>
      </p:sp>
      <p:sp>
        <p:nvSpPr>
          <p:cNvPr id="13" name="Text 11"/>
          <p:cNvSpPr/>
          <p:nvPr/>
        </p:nvSpPr>
        <p:spPr>
          <a:xfrm>
            <a:off x="813816" y="5032126"/>
            <a:ext cx="10570464" cy="256032"/>
          </a:xfrm>
          <a:prstGeom prst="rect">
            <a:avLst/>
          </a:prstGeom>
          <a:noFill/>
          <a:ln/>
        </p:spPr>
        <p:txBody>
          <a:bodyPr wrap="square" lIns="0" tIns="0" rIns="0" bIns="0" rtlCol="0" anchor="ctr"/>
          <a:lstStyle/>
          <a:p>
            <a:pPr algn="ctr" indent="0" marL="0">
              <a:buNone/>
            </a:pPr>
            <a:r>
              <a:rPr lang="en-US" sz="1200" dirty="0">
                <a:solidFill>
                  <a:srgbClr val="AFA893"/>
                </a:solidFill>
                <a:latin typeface="Arial" pitchFamily="34" charset="0"/>
                <a:ea typeface="Arial" pitchFamily="34" charset="-122"/>
                <a:cs typeface="Arial" pitchFamily="34" charset="-120"/>
              </a:rPr>
              <a:t>denise@denisegosnell.ai</a:t>
            </a:r>
            <a:endParaRPr lang="en-US" sz="1200" dirty="0"/>
          </a:p>
        </p:txBody>
      </p:sp>
      <p:sp>
        <p:nvSpPr>
          <p:cNvPr id="14" name="Shape 12"/>
          <p:cNvSpPr/>
          <p:nvPr/>
        </p:nvSpPr>
        <p:spPr>
          <a:xfrm>
            <a:off x="2438248" y="6492240"/>
            <a:ext cx="7315200" cy="0"/>
          </a:xfrm>
          <a:prstGeom prst="line">
            <a:avLst/>
          </a:prstGeom>
          <a:noFill/>
          <a:ln w="9525">
            <a:solidFill>
              <a:srgbClr val="C9A227">
                <a:alpha val="50000"/>
              </a:srgbClr>
            </a:solidFill>
            <a:prstDash val="solid"/>
          </a:ln>
        </p:spPr>
      </p:sp>
      <p:sp>
        <p:nvSpPr>
          <p:cNvPr id="15" name="Shape 13"/>
          <p:cNvSpPr/>
          <p:nvPr/>
        </p:nvSpPr>
        <p:spPr>
          <a:xfrm>
            <a:off x="2438248" y="6378854"/>
            <a:ext cx="0" cy="113386"/>
          </a:xfrm>
          <a:prstGeom prst="line">
            <a:avLst/>
          </a:prstGeom>
          <a:noFill/>
          <a:ln w="9525">
            <a:solidFill>
              <a:srgbClr val="C9A227">
                <a:alpha val="50000"/>
              </a:srgbClr>
            </a:solidFill>
            <a:prstDash val="solid"/>
          </a:ln>
        </p:spPr>
      </p:sp>
      <p:sp>
        <p:nvSpPr>
          <p:cNvPr id="16" name="Shape 14"/>
          <p:cNvSpPr/>
          <p:nvPr/>
        </p:nvSpPr>
        <p:spPr>
          <a:xfrm>
            <a:off x="2438248" y="6378854"/>
            <a:ext cx="347472" cy="0"/>
          </a:xfrm>
          <a:prstGeom prst="line">
            <a:avLst/>
          </a:prstGeom>
          <a:noFill/>
          <a:ln w="9525">
            <a:solidFill>
              <a:srgbClr val="C9A227">
                <a:alpha val="50000"/>
              </a:srgbClr>
            </a:solidFill>
            <a:prstDash val="solid"/>
          </a:ln>
        </p:spPr>
      </p:sp>
      <p:sp>
        <p:nvSpPr>
          <p:cNvPr id="17" name="Shape 15"/>
          <p:cNvSpPr/>
          <p:nvPr/>
        </p:nvSpPr>
        <p:spPr>
          <a:xfrm>
            <a:off x="2785720" y="6378854"/>
            <a:ext cx="0" cy="113386"/>
          </a:xfrm>
          <a:prstGeom prst="line">
            <a:avLst/>
          </a:prstGeom>
          <a:noFill/>
          <a:ln w="9525">
            <a:solidFill>
              <a:srgbClr val="C9A227">
                <a:alpha val="50000"/>
              </a:srgbClr>
            </a:solidFill>
            <a:prstDash val="solid"/>
          </a:ln>
        </p:spPr>
      </p:sp>
      <p:sp>
        <p:nvSpPr>
          <p:cNvPr id="18" name="Shape 16"/>
          <p:cNvSpPr/>
          <p:nvPr/>
        </p:nvSpPr>
        <p:spPr>
          <a:xfrm>
            <a:off x="2822296" y="6299484"/>
            <a:ext cx="0" cy="192756"/>
          </a:xfrm>
          <a:prstGeom prst="line">
            <a:avLst/>
          </a:prstGeom>
          <a:noFill/>
          <a:ln w="9525">
            <a:solidFill>
              <a:srgbClr val="C9A227">
                <a:alpha val="50000"/>
              </a:srgbClr>
            </a:solidFill>
            <a:prstDash val="solid"/>
          </a:ln>
        </p:spPr>
      </p:sp>
      <p:sp>
        <p:nvSpPr>
          <p:cNvPr id="19" name="Shape 17"/>
          <p:cNvSpPr/>
          <p:nvPr/>
        </p:nvSpPr>
        <p:spPr>
          <a:xfrm>
            <a:off x="2822296" y="6299484"/>
            <a:ext cx="292608" cy="0"/>
          </a:xfrm>
          <a:prstGeom prst="line">
            <a:avLst/>
          </a:prstGeom>
          <a:noFill/>
          <a:ln w="9525">
            <a:solidFill>
              <a:srgbClr val="C9A227">
                <a:alpha val="50000"/>
              </a:srgbClr>
            </a:solidFill>
            <a:prstDash val="solid"/>
          </a:ln>
        </p:spPr>
      </p:sp>
      <p:sp>
        <p:nvSpPr>
          <p:cNvPr id="20" name="Shape 18"/>
          <p:cNvSpPr/>
          <p:nvPr/>
        </p:nvSpPr>
        <p:spPr>
          <a:xfrm>
            <a:off x="3114904" y="6299484"/>
            <a:ext cx="0" cy="192756"/>
          </a:xfrm>
          <a:prstGeom prst="line">
            <a:avLst/>
          </a:prstGeom>
          <a:noFill/>
          <a:ln w="9525">
            <a:solidFill>
              <a:srgbClr val="C9A227">
                <a:alpha val="50000"/>
              </a:srgbClr>
            </a:solidFill>
            <a:prstDash val="solid"/>
          </a:ln>
        </p:spPr>
      </p:sp>
      <p:sp>
        <p:nvSpPr>
          <p:cNvPr id="21" name="Shape 19"/>
          <p:cNvSpPr/>
          <p:nvPr/>
        </p:nvSpPr>
        <p:spPr>
          <a:xfrm>
            <a:off x="3151480" y="6401532"/>
            <a:ext cx="0" cy="90708"/>
          </a:xfrm>
          <a:prstGeom prst="line">
            <a:avLst/>
          </a:prstGeom>
          <a:noFill/>
          <a:ln w="9525">
            <a:solidFill>
              <a:srgbClr val="C9A227">
                <a:alpha val="50000"/>
              </a:srgbClr>
            </a:solidFill>
            <a:prstDash val="solid"/>
          </a:ln>
        </p:spPr>
      </p:sp>
      <p:sp>
        <p:nvSpPr>
          <p:cNvPr id="22" name="Shape 20"/>
          <p:cNvSpPr/>
          <p:nvPr/>
        </p:nvSpPr>
        <p:spPr>
          <a:xfrm>
            <a:off x="3151480" y="6401532"/>
            <a:ext cx="182880" cy="0"/>
          </a:xfrm>
          <a:prstGeom prst="line">
            <a:avLst/>
          </a:prstGeom>
          <a:noFill/>
          <a:ln w="9525">
            <a:solidFill>
              <a:srgbClr val="C9A227">
                <a:alpha val="50000"/>
              </a:srgbClr>
            </a:solidFill>
            <a:prstDash val="solid"/>
          </a:ln>
        </p:spPr>
      </p:sp>
      <p:sp>
        <p:nvSpPr>
          <p:cNvPr id="23" name="Shape 21"/>
          <p:cNvSpPr/>
          <p:nvPr/>
        </p:nvSpPr>
        <p:spPr>
          <a:xfrm>
            <a:off x="3334360" y="6401532"/>
            <a:ext cx="0" cy="90708"/>
          </a:xfrm>
          <a:prstGeom prst="line">
            <a:avLst/>
          </a:prstGeom>
          <a:noFill/>
          <a:ln w="9525">
            <a:solidFill>
              <a:srgbClr val="C9A227">
                <a:alpha val="50000"/>
              </a:srgbClr>
            </a:solidFill>
            <a:prstDash val="solid"/>
          </a:ln>
        </p:spPr>
      </p:sp>
      <p:sp>
        <p:nvSpPr>
          <p:cNvPr id="24" name="Shape 22"/>
          <p:cNvSpPr/>
          <p:nvPr/>
        </p:nvSpPr>
        <p:spPr>
          <a:xfrm>
            <a:off x="3370936" y="6231453"/>
            <a:ext cx="0" cy="260787"/>
          </a:xfrm>
          <a:prstGeom prst="line">
            <a:avLst/>
          </a:prstGeom>
          <a:noFill/>
          <a:ln w="9525">
            <a:solidFill>
              <a:srgbClr val="C9A227">
                <a:alpha val="50000"/>
              </a:srgbClr>
            </a:solidFill>
            <a:prstDash val="solid"/>
          </a:ln>
        </p:spPr>
      </p:sp>
      <p:sp>
        <p:nvSpPr>
          <p:cNvPr id="25" name="Shape 23"/>
          <p:cNvSpPr/>
          <p:nvPr/>
        </p:nvSpPr>
        <p:spPr>
          <a:xfrm>
            <a:off x="3370936" y="6231453"/>
            <a:ext cx="347472" cy="0"/>
          </a:xfrm>
          <a:prstGeom prst="line">
            <a:avLst/>
          </a:prstGeom>
          <a:noFill/>
          <a:ln w="9525">
            <a:solidFill>
              <a:srgbClr val="C9A227">
                <a:alpha val="50000"/>
              </a:srgbClr>
            </a:solidFill>
            <a:prstDash val="solid"/>
          </a:ln>
        </p:spPr>
      </p:sp>
      <p:sp>
        <p:nvSpPr>
          <p:cNvPr id="26" name="Shape 24"/>
          <p:cNvSpPr/>
          <p:nvPr/>
        </p:nvSpPr>
        <p:spPr>
          <a:xfrm>
            <a:off x="3718408" y="6231453"/>
            <a:ext cx="0" cy="260787"/>
          </a:xfrm>
          <a:prstGeom prst="line">
            <a:avLst/>
          </a:prstGeom>
          <a:noFill/>
          <a:ln w="9525">
            <a:solidFill>
              <a:srgbClr val="C9A227">
                <a:alpha val="50000"/>
              </a:srgbClr>
            </a:solidFill>
            <a:prstDash val="solid"/>
          </a:ln>
        </p:spPr>
      </p:sp>
      <p:sp>
        <p:nvSpPr>
          <p:cNvPr id="27" name="Shape 25"/>
          <p:cNvSpPr/>
          <p:nvPr/>
        </p:nvSpPr>
        <p:spPr>
          <a:xfrm>
            <a:off x="3754984" y="6344839"/>
            <a:ext cx="0" cy="147401"/>
          </a:xfrm>
          <a:prstGeom prst="line">
            <a:avLst/>
          </a:prstGeom>
          <a:noFill/>
          <a:ln w="9525">
            <a:solidFill>
              <a:srgbClr val="C9A227">
                <a:alpha val="50000"/>
              </a:srgbClr>
            </a:solidFill>
            <a:prstDash val="solid"/>
          </a:ln>
        </p:spPr>
      </p:sp>
      <p:sp>
        <p:nvSpPr>
          <p:cNvPr id="28" name="Shape 26"/>
          <p:cNvSpPr/>
          <p:nvPr/>
        </p:nvSpPr>
        <p:spPr>
          <a:xfrm>
            <a:off x="3754984" y="6344839"/>
            <a:ext cx="237744" cy="0"/>
          </a:xfrm>
          <a:prstGeom prst="line">
            <a:avLst/>
          </a:prstGeom>
          <a:noFill/>
          <a:ln w="9525">
            <a:solidFill>
              <a:srgbClr val="C9A227">
                <a:alpha val="50000"/>
              </a:srgbClr>
            </a:solidFill>
            <a:prstDash val="solid"/>
          </a:ln>
        </p:spPr>
      </p:sp>
      <p:sp>
        <p:nvSpPr>
          <p:cNvPr id="29" name="Shape 27"/>
          <p:cNvSpPr/>
          <p:nvPr/>
        </p:nvSpPr>
        <p:spPr>
          <a:xfrm>
            <a:off x="3992728" y="6344839"/>
            <a:ext cx="0" cy="147401"/>
          </a:xfrm>
          <a:prstGeom prst="line">
            <a:avLst/>
          </a:prstGeom>
          <a:noFill/>
          <a:ln w="9525">
            <a:solidFill>
              <a:srgbClr val="C9A227">
                <a:alpha val="50000"/>
              </a:srgbClr>
            </a:solidFill>
            <a:prstDash val="solid"/>
          </a:ln>
        </p:spPr>
      </p:sp>
      <p:sp>
        <p:nvSpPr>
          <p:cNvPr id="30" name="Shape 28"/>
          <p:cNvSpPr/>
          <p:nvPr/>
        </p:nvSpPr>
        <p:spPr>
          <a:xfrm>
            <a:off x="4029304" y="6140745"/>
            <a:ext cx="0" cy="351495"/>
          </a:xfrm>
          <a:prstGeom prst="line">
            <a:avLst/>
          </a:prstGeom>
          <a:noFill/>
          <a:ln w="9525">
            <a:solidFill>
              <a:srgbClr val="C9A227">
                <a:alpha val="50000"/>
              </a:srgbClr>
            </a:solidFill>
            <a:prstDash val="solid"/>
          </a:ln>
        </p:spPr>
      </p:sp>
      <p:sp>
        <p:nvSpPr>
          <p:cNvPr id="31" name="Shape 29"/>
          <p:cNvSpPr/>
          <p:nvPr/>
        </p:nvSpPr>
        <p:spPr>
          <a:xfrm>
            <a:off x="4029304" y="6140745"/>
            <a:ext cx="292608" cy="0"/>
          </a:xfrm>
          <a:prstGeom prst="line">
            <a:avLst/>
          </a:prstGeom>
          <a:noFill/>
          <a:ln w="9525">
            <a:solidFill>
              <a:srgbClr val="C9A227">
                <a:alpha val="50000"/>
              </a:srgbClr>
            </a:solidFill>
            <a:prstDash val="solid"/>
          </a:ln>
        </p:spPr>
      </p:sp>
      <p:sp>
        <p:nvSpPr>
          <p:cNvPr id="32" name="Shape 30"/>
          <p:cNvSpPr/>
          <p:nvPr/>
        </p:nvSpPr>
        <p:spPr>
          <a:xfrm>
            <a:off x="4321912" y="6140745"/>
            <a:ext cx="0" cy="351495"/>
          </a:xfrm>
          <a:prstGeom prst="line">
            <a:avLst/>
          </a:prstGeom>
          <a:noFill/>
          <a:ln w="9525">
            <a:solidFill>
              <a:srgbClr val="C9A227">
                <a:alpha val="50000"/>
              </a:srgbClr>
            </a:solidFill>
            <a:prstDash val="solid"/>
          </a:ln>
        </p:spPr>
      </p:sp>
      <p:sp>
        <p:nvSpPr>
          <p:cNvPr id="33" name="Shape 31"/>
          <p:cNvSpPr/>
          <p:nvPr/>
        </p:nvSpPr>
        <p:spPr>
          <a:xfrm>
            <a:off x="4358488" y="6322162"/>
            <a:ext cx="0" cy="170078"/>
          </a:xfrm>
          <a:prstGeom prst="line">
            <a:avLst/>
          </a:prstGeom>
          <a:noFill/>
          <a:ln w="9525">
            <a:solidFill>
              <a:srgbClr val="C9A227">
                <a:alpha val="50000"/>
              </a:srgbClr>
            </a:solidFill>
            <a:prstDash val="solid"/>
          </a:ln>
        </p:spPr>
      </p:sp>
      <p:sp>
        <p:nvSpPr>
          <p:cNvPr id="34" name="Shape 32"/>
          <p:cNvSpPr/>
          <p:nvPr/>
        </p:nvSpPr>
        <p:spPr>
          <a:xfrm>
            <a:off x="4358488" y="6322162"/>
            <a:ext cx="274320" cy="0"/>
          </a:xfrm>
          <a:prstGeom prst="line">
            <a:avLst/>
          </a:prstGeom>
          <a:noFill/>
          <a:ln w="9525">
            <a:solidFill>
              <a:srgbClr val="C9A227">
                <a:alpha val="50000"/>
              </a:srgbClr>
            </a:solidFill>
            <a:prstDash val="solid"/>
          </a:ln>
        </p:spPr>
      </p:sp>
      <p:sp>
        <p:nvSpPr>
          <p:cNvPr id="35" name="Shape 33"/>
          <p:cNvSpPr/>
          <p:nvPr/>
        </p:nvSpPr>
        <p:spPr>
          <a:xfrm>
            <a:off x="4632808" y="6322162"/>
            <a:ext cx="0" cy="170078"/>
          </a:xfrm>
          <a:prstGeom prst="line">
            <a:avLst/>
          </a:prstGeom>
          <a:noFill/>
          <a:ln w="9525">
            <a:solidFill>
              <a:srgbClr val="C9A227">
                <a:alpha val="50000"/>
              </a:srgbClr>
            </a:solidFill>
            <a:prstDash val="solid"/>
          </a:ln>
        </p:spPr>
      </p:sp>
      <p:sp>
        <p:nvSpPr>
          <p:cNvPr id="36" name="Shape 34"/>
          <p:cNvSpPr/>
          <p:nvPr/>
        </p:nvSpPr>
        <p:spPr>
          <a:xfrm>
            <a:off x="4669384" y="6378854"/>
            <a:ext cx="0" cy="113386"/>
          </a:xfrm>
          <a:prstGeom prst="line">
            <a:avLst/>
          </a:prstGeom>
          <a:noFill/>
          <a:ln w="9525">
            <a:solidFill>
              <a:srgbClr val="C9A227">
                <a:alpha val="50000"/>
              </a:srgbClr>
            </a:solidFill>
            <a:prstDash val="solid"/>
          </a:ln>
        </p:spPr>
      </p:sp>
      <p:sp>
        <p:nvSpPr>
          <p:cNvPr id="37" name="Shape 35"/>
          <p:cNvSpPr/>
          <p:nvPr/>
        </p:nvSpPr>
        <p:spPr>
          <a:xfrm>
            <a:off x="4669384" y="6378854"/>
            <a:ext cx="219456" cy="0"/>
          </a:xfrm>
          <a:prstGeom prst="line">
            <a:avLst/>
          </a:prstGeom>
          <a:noFill/>
          <a:ln w="9525">
            <a:solidFill>
              <a:srgbClr val="C9A227">
                <a:alpha val="50000"/>
              </a:srgbClr>
            </a:solidFill>
            <a:prstDash val="solid"/>
          </a:ln>
        </p:spPr>
      </p:sp>
      <p:sp>
        <p:nvSpPr>
          <p:cNvPr id="38" name="Shape 36"/>
          <p:cNvSpPr/>
          <p:nvPr/>
        </p:nvSpPr>
        <p:spPr>
          <a:xfrm>
            <a:off x="4888840" y="6378854"/>
            <a:ext cx="0" cy="113386"/>
          </a:xfrm>
          <a:prstGeom prst="line">
            <a:avLst/>
          </a:prstGeom>
          <a:noFill/>
          <a:ln w="9525">
            <a:solidFill>
              <a:srgbClr val="C9A227">
                <a:alpha val="50000"/>
              </a:srgbClr>
            </a:solidFill>
            <a:prstDash val="solid"/>
          </a:ln>
        </p:spPr>
      </p:sp>
      <p:sp>
        <p:nvSpPr>
          <p:cNvPr id="39" name="Shape 37"/>
          <p:cNvSpPr/>
          <p:nvPr/>
        </p:nvSpPr>
        <p:spPr>
          <a:xfrm>
            <a:off x="4925416" y="6208776"/>
            <a:ext cx="0" cy="283464"/>
          </a:xfrm>
          <a:prstGeom prst="line">
            <a:avLst/>
          </a:prstGeom>
          <a:noFill/>
          <a:ln w="9525">
            <a:solidFill>
              <a:srgbClr val="C9A227">
                <a:alpha val="50000"/>
              </a:srgbClr>
            </a:solidFill>
            <a:prstDash val="solid"/>
          </a:ln>
        </p:spPr>
      </p:sp>
      <p:sp>
        <p:nvSpPr>
          <p:cNvPr id="40" name="Shape 38"/>
          <p:cNvSpPr/>
          <p:nvPr/>
        </p:nvSpPr>
        <p:spPr>
          <a:xfrm>
            <a:off x="4925416" y="6208776"/>
            <a:ext cx="365760" cy="0"/>
          </a:xfrm>
          <a:prstGeom prst="line">
            <a:avLst/>
          </a:prstGeom>
          <a:noFill/>
          <a:ln w="9525">
            <a:solidFill>
              <a:srgbClr val="C9A227">
                <a:alpha val="50000"/>
              </a:srgbClr>
            </a:solidFill>
            <a:prstDash val="solid"/>
          </a:ln>
        </p:spPr>
      </p:sp>
      <p:sp>
        <p:nvSpPr>
          <p:cNvPr id="41" name="Shape 39"/>
          <p:cNvSpPr/>
          <p:nvPr/>
        </p:nvSpPr>
        <p:spPr>
          <a:xfrm>
            <a:off x="5291176" y="6208776"/>
            <a:ext cx="0" cy="283464"/>
          </a:xfrm>
          <a:prstGeom prst="line">
            <a:avLst/>
          </a:prstGeom>
          <a:noFill/>
          <a:ln w="9525">
            <a:solidFill>
              <a:srgbClr val="C9A227">
                <a:alpha val="50000"/>
              </a:srgbClr>
            </a:solidFill>
            <a:prstDash val="solid"/>
          </a:ln>
        </p:spPr>
      </p:sp>
      <p:sp>
        <p:nvSpPr>
          <p:cNvPr id="42" name="Shape 40"/>
          <p:cNvSpPr/>
          <p:nvPr/>
        </p:nvSpPr>
        <p:spPr>
          <a:xfrm>
            <a:off x="5327752" y="6288146"/>
            <a:ext cx="0" cy="204094"/>
          </a:xfrm>
          <a:prstGeom prst="line">
            <a:avLst/>
          </a:prstGeom>
          <a:noFill/>
          <a:ln w="9525">
            <a:solidFill>
              <a:srgbClr val="C9A227">
                <a:alpha val="50000"/>
              </a:srgbClr>
            </a:solidFill>
            <a:prstDash val="solid"/>
          </a:ln>
        </p:spPr>
      </p:sp>
      <p:sp>
        <p:nvSpPr>
          <p:cNvPr id="43" name="Shape 41"/>
          <p:cNvSpPr/>
          <p:nvPr/>
        </p:nvSpPr>
        <p:spPr>
          <a:xfrm>
            <a:off x="5327752" y="6288146"/>
            <a:ext cx="274320" cy="0"/>
          </a:xfrm>
          <a:prstGeom prst="line">
            <a:avLst/>
          </a:prstGeom>
          <a:noFill/>
          <a:ln w="9525">
            <a:solidFill>
              <a:srgbClr val="C9A227">
                <a:alpha val="50000"/>
              </a:srgbClr>
            </a:solidFill>
            <a:prstDash val="solid"/>
          </a:ln>
        </p:spPr>
      </p:sp>
      <p:sp>
        <p:nvSpPr>
          <p:cNvPr id="44" name="Shape 42"/>
          <p:cNvSpPr/>
          <p:nvPr/>
        </p:nvSpPr>
        <p:spPr>
          <a:xfrm>
            <a:off x="5602072" y="6288146"/>
            <a:ext cx="0" cy="204094"/>
          </a:xfrm>
          <a:prstGeom prst="line">
            <a:avLst/>
          </a:prstGeom>
          <a:noFill/>
          <a:ln w="9525">
            <a:solidFill>
              <a:srgbClr val="C9A227">
                <a:alpha val="50000"/>
              </a:srgbClr>
            </a:solidFill>
            <a:prstDash val="solid"/>
          </a:ln>
        </p:spPr>
      </p:sp>
      <p:sp>
        <p:nvSpPr>
          <p:cNvPr id="45" name="Shape 43"/>
          <p:cNvSpPr/>
          <p:nvPr/>
        </p:nvSpPr>
        <p:spPr>
          <a:xfrm>
            <a:off x="5638648" y="6367516"/>
            <a:ext cx="0" cy="124724"/>
          </a:xfrm>
          <a:prstGeom prst="line">
            <a:avLst/>
          </a:prstGeom>
          <a:noFill/>
          <a:ln w="9525">
            <a:solidFill>
              <a:srgbClr val="C9A227">
                <a:alpha val="50000"/>
              </a:srgbClr>
            </a:solidFill>
            <a:prstDash val="solid"/>
          </a:ln>
        </p:spPr>
      </p:sp>
      <p:sp>
        <p:nvSpPr>
          <p:cNvPr id="46" name="Shape 44"/>
          <p:cNvSpPr/>
          <p:nvPr/>
        </p:nvSpPr>
        <p:spPr>
          <a:xfrm>
            <a:off x="5638648" y="6367516"/>
            <a:ext cx="219456" cy="0"/>
          </a:xfrm>
          <a:prstGeom prst="line">
            <a:avLst/>
          </a:prstGeom>
          <a:noFill/>
          <a:ln w="9525">
            <a:solidFill>
              <a:srgbClr val="C9A227">
                <a:alpha val="50000"/>
              </a:srgbClr>
            </a:solidFill>
            <a:prstDash val="solid"/>
          </a:ln>
        </p:spPr>
      </p:sp>
      <p:sp>
        <p:nvSpPr>
          <p:cNvPr id="47" name="Shape 45"/>
          <p:cNvSpPr/>
          <p:nvPr/>
        </p:nvSpPr>
        <p:spPr>
          <a:xfrm>
            <a:off x="5858104" y="6367516"/>
            <a:ext cx="0" cy="124724"/>
          </a:xfrm>
          <a:prstGeom prst="line">
            <a:avLst/>
          </a:prstGeom>
          <a:noFill/>
          <a:ln w="9525">
            <a:solidFill>
              <a:srgbClr val="C9A227">
                <a:alpha val="50000"/>
              </a:srgbClr>
            </a:solidFill>
            <a:prstDash val="solid"/>
          </a:ln>
        </p:spPr>
      </p:sp>
      <p:sp>
        <p:nvSpPr>
          <p:cNvPr id="48" name="Shape 46"/>
          <p:cNvSpPr/>
          <p:nvPr/>
        </p:nvSpPr>
        <p:spPr>
          <a:xfrm>
            <a:off x="5894680" y="6163422"/>
            <a:ext cx="0" cy="328818"/>
          </a:xfrm>
          <a:prstGeom prst="line">
            <a:avLst/>
          </a:prstGeom>
          <a:noFill/>
          <a:ln w="9525">
            <a:solidFill>
              <a:srgbClr val="C9A227">
                <a:alpha val="50000"/>
              </a:srgbClr>
            </a:solidFill>
            <a:prstDash val="solid"/>
          </a:ln>
        </p:spPr>
      </p:sp>
      <p:sp>
        <p:nvSpPr>
          <p:cNvPr id="49" name="Shape 47"/>
          <p:cNvSpPr/>
          <p:nvPr/>
        </p:nvSpPr>
        <p:spPr>
          <a:xfrm>
            <a:off x="5894680" y="6163422"/>
            <a:ext cx="329184" cy="0"/>
          </a:xfrm>
          <a:prstGeom prst="line">
            <a:avLst/>
          </a:prstGeom>
          <a:noFill/>
          <a:ln w="9525">
            <a:solidFill>
              <a:srgbClr val="C9A227">
                <a:alpha val="50000"/>
              </a:srgbClr>
            </a:solidFill>
            <a:prstDash val="solid"/>
          </a:ln>
        </p:spPr>
      </p:sp>
      <p:sp>
        <p:nvSpPr>
          <p:cNvPr id="50" name="Shape 48"/>
          <p:cNvSpPr/>
          <p:nvPr/>
        </p:nvSpPr>
        <p:spPr>
          <a:xfrm>
            <a:off x="6223864" y="6163422"/>
            <a:ext cx="0" cy="328818"/>
          </a:xfrm>
          <a:prstGeom prst="line">
            <a:avLst/>
          </a:prstGeom>
          <a:noFill/>
          <a:ln w="9525">
            <a:solidFill>
              <a:srgbClr val="C9A227">
                <a:alpha val="50000"/>
              </a:srgbClr>
            </a:solidFill>
            <a:prstDash val="solid"/>
          </a:ln>
        </p:spPr>
      </p:sp>
      <p:sp>
        <p:nvSpPr>
          <p:cNvPr id="51" name="Shape 49"/>
          <p:cNvSpPr/>
          <p:nvPr/>
        </p:nvSpPr>
        <p:spPr>
          <a:xfrm>
            <a:off x="6260440" y="6322162"/>
            <a:ext cx="0" cy="170078"/>
          </a:xfrm>
          <a:prstGeom prst="line">
            <a:avLst/>
          </a:prstGeom>
          <a:noFill/>
          <a:ln w="9525">
            <a:solidFill>
              <a:srgbClr val="C9A227">
                <a:alpha val="50000"/>
              </a:srgbClr>
            </a:solidFill>
            <a:prstDash val="solid"/>
          </a:ln>
        </p:spPr>
      </p:sp>
      <p:sp>
        <p:nvSpPr>
          <p:cNvPr id="52" name="Shape 50"/>
          <p:cNvSpPr/>
          <p:nvPr/>
        </p:nvSpPr>
        <p:spPr>
          <a:xfrm>
            <a:off x="6260440" y="6322162"/>
            <a:ext cx="256032" cy="0"/>
          </a:xfrm>
          <a:prstGeom prst="line">
            <a:avLst/>
          </a:prstGeom>
          <a:noFill/>
          <a:ln w="9525">
            <a:solidFill>
              <a:srgbClr val="C9A227">
                <a:alpha val="50000"/>
              </a:srgbClr>
            </a:solidFill>
            <a:prstDash val="solid"/>
          </a:ln>
        </p:spPr>
      </p:sp>
      <p:sp>
        <p:nvSpPr>
          <p:cNvPr id="53" name="Shape 51"/>
          <p:cNvSpPr/>
          <p:nvPr/>
        </p:nvSpPr>
        <p:spPr>
          <a:xfrm>
            <a:off x="6516472" y="6322162"/>
            <a:ext cx="0" cy="170078"/>
          </a:xfrm>
          <a:prstGeom prst="line">
            <a:avLst/>
          </a:prstGeom>
          <a:noFill/>
          <a:ln w="9525">
            <a:solidFill>
              <a:srgbClr val="C9A227">
                <a:alpha val="50000"/>
              </a:srgbClr>
            </a:solidFill>
            <a:prstDash val="solid"/>
          </a:ln>
        </p:spPr>
      </p:sp>
      <p:sp>
        <p:nvSpPr>
          <p:cNvPr id="54" name="Shape 52"/>
          <p:cNvSpPr/>
          <p:nvPr/>
        </p:nvSpPr>
        <p:spPr>
          <a:xfrm>
            <a:off x="6553048" y="6254130"/>
            <a:ext cx="0" cy="238110"/>
          </a:xfrm>
          <a:prstGeom prst="line">
            <a:avLst/>
          </a:prstGeom>
          <a:noFill/>
          <a:ln w="9525">
            <a:solidFill>
              <a:srgbClr val="C9A227">
                <a:alpha val="50000"/>
              </a:srgbClr>
            </a:solidFill>
            <a:prstDash val="solid"/>
          </a:ln>
        </p:spPr>
      </p:sp>
      <p:sp>
        <p:nvSpPr>
          <p:cNvPr id="55" name="Shape 53"/>
          <p:cNvSpPr/>
          <p:nvPr/>
        </p:nvSpPr>
        <p:spPr>
          <a:xfrm>
            <a:off x="6553048" y="6254130"/>
            <a:ext cx="347472" cy="0"/>
          </a:xfrm>
          <a:prstGeom prst="line">
            <a:avLst/>
          </a:prstGeom>
          <a:noFill/>
          <a:ln w="9525">
            <a:solidFill>
              <a:srgbClr val="C9A227">
                <a:alpha val="50000"/>
              </a:srgbClr>
            </a:solidFill>
            <a:prstDash val="solid"/>
          </a:ln>
        </p:spPr>
      </p:sp>
      <p:sp>
        <p:nvSpPr>
          <p:cNvPr id="56" name="Shape 54"/>
          <p:cNvSpPr/>
          <p:nvPr/>
        </p:nvSpPr>
        <p:spPr>
          <a:xfrm>
            <a:off x="6900520" y="6254130"/>
            <a:ext cx="0" cy="238110"/>
          </a:xfrm>
          <a:prstGeom prst="line">
            <a:avLst/>
          </a:prstGeom>
          <a:noFill/>
          <a:ln w="9525">
            <a:solidFill>
              <a:srgbClr val="C9A227">
                <a:alpha val="50000"/>
              </a:srgbClr>
            </a:solidFill>
            <a:prstDash val="solid"/>
          </a:ln>
        </p:spPr>
      </p:sp>
      <p:sp>
        <p:nvSpPr>
          <p:cNvPr id="57" name="Shape 55"/>
          <p:cNvSpPr/>
          <p:nvPr/>
        </p:nvSpPr>
        <p:spPr>
          <a:xfrm>
            <a:off x="6937096" y="6378854"/>
            <a:ext cx="0" cy="113386"/>
          </a:xfrm>
          <a:prstGeom prst="line">
            <a:avLst/>
          </a:prstGeom>
          <a:noFill/>
          <a:ln w="9525">
            <a:solidFill>
              <a:srgbClr val="C9A227">
                <a:alpha val="50000"/>
              </a:srgbClr>
            </a:solidFill>
            <a:prstDash val="solid"/>
          </a:ln>
        </p:spPr>
      </p:sp>
      <p:sp>
        <p:nvSpPr>
          <p:cNvPr id="58" name="Shape 56"/>
          <p:cNvSpPr/>
          <p:nvPr/>
        </p:nvSpPr>
        <p:spPr>
          <a:xfrm>
            <a:off x="6937096" y="6378854"/>
            <a:ext cx="219456" cy="0"/>
          </a:xfrm>
          <a:prstGeom prst="line">
            <a:avLst/>
          </a:prstGeom>
          <a:noFill/>
          <a:ln w="9525">
            <a:solidFill>
              <a:srgbClr val="C9A227">
                <a:alpha val="50000"/>
              </a:srgbClr>
            </a:solidFill>
            <a:prstDash val="solid"/>
          </a:ln>
        </p:spPr>
      </p:sp>
      <p:sp>
        <p:nvSpPr>
          <p:cNvPr id="59" name="Shape 57"/>
          <p:cNvSpPr/>
          <p:nvPr/>
        </p:nvSpPr>
        <p:spPr>
          <a:xfrm>
            <a:off x="7156552" y="6378854"/>
            <a:ext cx="0" cy="113386"/>
          </a:xfrm>
          <a:prstGeom prst="line">
            <a:avLst/>
          </a:prstGeom>
          <a:noFill/>
          <a:ln w="9525">
            <a:solidFill>
              <a:srgbClr val="C9A227">
                <a:alpha val="50000"/>
              </a:srgbClr>
            </a:solidFill>
            <a:prstDash val="solid"/>
          </a:ln>
        </p:spPr>
      </p:sp>
      <p:sp>
        <p:nvSpPr>
          <p:cNvPr id="60" name="Shape 58"/>
          <p:cNvSpPr/>
          <p:nvPr/>
        </p:nvSpPr>
        <p:spPr>
          <a:xfrm>
            <a:off x="7193128" y="6186099"/>
            <a:ext cx="0" cy="306141"/>
          </a:xfrm>
          <a:prstGeom prst="line">
            <a:avLst/>
          </a:prstGeom>
          <a:noFill/>
          <a:ln w="9525">
            <a:solidFill>
              <a:srgbClr val="C9A227">
                <a:alpha val="50000"/>
              </a:srgbClr>
            </a:solidFill>
            <a:prstDash val="solid"/>
          </a:ln>
        </p:spPr>
      </p:sp>
      <p:sp>
        <p:nvSpPr>
          <p:cNvPr id="61" name="Shape 59"/>
          <p:cNvSpPr/>
          <p:nvPr/>
        </p:nvSpPr>
        <p:spPr>
          <a:xfrm>
            <a:off x="7193128" y="6186099"/>
            <a:ext cx="347472" cy="0"/>
          </a:xfrm>
          <a:prstGeom prst="line">
            <a:avLst/>
          </a:prstGeom>
          <a:noFill/>
          <a:ln w="9525">
            <a:solidFill>
              <a:srgbClr val="C9A227">
                <a:alpha val="50000"/>
              </a:srgbClr>
            </a:solidFill>
            <a:prstDash val="solid"/>
          </a:ln>
        </p:spPr>
      </p:sp>
      <p:sp>
        <p:nvSpPr>
          <p:cNvPr id="62" name="Shape 60"/>
          <p:cNvSpPr/>
          <p:nvPr/>
        </p:nvSpPr>
        <p:spPr>
          <a:xfrm>
            <a:off x="7540600" y="6186099"/>
            <a:ext cx="0" cy="306141"/>
          </a:xfrm>
          <a:prstGeom prst="line">
            <a:avLst/>
          </a:prstGeom>
          <a:noFill/>
          <a:ln w="9525">
            <a:solidFill>
              <a:srgbClr val="C9A227">
                <a:alpha val="50000"/>
              </a:srgbClr>
            </a:solidFill>
            <a:prstDash val="solid"/>
          </a:ln>
        </p:spPr>
      </p:sp>
      <p:sp>
        <p:nvSpPr>
          <p:cNvPr id="63" name="Shape 61"/>
          <p:cNvSpPr/>
          <p:nvPr/>
        </p:nvSpPr>
        <p:spPr>
          <a:xfrm>
            <a:off x="7577176" y="6310823"/>
            <a:ext cx="0" cy="181417"/>
          </a:xfrm>
          <a:prstGeom prst="line">
            <a:avLst/>
          </a:prstGeom>
          <a:noFill/>
          <a:ln w="9525">
            <a:solidFill>
              <a:srgbClr val="C9A227">
                <a:alpha val="50000"/>
              </a:srgbClr>
            </a:solidFill>
            <a:prstDash val="solid"/>
          </a:ln>
        </p:spPr>
      </p:sp>
      <p:sp>
        <p:nvSpPr>
          <p:cNvPr id="64" name="Shape 62"/>
          <p:cNvSpPr/>
          <p:nvPr/>
        </p:nvSpPr>
        <p:spPr>
          <a:xfrm>
            <a:off x="7577176" y="6310823"/>
            <a:ext cx="274320" cy="0"/>
          </a:xfrm>
          <a:prstGeom prst="line">
            <a:avLst/>
          </a:prstGeom>
          <a:noFill/>
          <a:ln w="9525">
            <a:solidFill>
              <a:srgbClr val="C9A227">
                <a:alpha val="50000"/>
              </a:srgbClr>
            </a:solidFill>
            <a:prstDash val="solid"/>
          </a:ln>
        </p:spPr>
      </p:sp>
      <p:sp>
        <p:nvSpPr>
          <p:cNvPr id="65" name="Shape 63"/>
          <p:cNvSpPr/>
          <p:nvPr/>
        </p:nvSpPr>
        <p:spPr>
          <a:xfrm>
            <a:off x="7851496" y="6310823"/>
            <a:ext cx="0" cy="181417"/>
          </a:xfrm>
          <a:prstGeom prst="line">
            <a:avLst/>
          </a:prstGeom>
          <a:noFill/>
          <a:ln w="9525">
            <a:solidFill>
              <a:srgbClr val="C9A227">
                <a:alpha val="50000"/>
              </a:srgbClr>
            </a:solidFill>
            <a:prstDash val="solid"/>
          </a:ln>
        </p:spPr>
      </p:sp>
      <p:sp>
        <p:nvSpPr>
          <p:cNvPr id="66" name="Shape 64"/>
          <p:cNvSpPr/>
          <p:nvPr/>
        </p:nvSpPr>
        <p:spPr>
          <a:xfrm>
            <a:off x="7888072" y="6356177"/>
            <a:ext cx="0" cy="136063"/>
          </a:xfrm>
          <a:prstGeom prst="line">
            <a:avLst/>
          </a:prstGeom>
          <a:noFill/>
          <a:ln w="9525">
            <a:solidFill>
              <a:srgbClr val="C9A227">
                <a:alpha val="50000"/>
              </a:srgbClr>
            </a:solidFill>
            <a:prstDash val="solid"/>
          </a:ln>
        </p:spPr>
      </p:sp>
      <p:sp>
        <p:nvSpPr>
          <p:cNvPr id="67" name="Shape 65"/>
          <p:cNvSpPr/>
          <p:nvPr/>
        </p:nvSpPr>
        <p:spPr>
          <a:xfrm>
            <a:off x="7888072" y="6356177"/>
            <a:ext cx="219456" cy="0"/>
          </a:xfrm>
          <a:prstGeom prst="line">
            <a:avLst/>
          </a:prstGeom>
          <a:noFill/>
          <a:ln w="9525">
            <a:solidFill>
              <a:srgbClr val="C9A227">
                <a:alpha val="50000"/>
              </a:srgbClr>
            </a:solidFill>
            <a:prstDash val="solid"/>
          </a:ln>
        </p:spPr>
      </p:sp>
      <p:sp>
        <p:nvSpPr>
          <p:cNvPr id="68" name="Shape 66"/>
          <p:cNvSpPr/>
          <p:nvPr/>
        </p:nvSpPr>
        <p:spPr>
          <a:xfrm>
            <a:off x="8107528" y="6356177"/>
            <a:ext cx="0" cy="136063"/>
          </a:xfrm>
          <a:prstGeom prst="line">
            <a:avLst/>
          </a:prstGeom>
          <a:noFill/>
          <a:ln w="9525">
            <a:solidFill>
              <a:srgbClr val="C9A227">
                <a:alpha val="50000"/>
              </a:srgbClr>
            </a:solidFill>
            <a:prstDash val="solid"/>
          </a:ln>
        </p:spPr>
      </p:sp>
      <p:sp>
        <p:nvSpPr>
          <p:cNvPr id="69" name="Shape 67"/>
          <p:cNvSpPr/>
          <p:nvPr/>
        </p:nvSpPr>
        <p:spPr>
          <a:xfrm>
            <a:off x="8144104" y="6242792"/>
            <a:ext cx="0" cy="249448"/>
          </a:xfrm>
          <a:prstGeom prst="line">
            <a:avLst/>
          </a:prstGeom>
          <a:noFill/>
          <a:ln w="9525">
            <a:solidFill>
              <a:srgbClr val="C9A227">
                <a:alpha val="50000"/>
              </a:srgbClr>
            </a:solidFill>
            <a:prstDash val="solid"/>
          </a:ln>
        </p:spPr>
      </p:sp>
      <p:sp>
        <p:nvSpPr>
          <p:cNvPr id="70" name="Shape 68"/>
          <p:cNvSpPr/>
          <p:nvPr/>
        </p:nvSpPr>
        <p:spPr>
          <a:xfrm>
            <a:off x="8144104" y="6242792"/>
            <a:ext cx="347472" cy="0"/>
          </a:xfrm>
          <a:prstGeom prst="line">
            <a:avLst/>
          </a:prstGeom>
          <a:noFill/>
          <a:ln w="9525">
            <a:solidFill>
              <a:srgbClr val="C9A227">
                <a:alpha val="50000"/>
              </a:srgbClr>
            </a:solidFill>
            <a:prstDash val="solid"/>
          </a:ln>
        </p:spPr>
      </p:sp>
      <p:sp>
        <p:nvSpPr>
          <p:cNvPr id="71" name="Shape 69"/>
          <p:cNvSpPr/>
          <p:nvPr/>
        </p:nvSpPr>
        <p:spPr>
          <a:xfrm>
            <a:off x="8491576" y="6242792"/>
            <a:ext cx="0" cy="249448"/>
          </a:xfrm>
          <a:prstGeom prst="line">
            <a:avLst/>
          </a:prstGeom>
          <a:noFill/>
          <a:ln w="9525">
            <a:solidFill>
              <a:srgbClr val="C9A227">
                <a:alpha val="50000"/>
              </a:srgbClr>
            </a:solidFill>
            <a:prstDash val="solid"/>
          </a:ln>
        </p:spPr>
      </p:sp>
      <p:sp>
        <p:nvSpPr>
          <p:cNvPr id="72" name="Shape 70"/>
          <p:cNvSpPr/>
          <p:nvPr/>
        </p:nvSpPr>
        <p:spPr>
          <a:xfrm>
            <a:off x="8528152" y="6322162"/>
            <a:ext cx="0" cy="170078"/>
          </a:xfrm>
          <a:prstGeom prst="line">
            <a:avLst/>
          </a:prstGeom>
          <a:noFill/>
          <a:ln w="9525">
            <a:solidFill>
              <a:srgbClr val="C9A227">
                <a:alpha val="50000"/>
              </a:srgbClr>
            </a:solidFill>
            <a:prstDash val="solid"/>
          </a:ln>
        </p:spPr>
      </p:sp>
      <p:sp>
        <p:nvSpPr>
          <p:cNvPr id="73" name="Shape 71"/>
          <p:cNvSpPr/>
          <p:nvPr/>
        </p:nvSpPr>
        <p:spPr>
          <a:xfrm>
            <a:off x="8528152" y="6322162"/>
            <a:ext cx="274320" cy="0"/>
          </a:xfrm>
          <a:prstGeom prst="line">
            <a:avLst/>
          </a:prstGeom>
          <a:noFill/>
          <a:ln w="9525">
            <a:solidFill>
              <a:srgbClr val="C9A227">
                <a:alpha val="50000"/>
              </a:srgbClr>
            </a:solidFill>
            <a:prstDash val="solid"/>
          </a:ln>
        </p:spPr>
      </p:sp>
      <p:sp>
        <p:nvSpPr>
          <p:cNvPr id="74" name="Shape 72"/>
          <p:cNvSpPr/>
          <p:nvPr/>
        </p:nvSpPr>
        <p:spPr>
          <a:xfrm>
            <a:off x="8802472" y="6322162"/>
            <a:ext cx="0" cy="170078"/>
          </a:xfrm>
          <a:prstGeom prst="line">
            <a:avLst/>
          </a:prstGeom>
          <a:noFill/>
          <a:ln w="9525">
            <a:solidFill>
              <a:srgbClr val="C9A227">
                <a:alpha val="50000"/>
              </a:srgbClr>
            </a:solidFill>
            <a:prstDash val="solid"/>
          </a:ln>
        </p:spPr>
      </p:sp>
      <p:sp>
        <p:nvSpPr>
          <p:cNvPr id="75" name="Shape 73"/>
          <p:cNvSpPr/>
          <p:nvPr/>
        </p:nvSpPr>
        <p:spPr>
          <a:xfrm>
            <a:off x="8839048" y="6208776"/>
            <a:ext cx="0" cy="283464"/>
          </a:xfrm>
          <a:prstGeom prst="line">
            <a:avLst/>
          </a:prstGeom>
          <a:noFill/>
          <a:ln w="9525">
            <a:solidFill>
              <a:srgbClr val="C9A227">
                <a:alpha val="50000"/>
              </a:srgbClr>
            </a:solidFill>
            <a:prstDash val="solid"/>
          </a:ln>
        </p:spPr>
      </p:sp>
      <p:sp>
        <p:nvSpPr>
          <p:cNvPr id="76" name="Shape 74"/>
          <p:cNvSpPr/>
          <p:nvPr/>
        </p:nvSpPr>
        <p:spPr>
          <a:xfrm>
            <a:off x="8839048" y="6208776"/>
            <a:ext cx="347472" cy="0"/>
          </a:xfrm>
          <a:prstGeom prst="line">
            <a:avLst/>
          </a:prstGeom>
          <a:noFill/>
          <a:ln w="9525">
            <a:solidFill>
              <a:srgbClr val="C9A227">
                <a:alpha val="50000"/>
              </a:srgbClr>
            </a:solidFill>
            <a:prstDash val="solid"/>
          </a:ln>
        </p:spPr>
      </p:sp>
      <p:sp>
        <p:nvSpPr>
          <p:cNvPr id="77" name="Shape 75"/>
          <p:cNvSpPr/>
          <p:nvPr/>
        </p:nvSpPr>
        <p:spPr>
          <a:xfrm>
            <a:off x="9186520" y="6208776"/>
            <a:ext cx="0" cy="283464"/>
          </a:xfrm>
          <a:prstGeom prst="line">
            <a:avLst/>
          </a:prstGeom>
          <a:noFill/>
          <a:ln w="9525">
            <a:solidFill>
              <a:srgbClr val="C9A227">
                <a:alpha val="50000"/>
              </a:srgbClr>
            </a:solidFill>
            <a:prstDash val="solid"/>
          </a:ln>
        </p:spPr>
      </p:sp>
      <p:sp>
        <p:nvSpPr>
          <p:cNvPr id="78" name="Shape 76"/>
          <p:cNvSpPr/>
          <p:nvPr/>
        </p:nvSpPr>
        <p:spPr>
          <a:xfrm>
            <a:off x="9223096" y="6367516"/>
            <a:ext cx="0" cy="124724"/>
          </a:xfrm>
          <a:prstGeom prst="line">
            <a:avLst/>
          </a:prstGeom>
          <a:noFill/>
          <a:ln w="9525">
            <a:solidFill>
              <a:srgbClr val="C9A227">
                <a:alpha val="50000"/>
              </a:srgbClr>
            </a:solidFill>
            <a:prstDash val="solid"/>
          </a:ln>
        </p:spPr>
      </p:sp>
      <p:sp>
        <p:nvSpPr>
          <p:cNvPr id="79" name="Shape 77"/>
          <p:cNvSpPr/>
          <p:nvPr/>
        </p:nvSpPr>
        <p:spPr>
          <a:xfrm>
            <a:off x="9223096" y="6367516"/>
            <a:ext cx="219456" cy="0"/>
          </a:xfrm>
          <a:prstGeom prst="line">
            <a:avLst/>
          </a:prstGeom>
          <a:noFill/>
          <a:ln w="9525">
            <a:solidFill>
              <a:srgbClr val="C9A227">
                <a:alpha val="50000"/>
              </a:srgbClr>
            </a:solidFill>
            <a:prstDash val="solid"/>
          </a:ln>
        </p:spPr>
      </p:sp>
      <p:sp>
        <p:nvSpPr>
          <p:cNvPr id="80" name="Shape 78"/>
          <p:cNvSpPr/>
          <p:nvPr/>
        </p:nvSpPr>
        <p:spPr>
          <a:xfrm>
            <a:off x="9442552" y="6367516"/>
            <a:ext cx="0" cy="124724"/>
          </a:xfrm>
          <a:prstGeom prst="line">
            <a:avLst/>
          </a:prstGeom>
          <a:noFill/>
          <a:ln w="9525">
            <a:solidFill>
              <a:srgbClr val="C9A227">
                <a:alpha val="50000"/>
              </a:srgbClr>
            </a:solidFill>
            <a:prstDash val="solid"/>
          </a:ln>
        </p:spPr>
      </p:sp>
      <p:sp>
        <p:nvSpPr>
          <p:cNvPr id="81" name="Shape 79"/>
          <p:cNvSpPr/>
          <p:nvPr/>
        </p:nvSpPr>
        <p:spPr>
          <a:xfrm>
            <a:off x="9479128" y="6322162"/>
            <a:ext cx="0" cy="170078"/>
          </a:xfrm>
          <a:prstGeom prst="line">
            <a:avLst/>
          </a:prstGeom>
          <a:noFill/>
          <a:ln w="9525">
            <a:solidFill>
              <a:srgbClr val="C9A227">
                <a:alpha val="50000"/>
              </a:srgbClr>
            </a:solidFill>
            <a:prstDash val="solid"/>
          </a:ln>
        </p:spPr>
      </p:sp>
      <p:sp>
        <p:nvSpPr>
          <p:cNvPr id="82" name="Shape 80"/>
          <p:cNvSpPr/>
          <p:nvPr/>
        </p:nvSpPr>
        <p:spPr>
          <a:xfrm>
            <a:off x="9479128" y="6322162"/>
            <a:ext cx="237744" cy="0"/>
          </a:xfrm>
          <a:prstGeom prst="line">
            <a:avLst/>
          </a:prstGeom>
          <a:noFill/>
          <a:ln w="9525">
            <a:solidFill>
              <a:srgbClr val="C9A227">
                <a:alpha val="50000"/>
              </a:srgbClr>
            </a:solidFill>
            <a:prstDash val="solid"/>
          </a:ln>
        </p:spPr>
      </p:sp>
      <p:sp>
        <p:nvSpPr>
          <p:cNvPr id="83" name="Shape 81"/>
          <p:cNvSpPr/>
          <p:nvPr/>
        </p:nvSpPr>
        <p:spPr>
          <a:xfrm>
            <a:off x="9716872" y="6322162"/>
            <a:ext cx="0" cy="170078"/>
          </a:xfrm>
          <a:prstGeom prst="line">
            <a:avLst/>
          </a:prstGeom>
          <a:noFill/>
          <a:ln w="9525">
            <a:solidFill>
              <a:srgbClr val="C9A227">
                <a:alpha val="5000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Signature Travel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Donna</dc:title>
  <dc:subject>PptxGenJS Presentation</dc:subject>
  <dc:creator>Denise Gosnell</dc:creator>
  <cp:lastModifiedBy>Denise Gosnell</cp:lastModifiedBy>
  <cp:revision>1</cp:revision>
  <dcterms:created xsi:type="dcterms:W3CDTF">2026-08-12T20:48:10Z</dcterms:created>
  <dcterms:modified xsi:type="dcterms:W3CDTF">2026-08-12T20:48:10Z</dcterms:modified>
</cp:coreProperties>
</file>