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She ran the best closer in New York City. Today she comes to work for you. By 4:10 every one of you owns a working Donna. Not a demo. Yours, on your own inbox.
[DO] Housekeeping in one breath: laptops out, Claude desktop open, workspace invite accepted. Anyone missing a piece, flag me now and we fix it while we talk. Read the venue wifi network and password out loud; they are deliberately not on the slide.
[WATCH] Do not start until every laptop is open. The people who fall behind fall behind here, not later.
[NEXT] One slide to connect this to the hour you just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One hour ago we drew the strategy flywheel: bookings make data, data makes personalization, personalization makes bookings. Here is the other side of that same coin. Strategy tells you the heading. Execution is the crew, the watch schedule, and the log book. You need both, and only one of them gets taught.
[DO] Point at the left wheel, then the right. Say the word 'execution' out loud, because that is the whole ninety minutes.
[WATCH] Do not re-teach the left wheel. One sentence and move.
[NEXT] And here is why execution suddenly matters more than it did two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AI does not make your company smarter. It makes your company faster at whatever it already does. If the process is clear, you get ten times the alignment. If it is not, you get ten times the confusion, and you get it at machine speed.
[DO] Use the doubles metaphor with your hands. The room recognises it immediately.
[WATCH] Tie back to the last session in one line: reading the instrument panel together is a fundamental, and this hour is about closing the work threads that fill it.
[NEXT] So where did the fundamentals of execution get worked out? Somewhere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This is the spine of the workshop.
[SAY] Four stops. Somebody writes down what they know. The room tests it. It gets revised. Then teams operate from it. This is not culture, it is a mechanism, and its entire purpose is converting one person's judgment into something an organization can execute without that person in the room.
[DO] Walk all four stations once so the room has the vocabulary. Speak from the inside: you watched this run at nine-figure scale.
[WATCH] Nonaka called this tacit-to-explicit conversion in 1995. It is still the only way anyone scales. Then set up the turn: the flywheel never changed, only the artifact did.
[NEXT] And here is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This is the payoff, and the sentence people repeat afterward.
[SAY] Same wheel. New hub. You are not learning a chatbot today, you are managing a document.
[DO] Overlay it literally: point at the previous slide's wheel, then this one. Then map the afternoon onto it. Step 1 is DOCUMENT and TEST. Step 2 is REVISE. Step 3 is OPERATE.
[WATCH] Say plainly: the skill you are actually learning today is document management, and it is the same skill that ran AWS.
[NEXT] One warning before we write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This is the slide to quote back during the discussion.
[SAY] An unclear process used to cost you a bad meeting. Now you have hired something that executes that unclear process perfectly and tirelessly, all day long.
[DO] Let the red land. Do not rush off it.
[WATCH] This is why the unglamorous middle of this workshop, writing the rules down, is the part that actually matters.
[NEXT] So before we write anything, you should know what kind of executive is holding the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Research from the early 1960s, and still the most useful map of an executive there is. You will recognise yourself in two of these. Most of us are one on a calm day and another on a hard one.
[DO] Take hands per quadrant. It wakes the room and it tells you who you are teaching for the next hour.
[WATCH] Do not let this become a personality test. It is a setup for the next slide.
[NEXT] Whichever quadrant you sit in, the flywheel is identical. What differs is what you should optimize for in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This is the permission slide.
[SAY] Read the 'your job today' line for each quadrant. They are the most useful sentences on the slide and they preempt the four ways this hour goes sideways.
[DO] TIME, closed and tell: you are plotting how you will invest in and delegate this workflow to be built for your company. Some of you should not be building this yourself, and that is a legitimate answer. Deliver that offer verbally, here, on the TIME quadrant.
[DO] ACCURACY, closed and ask: your job is to help the TIME executive minimize scaling errors, because that is how businesses get dragged down. We slow down significantly the moment we start sharing collective knowledge that is incorrect. Look for where we need governance and extra testing so we are building repeatability instead of chaos.
[DO] TRUST, open and ask: 'AI' now means humans write natural language to describe a product, and that innovation line is doing wonderful things for the speed of operations. But our secret sauce as a cooperative is that we know the power of human relationships. Your role is to understand deeply where you want to hold the line for human relationships being served by technology rather than replaced by it. You are the executive who holds the line on empowering humans, so we flourish in this business instead of being fried by the speed of it.
[DO] VISION, open and tell: you are the tech visionaries. You see not just how email plus natural-language delegation helps you architect a new digital headquarters, but how it opens a whole palace of innovation. Use the physical analogy: open-and-tell people can see how a building should be shaped around how people will work and play and be human in it. In this era we are building an INVISIBLE digital headquarters for how you run, direct, and operate your business. You write English sentences describing the future you want, and a probabilistic neural network makes that workflow real.
[WATCH] Nobody has to become a builder today. Whoever runs it, somebody has to write the document, and that somebody has to be the person whose judgment it encodes. That is why you are in this room and not your assistant.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Read all five slowly. This slide buys calm for the next hour.
[DO] Rules 1 and 2 kill the unspoken fear: nothing sends, nothing deletes. Rule 3 sets pacing so the fast people help instead of racing ahead.
[WATCH] After rule 5, say the last line out loud. It is the one that keeps people from hiding.
[NEXT] Three steps,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Three steps, one per stretch of the flywheel you just saw. Context until 3:00, build until 3:45, discussion until 4:10.
[DO] Say the arc out loud, then point at the station line on each card so the mapping is explicit.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Two of four stations lit. By the end of the hour all four are.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[DO] Walk the room during connections. Give prompt 1 a beat: the room goes quiet when Claude answers from their real inbox.
[WATCH] The classic failure is signing into the personal Google account instead of work.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of working time lands here.
[SAY] Nothing until every laptop is there.
[DO] Run it live on your own screen first, then hold until every laptop shows five lines and a draft. Nobody moves on.
[WATCH] If a connector is stuck: disconnect, reconnect, confirm the account. If the network is stuck, keep the energy up and pair people.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REVISE.
[NEXT] Four blanks, and they are the only editing anyone does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Four blanks, and they are the only editing you do all day. The delegates blank is the one the pilot group left empty, so call it out: yellow only works if she knows who owns what.
[DO] Give them six to eight quiet minutes to fill blanks. Circulate. Then everyone runs: Triage my inbox.
[WATCH] Someone will triage from OUTSIDE the project and get generic results. Make sure they are inside the Donna project.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Everyone runs the one-sentence ritual inside the project. Hold until every screen shows a table.
[WATCH] Then the green light: yes, draft the reds and the yellow handoffs.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OPERATE.
[NEXT] She writes her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in Cowork until you upload it. This is the step the pilot group missed, so go slow and demo it on screen.
[DO] Three beats. She writes it. You DOWNLOAD it. You UPLOAD it into Cowork skills. Wait until every screen shows donna-replies in the list.
[WATCH] No external URL is needed any more: the project already knows the VIPs, the delegates, the voice and the rules, so she writes the file from what she has.
[NEXT] Before we schedule it,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[DO] Slow down here. This is the trust slide, and it answers the fear nobody has said out loud yet: what if it emails a client?
[WATCH] It cannot. Drafting and sending are different permissions, and this skill only ever drafts. You are the send button.
[NEXT] Now give her the evening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a dry run, right now.
[DO] Grab the prompt from the site rather than retyping. If someone cannot find scheduled tasks, ask Claude where they are; the area moved in a recent update.
[WATCH] Gmail attaches a true EMAIL reminder. Outlook gets a calendar notification instead, because Microsoft Graph cannot set email reminders on events. Verified. Say it plainly rather than promising something Outlook cannot do.
[NEXT] Everybody watch their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the laptops ping.
[DO] The closing moment of the build: everyone watches the dry run land. Doc in the Donna Briefings folder, event on today's calendar, drafts waiting. Hold the silence.
[WATCH] Point at the pip: all four stations are lit for the first time. They just ran the Amazon execution flywheel on their own inbox. That is the payoff of the whole device.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flywheel with THEIR artifacts: the document they wrote, the skill file they own, the schedule it now runs on. They did not learn a tool today. They ran the same mechanism that ran AWS, on their own inbox.
[DO] Pause here, then open the floor.
[NEXT] Two topics for discussion, and the first one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Take the quadrants in turn. Each one saw a different hour, and the four readings together are more useful than any single one.
[DO] Facilitate, do not lecture. Three or four answers per quadrant.
[WATCH] The VISION answers are your pipeline for the next workshop. Write them down.
[NEXT] Second topic: where the flywheel turns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Same four stations, pointed at the rest of your business. Every one of these questions is a workflow somebody in this room is doing by hand.
[DO] Map each answer onto the flywheel out loud, so people hear their own use case become buildable.
[WATCH] Give one personal story: the two-calendar morning shift is your own daily driver, so say so.
[NEXT] What each of you does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Four assignments, and they are deliberately different. Read the one for your quadrant.
[DO] Land the band at the bottom hard. Each of these four executives creates tension for the other three, and that tension is not dysfunction. It is the requirement set, the governance, and the strategic direction of the organization.
[WATCH] If the room is all one quadrant, name the missing ones out loud. A company with no TRUST executive scales fast and breaks relationships. A company with no TIME executive never ships.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Tomorrow at 4:54 the briefing arrives on its own for the first time. When it does, that is Donna saying she has got it from here.
[DO] Questions any time: denise@denisegosnell.ai.
[WATCH] The workshop resources are NOT on a public link right now. Do not promise a URL from the stage. If someone asks for the prompts, offer to email them.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executives who are done reading email.</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2:40 TO 4:10</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WE JUST WERE, AND WHERE WE ARE GOING</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coin. You just saw one side.</a:t>
            </a:r>
            <a:endParaRPr lang="en-US" sz="4000" dirty="0"/>
          </a:p>
        </p:txBody>
      </p:sp>
      <p:sp>
        <p:nvSpPr>
          <p:cNvPr id="11" name="Shape 9"/>
          <p:cNvSpPr/>
          <p:nvPr/>
        </p:nvSpPr>
        <p:spPr>
          <a:xfrm>
            <a:off x="2378050" y="2662123"/>
            <a:ext cx="1352093" cy="1352093"/>
          </a:xfrm>
          <a:prstGeom prst="ellipse">
            <a:avLst/>
          </a:prstGeom>
          <a:ln w="12700">
            <a:solidFill>
              <a:srgbClr val="C9A227"/>
            </a:solidFill>
            <a:prstDash val="solid"/>
          </a:ln>
        </p:spPr>
      </p:sp>
      <p:sp>
        <p:nvSpPr>
          <p:cNvPr id="12" name="Shape 10"/>
          <p:cNvSpPr/>
          <p:nvPr/>
        </p:nvSpPr>
        <p:spPr>
          <a:xfrm rot="2700000">
            <a:off x="3472697" y="2800697"/>
            <a:ext cx="118872" cy="118872"/>
          </a:xfrm>
          <a:prstGeom prst="triangle">
            <a:avLst/>
          </a:prstGeom>
          <a:solidFill>
            <a:srgbClr val="C9A227"/>
          </a:solidFill>
          <a:ln/>
        </p:spPr>
      </p:sp>
      <p:sp>
        <p:nvSpPr>
          <p:cNvPr id="13" name="Shape 11"/>
          <p:cNvSpPr/>
          <p:nvPr/>
        </p:nvSpPr>
        <p:spPr>
          <a:xfrm rot="8100000">
            <a:off x="3472697" y="3756771"/>
            <a:ext cx="118872" cy="118872"/>
          </a:xfrm>
          <a:prstGeom prst="triangle">
            <a:avLst/>
          </a:prstGeom>
          <a:solidFill>
            <a:srgbClr val="C9A227"/>
          </a:solidFill>
          <a:ln/>
        </p:spPr>
      </p:sp>
      <p:sp>
        <p:nvSpPr>
          <p:cNvPr id="14" name="Shape 12"/>
          <p:cNvSpPr/>
          <p:nvPr/>
        </p:nvSpPr>
        <p:spPr>
          <a:xfrm rot="13500000">
            <a:off x="2516623" y="3756771"/>
            <a:ext cx="118872" cy="118872"/>
          </a:xfrm>
          <a:prstGeom prst="triangle">
            <a:avLst/>
          </a:prstGeom>
          <a:solidFill>
            <a:srgbClr val="C9A227"/>
          </a:solidFill>
          <a:ln/>
        </p:spPr>
      </p:sp>
      <p:sp>
        <p:nvSpPr>
          <p:cNvPr id="15" name="Shape 13"/>
          <p:cNvSpPr/>
          <p:nvPr/>
        </p:nvSpPr>
        <p:spPr>
          <a:xfrm rot="18900000">
            <a:off x="2516623" y="2800697"/>
            <a:ext cx="118872" cy="118872"/>
          </a:xfrm>
          <a:prstGeom prst="triangle">
            <a:avLst/>
          </a:prstGeom>
          <a:solidFill>
            <a:srgbClr val="C9A227"/>
          </a:solidFill>
          <a:ln/>
        </p:spPr>
      </p:sp>
      <p:sp>
        <p:nvSpPr>
          <p:cNvPr id="16" name="Shape 14"/>
          <p:cNvSpPr/>
          <p:nvPr/>
        </p:nvSpPr>
        <p:spPr>
          <a:xfrm>
            <a:off x="2661989" y="2946063"/>
            <a:ext cx="784214" cy="784214"/>
          </a:xfrm>
          <a:prstGeom prst="ellipse">
            <a:avLst/>
          </a:prstGeom>
          <a:solidFill>
            <a:srgbClr val="1E808F"/>
          </a:solidFill>
          <a:ln/>
        </p:spPr>
      </p:sp>
      <p:sp>
        <p:nvSpPr>
          <p:cNvPr id="17" name="Text 15"/>
          <p:cNvSpPr/>
          <p:nvPr/>
        </p:nvSpPr>
        <p:spPr>
          <a:xfrm>
            <a:off x="2707709"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REVENUE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GROWTH</a:t>
            </a:r>
            <a:endParaRPr lang="en-US" sz="800" dirty="0"/>
          </a:p>
        </p:txBody>
      </p:sp>
      <p:sp>
        <p:nvSpPr>
          <p:cNvPr id="18" name="Shape 16"/>
          <p:cNvSpPr/>
          <p:nvPr/>
        </p:nvSpPr>
        <p:spPr>
          <a:xfrm>
            <a:off x="2862072" y="2470099"/>
            <a:ext cx="384048" cy="384048"/>
          </a:xfrm>
          <a:prstGeom prst="ellipse">
            <a:avLst/>
          </a:prstGeom>
          <a:solidFill>
            <a:srgbClr val="F7F3EA"/>
          </a:solidFill>
          <a:ln w="12700">
            <a:solidFill>
              <a:srgbClr val="C9A227"/>
            </a:solidFill>
            <a:prstDash val="solid"/>
          </a:ln>
        </p:spPr>
      </p:sp>
      <p:sp>
        <p:nvSpPr>
          <p:cNvPr id="19" name="Text 17"/>
          <p:cNvSpPr/>
          <p:nvPr/>
        </p:nvSpPr>
        <p:spPr>
          <a:xfrm>
            <a:off x="2862072"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Shape 18"/>
          <p:cNvSpPr/>
          <p:nvPr/>
        </p:nvSpPr>
        <p:spPr>
          <a:xfrm>
            <a:off x="3538118" y="3146146"/>
            <a:ext cx="384048" cy="384048"/>
          </a:xfrm>
          <a:prstGeom prst="ellipse">
            <a:avLst/>
          </a:prstGeom>
          <a:solidFill>
            <a:srgbClr val="F7F3EA"/>
          </a:solidFill>
          <a:ln w="12700">
            <a:solidFill>
              <a:srgbClr val="C9A227"/>
            </a:solidFill>
            <a:prstDash val="solid"/>
          </a:ln>
        </p:spPr>
      </p:sp>
      <p:sp>
        <p:nvSpPr>
          <p:cNvPr id="21" name="Text 19"/>
          <p:cNvSpPr/>
          <p:nvPr/>
        </p:nvSpPr>
        <p:spPr>
          <a:xfrm>
            <a:off x="3538118"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2" name="Shape 20"/>
          <p:cNvSpPr/>
          <p:nvPr/>
        </p:nvSpPr>
        <p:spPr>
          <a:xfrm>
            <a:off x="2862072" y="3822192"/>
            <a:ext cx="384048" cy="384048"/>
          </a:xfrm>
          <a:prstGeom prst="ellipse">
            <a:avLst/>
          </a:prstGeom>
          <a:solidFill>
            <a:srgbClr val="F7F3EA"/>
          </a:solidFill>
          <a:ln w="12700">
            <a:solidFill>
              <a:srgbClr val="C9A227"/>
            </a:solidFill>
            <a:prstDash val="solid"/>
          </a:ln>
        </p:spPr>
      </p:sp>
      <p:sp>
        <p:nvSpPr>
          <p:cNvPr id="23" name="Text 21"/>
          <p:cNvSpPr/>
          <p:nvPr/>
        </p:nvSpPr>
        <p:spPr>
          <a:xfrm>
            <a:off x="2862072"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Shape 22"/>
          <p:cNvSpPr/>
          <p:nvPr/>
        </p:nvSpPr>
        <p:spPr>
          <a:xfrm>
            <a:off x="2186026" y="3146146"/>
            <a:ext cx="384048" cy="384048"/>
          </a:xfrm>
          <a:prstGeom prst="ellipse">
            <a:avLst/>
          </a:prstGeom>
          <a:solidFill>
            <a:srgbClr val="F7F3EA"/>
          </a:solidFill>
          <a:ln w="12700">
            <a:solidFill>
              <a:srgbClr val="C9A227"/>
            </a:solidFill>
            <a:prstDash val="solid"/>
          </a:ln>
        </p:spPr>
      </p:sp>
      <p:sp>
        <p:nvSpPr>
          <p:cNvPr id="25" name="Text 23"/>
          <p:cNvSpPr/>
          <p:nvPr/>
        </p:nvSpPr>
        <p:spPr>
          <a:xfrm>
            <a:off x="2186026"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6" name="Text 24"/>
          <p:cNvSpPr/>
          <p:nvPr/>
        </p:nvSpPr>
        <p:spPr>
          <a:xfrm>
            <a:off x="813816" y="4718304"/>
            <a:ext cx="4480560" cy="219456"/>
          </a:xfrm>
          <a:prstGeom prst="rect">
            <a:avLst/>
          </a:prstGeom>
          <a:noFill/>
          <a:ln/>
        </p:spPr>
        <p:txBody>
          <a:bodyPr wrap="square" lIns="0" tIns="0" rIns="0" bIns="0" rtlCol="0" anchor="ctr"/>
          <a:lstStyle/>
          <a:p>
            <a:pPr algn="ctr" indent="0" marL="0">
              <a:buNone/>
            </a:pPr>
            <a:r>
              <a:rPr lang="en-US" sz="900" b="1" spc="80" kern="0" dirty="0">
                <a:solidFill>
                  <a:srgbClr val="5A6379"/>
                </a:solidFill>
                <a:latin typeface="Arial" pitchFamily="34" charset="0"/>
                <a:ea typeface="Arial" pitchFamily="34" charset="-122"/>
                <a:cs typeface="Arial" pitchFamily="34" charset="-120"/>
              </a:rPr>
              <a:t>MORE BOOKINGS  ·  MORE DATA  ·  MORE PERSONAL</a:t>
            </a:r>
            <a:endParaRPr lang="en-US" sz="900" dirty="0"/>
          </a:p>
        </p:txBody>
      </p:sp>
      <p:sp>
        <p:nvSpPr>
          <p:cNvPr id="27" name="Text 25"/>
          <p:cNvSpPr/>
          <p:nvPr/>
        </p:nvSpPr>
        <p:spPr>
          <a:xfrm>
            <a:off x="6903720" y="4718304"/>
            <a:ext cx="4480560" cy="219456"/>
          </a:xfrm>
          <a:prstGeom prst="rect">
            <a:avLst/>
          </a:prstGeom>
          <a:noFill/>
          <a:ln/>
        </p:spPr>
        <p:txBody>
          <a:bodyPr wrap="square" lIns="0" tIns="0" rIns="0" bIns="0" rtlCol="0" anchor="ctr"/>
          <a:lstStyle/>
          <a:p>
            <a:pPr algn="ctr" indent="0" marL="0">
              <a:buNone/>
            </a:pPr>
            <a:r>
              <a:rPr lang="en-US" sz="900" b="1" spc="80" kern="0" dirty="0">
                <a:solidFill>
                  <a:srgbClr val="8A6D14"/>
                </a:solidFill>
                <a:latin typeface="Arial" pitchFamily="34" charset="0"/>
                <a:ea typeface="Arial" pitchFamily="34" charset="-122"/>
                <a:cs typeface="Arial" pitchFamily="34" charset="-120"/>
              </a:rPr>
              <a:t>DOCUMENT  ·  TEST  ·  REVISE  ·  OPERATE</a:t>
            </a:r>
            <a:endParaRPr lang="en-US" sz="900" dirty="0"/>
          </a:p>
        </p:txBody>
      </p:sp>
      <p:sp>
        <p:nvSpPr>
          <p:cNvPr id="28" name="Text 26"/>
          <p:cNvSpPr/>
          <p:nvPr/>
        </p:nvSpPr>
        <p:spPr>
          <a:xfrm>
            <a:off x="813816"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5A6379"/>
                </a:solidFill>
                <a:latin typeface="Arial" pitchFamily="34" charset="0"/>
                <a:ea typeface="Arial" pitchFamily="34" charset="-122"/>
                <a:cs typeface="Arial" pitchFamily="34" charset="-120"/>
              </a:rPr>
              <a:t>1:30   ·   THE STRATEGY FLYWHEEL</a:t>
            </a:r>
            <a:endParaRPr lang="en-US" sz="1200" dirty="0"/>
          </a:p>
        </p:txBody>
      </p:sp>
      <p:sp>
        <p:nvSpPr>
          <p:cNvPr id="29" name="Shape 27"/>
          <p:cNvSpPr/>
          <p:nvPr/>
        </p:nvSpPr>
        <p:spPr>
          <a:xfrm>
            <a:off x="8467954" y="2662123"/>
            <a:ext cx="1352093" cy="1352093"/>
          </a:xfrm>
          <a:prstGeom prst="ellipse">
            <a:avLst/>
          </a:prstGeom>
          <a:ln w="12700">
            <a:solidFill>
              <a:srgbClr val="C9A227"/>
            </a:solidFill>
            <a:prstDash val="solid"/>
          </a:ln>
        </p:spPr>
      </p:sp>
      <p:sp>
        <p:nvSpPr>
          <p:cNvPr id="30" name="Shape 28"/>
          <p:cNvSpPr/>
          <p:nvPr/>
        </p:nvSpPr>
        <p:spPr>
          <a:xfrm rot="2700000">
            <a:off x="9562601" y="2800697"/>
            <a:ext cx="118872" cy="118872"/>
          </a:xfrm>
          <a:prstGeom prst="triangle">
            <a:avLst/>
          </a:prstGeom>
          <a:solidFill>
            <a:srgbClr val="C9A227"/>
          </a:solidFill>
          <a:ln/>
        </p:spPr>
      </p:sp>
      <p:sp>
        <p:nvSpPr>
          <p:cNvPr id="31" name="Shape 29"/>
          <p:cNvSpPr/>
          <p:nvPr/>
        </p:nvSpPr>
        <p:spPr>
          <a:xfrm rot="8100000">
            <a:off x="9562601" y="3756771"/>
            <a:ext cx="118872" cy="118872"/>
          </a:xfrm>
          <a:prstGeom prst="triangle">
            <a:avLst/>
          </a:prstGeom>
          <a:solidFill>
            <a:srgbClr val="C9A227"/>
          </a:solidFill>
          <a:ln/>
        </p:spPr>
      </p:sp>
      <p:sp>
        <p:nvSpPr>
          <p:cNvPr id="32" name="Shape 30"/>
          <p:cNvSpPr/>
          <p:nvPr/>
        </p:nvSpPr>
        <p:spPr>
          <a:xfrm rot="13500000">
            <a:off x="8606527" y="3756771"/>
            <a:ext cx="118872" cy="118872"/>
          </a:xfrm>
          <a:prstGeom prst="triangle">
            <a:avLst/>
          </a:prstGeom>
          <a:solidFill>
            <a:srgbClr val="C9A227"/>
          </a:solidFill>
          <a:ln/>
        </p:spPr>
      </p:sp>
      <p:sp>
        <p:nvSpPr>
          <p:cNvPr id="33" name="Shape 31"/>
          <p:cNvSpPr/>
          <p:nvPr/>
        </p:nvSpPr>
        <p:spPr>
          <a:xfrm rot="18900000">
            <a:off x="8606527" y="2800697"/>
            <a:ext cx="118872" cy="118872"/>
          </a:xfrm>
          <a:prstGeom prst="triangle">
            <a:avLst/>
          </a:prstGeom>
          <a:solidFill>
            <a:srgbClr val="C9A227"/>
          </a:solidFill>
          <a:ln/>
        </p:spPr>
      </p:sp>
      <p:sp>
        <p:nvSpPr>
          <p:cNvPr id="34" name="Shape 32"/>
          <p:cNvSpPr/>
          <p:nvPr/>
        </p:nvSpPr>
        <p:spPr>
          <a:xfrm>
            <a:off x="8751893" y="2946063"/>
            <a:ext cx="784214" cy="784214"/>
          </a:xfrm>
          <a:prstGeom prst="ellipse">
            <a:avLst/>
          </a:prstGeom>
          <a:solidFill>
            <a:srgbClr val="A31621"/>
          </a:solidFill>
          <a:ln/>
        </p:spPr>
      </p:sp>
      <p:sp>
        <p:nvSpPr>
          <p:cNvPr id="35" name="Text 33"/>
          <p:cNvSpPr/>
          <p:nvPr/>
        </p:nvSpPr>
        <p:spPr>
          <a:xfrm>
            <a:off x="8797613"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DOCUMENT</a:t>
            </a:r>
            <a:endParaRPr lang="en-US" sz="800" dirty="0"/>
          </a:p>
        </p:txBody>
      </p:sp>
      <p:sp>
        <p:nvSpPr>
          <p:cNvPr id="36" name="Shape 34"/>
          <p:cNvSpPr/>
          <p:nvPr/>
        </p:nvSpPr>
        <p:spPr>
          <a:xfrm>
            <a:off x="8951976" y="2470099"/>
            <a:ext cx="384048" cy="384048"/>
          </a:xfrm>
          <a:prstGeom prst="ellipse">
            <a:avLst/>
          </a:prstGeom>
          <a:solidFill>
            <a:srgbClr val="F7F3EA"/>
          </a:solidFill>
          <a:ln w="12700">
            <a:solidFill>
              <a:srgbClr val="C9A227"/>
            </a:solidFill>
            <a:prstDash val="solid"/>
          </a:ln>
        </p:spPr>
      </p:sp>
      <p:sp>
        <p:nvSpPr>
          <p:cNvPr id="37" name="Text 35"/>
          <p:cNvSpPr/>
          <p:nvPr/>
        </p:nvSpPr>
        <p:spPr>
          <a:xfrm>
            <a:off x="8951976"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38" name="Shape 36"/>
          <p:cNvSpPr/>
          <p:nvPr/>
        </p:nvSpPr>
        <p:spPr>
          <a:xfrm>
            <a:off x="9628022" y="3146146"/>
            <a:ext cx="384048" cy="384048"/>
          </a:xfrm>
          <a:prstGeom prst="ellipse">
            <a:avLst/>
          </a:prstGeom>
          <a:solidFill>
            <a:srgbClr val="F7F3EA"/>
          </a:solidFill>
          <a:ln w="12700">
            <a:solidFill>
              <a:srgbClr val="C9A227"/>
            </a:solidFill>
            <a:prstDash val="solid"/>
          </a:ln>
        </p:spPr>
      </p:sp>
      <p:sp>
        <p:nvSpPr>
          <p:cNvPr id="39" name="Text 37"/>
          <p:cNvSpPr/>
          <p:nvPr/>
        </p:nvSpPr>
        <p:spPr>
          <a:xfrm>
            <a:off x="9628022"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40" name="Shape 38"/>
          <p:cNvSpPr/>
          <p:nvPr/>
        </p:nvSpPr>
        <p:spPr>
          <a:xfrm>
            <a:off x="8951976" y="3822192"/>
            <a:ext cx="384048" cy="384048"/>
          </a:xfrm>
          <a:prstGeom prst="ellipse">
            <a:avLst/>
          </a:prstGeom>
          <a:solidFill>
            <a:srgbClr val="F7F3EA"/>
          </a:solidFill>
          <a:ln w="12700">
            <a:solidFill>
              <a:srgbClr val="C9A227"/>
            </a:solidFill>
            <a:prstDash val="solid"/>
          </a:ln>
        </p:spPr>
      </p:sp>
      <p:sp>
        <p:nvSpPr>
          <p:cNvPr id="41" name="Text 39"/>
          <p:cNvSpPr/>
          <p:nvPr/>
        </p:nvSpPr>
        <p:spPr>
          <a:xfrm>
            <a:off x="8951976"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42" name="Shape 40"/>
          <p:cNvSpPr/>
          <p:nvPr/>
        </p:nvSpPr>
        <p:spPr>
          <a:xfrm>
            <a:off x="8275930" y="3146146"/>
            <a:ext cx="384048" cy="384048"/>
          </a:xfrm>
          <a:prstGeom prst="ellipse">
            <a:avLst/>
          </a:prstGeom>
          <a:solidFill>
            <a:srgbClr val="F7F3EA"/>
          </a:solidFill>
          <a:ln w="12700">
            <a:solidFill>
              <a:srgbClr val="C9A227"/>
            </a:solidFill>
            <a:prstDash val="solid"/>
          </a:ln>
        </p:spPr>
      </p:sp>
      <p:sp>
        <p:nvSpPr>
          <p:cNvPr id="43" name="Text 41"/>
          <p:cNvSpPr/>
          <p:nvPr/>
        </p:nvSpPr>
        <p:spPr>
          <a:xfrm>
            <a:off x="8275930"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44" name="Text 42"/>
          <p:cNvSpPr/>
          <p:nvPr/>
        </p:nvSpPr>
        <p:spPr>
          <a:xfrm>
            <a:off x="6903720"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2:40   ·   THE EXECUTION FLYWHEEL</a:t>
            </a:r>
            <a:endParaRPr lang="en-US" sz="1200" dirty="0"/>
          </a:p>
        </p:txBody>
      </p:sp>
      <p:sp>
        <p:nvSpPr>
          <p:cNvPr id="45" name="Shape 43"/>
          <p:cNvSpPr/>
          <p:nvPr/>
        </p:nvSpPr>
        <p:spPr>
          <a:xfrm rot="2700000">
            <a:off x="6046013" y="3008986"/>
            <a:ext cx="118872" cy="118872"/>
          </a:xfrm>
          <a:prstGeom prst="rect">
            <a:avLst/>
          </a:prstGeom>
          <a:solidFill>
            <a:srgbClr val="C9A227"/>
          </a:solidFill>
          <a:ln w="3175">
            <a:solidFill>
              <a:srgbClr val="C9A227"/>
            </a:solidFill>
            <a:prstDash val="solid"/>
          </a:ln>
        </p:spPr>
      </p:sp>
      <p:sp>
        <p:nvSpPr>
          <p:cNvPr id="46" name="Text 44"/>
          <p:cNvSpPr/>
          <p:nvPr/>
        </p:nvSpPr>
        <p:spPr>
          <a:xfrm>
            <a:off x="5367528" y="3283306"/>
            <a:ext cx="1463040" cy="256032"/>
          </a:xfrm>
          <a:prstGeom prst="rect">
            <a:avLst/>
          </a:prstGeom>
          <a:noFill/>
          <a:ln/>
        </p:spPr>
        <p:txBody>
          <a:bodyPr wrap="square" lIns="0" tIns="0" rIns="0" bIns="0" rtlCol="0" anchor="ctr"/>
          <a:lstStyle/>
          <a:p>
            <a:pPr algn="ctr" indent="0" marL="0">
              <a:buNone/>
            </a:pPr>
            <a:r>
              <a:rPr lang="en-US" sz="1400" b="1" spc="160" kern="0" dirty="0">
                <a:solidFill>
                  <a:srgbClr val="8A6D14"/>
                </a:solidFill>
                <a:latin typeface="Arial" pitchFamily="34" charset="0"/>
                <a:ea typeface="Arial" pitchFamily="34" charset="-122"/>
                <a:cs typeface="Arial" pitchFamily="34" charset="-120"/>
              </a:rPr>
              <a:t>ONE COIN</a:t>
            </a:r>
            <a:endParaRPr lang="en-US" sz="1400" dirty="0"/>
          </a:p>
        </p:txBody>
      </p:sp>
      <p:sp>
        <p:nvSpPr>
          <p:cNvPr id="47" name="Text 45"/>
          <p:cNvSpPr/>
          <p:nvPr/>
        </p:nvSpPr>
        <p:spPr>
          <a:xfrm>
            <a:off x="813816" y="5029200"/>
            <a:ext cx="10570464" cy="507492"/>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SigCompass showed you where we are driving. This hour asks the same question a second time: how does knowledge move across a business? And it answers the promise we left open at 2:20, something that runs without anyone remembering to run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024128"/>
            <a:ext cx="1005840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AI only speeds up your current processes by 10x.</a:t>
            </a:r>
            <a:endParaRPr lang="en-US" sz="4200" dirty="0"/>
          </a:p>
        </p:txBody>
      </p:sp>
      <p:sp>
        <p:nvSpPr>
          <p:cNvPr id="10" name="Shape 8"/>
          <p:cNvSpPr/>
          <p:nvPr/>
        </p:nvSpPr>
        <p:spPr>
          <a:xfrm>
            <a:off x="2346808" y="2762951"/>
            <a:ext cx="7498080" cy="1060704"/>
          </a:xfrm>
          <a:prstGeom prst="rect">
            <a:avLst/>
          </a:prstGeom>
          <a:solidFill>
            <a:srgbClr val="2A3244"/>
          </a:solidFill>
          <a:ln/>
        </p:spPr>
      </p:sp>
      <p:sp>
        <p:nvSpPr>
          <p:cNvPr id="11" name="Text 9"/>
          <p:cNvSpPr/>
          <p:nvPr/>
        </p:nvSpPr>
        <p:spPr>
          <a:xfrm>
            <a:off x="2621128" y="2890967"/>
            <a:ext cx="3291840" cy="402336"/>
          </a:xfrm>
          <a:prstGeom prst="rect">
            <a:avLst/>
          </a:prstGeom>
          <a:noFill/>
          <a:ln/>
        </p:spPr>
        <p:txBody>
          <a:bodyPr wrap="square" lIns="0" tIns="0" rIns="0" bIns="0" rtlCol="0" anchor="ctr"/>
          <a:lstStyle/>
          <a:p>
            <a:pPr algn="r" indent="0" marL="0">
              <a:buNone/>
            </a:pPr>
            <a:r>
              <a:rPr lang="en-US" sz="2400" b="1" dirty="0">
                <a:solidFill>
                  <a:srgbClr val="AFA893"/>
                </a:solidFill>
                <a:latin typeface="Georgia" pitchFamily="34" charset="0"/>
                <a:ea typeface="Georgia" pitchFamily="34" charset="-122"/>
                <a:cs typeface="Georgia" pitchFamily="34" charset="-120"/>
              </a:rPr>
              <a:t>10x more confusion.</a:t>
            </a:r>
            <a:endParaRPr lang="en-US" sz="2400" dirty="0"/>
          </a:p>
        </p:txBody>
      </p:sp>
      <p:sp>
        <p:nvSpPr>
          <p:cNvPr id="12" name="Shape 10"/>
          <p:cNvSpPr/>
          <p:nvPr/>
        </p:nvSpPr>
        <p:spPr>
          <a:xfrm rot="2700000">
            <a:off x="6036412" y="3037271"/>
            <a:ext cx="118872" cy="118872"/>
          </a:xfrm>
          <a:prstGeom prst="rect">
            <a:avLst/>
          </a:prstGeom>
          <a:solidFill>
            <a:srgbClr val="C9A227"/>
          </a:solidFill>
          <a:ln w="3175">
            <a:solidFill>
              <a:srgbClr val="C9A227"/>
            </a:solidFill>
            <a:prstDash val="solid"/>
          </a:ln>
        </p:spPr>
      </p:sp>
      <p:sp>
        <p:nvSpPr>
          <p:cNvPr id="13" name="Text 11"/>
          <p:cNvSpPr/>
          <p:nvPr/>
        </p:nvSpPr>
        <p:spPr>
          <a:xfrm>
            <a:off x="6278728" y="2890967"/>
            <a:ext cx="3291840" cy="402336"/>
          </a:xfrm>
          <a:prstGeom prst="rect">
            <a:avLst/>
          </a:prstGeom>
          <a:noFill/>
          <a:ln/>
        </p:spPr>
        <p:txBody>
          <a:bodyPr wrap="square" lIns="0" tIns="0" rIns="0" bIns="0" rtlCol="0" anchor="ctr"/>
          <a:lstStyle/>
          <a:p>
            <a:pPr algn="l" indent="0" marL="0">
              <a:buNone/>
            </a:pPr>
            <a:r>
              <a:rPr lang="en-US" sz="2400" b="1" dirty="0">
                <a:solidFill>
                  <a:srgbClr val="E7C766"/>
                </a:solidFill>
                <a:latin typeface="Georgia" pitchFamily="34" charset="0"/>
                <a:ea typeface="Georgia" pitchFamily="34" charset="-122"/>
                <a:cs typeface="Georgia" pitchFamily="34" charset="-120"/>
              </a:rPr>
              <a:t>10x more alignment.</a:t>
            </a:r>
            <a:endParaRPr lang="en-US" sz="2400" dirty="0"/>
          </a:p>
        </p:txBody>
      </p:sp>
      <p:sp>
        <p:nvSpPr>
          <p:cNvPr id="14" name="Text 12"/>
          <p:cNvSpPr/>
          <p:nvPr/>
        </p:nvSpPr>
        <p:spPr>
          <a:xfrm>
            <a:off x="2621128" y="3348167"/>
            <a:ext cx="6949440" cy="310896"/>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Today is an argument for the second one.</a:t>
            </a:r>
            <a:endParaRPr lang="en-US" sz="1300" dirty="0"/>
          </a:p>
        </p:txBody>
      </p:sp>
      <p:sp>
        <p:nvSpPr>
          <p:cNvPr id="15" name="Text 13"/>
          <p:cNvSpPr/>
          <p:nvPr/>
        </p:nvSpPr>
        <p:spPr>
          <a:xfrm>
            <a:off x="1432408" y="4024823"/>
            <a:ext cx="9326880" cy="81153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We are all learning to play doubles, and the balls just started coming a lot faster. The answer is not more creative plays. It is more basic ones. Emails. Numbers. Percentages. Knowing the same simple things at the same time, and acting on them together.</a:t>
            </a:r>
            <a:endParaRPr lang="en-US" sz="1500" dirty="0"/>
          </a:p>
        </p:txBody>
      </p:sp>
      <p:sp>
        <p:nvSpPr>
          <p:cNvPr id="16" name="Text 14"/>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Reading the cockpit together is a fundamental. Bounce pass. Score. Then we get fancy.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A NINE-FIGURE BUSINESS LINE ACTUALLY RUNS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Amazon won on documents.</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2A3244"/>
          </a:solidFill>
          <a:ln/>
        </p:spPr>
      </p:sp>
      <p:sp>
        <p:nvSpPr>
          <p:cNvPr id="17" name="Text 15"/>
          <p:cNvSpPr/>
          <p:nvPr/>
        </p:nvSpPr>
        <p:spPr>
          <a:xfrm>
            <a:off x="3270065" y="3163926"/>
            <a:ext cx="957950"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E7C766"/>
                </a:solidFill>
                <a:latin typeface="Georgia" pitchFamily="34" charset="0"/>
                <a:ea typeface="Georgia" pitchFamily="34" charset="-122"/>
                <a:cs typeface="Georgia" pitchFamily="34" charset="-120"/>
              </a:rPr>
              <a:t>THE</a:t>
            </a:r>
            <a:endParaRPr lang="en-US" sz="1000" dirty="0"/>
          </a:p>
          <a:p>
            <a:pPr algn="ctr" indent="0" marL="0">
              <a:lnSpc>
                <a:spcPct val="102000"/>
              </a:lnSpc>
              <a:buNone/>
            </a:pPr>
            <a:r>
              <a:rPr lang="en-US" sz="1000" b="1" dirty="0">
                <a:solidFill>
                  <a:srgbClr val="E7C766"/>
                </a:solidFill>
                <a:latin typeface="Georgia" pitchFamily="34" charset="0"/>
                <a:ea typeface="Georgia" pitchFamily="34" charset="-122"/>
                <a:cs typeface="Georgia" pitchFamily="34" charset="-120"/>
              </a:rPr>
              <a:t>DOCUMENT</a:t>
            </a:r>
            <a:endParaRPr lang="en-US" sz="1000" dirty="0"/>
          </a:p>
        </p:txBody>
      </p:sp>
      <p:sp>
        <p:nvSpPr>
          <p:cNvPr id="18" name="Shape 16"/>
          <p:cNvSpPr/>
          <p:nvPr/>
        </p:nvSpPr>
        <p:spPr>
          <a:xfrm>
            <a:off x="346557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One person writes down what they know. Prose, not slides.</a:t>
            </a:r>
            <a:endParaRPr lang="en-US" sz="1200" dirty="0"/>
          </a:p>
        </p:txBody>
      </p:sp>
      <p:sp>
        <p:nvSpPr>
          <p:cNvPr id="32" name="Text 30"/>
          <p:cNvSpPr/>
          <p:nvPr/>
        </p:nvSpPr>
        <p:spPr>
          <a:xfrm>
            <a:off x="6903720" y="273298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3050743"/>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room reads in silence and attacks the document, not the person.</a:t>
            </a:r>
            <a:endParaRPr lang="en-US" sz="1200" dirty="0"/>
          </a:p>
        </p:txBody>
      </p:sp>
      <p:sp>
        <p:nvSpPr>
          <p:cNvPr id="34" name="Text 32"/>
          <p:cNvSpPr/>
          <p:nvPr/>
        </p:nvSpPr>
        <p:spPr>
          <a:xfrm>
            <a:off x="6903720" y="367253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99028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It absorbs the debate. The writing is the thinking.</a:t>
            </a:r>
            <a:endParaRPr lang="en-US" sz="1200" dirty="0"/>
          </a:p>
        </p:txBody>
      </p:sp>
      <p:sp>
        <p:nvSpPr>
          <p:cNvPr id="36" name="Text 34"/>
          <p:cNvSpPr/>
          <p:nvPr/>
        </p:nvSpPr>
        <p:spPr>
          <a:xfrm>
            <a:off x="6903720" y="442005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737811"/>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Teams work backwards from it. Every metric has a named owner.</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Bezos took PowerPoint out of the S-Team room. What replaced it was not a better meeting. It was an artifact that outlives the meeting.</a:t>
            </a:r>
            <a:endParaRPr lang="en-US" sz="1300" dirty="0"/>
          </a:p>
        </p:txBody>
      </p:sp>
      <p:sp>
        <p:nvSpPr>
          <p:cNvPr id="39" name="Text 37"/>
          <p:cNvSpPr/>
          <p:nvPr/>
        </p:nvSpPr>
        <p:spPr>
          <a:xfrm>
            <a:off x="813816" y="5596128"/>
            <a:ext cx="10570464" cy="164592"/>
          </a:xfrm>
          <a:prstGeom prst="rect">
            <a:avLst/>
          </a:prstGeom>
          <a:noFill/>
          <a:ln/>
        </p:spPr>
        <p:txBody>
          <a:bodyPr wrap="square" lIns="0" tIns="0" rIns="0" bIns="0" rtlCol="0" anchor="ctr"/>
          <a:lstStyle/>
          <a:p>
            <a:pPr algn="r" indent="0" marL="0">
              <a:buNone/>
            </a:pPr>
            <a:r>
              <a:rPr lang="en-US" sz="900" i="1" dirty="0">
                <a:solidFill>
                  <a:srgbClr val="AFA893"/>
                </a:solidFill>
                <a:latin typeface="Arial" pitchFamily="34" charset="0"/>
                <a:ea typeface="Arial" pitchFamily="34" charset="-122"/>
                <a:cs typeface="Arial" pitchFamily="34" charset="-120"/>
              </a:rPr>
              <a:t>Bryar &amp; Carr, Working Backwards (2021). Nonaka &amp; Takeuchi, The Knowledge-Creating Company (1995).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CHANGED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The artifact is now a skill file.</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A31621"/>
          </a:solidFill>
          <a:ln/>
        </p:spPr>
      </p:sp>
      <p:sp>
        <p:nvSpPr>
          <p:cNvPr id="17" name="Text 15"/>
          <p:cNvSpPr/>
          <p:nvPr/>
        </p:nvSpPr>
        <p:spPr>
          <a:xfrm>
            <a:off x="3270065" y="3130906"/>
            <a:ext cx="957950"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SKILL</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FILE</a:t>
            </a:r>
            <a:endParaRPr lang="en-US" sz="1200" dirty="0"/>
          </a:p>
        </p:txBody>
      </p:sp>
      <p:sp>
        <p:nvSpPr>
          <p:cNvPr id="18" name="Shape 16"/>
          <p:cNvSpPr/>
          <p:nvPr/>
        </p:nvSpPr>
        <p:spPr>
          <a:xfrm>
            <a:off x="3465576" y="2140915"/>
            <a:ext cx="566928" cy="566928"/>
          </a:xfrm>
          <a:prstGeom prst="ellipse">
            <a:avLst/>
          </a:prstGeom>
          <a:solidFill>
            <a:srgbClr val="F7F3EA"/>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F7F3EA"/>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F7F3EA"/>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F7F3EA"/>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write the file. Your people, your rules, your voice.</a:t>
            </a:r>
            <a:endParaRPr lang="en-US" sz="1200" dirty="0"/>
          </a:p>
        </p:txBody>
      </p:sp>
      <p:sp>
        <p:nvSpPr>
          <p:cNvPr id="32" name="Text 30"/>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2858719"/>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agent reads it. It cannot be charmed and it does not skim.</a:t>
            </a:r>
            <a:endParaRPr lang="en-US" sz="1200" dirty="0"/>
          </a:p>
        </p:txBody>
      </p:sp>
      <p:sp>
        <p:nvSpPr>
          <p:cNvPr id="34" name="Text 32"/>
          <p:cNvSpPr/>
          <p:nvPr/>
        </p:nvSpPr>
        <p:spPr>
          <a:xfrm>
            <a:off x="6903720" y="3480511"/>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79826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edit the file. Not the model. The file.</a:t>
            </a:r>
            <a:endParaRPr lang="en-US" sz="1200" dirty="0"/>
          </a:p>
        </p:txBody>
      </p:sp>
      <p:sp>
        <p:nvSpPr>
          <p:cNvPr id="36" name="Text 34"/>
          <p:cNvSpPr/>
          <p:nvPr/>
        </p:nvSpPr>
        <p:spPr>
          <a:xfrm>
            <a:off x="6903720" y="422803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54578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put it on a schedule. It runs at 4:30 without you.</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Same four steps. The reader used to be a room. Now it is an agent. That is the entire difference, and it is the whole workshop.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1066648" y="1170432"/>
            <a:ext cx="10058400" cy="1529364"/>
          </a:xfrm>
          <a:prstGeom prst="rect">
            <a:avLst/>
          </a:prstGeom>
          <a:noFill/>
          <a:ln/>
        </p:spPr>
        <p:txBody>
          <a:bodyPr wrap="square" lIns="0" tIns="0" rIns="0" bIns="0" rtlCol="0" anchor="t"/>
          <a:lstStyle/>
          <a:p>
            <a:pPr algn="ctr" indent="0" marL="0">
              <a:buNone/>
            </a:pPr>
            <a:r>
              <a:rPr lang="en-US" sz="4400" b="1" dirty="0">
                <a:solidFill>
                  <a:srgbClr val="FFFFFF"/>
                </a:solidFill>
                <a:latin typeface="Georgia" pitchFamily="34" charset="0"/>
                <a:ea typeface="Georgia" pitchFamily="34" charset="-122"/>
                <a:cs typeface="Georgia" pitchFamily="34" charset="-120"/>
              </a:rPr>
              <a:t>AI does not fix a broken process. It runs it faster.</a:t>
            </a:r>
            <a:endParaRPr lang="en-US" sz="4400" dirty="0"/>
          </a:p>
        </p:txBody>
      </p:sp>
      <p:sp>
        <p:nvSpPr>
          <p:cNvPr id="3" name="Text 1"/>
          <p:cNvSpPr/>
          <p:nvPr/>
        </p:nvSpPr>
        <p:spPr>
          <a:xfrm>
            <a:off x="8138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88%</a:t>
            </a:r>
            <a:endParaRPr lang="en-US" sz="4000" dirty="0"/>
          </a:p>
        </p:txBody>
      </p:sp>
      <p:sp>
        <p:nvSpPr>
          <p:cNvPr id="4" name="Text 2"/>
          <p:cNvSpPr/>
          <p:nvPr/>
        </p:nvSpPr>
        <p:spPr>
          <a:xfrm>
            <a:off x="8138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of organizations use AI somewhere.</a:t>
            </a:r>
            <a:endParaRPr lang="en-US" sz="1300" dirty="0"/>
          </a:p>
        </p:txBody>
      </p:sp>
      <p:sp>
        <p:nvSpPr>
          <p:cNvPr id="5" name="Text 3"/>
          <p:cNvSpPr/>
          <p:nvPr/>
        </p:nvSpPr>
        <p:spPr>
          <a:xfrm>
            <a:off x="44714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~6%</a:t>
            </a:r>
            <a:endParaRPr lang="en-US" sz="4000" dirty="0"/>
          </a:p>
        </p:txBody>
      </p:sp>
      <p:sp>
        <p:nvSpPr>
          <p:cNvPr id="6" name="Text 4"/>
          <p:cNvSpPr/>
          <p:nvPr/>
        </p:nvSpPr>
        <p:spPr>
          <a:xfrm>
            <a:off x="44714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see real profit impact from it.</a:t>
            </a:r>
            <a:endParaRPr lang="en-US" sz="1300" dirty="0"/>
          </a:p>
        </p:txBody>
      </p:sp>
      <p:sp>
        <p:nvSpPr>
          <p:cNvPr id="7" name="Text 5"/>
          <p:cNvSpPr/>
          <p:nvPr/>
        </p:nvSpPr>
        <p:spPr>
          <a:xfrm>
            <a:off x="81290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81290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have redesigned a single workflow.</a:t>
            </a:r>
            <a:endParaRPr lang="en-US" sz="1300" dirty="0"/>
          </a:p>
        </p:txBody>
      </p:sp>
      <p:sp>
        <p:nvSpPr>
          <p:cNvPr id="9" name="Text 7"/>
          <p:cNvSpPr/>
          <p:nvPr/>
        </p:nvSpPr>
        <p:spPr>
          <a:xfrm>
            <a:off x="1249528" y="4235988"/>
            <a:ext cx="9692640" cy="512064"/>
          </a:xfrm>
          <a:prstGeom prst="rect">
            <a:avLst/>
          </a:prstGeom>
          <a:noFill/>
          <a:ln/>
        </p:spPr>
        <p:txBody>
          <a:bodyPr wrap="square" lIns="0" tIns="0" rIns="0" bIns="0" rtlCol="0" anchor="t"/>
          <a:lstStyle/>
          <a:p>
            <a:pPr algn="ctr" indent="0" marL="0">
              <a:lnSpc>
                <a:spcPct val="116000"/>
              </a:lnSpc>
              <a:buNone/>
            </a:pPr>
            <a:r>
              <a:rPr lang="en-US" sz="1500" b="1" dirty="0">
                <a:solidFill>
                  <a:srgbClr val="FFFFFF"/>
                </a:solidFill>
                <a:latin typeface="Arial" pitchFamily="34" charset="0"/>
                <a:ea typeface="Arial" pitchFamily="34" charset="-122"/>
                <a:cs typeface="Arial" pitchFamily="34" charset="-120"/>
              </a:rPr>
              <a:t>Of roughly 25 things McKinsey tested, one predicts profit impact above all others: fundamentally redesigning the workflow.</a:t>
            </a:r>
            <a:endParaRPr lang="en-US" sz="1500" dirty="0"/>
          </a:p>
        </p:txBody>
      </p:sp>
      <p:sp>
        <p:nvSpPr>
          <p:cNvPr id="10" name="Text 8"/>
          <p:cNvSpPr/>
          <p:nvPr/>
        </p:nvSpPr>
        <p:spPr>
          <a:xfrm>
            <a:off x="1249528" y="4949220"/>
            <a:ext cx="9692640" cy="310896"/>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A vague document used to waste a meeting. A vague document now runs ten thousand times a day.</a:t>
            </a:r>
            <a:endParaRPr lang="en-US" sz="1400" dirty="0"/>
          </a:p>
        </p:txBody>
      </p:sp>
      <p:sp>
        <p:nvSpPr>
          <p:cNvPr id="11" name="Text 9"/>
          <p:cNvSpPr/>
          <p:nvPr/>
        </p:nvSpPr>
        <p:spPr>
          <a:xfrm>
            <a:off x="813816" y="5705856"/>
            <a:ext cx="10570464" cy="182880"/>
          </a:xfrm>
          <a:prstGeom prst="rect">
            <a:avLst/>
          </a:prstGeom>
          <a:noFill/>
          <a:ln/>
        </p:spPr>
        <p:txBody>
          <a:bodyPr wrap="square" lIns="0" tIns="0" rIns="0" bIns="0" rtlCol="0" anchor="ctr"/>
          <a:lstStyle/>
          <a:p>
            <a:pPr algn="ctr" indent="0" marL="0">
              <a:buNone/>
            </a:pPr>
            <a:r>
              <a:rPr lang="en-US" sz="900" i="1" dirty="0">
                <a:solidFill>
                  <a:srgbClr val="FFFFFF"/>
                </a:solidFill>
                <a:latin typeface="Arial" pitchFamily="34" charset="0"/>
                <a:ea typeface="Arial" pitchFamily="34" charset="-122"/>
                <a:cs typeface="Arial" pitchFamily="34" charset="-120"/>
              </a:rPr>
              <a:t>McKinsey, The State of AI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BEFORE YOU WRITE ANYTHING, KNOW WHO IS HOLDING THE PEN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kinds of executive.</a:t>
            </a:r>
            <a:endParaRPr lang="en-US" sz="4000" dirty="0"/>
          </a:p>
        </p:txBody>
      </p:sp>
      <p:sp>
        <p:nvSpPr>
          <p:cNvPr id="11" name="Shape 9"/>
          <p:cNvSpPr/>
          <p:nvPr/>
        </p:nvSpPr>
        <p:spPr>
          <a:xfrm>
            <a:off x="6099048" y="1810512"/>
            <a:ext cx="0" cy="3364992"/>
          </a:xfrm>
          <a:prstGeom prst="line">
            <a:avLst/>
          </a:prstGeom>
          <a:noFill/>
          <a:ln w="15875">
            <a:solidFill>
              <a:srgbClr val="C9A227"/>
            </a:solidFill>
            <a:prstDash val="solid"/>
            <a:headEnd type="triangle"/>
            <a:tailEnd type="triangle"/>
          </a:ln>
        </p:spPr>
      </p:sp>
      <p:sp>
        <p:nvSpPr>
          <p:cNvPr id="12" name="Shape 10"/>
          <p:cNvSpPr/>
          <p:nvPr/>
        </p:nvSpPr>
        <p:spPr>
          <a:xfrm>
            <a:off x="2331720" y="3493008"/>
            <a:ext cx="7534656" cy="0"/>
          </a:xfrm>
          <a:prstGeom prst="line">
            <a:avLst/>
          </a:prstGeom>
          <a:noFill/>
          <a:ln w="15875">
            <a:solidFill>
              <a:srgbClr val="C9A227"/>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4" name="Text 12"/>
          <p:cNvSpPr/>
          <p:nvPr/>
        </p:nvSpPr>
        <p:spPr>
          <a:xfrm>
            <a:off x="4636008" y="166420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control what you show</a:t>
            </a:r>
            <a:endParaRPr lang="en-US" sz="1000" dirty="0"/>
          </a:p>
        </p:txBody>
      </p:sp>
      <p:sp>
        <p:nvSpPr>
          <p:cNvPr id="15" name="Text 13"/>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16" name="Text 14"/>
          <p:cNvSpPr/>
          <p:nvPr/>
        </p:nvSpPr>
        <p:spPr>
          <a:xfrm>
            <a:off x="4636008" y="541324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show what you feel</a:t>
            </a:r>
            <a:endParaRPr lang="en-US" sz="1000" dirty="0"/>
          </a:p>
        </p:txBody>
      </p:sp>
      <p:sp>
        <p:nvSpPr>
          <p:cNvPr id="17" name="Text 15"/>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300" b="1" spc="160" kern="0" dirty="0">
                <a:solidFill>
                  <a:srgbClr val="8A6D14"/>
                </a:solidFill>
                <a:latin typeface="Arial" pitchFamily="34" charset="0"/>
                <a:ea typeface="Arial" pitchFamily="34" charset="-122"/>
                <a:cs typeface="Arial" pitchFamily="34" charset="-120"/>
              </a:rPr>
              <a:t>ASK</a:t>
            </a:r>
            <a:endParaRPr lang="en-US" sz="1300" dirty="0"/>
          </a:p>
        </p:txBody>
      </p:sp>
      <p:sp>
        <p:nvSpPr>
          <p:cNvPr id="18" name="Text 16"/>
          <p:cNvSpPr/>
          <p:nvPr/>
        </p:nvSpPr>
        <p:spPr>
          <a:xfrm>
            <a:off x="813816" y="3419856"/>
            <a:ext cx="1426464" cy="182880"/>
          </a:xfrm>
          <a:prstGeom prst="rect">
            <a:avLst/>
          </a:prstGeom>
          <a:noFill/>
          <a:ln/>
        </p:spPr>
        <p:txBody>
          <a:bodyPr wrap="square" lIns="0" tIns="0" rIns="0" bIns="0" rtlCol="0" anchor="ctr"/>
          <a:lstStyle/>
          <a:p>
            <a:pPr algn="r" indent="0" marL="0">
              <a:buNone/>
            </a:pPr>
            <a:r>
              <a:rPr lang="en-US" sz="1000" i="1" dirty="0">
                <a:solidFill>
                  <a:srgbClr val="5A6379"/>
                </a:solidFill>
                <a:latin typeface="Arial" pitchFamily="34" charset="0"/>
                <a:ea typeface="Arial" pitchFamily="34" charset="-122"/>
                <a:cs typeface="Arial" pitchFamily="34" charset="-120"/>
              </a:rPr>
              <a:t>you gather, then move</a:t>
            </a:r>
            <a:endParaRPr lang="en-US" sz="1000" dirty="0"/>
          </a:p>
        </p:txBody>
      </p:sp>
      <p:sp>
        <p:nvSpPr>
          <p:cNvPr id="19" name="Text 17"/>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300" b="1" spc="160" kern="0" dirty="0">
                <a:solidFill>
                  <a:srgbClr val="8A6D14"/>
                </a:solidFill>
                <a:latin typeface="Arial" pitchFamily="34" charset="0"/>
                <a:ea typeface="Arial" pitchFamily="34" charset="-122"/>
                <a:cs typeface="Arial" pitchFamily="34" charset="-120"/>
              </a:rPr>
              <a:t>TELL</a:t>
            </a:r>
            <a:endParaRPr lang="en-US" sz="1300" dirty="0"/>
          </a:p>
        </p:txBody>
      </p:sp>
      <p:sp>
        <p:nvSpPr>
          <p:cNvPr id="20" name="Text 18"/>
          <p:cNvSpPr/>
          <p:nvPr/>
        </p:nvSpPr>
        <p:spPr>
          <a:xfrm>
            <a:off x="9957816" y="3419856"/>
            <a:ext cx="1426464" cy="182880"/>
          </a:xfrm>
          <a:prstGeom prst="rect">
            <a:avLst/>
          </a:prstGeom>
          <a:noFill/>
          <a:ln/>
        </p:spPr>
        <p:txBody>
          <a:bodyPr wrap="square" lIns="0" tIns="0" rIns="0" bIns="0" rtlCol="0" anchor="ctr"/>
          <a:lstStyle/>
          <a:p>
            <a:pPr algn="l" indent="0" marL="0">
              <a:buNone/>
            </a:pPr>
            <a:r>
              <a:rPr lang="en-US" sz="1000" i="1" dirty="0">
                <a:solidFill>
                  <a:srgbClr val="5A6379"/>
                </a:solidFill>
                <a:latin typeface="Arial" pitchFamily="34" charset="0"/>
                <a:ea typeface="Arial" pitchFamily="34" charset="-122"/>
                <a:cs typeface="Arial" pitchFamily="34" charset="-120"/>
              </a:rPr>
              <a:t>you move, then gather</a:t>
            </a:r>
            <a:endParaRPr lang="en-US" sz="1000" dirty="0"/>
          </a:p>
        </p:txBody>
      </p:sp>
      <p:sp>
        <p:nvSpPr>
          <p:cNvPr id="21" name="Text 19"/>
          <p:cNvSpPr/>
          <p:nvPr/>
        </p:nvSpPr>
        <p:spPr>
          <a:xfrm>
            <a:off x="96012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ACCURACY</a:t>
            </a:r>
            <a:endParaRPr lang="en-US" sz="3400" dirty="0"/>
          </a:p>
        </p:txBody>
      </p:sp>
      <p:sp>
        <p:nvSpPr>
          <p:cNvPr id="22" name="Text 20"/>
          <p:cNvSpPr/>
          <p:nvPr/>
        </p:nvSpPr>
        <p:spPr>
          <a:xfrm>
            <a:off x="1508760" y="2701991"/>
            <a:ext cx="3749040" cy="507492"/>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Show me the reasoning before the recommendation.</a:t>
            </a:r>
            <a:endParaRPr lang="en-US" sz="1300" dirty="0"/>
          </a:p>
        </p:txBody>
      </p:sp>
      <p:sp>
        <p:nvSpPr>
          <p:cNvPr id="23" name="Text 21"/>
          <p:cNvSpPr/>
          <p:nvPr/>
        </p:nvSpPr>
        <p:spPr>
          <a:xfrm>
            <a:off x="640080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TIME</a:t>
            </a:r>
            <a:endParaRPr lang="en-US" sz="3400" dirty="0"/>
          </a:p>
        </p:txBody>
      </p:sp>
      <p:sp>
        <p:nvSpPr>
          <p:cNvPr id="24" name="Text 22"/>
          <p:cNvSpPr/>
          <p:nvPr/>
        </p:nvSpPr>
        <p:spPr>
          <a:xfrm>
            <a:off x="6949440" y="270199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Do not explain it. Close it.</a:t>
            </a:r>
            <a:endParaRPr lang="en-US" sz="1300" dirty="0"/>
          </a:p>
        </p:txBody>
      </p:sp>
      <p:sp>
        <p:nvSpPr>
          <p:cNvPr id="25" name="Text 23"/>
          <p:cNvSpPr/>
          <p:nvPr/>
        </p:nvSpPr>
        <p:spPr>
          <a:xfrm>
            <a:off x="96012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TRUST</a:t>
            </a:r>
            <a:endParaRPr lang="en-US" sz="3400" dirty="0"/>
          </a:p>
        </p:txBody>
      </p:sp>
      <p:sp>
        <p:nvSpPr>
          <p:cNvPr id="26" name="Text 24"/>
          <p:cNvSpPr/>
          <p:nvPr/>
        </p:nvSpPr>
        <p:spPr>
          <a:xfrm>
            <a:off x="150876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Who does this touch, and do they know yet?</a:t>
            </a:r>
            <a:endParaRPr lang="en-US" sz="1300" dirty="0"/>
          </a:p>
        </p:txBody>
      </p:sp>
      <p:sp>
        <p:nvSpPr>
          <p:cNvPr id="27" name="Text 25"/>
          <p:cNvSpPr/>
          <p:nvPr/>
        </p:nvSpPr>
        <p:spPr>
          <a:xfrm>
            <a:off x="640080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VISION</a:t>
            </a:r>
            <a:endParaRPr lang="en-US" sz="3400" dirty="0"/>
          </a:p>
        </p:txBody>
      </p:sp>
      <p:sp>
        <p:nvSpPr>
          <p:cNvPr id="28" name="Text 26"/>
          <p:cNvSpPr/>
          <p:nvPr/>
        </p:nvSpPr>
        <p:spPr>
          <a:xfrm>
            <a:off x="694944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Where else could this go?</a:t>
            </a:r>
            <a:endParaRPr lang="en-US" sz="1300" dirty="0"/>
          </a:p>
        </p:txBody>
      </p:sp>
      <p:sp>
        <p:nvSpPr>
          <p:cNvPr id="29" name="Text 27"/>
          <p:cNvSpPr/>
          <p:nvPr/>
        </p:nvSpPr>
        <p:spPr>
          <a:xfrm>
            <a:off x="813816" y="5596128"/>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Merrill &amp; Reid, Personal Styles and Effective Performance (1981).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SO HERE IS YOUR ASSIGNMENT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ways to spend the next hour.</a:t>
            </a:r>
            <a:endParaRPr lang="en-US" sz="4000" dirty="0"/>
          </a:p>
        </p:txBody>
      </p:sp>
      <p:sp>
        <p:nvSpPr>
          <p:cNvPr id="11" name="Shape 9"/>
          <p:cNvSpPr/>
          <p:nvPr/>
        </p:nvSpPr>
        <p:spPr>
          <a:xfrm>
            <a:off x="6099048" y="1810512"/>
            <a:ext cx="0" cy="3364992"/>
          </a:xfrm>
          <a:prstGeom prst="line">
            <a:avLst/>
          </a:prstGeom>
          <a:noFill/>
          <a:ln w="9525">
            <a:solidFill>
              <a:srgbClr val="C9A227">
                <a:alpha val="45000"/>
              </a:srgbClr>
            </a:solidFill>
            <a:prstDash val="solid"/>
            <a:headEnd type="triangle"/>
            <a:tailEnd type="triangle"/>
          </a:ln>
        </p:spPr>
      </p:sp>
      <p:sp>
        <p:nvSpPr>
          <p:cNvPr id="12" name="Shape 10"/>
          <p:cNvSpPr/>
          <p:nvPr/>
        </p:nvSpPr>
        <p:spPr>
          <a:xfrm>
            <a:off x="2331720" y="3493008"/>
            <a:ext cx="7534656" cy="0"/>
          </a:xfrm>
          <a:prstGeom prst="line">
            <a:avLst/>
          </a:prstGeom>
          <a:noFill/>
          <a:ln w="9525">
            <a:solidFill>
              <a:srgbClr val="C9A227">
                <a:alpha val="45000"/>
              </a:srgbClr>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CLOSED</a:t>
            </a:r>
            <a:endParaRPr lang="en-US" sz="1200" dirty="0"/>
          </a:p>
        </p:txBody>
      </p:sp>
      <p:sp>
        <p:nvSpPr>
          <p:cNvPr id="14" name="Text 12"/>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OPEN</a:t>
            </a:r>
            <a:endParaRPr lang="en-US" sz="1200" dirty="0"/>
          </a:p>
        </p:txBody>
      </p:sp>
      <p:sp>
        <p:nvSpPr>
          <p:cNvPr id="15" name="Text 13"/>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200" b="1" spc="160" kern="0" dirty="0">
                <a:solidFill>
                  <a:srgbClr val="8A6D14"/>
                </a:solidFill>
                <a:latin typeface="Arial" pitchFamily="34" charset="0"/>
                <a:ea typeface="Arial" pitchFamily="34" charset="-122"/>
                <a:cs typeface="Arial" pitchFamily="34" charset="-120"/>
              </a:rPr>
              <a:t>ASK</a:t>
            </a:r>
            <a:endParaRPr lang="en-US" sz="1200" dirty="0"/>
          </a:p>
        </p:txBody>
      </p:sp>
      <p:sp>
        <p:nvSpPr>
          <p:cNvPr id="16" name="Text 14"/>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200" b="1" spc="160" kern="0" dirty="0">
                <a:solidFill>
                  <a:srgbClr val="8A6D14"/>
                </a:solidFill>
                <a:latin typeface="Arial" pitchFamily="34" charset="0"/>
                <a:ea typeface="Arial" pitchFamily="34" charset="-122"/>
                <a:cs typeface="Arial" pitchFamily="34" charset="-120"/>
              </a:rPr>
              <a:t>TELL</a:t>
            </a:r>
            <a:endParaRPr lang="en-US" sz="1200" dirty="0"/>
          </a:p>
        </p:txBody>
      </p:sp>
      <p:sp>
        <p:nvSpPr>
          <p:cNvPr id="17" name="Text 15"/>
          <p:cNvSpPr/>
          <p:nvPr/>
        </p:nvSpPr>
        <p:spPr>
          <a:xfrm>
            <a:off x="96012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ACCURACY</a:t>
            </a:r>
            <a:endParaRPr lang="en-US" sz="1700" dirty="0"/>
          </a:p>
        </p:txBody>
      </p:sp>
      <p:sp>
        <p:nvSpPr>
          <p:cNvPr id="18" name="Text 16"/>
          <p:cNvSpPr/>
          <p:nvPr/>
        </p:nvSpPr>
        <p:spPr>
          <a:xfrm>
            <a:off x="96012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Show me the reasoning before the recommendation.</a:t>
            </a:r>
            <a:endParaRPr lang="en-US" sz="1200" dirty="0"/>
          </a:p>
        </p:txBody>
      </p:sp>
      <p:sp>
        <p:nvSpPr>
          <p:cNvPr id="19" name="Text 17"/>
          <p:cNvSpPr/>
          <p:nvPr/>
        </p:nvSpPr>
        <p:spPr>
          <a:xfrm>
            <a:off x="96012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Hunt the non-determinism. Scaled wrong knowledge is what slows a business down.</a:t>
            </a:r>
            <a:endParaRPr lang="en-US" sz="1200" dirty="0"/>
          </a:p>
        </p:txBody>
      </p:sp>
      <p:sp>
        <p:nvSpPr>
          <p:cNvPr id="20" name="Text 18"/>
          <p:cNvSpPr/>
          <p:nvPr/>
        </p:nvSpPr>
        <p:spPr>
          <a:xfrm>
            <a:off x="96012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Governance that builds repeatability.</a:t>
            </a:r>
            <a:endParaRPr lang="en-US" sz="1200" dirty="0"/>
          </a:p>
        </p:txBody>
      </p:sp>
      <p:sp>
        <p:nvSpPr>
          <p:cNvPr id="21" name="Text 19"/>
          <p:cNvSpPr/>
          <p:nvPr/>
        </p:nvSpPr>
        <p:spPr>
          <a:xfrm>
            <a:off x="640080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TIME</a:t>
            </a:r>
            <a:endParaRPr lang="en-US" sz="1700" dirty="0"/>
          </a:p>
        </p:txBody>
      </p:sp>
      <p:sp>
        <p:nvSpPr>
          <p:cNvPr id="22" name="Text 20"/>
          <p:cNvSpPr/>
          <p:nvPr/>
        </p:nvSpPr>
        <p:spPr>
          <a:xfrm>
            <a:off x="640080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You want it running before I finish the sentence.</a:t>
            </a:r>
            <a:endParaRPr lang="en-US" sz="1200" dirty="0"/>
          </a:p>
        </p:txBody>
      </p:sp>
      <p:sp>
        <p:nvSpPr>
          <p:cNvPr id="23" name="Text 21"/>
          <p:cNvSpPr/>
          <p:nvPr/>
        </p:nvSpPr>
        <p:spPr>
          <a:xfrm>
            <a:off x="640080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Experience this as the job description you are about to hire for.</a:t>
            </a:r>
            <a:endParaRPr lang="en-US" sz="1200" dirty="0"/>
          </a:p>
        </p:txBody>
      </p:sp>
      <p:sp>
        <p:nvSpPr>
          <p:cNvPr id="24" name="Text 22"/>
          <p:cNvSpPr/>
          <p:nvPr/>
        </p:nvSpPr>
        <p:spPr>
          <a:xfrm>
            <a:off x="640080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How you delegate and invest in this workflow.</a:t>
            </a:r>
            <a:endParaRPr lang="en-US" sz="1200" dirty="0"/>
          </a:p>
        </p:txBody>
      </p:sp>
      <p:sp>
        <p:nvSpPr>
          <p:cNvPr id="25" name="Text 23"/>
          <p:cNvSpPr/>
          <p:nvPr/>
        </p:nvSpPr>
        <p:spPr>
          <a:xfrm>
            <a:off x="96012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TRUST</a:t>
            </a:r>
            <a:endParaRPr lang="en-US" sz="1700" dirty="0"/>
          </a:p>
        </p:txBody>
      </p:sp>
      <p:sp>
        <p:nvSpPr>
          <p:cNvPr id="26" name="Text 24"/>
          <p:cNvSpPr/>
          <p:nvPr/>
        </p:nvSpPr>
        <p:spPr>
          <a:xfrm>
            <a:off x="96012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Who does this touch, and do they know yet?</a:t>
            </a:r>
            <a:endParaRPr lang="en-US" sz="1200" dirty="0"/>
          </a:p>
        </p:txBody>
      </p:sp>
      <p:sp>
        <p:nvSpPr>
          <p:cNvPr id="27" name="Text 25"/>
          <p:cNvSpPr/>
          <p:nvPr/>
        </p:nvSpPr>
        <p:spPr>
          <a:xfrm>
            <a:off x="96012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Decide where human relationships are best served by technology, not replaced by it.</a:t>
            </a:r>
            <a:endParaRPr lang="en-US" sz="1200" dirty="0"/>
          </a:p>
        </p:txBody>
      </p:sp>
      <p:sp>
        <p:nvSpPr>
          <p:cNvPr id="28" name="Text 26"/>
          <p:cNvSpPr/>
          <p:nvPr/>
        </p:nvSpPr>
        <p:spPr>
          <a:xfrm>
            <a:off x="96012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AI helps people flourish, not fry them.</a:t>
            </a:r>
            <a:endParaRPr lang="en-US" sz="1200" dirty="0"/>
          </a:p>
        </p:txBody>
      </p:sp>
      <p:sp>
        <p:nvSpPr>
          <p:cNvPr id="29" name="Text 27"/>
          <p:cNvSpPr/>
          <p:nvPr/>
        </p:nvSpPr>
        <p:spPr>
          <a:xfrm>
            <a:off x="640080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VISION</a:t>
            </a:r>
            <a:endParaRPr lang="en-US" sz="1700" dirty="0"/>
          </a:p>
        </p:txBody>
      </p:sp>
      <p:sp>
        <p:nvSpPr>
          <p:cNvPr id="30" name="Text 28"/>
          <p:cNvSpPr/>
          <p:nvPr/>
        </p:nvSpPr>
        <p:spPr>
          <a:xfrm>
            <a:off x="640080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else could this go?</a:t>
            </a:r>
            <a:endParaRPr lang="en-US" sz="1200" dirty="0"/>
          </a:p>
        </p:txBody>
      </p:sp>
      <p:sp>
        <p:nvSpPr>
          <p:cNvPr id="31" name="Text 29"/>
          <p:cNvSpPr/>
          <p:nvPr/>
        </p:nvSpPr>
        <p:spPr>
          <a:xfrm>
            <a:off x="640080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Today is email plus plain English. See the invisible digital headquarters behind it.</a:t>
            </a:r>
            <a:endParaRPr lang="en-US" sz="1200" dirty="0"/>
          </a:p>
        </p:txBody>
      </p:sp>
      <p:sp>
        <p:nvSpPr>
          <p:cNvPr id="32" name="Text 30"/>
          <p:cNvSpPr/>
          <p:nvPr/>
        </p:nvSpPr>
        <p:spPr>
          <a:xfrm>
            <a:off x="640080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The first worlds you can build from here.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11" name="Text 9"/>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2" name="Text 10"/>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3" name="Text 11"/>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4" name="Text 12"/>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5" name="Text 13"/>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a:t>
            </a:r>
            <a:endParaRPr lang="en-US" sz="1500" dirty="0"/>
          </a:p>
        </p:txBody>
      </p:sp>
      <p:sp>
        <p:nvSpPr>
          <p:cNvPr id="17" name="Text 15"/>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8" name="Text 16"/>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9" name="Text 17"/>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20" name="Text 18"/>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hand up.</a:t>
            </a:r>
            <a:endParaRPr lang="en-US" sz="1500" dirty="0"/>
          </a:p>
        </p:txBody>
      </p:sp>
      <p:sp>
        <p:nvSpPr>
          <p:cNvPr id="21" name="Text 19"/>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  2:40 CONTEXT  ·  3:00 BUILD  ·  3:45 DISCUSSION  ·  4:10 DONE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steps. Forty-five minutes.</a:t>
            </a:r>
            <a:endParaRPr lang="en-US" sz="4000" dirty="0"/>
          </a:p>
        </p:txBody>
      </p:sp>
      <p:sp>
        <p:nvSpPr>
          <p:cNvPr id="11" name="Shape 9"/>
          <p:cNvSpPr/>
          <p:nvPr/>
        </p:nvSpPr>
        <p:spPr>
          <a:xfrm>
            <a:off x="813816" y="1903171"/>
            <a:ext cx="3255264" cy="2615184"/>
          </a:xfrm>
          <a:prstGeom prst="rect">
            <a:avLst/>
          </a:prstGeom>
          <a:solidFill>
            <a:srgbClr val="E8E2D2"/>
          </a:solidFill>
          <a:ln/>
        </p:spPr>
      </p:sp>
      <p:sp>
        <p:nvSpPr>
          <p:cNvPr id="12" name="Text 10"/>
          <p:cNvSpPr/>
          <p:nvPr/>
        </p:nvSpPr>
        <p:spPr>
          <a:xfrm>
            <a:off x="10881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01</a:t>
            </a:r>
            <a:endParaRPr lang="en-US" sz="4000" dirty="0"/>
          </a:p>
        </p:txBody>
      </p:sp>
      <p:sp>
        <p:nvSpPr>
          <p:cNvPr id="13" name="Text 11"/>
          <p:cNvSpPr/>
          <p:nvPr/>
        </p:nvSpPr>
        <p:spPr>
          <a:xfrm>
            <a:off x="10881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FIRST IMPRESSIONS</a:t>
            </a:r>
            <a:endParaRPr lang="en-US" sz="1500" dirty="0"/>
          </a:p>
        </p:txBody>
      </p:sp>
      <p:sp>
        <p:nvSpPr>
          <p:cNvPr id="14" name="Text 12"/>
          <p:cNvSpPr/>
          <p:nvPr/>
        </p:nvSpPr>
        <p:spPr>
          <a:xfrm>
            <a:off x="10881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One desk for everything. Connect your email and calendar, and she drafts her first reply.</a:t>
            </a:r>
            <a:endParaRPr lang="en-US" sz="1300" dirty="0"/>
          </a:p>
        </p:txBody>
      </p:sp>
      <p:sp>
        <p:nvSpPr>
          <p:cNvPr id="15" name="Text 13"/>
          <p:cNvSpPr/>
          <p:nvPr/>
        </p:nvSpPr>
        <p:spPr>
          <a:xfrm>
            <a:off x="10881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DOCUMENT  ·  TEST</a:t>
            </a:r>
            <a:endParaRPr lang="en-US" sz="1200" dirty="0"/>
          </a:p>
        </p:txBody>
      </p:sp>
      <p:sp>
        <p:nvSpPr>
          <p:cNvPr id="16" name="Shape 14"/>
          <p:cNvSpPr/>
          <p:nvPr/>
        </p:nvSpPr>
        <p:spPr>
          <a:xfrm>
            <a:off x="4471416" y="1903171"/>
            <a:ext cx="3255264" cy="2615184"/>
          </a:xfrm>
          <a:prstGeom prst="rect">
            <a:avLst/>
          </a:prstGeom>
          <a:solidFill>
            <a:srgbClr val="E8E2D2"/>
          </a:solidFill>
          <a:ln/>
        </p:spPr>
      </p:sp>
      <p:sp>
        <p:nvSpPr>
          <p:cNvPr id="17" name="Text 15"/>
          <p:cNvSpPr/>
          <p:nvPr/>
        </p:nvSpPr>
        <p:spPr>
          <a:xfrm>
            <a:off x="47457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02</a:t>
            </a:r>
            <a:endParaRPr lang="en-US" sz="4000" dirty="0"/>
          </a:p>
        </p:txBody>
      </p:sp>
      <p:sp>
        <p:nvSpPr>
          <p:cNvPr id="18" name="Text 16"/>
          <p:cNvSpPr/>
          <p:nvPr/>
        </p:nvSpPr>
        <p:spPr>
          <a:xfrm>
            <a:off x="47457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THE TRIAGE DESK</a:t>
            </a:r>
            <a:endParaRPr lang="en-US" sz="1500" dirty="0"/>
          </a:p>
        </p:txBody>
      </p:sp>
      <p:sp>
        <p:nvSpPr>
          <p:cNvPr id="19" name="Text 17"/>
          <p:cNvSpPr/>
          <p:nvPr/>
        </p:nvSpPr>
        <p:spPr>
          <a:xfrm>
            <a:off x="47457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You brief her once. Red, yellow, gray. Your people, your priorities, your voice.</a:t>
            </a:r>
            <a:endParaRPr lang="en-US" sz="1300" dirty="0"/>
          </a:p>
        </p:txBody>
      </p:sp>
      <p:sp>
        <p:nvSpPr>
          <p:cNvPr id="20" name="Text 18"/>
          <p:cNvSpPr/>
          <p:nvPr/>
        </p:nvSpPr>
        <p:spPr>
          <a:xfrm>
            <a:off x="47457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REVISE</a:t>
            </a:r>
            <a:endParaRPr lang="en-US" sz="1200" dirty="0"/>
          </a:p>
        </p:txBody>
      </p:sp>
      <p:sp>
        <p:nvSpPr>
          <p:cNvPr id="21" name="Shape 19"/>
          <p:cNvSpPr/>
          <p:nvPr/>
        </p:nvSpPr>
        <p:spPr>
          <a:xfrm>
            <a:off x="8129016" y="1903171"/>
            <a:ext cx="3255264" cy="2615184"/>
          </a:xfrm>
          <a:prstGeom prst="rect">
            <a:avLst/>
          </a:prstGeom>
          <a:solidFill>
            <a:srgbClr val="E8E2D2"/>
          </a:solidFill>
          <a:ln/>
        </p:spPr>
      </p:sp>
      <p:sp>
        <p:nvSpPr>
          <p:cNvPr id="22" name="Text 20"/>
          <p:cNvSpPr/>
          <p:nvPr/>
        </p:nvSpPr>
        <p:spPr>
          <a:xfrm>
            <a:off x="84033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03</a:t>
            </a:r>
            <a:endParaRPr lang="en-US" sz="4000" dirty="0"/>
          </a:p>
        </p:txBody>
      </p:sp>
      <p:sp>
        <p:nvSpPr>
          <p:cNvPr id="23" name="Text 21"/>
          <p:cNvSpPr/>
          <p:nvPr/>
        </p:nvSpPr>
        <p:spPr>
          <a:xfrm>
            <a:off x="84033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DONNA, FULL TIME</a:t>
            </a:r>
            <a:endParaRPr lang="en-US" sz="1500" dirty="0"/>
          </a:p>
        </p:txBody>
      </p:sp>
      <p:sp>
        <p:nvSpPr>
          <p:cNvPr id="24" name="Text 22"/>
          <p:cNvSpPr/>
          <p:nvPr/>
        </p:nvSpPr>
        <p:spPr>
          <a:xfrm>
            <a:off x="84033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Her playbook becomes a skill she keeps, and she takes the 4:30 evening shift.</a:t>
            </a:r>
            <a:endParaRPr lang="en-US" sz="1300" dirty="0"/>
          </a:p>
        </p:txBody>
      </p:sp>
      <p:sp>
        <p:nvSpPr>
          <p:cNvPr id="25" name="Text 23"/>
          <p:cNvSpPr/>
          <p:nvPr/>
        </p:nvSpPr>
        <p:spPr>
          <a:xfrm>
            <a:off x="84033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OPERATE</a:t>
            </a:r>
            <a:endParaRPr lang="en-US" sz="12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Every step is one station of the flywheel. You write a document, you test it, and you put it on the clock.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C9A227"/>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C9A227"/>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12</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7" name="Shape 15"/>
          <p:cNvSpPr/>
          <p:nvPr/>
        </p:nvSpPr>
        <p:spPr>
          <a:xfrm>
            <a:off x="813816" y="1775155"/>
            <a:ext cx="5687568" cy="2196846"/>
          </a:xfrm>
          <a:prstGeom prst="rect">
            <a:avLst/>
          </a:prstGeom>
          <a:solidFill>
            <a:srgbClr val="E8E2D2"/>
          </a:solidFill>
          <a:ln/>
        </p:spPr>
      </p:sp>
      <p:sp>
        <p:nvSpPr>
          <p:cNvPr id="18" name="Text 16"/>
          <p:cNvSpPr/>
          <p:nvPr/>
        </p:nvSpPr>
        <p:spPr>
          <a:xfrm>
            <a:off x="1088136" y="2049475"/>
            <a:ext cx="5138928"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9" name="Shape 17"/>
          <p:cNvSpPr/>
          <p:nvPr/>
        </p:nvSpPr>
        <p:spPr>
          <a:xfrm rot="2700000">
            <a:off x="1088136" y="2536393"/>
            <a:ext cx="100584" cy="100584"/>
          </a:xfrm>
          <a:prstGeom prst="rect">
            <a:avLst/>
          </a:prstGeom>
          <a:solidFill>
            <a:srgbClr val="C9A227"/>
          </a:solidFill>
          <a:ln w="3175">
            <a:solidFill>
              <a:srgbClr val="C9A227"/>
            </a:solidFill>
            <a:prstDash val="solid"/>
          </a:ln>
        </p:spPr>
      </p:sp>
      <p:sp>
        <p:nvSpPr>
          <p:cNvPr id="20" name="Text 18"/>
          <p:cNvSpPr/>
          <p:nvPr/>
        </p:nvSpPr>
        <p:spPr>
          <a:xfrm>
            <a:off x="1399032" y="2458669"/>
            <a:ext cx="4828032"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Projects, then New project. Name it Donna.</a:t>
            </a:r>
            <a:endParaRPr lang="en-US" sz="1400" dirty="0"/>
          </a:p>
        </p:txBody>
      </p:sp>
      <p:sp>
        <p:nvSpPr>
          <p:cNvPr id="21" name="Shape 19"/>
          <p:cNvSpPr/>
          <p:nvPr/>
        </p:nvSpPr>
        <p:spPr>
          <a:xfrm rot="2700000">
            <a:off x="1088136" y="2998165"/>
            <a:ext cx="100584" cy="100584"/>
          </a:xfrm>
          <a:prstGeom prst="rect">
            <a:avLst/>
          </a:prstGeom>
          <a:solidFill>
            <a:srgbClr val="C9A227"/>
          </a:solidFill>
          <a:ln w="3175">
            <a:solidFill>
              <a:srgbClr val="C9A227"/>
            </a:solidFill>
            <a:prstDash val="solid"/>
          </a:ln>
        </p:spPr>
      </p:sp>
      <p:sp>
        <p:nvSpPr>
          <p:cNvPr id="22" name="Text 20"/>
          <p:cNvSpPr/>
          <p:nvPr/>
        </p:nvSpPr>
        <p:spPr>
          <a:xfrm>
            <a:off x="1399032" y="2920441"/>
            <a:ext cx="4828032"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Settings, then Connectors.</a:t>
            </a:r>
            <a:endParaRPr lang="en-US" sz="1400" dirty="0"/>
          </a:p>
        </p:txBody>
      </p:sp>
      <p:sp>
        <p:nvSpPr>
          <p:cNvPr id="23" name="Shape 21"/>
          <p:cNvSpPr/>
          <p:nvPr/>
        </p:nvSpPr>
        <p:spPr>
          <a:xfrm rot="2700000">
            <a:off x="1088136" y="3459937"/>
            <a:ext cx="100584" cy="100584"/>
          </a:xfrm>
          <a:prstGeom prst="rect">
            <a:avLst/>
          </a:prstGeom>
          <a:solidFill>
            <a:srgbClr val="C9A227"/>
          </a:solidFill>
          <a:ln w="3175">
            <a:solidFill>
              <a:srgbClr val="C9A227"/>
            </a:solidFill>
            <a:prstDash val="solid"/>
          </a:ln>
        </p:spPr>
      </p:sp>
      <p:sp>
        <p:nvSpPr>
          <p:cNvPr id="24" name="Text 22"/>
          <p:cNvSpPr/>
          <p:nvPr/>
        </p:nvSpPr>
        <p:spPr>
          <a:xfrm>
            <a:off x="1399032" y="3382213"/>
            <a:ext cx="4828032"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Connect Gmail, Calendar, and Drive. All three, now.</a:t>
            </a:r>
            <a:endParaRPr lang="en-US" sz="1400" dirty="0"/>
          </a:p>
        </p:txBody>
      </p:sp>
      <p:sp>
        <p:nvSpPr>
          <p:cNvPr id="25" name="Text 23"/>
          <p:cNvSpPr/>
          <p:nvPr/>
        </p:nvSpPr>
        <p:spPr>
          <a:xfrm>
            <a:off x="813816" y="3640531"/>
            <a:ext cx="5687568" cy="274320"/>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Outlook: Microsoft 365 covers mail, calendar, and files in one.</a:t>
            </a:r>
            <a:endParaRPr lang="en-US" sz="1200" dirty="0"/>
          </a:p>
        </p:txBody>
      </p:sp>
      <p:sp>
        <p:nvSpPr>
          <p:cNvPr id="26" name="Shape 24"/>
          <p:cNvSpPr/>
          <p:nvPr/>
        </p:nvSpPr>
        <p:spPr>
          <a:xfrm>
            <a:off x="6903720" y="1775155"/>
            <a:ext cx="4480560" cy="1239012"/>
          </a:xfrm>
          <a:prstGeom prst="rect">
            <a:avLst/>
          </a:prstGeom>
          <a:solidFill>
            <a:srgbClr val="14213D"/>
          </a:solidFill>
          <a:ln/>
        </p:spPr>
      </p:sp>
      <p:sp>
        <p:nvSpPr>
          <p:cNvPr id="27" name="Text 25"/>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28" name="Text 26"/>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 hours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that actually needs ME? Top 5, one line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each.</a:t>
            </a:r>
            <a:endParaRPr lang="en-US" sz="1200" dirty="0"/>
          </a:p>
        </p:txBody>
      </p:sp>
      <p:sp>
        <p:nvSpPr>
          <p:cNvPr id="29" name="Shape 27"/>
          <p:cNvSpPr/>
          <p:nvPr/>
        </p:nvSpPr>
        <p:spPr>
          <a:xfrm>
            <a:off x="6903720" y="3233623"/>
            <a:ext cx="4480560" cy="1239012"/>
          </a:xfrm>
          <a:prstGeom prst="rect">
            <a:avLst/>
          </a:prstGeom>
          <a:solidFill>
            <a:srgbClr val="14213D"/>
          </a:solidFill>
          <a:ln/>
        </p:spPr>
      </p:sp>
      <p:sp>
        <p:nvSpPr>
          <p:cNvPr id="30" name="Text 28"/>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1" name="Text 29"/>
          <p:cNvSpPr/>
          <p:nvPr/>
        </p:nvSpPr>
        <p:spPr>
          <a:xfrm>
            <a:off x="7159752" y="3690823"/>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 email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so I can review it there. Do not 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6" name="Shape 14"/>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7" name="Text 15"/>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8" name="Text 16"/>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C9A227"/>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14213D"/>
          </a:solidFill>
          <a:ln w="9525">
            <a:solidFill>
              <a:srgbClr val="C9A227"/>
            </a:solidFill>
            <a:prstDash val="solid"/>
          </a:ln>
        </p:spPr>
      </p:sp>
      <p:sp>
        <p:nvSpPr>
          <p:cNvPr id="13" name="Text 11"/>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Teach her your rules once, and never explain them again.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15</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PROJECT INSTRUCTIONS · FILL 4 BLANKS</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You are Donna, my inbox triage assistant.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When I say "triage my inbox":</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Review my inbox (default: the last 24 hours).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Sort every thread into three buckets: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RED, NEEDS ME - my VIPs, plus my #1 project: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3-5 NAMES + EMAILS] . [ADD YOUR #1 DEAL]</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YELLOW, DELEGATE - work my team owns: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1-3 DELEGATES + LANES, e.g. "Sam: billing"]</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GRAY, IGNORE - newsletters, cold outreach, noise.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Show me ONE table: sender, subject, bucket,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next move.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Draft replies for REDs (my voice: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 WORDS]</a:t>
            </a:r>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handoff notes for YELLOWs. Save to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send anything. Never delete. Drafts only.</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BLANKS</a:t>
            </a:r>
            <a:endParaRPr lang="en-US" sz="1300" dirty="0"/>
          </a:p>
        </p:txBody>
      </p:sp>
      <p:sp>
        <p:nvSpPr>
          <p:cNvPr id="21" name="Shape 19"/>
          <p:cNvSpPr/>
          <p:nvPr/>
        </p:nvSpPr>
        <p:spPr>
          <a:xfrm rot="2700000">
            <a:off x="7854696" y="2268931"/>
            <a:ext cx="100584" cy="100584"/>
          </a:xfrm>
          <a:prstGeom prst="rect">
            <a:avLst/>
          </a:prstGeom>
          <a:solidFill>
            <a:srgbClr val="C9A227"/>
          </a:solidFill>
          <a:ln w="3175">
            <a:solidFill>
              <a:srgbClr val="C9A227"/>
            </a:solidFill>
            <a:prstDash val="solid"/>
          </a:ln>
        </p:spPr>
      </p:sp>
      <p:sp>
        <p:nvSpPr>
          <p:cNvPr id="22" name="Text 20"/>
          <p:cNvSpPr/>
          <p:nvPr/>
        </p:nvSpPr>
        <p:spPr>
          <a:xfrm>
            <a:off x="8165592" y="2214067"/>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always-red list</a:t>
            </a:r>
            <a:endParaRPr lang="en-US" sz="1400" dirty="0"/>
          </a:p>
        </p:txBody>
      </p:sp>
      <p:sp>
        <p:nvSpPr>
          <p:cNvPr id="23" name="Text 21"/>
          <p:cNvSpPr/>
          <p:nvPr/>
        </p:nvSpPr>
        <p:spPr>
          <a:xfrm>
            <a:off x="8165592" y="2529535"/>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people who jump every queue</a:t>
            </a:r>
            <a:endParaRPr lang="en-US" sz="1200" dirty="0"/>
          </a:p>
        </p:txBody>
      </p:sp>
      <p:sp>
        <p:nvSpPr>
          <p:cNvPr id="24" name="Shape 22"/>
          <p:cNvSpPr/>
          <p:nvPr/>
        </p:nvSpPr>
        <p:spPr>
          <a:xfrm rot="2700000">
            <a:off x="7854696" y="3050743"/>
            <a:ext cx="100584" cy="100584"/>
          </a:xfrm>
          <a:prstGeom prst="rect">
            <a:avLst/>
          </a:prstGeom>
          <a:solidFill>
            <a:srgbClr val="C9A227"/>
          </a:solidFill>
          <a:ln w="3175">
            <a:solidFill>
              <a:srgbClr val="C9A227"/>
            </a:solidFill>
            <a:prstDash val="solid"/>
          </a:ln>
        </p:spPr>
      </p:sp>
      <p:sp>
        <p:nvSpPr>
          <p:cNvPr id="25" name="Text 23"/>
          <p:cNvSpPr/>
          <p:nvPr/>
        </p:nvSpPr>
        <p:spPr>
          <a:xfrm>
            <a:off x="8165592" y="2995879"/>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#1 deal</a:t>
            </a:r>
            <a:endParaRPr lang="en-US" sz="1400" dirty="0"/>
          </a:p>
        </p:txBody>
      </p:sp>
      <p:sp>
        <p:nvSpPr>
          <p:cNvPr id="26" name="Text 24"/>
          <p:cNvSpPr/>
          <p:nvPr/>
        </p:nvSpPr>
        <p:spPr>
          <a:xfrm>
            <a:off x="8165592" y="3311347"/>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one project that is always urgent</a:t>
            </a:r>
            <a:endParaRPr lang="en-US" sz="1200" dirty="0"/>
          </a:p>
        </p:txBody>
      </p:sp>
      <p:sp>
        <p:nvSpPr>
          <p:cNvPr id="27" name="Shape 25"/>
          <p:cNvSpPr/>
          <p:nvPr/>
        </p:nvSpPr>
        <p:spPr>
          <a:xfrm rot="2700000">
            <a:off x="7854696" y="3832555"/>
            <a:ext cx="100584" cy="100584"/>
          </a:xfrm>
          <a:prstGeom prst="rect">
            <a:avLst/>
          </a:prstGeom>
          <a:solidFill>
            <a:srgbClr val="C9A227"/>
          </a:solidFill>
          <a:ln w="3175">
            <a:solidFill>
              <a:srgbClr val="C9A227"/>
            </a:solidFill>
            <a:prstDash val="solid"/>
          </a:ln>
        </p:spPr>
      </p:sp>
      <p:sp>
        <p:nvSpPr>
          <p:cNvPr id="28" name="Text 26"/>
          <p:cNvSpPr/>
          <p:nvPr/>
        </p:nvSpPr>
        <p:spPr>
          <a:xfrm>
            <a:off x="8165592" y="3777691"/>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delegates and lanes</a:t>
            </a:r>
            <a:endParaRPr lang="en-US" sz="1400" dirty="0"/>
          </a:p>
        </p:txBody>
      </p:sp>
      <p:sp>
        <p:nvSpPr>
          <p:cNvPr id="29" name="Text 27"/>
          <p:cNvSpPr/>
          <p:nvPr/>
        </p:nvSpPr>
        <p:spPr>
          <a:xfrm>
            <a:off x="8165592" y="4093159"/>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people, and what each owns</a:t>
            </a:r>
            <a:endParaRPr lang="en-US" sz="1200" dirty="0"/>
          </a:p>
        </p:txBody>
      </p:sp>
      <p:sp>
        <p:nvSpPr>
          <p:cNvPr id="30" name="Shape 28"/>
          <p:cNvSpPr/>
          <p:nvPr/>
        </p:nvSpPr>
        <p:spPr>
          <a:xfrm rot="2700000">
            <a:off x="7854696" y="4614367"/>
            <a:ext cx="100584" cy="100584"/>
          </a:xfrm>
          <a:prstGeom prst="rect">
            <a:avLst/>
          </a:prstGeom>
          <a:solidFill>
            <a:srgbClr val="C9A227"/>
          </a:solidFill>
          <a:ln w="3175">
            <a:solidFill>
              <a:srgbClr val="C9A227"/>
            </a:solidFill>
            <a:prstDash val="solid"/>
          </a:ln>
        </p:spPr>
      </p:sp>
      <p:sp>
        <p:nvSpPr>
          <p:cNvPr id="31" name="Text 29"/>
          <p:cNvSpPr/>
          <p:nvPr/>
        </p:nvSpPr>
        <p:spPr>
          <a:xfrm>
            <a:off x="8165592" y="4559503"/>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voice, in 3 words</a:t>
            </a:r>
            <a:endParaRPr lang="en-US" sz="1400" dirty="0"/>
          </a:p>
        </p:txBody>
      </p:sp>
      <p:sp>
        <p:nvSpPr>
          <p:cNvPr id="32" name="Text 30"/>
          <p:cNvSpPr/>
          <p:nvPr/>
        </p:nvSpPr>
        <p:spPr>
          <a:xfrm>
            <a:off x="8165592" y="4874971"/>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warm, brief, decisive is a fine start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6" name="Text 14"/>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7" name="Shape 15"/>
          <p:cNvSpPr/>
          <p:nvPr/>
        </p:nvSpPr>
        <p:spPr>
          <a:xfrm>
            <a:off x="3352648" y="3813658"/>
            <a:ext cx="5486400" cy="864108"/>
          </a:xfrm>
          <a:prstGeom prst="rect">
            <a:avLst/>
          </a:prstGeom>
          <a:solidFill>
            <a:srgbClr val="1C2333"/>
          </a:solidFill>
          <a:ln/>
        </p:spPr>
      </p:sp>
      <p:sp>
        <p:nvSpPr>
          <p:cNvPr id="18" name="Text 16"/>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9" name="Text 17"/>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20" name="Text 18"/>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Shape 6"/>
          <p:cNvSpPr/>
          <p:nvPr/>
        </p:nvSpPr>
        <p:spPr>
          <a:xfrm>
            <a:off x="10954512" y="402336"/>
            <a:ext cx="402336" cy="402336"/>
          </a:xfrm>
          <a:prstGeom prst="ellipse">
            <a:avLst/>
          </a:prstGeom>
          <a:ln w="9525">
            <a:solidFill>
              <a:srgbClr val="C9A227"/>
            </a:solidFill>
            <a:prstDash val="solid"/>
          </a:ln>
        </p:spPr>
      </p:sp>
      <p:sp>
        <p:nvSpPr>
          <p:cNvPr id="9" name="Shape 7"/>
          <p:cNvSpPr/>
          <p:nvPr/>
        </p:nvSpPr>
        <p:spPr>
          <a:xfrm>
            <a:off x="11098530" y="345186"/>
            <a:ext cx="114300" cy="114300"/>
          </a:xfrm>
          <a:prstGeom prst="ellipse">
            <a:avLst/>
          </a:prstGeom>
          <a:solidFill>
            <a:srgbClr val="14213D"/>
          </a:solidFill>
          <a:ln w="9525">
            <a:solidFill>
              <a:srgbClr val="C9A227"/>
            </a:solidFill>
            <a:prstDash val="solid"/>
          </a:ln>
        </p:spPr>
      </p:sp>
      <p:sp>
        <p:nvSpPr>
          <p:cNvPr id="10" name="Shape 8"/>
          <p:cNvSpPr/>
          <p:nvPr/>
        </p:nvSpPr>
        <p:spPr>
          <a:xfrm>
            <a:off x="11299698" y="546354"/>
            <a:ext cx="114300" cy="114300"/>
          </a:xfrm>
          <a:prstGeom prst="ellipse">
            <a:avLst/>
          </a:prstGeom>
          <a:solidFill>
            <a:srgbClr val="14213D"/>
          </a:solidFill>
          <a:ln w="9525">
            <a:solidFill>
              <a:srgbClr val="C9A227"/>
            </a:solidFill>
            <a:prstDash val="solid"/>
          </a:ln>
        </p:spPr>
      </p:sp>
      <p:sp>
        <p:nvSpPr>
          <p:cNvPr id="11" name="Shape 9"/>
          <p:cNvSpPr/>
          <p:nvPr/>
        </p:nvSpPr>
        <p:spPr>
          <a:xfrm>
            <a:off x="11098530" y="747522"/>
            <a:ext cx="114300" cy="114300"/>
          </a:xfrm>
          <a:prstGeom prst="ellipse">
            <a:avLst/>
          </a:prstGeom>
          <a:solidFill>
            <a:srgbClr val="14213D"/>
          </a:solidFill>
          <a:ln w="9525">
            <a:solidFill>
              <a:srgbClr val="C9A227"/>
            </a:solidFill>
            <a:prstDash val="solid"/>
          </a:ln>
        </p:spPr>
      </p:sp>
      <p:sp>
        <p:nvSpPr>
          <p:cNvPr id="12" name="Shape 10"/>
          <p:cNvSpPr/>
          <p:nvPr/>
        </p:nvSpPr>
        <p:spPr>
          <a:xfrm>
            <a:off x="10897362" y="546354"/>
            <a:ext cx="114300" cy="114300"/>
          </a:xfrm>
          <a:prstGeom prst="ellipse">
            <a:avLst/>
          </a:prstGeom>
          <a:solidFill>
            <a:srgbClr val="C9A227"/>
          </a:solidFill>
          <a:ln w="9525">
            <a:solidFill>
              <a:srgbClr val="C9A227"/>
            </a:solidFill>
            <a:prstDash val="solid"/>
          </a:ln>
        </p:spPr>
      </p:sp>
      <p:sp>
        <p:nvSpPr>
          <p:cNvPr id="13" name="Text 11"/>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OPERATE</a:t>
            </a:r>
            <a:endParaRPr lang="en-US" sz="700" dirty="0"/>
          </a:p>
        </p:txBody>
      </p:sp>
      <p:sp>
        <p:nvSpPr>
          <p:cNvPr id="14" name="Text 12"/>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a:t>
            </a:r>
            <a:endParaRPr lang="en-US" sz="1400" dirty="0"/>
          </a:p>
        </p:txBody>
      </p:sp>
      <p:sp>
        <p:nvSpPr>
          <p:cNvPr id="15" name="Text 13"/>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6" name="Text 14"/>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a:t>
            </a:r>
            <a:endParaRPr lang="en-US" sz="4000" dirty="0"/>
          </a:p>
        </p:txBody>
      </p:sp>
      <p:sp>
        <p:nvSpPr>
          <p:cNvPr id="17" name="Shape 15"/>
          <p:cNvSpPr/>
          <p:nvPr/>
        </p:nvSpPr>
        <p:spPr>
          <a:xfrm>
            <a:off x="813816" y="1775155"/>
            <a:ext cx="6675120" cy="1988820"/>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INSIDE YOUR DONNA PROJECT</a:t>
            </a:r>
            <a:endParaRPr lang="en-US" sz="1100" dirty="0"/>
          </a:p>
        </p:txBody>
      </p:sp>
      <p:sp>
        <p:nvSpPr>
          <p:cNvPr id="19" name="Text 17"/>
          <p:cNvSpPr/>
          <p:nvPr/>
        </p:nvSpPr>
        <p:spPr>
          <a:xfrm>
            <a:off x="1069848" y="2232355"/>
            <a:ext cx="6163056" cy="144018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project's triage instructions into</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 reusable skill file called donna-replies.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Use everything you already know from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project: my VIPs, my delegates, my voice,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rules. Include the line "Never send. Never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delete. No exceptions." Then give me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finished SKILL.md as a file I can download.</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1" name="Text 19"/>
          <p:cNvSpPr/>
          <p:nvPr/>
        </p:nvSpPr>
        <p:spPr>
          <a:xfrm>
            <a:off x="785469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2" name="Text 20"/>
          <p:cNvSpPr/>
          <p:nvPr/>
        </p:nvSpPr>
        <p:spPr>
          <a:xfrm>
            <a:off x="8311896" y="2268931"/>
            <a:ext cx="307238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She writes the file.</a:t>
            </a:r>
            <a:endParaRPr lang="en-US" sz="1500" dirty="0"/>
          </a:p>
        </p:txBody>
      </p:sp>
      <p:sp>
        <p:nvSpPr>
          <p:cNvPr id="23" name="Text 21"/>
          <p:cNvSpPr/>
          <p:nvPr/>
        </p:nvSpPr>
        <p:spPr>
          <a:xfrm>
            <a:off x="7854696" y="2936443"/>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4" name="Text 22"/>
          <p:cNvSpPr/>
          <p:nvPr/>
        </p:nvSpPr>
        <p:spPr>
          <a:xfrm>
            <a:off x="8311896" y="2963875"/>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You download it. The file card has a download arrow.</a:t>
            </a:r>
            <a:endParaRPr lang="en-US" sz="1500" dirty="0"/>
          </a:p>
        </p:txBody>
      </p:sp>
      <p:sp>
        <p:nvSpPr>
          <p:cNvPr id="25" name="Text 23"/>
          <p:cNvSpPr/>
          <p:nvPr/>
        </p:nvSpPr>
        <p:spPr>
          <a:xfrm>
            <a:off x="7854696" y="385541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6" name="Text 24"/>
          <p:cNvSpPr/>
          <p:nvPr/>
        </p:nvSpPr>
        <p:spPr>
          <a:xfrm>
            <a:off x="8311896" y="3882847"/>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Cowork, then Skills, then Add skill, then upload it.</a:t>
            </a:r>
            <a:endParaRPr lang="en-US" sz="1500" dirty="0"/>
          </a:p>
        </p:txBody>
      </p:sp>
      <p:sp>
        <p:nvSpPr>
          <p:cNvPr id="27" name="Shape 25"/>
          <p:cNvSpPr/>
          <p:nvPr/>
        </p:nvSpPr>
        <p:spPr>
          <a:xfrm>
            <a:off x="813816" y="4443984"/>
            <a:ext cx="6675120" cy="982980"/>
          </a:xfrm>
          <a:prstGeom prst="rect">
            <a:avLst/>
          </a:prstGeom>
          <a:solidFill>
            <a:srgbClr val="E8E2D2"/>
          </a:solidFill>
          <a:ln/>
        </p:spPr>
      </p:sp>
      <p:sp>
        <p:nvSpPr>
          <p:cNvPr id="28" name="Shape 26"/>
          <p:cNvSpPr/>
          <p:nvPr/>
        </p:nvSpPr>
        <p:spPr>
          <a:xfrm rot="2700000">
            <a:off x="1051560" y="4759452"/>
            <a:ext cx="100584" cy="100584"/>
          </a:xfrm>
          <a:prstGeom prst="rect">
            <a:avLst/>
          </a:prstGeom>
          <a:solidFill>
            <a:srgbClr val="C9A227"/>
          </a:solidFill>
          <a:ln w="3175">
            <a:solidFill>
              <a:srgbClr val="C9A227"/>
            </a:solidFill>
            <a:prstDash val="solid"/>
          </a:ln>
        </p:spPr>
      </p:sp>
      <p:sp>
        <p:nvSpPr>
          <p:cNvPr id="29" name="Text 27"/>
          <p:cNvSpPr/>
          <p:nvPr/>
        </p:nvSpPr>
        <p:spPr>
          <a:xfrm>
            <a:off x="1362456" y="4681728"/>
            <a:ext cx="588873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donna-replies in your Cowork skills list before anyone touches scheduled tasks.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31621"/>
        </a:solidFill>
      </p:bgPr>
    </p:bg>
    <p:spTree>
      <p:nvGrpSpPr>
        <p:cNvPr id="1" name=""/>
        <p:cNvGrpSpPr/>
        <p:nvPr/>
      </p:nvGrpSpPr>
      <p:grpSpPr>
        <a:xfrm>
          <a:off x="0" y="0"/>
          <a:ext cx="0" cy="0"/>
          <a:chOff x="0" y="0"/>
          <a:chExt cx="0" cy="0"/>
        </a:xfrm>
      </p:grpSpPr>
      <p:sp>
        <p:nvSpPr>
          <p:cNvPr id="2" name="Shape 0"/>
          <p:cNvSpPr/>
          <p:nvPr/>
        </p:nvSpPr>
        <p:spPr>
          <a:xfrm>
            <a:off x="10954512" y="402336"/>
            <a:ext cx="402336" cy="402336"/>
          </a:xfrm>
          <a:prstGeom prst="ellipse">
            <a:avLst/>
          </a:prstGeom>
          <a:ln w="9525">
            <a:solidFill>
              <a:srgbClr val="FFFFFF"/>
            </a:solidFill>
            <a:prstDash val="solid"/>
          </a:ln>
        </p:spPr>
      </p:sp>
      <p:sp>
        <p:nvSpPr>
          <p:cNvPr id="3" name="Shape 1"/>
          <p:cNvSpPr/>
          <p:nvPr/>
        </p:nvSpPr>
        <p:spPr>
          <a:xfrm>
            <a:off x="11098530" y="345186"/>
            <a:ext cx="114300" cy="114300"/>
          </a:xfrm>
          <a:prstGeom prst="ellipse">
            <a:avLst/>
          </a:prstGeom>
          <a:solidFill>
            <a:srgbClr val="A31621"/>
          </a:solidFill>
          <a:ln w="9525">
            <a:solidFill>
              <a:srgbClr val="FFFFFF"/>
            </a:solidFill>
            <a:prstDash val="solid"/>
          </a:ln>
        </p:spPr>
      </p:sp>
      <p:sp>
        <p:nvSpPr>
          <p:cNvPr id="4" name="Shape 2"/>
          <p:cNvSpPr/>
          <p:nvPr/>
        </p:nvSpPr>
        <p:spPr>
          <a:xfrm>
            <a:off x="11299698" y="546354"/>
            <a:ext cx="114300" cy="114300"/>
          </a:xfrm>
          <a:prstGeom prst="ellipse">
            <a:avLst/>
          </a:prstGeom>
          <a:solidFill>
            <a:srgbClr val="A31621"/>
          </a:solidFill>
          <a:ln w="9525">
            <a:solidFill>
              <a:srgbClr val="FFFFFF"/>
            </a:solidFill>
            <a:prstDash val="solid"/>
          </a:ln>
        </p:spPr>
      </p:sp>
      <p:sp>
        <p:nvSpPr>
          <p:cNvPr id="5" name="Shape 3"/>
          <p:cNvSpPr/>
          <p:nvPr/>
        </p:nvSpPr>
        <p:spPr>
          <a:xfrm>
            <a:off x="11098530" y="747522"/>
            <a:ext cx="114300" cy="114300"/>
          </a:xfrm>
          <a:prstGeom prst="ellipse">
            <a:avLst/>
          </a:prstGeom>
          <a:solidFill>
            <a:srgbClr val="A31621"/>
          </a:solidFill>
          <a:ln w="9525">
            <a:solidFill>
              <a:srgbClr val="FFFFFF"/>
            </a:solidFill>
            <a:prstDash val="solid"/>
          </a:ln>
        </p:spPr>
      </p:sp>
      <p:sp>
        <p:nvSpPr>
          <p:cNvPr id="6" name="Shape 4"/>
          <p:cNvSpPr/>
          <p:nvPr/>
        </p:nvSpPr>
        <p:spPr>
          <a:xfrm>
            <a:off x="10897362" y="546354"/>
            <a:ext cx="114300" cy="114300"/>
          </a:xfrm>
          <a:prstGeom prst="ellipse">
            <a:avLst/>
          </a:prstGeom>
          <a:solidFill>
            <a:srgbClr val="FFFFFF"/>
          </a:solidFill>
          <a:ln w="9525">
            <a:solidFill>
              <a:srgbClr val="FFFFFF"/>
            </a:solidFill>
            <a:prstDash val="solid"/>
          </a:ln>
        </p:spPr>
      </p:sp>
      <p:sp>
        <p:nvSpPr>
          <p:cNvPr id="7" name="Text 5"/>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FFFFFF"/>
                </a:solidFill>
                <a:latin typeface="Arial" pitchFamily="34" charset="0"/>
                <a:ea typeface="Arial" pitchFamily="34" charset="-122"/>
                <a:cs typeface="Arial" pitchFamily="34" charset="-120"/>
              </a:rPr>
              <a:t>OPERATE</a:t>
            </a:r>
            <a:endParaRPr lang="en-US" sz="700" dirty="0"/>
          </a:p>
        </p:txBody>
      </p:sp>
      <p:sp>
        <p:nvSpPr>
          <p:cNvPr id="8" name="Shape 6"/>
          <p:cNvSpPr/>
          <p:nvPr/>
        </p:nvSpPr>
        <p:spPr>
          <a:xfrm rot="2700000">
            <a:off x="6050585" y="1847088"/>
            <a:ext cx="109728" cy="109728"/>
          </a:xfrm>
          <a:prstGeom prst="rect">
            <a:avLst/>
          </a:prstGeom>
          <a:solidFill>
            <a:srgbClr val="FFFFFF"/>
          </a:solidFill>
          <a:ln w="3175">
            <a:solidFill>
              <a:srgbClr val="FFFFFF"/>
            </a:solidFill>
            <a:prstDash val="solid"/>
          </a:ln>
        </p:spPr>
      </p:sp>
      <p:sp>
        <p:nvSpPr>
          <p:cNvPr id="9" name="Text 7"/>
          <p:cNvSpPr/>
          <p:nvPr/>
        </p:nvSpPr>
        <p:spPr>
          <a:xfrm>
            <a:off x="1066648" y="2377440"/>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10" name="Text 8"/>
          <p:cNvSpPr/>
          <p:nvPr/>
        </p:nvSpPr>
        <p:spPr>
          <a:xfrm>
            <a:off x="1737360" y="3796101"/>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Every reply and every handoff note lands in your drafts and waits for your say-so. She never deletes anything either.</a:t>
            </a:r>
            <a:endParaRPr lang="en-US" sz="1500" dirty="0"/>
          </a:p>
        </p:txBody>
      </p:sp>
      <p:sp>
        <p:nvSpPr>
          <p:cNvPr id="11" name="Text 9"/>
          <p:cNvSpPr/>
          <p:nvPr/>
        </p:nvSpPr>
        <p:spPr>
          <a:xfrm>
            <a:off x="1737360" y="4381317"/>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Never delete. No exceptions.”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EVENING SHIFT</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COWORK · SCHEDULED TASKS · NEW TASK</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use my donna-replies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red replies and yellow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handoffs to my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Write my Daily Briefing doc, "Daily Briefing:</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[today’s date]":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5 things that need ME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replies you drafted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what you ignored and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my first meeting tomorrow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Save it to my Drive in a folder "Donna Briefings".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Create a calendar event today 4:55-5:00 PM,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"Briefing with Donna", doc link in the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reminder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for today RIGHT NOW.</a:t>
            </a:r>
            <a:endParaRPr lang="en-US" sz="1200" dirty="0"/>
          </a:p>
        </p:txBody>
      </p:sp>
      <p:sp>
        <p:nvSpPr>
          <p:cNvPr id="20" name="Text 18"/>
          <p:cNvSpPr/>
          <p:nvPr/>
        </p:nvSpPr>
        <p:spPr>
          <a:xfrm>
            <a:off x="7854696" y="1848307"/>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4:30</a:t>
            </a:r>
            <a:endParaRPr lang="en-US" sz="2800" dirty="0"/>
          </a:p>
        </p:txBody>
      </p:sp>
      <p:sp>
        <p:nvSpPr>
          <p:cNvPr id="21" name="Text 19"/>
          <p:cNvSpPr/>
          <p:nvPr/>
        </p:nvSpPr>
        <p:spPr>
          <a:xfrm>
            <a:off x="9134856" y="1848307"/>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2" name="Text 20"/>
          <p:cNvSpPr/>
          <p:nvPr/>
        </p:nvSpPr>
        <p:spPr>
          <a:xfrm>
            <a:off x="7854696" y="2360371"/>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4:54</a:t>
            </a:r>
            <a:endParaRPr lang="en-US" sz="2800" dirty="0"/>
          </a:p>
        </p:txBody>
      </p:sp>
      <p:sp>
        <p:nvSpPr>
          <p:cNvPr id="23" name="Text 21"/>
          <p:cNvSpPr/>
          <p:nvPr/>
        </p:nvSpPr>
        <p:spPr>
          <a:xfrm>
            <a:off x="9134856" y="2360371"/>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you are notified</a:t>
            </a:r>
            <a:endParaRPr lang="en-US" sz="1300" dirty="0"/>
          </a:p>
        </p:txBody>
      </p:sp>
      <p:sp>
        <p:nvSpPr>
          <p:cNvPr id="24" name="Text 22"/>
          <p:cNvSpPr/>
          <p:nvPr/>
        </p:nvSpPr>
        <p:spPr>
          <a:xfrm>
            <a:off x="7854696" y="2872435"/>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4:55</a:t>
            </a:r>
            <a:endParaRPr lang="en-US" sz="2800" dirty="0"/>
          </a:p>
        </p:txBody>
      </p:sp>
      <p:sp>
        <p:nvSpPr>
          <p:cNvPr id="25" name="Text 23"/>
          <p:cNvSpPr/>
          <p:nvPr/>
        </p:nvSpPr>
        <p:spPr>
          <a:xfrm>
            <a:off x="9134856" y="2872435"/>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a five-minute read</a:t>
            </a:r>
            <a:endParaRPr lang="en-US" sz="1300" dirty="0"/>
          </a:p>
        </p:txBody>
      </p:sp>
      <p:sp>
        <p:nvSpPr>
          <p:cNvPr id="26" name="Shape 24"/>
          <p:cNvSpPr/>
          <p:nvPr/>
        </p:nvSpPr>
        <p:spPr>
          <a:xfrm>
            <a:off x="7854696" y="3512515"/>
            <a:ext cx="3529584" cy="2084832"/>
          </a:xfrm>
          <a:prstGeom prst="rect">
            <a:avLst/>
          </a:prstGeom>
          <a:solidFill>
            <a:srgbClr val="E8E2D2"/>
          </a:solidFill>
          <a:ln/>
        </p:spPr>
      </p:sp>
      <p:sp>
        <p:nvSpPr>
          <p:cNvPr id="27" name="Text 25"/>
          <p:cNvSpPr/>
          <p:nvPr/>
        </p:nvSpPr>
        <p:spPr>
          <a:xfrm>
            <a:off x="8074152" y="3731971"/>
            <a:ext cx="30906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GMAIL VS OUTLOOK</a:t>
            </a:r>
            <a:endParaRPr lang="en-US" sz="1200" dirty="0"/>
          </a:p>
        </p:txBody>
      </p:sp>
      <p:sp>
        <p:nvSpPr>
          <p:cNvPr id="28" name="Shape 26"/>
          <p:cNvSpPr/>
          <p:nvPr/>
        </p:nvSpPr>
        <p:spPr>
          <a:xfrm rot="2700000">
            <a:off x="8074152" y="4202887"/>
            <a:ext cx="100584" cy="100584"/>
          </a:xfrm>
          <a:prstGeom prst="rect">
            <a:avLst/>
          </a:prstGeom>
          <a:solidFill>
            <a:srgbClr val="C9A227"/>
          </a:solidFill>
          <a:ln w="3175">
            <a:solidFill>
              <a:srgbClr val="C9A227"/>
            </a:solidFill>
            <a:prstDash val="solid"/>
          </a:ln>
        </p:spPr>
      </p:sp>
      <p:sp>
        <p:nvSpPr>
          <p:cNvPr id="29" name="Text 27"/>
          <p:cNvSpPr/>
          <p:nvPr/>
        </p:nvSpPr>
        <p:spPr>
          <a:xfrm>
            <a:off x="8385048" y="4125163"/>
            <a:ext cx="2779776"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Google Calendar sends a true email reminder one minute before.</a:t>
            </a:r>
            <a:endParaRPr lang="en-US" sz="1200" dirty="0"/>
          </a:p>
        </p:txBody>
      </p:sp>
      <p:sp>
        <p:nvSpPr>
          <p:cNvPr id="30" name="Shape 28"/>
          <p:cNvSpPr/>
          <p:nvPr/>
        </p:nvSpPr>
        <p:spPr>
          <a:xfrm rot="2700000">
            <a:off x="8074152" y="4788103"/>
            <a:ext cx="100584" cy="100584"/>
          </a:xfrm>
          <a:prstGeom prst="rect">
            <a:avLst/>
          </a:prstGeom>
          <a:solidFill>
            <a:srgbClr val="C9A227"/>
          </a:solidFill>
          <a:ln w="3175">
            <a:solidFill>
              <a:srgbClr val="C9A227"/>
            </a:solidFill>
            <a:prstDash val="solid"/>
          </a:ln>
        </p:spPr>
      </p:sp>
      <p:sp>
        <p:nvSpPr>
          <p:cNvPr id="31" name="Text 29"/>
          <p:cNvSpPr/>
          <p:nvPr/>
        </p:nvSpPr>
        <p:spPr>
          <a:xfrm>
            <a:off x="8385048" y="4710379"/>
            <a:ext cx="2779776"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Microsoft 365 sends a calendar notification. Both get the 4:54 nudge.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10332720" y="841248"/>
            <a:ext cx="164592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THE DRY RUN</a:t>
            </a:r>
            <a:endParaRPr lang="en-US" sz="1200" dirty="0"/>
          </a:p>
        </p:txBody>
      </p:sp>
      <p:sp>
        <p:nvSpPr>
          <p:cNvPr id="16" name="Text 14"/>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4:54 PM</a:t>
            </a:r>
            <a:endParaRPr lang="en-US" sz="7200" dirty="0"/>
          </a:p>
        </p:txBody>
      </p:sp>
      <p:sp>
        <p:nvSpPr>
          <p:cNvPr id="17" name="Text 15"/>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briefing arrives before you leave the room.</a:t>
            </a:r>
            <a:endParaRPr lang="en-US" sz="3200" dirty="0"/>
          </a:p>
        </p:txBody>
      </p:sp>
      <p:sp>
        <p:nvSpPr>
          <p:cNvPr id="18" name="Text 16"/>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briefing lands from a sender you already trust.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Four stations lit. That is the flywheel, running on your inbox.</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9" name="Text 7"/>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10" name="Text 8"/>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automated a workflow today by writing plain English. Rules became a project, the project became a skill, and the skill got a schedule.</a:t>
            </a:r>
            <a:endParaRPr lang="en-US" sz="1500" dirty="0"/>
          </a:p>
        </p:txBody>
      </p:sp>
      <p:sp>
        <p:nvSpPr>
          <p:cNvPr id="11" name="Text 9"/>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flywheel runs any workflow you can describe in words.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ONE</a:t>
            </a:r>
            <a:endParaRPr lang="en-US" sz="1200" dirty="0"/>
          </a:p>
        </p:txBody>
      </p:sp>
      <p:sp>
        <p:nvSpPr>
          <p:cNvPr id="10" name="Text 8"/>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How did your quadrant experience that?</a:t>
            </a:r>
            <a:endParaRPr lang="en-US" sz="3400" dirty="0"/>
          </a:p>
        </p:txBody>
      </p:sp>
      <p:sp>
        <p:nvSpPr>
          <p:cNvPr id="11" name="Shape 9"/>
          <p:cNvSpPr/>
          <p:nvPr/>
        </p:nvSpPr>
        <p:spPr>
          <a:xfrm>
            <a:off x="813816" y="1751015"/>
            <a:ext cx="5102352" cy="1371600"/>
          </a:xfrm>
          <a:prstGeom prst="rect">
            <a:avLst/>
          </a:prstGeom>
          <a:solidFill>
            <a:srgbClr val="E8E2D2"/>
          </a:solidFill>
          <a:ln/>
        </p:spPr>
      </p:sp>
      <p:sp>
        <p:nvSpPr>
          <p:cNvPr id="12" name="Text 10"/>
          <p:cNvSpPr/>
          <p:nvPr/>
        </p:nvSpPr>
        <p:spPr>
          <a:xfrm>
            <a:off x="1088136"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ACCURACY</a:t>
            </a:r>
            <a:endParaRPr lang="en-US" sz="1500" dirty="0"/>
          </a:p>
        </p:txBody>
      </p:sp>
      <p:sp>
        <p:nvSpPr>
          <p:cNvPr id="13" name="Text 11"/>
          <p:cNvSpPr/>
          <p:nvPr/>
        </p:nvSpPr>
        <p:spPr>
          <a:xfrm>
            <a:off x="1088136"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you find the non-determinism, and what would you make it prove before you trusted it?</a:t>
            </a:r>
            <a:endParaRPr lang="en-US" sz="1400" dirty="0"/>
          </a:p>
        </p:txBody>
      </p:sp>
      <p:sp>
        <p:nvSpPr>
          <p:cNvPr id="14" name="Shape 12"/>
          <p:cNvSpPr/>
          <p:nvPr/>
        </p:nvSpPr>
        <p:spPr>
          <a:xfrm>
            <a:off x="6281928" y="1751015"/>
            <a:ext cx="5102352" cy="1371600"/>
          </a:xfrm>
          <a:prstGeom prst="rect">
            <a:avLst/>
          </a:prstGeom>
          <a:solidFill>
            <a:srgbClr val="E8E2D2"/>
          </a:solidFill>
          <a:ln/>
        </p:spPr>
      </p:sp>
      <p:sp>
        <p:nvSpPr>
          <p:cNvPr id="15" name="Text 13"/>
          <p:cNvSpPr/>
          <p:nvPr/>
        </p:nvSpPr>
        <p:spPr>
          <a:xfrm>
            <a:off x="6556248"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TIME</a:t>
            </a:r>
            <a:endParaRPr lang="en-US" sz="1500" dirty="0"/>
          </a:p>
        </p:txBody>
      </p:sp>
      <p:sp>
        <p:nvSpPr>
          <p:cNvPr id="16" name="Text 14"/>
          <p:cNvSpPr/>
          <p:nvPr/>
        </p:nvSpPr>
        <p:spPr>
          <a:xfrm>
            <a:off x="6556248"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is the job description you just watched someone need, and who is it?</a:t>
            </a:r>
            <a:endParaRPr lang="en-US" sz="1400" dirty="0"/>
          </a:p>
        </p:txBody>
      </p:sp>
      <p:sp>
        <p:nvSpPr>
          <p:cNvPr id="17" name="Shape 15"/>
          <p:cNvSpPr/>
          <p:nvPr/>
        </p:nvSpPr>
        <p:spPr>
          <a:xfrm>
            <a:off x="813816" y="3396935"/>
            <a:ext cx="5102352" cy="1371600"/>
          </a:xfrm>
          <a:prstGeom prst="rect">
            <a:avLst/>
          </a:prstGeom>
          <a:solidFill>
            <a:srgbClr val="E8E2D2"/>
          </a:solidFill>
          <a:ln/>
        </p:spPr>
      </p:sp>
      <p:sp>
        <p:nvSpPr>
          <p:cNvPr id="18" name="Text 16"/>
          <p:cNvSpPr/>
          <p:nvPr/>
        </p:nvSpPr>
        <p:spPr>
          <a:xfrm>
            <a:off x="1088136"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TRUST</a:t>
            </a:r>
            <a:endParaRPr lang="en-US" sz="1500" dirty="0"/>
          </a:p>
        </p:txBody>
      </p:sp>
      <p:sp>
        <p:nvSpPr>
          <p:cNvPr id="19" name="Text 17"/>
          <p:cNvSpPr/>
          <p:nvPr/>
        </p:nvSpPr>
        <p:spPr>
          <a:xfrm>
            <a:off x="1088136"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this get close to a relationship you would not hand over?</a:t>
            </a:r>
            <a:endParaRPr lang="en-US" sz="1400" dirty="0"/>
          </a:p>
        </p:txBody>
      </p:sp>
      <p:sp>
        <p:nvSpPr>
          <p:cNvPr id="20" name="Shape 18"/>
          <p:cNvSpPr/>
          <p:nvPr/>
        </p:nvSpPr>
        <p:spPr>
          <a:xfrm>
            <a:off x="6281928" y="3396935"/>
            <a:ext cx="5102352" cy="1371600"/>
          </a:xfrm>
          <a:prstGeom prst="rect">
            <a:avLst/>
          </a:prstGeom>
          <a:solidFill>
            <a:srgbClr val="E8E2D2"/>
          </a:solidFill>
          <a:ln/>
        </p:spPr>
      </p:sp>
      <p:sp>
        <p:nvSpPr>
          <p:cNvPr id="21" name="Text 19"/>
          <p:cNvSpPr/>
          <p:nvPr/>
        </p:nvSpPr>
        <p:spPr>
          <a:xfrm>
            <a:off x="6556248"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VISION</a:t>
            </a:r>
            <a:endParaRPr lang="en-US" sz="1500" dirty="0"/>
          </a:p>
        </p:txBody>
      </p:sp>
      <p:sp>
        <p:nvSpPr>
          <p:cNvPr id="22" name="Text 20"/>
          <p:cNvSpPr/>
          <p:nvPr/>
        </p:nvSpPr>
        <p:spPr>
          <a:xfrm>
            <a:off x="6556248"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was the second thing on your list before I finished the first step?</a:t>
            </a:r>
            <a:endParaRPr lang="en-US" sz="1400" dirty="0"/>
          </a:p>
        </p:txBody>
      </p:sp>
      <p:sp>
        <p:nvSpPr>
          <p:cNvPr id="23" name="Text 21"/>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Every one of you sat through a different workshop. That is the point.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TWO</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this flywheel turn next?</a:t>
            </a:r>
            <a:endParaRPr lang="en-US" sz="4000" dirty="0"/>
          </a:p>
        </p:txBody>
      </p:sp>
      <p:sp>
        <p:nvSpPr>
          <p:cNvPr id="11" name="Shape 9"/>
          <p:cNvSpPr/>
          <p:nvPr/>
        </p:nvSpPr>
        <p:spPr>
          <a:xfrm>
            <a:off x="1756258" y="2415235"/>
            <a:ext cx="2010461" cy="2010461"/>
          </a:xfrm>
          <a:prstGeom prst="ellipse">
            <a:avLst/>
          </a:prstGeom>
          <a:ln w="12700">
            <a:solidFill>
              <a:srgbClr val="C9A227"/>
            </a:solidFill>
            <a:prstDash val="solid"/>
          </a:ln>
        </p:spPr>
      </p:sp>
      <p:sp>
        <p:nvSpPr>
          <p:cNvPr id="12" name="Shape 10"/>
          <p:cNvSpPr/>
          <p:nvPr/>
        </p:nvSpPr>
        <p:spPr>
          <a:xfrm rot="2700000">
            <a:off x="3412857" y="2650224"/>
            <a:ext cx="118872" cy="118872"/>
          </a:xfrm>
          <a:prstGeom prst="triangle">
            <a:avLst/>
          </a:prstGeom>
          <a:solidFill>
            <a:srgbClr val="C9A227"/>
          </a:solidFill>
          <a:ln/>
        </p:spPr>
      </p:sp>
      <p:sp>
        <p:nvSpPr>
          <p:cNvPr id="13" name="Shape 11"/>
          <p:cNvSpPr/>
          <p:nvPr/>
        </p:nvSpPr>
        <p:spPr>
          <a:xfrm rot="8100000">
            <a:off x="3412857" y="4071835"/>
            <a:ext cx="118872" cy="118872"/>
          </a:xfrm>
          <a:prstGeom prst="triangle">
            <a:avLst/>
          </a:prstGeom>
          <a:solidFill>
            <a:srgbClr val="C9A227"/>
          </a:solidFill>
          <a:ln/>
        </p:spPr>
      </p:sp>
      <p:sp>
        <p:nvSpPr>
          <p:cNvPr id="14" name="Shape 12"/>
          <p:cNvSpPr/>
          <p:nvPr/>
        </p:nvSpPr>
        <p:spPr>
          <a:xfrm rot="13500000">
            <a:off x="1991247" y="4071835"/>
            <a:ext cx="118872" cy="118872"/>
          </a:xfrm>
          <a:prstGeom prst="triangle">
            <a:avLst/>
          </a:prstGeom>
          <a:solidFill>
            <a:srgbClr val="C9A227"/>
          </a:solidFill>
          <a:ln/>
        </p:spPr>
      </p:sp>
      <p:sp>
        <p:nvSpPr>
          <p:cNvPr id="15" name="Shape 13"/>
          <p:cNvSpPr/>
          <p:nvPr/>
        </p:nvSpPr>
        <p:spPr>
          <a:xfrm rot="18900000">
            <a:off x="1991247" y="2650224"/>
            <a:ext cx="118872" cy="118872"/>
          </a:xfrm>
          <a:prstGeom prst="triangle">
            <a:avLst/>
          </a:prstGeom>
          <a:solidFill>
            <a:srgbClr val="C9A227"/>
          </a:solidFill>
          <a:ln/>
        </p:spPr>
      </p:sp>
      <p:sp>
        <p:nvSpPr>
          <p:cNvPr id="16" name="Shape 14"/>
          <p:cNvSpPr/>
          <p:nvPr/>
        </p:nvSpPr>
        <p:spPr>
          <a:xfrm>
            <a:off x="2178454" y="2837432"/>
            <a:ext cx="1166067" cy="1166067"/>
          </a:xfrm>
          <a:prstGeom prst="ellipse">
            <a:avLst/>
          </a:prstGeom>
          <a:solidFill>
            <a:srgbClr val="A31621"/>
          </a:solidFill>
          <a:ln/>
        </p:spPr>
      </p:sp>
      <p:sp>
        <p:nvSpPr>
          <p:cNvPr id="17" name="Text 15"/>
          <p:cNvSpPr/>
          <p:nvPr/>
        </p:nvSpPr>
        <p:spPr>
          <a:xfrm>
            <a:off x="2224174" y="3238856"/>
            <a:ext cx="107462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DOCUMENT</a:t>
            </a:r>
            <a:endParaRPr lang="en-US" sz="1100" dirty="0"/>
          </a:p>
        </p:txBody>
      </p:sp>
      <p:sp>
        <p:nvSpPr>
          <p:cNvPr id="18" name="Shape 16"/>
          <p:cNvSpPr/>
          <p:nvPr/>
        </p:nvSpPr>
        <p:spPr>
          <a:xfrm>
            <a:off x="2542032" y="2195779"/>
            <a:ext cx="438912" cy="438912"/>
          </a:xfrm>
          <a:prstGeom prst="ellipse">
            <a:avLst/>
          </a:prstGeom>
          <a:solidFill>
            <a:srgbClr val="F7F3EA"/>
          </a:solidFill>
          <a:ln w="12700">
            <a:solidFill>
              <a:srgbClr val="C9A227"/>
            </a:solidFill>
            <a:prstDash val="solid"/>
          </a:ln>
        </p:spPr>
      </p:sp>
      <p:sp>
        <p:nvSpPr>
          <p:cNvPr id="19" name="Text 17"/>
          <p:cNvSpPr/>
          <p:nvPr/>
        </p:nvSpPr>
        <p:spPr>
          <a:xfrm>
            <a:off x="2542032"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1975104"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3547262" y="3201010"/>
            <a:ext cx="438912" cy="438912"/>
          </a:xfrm>
          <a:prstGeom prst="ellipse">
            <a:avLst/>
          </a:prstGeom>
          <a:solidFill>
            <a:srgbClr val="F7F3EA"/>
          </a:solidFill>
          <a:ln w="12700">
            <a:solidFill>
              <a:srgbClr val="C9A227"/>
            </a:solidFill>
            <a:prstDash val="solid"/>
          </a:ln>
        </p:spPr>
      </p:sp>
      <p:sp>
        <p:nvSpPr>
          <p:cNvPr id="22" name="Text 20"/>
          <p:cNvSpPr/>
          <p:nvPr/>
        </p:nvSpPr>
        <p:spPr>
          <a:xfrm>
            <a:off x="3547262"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114190" y="329473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2542032" y="4206240"/>
            <a:ext cx="438912" cy="438912"/>
          </a:xfrm>
          <a:prstGeom prst="ellipse">
            <a:avLst/>
          </a:prstGeom>
          <a:solidFill>
            <a:srgbClr val="F7F3EA"/>
          </a:solidFill>
          <a:ln w="12700">
            <a:solidFill>
              <a:srgbClr val="C9A227"/>
            </a:solidFill>
            <a:prstDash val="solid"/>
          </a:ln>
        </p:spPr>
      </p:sp>
      <p:sp>
        <p:nvSpPr>
          <p:cNvPr id="25" name="Text 23"/>
          <p:cNvSpPr/>
          <p:nvPr/>
        </p:nvSpPr>
        <p:spPr>
          <a:xfrm>
            <a:off x="2542032"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1975104"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1536802" y="3201010"/>
            <a:ext cx="438912" cy="438912"/>
          </a:xfrm>
          <a:prstGeom prst="ellipse">
            <a:avLst/>
          </a:prstGeom>
          <a:solidFill>
            <a:srgbClr val="F7F3EA"/>
          </a:solidFill>
          <a:ln w="12700">
            <a:solidFill>
              <a:srgbClr val="C9A227"/>
            </a:solidFill>
            <a:prstDash val="solid"/>
          </a:ln>
        </p:spPr>
      </p:sp>
      <p:sp>
        <p:nvSpPr>
          <p:cNvPr id="28" name="Text 26"/>
          <p:cNvSpPr/>
          <p:nvPr/>
        </p:nvSpPr>
        <p:spPr>
          <a:xfrm>
            <a:off x="1536802"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552298"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Shape 28"/>
          <p:cNvSpPr/>
          <p:nvPr/>
        </p:nvSpPr>
        <p:spPr>
          <a:xfrm>
            <a:off x="5577840" y="1775155"/>
            <a:ext cx="5806440" cy="3200400"/>
          </a:xfrm>
          <a:prstGeom prst="rect">
            <a:avLst/>
          </a:prstGeom>
          <a:solidFill>
            <a:srgbClr val="E8E2D2"/>
          </a:solidFill>
          <a:ln/>
        </p:spPr>
      </p:sp>
      <p:sp>
        <p:nvSpPr>
          <p:cNvPr id="31" name="Shape 29"/>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2" name="Text 30"/>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DOCUMENT: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4" name="Text 32"/>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TEST: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daily that somebody else summarizes for you?</a:t>
            </a:r>
            <a:endParaRPr lang="en-US" sz="1400" dirty="0"/>
          </a:p>
        </p:txBody>
      </p:sp>
      <p:sp>
        <p:nvSpPr>
          <p:cNvPr id="35" name="Shape 33"/>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6" name="Text 34"/>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REVISE: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Which decision waits on you only because the information is scattered?</a:t>
            </a:r>
            <a:endParaRPr lang="en-US" sz="1400" dirty="0"/>
          </a:p>
        </p:txBody>
      </p:sp>
      <p:sp>
        <p:nvSpPr>
          <p:cNvPr id="37" name="Shape 35"/>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8" name="Text 36"/>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OPERATE: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9" name="Text 3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TO DO MONDAY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assignments. One per quadrant.</a:t>
            </a:r>
            <a:endParaRPr lang="en-US" sz="4000" dirty="0"/>
          </a:p>
        </p:txBody>
      </p:sp>
      <p:sp>
        <p:nvSpPr>
          <p:cNvPr id="11" name="Shape 9"/>
          <p:cNvSpPr/>
          <p:nvPr/>
        </p:nvSpPr>
        <p:spPr>
          <a:xfrm>
            <a:off x="813816" y="1811731"/>
            <a:ext cx="5102352" cy="1444752"/>
          </a:xfrm>
          <a:prstGeom prst="rect">
            <a:avLst/>
          </a:prstGeom>
          <a:solidFill>
            <a:srgbClr val="E8E2D2"/>
          </a:solidFill>
          <a:ln/>
        </p:spPr>
      </p:sp>
      <p:sp>
        <p:nvSpPr>
          <p:cNvPr id="12" name="Text 10"/>
          <p:cNvSpPr/>
          <p:nvPr/>
        </p:nvSpPr>
        <p:spPr>
          <a:xfrm>
            <a:off x="1069848" y="199461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TIME  </a:t>
            </a:r>
            <a:pPr indent="0" marL="0">
              <a:buNone/>
            </a:pPr>
            <a:r>
              <a:rPr lang="en-US" sz="1100" i="1" dirty="0">
                <a:solidFill>
                  <a:srgbClr val="5A6379"/>
                </a:solidFill>
                <a:latin typeface="Arial" pitchFamily="34" charset="0"/>
                <a:ea typeface="Arial" pitchFamily="34" charset="-122"/>
                <a:cs typeface="Arial" pitchFamily="34" charset="-120"/>
              </a:rPr>
              <a:t>closed · tell</a:t>
            </a:r>
            <a:endParaRPr lang="en-US" sz="1400" dirty="0"/>
          </a:p>
        </p:txBody>
      </p:sp>
      <p:sp>
        <p:nvSpPr>
          <p:cNvPr id="13" name="Text 11"/>
          <p:cNvSpPr/>
          <p:nvPr/>
        </p:nvSpPr>
        <p:spPr>
          <a:xfrm>
            <a:off x="1069848" y="226893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Own the delegation.</a:t>
            </a:r>
            <a:endParaRPr lang="en-US" sz="1400" dirty="0"/>
          </a:p>
        </p:txBody>
      </p:sp>
      <p:sp>
        <p:nvSpPr>
          <p:cNvPr id="14" name="Text 12"/>
          <p:cNvSpPr/>
          <p:nvPr/>
        </p:nvSpPr>
        <p:spPr>
          <a:xfrm>
            <a:off x="1069848" y="2561539"/>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What priority is AI workflow for you, your S-team, and your company? Appoint a lead. Set a timeline.</a:t>
            </a:r>
            <a:endParaRPr lang="en-US" sz="1200" dirty="0"/>
          </a:p>
        </p:txBody>
      </p:sp>
      <p:sp>
        <p:nvSpPr>
          <p:cNvPr id="15" name="Shape 13"/>
          <p:cNvSpPr/>
          <p:nvPr/>
        </p:nvSpPr>
        <p:spPr>
          <a:xfrm>
            <a:off x="6281928" y="1811731"/>
            <a:ext cx="5102352" cy="1444752"/>
          </a:xfrm>
          <a:prstGeom prst="rect">
            <a:avLst/>
          </a:prstGeom>
          <a:solidFill>
            <a:srgbClr val="E8E2D2"/>
          </a:solidFill>
          <a:ln/>
        </p:spPr>
      </p:sp>
      <p:sp>
        <p:nvSpPr>
          <p:cNvPr id="16" name="Text 14"/>
          <p:cNvSpPr/>
          <p:nvPr/>
        </p:nvSpPr>
        <p:spPr>
          <a:xfrm>
            <a:off x="6537960" y="199461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ACCURACY  </a:t>
            </a:r>
            <a:pPr indent="0" marL="0">
              <a:buNone/>
            </a:pPr>
            <a:r>
              <a:rPr lang="en-US" sz="1100" i="1" dirty="0">
                <a:solidFill>
                  <a:srgbClr val="5A6379"/>
                </a:solidFill>
                <a:latin typeface="Arial" pitchFamily="34" charset="0"/>
                <a:ea typeface="Arial" pitchFamily="34" charset="-122"/>
                <a:cs typeface="Arial" pitchFamily="34" charset="-120"/>
              </a:rPr>
              <a:t>closed · ask</a:t>
            </a:r>
            <a:endParaRPr lang="en-US" sz="1400" dirty="0"/>
          </a:p>
        </p:txBody>
      </p:sp>
      <p:sp>
        <p:nvSpPr>
          <p:cNvPr id="17" name="Text 15"/>
          <p:cNvSpPr/>
          <p:nvPr/>
        </p:nvSpPr>
        <p:spPr>
          <a:xfrm>
            <a:off x="6537960" y="226893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Harden the ground.</a:t>
            </a:r>
            <a:endParaRPr lang="en-US" sz="1400" dirty="0"/>
          </a:p>
        </p:txBody>
      </p:sp>
      <p:sp>
        <p:nvSpPr>
          <p:cNvPr id="18" name="Text 16"/>
          <p:cNvSpPr/>
          <p:nvPr/>
        </p:nvSpPr>
        <p:spPr>
          <a:xfrm>
            <a:off x="6537960" y="2561539"/>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Name the data, systems, and processes that must be trustworthy before we scale decisions on top of them.</a:t>
            </a:r>
            <a:endParaRPr lang="en-US" sz="1200" dirty="0"/>
          </a:p>
        </p:txBody>
      </p:sp>
      <p:sp>
        <p:nvSpPr>
          <p:cNvPr id="19" name="Shape 17"/>
          <p:cNvSpPr/>
          <p:nvPr/>
        </p:nvSpPr>
        <p:spPr>
          <a:xfrm>
            <a:off x="813816" y="3475939"/>
            <a:ext cx="5102352" cy="1444752"/>
          </a:xfrm>
          <a:prstGeom prst="rect">
            <a:avLst/>
          </a:prstGeom>
          <a:solidFill>
            <a:srgbClr val="E8E2D2"/>
          </a:solidFill>
          <a:ln/>
        </p:spPr>
      </p:sp>
      <p:sp>
        <p:nvSpPr>
          <p:cNvPr id="20" name="Text 18"/>
          <p:cNvSpPr/>
          <p:nvPr/>
        </p:nvSpPr>
        <p:spPr>
          <a:xfrm>
            <a:off x="1069848" y="3658819"/>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TRUST  </a:t>
            </a:r>
            <a:pPr indent="0" marL="0">
              <a:buNone/>
            </a:pPr>
            <a:r>
              <a:rPr lang="en-US" sz="1100" i="1" dirty="0">
                <a:solidFill>
                  <a:srgbClr val="5A6379"/>
                </a:solidFill>
                <a:latin typeface="Arial" pitchFamily="34" charset="0"/>
                <a:ea typeface="Arial" pitchFamily="34" charset="-122"/>
                <a:cs typeface="Arial" pitchFamily="34" charset="-120"/>
              </a:rPr>
              <a:t>open · ask</a:t>
            </a:r>
            <a:endParaRPr lang="en-US" sz="1400" dirty="0"/>
          </a:p>
        </p:txBody>
      </p:sp>
      <p:sp>
        <p:nvSpPr>
          <p:cNvPr id="21" name="Text 19"/>
          <p:cNvSpPr/>
          <p:nvPr/>
        </p:nvSpPr>
        <p:spPr>
          <a:xfrm>
            <a:off x="1069848" y="3933139"/>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Write the design principles.</a:t>
            </a:r>
            <a:endParaRPr lang="en-US" sz="1400" dirty="0"/>
          </a:p>
        </p:txBody>
      </p:sp>
      <p:sp>
        <p:nvSpPr>
          <p:cNvPr id="22" name="Text 20"/>
          <p:cNvSpPr/>
          <p:nvPr/>
        </p:nvSpPr>
        <p:spPr>
          <a:xfrm>
            <a:off x="1069848" y="4225747"/>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How does this help you, your leadership team, and your people flourish as human beings? You hold the adoption criteria.</a:t>
            </a:r>
            <a:endParaRPr lang="en-US" sz="1200" dirty="0"/>
          </a:p>
        </p:txBody>
      </p:sp>
      <p:sp>
        <p:nvSpPr>
          <p:cNvPr id="23" name="Shape 21"/>
          <p:cNvSpPr/>
          <p:nvPr/>
        </p:nvSpPr>
        <p:spPr>
          <a:xfrm>
            <a:off x="6281928" y="3475939"/>
            <a:ext cx="5102352" cy="1444752"/>
          </a:xfrm>
          <a:prstGeom prst="rect">
            <a:avLst/>
          </a:prstGeom>
          <a:solidFill>
            <a:srgbClr val="E8E2D2"/>
          </a:solidFill>
          <a:ln/>
        </p:spPr>
      </p:sp>
      <p:sp>
        <p:nvSpPr>
          <p:cNvPr id="24" name="Text 22"/>
          <p:cNvSpPr/>
          <p:nvPr/>
        </p:nvSpPr>
        <p:spPr>
          <a:xfrm>
            <a:off x="6537960" y="3658819"/>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VISION  </a:t>
            </a:r>
            <a:pPr indent="0" marL="0">
              <a:buNone/>
            </a:pPr>
            <a:r>
              <a:rPr lang="en-US" sz="1100" i="1" dirty="0">
                <a:solidFill>
                  <a:srgbClr val="5A6379"/>
                </a:solidFill>
                <a:latin typeface="Arial" pitchFamily="34" charset="0"/>
                <a:ea typeface="Arial" pitchFamily="34" charset="-122"/>
                <a:cs typeface="Arial" pitchFamily="34" charset="-120"/>
              </a:rPr>
              <a:t>open · tell</a:t>
            </a:r>
            <a:endParaRPr lang="en-US" sz="1400" dirty="0"/>
          </a:p>
        </p:txBody>
      </p:sp>
      <p:sp>
        <p:nvSpPr>
          <p:cNvPr id="25" name="Text 23"/>
          <p:cNvSpPr/>
          <p:nvPr/>
        </p:nvSpPr>
        <p:spPr>
          <a:xfrm>
            <a:off x="6537960" y="3933139"/>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Draw the flywheels.</a:t>
            </a:r>
            <a:endParaRPr lang="en-US" sz="1400" dirty="0"/>
          </a:p>
        </p:txBody>
      </p:sp>
      <p:sp>
        <p:nvSpPr>
          <p:cNvPr id="26" name="Text 24"/>
          <p:cNvSpPr/>
          <p:nvPr/>
        </p:nvSpPr>
        <p:spPr>
          <a:xfrm>
            <a:off x="6537960" y="4225747"/>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Three to five years out: how is the business run, what is automated, what reaches the S-team, the O-team, directors, managers?</a:t>
            </a:r>
            <a:endParaRPr lang="en-US" sz="1200" dirty="0"/>
          </a:p>
        </p:txBody>
      </p:sp>
      <p:sp>
        <p:nvSpPr>
          <p:cNvPr id="27" name="Shape 25"/>
          <p:cNvSpPr/>
          <p:nvPr/>
        </p:nvSpPr>
        <p:spPr>
          <a:xfrm>
            <a:off x="813816" y="5029200"/>
            <a:ext cx="10570464" cy="548640"/>
          </a:xfrm>
          <a:prstGeom prst="rect">
            <a:avLst/>
          </a:prstGeom>
          <a:solidFill>
            <a:srgbClr val="14213D"/>
          </a:solidFill>
          <a:ln/>
        </p:spPr>
      </p:sp>
      <p:sp>
        <p:nvSpPr>
          <p:cNvPr id="28" name="Text 26"/>
          <p:cNvSpPr/>
          <p:nvPr/>
        </p:nvSpPr>
        <p:spPr>
          <a:xfrm>
            <a:off x="1106424" y="5029200"/>
            <a:ext cx="9985248" cy="548640"/>
          </a:xfrm>
          <a:prstGeom prst="rect">
            <a:avLst/>
          </a:prstGeom>
          <a:noFill/>
          <a:ln/>
        </p:spPr>
        <p:txBody>
          <a:bodyPr wrap="square" lIns="0" tIns="0" rIns="0" bIns="0" rtlCol="0" anchor="ctr"/>
          <a:lstStyle/>
          <a:p>
            <a:pPr indent="0" marL="0">
              <a:buNone/>
            </a:pPr>
            <a:r>
              <a:rPr lang="en-US" sz="1300" b="1" spc="120" kern="0" dirty="0">
                <a:solidFill>
                  <a:srgbClr val="E7C766"/>
                </a:solidFill>
                <a:latin typeface="Arial" pitchFamily="34" charset="0"/>
                <a:ea typeface="Arial" pitchFamily="34" charset="-122"/>
                <a:cs typeface="Arial" pitchFamily="34" charset="-120"/>
              </a:rPr>
              <a:t>AND HERE IS THE USEFUL PART:  </a:t>
            </a:r>
            <a:pPr indent="0" marL="0">
              <a:buNone/>
            </a:pPr>
            <a:r>
              <a:rPr lang="en-US" sz="1300" dirty="0">
                <a:solidFill>
                  <a:srgbClr val="F7F3EA"/>
                </a:solidFill>
                <a:latin typeface="Arial" pitchFamily="34" charset="0"/>
                <a:ea typeface="Arial" pitchFamily="34" charset="-122"/>
                <a:cs typeface="Arial" pitchFamily="34" charset="-120"/>
              </a:rPr>
              <a:t>each of these four creates tension for the other three. That tension is your requirement set, your governance, and your strategic direction. You need all four in the room.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501945" y="795528"/>
            <a:ext cx="1188720" cy="1188720"/>
          </a:xfrm>
          <a:prstGeom prst="ellipse">
            <a:avLst/>
          </a:prstGeom>
          <a:ln w="12700">
            <a:solidFill>
              <a:srgbClr val="C9A227"/>
            </a:solidFill>
            <a:prstDash val="solid"/>
          </a:ln>
        </p:spPr>
      </p:sp>
      <p:sp>
        <p:nvSpPr>
          <p:cNvPr id="3" name="Shape 1"/>
          <p:cNvSpPr/>
          <p:nvPr/>
        </p:nvSpPr>
        <p:spPr>
          <a:xfrm>
            <a:off x="5589910" y="883493"/>
            <a:ext cx="1012789" cy="1012789"/>
          </a:xfrm>
          <a:prstGeom prst="ellipse">
            <a:avLst/>
          </a:prstGeom>
          <a:ln w="12700">
            <a:solidFill>
              <a:srgbClr val="C9A227"/>
            </a:solidFill>
            <a:prstDash val="solid"/>
          </a:ln>
        </p:spPr>
      </p:sp>
      <p:sp>
        <p:nvSpPr>
          <p:cNvPr id="4" name="Shape 2"/>
          <p:cNvSpPr/>
          <p:nvPr/>
        </p:nvSpPr>
        <p:spPr>
          <a:xfrm>
            <a:off x="6096305" y="765810"/>
            <a:ext cx="0" cy="59436"/>
          </a:xfrm>
          <a:prstGeom prst="line">
            <a:avLst/>
          </a:prstGeom>
          <a:noFill/>
          <a:ln w="12700">
            <a:solidFill>
              <a:srgbClr val="C9A227"/>
            </a:solidFill>
            <a:prstDash val="solid"/>
          </a:ln>
        </p:spPr>
      </p:sp>
      <p:sp>
        <p:nvSpPr>
          <p:cNvPr id="5" name="Shape 3"/>
          <p:cNvSpPr/>
          <p:nvPr/>
        </p:nvSpPr>
        <p:spPr>
          <a:xfrm>
            <a:off x="6096305" y="1954530"/>
            <a:ext cx="0" cy="59436"/>
          </a:xfrm>
          <a:prstGeom prst="line">
            <a:avLst/>
          </a:prstGeom>
          <a:noFill/>
          <a:ln w="12700">
            <a:solidFill>
              <a:srgbClr val="C9A227"/>
            </a:solidFill>
            <a:prstDash val="solid"/>
          </a:ln>
        </p:spPr>
      </p:sp>
      <p:sp>
        <p:nvSpPr>
          <p:cNvPr id="6" name="Shape 4"/>
          <p:cNvSpPr/>
          <p:nvPr/>
        </p:nvSpPr>
        <p:spPr>
          <a:xfrm>
            <a:off x="5472227" y="1389888"/>
            <a:ext cx="59436" cy="0"/>
          </a:xfrm>
          <a:prstGeom prst="line">
            <a:avLst/>
          </a:prstGeom>
          <a:noFill/>
          <a:ln w="12700">
            <a:solidFill>
              <a:srgbClr val="C9A227"/>
            </a:solidFill>
            <a:prstDash val="solid"/>
          </a:ln>
        </p:spPr>
      </p:sp>
      <p:sp>
        <p:nvSpPr>
          <p:cNvPr id="7" name="Shape 5"/>
          <p:cNvSpPr/>
          <p:nvPr/>
        </p:nvSpPr>
        <p:spPr>
          <a:xfrm>
            <a:off x="6660947" y="1389888"/>
            <a:ext cx="59436" cy="0"/>
          </a:xfrm>
          <a:prstGeom prst="line">
            <a:avLst/>
          </a:prstGeom>
          <a:noFill/>
          <a:ln w="12700">
            <a:solidFill>
              <a:srgbClr val="C9A227"/>
            </a:solidFill>
            <a:prstDash val="solid"/>
          </a:ln>
        </p:spPr>
      </p:sp>
      <p:sp>
        <p:nvSpPr>
          <p:cNvPr id="8" name="Text 6"/>
          <p:cNvSpPr/>
          <p:nvPr/>
        </p:nvSpPr>
        <p:spPr>
          <a:xfrm>
            <a:off x="5589910" y="883493"/>
            <a:ext cx="1012789" cy="1012789"/>
          </a:xfrm>
          <a:prstGeom prst="rect">
            <a:avLst/>
          </a:prstGeom>
          <a:noFill/>
          <a:ln/>
        </p:spPr>
        <p:txBody>
          <a:bodyPr wrap="square" lIns="0" tIns="0" rIns="0" bIns="0" rtlCol="0" anchor="ctr"/>
          <a:lstStyle/>
          <a:p>
            <a:pPr algn="ctr" indent="0" marL="0">
              <a:buNone/>
            </a:pPr>
            <a:r>
              <a:rPr lang="en-US" sz="4700" b="1" dirty="0">
                <a:solidFill>
                  <a:srgbClr val="A31621"/>
                </a:solidFill>
                <a:latin typeface="Georgia" pitchFamily="34" charset="0"/>
                <a:ea typeface="Georgia" pitchFamily="34" charset="-122"/>
                <a:cs typeface="Georgia" pitchFamily="34" charset="-120"/>
              </a:rPr>
              <a:t>D</a:t>
            </a:r>
            <a:endParaRPr lang="en-US" sz="4700" dirty="0"/>
          </a:p>
        </p:txBody>
      </p:sp>
      <p:sp>
        <p:nvSpPr>
          <p:cNvPr id="9" name="Shape 7"/>
          <p:cNvSpPr/>
          <p:nvPr/>
        </p:nvSpPr>
        <p:spPr>
          <a:xfrm>
            <a:off x="1706728" y="2231136"/>
            <a:ext cx="8778240" cy="1667134"/>
          </a:xfrm>
          <a:prstGeom prst="rect">
            <a:avLst/>
          </a:prstGeom>
          <a:solidFill>
            <a:srgbClr val="E8E2D2"/>
          </a:solidFill>
          <a:ln/>
        </p:spPr>
      </p:sp>
      <p:sp>
        <p:nvSpPr>
          <p:cNvPr id="10" name="Text 8"/>
          <p:cNvSpPr/>
          <p:nvPr/>
        </p:nvSpPr>
        <p:spPr>
          <a:xfrm>
            <a:off x="2163928" y="2487168"/>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495934"/>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0916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4:54.</a:t>
            </a:r>
            <a:endParaRPr lang="en-US" sz="4000" dirty="0"/>
          </a:p>
        </p:txBody>
      </p:sp>
      <p:sp>
        <p:nvSpPr>
          <p:cNvPr id="13" name="Text 11"/>
          <p:cNvSpPr/>
          <p:nvPr/>
        </p:nvSpPr>
        <p:spPr>
          <a:xfrm>
            <a:off x="813816" y="4958974"/>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2026-08-09T18:13:56Z</dcterms:created>
  <dcterms:modified xsi:type="dcterms:W3CDTF">2026-08-09T18:13:56Z</dcterms:modified>
</cp:coreProperties>
</file>