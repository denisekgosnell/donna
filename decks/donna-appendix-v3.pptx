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Lst>
  <p:notesMasterIdLst>
    <p:notesMasterId r:id="rId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notesMaster" Target="notesMasters/notesMaster1.xml"/><Relationship Id="rId5" Type="http://schemas.openxmlformats.org/officeDocument/2006/relationships/presProps" Target="presProps.xml"/><Relationship Id="rId6" Type="http://schemas.openxmlformats.org/officeDocument/2006/relationships/viewProps" Target="viewProps.xml"/><Relationship Id="rId7" Type="http://schemas.openxmlformats.org/officeDocument/2006/relationships/theme" Target="theme/theme1.xml"/><Relationship Id="rId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[SAY] Everything we do today transfers. The vocabulary, the email connection, the personalized agent, and the document that makes it portable work on any of these platforms. The last row is the difference: walking out with an agent that runs on a schedule, without you pressing a button, is a paid Claude capability.
[DO] Point at the last row. Hold on it.
[WATCH] Someone will ask if ChatGPT or Copilot can schedule. They have task features, but not the full agent loop we build today. Do not get pulled into a feature debate; the row is about what they leave with this afternoon.
[NEXT] So the real decision is not whether to do this. It is which plan your data deserves.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90 sec.
[SAY] On the free plan, keeping your conversations out of training is a setting you have to go find. On Claude for Work it is the default, in the contract. Everything below that row is the admin layer: the controls your IT and legal teams will ask about by name, and they only exist on the business plans.
[DO] None. Let the column speak.
[WATCH] Be precise if pressed: Pro and Max carry the same training toggle as free; the contractual exclusion and every admin control on this list is Claude for Work, and most are Enterprise. The free plan is not insecure, it is unmanaged. Say it that way.
[NEXT] That is the decision. Pick the plan, and we start building.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4" name="Shape 2"/>
          <p:cNvSpPr/>
          <p:nvPr/>
        </p:nvSpPr>
        <p:spPr>
          <a:xfrm rot="2700000">
            <a:off x="2947416" y="6003036"/>
            <a:ext cx="64008" cy="64008"/>
          </a:xfrm>
          <a:prstGeom prst="rect">
            <a:avLst/>
          </a:prstGeom>
          <a:solidFill>
            <a:srgbClr val="C9A227"/>
          </a:solidFill>
          <a:ln w="3175">
            <a:solidFill>
              <a:srgbClr val="C9A227"/>
            </a:solidFill>
            <a:prstDash val="solid"/>
          </a:ln>
        </p:spPr>
      </p:sp>
      <p:sp>
        <p:nvSpPr>
          <p:cNvPr id="5" name="Text 3"/>
          <p:cNvSpPr/>
          <p:nvPr/>
        </p:nvSpPr>
        <p:spPr>
          <a:xfrm>
            <a:off x="3130296" y="5943600"/>
            <a:ext cx="168859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OCTOBER 21, 2026</a:t>
            </a:r>
            <a:endParaRPr lang="en-US" sz="900" dirty="0"/>
          </a:p>
        </p:txBody>
      </p:sp>
      <p:sp>
        <p:nvSpPr>
          <p:cNvPr id="6" name="Text 4"/>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1</a:t>
            </a:r>
            <a:endParaRPr lang="en-US" sz="900" dirty="0"/>
          </a:p>
        </p:txBody>
      </p:sp>
      <p:sp>
        <p:nvSpPr>
          <p:cNvPr id="7" name="Text 5"/>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BUILD YOUR OWN DONNA · LEARNING OUTCOMES</a:t>
            </a:r>
            <a:endParaRPr lang="en-US" sz="12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What you leave with.</a:t>
            </a:r>
            <a:endParaRPr lang="en-US" sz="4000" dirty="0"/>
          </a:p>
        </p:txBody>
      </p:sp>
      <p:sp>
        <p:nvSpPr>
          <p:cNvPr id="9" name="Shape 7"/>
          <p:cNvSpPr/>
          <p:nvPr/>
        </p:nvSpPr>
        <p:spPr>
          <a:xfrm>
            <a:off x="6469380" y="1591056"/>
            <a:ext cx="1531620" cy="3602736"/>
          </a:xfrm>
          <a:prstGeom prst="roundRect">
            <a:avLst>
              <a:gd name="adj" fmla="val 4776"/>
            </a:avLst>
          </a:prstGeom>
          <a:solidFill>
            <a:srgbClr val="14213D"/>
          </a:solidFill>
          <a:ln/>
        </p:spPr>
      </p:sp>
      <p:sp>
        <p:nvSpPr>
          <p:cNvPr id="10" name="Text 8"/>
          <p:cNvSpPr txBox="1"/>
          <p:nvPr/>
        </p:nvSpPr>
        <p:spPr>
          <a:xfrm>
            <a:off x="4791456"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CLAUDE</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FREE</a:t>
            </a:r>
            <a:endParaRPr lang="en-US" sz="1050" dirty="0"/>
          </a:p>
        </p:txBody>
      </p:sp>
      <p:sp>
        <p:nvSpPr>
          <p:cNvPr id="11" name="Text 9"/>
          <p:cNvSpPr txBox="1"/>
          <p:nvPr/>
        </p:nvSpPr>
        <p:spPr>
          <a:xfrm>
            <a:off x="6451092"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CLAUDE PRO,</a:t>
            </a:r>
            <a:endParaRPr lang="en-US" sz="1050" dirty="0"/>
          </a:p>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MAX &amp; ENTERPRISE</a:t>
            </a:r>
            <a:endParaRPr lang="en-US" sz="1050" dirty="0"/>
          </a:p>
        </p:txBody>
      </p:sp>
      <p:sp>
        <p:nvSpPr>
          <p:cNvPr id="12" name="Text 10"/>
          <p:cNvSpPr txBox="1"/>
          <p:nvPr/>
        </p:nvSpPr>
        <p:spPr>
          <a:xfrm>
            <a:off x="8110728"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CHATGPT</a:t>
            </a:r>
            <a:endParaRPr lang="en-US" sz="1050" dirty="0"/>
          </a:p>
        </p:txBody>
      </p:sp>
      <p:sp>
        <p:nvSpPr>
          <p:cNvPr id="13" name="Text 11"/>
          <p:cNvSpPr txBox="1"/>
          <p:nvPr/>
        </p:nvSpPr>
        <p:spPr>
          <a:xfrm>
            <a:off x="9770364" y="1664208"/>
            <a:ext cx="1568196"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MICROSOFT</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COPILOT</a:t>
            </a:r>
            <a:endParaRPr lang="en-US" sz="1050" dirty="0"/>
          </a:p>
        </p:txBody>
      </p:sp>
      <p:sp>
        <p:nvSpPr>
          <p:cNvPr id="14" name="Shape 12"/>
          <p:cNvSpPr/>
          <p:nvPr/>
        </p:nvSpPr>
        <p:spPr>
          <a:xfrm>
            <a:off x="704088" y="2286000"/>
            <a:ext cx="3968496" cy="566928"/>
          </a:xfrm>
          <a:prstGeom prst="rect">
            <a:avLst/>
          </a:prstGeom>
          <a:solidFill>
            <a:srgbClr val="E8E2D2"/>
          </a:solidFill>
          <a:ln/>
        </p:spPr>
      </p:sp>
      <p:sp>
        <p:nvSpPr>
          <p:cNvPr id="15" name="Shape 13"/>
          <p:cNvSpPr/>
          <p:nvPr/>
        </p:nvSpPr>
        <p:spPr>
          <a:xfrm rot="2700000">
            <a:off x="832104" y="2519172"/>
            <a:ext cx="100584" cy="100584"/>
          </a:xfrm>
          <a:prstGeom prst="rect">
            <a:avLst/>
          </a:prstGeom>
          <a:solidFill>
            <a:srgbClr val="C9A227"/>
          </a:solidFill>
          <a:ln w="3175">
            <a:solidFill>
              <a:srgbClr val="C9A227"/>
            </a:solidFill>
            <a:prstDash val="solid"/>
          </a:ln>
        </p:spPr>
      </p:sp>
      <p:sp>
        <p:nvSpPr>
          <p:cNvPr id="16" name="Text 14"/>
          <p:cNvSpPr txBox="1"/>
          <p:nvPr/>
        </p:nvSpPr>
        <p:spPr>
          <a:xfrm>
            <a:off x="1124712" y="2286000"/>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AI terminology: chat, projects, context window, agents</a:t>
            </a:r>
            <a:endParaRPr lang="en-US" sz="1400" dirty="0"/>
          </a:p>
        </p:txBody>
      </p:sp>
      <p:sp>
        <p:nvSpPr>
          <p:cNvPr id="17" name="Text 15"/>
          <p:cNvSpPr txBox="1"/>
          <p:nvPr/>
        </p:nvSpPr>
        <p:spPr>
          <a:xfrm>
            <a:off x="4791456"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18" name="Text 16"/>
          <p:cNvSpPr txBox="1"/>
          <p:nvPr/>
        </p:nvSpPr>
        <p:spPr>
          <a:xfrm>
            <a:off x="6451092" y="2286000"/>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19" name="Text 17"/>
          <p:cNvSpPr txBox="1"/>
          <p:nvPr/>
        </p:nvSpPr>
        <p:spPr>
          <a:xfrm>
            <a:off x="8110728"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0" name="Text 18"/>
          <p:cNvSpPr txBox="1"/>
          <p:nvPr/>
        </p:nvSpPr>
        <p:spPr>
          <a:xfrm>
            <a:off x="9770364" y="2286000"/>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1" name="Shape 19"/>
          <p:cNvSpPr/>
          <p:nvPr/>
        </p:nvSpPr>
        <p:spPr>
          <a:xfrm rot="2700000">
            <a:off x="832104" y="3086100"/>
            <a:ext cx="100584" cy="100584"/>
          </a:xfrm>
          <a:prstGeom prst="rect">
            <a:avLst/>
          </a:prstGeom>
          <a:solidFill>
            <a:srgbClr val="C9A227"/>
          </a:solidFill>
          <a:ln w="3175">
            <a:solidFill>
              <a:srgbClr val="C9A227"/>
            </a:solidFill>
            <a:prstDash val="solid"/>
          </a:ln>
        </p:spPr>
      </p:sp>
      <p:sp>
        <p:nvSpPr>
          <p:cNvPr id="22" name="Text 20"/>
          <p:cNvSpPr txBox="1"/>
          <p:nvPr/>
        </p:nvSpPr>
        <p:spPr>
          <a:xfrm>
            <a:off x="1124712" y="2852928"/>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Connect an agent to your email</a:t>
            </a:r>
            <a:endParaRPr lang="en-US" sz="1400" dirty="0"/>
          </a:p>
        </p:txBody>
      </p:sp>
      <p:sp>
        <p:nvSpPr>
          <p:cNvPr id="23" name="Text 21"/>
          <p:cNvSpPr txBox="1"/>
          <p:nvPr/>
        </p:nvSpPr>
        <p:spPr>
          <a:xfrm>
            <a:off x="4791456"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4" name="Text 22"/>
          <p:cNvSpPr txBox="1"/>
          <p:nvPr/>
        </p:nvSpPr>
        <p:spPr>
          <a:xfrm>
            <a:off x="6451092" y="2852928"/>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5" name="Text 23"/>
          <p:cNvSpPr txBox="1"/>
          <p:nvPr/>
        </p:nvSpPr>
        <p:spPr>
          <a:xfrm>
            <a:off x="8110728"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6" name="Text 24"/>
          <p:cNvSpPr txBox="1"/>
          <p:nvPr/>
        </p:nvSpPr>
        <p:spPr>
          <a:xfrm>
            <a:off x="9770364" y="2852928"/>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27" name="Shape 25"/>
          <p:cNvSpPr/>
          <p:nvPr/>
        </p:nvSpPr>
        <p:spPr>
          <a:xfrm>
            <a:off x="704088" y="3419856"/>
            <a:ext cx="3968496" cy="566928"/>
          </a:xfrm>
          <a:prstGeom prst="rect">
            <a:avLst/>
          </a:prstGeom>
          <a:solidFill>
            <a:srgbClr val="E8E2D2"/>
          </a:solidFill>
          <a:ln/>
        </p:spPr>
      </p:sp>
      <p:sp>
        <p:nvSpPr>
          <p:cNvPr id="28" name="Shape 26"/>
          <p:cNvSpPr/>
          <p:nvPr/>
        </p:nvSpPr>
        <p:spPr>
          <a:xfrm rot="2700000">
            <a:off x="832104" y="3653028"/>
            <a:ext cx="100584" cy="100584"/>
          </a:xfrm>
          <a:prstGeom prst="rect">
            <a:avLst/>
          </a:prstGeom>
          <a:solidFill>
            <a:srgbClr val="C9A227"/>
          </a:solidFill>
          <a:ln w="3175">
            <a:solidFill>
              <a:srgbClr val="C9A227"/>
            </a:solidFill>
            <a:prstDash val="solid"/>
          </a:ln>
        </p:spPr>
      </p:sp>
      <p:sp>
        <p:nvSpPr>
          <p:cNvPr id="29" name="Text 27"/>
          <p:cNvSpPr txBox="1"/>
          <p:nvPr/>
        </p:nvSpPr>
        <p:spPr>
          <a:xfrm>
            <a:off x="1124712" y="3419856"/>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Build a personalized agent</a:t>
            </a:r>
            <a:endParaRPr lang="en-US" sz="1400" dirty="0"/>
          </a:p>
        </p:txBody>
      </p:sp>
      <p:sp>
        <p:nvSpPr>
          <p:cNvPr id="30" name="Text 28"/>
          <p:cNvSpPr txBox="1"/>
          <p:nvPr/>
        </p:nvSpPr>
        <p:spPr>
          <a:xfrm>
            <a:off x="4791456"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1" name="Text 29"/>
          <p:cNvSpPr txBox="1"/>
          <p:nvPr/>
        </p:nvSpPr>
        <p:spPr>
          <a:xfrm>
            <a:off x="6451092" y="3419856"/>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2" name="Text 30"/>
          <p:cNvSpPr txBox="1"/>
          <p:nvPr/>
        </p:nvSpPr>
        <p:spPr>
          <a:xfrm>
            <a:off x="8110728"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3" name="Text 31"/>
          <p:cNvSpPr txBox="1"/>
          <p:nvPr/>
        </p:nvSpPr>
        <p:spPr>
          <a:xfrm>
            <a:off x="9770364" y="3419856"/>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4" name="Shape 32"/>
          <p:cNvSpPr/>
          <p:nvPr/>
        </p:nvSpPr>
        <p:spPr>
          <a:xfrm rot="2700000">
            <a:off x="832104" y="4219956"/>
            <a:ext cx="100584" cy="100584"/>
          </a:xfrm>
          <a:prstGeom prst="rect">
            <a:avLst/>
          </a:prstGeom>
          <a:solidFill>
            <a:srgbClr val="C9A227"/>
          </a:solidFill>
          <a:ln w="3175">
            <a:solidFill>
              <a:srgbClr val="C9A227"/>
            </a:solidFill>
            <a:prstDash val="solid"/>
          </a:ln>
        </p:spPr>
      </p:sp>
      <p:sp>
        <p:nvSpPr>
          <p:cNvPr id="35" name="Text 33"/>
          <p:cNvSpPr txBox="1"/>
          <p:nvPr/>
        </p:nvSpPr>
        <p:spPr>
          <a:xfrm>
            <a:off x="1124712" y="3986784"/>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 portable agent you own</a:t>
            </a:r>
            <a:endParaRPr lang="en-US" sz="1400" dirty="0"/>
          </a:p>
        </p:txBody>
      </p:sp>
      <p:sp>
        <p:nvSpPr>
          <p:cNvPr id="36" name="Text 34"/>
          <p:cNvSpPr txBox="1"/>
          <p:nvPr/>
        </p:nvSpPr>
        <p:spPr>
          <a:xfrm>
            <a:off x="4791456"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7" name="Text 35"/>
          <p:cNvSpPr txBox="1"/>
          <p:nvPr/>
        </p:nvSpPr>
        <p:spPr>
          <a:xfrm>
            <a:off x="6451092" y="3986784"/>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8" name="Text 36"/>
          <p:cNvSpPr txBox="1"/>
          <p:nvPr/>
        </p:nvSpPr>
        <p:spPr>
          <a:xfrm>
            <a:off x="8110728"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39" name="Text 37"/>
          <p:cNvSpPr txBox="1"/>
          <p:nvPr/>
        </p:nvSpPr>
        <p:spPr>
          <a:xfrm>
            <a:off x="9770364" y="3986784"/>
            <a:ext cx="1568196" cy="566928"/>
          </a:xfrm>
          <a:prstGeom prst="rect">
            <a:avLst/>
          </a:prstGeom>
          <a:noFill/>
          <a:ln/>
        </p:spPr>
        <p:txBody>
          <a:bodyPr wrap="square" lIns="0" tIns="0" rIns="0" bIns="0" rtlCol="0" anchor="ctr"/>
          <a:lstStyle/>
          <a:p>
            <a:pPr algn="ctr" indent="0" marL="0">
              <a:buNone/>
            </a:pPr>
            <a:r>
              <a:rPr lang="en-US" sz="2000" b="1" dirty="0">
                <a:solidFill>
                  <a:srgbClr val="8A6D14"/>
                </a:solidFill>
                <a:latin typeface="Arial" pitchFamily="34" charset="0"/>
                <a:ea typeface="Arial" pitchFamily="34" charset="-122"/>
                <a:cs typeface="Arial" pitchFamily="34" charset="-120"/>
              </a:rPr>
              <a:t>✓</a:t>
            </a:r>
            <a:endParaRPr lang="en-US" sz="2000" dirty="0"/>
          </a:p>
        </p:txBody>
      </p:sp>
      <p:sp>
        <p:nvSpPr>
          <p:cNvPr id="40" name="Shape 38"/>
          <p:cNvSpPr/>
          <p:nvPr/>
        </p:nvSpPr>
        <p:spPr>
          <a:xfrm>
            <a:off x="704088" y="4553712"/>
            <a:ext cx="3968496" cy="566928"/>
          </a:xfrm>
          <a:prstGeom prst="rect">
            <a:avLst/>
          </a:prstGeom>
          <a:solidFill>
            <a:srgbClr val="E8E2D2"/>
          </a:solidFill>
          <a:ln/>
        </p:spPr>
      </p:sp>
      <p:sp>
        <p:nvSpPr>
          <p:cNvPr id="41" name="Shape 39"/>
          <p:cNvSpPr/>
          <p:nvPr/>
        </p:nvSpPr>
        <p:spPr>
          <a:xfrm rot="2700000">
            <a:off x="832104" y="4786884"/>
            <a:ext cx="100584" cy="100584"/>
          </a:xfrm>
          <a:prstGeom prst="rect">
            <a:avLst/>
          </a:prstGeom>
          <a:solidFill>
            <a:srgbClr val="C9A227"/>
          </a:solidFill>
          <a:ln w="3175">
            <a:solidFill>
              <a:srgbClr val="C9A227"/>
            </a:solidFill>
            <a:prstDash val="solid"/>
          </a:ln>
        </p:spPr>
      </p:sp>
      <p:sp>
        <p:nvSpPr>
          <p:cNvPr id="42" name="Text 40"/>
          <p:cNvSpPr txBox="1"/>
          <p:nvPr/>
        </p:nvSpPr>
        <p:spPr>
          <a:xfrm>
            <a:off x="1124712" y="4553712"/>
            <a:ext cx="3438144" cy="56692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Leave with a scheduled agent, running on its own</a:t>
            </a:r>
            <a:endParaRPr lang="en-US" sz="1400" dirty="0"/>
          </a:p>
        </p:txBody>
      </p:sp>
      <p:sp>
        <p:nvSpPr>
          <p:cNvPr id="43" name="Text 41"/>
          <p:cNvSpPr txBox="1"/>
          <p:nvPr/>
        </p:nvSpPr>
        <p:spPr>
          <a:xfrm>
            <a:off x="4791456"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4" name="Text 42"/>
          <p:cNvSpPr txBox="1"/>
          <p:nvPr/>
        </p:nvSpPr>
        <p:spPr>
          <a:xfrm>
            <a:off x="6451092" y="4553712"/>
            <a:ext cx="1568196" cy="56692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45" name="Text 43"/>
          <p:cNvSpPr txBox="1"/>
          <p:nvPr/>
        </p:nvSpPr>
        <p:spPr>
          <a:xfrm>
            <a:off x="8110728"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6" name="Text 44"/>
          <p:cNvSpPr txBox="1"/>
          <p:nvPr/>
        </p:nvSpPr>
        <p:spPr>
          <a:xfrm>
            <a:off x="9770364" y="4553712"/>
            <a:ext cx="1568196" cy="56692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47" name="Text 45"/>
          <p:cNvSpPr/>
          <p:nvPr/>
        </p:nvSpPr>
        <p:spPr>
          <a:xfrm>
            <a:off x="813816" y="5303520"/>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Any platform covers the first four. Leaving with a scheduled agent running on its own takes a paid Claude plan.</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3EA"/>
        </a:solidFill>
      </p:bgPr>
    </p:bg>
    <p:spTree>
      <p:nvGrpSpPr>
        <p:cNvPr id="1" name=""/>
        <p:cNvGrpSpPr/>
        <p:nvPr/>
      </p:nvGrpSpPr>
      <p:grpSpPr>
        <a:xfrm>
          <a:off x="0" y="0"/>
          <a:ext cx="0" cy="0"/>
          <a:chOff x="0" y="0"/>
          <a:chExt cx="0" cy="0"/>
        </a:xfrm>
      </p:grpSpPr>
      <p:sp>
        <p:nvSpPr>
          <p:cNvPr id="2" name="Shape 0"/>
          <p:cNvSpPr/>
          <p:nvPr/>
        </p:nvSpPr>
        <p:spPr>
          <a:xfrm>
            <a:off x="813816" y="5779008"/>
            <a:ext cx="10570464" cy="0"/>
          </a:xfrm>
          <a:prstGeom prst="line">
            <a:avLst/>
          </a:prstGeom>
          <a:noFill/>
          <a:ln w="9525">
            <a:solidFill>
              <a:srgbClr val="C9A227"/>
            </a:solidFill>
            <a:prstDash val="solid"/>
          </a:ln>
        </p:spPr>
      </p:sp>
      <p:sp>
        <p:nvSpPr>
          <p:cNvPr id="3" name="Text 1"/>
          <p:cNvSpPr/>
          <p:nvPr/>
        </p:nvSpPr>
        <p:spPr>
          <a:xfrm>
            <a:off x="813816" y="5943600"/>
            <a:ext cx="2078736"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BUILD YOUR OWN DONNA</a:t>
            </a:r>
            <a:endParaRPr lang="en-US" sz="900" dirty="0"/>
          </a:p>
        </p:txBody>
      </p:sp>
      <p:sp>
        <p:nvSpPr>
          <p:cNvPr id="4" name="Shape 2"/>
          <p:cNvSpPr/>
          <p:nvPr/>
        </p:nvSpPr>
        <p:spPr>
          <a:xfrm rot="2700000">
            <a:off x="2947416" y="6003036"/>
            <a:ext cx="64008" cy="64008"/>
          </a:xfrm>
          <a:prstGeom prst="rect">
            <a:avLst/>
          </a:prstGeom>
          <a:solidFill>
            <a:srgbClr val="C9A227"/>
          </a:solidFill>
          <a:ln w="3175">
            <a:solidFill>
              <a:srgbClr val="C9A227"/>
            </a:solidFill>
            <a:prstDash val="solid"/>
          </a:ln>
        </p:spPr>
      </p:sp>
      <p:sp>
        <p:nvSpPr>
          <p:cNvPr id="5" name="Text 3"/>
          <p:cNvSpPr/>
          <p:nvPr/>
        </p:nvSpPr>
        <p:spPr>
          <a:xfrm>
            <a:off x="3130296" y="5943600"/>
            <a:ext cx="1688592" cy="182880"/>
          </a:xfrm>
          <a:prstGeom prst="rect">
            <a:avLst/>
          </a:prstGeom>
          <a:noFill/>
          <a:ln/>
        </p:spPr>
        <p:txBody>
          <a:bodyPr wrap="square" lIns="0" tIns="0" rIns="0" bIns="0" rtlCol="0" anchor="ctr"/>
          <a:lstStyle/>
          <a:p>
            <a:pPr indent="0" marL="0">
              <a:buNone/>
            </a:pPr>
            <a:r>
              <a:rPr lang="en-US" sz="900" spc="120" kern="0" dirty="0">
                <a:solidFill>
                  <a:srgbClr val="5A6379"/>
                </a:solidFill>
                <a:latin typeface="Arial" pitchFamily="34" charset="0"/>
                <a:ea typeface="Arial" pitchFamily="34" charset="-122"/>
                <a:cs typeface="Arial" pitchFamily="34" charset="-120"/>
              </a:rPr>
              <a:t>OCTOBER 21, 2026</a:t>
            </a:r>
            <a:endParaRPr lang="en-US" sz="900" dirty="0"/>
          </a:p>
        </p:txBody>
      </p:sp>
      <p:sp>
        <p:nvSpPr>
          <p:cNvPr id="6" name="Text 4"/>
          <p:cNvSpPr/>
          <p:nvPr/>
        </p:nvSpPr>
        <p:spPr>
          <a:xfrm>
            <a:off x="10652760" y="5943600"/>
            <a:ext cx="731520" cy="182880"/>
          </a:xfrm>
          <a:prstGeom prst="rect">
            <a:avLst/>
          </a:prstGeom>
          <a:noFill/>
          <a:ln/>
        </p:spPr>
        <p:txBody>
          <a:bodyPr wrap="square" lIns="0" tIns="0" rIns="0" bIns="0" rtlCol="0" anchor="ctr"/>
          <a:lstStyle/>
          <a:p>
            <a:pPr algn="r" indent="0" marL="0">
              <a:buNone/>
            </a:pPr>
            <a:r>
              <a:rPr lang="en-US" sz="900" spc="120" kern="0" dirty="0">
                <a:solidFill>
                  <a:srgbClr val="5A6379"/>
                </a:solidFill>
                <a:latin typeface="Arial" pitchFamily="34" charset="0"/>
                <a:ea typeface="Arial" pitchFamily="34" charset="-122"/>
                <a:cs typeface="Arial" pitchFamily="34" charset="-120"/>
              </a:rPr>
              <a:t>2</a:t>
            </a:r>
            <a:endParaRPr lang="en-US" sz="900" dirty="0"/>
          </a:p>
        </p:txBody>
      </p:sp>
      <p:sp>
        <p:nvSpPr>
          <p:cNvPr id="7" name="Text 5"/>
          <p:cNvSpPr/>
          <p:nvPr/>
        </p:nvSpPr>
        <p:spPr>
          <a:xfrm>
            <a:off x="813816" y="502920"/>
            <a:ext cx="10570464" cy="256032"/>
          </a:xfrm>
          <a:prstGeom prst="rect">
            <a:avLst/>
          </a:prstGeom>
          <a:noFill/>
          <a:ln/>
        </p:spPr>
        <p:txBody>
          <a:bodyPr wrap="square" lIns="0" tIns="0" rIns="0" bIns="0" rtlCol="0" anchor="ctr"/>
          <a:lstStyle/>
          <a:p>
            <a:pPr indent="0" marL="0">
              <a:buNone/>
            </a:pPr>
            <a:r>
              <a:rPr lang="en-US" sz="1200" b="1" spc="220" kern="0" dirty="0">
                <a:solidFill>
                  <a:srgbClr val="8A6D14"/>
                </a:solidFill>
                <a:latin typeface="Arial" pitchFamily="34" charset="0"/>
                <a:ea typeface="Arial" pitchFamily="34" charset="-122"/>
                <a:cs typeface="Arial" pitchFamily="34" charset="-120"/>
              </a:rPr>
              <a:t>BUILD YOUR OWN DONNA · DATA SECURITY IN CLAUDE</a:t>
            </a:r>
            <a:endParaRPr lang="en-US" sz="1200" dirty="0"/>
          </a:p>
        </p:txBody>
      </p:sp>
      <p:sp>
        <p:nvSpPr>
          <p:cNvPr id="8" name="Text 6"/>
          <p:cNvSpPr/>
          <p:nvPr/>
        </p:nvSpPr>
        <p:spPr>
          <a:xfrm>
            <a:off x="813816" y="841248"/>
            <a:ext cx="10570464" cy="751027"/>
          </a:xfrm>
          <a:prstGeom prst="rect">
            <a:avLst/>
          </a:prstGeom>
          <a:noFill/>
          <a:ln/>
        </p:spPr>
        <p:txBody>
          <a:bodyPr wrap="square" lIns="0" tIns="0" rIns="0" bIns="0" rtlCol="0" anchor="t"/>
          <a:lstStyle/>
          <a:p>
            <a:pPr indent="0" marL="0">
              <a:lnSpc>
                <a:spcPct val="94000"/>
              </a:lnSpc>
              <a:buNone/>
            </a:pPr>
            <a:r>
              <a:rPr lang="en-US" sz="4000" b="1" dirty="0">
                <a:solidFill>
                  <a:srgbClr val="14213D"/>
                </a:solidFill>
                <a:latin typeface="Georgia" pitchFamily="34" charset="0"/>
                <a:ea typeface="Georgia" pitchFamily="34" charset="-122"/>
                <a:cs typeface="Georgia" pitchFamily="34" charset="-120"/>
              </a:rPr>
              <a:t>Where your data stands.</a:t>
            </a:r>
            <a:endParaRPr lang="en-US" sz="4000" dirty="0"/>
          </a:p>
        </p:txBody>
      </p:sp>
      <p:sp>
        <p:nvSpPr>
          <p:cNvPr id="9" name="Shape 7"/>
          <p:cNvSpPr/>
          <p:nvPr/>
        </p:nvSpPr>
        <p:spPr>
          <a:xfrm>
            <a:off x="9409176" y="1591056"/>
            <a:ext cx="1911096" cy="3621024"/>
          </a:xfrm>
          <a:prstGeom prst="roundRect">
            <a:avLst>
              <a:gd name="adj" fmla="val 3828"/>
            </a:avLst>
          </a:prstGeom>
          <a:solidFill>
            <a:srgbClr val="14213D"/>
          </a:solidFill>
          <a:ln/>
        </p:spPr>
      </p:sp>
      <p:sp>
        <p:nvSpPr>
          <p:cNvPr id="10" name="Text 8"/>
          <p:cNvSpPr txBox="1"/>
          <p:nvPr/>
        </p:nvSpPr>
        <p:spPr>
          <a:xfrm>
            <a:off x="7351776" y="1664208"/>
            <a:ext cx="1947672"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CLAUDE</a:t>
            </a:r>
            <a:endParaRPr lang="en-US" sz="1050" dirty="0"/>
          </a:p>
          <a:p>
            <a:pPr algn="ctr" indent="0" marL="0">
              <a:lnSpc>
                <a:spcPct val="105000"/>
              </a:lnSpc>
              <a:buNone/>
            </a:pPr>
            <a:r>
              <a:rPr lang="en-US" sz="1050" b="1" spc="100" kern="0" dirty="0">
                <a:solidFill>
                  <a:srgbClr val="14213D"/>
                </a:solidFill>
                <a:latin typeface="Arial" pitchFamily="34" charset="0"/>
                <a:ea typeface="Arial" pitchFamily="34" charset="-122"/>
                <a:cs typeface="Arial" pitchFamily="34" charset="-120"/>
              </a:rPr>
              <a:t>FREE</a:t>
            </a:r>
            <a:endParaRPr lang="en-US" sz="1050" dirty="0"/>
          </a:p>
        </p:txBody>
      </p:sp>
      <p:sp>
        <p:nvSpPr>
          <p:cNvPr id="11" name="Text 9"/>
          <p:cNvSpPr txBox="1"/>
          <p:nvPr/>
        </p:nvSpPr>
        <p:spPr>
          <a:xfrm>
            <a:off x="9390888" y="1664208"/>
            <a:ext cx="1947672" cy="566928"/>
          </a:xfrm>
          <a:prstGeom prst="rect">
            <a:avLst/>
          </a:prstGeom>
          <a:noFill/>
          <a:ln/>
        </p:spPr>
        <p:txBody>
          <a:bodyPr wrap="square" lIns="0" tIns="0" rIns="0" bIns="0" rtlCol="0" anchor="ctr"/>
          <a:lstStyle/>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CLAUDE PRO,</a:t>
            </a:r>
            <a:endParaRPr lang="en-US" sz="1050" dirty="0"/>
          </a:p>
          <a:p>
            <a:pPr algn="ctr" indent="0" marL="0">
              <a:lnSpc>
                <a:spcPct val="105000"/>
              </a:lnSpc>
              <a:buNone/>
            </a:pPr>
            <a:r>
              <a:rPr lang="en-US" sz="1050" b="1" spc="100" kern="0" dirty="0">
                <a:solidFill>
                  <a:srgbClr val="E7C766"/>
                </a:solidFill>
                <a:latin typeface="Arial" pitchFamily="34" charset="0"/>
                <a:ea typeface="Arial" pitchFamily="34" charset="-122"/>
                <a:cs typeface="Arial" pitchFamily="34" charset="-120"/>
              </a:rPr>
              <a:t>MAX &amp; ENTERPRISE</a:t>
            </a:r>
            <a:endParaRPr lang="en-US" sz="1050" dirty="0"/>
          </a:p>
        </p:txBody>
      </p:sp>
      <p:sp>
        <p:nvSpPr>
          <p:cNvPr id="12" name="Shape 10"/>
          <p:cNvSpPr/>
          <p:nvPr/>
        </p:nvSpPr>
        <p:spPr>
          <a:xfrm>
            <a:off x="704088" y="2286000"/>
            <a:ext cx="6528816" cy="475488"/>
          </a:xfrm>
          <a:prstGeom prst="rect">
            <a:avLst/>
          </a:prstGeom>
          <a:solidFill>
            <a:srgbClr val="E8E2D2"/>
          </a:solidFill>
          <a:ln/>
        </p:spPr>
      </p:sp>
      <p:sp>
        <p:nvSpPr>
          <p:cNvPr id="13" name="Shape 11"/>
          <p:cNvSpPr/>
          <p:nvPr/>
        </p:nvSpPr>
        <p:spPr>
          <a:xfrm rot="2700000">
            <a:off x="832104" y="2473452"/>
            <a:ext cx="100584" cy="100584"/>
          </a:xfrm>
          <a:prstGeom prst="rect">
            <a:avLst/>
          </a:prstGeom>
          <a:solidFill>
            <a:srgbClr val="C9A227"/>
          </a:solidFill>
          <a:ln w="3175">
            <a:solidFill>
              <a:srgbClr val="C9A227"/>
            </a:solidFill>
            <a:prstDash val="solid"/>
          </a:ln>
        </p:spPr>
      </p:sp>
      <p:sp>
        <p:nvSpPr>
          <p:cNvPr id="14" name="Text 12"/>
          <p:cNvSpPr txBox="1"/>
          <p:nvPr/>
        </p:nvSpPr>
        <p:spPr>
          <a:xfrm>
            <a:off x="1124712" y="2286000"/>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Your conversations are not used to train the model</a:t>
            </a:r>
            <a:endParaRPr lang="en-US" sz="1400" dirty="0"/>
          </a:p>
        </p:txBody>
      </p:sp>
      <p:sp>
        <p:nvSpPr>
          <p:cNvPr id="15" name="Text 13"/>
          <p:cNvSpPr txBox="1"/>
          <p:nvPr/>
        </p:nvSpPr>
        <p:spPr>
          <a:xfrm>
            <a:off x="7351776" y="2286000"/>
            <a:ext cx="1947672" cy="475488"/>
          </a:xfrm>
          <a:prstGeom prst="rect">
            <a:avLst/>
          </a:prstGeom>
          <a:noFill/>
          <a:ln/>
        </p:spPr>
        <p:txBody>
          <a:bodyPr wrap="square" lIns="0" tIns="0" rIns="0" bIns="0" rtlCol="0" anchor="ctr"/>
          <a:lstStyle/>
          <a:p>
            <a:pPr algn="ctr" indent="0" marL="0">
              <a:buNone/>
            </a:pPr>
            <a:r>
              <a:rPr lang="en-US" sz="950" b="1" spc="120" kern="0" dirty="0">
                <a:solidFill>
                  <a:srgbClr val="5A6379"/>
                </a:solidFill>
                <a:latin typeface="Arial" pitchFamily="34" charset="0"/>
                <a:ea typeface="Arial" pitchFamily="34" charset="-122"/>
                <a:cs typeface="Arial" pitchFamily="34" charset="-120"/>
              </a:rPr>
              <a:t>OPTIONAL</a:t>
            </a:r>
            <a:endParaRPr lang="en-US" sz="950" dirty="0"/>
          </a:p>
        </p:txBody>
      </p:sp>
      <p:sp>
        <p:nvSpPr>
          <p:cNvPr id="16" name="Text 14"/>
          <p:cNvSpPr txBox="1"/>
          <p:nvPr/>
        </p:nvSpPr>
        <p:spPr>
          <a:xfrm>
            <a:off x="9390888" y="2286000"/>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17" name="Shape 15"/>
          <p:cNvSpPr/>
          <p:nvPr/>
        </p:nvSpPr>
        <p:spPr>
          <a:xfrm rot="2700000">
            <a:off x="832104" y="2948940"/>
            <a:ext cx="100584" cy="100584"/>
          </a:xfrm>
          <a:prstGeom prst="rect">
            <a:avLst/>
          </a:prstGeom>
          <a:solidFill>
            <a:srgbClr val="C9A227"/>
          </a:solidFill>
          <a:ln w="3175">
            <a:solidFill>
              <a:srgbClr val="C9A227"/>
            </a:solidFill>
            <a:prstDash val="solid"/>
          </a:ln>
        </p:spPr>
      </p:sp>
      <p:sp>
        <p:nvSpPr>
          <p:cNvPr id="18" name="Text 16"/>
          <p:cNvSpPr txBox="1"/>
          <p:nvPr/>
        </p:nvSpPr>
        <p:spPr>
          <a:xfrm>
            <a:off x="1124712" y="2761488"/>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GDPR-aligned data processing agreement (EU standard clauses)</a:t>
            </a:r>
            <a:endParaRPr lang="en-US" sz="1400" dirty="0"/>
          </a:p>
        </p:txBody>
      </p:sp>
      <p:sp>
        <p:nvSpPr>
          <p:cNvPr id="19" name="Text 17"/>
          <p:cNvSpPr txBox="1"/>
          <p:nvPr/>
        </p:nvSpPr>
        <p:spPr>
          <a:xfrm>
            <a:off x="7351776" y="2761488"/>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20" name="Text 18"/>
          <p:cNvSpPr txBox="1"/>
          <p:nvPr/>
        </p:nvSpPr>
        <p:spPr>
          <a:xfrm>
            <a:off x="9390888" y="2761488"/>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1" name="Shape 19"/>
          <p:cNvSpPr/>
          <p:nvPr/>
        </p:nvSpPr>
        <p:spPr>
          <a:xfrm>
            <a:off x="704088" y="3236976"/>
            <a:ext cx="6528816" cy="475488"/>
          </a:xfrm>
          <a:prstGeom prst="rect">
            <a:avLst/>
          </a:prstGeom>
          <a:solidFill>
            <a:srgbClr val="E8E2D2"/>
          </a:solidFill>
          <a:ln/>
        </p:spPr>
      </p:sp>
      <p:sp>
        <p:nvSpPr>
          <p:cNvPr id="22" name="Shape 20"/>
          <p:cNvSpPr/>
          <p:nvPr/>
        </p:nvSpPr>
        <p:spPr>
          <a:xfrm rot="2700000">
            <a:off x="832104" y="3424428"/>
            <a:ext cx="100584" cy="100584"/>
          </a:xfrm>
          <a:prstGeom prst="rect">
            <a:avLst/>
          </a:prstGeom>
          <a:solidFill>
            <a:srgbClr val="C9A227"/>
          </a:solidFill>
          <a:ln w="3175">
            <a:solidFill>
              <a:srgbClr val="C9A227"/>
            </a:solidFill>
            <a:prstDash val="solid"/>
          </a:ln>
        </p:spPr>
      </p:sp>
      <p:sp>
        <p:nvSpPr>
          <p:cNvPr id="23" name="Text 21"/>
          <p:cNvSpPr txBox="1"/>
          <p:nvPr/>
        </p:nvSpPr>
        <p:spPr>
          <a:xfrm>
            <a:off x="1124712" y="3236976"/>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Single sign-on and domain capture</a:t>
            </a:r>
            <a:endParaRPr lang="en-US" sz="1400" dirty="0"/>
          </a:p>
        </p:txBody>
      </p:sp>
      <p:sp>
        <p:nvSpPr>
          <p:cNvPr id="24" name="Text 22"/>
          <p:cNvSpPr txBox="1"/>
          <p:nvPr/>
        </p:nvSpPr>
        <p:spPr>
          <a:xfrm>
            <a:off x="7351776" y="3236976"/>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25" name="Text 23"/>
          <p:cNvSpPr txBox="1"/>
          <p:nvPr/>
        </p:nvSpPr>
        <p:spPr>
          <a:xfrm>
            <a:off x="9390888" y="3236976"/>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26" name="Shape 24"/>
          <p:cNvSpPr/>
          <p:nvPr/>
        </p:nvSpPr>
        <p:spPr>
          <a:xfrm rot="2700000">
            <a:off x="832104" y="3899916"/>
            <a:ext cx="100584" cy="100584"/>
          </a:xfrm>
          <a:prstGeom prst="rect">
            <a:avLst/>
          </a:prstGeom>
          <a:solidFill>
            <a:srgbClr val="C9A227"/>
          </a:solidFill>
          <a:ln w="3175">
            <a:solidFill>
              <a:srgbClr val="C9A227"/>
            </a:solidFill>
            <a:prstDash val="solid"/>
          </a:ln>
        </p:spPr>
      </p:sp>
      <p:sp>
        <p:nvSpPr>
          <p:cNvPr id="27" name="Text 25"/>
          <p:cNvSpPr txBox="1"/>
          <p:nvPr/>
        </p:nvSpPr>
        <p:spPr>
          <a:xfrm>
            <a:off x="1124712" y="3712464"/>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Audit logs with 180-day export</a:t>
            </a:r>
            <a:endParaRPr lang="en-US" sz="1400" dirty="0"/>
          </a:p>
        </p:txBody>
      </p:sp>
      <p:sp>
        <p:nvSpPr>
          <p:cNvPr id="28" name="Text 26"/>
          <p:cNvSpPr txBox="1"/>
          <p:nvPr/>
        </p:nvSpPr>
        <p:spPr>
          <a:xfrm>
            <a:off x="7351776" y="3712464"/>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29" name="Text 27"/>
          <p:cNvSpPr txBox="1"/>
          <p:nvPr/>
        </p:nvSpPr>
        <p:spPr>
          <a:xfrm>
            <a:off x="9390888" y="3712464"/>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0" name="Shape 28"/>
          <p:cNvSpPr/>
          <p:nvPr/>
        </p:nvSpPr>
        <p:spPr>
          <a:xfrm>
            <a:off x="704088" y="4187952"/>
            <a:ext cx="6528816" cy="475488"/>
          </a:xfrm>
          <a:prstGeom prst="rect">
            <a:avLst/>
          </a:prstGeom>
          <a:solidFill>
            <a:srgbClr val="E8E2D2"/>
          </a:solidFill>
          <a:ln/>
        </p:spPr>
      </p:sp>
      <p:sp>
        <p:nvSpPr>
          <p:cNvPr id="31" name="Shape 29"/>
          <p:cNvSpPr/>
          <p:nvPr/>
        </p:nvSpPr>
        <p:spPr>
          <a:xfrm rot="2700000">
            <a:off x="832104" y="4375404"/>
            <a:ext cx="100584" cy="100584"/>
          </a:xfrm>
          <a:prstGeom prst="rect">
            <a:avLst/>
          </a:prstGeom>
          <a:solidFill>
            <a:srgbClr val="C9A227"/>
          </a:solidFill>
          <a:ln w="3175">
            <a:solidFill>
              <a:srgbClr val="C9A227"/>
            </a:solidFill>
            <a:prstDash val="solid"/>
          </a:ln>
        </p:spPr>
      </p:sp>
      <p:sp>
        <p:nvSpPr>
          <p:cNvPr id="32" name="Text 30"/>
          <p:cNvSpPr txBox="1"/>
          <p:nvPr/>
        </p:nvSpPr>
        <p:spPr>
          <a:xfrm>
            <a:off x="1124712" y="4187952"/>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Custom data retention controls</a:t>
            </a:r>
            <a:endParaRPr lang="en-US" sz="1400" dirty="0"/>
          </a:p>
        </p:txBody>
      </p:sp>
      <p:sp>
        <p:nvSpPr>
          <p:cNvPr id="33" name="Text 31"/>
          <p:cNvSpPr txBox="1"/>
          <p:nvPr/>
        </p:nvSpPr>
        <p:spPr>
          <a:xfrm>
            <a:off x="7351776" y="4187952"/>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34" name="Text 32"/>
          <p:cNvSpPr txBox="1"/>
          <p:nvPr/>
        </p:nvSpPr>
        <p:spPr>
          <a:xfrm>
            <a:off x="9390888" y="4187952"/>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5" name="Shape 33"/>
          <p:cNvSpPr/>
          <p:nvPr/>
        </p:nvSpPr>
        <p:spPr>
          <a:xfrm rot="2700000">
            <a:off x="832104" y="4850892"/>
            <a:ext cx="100584" cy="100584"/>
          </a:xfrm>
          <a:prstGeom prst="rect">
            <a:avLst/>
          </a:prstGeom>
          <a:solidFill>
            <a:srgbClr val="C9A227"/>
          </a:solidFill>
          <a:ln w="3175">
            <a:solidFill>
              <a:srgbClr val="C9A227"/>
            </a:solidFill>
            <a:prstDash val="solid"/>
          </a:ln>
        </p:spPr>
      </p:sp>
      <p:sp>
        <p:nvSpPr>
          <p:cNvPr id="36" name="Text 34"/>
          <p:cNvSpPr txBox="1"/>
          <p:nvPr/>
        </p:nvSpPr>
        <p:spPr>
          <a:xfrm>
            <a:off x="1124712" y="4663440"/>
            <a:ext cx="5998464" cy="475488"/>
          </a:xfrm>
          <a:prstGeom prst="rect">
            <a:avLst/>
          </a:prstGeom>
          <a:noFill/>
          <a:ln/>
        </p:spPr>
        <p:txBody>
          <a:bodyPr wrap="square" lIns="0" tIns="0" rIns="0" bIns="0" rtlCol="0" anchor="ctr"/>
          <a:lstStyle/>
          <a:p>
            <a:pPr algn="l" indent="0" marL="0">
              <a:lnSpc>
                <a:spcPct val="105000"/>
              </a:lnSpc>
              <a:buNone/>
            </a:pPr>
            <a:r>
              <a:rPr lang="en-US" sz="1400" dirty="0">
                <a:solidFill>
                  <a:srgbClr val="14213D"/>
                </a:solidFill>
                <a:latin typeface="Arial" pitchFamily="34" charset="0"/>
                <a:ea typeface="Arial" pitchFamily="34" charset="-122"/>
                <a:cs typeface="Arial" pitchFamily="34" charset="-120"/>
              </a:rPr>
              <a:t>Role-based permissions and a compliance API</a:t>
            </a:r>
            <a:endParaRPr lang="en-US" sz="1400" dirty="0"/>
          </a:p>
        </p:txBody>
      </p:sp>
      <p:sp>
        <p:nvSpPr>
          <p:cNvPr id="37" name="Text 35"/>
          <p:cNvSpPr txBox="1"/>
          <p:nvPr/>
        </p:nvSpPr>
        <p:spPr>
          <a:xfrm>
            <a:off x="7351776" y="4663440"/>
            <a:ext cx="1947672" cy="475488"/>
          </a:xfrm>
          <a:prstGeom prst="rect">
            <a:avLst/>
          </a:prstGeom>
          <a:noFill/>
          <a:ln/>
        </p:spPr>
        <p:txBody>
          <a:bodyPr wrap="square" lIns="0" tIns="0" rIns="0" bIns="0" rtlCol="0" anchor="ctr"/>
          <a:lstStyle/>
          <a:p>
            <a:pPr algn="ctr" indent="0" marL="0">
              <a:buNone/>
            </a:pPr>
            <a:r>
              <a:rPr lang="en-US" sz="1500" b="1" dirty="0">
                <a:solidFill>
                  <a:srgbClr val="5A6379"/>
                </a:solidFill>
                <a:latin typeface="Arial" pitchFamily="34" charset="0"/>
                <a:ea typeface="Arial" pitchFamily="34" charset="-122"/>
                <a:cs typeface="Arial" pitchFamily="34" charset="-120"/>
              </a:rPr>
              <a:t>✕</a:t>
            </a:r>
            <a:endParaRPr lang="en-US" sz="1500" dirty="0"/>
          </a:p>
        </p:txBody>
      </p:sp>
      <p:sp>
        <p:nvSpPr>
          <p:cNvPr id="38" name="Text 36"/>
          <p:cNvSpPr txBox="1"/>
          <p:nvPr/>
        </p:nvSpPr>
        <p:spPr>
          <a:xfrm>
            <a:off x="9390888" y="4663440"/>
            <a:ext cx="1947672" cy="475488"/>
          </a:xfrm>
          <a:prstGeom prst="rect">
            <a:avLst/>
          </a:prstGeom>
          <a:noFill/>
          <a:ln/>
        </p:spPr>
        <p:txBody>
          <a:bodyPr wrap="square" lIns="0" tIns="0" rIns="0" bIns="0" rtlCol="0" anchor="ctr"/>
          <a:lstStyle/>
          <a:p>
            <a:pPr algn="ctr" indent="0" marL="0">
              <a:buNone/>
            </a:pPr>
            <a:r>
              <a:rPr lang="en-US" sz="2000" b="1" dirty="0">
                <a:solidFill>
                  <a:srgbClr val="E7C766"/>
                </a:solidFill>
                <a:latin typeface="Arial" pitchFamily="34" charset="0"/>
                <a:ea typeface="Arial" pitchFamily="34" charset="-122"/>
                <a:cs typeface="Arial" pitchFamily="34" charset="-120"/>
              </a:rPr>
              <a:t>✓</a:t>
            </a:r>
            <a:endParaRPr lang="en-US" sz="2000" dirty="0"/>
          </a:p>
        </p:txBody>
      </p:sp>
      <p:sp>
        <p:nvSpPr>
          <p:cNvPr id="39" name="Text 37"/>
          <p:cNvSpPr/>
          <p:nvPr/>
        </p:nvSpPr>
        <p:spPr>
          <a:xfrm>
            <a:off x="813816" y="5248656"/>
            <a:ext cx="10570464" cy="299466"/>
          </a:xfrm>
          <a:prstGeom prst="rect">
            <a:avLst/>
          </a:prstGeom>
          <a:noFill/>
          <a:ln/>
        </p:spPr>
        <p:txBody>
          <a:bodyPr wrap="square" lIns="0" tIns="0" rIns="0" bIns="0" rtlCol="0" anchor="t"/>
          <a:lstStyle/>
          <a:p>
            <a:pPr algn="l" indent="0" marL="0">
              <a:lnSpc>
                <a:spcPct val="116000"/>
              </a:lnSpc>
              <a:buNone/>
            </a:pPr>
            <a:r>
              <a:rPr lang="en-US" sz="1300" b="1" dirty="0">
                <a:solidFill>
                  <a:srgbClr val="8A6D14"/>
                </a:solidFill>
                <a:latin typeface="Arial" pitchFamily="34" charset="0"/>
                <a:ea typeface="Arial" pitchFamily="34" charset="-122"/>
                <a:cs typeface="Arial" pitchFamily="34" charset="-120"/>
              </a:rPr>
              <a:t>Claude for Work is SOC 2 Type II and ISO 27001 certified. Every plan encrypts your data in transit and at rest.</a:t>
            </a:r>
            <a:endParaRPr lang="en-US" sz="1300" dirty="0"/>
          </a:p>
        </p:txBody>
      </p:sp>
      <p:sp>
        <p:nvSpPr>
          <p:cNvPr id="40" name="Text 38"/>
          <p:cNvSpPr/>
          <p:nvPr/>
        </p:nvSpPr>
        <p:spPr>
          <a:xfrm>
            <a:off x="813816" y="5559552"/>
            <a:ext cx="10570464" cy="164592"/>
          </a:xfrm>
          <a:prstGeom prst="rect">
            <a:avLst/>
          </a:prstGeom>
          <a:noFill/>
          <a:ln/>
        </p:spPr>
        <p:txBody>
          <a:bodyPr wrap="square" lIns="0" tIns="0" rIns="0" bIns="0" rtlCol="0" anchor="ctr"/>
          <a:lstStyle/>
          <a:p>
            <a:pPr algn="l" indent="0" marL="0">
              <a:buNone/>
            </a:pPr>
            <a:r>
              <a:rPr lang="en-US" sz="900" i="1" dirty="0">
                <a:solidFill>
                  <a:srgbClr val="5A6379"/>
                </a:solidFill>
                <a:latin typeface="Arial" pitchFamily="34" charset="0"/>
                <a:ea typeface="Arial" pitchFamily="34" charset="-122"/>
                <a:cs typeface="Arial" pitchFamily="34" charset="-120"/>
              </a:rPr>
              <a:t>SSO is Team and up. Audit logs, retention, role permissions and the DPA are Enterprise. Pro and Max set training exclusion in privacy settings. Source: privacy.claude.com.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Slides>
  <Notes>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vt:i4>
      </vt:variant>
    </vt:vector>
  </HeadingPairs>
  <TitlesOfParts>
    <vt:vector size="5" baseType="lpstr">
      <vt:lpstr>Arial</vt:lpstr>
      <vt:lpstr>Calibri</vt:lpstr>
      <vt:lpstr>Office Theme</vt:lpstr>
      <vt:lpstr>Slide 1</vt:lpstr>
      <vt:lpstr>Slide 2</vt:lpstr>
    </vt:vector>
  </TitlesOfParts>
  <Company>Denise Gosnell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Build Your Own Donna: Appendix</dc:title>
  <dc:subject>PptxGenJS Presentation</dc:subject>
  <dc:creator>Denise Gosnell</dc:creator>
  <cp:lastModifiedBy>Denise Gosnell</cp:lastModifiedBy>
  <cp:revision>1</cp:revision>
  <dcterms:created xsi:type="dcterms:W3CDTF">2026-10-19T19:58:50Z</dcterms:created>
  <dcterms:modified xsi:type="dcterms:W3CDTF">2026-10-19T19:58:50Z</dcterms:modified>
</cp:coreProperties>
</file>