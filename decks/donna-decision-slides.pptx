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
[SAY] Everything we do today transfers. The vocabulary, the email connection, the personalized agent, and the document that makes it portable work on any of these platforms. The last row is the difference: walking out with an agent that runs on a schedule, without you pressing a button, is a paid Claude capability.
[DO] Point at the last row. Hold on it.
[WATCH] Someone will ask if ChatGPT or Copilot can schedule. They have task features, but not the full agent loop we build today. Do not get pulled into a feature debate; the row is about what they leave with this afternoon.
[NEXT] So the real decision is not whether to do this. It is which plan your data deserves.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
[SAY] On the free plan, keeping your conversations out of training is a setting you have to go find. On Claude for Work it is the default, in the contract. Everything below that row is the admin layer: the controls your IT and legal teams will ask about by name, and they only exist on the business plans.
[DO] None. Let the column speak.
[WATCH] Be precise if pressed: Pro and Max carry the same training toggle as free; the contractual exclusion and every admin control on this list is Claude for Work, and most are Enterprise. The free plan is not insecure, it is unmanaged. Say it that way.
[NEXT] That is the decision. Pick the plan, and we start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BUILD YOUR OWN DONNA · LEARNING OUTCOMES</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What you leave with.</a:t>
            </a:r>
            <a:endParaRPr lang="en-US" sz="4000" dirty="0"/>
          </a:p>
        </p:txBody>
      </p:sp>
      <p:sp>
        <p:nvSpPr>
          <p:cNvPr id="11" name="Shape 9"/>
          <p:cNvSpPr/>
          <p:nvPr/>
        </p:nvSpPr>
        <p:spPr>
          <a:xfrm>
            <a:off x="6469380" y="1591056"/>
            <a:ext cx="1531620" cy="3602736"/>
          </a:xfrm>
          <a:prstGeom prst="roundRect">
            <a:avLst>
              <a:gd name="adj" fmla="val 4776"/>
            </a:avLst>
          </a:prstGeom>
          <a:solidFill>
            <a:srgbClr val="14213D"/>
          </a:solidFill>
          <a:ln/>
        </p:spPr>
      </p:sp>
      <p:sp>
        <p:nvSpPr>
          <p:cNvPr id="12" name="Text 10"/>
          <p:cNvSpPr txBox="1"/>
          <p:nvPr/>
        </p:nvSpPr>
        <p:spPr>
          <a:xfrm>
            <a:off x="4791456" y="1664208"/>
            <a:ext cx="1568196"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CLAUDE</a:t>
            </a:r>
            <a:endParaRPr lang="en-US" sz="1050" dirty="0"/>
          </a:p>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FREE</a:t>
            </a:r>
            <a:endParaRPr lang="en-US" sz="1050" dirty="0"/>
          </a:p>
        </p:txBody>
      </p:sp>
      <p:sp>
        <p:nvSpPr>
          <p:cNvPr id="13" name="Text 11"/>
          <p:cNvSpPr txBox="1"/>
          <p:nvPr/>
        </p:nvSpPr>
        <p:spPr>
          <a:xfrm>
            <a:off x="6451092" y="1664208"/>
            <a:ext cx="1568196"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E7C766"/>
                </a:solidFill>
                <a:latin typeface="Arial" pitchFamily="34" charset="0"/>
                <a:ea typeface="Arial" pitchFamily="34" charset="-122"/>
                <a:cs typeface="Arial" pitchFamily="34" charset="-120"/>
              </a:rPr>
              <a:t>CLAUDE PRO,</a:t>
            </a:r>
            <a:endParaRPr lang="en-US" sz="1050" dirty="0"/>
          </a:p>
          <a:p>
            <a:pPr algn="ctr" indent="0" marL="0">
              <a:lnSpc>
                <a:spcPct val="105000"/>
              </a:lnSpc>
              <a:buNone/>
            </a:pPr>
            <a:r>
              <a:rPr lang="en-US" sz="1050" b="1" spc="100" kern="0" dirty="0">
                <a:solidFill>
                  <a:srgbClr val="E7C766"/>
                </a:solidFill>
                <a:latin typeface="Arial" pitchFamily="34" charset="0"/>
                <a:ea typeface="Arial" pitchFamily="34" charset="-122"/>
                <a:cs typeface="Arial" pitchFamily="34" charset="-120"/>
              </a:rPr>
              <a:t>MAX &amp; ENTERPRISE</a:t>
            </a:r>
            <a:endParaRPr lang="en-US" sz="1050" dirty="0"/>
          </a:p>
        </p:txBody>
      </p:sp>
      <p:sp>
        <p:nvSpPr>
          <p:cNvPr id="14" name="Text 12"/>
          <p:cNvSpPr txBox="1"/>
          <p:nvPr/>
        </p:nvSpPr>
        <p:spPr>
          <a:xfrm>
            <a:off x="8110728" y="1664208"/>
            <a:ext cx="1568196"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CHATGPT</a:t>
            </a:r>
            <a:endParaRPr lang="en-US" sz="1050" dirty="0"/>
          </a:p>
        </p:txBody>
      </p:sp>
      <p:sp>
        <p:nvSpPr>
          <p:cNvPr id="15" name="Text 13"/>
          <p:cNvSpPr txBox="1"/>
          <p:nvPr/>
        </p:nvSpPr>
        <p:spPr>
          <a:xfrm>
            <a:off x="9770364" y="1664208"/>
            <a:ext cx="1568196"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MICROSOFT</a:t>
            </a:r>
            <a:endParaRPr lang="en-US" sz="1050" dirty="0"/>
          </a:p>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COPILOT</a:t>
            </a:r>
            <a:endParaRPr lang="en-US" sz="1050" dirty="0"/>
          </a:p>
        </p:txBody>
      </p:sp>
      <p:sp>
        <p:nvSpPr>
          <p:cNvPr id="16" name="Shape 14"/>
          <p:cNvSpPr/>
          <p:nvPr/>
        </p:nvSpPr>
        <p:spPr>
          <a:xfrm>
            <a:off x="704088" y="2286000"/>
            <a:ext cx="3968496" cy="566928"/>
          </a:xfrm>
          <a:prstGeom prst="rect">
            <a:avLst/>
          </a:prstGeom>
          <a:solidFill>
            <a:srgbClr val="E8E2D2"/>
          </a:solidFill>
          <a:ln/>
        </p:spPr>
      </p:sp>
      <p:sp>
        <p:nvSpPr>
          <p:cNvPr id="17" name="Shape 15"/>
          <p:cNvSpPr/>
          <p:nvPr/>
        </p:nvSpPr>
        <p:spPr>
          <a:xfrm rot="2700000">
            <a:off x="832104" y="2519172"/>
            <a:ext cx="100584" cy="100584"/>
          </a:xfrm>
          <a:prstGeom prst="rect">
            <a:avLst/>
          </a:prstGeom>
          <a:solidFill>
            <a:srgbClr val="C9A227"/>
          </a:solidFill>
          <a:ln w="3175">
            <a:solidFill>
              <a:srgbClr val="C9A227"/>
            </a:solidFill>
            <a:prstDash val="solid"/>
          </a:ln>
        </p:spPr>
      </p:sp>
      <p:sp>
        <p:nvSpPr>
          <p:cNvPr id="18" name="Text 16"/>
          <p:cNvSpPr txBox="1"/>
          <p:nvPr/>
        </p:nvSpPr>
        <p:spPr>
          <a:xfrm>
            <a:off x="1124712" y="2286000"/>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AI terminology: chat, projects, context window, agents</a:t>
            </a:r>
            <a:endParaRPr lang="en-US" sz="1400" dirty="0"/>
          </a:p>
        </p:txBody>
      </p:sp>
      <p:sp>
        <p:nvSpPr>
          <p:cNvPr id="19" name="Text 17"/>
          <p:cNvSpPr txBox="1"/>
          <p:nvPr/>
        </p:nvSpPr>
        <p:spPr>
          <a:xfrm>
            <a:off x="4791456" y="2286000"/>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0" name="Text 18"/>
          <p:cNvSpPr txBox="1"/>
          <p:nvPr/>
        </p:nvSpPr>
        <p:spPr>
          <a:xfrm>
            <a:off x="6451092" y="2286000"/>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21" name="Text 19"/>
          <p:cNvSpPr txBox="1"/>
          <p:nvPr/>
        </p:nvSpPr>
        <p:spPr>
          <a:xfrm>
            <a:off x="8110728" y="2286000"/>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2" name="Text 20"/>
          <p:cNvSpPr txBox="1"/>
          <p:nvPr/>
        </p:nvSpPr>
        <p:spPr>
          <a:xfrm>
            <a:off x="9770364" y="2286000"/>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3" name="Shape 21"/>
          <p:cNvSpPr/>
          <p:nvPr/>
        </p:nvSpPr>
        <p:spPr>
          <a:xfrm rot="2700000">
            <a:off x="832104" y="3086100"/>
            <a:ext cx="100584" cy="100584"/>
          </a:xfrm>
          <a:prstGeom prst="rect">
            <a:avLst/>
          </a:prstGeom>
          <a:solidFill>
            <a:srgbClr val="C9A227"/>
          </a:solidFill>
          <a:ln w="3175">
            <a:solidFill>
              <a:srgbClr val="C9A227"/>
            </a:solidFill>
            <a:prstDash val="solid"/>
          </a:ln>
        </p:spPr>
      </p:sp>
      <p:sp>
        <p:nvSpPr>
          <p:cNvPr id="24" name="Text 22"/>
          <p:cNvSpPr txBox="1"/>
          <p:nvPr/>
        </p:nvSpPr>
        <p:spPr>
          <a:xfrm>
            <a:off x="1124712" y="2852928"/>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Connect an agent to your email</a:t>
            </a:r>
            <a:endParaRPr lang="en-US" sz="1400" dirty="0"/>
          </a:p>
        </p:txBody>
      </p:sp>
      <p:sp>
        <p:nvSpPr>
          <p:cNvPr id="25" name="Text 23"/>
          <p:cNvSpPr txBox="1"/>
          <p:nvPr/>
        </p:nvSpPr>
        <p:spPr>
          <a:xfrm>
            <a:off x="4791456" y="2852928"/>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6" name="Text 24"/>
          <p:cNvSpPr txBox="1"/>
          <p:nvPr/>
        </p:nvSpPr>
        <p:spPr>
          <a:xfrm>
            <a:off x="6451092" y="2852928"/>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27" name="Text 25"/>
          <p:cNvSpPr txBox="1"/>
          <p:nvPr/>
        </p:nvSpPr>
        <p:spPr>
          <a:xfrm>
            <a:off x="8110728" y="2852928"/>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8" name="Text 26"/>
          <p:cNvSpPr txBox="1"/>
          <p:nvPr/>
        </p:nvSpPr>
        <p:spPr>
          <a:xfrm>
            <a:off x="9770364" y="2852928"/>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9" name="Shape 27"/>
          <p:cNvSpPr/>
          <p:nvPr/>
        </p:nvSpPr>
        <p:spPr>
          <a:xfrm>
            <a:off x="704088" y="3419856"/>
            <a:ext cx="3968496" cy="566928"/>
          </a:xfrm>
          <a:prstGeom prst="rect">
            <a:avLst/>
          </a:prstGeom>
          <a:solidFill>
            <a:srgbClr val="E8E2D2"/>
          </a:solidFill>
          <a:ln/>
        </p:spPr>
      </p:sp>
      <p:sp>
        <p:nvSpPr>
          <p:cNvPr id="30" name="Shape 28"/>
          <p:cNvSpPr/>
          <p:nvPr/>
        </p:nvSpPr>
        <p:spPr>
          <a:xfrm rot="2700000">
            <a:off x="832104" y="3653028"/>
            <a:ext cx="100584" cy="100584"/>
          </a:xfrm>
          <a:prstGeom prst="rect">
            <a:avLst/>
          </a:prstGeom>
          <a:solidFill>
            <a:srgbClr val="C9A227"/>
          </a:solidFill>
          <a:ln w="3175">
            <a:solidFill>
              <a:srgbClr val="C9A227"/>
            </a:solidFill>
            <a:prstDash val="solid"/>
          </a:ln>
        </p:spPr>
      </p:sp>
      <p:sp>
        <p:nvSpPr>
          <p:cNvPr id="31" name="Text 29"/>
          <p:cNvSpPr txBox="1"/>
          <p:nvPr/>
        </p:nvSpPr>
        <p:spPr>
          <a:xfrm>
            <a:off x="1124712" y="3419856"/>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Build a personalized agent</a:t>
            </a:r>
            <a:endParaRPr lang="en-US" sz="1400" dirty="0"/>
          </a:p>
        </p:txBody>
      </p:sp>
      <p:sp>
        <p:nvSpPr>
          <p:cNvPr id="32" name="Text 30"/>
          <p:cNvSpPr txBox="1"/>
          <p:nvPr/>
        </p:nvSpPr>
        <p:spPr>
          <a:xfrm>
            <a:off x="4791456" y="3419856"/>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3" name="Text 31"/>
          <p:cNvSpPr txBox="1"/>
          <p:nvPr/>
        </p:nvSpPr>
        <p:spPr>
          <a:xfrm>
            <a:off x="6451092" y="3419856"/>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34" name="Text 32"/>
          <p:cNvSpPr txBox="1"/>
          <p:nvPr/>
        </p:nvSpPr>
        <p:spPr>
          <a:xfrm>
            <a:off x="8110728" y="3419856"/>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5" name="Text 33"/>
          <p:cNvSpPr txBox="1"/>
          <p:nvPr/>
        </p:nvSpPr>
        <p:spPr>
          <a:xfrm>
            <a:off x="9770364" y="3419856"/>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6" name="Shape 34"/>
          <p:cNvSpPr/>
          <p:nvPr/>
        </p:nvSpPr>
        <p:spPr>
          <a:xfrm rot="2700000">
            <a:off x="832104" y="4219956"/>
            <a:ext cx="100584" cy="100584"/>
          </a:xfrm>
          <a:prstGeom prst="rect">
            <a:avLst/>
          </a:prstGeom>
          <a:solidFill>
            <a:srgbClr val="C9A227"/>
          </a:solidFill>
          <a:ln w="3175">
            <a:solidFill>
              <a:srgbClr val="C9A227"/>
            </a:solidFill>
            <a:prstDash val="solid"/>
          </a:ln>
        </p:spPr>
      </p:sp>
      <p:sp>
        <p:nvSpPr>
          <p:cNvPr id="37" name="Text 35"/>
          <p:cNvSpPr txBox="1"/>
          <p:nvPr/>
        </p:nvSpPr>
        <p:spPr>
          <a:xfrm>
            <a:off x="1124712" y="3986784"/>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A portable agent you own</a:t>
            </a:r>
            <a:endParaRPr lang="en-US" sz="1400" dirty="0"/>
          </a:p>
        </p:txBody>
      </p:sp>
      <p:sp>
        <p:nvSpPr>
          <p:cNvPr id="38" name="Text 36"/>
          <p:cNvSpPr txBox="1"/>
          <p:nvPr/>
        </p:nvSpPr>
        <p:spPr>
          <a:xfrm>
            <a:off x="4791456" y="3986784"/>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9" name="Text 37"/>
          <p:cNvSpPr txBox="1"/>
          <p:nvPr/>
        </p:nvSpPr>
        <p:spPr>
          <a:xfrm>
            <a:off x="6451092" y="3986784"/>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40" name="Text 38"/>
          <p:cNvSpPr txBox="1"/>
          <p:nvPr/>
        </p:nvSpPr>
        <p:spPr>
          <a:xfrm>
            <a:off x="8110728" y="3986784"/>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41" name="Text 39"/>
          <p:cNvSpPr txBox="1"/>
          <p:nvPr/>
        </p:nvSpPr>
        <p:spPr>
          <a:xfrm>
            <a:off x="9770364" y="3986784"/>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42" name="Shape 40"/>
          <p:cNvSpPr/>
          <p:nvPr/>
        </p:nvSpPr>
        <p:spPr>
          <a:xfrm>
            <a:off x="704088" y="4553712"/>
            <a:ext cx="3968496" cy="566928"/>
          </a:xfrm>
          <a:prstGeom prst="rect">
            <a:avLst/>
          </a:prstGeom>
          <a:solidFill>
            <a:srgbClr val="E8E2D2"/>
          </a:solidFill>
          <a:ln/>
        </p:spPr>
      </p:sp>
      <p:sp>
        <p:nvSpPr>
          <p:cNvPr id="43" name="Shape 41"/>
          <p:cNvSpPr/>
          <p:nvPr/>
        </p:nvSpPr>
        <p:spPr>
          <a:xfrm rot="2700000">
            <a:off x="832104" y="4786884"/>
            <a:ext cx="100584" cy="100584"/>
          </a:xfrm>
          <a:prstGeom prst="rect">
            <a:avLst/>
          </a:prstGeom>
          <a:solidFill>
            <a:srgbClr val="C9A227"/>
          </a:solidFill>
          <a:ln w="3175">
            <a:solidFill>
              <a:srgbClr val="C9A227"/>
            </a:solidFill>
            <a:prstDash val="solid"/>
          </a:ln>
        </p:spPr>
      </p:sp>
      <p:sp>
        <p:nvSpPr>
          <p:cNvPr id="44" name="Text 42"/>
          <p:cNvSpPr txBox="1"/>
          <p:nvPr/>
        </p:nvSpPr>
        <p:spPr>
          <a:xfrm>
            <a:off x="1124712" y="4553712"/>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Leave with a scheduled agent, running on its own</a:t>
            </a:r>
            <a:endParaRPr lang="en-US" sz="1400" dirty="0"/>
          </a:p>
        </p:txBody>
      </p:sp>
      <p:sp>
        <p:nvSpPr>
          <p:cNvPr id="45" name="Text 43"/>
          <p:cNvSpPr txBox="1"/>
          <p:nvPr/>
        </p:nvSpPr>
        <p:spPr>
          <a:xfrm>
            <a:off x="4791456" y="4553712"/>
            <a:ext cx="1568196" cy="56692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46" name="Text 44"/>
          <p:cNvSpPr txBox="1"/>
          <p:nvPr/>
        </p:nvSpPr>
        <p:spPr>
          <a:xfrm>
            <a:off x="6451092" y="4553712"/>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47" name="Text 45"/>
          <p:cNvSpPr txBox="1"/>
          <p:nvPr/>
        </p:nvSpPr>
        <p:spPr>
          <a:xfrm>
            <a:off x="8110728" y="4553712"/>
            <a:ext cx="1568196" cy="56692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48" name="Text 46"/>
          <p:cNvSpPr txBox="1"/>
          <p:nvPr/>
        </p:nvSpPr>
        <p:spPr>
          <a:xfrm>
            <a:off x="9770364" y="4553712"/>
            <a:ext cx="1568196" cy="56692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49" name="Text 47"/>
          <p:cNvSpPr/>
          <p:nvPr/>
        </p:nvSpPr>
        <p:spPr>
          <a:xfrm>
            <a:off x="813816" y="5303520"/>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8A6D14"/>
                </a:solidFill>
                <a:latin typeface="Arial" pitchFamily="34" charset="0"/>
                <a:ea typeface="Arial" pitchFamily="34" charset="-122"/>
                <a:cs typeface="Arial" pitchFamily="34" charset="-120"/>
              </a:rPr>
              <a:t>Any platform covers the first four. Leaving with a scheduled agent running on its own takes a paid Claude plan.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BUILD YOUR OWN DONNA · DATA SECURITY IN CLAUDE</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Where your data stands.</a:t>
            </a:r>
            <a:endParaRPr lang="en-US" sz="4000" dirty="0"/>
          </a:p>
        </p:txBody>
      </p:sp>
      <p:sp>
        <p:nvSpPr>
          <p:cNvPr id="11" name="Shape 9"/>
          <p:cNvSpPr/>
          <p:nvPr/>
        </p:nvSpPr>
        <p:spPr>
          <a:xfrm>
            <a:off x="9409176" y="1591056"/>
            <a:ext cx="1911096" cy="3621024"/>
          </a:xfrm>
          <a:prstGeom prst="roundRect">
            <a:avLst>
              <a:gd name="adj" fmla="val 3828"/>
            </a:avLst>
          </a:prstGeom>
          <a:solidFill>
            <a:srgbClr val="14213D"/>
          </a:solidFill>
          <a:ln/>
        </p:spPr>
      </p:sp>
      <p:sp>
        <p:nvSpPr>
          <p:cNvPr id="12" name="Text 10"/>
          <p:cNvSpPr txBox="1"/>
          <p:nvPr/>
        </p:nvSpPr>
        <p:spPr>
          <a:xfrm>
            <a:off x="7351776" y="1664208"/>
            <a:ext cx="1947672"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CLAUDE</a:t>
            </a:r>
            <a:endParaRPr lang="en-US" sz="1050" dirty="0"/>
          </a:p>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FREE</a:t>
            </a:r>
            <a:endParaRPr lang="en-US" sz="1050" dirty="0"/>
          </a:p>
        </p:txBody>
      </p:sp>
      <p:sp>
        <p:nvSpPr>
          <p:cNvPr id="13" name="Text 11"/>
          <p:cNvSpPr txBox="1"/>
          <p:nvPr/>
        </p:nvSpPr>
        <p:spPr>
          <a:xfrm>
            <a:off x="9390888" y="1664208"/>
            <a:ext cx="1947672"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E7C766"/>
                </a:solidFill>
                <a:latin typeface="Arial" pitchFamily="34" charset="0"/>
                <a:ea typeface="Arial" pitchFamily="34" charset="-122"/>
                <a:cs typeface="Arial" pitchFamily="34" charset="-120"/>
              </a:rPr>
              <a:t>CLAUDE PRO,</a:t>
            </a:r>
            <a:endParaRPr lang="en-US" sz="1050" dirty="0"/>
          </a:p>
          <a:p>
            <a:pPr algn="ctr" indent="0" marL="0">
              <a:lnSpc>
                <a:spcPct val="105000"/>
              </a:lnSpc>
              <a:buNone/>
            </a:pPr>
            <a:r>
              <a:rPr lang="en-US" sz="1050" b="1" spc="100" kern="0" dirty="0">
                <a:solidFill>
                  <a:srgbClr val="E7C766"/>
                </a:solidFill>
                <a:latin typeface="Arial" pitchFamily="34" charset="0"/>
                <a:ea typeface="Arial" pitchFamily="34" charset="-122"/>
                <a:cs typeface="Arial" pitchFamily="34" charset="-120"/>
              </a:rPr>
              <a:t>MAX &amp; ENTERPRISE</a:t>
            </a:r>
            <a:endParaRPr lang="en-US" sz="1050" dirty="0"/>
          </a:p>
        </p:txBody>
      </p:sp>
      <p:sp>
        <p:nvSpPr>
          <p:cNvPr id="14" name="Shape 12"/>
          <p:cNvSpPr/>
          <p:nvPr/>
        </p:nvSpPr>
        <p:spPr>
          <a:xfrm>
            <a:off x="704088" y="2286000"/>
            <a:ext cx="6528816" cy="475488"/>
          </a:xfrm>
          <a:prstGeom prst="rect">
            <a:avLst/>
          </a:prstGeom>
          <a:solidFill>
            <a:srgbClr val="E8E2D2"/>
          </a:solidFill>
          <a:ln/>
        </p:spPr>
      </p:sp>
      <p:sp>
        <p:nvSpPr>
          <p:cNvPr id="15" name="Shape 13"/>
          <p:cNvSpPr/>
          <p:nvPr/>
        </p:nvSpPr>
        <p:spPr>
          <a:xfrm rot="2700000">
            <a:off x="832104" y="2473452"/>
            <a:ext cx="100584" cy="100584"/>
          </a:xfrm>
          <a:prstGeom prst="rect">
            <a:avLst/>
          </a:prstGeom>
          <a:solidFill>
            <a:srgbClr val="C9A227"/>
          </a:solidFill>
          <a:ln w="3175">
            <a:solidFill>
              <a:srgbClr val="C9A227"/>
            </a:solidFill>
            <a:prstDash val="solid"/>
          </a:ln>
        </p:spPr>
      </p:sp>
      <p:sp>
        <p:nvSpPr>
          <p:cNvPr id="16" name="Text 14"/>
          <p:cNvSpPr txBox="1"/>
          <p:nvPr/>
        </p:nvSpPr>
        <p:spPr>
          <a:xfrm>
            <a:off x="1124712" y="2286000"/>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Your conversations are not used to train the model</a:t>
            </a:r>
            <a:endParaRPr lang="en-US" sz="1400" dirty="0"/>
          </a:p>
        </p:txBody>
      </p:sp>
      <p:sp>
        <p:nvSpPr>
          <p:cNvPr id="17" name="Text 15"/>
          <p:cNvSpPr txBox="1"/>
          <p:nvPr/>
        </p:nvSpPr>
        <p:spPr>
          <a:xfrm>
            <a:off x="7351776" y="2286000"/>
            <a:ext cx="1947672" cy="475488"/>
          </a:xfrm>
          <a:prstGeom prst="rect">
            <a:avLst/>
          </a:prstGeom>
          <a:noFill/>
          <a:ln/>
        </p:spPr>
        <p:txBody>
          <a:bodyPr wrap="square" lIns="0" tIns="0" rIns="0" bIns="0" rtlCol="0" anchor="ctr"/>
          <a:lstStyle/>
          <a:p>
            <a:pPr algn="ctr" indent="0" marL="0">
              <a:buNone/>
            </a:pPr>
            <a:r>
              <a:rPr lang="en-US" sz="950" b="1" spc="120" kern="0" dirty="0">
                <a:solidFill>
                  <a:srgbClr val="5A6379"/>
                </a:solidFill>
                <a:latin typeface="Arial" pitchFamily="34" charset="0"/>
                <a:ea typeface="Arial" pitchFamily="34" charset="-122"/>
                <a:cs typeface="Arial" pitchFamily="34" charset="-120"/>
              </a:rPr>
              <a:t>OPTIONAL</a:t>
            </a:r>
            <a:endParaRPr lang="en-US" sz="950" dirty="0"/>
          </a:p>
        </p:txBody>
      </p:sp>
      <p:sp>
        <p:nvSpPr>
          <p:cNvPr id="18" name="Text 16"/>
          <p:cNvSpPr txBox="1"/>
          <p:nvPr/>
        </p:nvSpPr>
        <p:spPr>
          <a:xfrm>
            <a:off x="9390888" y="2286000"/>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19" name="Shape 17"/>
          <p:cNvSpPr/>
          <p:nvPr/>
        </p:nvSpPr>
        <p:spPr>
          <a:xfrm rot="2700000">
            <a:off x="832104" y="2948940"/>
            <a:ext cx="100584" cy="100584"/>
          </a:xfrm>
          <a:prstGeom prst="rect">
            <a:avLst/>
          </a:prstGeom>
          <a:solidFill>
            <a:srgbClr val="C9A227"/>
          </a:solidFill>
          <a:ln w="3175">
            <a:solidFill>
              <a:srgbClr val="C9A227"/>
            </a:solidFill>
            <a:prstDash val="solid"/>
          </a:ln>
        </p:spPr>
      </p:sp>
      <p:sp>
        <p:nvSpPr>
          <p:cNvPr id="20" name="Text 18"/>
          <p:cNvSpPr txBox="1"/>
          <p:nvPr/>
        </p:nvSpPr>
        <p:spPr>
          <a:xfrm>
            <a:off x="1124712" y="2761488"/>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GDPR-aligned data processing agreement (EU standard clauses)</a:t>
            </a:r>
            <a:endParaRPr lang="en-US" sz="1400" dirty="0"/>
          </a:p>
        </p:txBody>
      </p:sp>
      <p:sp>
        <p:nvSpPr>
          <p:cNvPr id="21" name="Text 19"/>
          <p:cNvSpPr txBox="1"/>
          <p:nvPr/>
        </p:nvSpPr>
        <p:spPr>
          <a:xfrm>
            <a:off x="7351776" y="2761488"/>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22" name="Text 20"/>
          <p:cNvSpPr txBox="1"/>
          <p:nvPr/>
        </p:nvSpPr>
        <p:spPr>
          <a:xfrm>
            <a:off x="9390888" y="2761488"/>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23" name="Shape 21"/>
          <p:cNvSpPr/>
          <p:nvPr/>
        </p:nvSpPr>
        <p:spPr>
          <a:xfrm>
            <a:off x="704088" y="3236976"/>
            <a:ext cx="6528816" cy="475488"/>
          </a:xfrm>
          <a:prstGeom prst="rect">
            <a:avLst/>
          </a:prstGeom>
          <a:solidFill>
            <a:srgbClr val="E8E2D2"/>
          </a:solidFill>
          <a:ln/>
        </p:spPr>
      </p:sp>
      <p:sp>
        <p:nvSpPr>
          <p:cNvPr id="24" name="Shape 22"/>
          <p:cNvSpPr/>
          <p:nvPr/>
        </p:nvSpPr>
        <p:spPr>
          <a:xfrm rot="2700000">
            <a:off x="832104" y="3424428"/>
            <a:ext cx="100584" cy="100584"/>
          </a:xfrm>
          <a:prstGeom prst="rect">
            <a:avLst/>
          </a:prstGeom>
          <a:solidFill>
            <a:srgbClr val="C9A227"/>
          </a:solidFill>
          <a:ln w="3175">
            <a:solidFill>
              <a:srgbClr val="C9A227"/>
            </a:solidFill>
            <a:prstDash val="solid"/>
          </a:ln>
        </p:spPr>
      </p:sp>
      <p:sp>
        <p:nvSpPr>
          <p:cNvPr id="25" name="Text 23"/>
          <p:cNvSpPr txBox="1"/>
          <p:nvPr/>
        </p:nvSpPr>
        <p:spPr>
          <a:xfrm>
            <a:off x="1124712" y="3236976"/>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Single sign-on and domain capture</a:t>
            </a:r>
            <a:endParaRPr lang="en-US" sz="1400" dirty="0"/>
          </a:p>
        </p:txBody>
      </p:sp>
      <p:sp>
        <p:nvSpPr>
          <p:cNvPr id="26" name="Text 24"/>
          <p:cNvSpPr txBox="1"/>
          <p:nvPr/>
        </p:nvSpPr>
        <p:spPr>
          <a:xfrm>
            <a:off x="7351776" y="3236976"/>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27" name="Text 25"/>
          <p:cNvSpPr txBox="1"/>
          <p:nvPr/>
        </p:nvSpPr>
        <p:spPr>
          <a:xfrm>
            <a:off x="9390888" y="3236976"/>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28" name="Shape 26"/>
          <p:cNvSpPr/>
          <p:nvPr/>
        </p:nvSpPr>
        <p:spPr>
          <a:xfrm rot="2700000">
            <a:off x="832104" y="3899916"/>
            <a:ext cx="100584" cy="100584"/>
          </a:xfrm>
          <a:prstGeom prst="rect">
            <a:avLst/>
          </a:prstGeom>
          <a:solidFill>
            <a:srgbClr val="C9A227"/>
          </a:solidFill>
          <a:ln w="3175">
            <a:solidFill>
              <a:srgbClr val="C9A227"/>
            </a:solidFill>
            <a:prstDash val="solid"/>
          </a:ln>
        </p:spPr>
      </p:sp>
      <p:sp>
        <p:nvSpPr>
          <p:cNvPr id="29" name="Text 27"/>
          <p:cNvSpPr txBox="1"/>
          <p:nvPr/>
        </p:nvSpPr>
        <p:spPr>
          <a:xfrm>
            <a:off x="1124712" y="3712464"/>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Audit logs with 180-day export</a:t>
            </a:r>
            <a:endParaRPr lang="en-US" sz="1400" dirty="0"/>
          </a:p>
        </p:txBody>
      </p:sp>
      <p:sp>
        <p:nvSpPr>
          <p:cNvPr id="30" name="Text 28"/>
          <p:cNvSpPr txBox="1"/>
          <p:nvPr/>
        </p:nvSpPr>
        <p:spPr>
          <a:xfrm>
            <a:off x="7351776" y="3712464"/>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31" name="Text 29"/>
          <p:cNvSpPr txBox="1"/>
          <p:nvPr/>
        </p:nvSpPr>
        <p:spPr>
          <a:xfrm>
            <a:off x="9390888" y="3712464"/>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32" name="Shape 30"/>
          <p:cNvSpPr/>
          <p:nvPr/>
        </p:nvSpPr>
        <p:spPr>
          <a:xfrm>
            <a:off x="704088" y="4187952"/>
            <a:ext cx="6528816" cy="475488"/>
          </a:xfrm>
          <a:prstGeom prst="rect">
            <a:avLst/>
          </a:prstGeom>
          <a:solidFill>
            <a:srgbClr val="E8E2D2"/>
          </a:solidFill>
          <a:ln/>
        </p:spPr>
      </p:sp>
      <p:sp>
        <p:nvSpPr>
          <p:cNvPr id="33" name="Shape 31"/>
          <p:cNvSpPr/>
          <p:nvPr/>
        </p:nvSpPr>
        <p:spPr>
          <a:xfrm rot="2700000">
            <a:off x="832104" y="4375404"/>
            <a:ext cx="100584" cy="100584"/>
          </a:xfrm>
          <a:prstGeom prst="rect">
            <a:avLst/>
          </a:prstGeom>
          <a:solidFill>
            <a:srgbClr val="C9A227"/>
          </a:solidFill>
          <a:ln w="3175">
            <a:solidFill>
              <a:srgbClr val="C9A227"/>
            </a:solidFill>
            <a:prstDash val="solid"/>
          </a:ln>
        </p:spPr>
      </p:sp>
      <p:sp>
        <p:nvSpPr>
          <p:cNvPr id="34" name="Text 32"/>
          <p:cNvSpPr txBox="1"/>
          <p:nvPr/>
        </p:nvSpPr>
        <p:spPr>
          <a:xfrm>
            <a:off x="1124712" y="4187952"/>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Custom data retention controls</a:t>
            </a:r>
            <a:endParaRPr lang="en-US" sz="1400" dirty="0"/>
          </a:p>
        </p:txBody>
      </p:sp>
      <p:sp>
        <p:nvSpPr>
          <p:cNvPr id="35" name="Text 33"/>
          <p:cNvSpPr txBox="1"/>
          <p:nvPr/>
        </p:nvSpPr>
        <p:spPr>
          <a:xfrm>
            <a:off x="7351776" y="4187952"/>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36" name="Text 34"/>
          <p:cNvSpPr txBox="1"/>
          <p:nvPr/>
        </p:nvSpPr>
        <p:spPr>
          <a:xfrm>
            <a:off x="9390888" y="4187952"/>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37" name="Shape 35"/>
          <p:cNvSpPr/>
          <p:nvPr/>
        </p:nvSpPr>
        <p:spPr>
          <a:xfrm rot="2700000">
            <a:off x="832104" y="4850892"/>
            <a:ext cx="100584" cy="100584"/>
          </a:xfrm>
          <a:prstGeom prst="rect">
            <a:avLst/>
          </a:prstGeom>
          <a:solidFill>
            <a:srgbClr val="C9A227"/>
          </a:solidFill>
          <a:ln w="3175">
            <a:solidFill>
              <a:srgbClr val="C9A227"/>
            </a:solidFill>
            <a:prstDash val="solid"/>
          </a:ln>
        </p:spPr>
      </p:sp>
      <p:sp>
        <p:nvSpPr>
          <p:cNvPr id="38" name="Text 36"/>
          <p:cNvSpPr txBox="1"/>
          <p:nvPr/>
        </p:nvSpPr>
        <p:spPr>
          <a:xfrm>
            <a:off x="1124712" y="4663440"/>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Role-based permissions and a compliance API</a:t>
            </a:r>
            <a:endParaRPr lang="en-US" sz="1400" dirty="0"/>
          </a:p>
        </p:txBody>
      </p:sp>
      <p:sp>
        <p:nvSpPr>
          <p:cNvPr id="39" name="Text 37"/>
          <p:cNvSpPr txBox="1"/>
          <p:nvPr/>
        </p:nvSpPr>
        <p:spPr>
          <a:xfrm>
            <a:off x="7351776" y="4663440"/>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40" name="Text 38"/>
          <p:cNvSpPr txBox="1"/>
          <p:nvPr/>
        </p:nvSpPr>
        <p:spPr>
          <a:xfrm>
            <a:off x="9390888" y="4663440"/>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41" name="Text 39"/>
          <p:cNvSpPr/>
          <p:nvPr/>
        </p:nvSpPr>
        <p:spPr>
          <a:xfrm>
            <a:off x="813816" y="5248656"/>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8A6D14"/>
                </a:solidFill>
                <a:latin typeface="Arial" pitchFamily="34" charset="0"/>
                <a:ea typeface="Arial" pitchFamily="34" charset="-122"/>
                <a:cs typeface="Arial" pitchFamily="34" charset="-120"/>
              </a:rPr>
              <a:t>Claude for Work is SOC 2 Type II and ISO 27001 certified. Every plan encrypts your data in transit and at rest.</a:t>
            </a:r>
            <a:endParaRPr lang="en-US" sz="1300" dirty="0"/>
          </a:p>
        </p:txBody>
      </p:sp>
      <p:sp>
        <p:nvSpPr>
          <p:cNvPr id="42" name="Text 40"/>
          <p:cNvSpPr/>
          <p:nvPr/>
        </p:nvSpPr>
        <p:spPr>
          <a:xfrm>
            <a:off x="813816" y="5559552"/>
            <a:ext cx="10570464" cy="164592"/>
          </a:xfrm>
          <a:prstGeom prst="rect">
            <a:avLst/>
          </a:prstGeom>
          <a:noFill/>
          <a:ln/>
        </p:spPr>
        <p:txBody>
          <a:bodyPr wrap="square" lIns="0" tIns="0" rIns="0" bIns="0" rtlCol="0" anchor="ctr"/>
          <a:lstStyle/>
          <a:p>
            <a:pPr algn="l" indent="0" marL="0">
              <a:buNone/>
            </a:pPr>
            <a:r>
              <a:rPr lang="en-US" sz="900" i="1" dirty="0">
                <a:solidFill>
                  <a:srgbClr val="5A6379"/>
                </a:solidFill>
                <a:latin typeface="Arial" pitchFamily="34" charset="0"/>
                <a:ea typeface="Arial" pitchFamily="34" charset="-122"/>
                <a:cs typeface="Arial" pitchFamily="34" charset="-120"/>
              </a:rPr>
              <a:t>SSO is Team and up. Audit logs, retention, role permissions and the DPA are Enterprise. Pro and Max set training exclusion in privacy settings. Source: privacy.claude.com.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Signature Travel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Donna: Decision Slides</dc:title>
  <dc:subject>PptxGenJS Presentation</dc:subject>
  <dc:creator>Denise Gosnell</dc:creator>
  <cp:lastModifiedBy>Denise Gosnell</cp:lastModifiedBy>
  <cp:revision>1</cp:revision>
  <dcterms:created xsi:type="dcterms:W3CDTF">2026-08-27T17:00:01Z</dcterms:created>
  <dcterms:modified xsi:type="dcterms:W3CDTF">2026-08-27T17:00:01Z</dcterms:modified>
</cp:coreProperties>
</file>